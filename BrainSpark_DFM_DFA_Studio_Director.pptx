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forty-seven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the newest addition. For die castings and steel castings, the report now opens with a small band that says what the governing standard PROMISES for a part of this size — the tolerance band it can hold, the machining allowance it needs, the flatness it can keep — before any rule has fired. The reason is that a purchasing conversation goes very differently when it starts from what the industry standard says the process can do, rather than from a complaint about the drawing. Sheet metal parts get the same treatment with press tonnage and strip utilisation, from the die-design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Seven hundred and one automated tests, ninety-three real-shaped parts swept through the full production path, and zero numbers written by AI.
Now the bottom half. When I first showed this slide, this was the weakest part of the tool — out of the whole rule book, only five limits came from a document we had personally read. I said so at the time.
That number is now twenty-nine, and the reason is simple: over the last week we obtained and read seven primary reference books cover to cover — the actual NADCA standards for die casting, the Steel Founders' Society handbooks for steel castings, the DuPont and Covestro design guides for plastics, and the die-design textbook for sheet metal. The next slide shows exactly what each one gave us.
The rest of the thresholds are still industry consensus, and the register still names every one of them, with a command that prints it. Two are recorded as CONTESTED, where a source we trust disagrees with the number we hold.
I keep this slide in deliberately. The alternative is a supplier finding an unaudited number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the weakness I admitted on the previous slide, so let me walk you through what actually happened.
Over the last week we obtained seven of the reference books that the industry actually runs on, and read them cover to cover. Not summaries of them — the books themselves. The two NADCA documents for die casting, including the 2021 specification standard that carries the tolerance tables. The two Steel Founders' Society handbooks for steel castings. The DuPont and Covestro design guides, which are what the plastics industry designs against. And the die-design textbook for sheet metal.
Each row on the left tells you what came out of each book. But three things on the right matter more than the list.
FIRST, the count of thresholds we have personally verified against a primary document went from twelve to twenty-nine in that week. That number is counted live from the register when this deck is generated — I did not type it.
SECOND — and this is a discipline point — before any formula from a book was wired in, it was tested against the book's OWN printed worked examples. The NADCA tolerance standard prints an example: an aluminium dimension of five inches should come out at plus or minus point three five millimetres. Our code has to reproduce that exact number or the tests fail. That catches misread tables — and it caught two real mistakes before they shipped, including one where a rounding error would have charged an extra inch of tolerance.
THIRD, honesty cuts both ways. When DuPont's figure for rib proportions turned out to print exactly the numbers we already used, we did not quietly claim we knew all along — the register records it as a CONFIRMATION. And where a book's number was LOOSER than the screen we already had, the stricter number stayed, with both claims named on the finding.
Now the dark box, because this is the part with money in it. Reading these books did not just improve citations — it changed verdicts. A two-millimetre tolerance band on a first-article steel sand casting used to pass our old screening check. The Steel Founders' statistics — built from a hundred and forty thousand measured production features — say no foundry can promise that as-cast. It now fails, at a third of capability, and the finding cites the exact table. That is a scrap-rate conversation we can now have with a supplier BEFORE the quote, with their own industry's book on the table.
And the drafting example at the end: the same bracket now passes draft as nylon and fails as ABS, because the DuPont table judges each resin at its own angle. One part, two materials, two different correct answers. That is what alloy-specific genuinely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seven hundred and one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four now.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And since last week, tolerance capability is COMPUTED from the named standard at the part's own dimensions — NADCA 402 for die castings, SFSA 2000 for steel — where the established tools do static table lookups.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 small purchase rather than a project. Seven reference books are already read and coded. The two that remain are DIN 16742, which carries the tolerance tables for moulded plastic parts, and ISO 8062 for aluminium sand and gravity castings. Both are standards you simply buy. The register names them as the exact blockers, so the money maps directly onto rules that start speaking.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247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247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247</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 WHAT THE STANDARD PROMISES</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Capability bands, before any rule fires</a:t>
            </a:r>
            <a:endParaRPr lang="en-US" sz="1400" dirty="0"/>
          </a:p>
        </p:txBody>
      </p:sp>
      <p:sp>
        <p:nvSpPr>
          <p:cNvPr id="9" name="Text 6"/>
          <p:cNvSpPr/>
          <p:nvPr/>
        </p:nvSpPr>
        <p:spPr>
          <a:xfrm>
            <a:off x="822960" y="5230368"/>
            <a:ext cx="5029200" cy="566928"/>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For die castings and steel castings the report now opens with what NADCA #402 or SFSA 2000 promises at this part's own size — tolerance band, machining allowance, flatness — so a purchasing conversation starts from the standard, not from a finding.</a:t>
            </a:r>
            <a:endParaRPr lang="en-US" sz="100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701</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11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247 thresholds, 29 now come from a reference we have read first-hand — up from 12 a week ago, after seven primary documents were read cover to cover (next slide). 2 are recorded as CONTESTED, where a primary source disagrees with the value we hold; the rest are unaudited industry consensus, and the register names each one.</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RULE BOOK'S SOURCES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Seven reference books, read cover to cover</a:t>
            </a:r>
            <a:endParaRPr lang="en-US" sz="3200" dirty="0"/>
          </a:p>
        </p:txBody>
      </p:sp>
      <p:sp>
        <p:nvSpPr>
          <p:cNvPr id="4" name="Shape 2"/>
          <p:cNvSpPr/>
          <p:nvPr/>
        </p:nvSpPr>
        <p:spPr>
          <a:xfrm>
            <a:off x="566928" y="1472184"/>
            <a:ext cx="7406640" cy="493776"/>
          </a:xfrm>
          <a:prstGeom prst="rect">
            <a:avLst/>
          </a:prstGeom>
          <a:solidFill>
            <a:srgbClr val="F1F5F9"/>
          </a:solidFill>
          <a:ln w="12700">
            <a:solidFill>
              <a:srgbClr val="F1F5F9"/>
            </a:solidFill>
            <a:prstDash val="solid"/>
          </a:ln>
        </p:spPr>
      </p:sp>
      <p:sp>
        <p:nvSpPr>
          <p:cNvPr id="5" name="Text 3"/>
          <p:cNvSpPr/>
          <p:nvPr/>
        </p:nvSpPr>
        <p:spPr>
          <a:xfrm>
            <a:off x="694944" y="1499616"/>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NADCA Product Design for Die Casting, 7th ed.</a:t>
            </a:r>
            <a:endParaRPr lang="en-US" sz="1050" dirty="0"/>
          </a:p>
        </p:txBody>
      </p:sp>
      <p:sp>
        <p:nvSpPr>
          <p:cNvPr id="6" name="Text 4"/>
          <p:cNvSpPr/>
          <p:nvPr/>
        </p:nvSpPr>
        <p:spPr>
          <a:xfrm>
            <a:off x="694944" y="1719072"/>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Draft computed from the book's own formula at each feature's depth · fillets · bosses · cored holes</a:t>
            </a:r>
            <a:endParaRPr lang="en-US" sz="950" dirty="0"/>
          </a:p>
        </p:txBody>
      </p:sp>
      <p:sp>
        <p:nvSpPr>
          <p:cNvPr id="7" name="Text 5"/>
          <p:cNvSpPr/>
          <p:nvPr/>
        </p:nvSpPr>
        <p:spPr>
          <a:xfrm>
            <a:off x="694944" y="1997964"/>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NADCA #402 Product Specification Standards (2021)</a:t>
            </a:r>
            <a:endParaRPr lang="en-US" sz="1050" dirty="0"/>
          </a:p>
        </p:txBody>
      </p:sp>
      <p:sp>
        <p:nvSpPr>
          <p:cNvPr id="8" name="Text 6"/>
          <p:cNvSpPr/>
          <p:nvPr/>
        </p:nvSpPr>
        <p:spPr>
          <a:xfrm>
            <a:off x="694944" y="2217420"/>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Die-casting tolerance CAPABILITY, computed per dimension and grade — Standard vs Precision is now an input</a:t>
            </a:r>
            <a:endParaRPr lang="en-US" sz="950" dirty="0"/>
          </a:p>
        </p:txBody>
      </p:sp>
      <p:sp>
        <p:nvSpPr>
          <p:cNvPr id="9" name="Shape 7"/>
          <p:cNvSpPr/>
          <p:nvPr/>
        </p:nvSpPr>
        <p:spPr>
          <a:xfrm>
            <a:off x="566928" y="2468880"/>
            <a:ext cx="7406640" cy="493776"/>
          </a:xfrm>
          <a:prstGeom prst="rect">
            <a:avLst/>
          </a:prstGeom>
          <a:solidFill>
            <a:srgbClr val="F1F5F9"/>
          </a:solidFill>
          <a:ln w="12700">
            <a:solidFill>
              <a:srgbClr val="F1F5F9"/>
            </a:solidFill>
            <a:prstDash val="solid"/>
          </a:ln>
        </p:spPr>
      </p:sp>
      <p:sp>
        <p:nvSpPr>
          <p:cNvPr id="10" name="Text 8"/>
          <p:cNvSpPr/>
          <p:nvPr/>
        </p:nvSpPr>
        <p:spPr>
          <a:xfrm>
            <a:off x="694944" y="2496312"/>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SFSA Steel Castings Handbook, Supplement 1</a:t>
            </a:r>
            <a:endParaRPr lang="en-US" sz="1050" dirty="0"/>
          </a:p>
        </p:txBody>
      </p:sp>
      <p:sp>
        <p:nvSpPr>
          <p:cNvPr id="11" name="Text 9"/>
          <p:cNvSpPr/>
          <p:nvPr/>
        </p:nvSpPr>
        <p:spPr>
          <a:xfrm>
            <a:off x="694944" y="2715768"/>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Steel casting design: rib height coupled to rib thickness · junction fillets with the printed 13–25 mm clamp</a:t>
            </a:r>
            <a:endParaRPr lang="en-US" sz="950" dirty="0"/>
          </a:p>
        </p:txBody>
      </p:sp>
      <p:sp>
        <p:nvSpPr>
          <p:cNvPr id="12" name="Text 10"/>
          <p:cNvSpPr/>
          <p:nvPr/>
        </p:nvSpPr>
        <p:spPr>
          <a:xfrm>
            <a:off x="694944" y="2994660"/>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SFSA Supplement 3 — Dimensional Capabilities</a:t>
            </a:r>
            <a:endParaRPr lang="en-US" sz="1050" dirty="0"/>
          </a:p>
        </p:txBody>
      </p:sp>
      <p:sp>
        <p:nvSpPr>
          <p:cNvPr id="13" name="Text 11"/>
          <p:cNvSpPr/>
          <p:nvPr/>
        </p:nvSpPr>
        <p:spPr>
          <a:xfrm>
            <a:off x="694944" y="3214116"/>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Steel casting tolerances (SFSA 2000 CT grades) · required machining allowance · production series input</a:t>
            </a:r>
            <a:endParaRPr lang="en-US" sz="950" dirty="0"/>
          </a:p>
        </p:txBody>
      </p:sp>
      <p:sp>
        <p:nvSpPr>
          <p:cNvPr id="14" name="Shape 12"/>
          <p:cNvSpPr/>
          <p:nvPr/>
        </p:nvSpPr>
        <p:spPr>
          <a:xfrm>
            <a:off x="566928" y="3465576"/>
            <a:ext cx="7406640" cy="493776"/>
          </a:xfrm>
          <a:prstGeom prst="rect">
            <a:avLst/>
          </a:prstGeom>
          <a:solidFill>
            <a:srgbClr val="F1F5F9"/>
          </a:solidFill>
          <a:ln w="12700">
            <a:solidFill>
              <a:srgbClr val="F1F5F9"/>
            </a:solidFill>
            <a:prstDash val="solid"/>
          </a:ln>
        </p:spPr>
      </p:sp>
      <p:sp>
        <p:nvSpPr>
          <p:cNvPr id="15" name="Text 13"/>
          <p:cNvSpPr/>
          <p:nvPr/>
        </p:nvSpPr>
        <p:spPr>
          <a:xfrm>
            <a:off x="694944" y="3493008"/>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DuPont Engineering Polymers, Module I</a:t>
            </a:r>
            <a:endParaRPr lang="en-US" sz="1050" dirty="0"/>
          </a:p>
        </p:txBody>
      </p:sp>
      <p:sp>
        <p:nvSpPr>
          <p:cNvPr id="16" name="Text 14"/>
          <p:cNvSpPr/>
          <p:nvPr/>
        </p:nvSpPr>
        <p:spPr>
          <a:xfrm>
            <a:off x="694944" y="3712464"/>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Moulding draft per resin and draw depth · fillet knee · boss and blind-core limits</a:t>
            </a:r>
            <a:endParaRPr lang="en-US" sz="950" dirty="0"/>
          </a:p>
        </p:txBody>
      </p:sp>
      <p:sp>
        <p:nvSpPr>
          <p:cNvPr id="17" name="Text 15"/>
          <p:cNvSpPr/>
          <p:nvPr/>
        </p:nvSpPr>
        <p:spPr>
          <a:xfrm>
            <a:off x="694944" y="3991356"/>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Covestro Part and Mold Design</a:t>
            </a:r>
            <a:endParaRPr lang="en-US" sz="1050" dirty="0"/>
          </a:p>
        </p:txBody>
      </p:sp>
      <p:sp>
        <p:nvSpPr>
          <p:cNvPr id="18" name="Text 16"/>
          <p:cNvSpPr/>
          <p:nvPr/>
        </p:nvSpPr>
        <p:spPr>
          <a:xfrm>
            <a:off x="694944" y="4210812"/>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PC-family ribs, draft and fillets from the resin maker's own tables — read from page images</a:t>
            </a:r>
            <a:endParaRPr lang="en-US" sz="950" dirty="0"/>
          </a:p>
        </p:txBody>
      </p:sp>
      <p:sp>
        <p:nvSpPr>
          <p:cNvPr id="19" name="Shape 17"/>
          <p:cNvSpPr/>
          <p:nvPr/>
        </p:nvSpPr>
        <p:spPr>
          <a:xfrm>
            <a:off x="566928" y="4462272"/>
            <a:ext cx="7406640" cy="493776"/>
          </a:xfrm>
          <a:prstGeom prst="rect">
            <a:avLst/>
          </a:prstGeom>
          <a:solidFill>
            <a:srgbClr val="F1F5F9"/>
          </a:solidFill>
          <a:ln w="12700">
            <a:solidFill>
              <a:srgbClr val="F1F5F9"/>
            </a:solidFill>
            <a:prstDash val="solid"/>
          </a:ln>
        </p:spPr>
      </p:sp>
      <p:sp>
        <p:nvSpPr>
          <p:cNvPr id="20" name="Text 18"/>
          <p:cNvSpPr/>
          <p:nvPr/>
        </p:nvSpPr>
        <p:spPr>
          <a:xfrm>
            <a:off x="694944" y="4489704"/>
            <a:ext cx="7223760" cy="237744"/>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Boljanovic, Sheet Metal Forming Processes</a:t>
            </a:r>
            <a:endParaRPr lang="en-US" sz="1050" dirty="0"/>
          </a:p>
        </p:txBody>
      </p:sp>
      <p:sp>
        <p:nvSpPr>
          <p:cNvPr id="21" name="Text 19"/>
          <p:cNvSpPr/>
          <p:nvPr/>
        </p:nvSpPr>
        <p:spPr>
          <a:xfrm>
            <a:off x="694944" y="4709160"/>
            <a:ext cx="7223760" cy="23774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Press force, strip utilisation, bend allowance and draw operations, equation by equation</a:t>
            </a:r>
            <a:endParaRPr lang="en-US" sz="950" dirty="0"/>
          </a:p>
        </p:txBody>
      </p:sp>
      <p:sp>
        <p:nvSpPr>
          <p:cNvPr id="22" name="Shape 20"/>
          <p:cNvSpPr/>
          <p:nvPr/>
        </p:nvSpPr>
        <p:spPr>
          <a:xfrm>
            <a:off x="8229600" y="1517904"/>
            <a:ext cx="338328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394192" y="1627632"/>
            <a:ext cx="3054096" cy="457200"/>
          </a:xfrm>
          <a:prstGeom prst="rect">
            <a:avLst/>
          </a:prstGeom>
          <a:noFill/>
          <a:ln/>
        </p:spPr>
        <p:txBody>
          <a:bodyPr wrap="square" lIns="0" tIns="0" rIns="0" bIns="0" rtlCol="0" anchor="ctr"/>
          <a:lstStyle/>
          <a:p>
            <a:pPr indent="0" marL="0">
              <a:buNone/>
            </a:pPr>
            <a:r>
              <a:rPr lang="en-US" sz="2800" b="1" dirty="0">
                <a:solidFill>
                  <a:srgbClr val="059669"/>
                </a:solidFill>
                <a:latin typeface="Cambria" pitchFamily="34" charset="0"/>
                <a:ea typeface="Cambria" pitchFamily="34" charset="-122"/>
                <a:cs typeface="Cambria" pitchFamily="34" charset="-120"/>
              </a:rPr>
              <a:t>12 → 29</a:t>
            </a:r>
            <a:endParaRPr lang="en-US" sz="2800" dirty="0"/>
          </a:p>
        </p:txBody>
      </p:sp>
      <p:sp>
        <p:nvSpPr>
          <p:cNvPr id="24" name="Text 22"/>
          <p:cNvSpPr/>
          <p:nvPr/>
        </p:nvSpPr>
        <p:spPr>
          <a:xfrm>
            <a:off x="8394192" y="2103120"/>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PRIMARY-READ THRESHOLDS</a:t>
            </a:r>
            <a:endParaRPr lang="en-US" sz="1000" dirty="0"/>
          </a:p>
        </p:txBody>
      </p:sp>
      <p:sp>
        <p:nvSpPr>
          <p:cNvPr id="25" name="Text 23"/>
          <p:cNvSpPr/>
          <p:nvPr/>
        </p:nvSpPr>
        <p:spPr>
          <a:xfrm>
            <a:off x="8394192" y="2359152"/>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In one week. Counted from the register, not remembered</a:t>
            </a:r>
            <a:endParaRPr lang="en-US" sz="950" dirty="0"/>
          </a:p>
        </p:txBody>
      </p:sp>
      <p:sp>
        <p:nvSpPr>
          <p:cNvPr id="26" name="Shape 24"/>
          <p:cNvSpPr/>
          <p:nvPr/>
        </p:nvSpPr>
        <p:spPr>
          <a:xfrm>
            <a:off x="8229600" y="3017520"/>
            <a:ext cx="3383280" cy="1353312"/>
          </a:xfrm>
          <a:prstGeom prst="roundRect">
            <a:avLst>
              <a:gd name="adj" fmla="val 4054"/>
            </a:avLst>
          </a:prstGeom>
          <a:solidFill>
            <a:srgbClr val="F1F5F9"/>
          </a:solidFill>
          <a:ln w="12700">
            <a:solidFill>
              <a:srgbClr val="F1F5F9"/>
            </a:solidFill>
            <a:prstDash val="solid"/>
          </a:ln>
        </p:spPr>
      </p:sp>
      <p:sp>
        <p:nvSpPr>
          <p:cNvPr id="27" name="Text 25"/>
          <p:cNvSpPr/>
          <p:nvPr/>
        </p:nvSpPr>
        <p:spPr>
          <a:xfrm>
            <a:off x="8394192" y="3127248"/>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0</a:t>
            </a:r>
            <a:endParaRPr lang="en-US" sz="2800" dirty="0"/>
          </a:p>
        </p:txBody>
      </p:sp>
      <p:sp>
        <p:nvSpPr>
          <p:cNvPr id="28" name="Text 26"/>
          <p:cNvSpPr/>
          <p:nvPr/>
        </p:nvSpPr>
        <p:spPr>
          <a:xfrm>
            <a:off x="8394192" y="3602736"/>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CONSTANTS TUNED TO FIXTURES</a:t>
            </a:r>
            <a:endParaRPr lang="en-US" sz="1000" dirty="0"/>
          </a:p>
        </p:txBody>
      </p:sp>
      <p:sp>
        <p:nvSpPr>
          <p:cNvPr id="29" name="Text 27"/>
          <p:cNvSpPr/>
          <p:nvPr/>
        </p:nvSpPr>
        <p:spPr>
          <a:xfrm>
            <a:off x="8394192" y="3858768"/>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Formulas verified against each book's own printed worked examples first</a:t>
            </a:r>
            <a:endParaRPr lang="en-US" sz="950" dirty="0"/>
          </a:p>
        </p:txBody>
      </p:sp>
      <p:sp>
        <p:nvSpPr>
          <p:cNvPr id="30" name="Shape 28"/>
          <p:cNvSpPr/>
          <p:nvPr/>
        </p:nvSpPr>
        <p:spPr>
          <a:xfrm>
            <a:off x="8229600" y="4517136"/>
            <a:ext cx="3383280" cy="1353312"/>
          </a:xfrm>
          <a:prstGeom prst="roundRect">
            <a:avLst>
              <a:gd name="adj" fmla="val 4054"/>
            </a:avLst>
          </a:prstGeom>
          <a:solidFill>
            <a:srgbClr val="F1F5F9"/>
          </a:solidFill>
          <a:ln w="12700">
            <a:solidFill>
              <a:srgbClr val="F1F5F9"/>
            </a:solidFill>
            <a:prstDash val="solid"/>
          </a:ln>
        </p:spPr>
      </p:sp>
      <p:sp>
        <p:nvSpPr>
          <p:cNvPr id="31" name="Text 29"/>
          <p:cNvSpPr/>
          <p:nvPr/>
        </p:nvSpPr>
        <p:spPr>
          <a:xfrm>
            <a:off x="8394192" y="4626864"/>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a:t>
            </a:r>
            <a:endParaRPr lang="en-US" sz="2800" dirty="0"/>
          </a:p>
        </p:txBody>
      </p:sp>
      <p:sp>
        <p:nvSpPr>
          <p:cNvPr id="32" name="Text 30"/>
          <p:cNvSpPr/>
          <p:nvPr/>
        </p:nvSpPr>
        <p:spPr>
          <a:xfrm>
            <a:off x="8394192" y="5102352"/>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 CONFIRMED UNCHANGED</a:t>
            </a:r>
            <a:endParaRPr lang="en-US" sz="1000" dirty="0"/>
          </a:p>
        </p:txBody>
      </p:sp>
      <p:sp>
        <p:nvSpPr>
          <p:cNvPr id="33" name="Text 31"/>
          <p:cNvSpPr/>
          <p:nvPr/>
        </p:nvSpPr>
        <p:spPr>
          <a:xfrm>
            <a:off x="8394192" y="5358384"/>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DuPont printed our exact rib band — an audit hit, recorded as one</a:t>
            </a:r>
            <a:endParaRPr lang="en-US" sz="950" dirty="0"/>
          </a:p>
        </p:txBody>
      </p:sp>
      <p:sp>
        <p:nvSpPr>
          <p:cNvPr id="34" name="Shape 32"/>
          <p:cNvSpPr/>
          <p:nvPr/>
        </p:nvSpPr>
        <p:spPr>
          <a:xfrm>
            <a:off x="566928" y="5138928"/>
            <a:ext cx="7406640" cy="1170432"/>
          </a:xfrm>
          <a:prstGeom prst="roundRect">
            <a:avLst>
              <a:gd name="adj" fmla="val 4688"/>
            </a:avLst>
          </a:prstGeom>
          <a:solidFill>
            <a:srgbClr val="0D1F33"/>
          </a:solidFill>
          <a:ln w="12700">
            <a:solidFill>
              <a:srgbClr val="0D1F33"/>
            </a:solidFill>
            <a:prstDash val="solid"/>
          </a:ln>
        </p:spPr>
      </p:sp>
      <p:sp>
        <p:nvSpPr>
          <p:cNvPr id="35" name="Text 33"/>
          <p:cNvSpPr/>
          <p:nvPr/>
        </p:nvSpPr>
        <p:spPr>
          <a:xfrm>
            <a:off x="804672" y="5285232"/>
            <a:ext cx="6949440" cy="219456"/>
          </a:xfrm>
          <a:prstGeom prst="rect">
            <a:avLst/>
          </a:prstGeom>
          <a:noFill/>
          <a:ln/>
        </p:spPr>
        <p:txBody>
          <a:bodyPr wrap="square" lIns="0" tIns="0" rIns="0" bIns="0" rtlCol="0" anchor="ctr"/>
          <a:lstStyle/>
          <a:p>
            <a:pPr indent="0" marL="0">
              <a:buNone/>
            </a:pPr>
            <a:r>
              <a:rPr lang="en-US" sz="950" b="1" spc="150" kern="0" dirty="0">
                <a:solidFill>
                  <a:srgbClr val="F59E0B"/>
                </a:solidFill>
                <a:latin typeface="Calibri" pitchFamily="34" charset="0"/>
                <a:ea typeface="Calibri" pitchFamily="34" charset="-122"/>
                <a:cs typeface="Calibri" pitchFamily="34" charset="-120"/>
              </a:rPr>
              <a:t>READING THE BOOK CHANGED THE VERDICT</a:t>
            </a:r>
            <a:endParaRPr lang="en-US" sz="950" dirty="0"/>
          </a:p>
        </p:txBody>
      </p:sp>
      <p:sp>
        <p:nvSpPr>
          <p:cNvPr id="36" name="Text 34"/>
          <p:cNvSpPr/>
          <p:nvPr/>
        </p:nvSpPr>
        <p:spPr>
          <a:xfrm>
            <a:off x="804672" y="5522976"/>
            <a:ext cx="6995160" cy="731520"/>
          </a:xfrm>
          <a:prstGeom prst="rect">
            <a:avLst/>
          </a:prstGeom>
          <a:noFill/>
          <a:ln/>
        </p:spPr>
        <p:txBody>
          <a:bodyPr wrap="square" lIns="0" tIns="0" rIns="0" bIns="0" rtlCol="0" anchor="ctr"/>
          <a:lstStyle/>
          <a:p>
            <a:pPr indent="0" marL="0">
              <a:lnSpc>
                <a:spcPts val="1400"/>
              </a:lnSpc>
              <a:buNone/>
            </a:pPr>
            <a:r>
              <a:rPr lang="en-US" sz="1050" dirty="0">
                <a:solidFill>
                  <a:srgbClr val="CBD5E1"/>
                </a:solidFill>
                <a:latin typeface="Calibri" pitchFamily="34" charset="0"/>
                <a:ea typeface="Calibri" pitchFamily="34" charset="-122"/>
                <a:cs typeface="Calibri" pitchFamily="34" charset="-120"/>
              </a:rPr>
              <a:t>A 2 mm tolerance band on a first-article steel sand casting used to pass the old screen. SFSA's own statistics say no foundry can promise it — it now fails at 0.33× capability, with the table cited. And the same bracket passes draft as nylon and fails as ABS, because DuPont's table judges each resin at its own angle.</a:t>
            </a:r>
            <a:endParaRPr lang="en-US" sz="105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701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5096" cy="914400"/>
        </p:xfrm>
        <a:graphic>
          <a:graphicData uri="http://schemas.openxmlformats.org/drawingml/2006/table">
            <a:tbl>
              <a:tblPr/>
              <a:tblGrid>
                <a:gridCol w="4846320"/>
                <a:gridCol w="1737360"/>
                <a:gridCol w="2194560"/>
                <a:gridCol w="2276856"/>
              </a:tblGrid>
              <a:tr h="35204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Capability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BrainSpark</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Established tools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Position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Geometry read from B-rep</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Process- and alloy-specific rules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Findings priced by a should-cost engine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aPriori 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 with the leader</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Alternative process routes, priced and carbon-scored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Partial</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"Not evaluated" as a first-class outcome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Rare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Threshold provenance published with the finding</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Tolerance capability computed from the named standard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Table lookups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Revision-to-revision comparison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Validated against measured production outcomes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Not yet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Native CATIA / NX / JT input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p:nvPr/>
        </p:nvSpPr>
        <p:spPr>
          <a:xfrm>
            <a:off x="566928" y="562356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Buy the two missing standards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DIN 16742 for moulded-part tolerances and ISO 8062 for non-ferrous castings. Seven books are already in; these two close the tolerance story, and both are catalogue purchases.</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15/17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2026-08-11T13:04:22Z</dcterms:created>
  <dcterms:modified xsi:type="dcterms:W3CDTF">2026-08-11T13:04:22Z</dcterms:modified>
</cp:coreProperties>
</file>