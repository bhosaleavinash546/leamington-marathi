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the time. I am going to take about fifteen minutes on the DFM and DFA Studio, and then I have one thing to ask you. If there is a slide you have already seen, stop me and I will move on.
Let me start with what it is in one sentence. You give it a CAD file and tell it how you plan to make the part. It measures the part, tells you every rule that part breaks for that process, shows you where on the part the problem is, and tells you what each problem costs. That is it.
The thing that makes it different from a checklist is the word MEASURED. Nobody types a number in. The tool opens the CAD model and measures the wall thickness, the draft angle, the bend radius. So when it says a wall is two point one millimetres, something actually measured two point one.
The picture on the right is a real part, rendered by the tool itself out of a CAD file. It is not a stock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because I want to be honest about it.
Today, a DFM review depends entirely on who is sitting in the room. A senior engineer who has done twenty die castings spots an undercut in ten seconds. Somebody who is busy that week signs the drawing. The part then goes to the toolmaker, the slide appears in the quotation, and by that point the tool is committed. Changing it then costs roughly ten times what it would have cost at design.
Now look at the three points on the left, because these are the three specific things I set out to fix.
NUMBER ONE, the rule is generic. Most tools carry one draft angle for all castings and one bend radius for all steels. But high-pressure die casting and sand casting need completely different draft. DP980 needs four times the bend radius of mild steel. When the rule is generic, the finding is either wrong or it gets ignored — and both are equally useless.
NUMBER TWO, the finding has no place. A report that says thirty-four undercut regions sends the supplier hunting through the CAD model to find them. Most people just do not bother.
NUMBER THREE, the finding has no price. If a cosmetic radius and a seventy-seven thousand euro slide sit on the same line of a list, nobody knows which one to fix first.
Those three map exactly onto the next three things I am going to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shape of the tool in four steps. Read, measure, judge, price.
It READS your STEP file — the real solid model, with faces and edges, not a picture of it.
It MEASURES the part. Wall thickness, draft, undercuts, bends, holes, and whether a cutting tool can even reach each surface.
It JUDGES what it measured against the rules for the process YOU chose, at the limits for YOUR alloy.
And it PRICES what it found, using the same should-cost engines we use to quote parts.
Now the dark box at the bottom is the one sentence I would ask you to remember from the whole presentation. Math for numbers, AI for judgment.
Everywhere else in this platform we use AI — for generating ideas, for reading documents. In this tool there is no AI at all. Not a single number in the report was written or estimated by an AI. It is a geometry engine and a rule book, and both are things you can check line by line.
I am making a point of that because the first question people ask about any AI tool is whether it made the numbers up. Here, it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asked to see what the tool actually does inside, so this is that view. Six steps, and the whole thing takes about two seconds per part.
STEP ONE. You give it two things: the CAD file, and how you intend to make the part. That second one matters far more than it sounds. Telling it die casting in A356 is what makes the answer specific instead of generic.
STEP TWO. It opens the real solid. Not a picture, not a mesh — the actual faces and edges the designer built, through the same geometry kernel that professional CAD systems use. That is why it can tell the difference between a drilled hole and a cast one.
STEP THREE is the heart of it, and it is the six boxes along the bottom left. Let me walk them.
First it covers the surface in tiny triangles so it can work with curved shapes. Then it fires rays through the part to measure how thick the wall is at thousands of points. Then — and this one I like — it tries three different directions the tool could open in and picks the one with the fewest undercuts. It does not assume; it tests. Then it recognises features: the holes, the ribs, the pockets, the bends. Then it checks whether the part is actually folded sheet metal. And finally it sweeps a virtual cutter over the surface to see which faces a real tool could physically reach.
Every one of those passes reports what it did — how many rays it fired, how many triangles — or it says it was skipped and why. Nothing happens silently.
STEP FOUR applies the rules. Only the ones for your process, at the limit for your alloy. And if our plant has agreed its own number, ours wins over the textbook.
Now the three boxes on the bottom right. This is the bit I would ask you to hold onto. Every rule ends in one of three states: passed, failed, or could not be measured. Most tools I have looked at collapse that third one into a green tick — which is how you end up with a clean-looking report on a part nobody actually checked. Ours says plainly that it could not check, and names the measurement it was missing.
STEP FIVE prices it. It runs the costing engine twice — once on the part as drawn, once with the problem fixed. The difference is what that finding is worth, per part and per year.
STEP SIX writes it up: marked on the part, worst first, with an owner against every decision.
Two seconds, start to finish, and no AI anywhere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take one engineering idea away from today, I would like it to be this one. Three outcomes, not two.
A rule can pass. A rule can fail. Or the tool can be unable to check it at all — because the measurement it needs is not there in the file.
Here is why that third box matters commercially. Imagine a report comes back and everything is green. You would reasonably assume the part was checked and it was fine. But if the tool quietly counts everything it could not measure as a pass, that green report might mean nothing was checked at all. That is worse than no report, because it gives false confidence.
So we do two things. We print the coverage percentage right next to the score — that is the sixty-nine per cent figure at the bottom left, measured across ninety-three parts. And when nothing at all could be evaluated, the score comes back as blank, not as a hundred.
A clean sheet has to be earned. That is the whole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is actually in the box. Two hundred and twenty-eight rules across thirty-five process families, and forty-nine processes to choose from.
But the number of rules is not the interesting part. The interesting part is the line in bold underneath.
Choosing your material and your process does not just filter a long generic list. It runs a completely different rule set, and it changes the numbers those rules compare against. Pick DP980 steel and stamping, and the bend radius rule wants four times the material thickness. Pick mild steel and it wants one. Same rule, different number, because the metal is different.
Look at the table. Die casting is judged on wall range, draft, cored hole draft and core pin slenderness. Sheet metal is judged on bend radius by alloy, springback and strip utilisation. They have almost nothing in common — as it should be.
And the line at the very bottom is worth a mention because it is new. The picker now names processes the way we name them in a plant — HPDC, LPDC, GDC, PHS — grouped by commodity, with twenty casting alloys including Silafont and Castasil. Previously HPDC was buried in a long list under the label Die Casting Aluminium, and if you were scanning for the letters H-P-D-C you would never find it. That is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would slow down on, because it is the one suppliers react to.
On the left is a page straight out of the report. You can see the part, and you can see numbered rings on it. Underneath, a legend tells you what each ring is: wall area below the minimum die casting draft, forty-one per cent, limit is five.
The important thing is what the rings are NOT. They are not every feature the tool found. Every ring is a rule that FAILED. If a rib is perfectly fine, no ring.
That sounds obvious but we got it wrong first time round. An early version marked everything it recognised, and a casting came back with forty rings on it, most of them on features that broke no rule at all. It was showing what it had MEASURED instead of what it had CONCLUDED. Nobody could read it.
So now: worst first, maximum of eight rings, one ring per finding placed on the worst example of it. And where two rings would sit on top of each other, they get pushed apart with a leader line back to the real point.
And one more piece of honesty. Some findings cannot be pointed at. A tolerance belongs to the whole part, not to one face. Rather than pin it somewhere plausible and mislead you, the report lists it separately and says why it is not marked.
The reason this matters: a supplier can act on this page without opening CAD.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turns an analysis into something a programme can actually run on.
The report used to tell you what was wrong and what it cost, and then stop. People would read it, agree it was interesting, and nothing would happen. Nobody walks out of a review holding a percentage.
So the report now ends with an action list. Every finding becomes a decision, with an owner.
Three deliberate choices in there, and each one is about staying credible.
FIRST, the action text is the rule's own recommendation, word for word. The tool did not compose it. Nothing on that page is invented.
SECOND, the owner is a ROLE, not a person's name — design, tooling, press shop. The tool genuinely does not know our organisation chart, so it does not pretend to.
THIRD, and this is the one people notice: the due date column is deliberately empty. A date generated by software would be the first column anybody stopped believing, and once they stop believing one column they stop believing the page.
And it rolls up by owner, so the tooling engineer can be sent just their rows straight out of the spreadsheet.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question a programme always asks is: we agreed changes last month, did they work?
Until recently we could not answer that. Every report was a snapshot, so people compared two PDFs side by side and looked for differences by eye. That is how a fixed problem gets missed, and how a new problem ships.
Now you upload the new revision and it tells you what changed, in four categories. And the four categories are the point of this slide.
FIXED, in green, means the rule now passes. That is the only category that actually frees up money.
NOT FIXED is the important one. Sometimes a rule stops failing not because the part got better, but because the measurement disappeared — for example the new file was exported without its tolerance data. A naive comparison would report that as solved. Ours calls it NOT FIXED and credits zero money against it. If this feature ever told you a problem was solved when it was not, you would rightly stop trusting the whole tool.
NEWLY VISIBLE means it could not be judged before and now fails. That is not a regression — the part became measurable.
And NEW, in red, means it was passing and now fails. That is the only genuine regression.
One last thing: if you try to compare two revisions made by different processes or different alloys, it warns you instead of quietly putting them in a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on this slide.
The first is that every finding carries a price. The tool runs the same should-cost engine we use to quote parts, once with the geometry as drawn and once with the problem fixed, and the gap between them is what the finding is worth — per part and per year.
That matters because it means the designer and the buyer are finally looking at the same number, from the same engine. Not two spreadsheets that disagree.
And where the engine genuinely cannot price something — a die slide, a die-life effect — it says so and quotes the published range instead of inventing a figure. I would rather it say I do not know than guess.
The second thing is the route table. It asks the harder question: what if we made this part a completely different way? It takes the same measured geometry, runs it through every other process's own rules, prices it, and scores its carbon — and tells you why each alternative is or is not viable.
And the panel in the dark box is recent work on stamping. Material is the single biggest cost in a pressed part, and our report was quoting a piece price without ever showing the strip utilisation. Now it shows the press tonnage, the strip layout and the utilisation against the industry target. Those numbers come from a die design textbook, equation by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should decide whether you believe anything on the previous ten.
Start top left. A hundred and ninety-nine out of a hundred and ninety-nine on the geometry accuracy gate. Those are test shapes where we know the right answer by arithmetic — we built a cone with exactly three degrees of draft, so the engine must say three degrees. If it says two point eight, the build fails and the code does not ship. That runs automatically on every change.
Six hundred and twenty-eight automated tests, ninety-three real-shaped parts swept through the full production path, and zero numbers written by AI.
Now the bottom half, and I want to be completely straight with you here, because it is the weakest part of the tool.
Every DIMENSION we report is measured from your file and you can reproduce it. But the LIMITS we compare those dimensions against are somebody's published guidance, and most of them nobody here has personally verified against the original standard. Out of two hundred and twenty-eight, only five come from a document we have read first-hand. Three are recorded as CONTESTED, meaning a source we do trust disagrees with the number we are using.
We ship that register with the product, and there is a command that prints it.
I could have left this slide off. I have put it on deliberately, because the alternative is a supplier finding it first and then doubting everything else we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of a fair question: how do you know the tool is telling the truth?
The benchmarks on the last slide prove the MATHS is right. They cannot prove the REPORT says the right thing. Those are two different problems, and a tool can pass the first while failing the second badly.
So we took three real components — a forged steering knuckle, a die-cast bracket, and a stamped seat bracket. We read every single finding by hand, then re-ran the same files through the live tool and compared.
We found seven things our own tool was getting wrong. They are on the slide. Let me take you through the two that matter most.
THE FIRST ONE, top of the list. The report showed a saving of a hundred and fifty-one thousand euros a year. That was the biggest number in the whole document. When we traced it back, the calculation was pricing the removal of all twenty-three bends in the part — in other words, a completely flat piece of metal. But the finding it was attached to just asked you to open one bend radius slightly. Opening a radius removes no bends and saves nothing. So the number was real arithmetic attached to the wrong question. It now says NOT PRICED and explains why.
THE SECOND ONE, and this is the one an experienced engineer spots in ten seconds. The tool was recommending Cold Heading as a cheaper way to make a die-cast bracket. Cold heading makes bolts out of wire. It cannot make a bracket. The reason was that only two of our thirty-five processes had any check on whether they could physically make the part at all. Everything else was allowed by default. We have added those checks, and it now refuses cold heading and MIM outright, with the reason.
The other three on the list are the same character — right maths, wrong wording, or a check that trusted the CAD file instead of measuring.
The point I want to land is this. We found all seven ourselves, on purpose, before a supplier did. And every one of them is now pinned by a test that fails automatically if the fault ever comes back. That is why the number at the bottom matters — six hundred and twenty-eight tests, run on every single change.
If we had not done this exercise, the first person to spot the hundred and fifty-one thousand would have been someone reading the report in a supplier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measurement I am proudest of having, and least proud of some of the numbers in.
The standard I set myself was this: a rule that is technically correct but stays silent on every real part is worth nothing. So we run ninety-three realistically-shaped parts — ten commodities, ten variants each — through the whole tool, and count how much of the rule book actually speaks.
The average is sixty-nine per cent. Die casting, powder metallurgy and extrusion are all above eighty. Those are genuinely good.
Now look at the bottom row, sheet metal, thirty-seven and a half per cent, in red. That is the worst number on the board and I have deliberately left it on the slide.
The reason is not that the rules are wrong. It is that our synthetic test brackets are flat plates with holes in them. They have no bends. So seven bend-related rules never get a chance to run, and they score zero through no fault of their own.
That is a test-data problem, not a rule problem. And it is exactly why my ask at the end of this presentation is what it is — I need one real bent bracket.
I am showing you this because you would find it within five minutes of using the tool, and I would rather point at it myself.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fair comparison against the established tools — DFMPro, aPriori, Boothroyd Dewhurst.
The green rows are where we are genuinely ahead, and there are three. We price alternative process routes and carbon-score them. We treat could-not-evaluate as a real outcome instead of a green tick. And we publish where every threshold came from and how much it is worth trusting. I have not found a commercial tool that will tell you one of its own numbers is unaudited.
The middle rows are parity — reading real geometry, process and alloy specific rules, pricing findings, comparing revisions. We match them.
Now the two red rows, because those are the honest ones.
They have decades of measured production outcomes behind their numbers. We have zero. Their limits have been checked against real scrap rates from real plants; ours have been checked against published guidance.
And they read native CATIA, NX and JT files. We read STEP and IGES, which means a translation step, and we lose the tolerance data every time.
Both of those are solvable. Neither is solved by me writing more code — the first one needs data from the business, and that is what I am about to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next, in the order that changes the answer rather than the order of effort.
NUMBER ONE, in gold, is to validate against one real part. That is the only item on this list that I cannot do by myself, and it is the only one that converts this tool from internally consistent to actually accurate. I will come back to it on the next slide.
NUMBER TWO is reading native CAD — CATIA, NX, JT. Today every file goes through a translation to STEP and we lose the tolerance information on the way. That is why you saw tolerance rules abstaining on the coverage slide.
NUMBER THREE is auditing our top twenty thresholds against the primary standards. The register already names which twenty and ranks them by how much damage a wrong number would do.
NUMBER FOUR is loading our own plant standards. The mechanism is already built and it already overrides the textbook where we set a value. It just needs our actual numbers put into it, which is a conversation with manufacturing rather than a coding job.
Everything from two down I can schedule myself.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the ask, and it is deliberately a small one.
I am not asking for budget. I am not asking for headcount. I am asking for one part.
Specifically: one component we already buy today. Three things with it — the STEP file, the quotation we actually pay, and whatever DFM comments the supplier gave us.
I will run it through the tool and publish everything, including every place the tool disagrees with the supplier. Especially those.
The reason is this. Right now the tool is internally consistent. It is tested, it is honest about its limits, and every number in it is reproducible. What it has never been is checked against reality — against a part where somebody already knows the right answer.
Within a week of getting that part, we will know whether this is something we can put in front of a supplier, or a prototype that needs another quarter of work. And either answer is worth having.
One preference, in the box at the bottom. If you can find me a sheet metal bracket with real bends in it, that would be ideal — it would exercise seven rules that have never yet run on anything except a test fixture.
That is everything. Happy to take questions, and if you have five more minutes I can run a real part through it live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8000"/>
          </a:blip>
          <a:stretch>
            <a:fillRect/>
          </a:stretch>
        </p:blipFill>
        <p:spPr>
          <a:xfrm>
            <a:off x="7040880" y="1463040"/>
            <a:ext cx="4572000" cy="3255264"/>
          </a:xfrm>
          <a:prstGeom prst="rect">
            <a:avLst/>
          </a:prstGeom>
        </p:spPr>
      </p:pic>
      <p:sp>
        <p:nvSpPr>
          <p:cNvPr id="3" name="Text 0"/>
          <p:cNvSpPr/>
          <p:nvPr/>
        </p:nvSpPr>
        <p:spPr>
          <a:xfrm>
            <a:off x="566928" y="1371600"/>
            <a:ext cx="6583680" cy="274320"/>
          </a:xfrm>
          <a:prstGeom prst="rect">
            <a:avLst/>
          </a:prstGeom>
          <a:noFill/>
          <a:ln/>
        </p:spPr>
        <p:txBody>
          <a:bodyPr wrap="square" lIns="0" tIns="0" rIns="0" bIns="0" rtlCol="0" anchor="ctr"/>
          <a:lstStyle/>
          <a:p>
            <a:pPr indent="0" marL="0">
              <a:buNone/>
            </a:pPr>
            <a:r>
              <a:rPr lang="en-US" sz="1050" b="1" spc="200" kern="0" dirty="0">
                <a:solidFill>
                  <a:srgbClr val="F59E0B"/>
                </a:solidFill>
                <a:latin typeface="Calibri" pitchFamily="34" charset="0"/>
                <a:ea typeface="Calibri" pitchFamily="34" charset="-122"/>
                <a:cs typeface="Calibri" pitchFamily="34" charset="-120"/>
              </a:rPr>
              <a:t>PART OF THE BRAINSPARK AI COST-ENGINEERING PLATFORM</a:t>
            </a:r>
            <a:endParaRPr lang="en-US" sz="1050" dirty="0"/>
          </a:p>
        </p:txBody>
      </p:sp>
      <p:sp>
        <p:nvSpPr>
          <p:cNvPr id="4" name="Text 1"/>
          <p:cNvSpPr/>
          <p:nvPr/>
        </p:nvSpPr>
        <p:spPr>
          <a:xfrm>
            <a:off x="566928" y="1783080"/>
            <a:ext cx="676656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DFM / DFA Studio</a:t>
            </a:r>
            <a:endParaRPr lang="en-US" sz="4600" dirty="0"/>
          </a:p>
        </p:txBody>
      </p:sp>
      <p:sp>
        <p:nvSpPr>
          <p:cNvPr id="5" name="Text 2"/>
          <p:cNvSpPr/>
          <p:nvPr/>
        </p:nvSpPr>
        <p:spPr>
          <a:xfrm>
            <a:off x="566928" y="2743200"/>
            <a:ext cx="6400800" cy="749808"/>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Manufacturability measured from the CAD model — not judged from a checklist</a:t>
            </a:r>
            <a:endParaRPr lang="en-US" sz="1600" dirty="0"/>
          </a:p>
        </p:txBody>
      </p:sp>
      <p:sp>
        <p:nvSpPr>
          <p:cNvPr id="6" name="Text 3"/>
          <p:cNvSpPr/>
          <p:nvPr/>
        </p:nvSpPr>
        <p:spPr>
          <a:xfrm>
            <a:off x="566928" y="3611880"/>
            <a:ext cx="6309360" cy="822960"/>
          </a:xfrm>
          <a:prstGeom prst="rect">
            <a:avLst/>
          </a:prstGeom>
          <a:noFill/>
          <a:ln/>
        </p:spPr>
        <p:txBody>
          <a:bodyPr wrap="square" lIns="0" tIns="0" rIns="0" bIns="0" rtlCol="0" anchor="ctr"/>
          <a:lstStyle/>
          <a:p>
            <a:pPr indent="0" marL="0">
              <a:lnSpc>
                <a:spcPts val="2000"/>
              </a:lnSpc>
              <a:buNone/>
            </a:pPr>
            <a:r>
              <a:rPr lang="en-US" sz="1250" dirty="0">
                <a:solidFill>
                  <a:srgbClr val="94A3B8"/>
                </a:solidFill>
                <a:latin typeface="Calibri" pitchFamily="34" charset="0"/>
                <a:ea typeface="Calibri" pitchFamily="34" charset="-122"/>
                <a:cs typeface="Calibri" pitchFamily="34" charset="-120"/>
              </a:rPr>
              <a:t>Upload a STEP file. Get every rule your chosen process breaks, marked on the part,</a:t>
            </a:r>
            <a:endParaRPr lang="en-US" sz="1250" dirty="0"/>
          </a:p>
          <a:p>
            <a:pPr indent="0" marL="0">
              <a:lnSpc>
                <a:spcPts val="2000"/>
              </a:lnSpc>
              <a:buNone/>
            </a:pPr>
            <a:r>
              <a:rPr lang="en-US" sz="1250" dirty="0">
                <a:solidFill>
                  <a:srgbClr val="94A3B8"/>
                </a:solidFill>
                <a:latin typeface="Calibri" pitchFamily="34" charset="0"/>
                <a:ea typeface="Calibri" pitchFamily="34" charset="-122"/>
                <a:cs typeface="Calibri" pitchFamily="34" charset="-120"/>
              </a:rPr>
              <a:t>priced by the same engines that quote it, and written as decisions with owners.</a:t>
            </a:r>
            <a:endParaRPr lang="en-US" sz="1250" dirty="0"/>
          </a:p>
        </p:txBody>
      </p:sp>
      <p:sp>
        <p:nvSpPr>
          <p:cNvPr id="7" name="Text 4"/>
          <p:cNvSpPr/>
          <p:nvPr/>
        </p:nvSpPr>
        <p:spPr>
          <a:xfrm>
            <a:off x="566928" y="5806440"/>
            <a:ext cx="731520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Avinash Bhosale   ·   Cost Engineering   ·   August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55096" cy="219456"/>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WHY THIS TOOL</a:t>
            </a:r>
            <a:endParaRPr lang="en-US" sz="1100" dirty="0"/>
          </a:p>
        </p:txBody>
      </p:sp>
      <p:sp>
        <p:nvSpPr>
          <p:cNvPr id="3" name="Text 1"/>
          <p:cNvSpPr/>
          <p:nvPr/>
        </p:nvSpPr>
        <p:spPr>
          <a:xfrm>
            <a:off x="566928" y="768096"/>
            <a:ext cx="11055096" cy="64008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The cheapest moment to change a part</a:t>
            </a:r>
            <a:endParaRPr lang="en-US" sz="3200" dirty="0"/>
          </a:p>
        </p:txBody>
      </p:sp>
      <p:sp>
        <p:nvSpPr>
          <p:cNvPr id="4" name="Text 2"/>
          <p:cNvSpPr/>
          <p:nvPr/>
        </p:nvSpPr>
        <p:spPr>
          <a:xfrm>
            <a:off x="566928" y="1481328"/>
            <a:ext cx="5943600" cy="1828800"/>
          </a:xfrm>
          <a:prstGeom prst="rect">
            <a:avLst/>
          </a:prstGeom>
          <a:noFill/>
          <a:ln/>
        </p:spPr>
        <p:txBody>
          <a:bodyPr wrap="square" lIns="0" tIns="0" rIns="0" bIns="0" rtlCol="0" anchor="ctr"/>
          <a:lstStyle/>
          <a:p>
            <a:pPr indent="0" marL="0">
              <a:lnSpc>
                <a:spcPts val="2200"/>
              </a:lnSpc>
              <a:buNone/>
            </a:pPr>
            <a:r>
              <a:rPr lang="en-US" sz="1350" b="1" dirty="0">
                <a:solidFill>
                  <a:srgbClr val="374151"/>
                </a:solidFill>
                <a:latin typeface="Calibri" pitchFamily="34" charset="0"/>
                <a:ea typeface="Calibri" pitchFamily="34" charset="-122"/>
                <a:cs typeface="Calibri" pitchFamily="34" charset="-120"/>
              </a:rPr>
              <a:t>A DFM review today depends on who is in the room.</a:t>
            </a:r>
            <a:endParaRPr lang="en-US" sz="1350" dirty="0"/>
          </a:p>
          <a:p>
            <a:pPr indent="0" marL="0">
              <a:lnSpc>
                <a:spcPts val="2200"/>
              </a:lnSpc>
              <a:buNone/>
            </a:pPr>
            <a:r>
              <a:rPr lang="en-US" sz="1350" dirty="0">
                <a:solidFill>
                  <a:srgbClr val="374151"/>
                </a:solidFill>
                <a:latin typeface="Calibri" pitchFamily="34" charset="0"/>
                <a:ea typeface="Calibri" pitchFamily="34" charset="-122"/>
                <a:cs typeface="Calibri" pitchFamily="34" charset="-120"/>
              </a:rPr>
              <a:t>A senior engineer catches an undercut in ten seconds. A busy one signs the drawing. The part reaches the toolmaker, the slide appears in the quote, and by then the tooling is committed and the change costs ten times what it would have.</a:t>
            </a:r>
            <a:endParaRPr lang="en-US" sz="1350" dirty="0"/>
          </a:p>
          <a:p>
            <a:pPr indent="0" marL="0">
              <a:lnSpc>
                <a:spcPts val="2200"/>
              </a:lnSpc>
              <a:buNone/>
            </a:pPr>
            <a:endParaRPr lang="en-US" sz="1350" dirty="0"/>
          </a:p>
          <a:p>
            <a:pPr indent="0" marL="0">
              <a:lnSpc>
                <a:spcPts val="2200"/>
              </a:lnSpc>
              <a:buNone/>
            </a:pPr>
            <a:r>
              <a:rPr lang="en-US" sz="1350" b="1" dirty="0">
                <a:solidFill>
                  <a:srgbClr val="374151"/>
                </a:solidFill>
                <a:latin typeface="Calibri" pitchFamily="34" charset="0"/>
                <a:ea typeface="Calibri" pitchFamily="34" charset="-122"/>
                <a:cs typeface="Calibri" pitchFamily="34" charset="-120"/>
              </a:rPr>
              <a:t>Three things go wrong repeatedly:</a:t>
            </a:r>
            <a:endParaRPr lang="en-US" sz="1350" dirty="0"/>
          </a:p>
        </p:txBody>
      </p:sp>
      <p:sp>
        <p:nvSpPr>
          <p:cNvPr id="5" name="Shape 3"/>
          <p:cNvSpPr/>
          <p:nvPr/>
        </p:nvSpPr>
        <p:spPr>
          <a:xfrm>
            <a:off x="566928" y="3310128"/>
            <a:ext cx="310896" cy="310896"/>
          </a:xfrm>
          <a:prstGeom prst="ellipse">
            <a:avLst/>
          </a:prstGeom>
          <a:solidFill>
            <a:srgbClr val="F59E0B"/>
          </a:solidFill>
          <a:ln w="12700">
            <a:solidFill>
              <a:srgbClr val="F59E0B"/>
            </a:solidFill>
            <a:prstDash val="solid"/>
          </a:ln>
        </p:spPr>
      </p:sp>
      <p:sp>
        <p:nvSpPr>
          <p:cNvPr id="6" name="Text 4"/>
          <p:cNvSpPr/>
          <p:nvPr/>
        </p:nvSpPr>
        <p:spPr>
          <a:xfrm>
            <a:off x="566928" y="3310128"/>
            <a:ext cx="310896" cy="310896"/>
          </a:xfrm>
          <a:prstGeom prst="rect">
            <a:avLst/>
          </a:prstGeom>
          <a:noFill/>
          <a:ln/>
        </p:spPr>
        <p:txBody>
          <a:bodyPr wrap="square" lIns="0" tIns="0" rIns="0" bIns="0" rtlCol="0" anchor="ctr"/>
          <a:lstStyle/>
          <a:p>
            <a:pPr algn="ctr" indent="0" marL="0">
              <a:buNone/>
            </a:pPr>
            <a:r>
              <a:rPr lang="en-US" sz="1200" b="1" dirty="0">
                <a:solidFill>
                  <a:srgbClr val="0D1F33"/>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042416" y="3273552"/>
            <a:ext cx="5394960" cy="256032"/>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The rule is generic</a:t>
            </a:r>
            <a:endParaRPr lang="en-US" sz="1300" dirty="0"/>
          </a:p>
        </p:txBody>
      </p:sp>
      <p:sp>
        <p:nvSpPr>
          <p:cNvPr id="8" name="Text 6"/>
          <p:cNvSpPr/>
          <p:nvPr/>
        </p:nvSpPr>
        <p:spPr>
          <a:xfrm>
            <a:off x="1042416" y="3529584"/>
            <a:ext cx="5394960" cy="45720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One draft figure for every casting process, one bend radius for every alloy — so the finding is either wrong or ignored.</a:t>
            </a:r>
            <a:endParaRPr lang="en-US" sz="1100" dirty="0"/>
          </a:p>
        </p:txBody>
      </p:sp>
      <p:sp>
        <p:nvSpPr>
          <p:cNvPr id="9" name="Shape 7"/>
          <p:cNvSpPr/>
          <p:nvPr/>
        </p:nvSpPr>
        <p:spPr>
          <a:xfrm>
            <a:off x="566928" y="4096512"/>
            <a:ext cx="310896" cy="310896"/>
          </a:xfrm>
          <a:prstGeom prst="ellipse">
            <a:avLst/>
          </a:prstGeom>
          <a:solidFill>
            <a:srgbClr val="F59E0B"/>
          </a:solidFill>
          <a:ln w="12700">
            <a:solidFill>
              <a:srgbClr val="F59E0B"/>
            </a:solidFill>
            <a:prstDash val="solid"/>
          </a:ln>
        </p:spPr>
      </p:sp>
      <p:sp>
        <p:nvSpPr>
          <p:cNvPr id="10" name="Text 8"/>
          <p:cNvSpPr/>
          <p:nvPr/>
        </p:nvSpPr>
        <p:spPr>
          <a:xfrm>
            <a:off x="566928" y="4096512"/>
            <a:ext cx="310896" cy="310896"/>
          </a:xfrm>
          <a:prstGeom prst="rect">
            <a:avLst/>
          </a:prstGeom>
          <a:noFill/>
          <a:ln/>
        </p:spPr>
        <p:txBody>
          <a:bodyPr wrap="square" lIns="0" tIns="0" rIns="0" bIns="0" rtlCol="0" anchor="ctr"/>
          <a:lstStyle/>
          <a:p>
            <a:pPr algn="ctr" indent="0" marL="0">
              <a:buNone/>
            </a:pPr>
            <a:r>
              <a:rPr lang="en-US" sz="1200" b="1" dirty="0">
                <a:solidFill>
                  <a:srgbClr val="0D1F33"/>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042416" y="4059936"/>
            <a:ext cx="5394960" cy="256032"/>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The finding has no place</a:t>
            </a:r>
            <a:endParaRPr lang="en-US" sz="1300" dirty="0"/>
          </a:p>
        </p:txBody>
      </p:sp>
      <p:sp>
        <p:nvSpPr>
          <p:cNvPr id="12" name="Text 10"/>
          <p:cNvSpPr/>
          <p:nvPr/>
        </p:nvSpPr>
        <p:spPr>
          <a:xfrm>
            <a:off x="1042416" y="4315968"/>
            <a:ext cx="5394960" cy="45720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"34 undercut regions" sends a supplier hunting through CAD instead of acting.</a:t>
            </a:r>
            <a:endParaRPr lang="en-US" sz="1100" dirty="0"/>
          </a:p>
        </p:txBody>
      </p:sp>
      <p:sp>
        <p:nvSpPr>
          <p:cNvPr id="13" name="Shape 11"/>
          <p:cNvSpPr/>
          <p:nvPr/>
        </p:nvSpPr>
        <p:spPr>
          <a:xfrm>
            <a:off x="566928" y="4882896"/>
            <a:ext cx="310896" cy="310896"/>
          </a:xfrm>
          <a:prstGeom prst="ellipse">
            <a:avLst/>
          </a:prstGeom>
          <a:solidFill>
            <a:srgbClr val="F59E0B"/>
          </a:solidFill>
          <a:ln w="12700">
            <a:solidFill>
              <a:srgbClr val="F59E0B"/>
            </a:solidFill>
            <a:prstDash val="solid"/>
          </a:ln>
        </p:spPr>
      </p:sp>
      <p:sp>
        <p:nvSpPr>
          <p:cNvPr id="14" name="Text 12"/>
          <p:cNvSpPr/>
          <p:nvPr/>
        </p:nvSpPr>
        <p:spPr>
          <a:xfrm>
            <a:off x="566928" y="4882896"/>
            <a:ext cx="310896" cy="310896"/>
          </a:xfrm>
          <a:prstGeom prst="rect">
            <a:avLst/>
          </a:prstGeom>
          <a:noFill/>
          <a:ln/>
        </p:spPr>
        <p:txBody>
          <a:bodyPr wrap="square" lIns="0" tIns="0" rIns="0" bIns="0" rtlCol="0" anchor="ctr"/>
          <a:lstStyle/>
          <a:p>
            <a:pPr algn="ctr" indent="0" marL="0">
              <a:buNone/>
            </a:pPr>
            <a:r>
              <a:rPr lang="en-US" sz="1200" b="1" dirty="0">
                <a:solidFill>
                  <a:srgbClr val="0D1F33"/>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042416" y="4846320"/>
            <a:ext cx="5394960" cy="256032"/>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The finding has no price</a:t>
            </a:r>
            <a:endParaRPr lang="en-US" sz="1300" dirty="0"/>
          </a:p>
        </p:txBody>
      </p:sp>
      <p:sp>
        <p:nvSpPr>
          <p:cNvPr id="16" name="Text 14"/>
          <p:cNvSpPr/>
          <p:nvPr/>
        </p:nvSpPr>
        <p:spPr>
          <a:xfrm>
            <a:off x="1042416" y="5102352"/>
            <a:ext cx="5394960" cy="45720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Nobody prioritises a list where a cosmetic radius and a €77k slide sit on the same line.</a:t>
            </a:r>
            <a:endParaRPr lang="en-US" sz="1100" dirty="0"/>
          </a:p>
        </p:txBody>
      </p:sp>
      <p:pic>
        <p:nvPicPr>
          <p:cNvPr id="17" name="Image 0" descr="preencoded.png">    </p:cNvPr>
          <p:cNvPicPr>
            <a:picLocks noChangeAspect="1"/>
          </p:cNvPicPr>
          <p:nvPr/>
        </p:nvPicPr>
        <p:blipFill>
          <a:blip r:embed="rId1"/>
          <a:stretch>
            <a:fillRect/>
          </a:stretch>
        </p:blipFill>
        <p:spPr>
          <a:xfrm>
            <a:off x="7452360" y="1371600"/>
            <a:ext cx="3383280" cy="4782312"/>
          </a:xfrm>
          <a:prstGeom prst="rect">
            <a:avLst/>
          </a:prstGeom>
        </p:spPr>
      </p:pic>
      <p:sp>
        <p:nvSpPr>
          <p:cNvPr id="18" name="Text 15"/>
          <p:cNvSpPr/>
          <p:nvPr/>
        </p:nvSpPr>
        <p:spPr>
          <a:xfrm>
            <a:off x="566928" y="6437376"/>
            <a:ext cx="11055096" cy="237744"/>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BrainSpark DFM / DFA Studio  ·  Design-for-Manufacture &amp; Assembly  ·  1/16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55096" cy="219456"/>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566928" y="768096"/>
            <a:ext cx="11055096" cy="64008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Four stages, each one auditable</a:t>
            </a:r>
            <a:endParaRPr lang="en-US" sz="3200" dirty="0"/>
          </a:p>
        </p:txBody>
      </p:sp>
      <p:sp>
        <p:nvSpPr>
          <p:cNvPr id="4" name="Shape 2"/>
          <p:cNvSpPr/>
          <p:nvPr/>
        </p:nvSpPr>
        <p:spPr>
          <a:xfrm>
            <a:off x="566928" y="1600200"/>
            <a:ext cx="2578608" cy="2286000"/>
          </a:xfrm>
          <a:prstGeom prst="roundRect">
            <a:avLst>
              <a:gd name="adj" fmla="val 2400"/>
            </a:avLst>
          </a:prstGeom>
          <a:solidFill>
            <a:srgbClr val="F1F5F9"/>
          </a:solidFill>
          <a:ln w="12700">
            <a:solidFill>
              <a:srgbClr val="F1F5F9"/>
            </a:solidFill>
            <a:prstDash val="solid"/>
          </a:ln>
        </p:spPr>
      </p:sp>
      <p:sp>
        <p:nvSpPr>
          <p:cNvPr id="5" name="Text 3"/>
          <p:cNvSpPr/>
          <p:nvPr/>
        </p:nvSpPr>
        <p:spPr>
          <a:xfrm>
            <a:off x="768096" y="1783080"/>
            <a:ext cx="2194560" cy="256032"/>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READ</a:t>
            </a:r>
            <a:endParaRPr lang="en-US" sz="1100" dirty="0"/>
          </a:p>
        </p:txBody>
      </p:sp>
      <p:sp>
        <p:nvSpPr>
          <p:cNvPr id="6" name="Text 4"/>
          <p:cNvSpPr/>
          <p:nvPr/>
        </p:nvSpPr>
        <p:spPr>
          <a:xfrm>
            <a:off x="768096" y="2084832"/>
            <a:ext cx="2194560" cy="548640"/>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B-rep from your STEP or IGES</a:t>
            </a:r>
            <a:endParaRPr lang="en-US" sz="1400" dirty="0"/>
          </a:p>
        </p:txBody>
      </p:sp>
      <p:sp>
        <p:nvSpPr>
          <p:cNvPr id="7" name="Text 5"/>
          <p:cNvSpPr/>
          <p:nvPr/>
        </p:nvSpPr>
        <p:spPr>
          <a:xfrm>
            <a:off x="768096" y="2697480"/>
            <a:ext cx="2194560" cy="105156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OpenCascade kernel. Faces, edges, topology — no mesh approximation of the shape.</a:t>
            </a:r>
            <a:endParaRPr lang="en-US" sz="1050" dirty="0"/>
          </a:p>
        </p:txBody>
      </p:sp>
      <p:sp>
        <p:nvSpPr>
          <p:cNvPr id="8" name="Text 6"/>
          <p:cNvSpPr/>
          <p:nvPr/>
        </p:nvSpPr>
        <p:spPr>
          <a:xfrm>
            <a:off x="3172968" y="2606040"/>
            <a:ext cx="201168" cy="27432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&gt;</a:t>
            </a:r>
            <a:endParaRPr lang="en-US" sz="1600" dirty="0"/>
          </a:p>
        </p:txBody>
      </p:sp>
      <p:sp>
        <p:nvSpPr>
          <p:cNvPr id="9" name="Shape 7"/>
          <p:cNvSpPr/>
          <p:nvPr/>
        </p:nvSpPr>
        <p:spPr>
          <a:xfrm>
            <a:off x="3383280" y="1600200"/>
            <a:ext cx="2578608" cy="2286000"/>
          </a:xfrm>
          <a:prstGeom prst="roundRect">
            <a:avLst>
              <a:gd name="adj" fmla="val 2400"/>
            </a:avLst>
          </a:prstGeom>
          <a:solidFill>
            <a:srgbClr val="F1F5F9"/>
          </a:solidFill>
          <a:ln w="12700">
            <a:solidFill>
              <a:srgbClr val="F1F5F9"/>
            </a:solidFill>
            <a:prstDash val="solid"/>
          </a:ln>
        </p:spPr>
      </p:sp>
      <p:sp>
        <p:nvSpPr>
          <p:cNvPr id="10" name="Text 8"/>
          <p:cNvSpPr/>
          <p:nvPr/>
        </p:nvSpPr>
        <p:spPr>
          <a:xfrm>
            <a:off x="3584448" y="1783080"/>
            <a:ext cx="2194560" cy="256032"/>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MEASURE</a:t>
            </a:r>
            <a:endParaRPr lang="en-US" sz="1100" dirty="0"/>
          </a:p>
        </p:txBody>
      </p:sp>
      <p:sp>
        <p:nvSpPr>
          <p:cNvPr id="11" name="Text 9"/>
          <p:cNvSpPr/>
          <p:nvPr/>
        </p:nvSpPr>
        <p:spPr>
          <a:xfrm>
            <a:off x="3584448" y="2084832"/>
            <a:ext cx="2194560" cy="548640"/>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Geometry, not guesswork</a:t>
            </a:r>
            <a:endParaRPr lang="en-US" sz="1400" dirty="0"/>
          </a:p>
        </p:txBody>
      </p:sp>
      <p:sp>
        <p:nvSpPr>
          <p:cNvPr id="12" name="Text 10"/>
          <p:cNvSpPr/>
          <p:nvPr/>
        </p:nvSpPr>
        <p:spPr>
          <a:xfrm>
            <a:off x="3584448" y="2697480"/>
            <a:ext cx="2194560" cy="105156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Wall thickness, draft, undercuts, bends, holes, tool reach — each with the method it used.</a:t>
            </a:r>
            <a:endParaRPr lang="en-US" sz="1050" dirty="0"/>
          </a:p>
        </p:txBody>
      </p:sp>
      <p:sp>
        <p:nvSpPr>
          <p:cNvPr id="13" name="Text 11"/>
          <p:cNvSpPr/>
          <p:nvPr/>
        </p:nvSpPr>
        <p:spPr>
          <a:xfrm>
            <a:off x="5989320" y="2606040"/>
            <a:ext cx="201168" cy="27432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&gt;</a:t>
            </a:r>
            <a:endParaRPr lang="en-US" sz="1600" dirty="0"/>
          </a:p>
        </p:txBody>
      </p:sp>
      <p:sp>
        <p:nvSpPr>
          <p:cNvPr id="14" name="Shape 12"/>
          <p:cNvSpPr/>
          <p:nvPr/>
        </p:nvSpPr>
        <p:spPr>
          <a:xfrm>
            <a:off x="6199632" y="1600200"/>
            <a:ext cx="2578608" cy="2286000"/>
          </a:xfrm>
          <a:prstGeom prst="roundRect">
            <a:avLst>
              <a:gd name="adj" fmla="val 2400"/>
            </a:avLst>
          </a:prstGeom>
          <a:solidFill>
            <a:srgbClr val="F1F5F9"/>
          </a:solidFill>
          <a:ln w="12700">
            <a:solidFill>
              <a:srgbClr val="F1F5F9"/>
            </a:solidFill>
            <a:prstDash val="solid"/>
          </a:ln>
        </p:spPr>
      </p:sp>
      <p:sp>
        <p:nvSpPr>
          <p:cNvPr id="15" name="Text 13"/>
          <p:cNvSpPr/>
          <p:nvPr/>
        </p:nvSpPr>
        <p:spPr>
          <a:xfrm>
            <a:off x="6400800" y="1783080"/>
            <a:ext cx="2194560" cy="256032"/>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JUDGE</a:t>
            </a:r>
            <a:endParaRPr lang="en-US" sz="1100" dirty="0"/>
          </a:p>
        </p:txBody>
      </p:sp>
      <p:sp>
        <p:nvSpPr>
          <p:cNvPr id="16" name="Text 14"/>
          <p:cNvSpPr/>
          <p:nvPr/>
        </p:nvSpPr>
        <p:spPr>
          <a:xfrm>
            <a:off x="6400800" y="2084832"/>
            <a:ext cx="2194560" cy="548640"/>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236 rules across 35 families</a:t>
            </a:r>
            <a:endParaRPr lang="en-US" sz="1400" dirty="0"/>
          </a:p>
        </p:txBody>
      </p:sp>
      <p:sp>
        <p:nvSpPr>
          <p:cNvPr id="17" name="Text 15"/>
          <p:cNvSpPr/>
          <p:nvPr/>
        </p:nvSpPr>
        <p:spPr>
          <a:xfrm>
            <a:off x="6400800" y="2697480"/>
            <a:ext cx="2194560" cy="105156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Only the rules for the process YOU chose, with thresholds resolved for YOUR alloy.</a:t>
            </a:r>
            <a:endParaRPr lang="en-US" sz="1050" dirty="0"/>
          </a:p>
        </p:txBody>
      </p:sp>
      <p:sp>
        <p:nvSpPr>
          <p:cNvPr id="18" name="Text 16"/>
          <p:cNvSpPr/>
          <p:nvPr/>
        </p:nvSpPr>
        <p:spPr>
          <a:xfrm>
            <a:off x="8805672" y="2606040"/>
            <a:ext cx="201168" cy="27432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&gt;</a:t>
            </a:r>
            <a:endParaRPr lang="en-US" sz="1600" dirty="0"/>
          </a:p>
        </p:txBody>
      </p:sp>
      <p:sp>
        <p:nvSpPr>
          <p:cNvPr id="19" name="Shape 17"/>
          <p:cNvSpPr/>
          <p:nvPr/>
        </p:nvSpPr>
        <p:spPr>
          <a:xfrm>
            <a:off x="9015984" y="1600200"/>
            <a:ext cx="2578608" cy="2286000"/>
          </a:xfrm>
          <a:prstGeom prst="roundRect">
            <a:avLst>
              <a:gd name="adj" fmla="val 2400"/>
            </a:avLst>
          </a:prstGeom>
          <a:solidFill>
            <a:srgbClr val="F1F5F9"/>
          </a:solidFill>
          <a:ln w="12700">
            <a:solidFill>
              <a:srgbClr val="F1F5F9"/>
            </a:solidFill>
            <a:prstDash val="solid"/>
          </a:ln>
        </p:spPr>
      </p:sp>
      <p:sp>
        <p:nvSpPr>
          <p:cNvPr id="20" name="Text 18"/>
          <p:cNvSpPr/>
          <p:nvPr/>
        </p:nvSpPr>
        <p:spPr>
          <a:xfrm>
            <a:off x="9217152" y="1783080"/>
            <a:ext cx="2194560" cy="256032"/>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PRICE</a:t>
            </a:r>
            <a:endParaRPr lang="en-US" sz="1100" dirty="0"/>
          </a:p>
        </p:txBody>
      </p:sp>
      <p:sp>
        <p:nvSpPr>
          <p:cNvPr id="21" name="Text 19"/>
          <p:cNvSpPr/>
          <p:nvPr/>
        </p:nvSpPr>
        <p:spPr>
          <a:xfrm>
            <a:off x="9217152" y="2084832"/>
            <a:ext cx="2194560" cy="548640"/>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The same should-cost engines</a:t>
            </a:r>
            <a:endParaRPr lang="en-US" sz="1400" dirty="0"/>
          </a:p>
        </p:txBody>
      </p:sp>
      <p:sp>
        <p:nvSpPr>
          <p:cNvPr id="22" name="Text 20"/>
          <p:cNvSpPr/>
          <p:nvPr/>
        </p:nvSpPr>
        <p:spPr>
          <a:xfrm>
            <a:off x="9217152" y="2697480"/>
            <a:ext cx="2194560" cy="105156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What the change is worth per part and per year, or an explicit reason it cannot be priced.</a:t>
            </a:r>
            <a:endParaRPr lang="en-US" sz="1050" dirty="0"/>
          </a:p>
        </p:txBody>
      </p:sp>
      <p:sp>
        <p:nvSpPr>
          <p:cNvPr id="23" name="Shape 21"/>
          <p:cNvSpPr/>
          <p:nvPr/>
        </p:nvSpPr>
        <p:spPr>
          <a:xfrm>
            <a:off x="566928" y="4160520"/>
            <a:ext cx="11055096" cy="1600200"/>
          </a:xfrm>
          <a:prstGeom prst="roundRect">
            <a:avLst>
              <a:gd name="adj" fmla="val 3429"/>
            </a:avLst>
          </a:prstGeom>
          <a:solidFill>
            <a:srgbClr val="0D1F33"/>
          </a:solidFill>
          <a:ln w="12700">
            <a:solidFill>
              <a:srgbClr val="0D1F33"/>
            </a:solidFill>
            <a:prstDash val="solid"/>
          </a:ln>
        </p:spPr>
      </p:sp>
      <p:sp>
        <p:nvSpPr>
          <p:cNvPr id="24" name="Text 22"/>
          <p:cNvSpPr/>
          <p:nvPr/>
        </p:nvSpPr>
        <p:spPr>
          <a:xfrm>
            <a:off x="886968" y="4370832"/>
            <a:ext cx="10058400" cy="237744"/>
          </a:xfrm>
          <a:prstGeom prst="rect">
            <a:avLst/>
          </a:prstGeom>
          <a:noFill/>
          <a:ln/>
        </p:spPr>
        <p:txBody>
          <a:bodyPr wrap="square" lIns="0" tIns="0" rIns="0" bIns="0" rtlCol="0" anchor="ctr"/>
          <a:lstStyle/>
          <a:p>
            <a:pPr indent="0" marL="0">
              <a:buNone/>
            </a:pPr>
            <a:r>
              <a:rPr lang="en-US" sz="1050" b="1" spc="200" kern="0" dirty="0">
                <a:solidFill>
                  <a:srgbClr val="F59E0B"/>
                </a:solidFill>
                <a:latin typeface="Calibri" pitchFamily="34" charset="0"/>
                <a:ea typeface="Calibri" pitchFamily="34" charset="-122"/>
                <a:cs typeface="Calibri" pitchFamily="34" charset="-120"/>
              </a:rPr>
              <a:t>THE RULE THE WHOLE PLATFORM LIVES BY</a:t>
            </a:r>
            <a:endParaRPr lang="en-US" sz="1050" dirty="0"/>
          </a:p>
        </p:txBody>
      </p:sp>
      <p:sp>
        <p:nvSpPr>
          <p:cNvPr id="25" name="Text 23"/>
          <p:cNvSpPr/>
          <p:nvPr/>
        </p:nvSpPr>
        <p:spPr>
          <a:xfrm>
            <a:off x="886968" y="4645152"/>
            <a:ext cx="10058400" cy="384048"/>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Math for numbers. AI for judgment.</a:t>
            </a:r>
            <a:endParaRPr lang="en-US" sz="2100" dirty="0"/>
          </a:p>
        </p:txBody>
      </p:sp>
      <p:sp>
        <p:nvSpPr>
          <p:cNvPr id="26" name="Text 24"/>
          <p:cNvSpPr/>
          <p:nvPr/>
        </p:nvSpPr>
        <p:spPr>
          <a:xfrm>
            <a:off x="886968" y="5084064"/>
            <a:ext cx="10607040" cy="54864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Every dimension is measured by the geometry kernel and every cost by a deterministic engine. There is no language model anywhere in this analysis — nothing on the report was written by one, and nothing was estimated by one.</a:t>
            </a:r>
            <a:endParaRPr lang="en-US" sz="1150" dirty="0"/>
          </a:p>
        </p:txBody>
      </p:sp>
      <p:sp>
        <p:nvSpPr>
          <p:cNvPr id="27" name="Text 25"/>
          <p:cNvSpPr/>
          <p:nvPr/>
        </p:nvSpPr>
        <p:spPr>
          <a:xfrm>
            <a:off x="566928" y="6437376"/>
            <a:ext cx="11055096" cy="237744"/>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BrainSpark DFM / DFA Studio  ·  Design-for-Manufacture &amp; Assembly  ·  2/16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55096" cy="219456"/>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UNDER THE BONNET</a:t>
            </a:r>
            <a:endParaRPr lang="en-US" sz="1100" dirty="0"/>
          </a:p>
        </p:txBody>
      </p:sp>
      <p:sp>
        <p:nvSpPr>
          <p:cNvPr id="3" name="Text 1"/>
          <p:cNvSpPr/>
          <p:nvPr/>
        </p:nvSpPr>
        <p:spPr>
          <a:xfrm>
            <a:off x="566928" y="768096"/>
            <a:ext cx="11055096" cy="64008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What happens when you press Analyse</a:t>
            </a:r>
            <a:endParaRPr lang="en-US" sz="3200" dirty="0"/>
          </a:p>
        </p:txBody>
      </p:sp>
      <p:sp>
        <p:nvSpPr>
          <p:cNvPr id="4" name="Shape 2"/>
          <p:cNvSpPr/>
          <p:nvPr/>
        </p:nvSpPr>
        <p:spPr>
          <a:xfrm>
            <a:off x="566928" y="1536192"/>
            <a:ext cx="1755648" cy="2880360"/>
          </a:xfrm>
          <a:prstGeom prst="roundRect">
            <a:avLst>
              <a:gd name="adj" fmla="val 3125"/>
            </a:avLst>
          </a:prstGeom>
          <a:solidFill>
            <a:srgbClr val="F1F5F9"/>
          </a:solidFill>
          <a:ln w="12700">
            <a:solidFill>
              <a:srgbClr val="F1F5F9"/>
            </a:solidFill>
            <a:prstDash val="solid"/>
          </a:ln>
        </p:spPr>
      </p:sp>
      <p:sp>
        <p:nvSpPr>
          <p:cNvPr id="5" name="Shape 3"/>
          <p:cNvSpPr/>
          <p:nvPr/>
        </p:nvSpPr>
        <p:spPr>
          <a:xfrm>
            <a:off x="1225296" y="1700784"/>
            <a:ext cx="438912" cy="438912"/>
          </a:xfrm>
          <a:prstGeom prst="ellipse">
            <a:avLst/>
          </a:prstGeom>
          <a:solidFill>
            <a:srgbClr val="0D1F33"/>
          </a:solidFill>
          <a:ln w="12700">
            <a:solidFill>
              <a:srgbClr val="0D1F33"/>
            </a:solidFill>
            <a:prstDash val="solid"/>
          </a:ln>
        </p:spPr>
      </p:sp>
      <p:pic>
        <p:nvPicPr>
          <p:cNvPr id="6" name="Image 0" descr="preencoded.png">    </p:cNvPr>
          <p:cNvPicPr>
            <a:picLocks noChangeAspect="1"/>
          </p:cNvPicPr>
          <p:nvPr/>
        </p:nvPicPr>
        <p:blipFill>
          <a:blip r:embed="rId1"/>
          <a:stretch>
            <a:fillRect/>
          </a:stretch>
        </p:blipFill>
        <p:spPr>
          <a:xfrm>
            <a:off x="1325880" y="1801368"/>
            <a:ext cx="237744" cy="237744"/>
          </a:xfrm>
          <a:prstGeom prst="rect">
            <a:avLst/>
          </a:prstGeom>
        </p:spPr>
      </p:pic>
      <p:sp>
        <p:nvSpPr>
          <p:cNvPr id="7" name="Text 4"/>
          <p:cNvSpPr/>
          <p:nvPr/>
        </p:nvSpPr>
        <p:spPr>
          <a:xfrm>
            <a:off x="658368" y="1719072"/>
            <a:ext cx="310896" cy="237744"/>
          </a:xfrm>
          <a:prstGeom prst="rect">
            <a:avLst/>
          </a:prstGeom>
          <a:noFill/>
          <a:ln/>
        </p:spPr>
        <p:txBody>
          <a:bodyPr wrap="square" lIns="0" tIns="0" rIns="0" bIns="0" rtlCol="0" anchor="ctr"/>
          <a:lstStyle/>
          <a:p>
            <a:pPr indent="0" marL="0">
              <a:buNone/>
            </a:pPr>
            <a:r>
              <a:rPr lang="en-US" sz="1200" b="1" dirty="0">
                <a:solidFill>
                  <a:srgbClr val="F59E0B"/>
                </a:solidFill>
                <a:latin typeface="Cambria" pitchFamily="34" charset="0"/>
                <a:ea typeface="Cambria" pitchFamily="34" charset="-122"/>
                <a:cs typeface="Cambria" pitchFamily="34" charset="-120"/>
              </a:rPr>
              <a:t>1</a:t>
            </a:r>
            <a:endParaRPr lang="en-US" sz="1200" dirty="0"/>
          </a:p>
        </p:txBody>
      </p:sp>
      <p:sp>
        <p:nvSpPr>
          <p:cNvPr id="8" name="Text 5"/>
          <p:cNvSpPr/>
          <p:nvPr/>
        </p:nvSpPr>
        <p:spPr>
          <a:xfrm>
            <a:off x="694944" y="2249424"/>
            <a:ext cx="1499616" cy="566928"/>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You give it two things</a:t>
            </a:r>
            <a:endParaRPr lang="en-US" sz="1200" dirty="0"/>
          </a:p>
        </p:txBody>
      </p:sp>
      <p:sp>
        <p:nvSpPr>
          <p:cNvPr id="9" name="Text 6"/>
          <p:cNvSpPr/>
          <p:nvPr/>
        </p:nvSpPr>
        <p:spPr>
          <a:xfrm>
            <a:off x="694944" y="2834640"/>
            <a:ext cx="1499616" cy="1143000"/>
          </a:xfrm>
          <a:prstGeom prst="rect">
            <a:avLst/>
          </a:prstGeom>
          <a:noFill/>
          <a:ln/>
        </p:spPr>
        <p:txBody>
          <a:bodyPr wrap="square" lIns="0" tIns="0" rIns="0" bIns="0" rtlCol="0" anchor="ctr"/>
          <a:lstStyle/>
          <a:p>
            <a:pPr algn="ctr" indent="0" marL="0">
              <a:buNone/>
            </a:pPr>
            <a:r>
              <a:rPr lang="en-US" sz="1000" dirty="0">
                <a:solidFill>
                  <a:srgbClr val="374151"/>
                </a:solidFill>
                <a:latin typeface="Calibri" pitchFamily="34" charset="0"/>
                <a:ea typeface="Calibri" pitchFamily="34" charset="-122"/>
                <a:cs typeface="Calibri" pitchFamily="34" charset="-120"/>
              </a:rPr>
              <a:t>The CAD file, and how you intend to make the part.</a:t>
            </a:r>
            <a:endParaRPr lang="en-US" sz="1000" dirty="0"/>
          </a:p>
        </p:txBody>
      </p:sp>
      <p:sp>
        <p:nvSpPr>
          <p:cNvPr id="10" name="Text 7"/>
          <p:cNvSpPr/>
          <p:nvPr/>
        </p:nvSpPr>
        <p:spPr>
          <a:xfrm>
            <a:off x="694944" y="4041648"/>
            <a:ext cx="1499616" cy="292608"/>
          </a:xfrm>
          <a:prstGeom prst="rect">
            <a:avLst/>
          </a:prstGeom>
          <a:noFill/>
          <a:ln/>
        </p:spPr>
        <p:txBody>
          <a:bodyPr wrap="square" lIns="0" tIns="0" rIns="0" bIns="0"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STEP or IGES · material + process</a:t>
            </a:r>
            <a:endParaRPr lang="en-US" sz="850" dirty="0"/>
          </a:p>
        </p:txBody>
      </p:sp>
      <p:sp>
        <p:nvSpPr>
          <p:cNvPr id="11" name="Text 8"/>
          <p:cNvSpPr/>
          <p:nvPr/>
        </p:nvSpPr>
        <p:spPr>
          <a:xfrm>
            <a:off x="2304288" y="1847088"/>
            <a:ext cx="137160" cy="219456"/>
          </a:xfrm>
          <a:prstGeom prst="rect">
            <a:avLst/>
          </a:prstGeom>
          <a:no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&gt;</a:t>
            </a:r>
            <a:endParaRPr lang="en-US" sz="1300" dirty="0"/>
          </a:p>
        </p:txBody>
      </p:sp>
      <p:sp>
        <p:nvSpPr>
          <p:cNvPr id="12" name="Shape 9"/>
          <p:cNvSpPr/>
          <p:nvPr/>
        </p:nvSpPr>
        <p:spPr>
          <a:xfrm>
            <a:off x="2404872" y="1536192"/>
            <a:ext cx="1755648" cy="2880360"/>
          </a:xfrm>
          <a:prstGeom prst="roundRect">
            <a:avLst>
              <a:gd name="adj" fmla="val 3125"/>
            </a:avLst>
          </a:prstGeom>
          <a:solidFill>
            <a:srgbClr val="F1F5F9"/>
          </a:solidFill>
          <a:ln w="12700">
            <a:solidFill>
              <a:srgbClr val="F1F5F9"/>
            </a:solidFill>
            <a:prstDash val="solid"/>
          </a:ln>
        </p:spPr>
      </p:sp>
      <p:sp>
        <p:nvSpPr>
          <p:cNvPr id="13" name="Shape 10"/>
          <p:cNvSpPr/>
          <p:nvPr/>
        </p:nvSpPr>
        <p:spPr>
          <a:xfrm>
            <a:off x="3063240" y="1700784"/>
            <a:ext cx="438912" cy="438912"/>
          </a:xfrm>
          <a:prstGeom prst="ellipse">
            <a:avLst/>
          </a:prstGeom>
          <a:solidFill>
            <a:srgbClr val="0D1F33"/>
          </a:solidFill>
          <a:ln w="12700">
            <a:solidFill>
              <a:srgbClr val="0D1F33"/>
            </a:solidFill>
            <a:prstDash val="solid"/>
          </a:ln>
        </p:spPr>
      </p:sp>
      <p:pic>
        <p:nvPicPr>
          <p:cNvPr id="14" name="Image 1" descr="preencoded.png">    </p:cNvPr>
          <p:cNvPicPr>
            <a:picLocks noChangeAspect="1"/>
          </p:cNvPicPr>
          <p:nvPr/>
        </p:nvPicPr>
        <p:blipFill>
          <a:blip r:embed="rId2"/>
          <a:stretch>
            <a:fillRect/>
          </a:stretch>
        </p:blipFill>
        <p:spPr>
          <a:xfrm>
            <a:off x="3163824" y="1801368"/>
            <a:ext cx="237744" cy="237744"/>
          </a:xfrm>
          <a:prstGeom prst="rect">
            <a:avLst/>
          </a:prstGeom>
        </p:spPr>
      </p:pic>
      <p:sp>
        <p:nvSpPr>
          <p:cNvPr id="15" name="Text 11"/>
          <p:cNvSpPr/>
          <p:nvPr/>
        </p:nvSpPr>
        <p:spPr>
          <a:xfrm>
            <a:off x="2496312" y="1719072"/>
            <a:ext cx="310896" cy="237744"/>
          </a:xfrm>
          <a:prstGeom prst="rect">
            <a:avLst/>
          </a:prstGeom>
          <a:noFill/>
          <a:ln/>
        </p:spPr>
        <p:txBody>
          <a:bodyPr wrap="square" lIns="0" tIns="0" rIns="0" bIns="0" rtlCol="0" anchor="ctr"/>
          <a:lstStyle/>
          <a:p>
            <a:pPr indent="0" marL="0">
              <a:buNone/>
            </a:pPr>
            <a:r>
              <a:rPr lang="en-US" sz="1200" b="1" dirty="0">
                <a:solidFill>
                  <a:srgbClr val="F59E0B"/>
                </a:solidFill>
                <a:latin typeface="Cambria" pitchFamily="34" charset="0"/>
                <a:ea typeface="Cambria" pitchFamily="34" charset="-122"/>
                <a:cs typeface="Cambria" pitchFamily="34" charset="-120"/>
              </a:rPr>
              <a:t>2</a:t>
            </a:r>
            <a:endParaRPr lang="en-US" sz="1200" dirty="0"/>
          </a:p>
        </p:txBody>
      </p:sp>
      <p:sp>
        <p:nvSpPr>
          <p:cNvPr id="16" name="Text 12"/>
          <p:cNvSpPr/>
          <p:nvPr/>
        </p:nvSpPr>
        <p:spPr>
          <a:xfrm>
            <a:off x="2532888" y="2249424"/>
            <a:ext cx="1499616" cy="566928"/>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It opens the real solid</a:t>
            </a:r>
            <a:endParaRPr lang="en-US" sz="1200" dirty="0"/>
          </a:p>
        </p:txBody>
      </p:sp>
      <p:sp>
        <p:nvSpPr>
          <p:cNvPr id="17" name="Text 13"/>
          <p:cNvSpPr/>
          <p:nvPr/>
        </p:nvSpPr>
        <p:spPr>
          <a:xfrm>
            <a:off x="2532888" y="2834640"/>
            <a:ext cx="1499616" cy="1143000"/>
          </a:xfrm>
          <a:prstGeom prst="rect">
            <a:avLst/>
          </a:prstGeom>
          <a:noFill/>
          <a:ln/>
        </p:spPr>
        <p:txBody>
          <a:bodyPr wrap="square" lIns="0" tIns="0" rIns="0" bIns="0" rtlCol="0" anchor="ctr"/>
          <a:lstStyle/>
          <a:p>
            <a:pPr algn="ctr" indent="0" marL="0">
              <a:buNone/>
            </a:pPr>
            <a:r>
              <a:rPr lang="en-US" sz="1000" dirty="0">
                <a:solidFill>
                  <a:srgbClr val="374151"/>
                </a:solidFill>
                <a:latin typeface="Calibri" pitchFamily="34" charset="0"/>
                <a:ea typeface="Calibri" pitchFamily="34" charset="-122"/>
                <a:cs typeface="Calibri" pitchFamily="34" charset="-120"/>
              </a:rPr>
              <a:t>Not a picture of the part — the actual faces, edges and holes the designer built.</a:t>
            </a:r>
            <a:endParaRPr lang="en-US" sz="1000" dirty="0"/>
          </a:p>
        </p:txBody>
      </p:sp>
      <p:sp>
        <p:nvSpPr>
          <p:cNvPr id="18" name="Text 14"/>
          <p:cNvSpPr/>
          <p:nvPr/>
        </p:nvSpPr>
        <p:spPr>
          <a:xfrm>
            <a:off x="2532888" y="4041648"/>
            <a:ext cx="1499616" cy="292608"/>
          </a:xfrm>
          <a:prstGeom prst="rect">
            <a:avLst/>
          </a:prstGeom>
          <a:noFill/>
          <a:ln/>
        </p:spPr>
        <p:txBody>
          <a:bodyPr wrap="square" lIns="0" tIns="0" rIns="0" bIns="0"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OpenCascade B-rep kernel</a:t>
            </a:r>
            <a:endParaRPr lang="en-US" sz="850" dirty="0"/>
          </a:p>
        </p:txBody>
      </p:sp>
      <p:sp>
        <p:nvSpPr>
          <p:cNvPr id="19" name="Text 15"/>
          <p:cNvSpPr/>
          <p:nvPr/>
        </p:nvSpPr>
        <p:spPr>
          <a:xfrm>
            <a:off x="4142232" y="1847088"/>
            <a:ext cx="137160" cy="219456"/>
          </a:xfrm>
          <a:prstGeom prst="rect">
            <a:avLst/>
          </a:prstGeom>
          <a:no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&gt;</a:t>
            </a:r>
            <a:endParaRPr lang="en-US" sz="1300" dirty="0"/>
          </a:p>
        </p:txBody>
      </p:sp>
      <p:sp>
        <p:nvSpPr>
          <p:cNvPr id="20" name="Shape 16"/>
          <p:cNvSpPr/>
          <p:nvPr/>
        </p:nvSpPr>
        <p:spPr>
          <a:xfrm>
            <a:off x="4242816" y="1536192"/>
            <a:ext cx="1755648" cy="2880360"/>
          </a:xfrm>
          <a:prstGeom prst="roundRect">
            <a:avLst>
              <a:gd name="adj" fmla="val 3125"/>
            </a:avLst>
          </a:prstGeom>
          <a:solidFill>
            <a:srgbClr val="F1F5F9"/>
          </a:solidFill>
          <a:ln w="12700">
            <a:solidFill>
              <a:srgbClr val="F1F5F9"/>
            </a:solidFill>
            <a:prstDash val="solid"/>
          </a:ln>
        </p:spPr>
      </p:sp>
      <p:sp>
        <p:nvSpPr>
          <p:cNvPr id="21" name="Shape 17"/>
          <p:cNvSpPr/>
          <p:nvPr/>
        </p:nvSpPr>
        <p:spPr>
          <a:xfrm>
            <a:off x="4901184" y="1700784"/>
            <a:ext cx="438912" cy="438912"/>
          </a:xfrm>
          <a:prstGeom prst="ellipse">
            <a:avLst/>
          </a:prstGeom>
          <a:solidFill>
            <a:srgbClr val="0D1F33"/>
          </a:solidFill>
          <a:ln w="12700">
            <a:solidFill>
              <a:srgbClr val="0D1F33"/>
            </a:solidFill>
            <a:prstDash val="solid"/>
          </a:ln>
        </p:spPr>
      </p:sp>
      <p:pic>
        <p:nvPicPr>
          <p:cNvPr id="22" name="Image 2" descr="preencoded.png">    </p:cNvPr>
          <p:cNvPicPr>
            <a:picLocks noChangeAspect="1"/>
          </p:cNvPicPr>
          <p:nvPr/>
        </p:nvPicPr>
        <p:blipFill>
          <a:blip r:embed="rId3"/>
          <a:stretch>
            <a:fillRect/>
          </a:stretch>
        </p:blipFill>
        <p:spPr>
          <a:xfrm>
            <a:off x="5001768" y="1801368"/>
            <a:ext cx="237744" cy="237744"/>
          </a:xfrm>
          <a:prstGeom prst="rect">
            <a:avLst/>
          </a:prstGeom>
        </p:spPr>
      </p:pic>
      <p:sp>
        <p:nvSpPr>
          <p:cNvPr id="23" name="Text 18"/>
          <p:cNvSpPr/>
          <p:nvPr/>
        </p:nvSpPr>
        <p:spPr>
          <a:xfrm>
            <a:off x="4334256" y="1719072"/>
            <a:ext cx="310896" cy="237744"/>
          </a:xfrm>
          <a:prstGeom prst="rect">
            <a:avLst/>
          </a:prstGeom>
          <a:noFill/>
          <a:ln/>
        </p:spPr>
        <p:txBody>
          <a:bodyPr wrap="square" lIns="0" tIns="0" rIns="0" bIns="0" rtlCol="0" anchor="ctr"/>
          <a:lstStyle/>
          <a:p>
            <a:pPr indent="0" marL="0">
              <a:buNone/>
            </a:pPr>
            <a:r>
              <a:rPr lang="en-US" sz="1200" b="1" dirty="0">
                <a:solidFill>
                  <a:srgbClr val="F59E0B"/>
                </a:solidFill>
                <a:latin typeface="Cambria" pitchFamily="34" charset="0"/>
                <a:ea typeface="Cambria" pitchFamily="34" charset="-122"/>
                <a:cs typeface="Cambria" pitchFamily="34" charset="-120"/>
              </a:rPr>
              <a:t>3</a:t>
            </a:r>
            <a:endParaRPr lang="en-US" sz="1200" dirty="0"/>
          </a:p>
        </p:txBody>
      </p:sp>
      <p:sp>
        <p:nvSpPr>
          <p:cNvPr id="24" name="Text 19"/>
          <p:cNvSpPr/>
          <p:nvPr/>
        </p:nvSpPr>
        <p:spPr>
          <a:xfrm>
            <a:off x="4370832" y="2249424"/>
            <a:ext cx="1499616" cy="566928"/>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It measures the shape</a:t>
            </a:r>
            <a:endParaRPr lang="en-US" sz="1200" dirty="0"/>
          </a:p>
        </p:txBody>
      </p:sp>
      <p:sp>
        <p:nvSpPr>
          <p:cNvPr id="25" name="Text 20"/>
          <p:cNvSpPr/>
          <p:nvPr/>
        </p:nvSpPr>
        <p:spPr>
          <a:xfrm>
            <a:off x="4370832" y="2834640"/>
            <a:ext cx="1499616" cy="1143000"/>
          </a:xfrm>
          <a:prstGeom prst="rect">
            <a:avLst/>
          </a:prstGeom>
          <a:noFill/>
          <a:ln/>
        </p:spPr>
        <p:txBody>
          <a:bodyPr wrap="square" lIns="0" tIns="0" rIns="0" bIns="0" rtlCol="0" anchor="ctr"/>
          <a:lstStyle/>
          <a:p>
            <a:pPr algn="ctr" indent="0" marL="0">
              <a:buNone/>
            </a:pPr>
            <a:r>
              <a:rPr lang="en-US" sz="1000" dirty="0">
                <a:solidFill>
                  <a:srgbClr val="374151"/>
                </a:solidFill>
                <a:latin typeface="Calibri" pitchFamily="34" charset="0"/>
                <a:ea typeface="Calibri" pitchFamily="34" charset="-122"/>
                <a:cs typeface="Calibri" pitchFamily="34" charset="-120"/>
              </a:rPr>
              <a:t>Walls, draft, undercuts, bends, holes, corners — each one an actual measurement.</a:t>
            </a:r>
            <a:endParaRPr lang="en-US" sz="1000" dirty="0"/>
          </a:p>
        </p:txBody>
      </p:sp>
      <p:sp>
        <p:nvSpPr>
          <p:cNvPr id="26" name="Text 21"/>
          <p:cNvSpPr/>
          <p:nvPr/>
        </p:nvSpPr>
        <p:spPr>
          <a:xfrm>
            <a:off x="4370832" y="4041648"/>
            <a:ext cx="1499616" cy="292608"/>
          </a:xfrm>
          <a:prstGeom prst="rect">
            <a:avLst/>
          </a:prstGeom>
          <a:noFill/>
          <a:ln/>
        </p:spPr>
        <p:txBody>
          <a:bodyPr wrap="square" lIns="0" tIns="0" rIns="0" bIns="0"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six measuring passes</a:t>
            </a:r>
            <a:endParaRPr lang="en-US" sz="850" dirty="0"/>
          </a:p>
        </p:txBody>
      </p:sp>
      <p:sp>
        <p:nvSpPr>
          <p:cNvPr id="27" name="Text 22"/>
          <p:cNvSpPr/>
          <p:nvPr/>
        </p:nvSpPr>
        <p:spPr>
          <a:xfrm>
            <a:off x="5980176" y="1847088"/>
            <a:ext cx="137160" cy="219456"/>
          </a:xfrm>
          <a:prstGeom prst="rect">
            <a:avLst/>
          </a:prstGeom>
          <a:no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&gt;</a:t>
            </a:r>
            <a:endParaRPr lang="en-US" sz="1300" dirty="0"/>
          </a:p>
        </p:txBody>
      </p:sp>
      <p:sp>
        <p:nvSpPr>
          <p:cNvPr id="28" name="Shape 23"/>
          <p:cNvSpPr/>
          <p:nvPr/>
        </p:nvSpPr>
        <p:spPr>
          <a:xfrm>
            <a:off x="6080760" y="1536192"/>
            <a:ext cx="1755648" cy="2880360"/>
          </a:xfrm>
          <a:prstGeom prst="roundRect">
            <a:avLst>
              <a:gd name="adj" fmla="val 3125"/>
            </a:avLst>
          </a:prstGeom>
          <a:solidFill>
            <a:srgbClr val="F1F5F9"/>
          </a:solidFill>
          <a:ln w="12700">
            <a:solidFill>
              <a:srgbClr val="F1F5F9"/>
            </a:solidFill>
            <a:prstDash val="solid"/>
          </a:ln>
        </p:spPr>
      </p:sp>
      <p:sp>
        <p:nvSpPr>
          <p:cNvPr id="29" name="Shape 24"/>
          <p:cNvSpPr/>
          <p:nvPr/>
        </p:nvSpPr>
        <p:spPr>
          <a:xfrm>
            <a:off x="6739128" y="1700784"/>
            <a:ext cx="438912" cy="438912"/>
          </a:xfrm>
          <a:prstGeom prst="ellipse">
            <a:avLst/>
          </a:prstGeom>
          <a:solidFill>
            <a:srgbClr val="0D1F33"/>
          </a:solidFill>
          <a:ln w="12700">
            <a:solidFill>
              <a:srgbClr val="0D1F33"/>
            </a:solidFill>
            <a:prstDash val="solid"/>
          </a:ln>
        </p:spPr>
      </p:sp>
      <p:pic>
        <p:nvPicPr>
          <p:cNvPr id="30" name="Image 3" descr="preencoded.png">    </p:cNvPr>
          <p:cNvPicPr>
            <a:picLocks noChangeAspect="1"/>
          </p:cNvPicPr>
          <p:nvPr/>
        </p:nvPicPr>
        <p:blipFill>
          <a:blip r:embed="rId4"/>
          <a:stretch>
            <a:fillRect/>
          </a:stretch>
        </p:blipFill>
        <p:spPr>
          <a:xfrm>
            <a:off x="6839712" y="1801368"/>
            <a:ext cx="237744" cy="237744"/>
          </a:xfrm>
          <a:prstGeom prst="rect">
            <a:avLst/>
          </a:prstGeom>
        </p:spPr>
      </p:pic>
      <p:sp>
        <p:nvSpPr>
          <p:cNvPr id="31" name="Text 25"/>
          <p:cNvSpPr/>
          <p:nvPr/>
        </p:nvSpPr>
        <p:spPr>
          <a:xfrm>
            <a:off x="6172200" y="1719072"/>
            <a:ext cx="310896" cy="237744"/>
          </a:xfrm>
          <a:prstGeom prst="rect">
            <a:avLst/>
          </a:prstGeom>
          <a:noFill/>
          <a:ln/>
        </p:spPr>
        <p:txBody>
          <a:bodyPr wrap="square" lIns="0" tIns="0" rIns="0" bIns="0" rtlCol="0" anchor="ctr"/>
          <a:lstStyle/>
          <a:p>
            <a:pPr indent="0" marL="0">
              <a:buNone/>
            </a:pPr>
            <a:r>
              <a:rPr lang="en-US" sz="1200" b="1" dirty="0">
                <a:solidFill>
                  <a:srgbClr val="F59E0B"/>
                </a:solidFill>
                <a:latin typeface="Cambria" pitchFamily="34" charset="0"/>
                <a:ea typeface="Cambria" pitchFamily="34" charset="-122"/>
                <a:cs typeface="Cambria" pitchFamily="34" charset="-120"/>
              </a:rPr>
              <a:t>4</a:t>
            </a:r>
            <a:endParaRPr lang="en-US" sz="1200" dirty="0"/>
          </a:p>
        </p:txBody>
      </p:sp>
      <p:sp>
        <p:nvSpPr>
          <p:cNvPr id="32" name="Text 26"/>
          <p:cNvSpPr/>
          <p:nvPr/>
        </p:nvSpPr>
        <p:spPr>
          <a:xfrm>
            <a:off x="6208776" y="2249424"/>
            <a:ext cx="1499616" cy="566928"/>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It applies YOUR rules</a:t>
            </a:r>
            <a:endParaRPr lang="en-US" sz="1200" dirty="0"/>
          </a:p>
        </p:txBody>
      </p:sp>
      <p:sp>
        <p:nvSpPr>
          <p:cNvPr id="33" name="Text 27"/>
          <p:cNvSpPr/>
          <p:nvPr/>
        </p:nvSpPr>
        <p:spPr>
          <a:xfrm>
            <a:off x="6208776" y="2834640"/>
            <a:ext cx="1499616" cy="1143000"/>
          </a:xfrm>
          <a:prstGeom prst="rect">
            <a:avLst/>
          </a:prstGeom>
          <a:noFill/>
          <a:ln/>
        </p:spPr>
        <p:txBody>
          <a:bodyPr wrap="square" lIns="0" tIns="0" rIns="0" bIns="0" rtlCol="0" anchor="ctr"/>
          <a:lstStyle/>
          <a:p>
            <a:pPr algn="ctr" indent="0" marL="0">
              <a:buNone/>
            </a:pPr>
            <a:r>
              <a:rPr lang="en-US" sz="1000" dirty="0">
                <a:solidFill>
                  <a:srgbClr val="374151"/>
                </a:solidFill>
                <a:latin typeface="Calibri" pitchFamily="34" charset="0"/>
                <a:ea typeface="Calibri" pitchFamily="34" charset="-122"/>
                <a:cs typeface="Calibri" pitchFamily="34" charset="-120"/>
              </a:rPr>
              <a:t>Only the rules for your process, at the limits for your alloy — or your plant's own limit.</a:t>
            </a:r>
            <a:endParaRPr lang="en-US" sz="1000" dirty="0"/>
          </a:p>
        </p:txBody>
      </p:sp>
      <p:sp>
        <p:nvSpPr>
          <p:cNvPr id="34" name="Text 28"/>
          <p:cNvSpPr/>
          <p:nvPr/>
        </p:nvSpPr>
        <p:spPr>
          <a:xfrm>
            <a:off x="6208776" y="4041648"/>
            <a:ext cx="1499616" cy="292608"/>
          </a:xfrm>
          <a:prstGeom prst="rect">
            <a:avLst/>
          </a:prstGeom>
          <a:noFill/>
          <a:ln/>
        </p:spPr>
        <p:txBody>
          <a:bodyPr wrap="square" lIns="0" tIns="0" rIns="0" bIns="0"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236 rules · 35 families</a:t>
            </a:r>
            <a:endParaRPr lang="en-US" sz="850" dirty="0"/>
          </a:p>
        </p:txBody>
      </p:sp>
      <p:sp>
        <p:nvSpPr>
          <p:cNvPr id="35" name="Text 29"/>
          <p:cNvSpPr/>
          <p:nvPr/>
        </p:nvSpPr>
        <p:spPr>
          <a:xfrm>
            <a:off x="7818120" y="1847088"/>
            <a:ext cx="137160" cy="219456"/>
          </a:xfrm>
          <a:prstGeom prst="rect">
            <a:avLst/>
          </a:prstGeom>
          <a:no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&gt;</a:t>
            </a:r>
            <a:endParaRPr lang="en-US" sz="1300" dirty="0"/>
          </a:p>
        </p:txBody>
      </p:sp>
      <p:sp>
        <p:nvSpPr>
          <p:cNvPr id="36" name="Shape 30"/>
          <p:cNvSpPr/>
          <p:nvPr/>
        </p:nvSpPr>
        <p:spPr>
          <a:xfrm>
            <a:off x="7918704" y="1536192"/>
            <a:ext cx="1755648" cy="2880360"/>
          </a:xfrm>
          <a:prstGeom prst="roundRect">
            <a:avLst>
              <a:gd name="adj" fmla="val 3125"/>
            </a:avLst>
          </a:prstGeom>
          <a:solidFill>
            <a:srgbClr val="F1F5F9"/>
          </a:solidFill>
          <a:ln w="12700">
            <a:solidFill>
              <a:srgbClr val="F1F5F9"/>
            </a:solidFill>
            <a:prstDash val="solid"/>
          </a:ln>
        </p:spPr>
      </p:sp>
      <p:sp>
        <p:nvSpPr>
          <p:cNvPr id="37" name="Shape 31"/>
          <p:cNvSpPr/>
          <p:nvPr/>
        </p:nvSpPr>
        <p:spPr>
          <a:xfrm>
            <a:off x="8577072" y="1700784"/>
            <a:ext cx="438912" cy="438912"/>
          </a:xfrm>
          <a:prstGeom prst="ellipse">
            <a:avLst/>
          </a:prstGeom>
          <a:solidFill>
            <a:srgbClr val="0D1F33"/>
          </a:solidFill>
          <a:ln w="12700">
            <a:solidFill>
              <a:srgbClr val="0D1F33"/>
            </a:solidFill>
            <a:prstDash val="solid"/>
          </a:ln>
        </p:spPr>
      </p:sp>
      <p:pic>
        <p:nvPicPr>
          <p:cNvPr id="38" name="Image 4" descr="preencoded.png">    </p:cNvPr>
          <p:cNvPicPr>
            <a:picLocks noChangeAspect="1"/>
          </p:cNvPicPr>
          <p:nvPr/>
        </p:nvPicPr>
        <p:blipFill>
          <a:blip r:embed="rId5"/>
          <a:stretch>
            <a:fillRect/>
          </a:stretch>
        </p:blipFill>
        <p:spPr>
          <a:xfrm>
            <a:off x="8677656" y="1801368"/>
            <a:ext cx="237744" cy="237744"/>
          </a:xfrm>
          <a:prstGeom prst="rect">
            <a:avLst/>
          </a:prstGeom>
        </p:spPr>
      </p:pic>
      <p:sp>
        <p:nvSpPr>
          <p:cNvPr id="39" name="Text 32"/>
          <p:cNvSpPr/>
          <p:nvPr/>
        </p:nvSpPr>
        <p:spPr>
          <a:xfrm>
            <a:off x="8010144" y="1719072"/>
            <a:ext cx="310896" cy="237744"/>
          </a:xfrm>
          <a:prstGeom prst="rect">
            <a:avLst/>
          </a:prstGeom>
          <a:noFill/>
          <a:ln/>
        </p:spPr>
        <p:txBody>
          <a:bodyPr wrap="square" lIns="0" tIns="0" rIns="0" bIns="0" rtlCol="0" anchor="ctr"/>
          <a:lstStyle/>
          <a:p>
            <a:pPr indent="0" marL="0">
              <a:buNone/>
            </a:pPr>
            <a:r>
              <a:rPr lang="en-US" sz="1200" b="1" dirty="0">
                <a:solidFill>
                  <a:srgbClr val="F59E0B"/>
                </a:solidFill>
                <a:latin typeface="Cambria" pitchFamily="34" charset="0"/>
                <a:ea typeface="Cambria" pitchFamily="34" charset="-122"/>
                <a:cs typeface="Cambria" pitchFamily="34" charset="-120"/>
              </a:rPr>
              <a:t>5</a:t>
            </a:r>
            <a:endParaRPr lang="en-US" sz="1200" dirty="0"/>
          </a:p>
        </p:txBody>
      </p:sp>
      <p:sp>
        <p:nvSpPr>
          <p:cNvPr id="40" name="Text 33"/>
          <p:cNvSpPr/>
          <p:nvPr/>
        </p:nvSpPr>
        <p:spPr>
          <a:xfrm>
            <a:off x="8046720" y="2249424"/>
            <a:ext cx="1499616" cy="566928"/>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It prices what it found</a:t>
            </a:r>
            <a:endParaRPr lang="en-US" sz="1200" dirty="0"/>
          </a:p>
        </p:txBody>
      </p:sp>
      <p:sp>
        <p:nvSpPr>
          <p:cNvPr id="41" name="Text 34"/>
          <p:cNvSpPr/>
          <p:nvPr/>
        </p:nvSpPr>
        <p:spPr>
          <a:xfrm>
            <a:off x="8046720" y="2834640"/>
            <a:ext cx="1499616" cy="1143000"/>
          </a:xfrm>
          <a:prstGeom prst="rect">
            <a:avLst/>
          </a:prstGeom>
          <a:noFill/>
          <a:ln/>
        </p:spPr>
        <p:txBody>
          <a:bodyPr wrap="square" lIns="0" tIns="0" rIns="0" bIns="0" rtlCol="0" anchor="ctr"/>
          <a:lstStyle/>
          <a:p>
            <a:pPr algn="ctr" indent="0" marL="0">
              <a:buNone/>
            </a:pPr>
            <a:r>
              <a:rPr lang="en-US" sz="1000" dirty="0">
                <a:solidFill>
                  <a:srgbClr val="374151"/>
                </a:solidFill>
                <a:latin typeface="Calibri" pitchFamily="34" charset="0"/>
                <a:ea typeface="Calibri" pitchFamily="34" charset="-122"/>
                <a:cs typeface="Calibri" pitchFamily="34" charset="-120"/>
              </a:rPr>
              <a:t>Re-costs the part as drawn, then again with the problem fixed. The gap is the finding's worth.</a:t>
            </a:r>
            <a:endParaRPr lang="en-US" sz="1000" dirty="0"/>
          </a:p>
        </p:txBody>
      </p:sp>
      <p:sp>
        <p:nvSpPr>
          <p:cNvPr id="42" name="Text 35"/>
          <p:cNvSpPr/>
          <p:nvPr/>
        </p:nvSpPr>
        <p:spPr>
          <a:xfrm>
            <a:off x="8046720" y="4041648"/>
            <a:ext cx="1499616" cy="292608"/>
          </a:xfrm>
          <a:prstGeom prst="rect">
            <a:avLst/>
          </a:prstGeom>
          <a:noFill/>
          <a:ln/>
        </p:spPr>
        <p:txBody>
          <a:bodyPr wrap="square" lIns="0" tIns="0" rIns="0" bIns="0"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the same should-cost engines</a:t>
            </a:r>
            <a:endParaRPr lang="en-US" sz="850" dirty="0"/>
          </a:p>
        </p:txBody>
      </p:sp>
      <p:sp>
        <p:nvSpPr>
          <p:cNvPr id="43" name="Text 36"/>
          <p:cNvSpPr/>
          <p:nvPr/>
        </p:nvSpPr>
        <p:spPr>
          <a:xfrm>
            <a:off x="9656064" y="1847088"/>
            <a:ext cx="137160" cy="219456"/>
          </a:xfrm>
          <a:prstGeom prst="rect">
            <a:avLst/>
          </a:prstGeom>
          <a:no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&gt;</a:t>
            </a:r>
            <a:endParaRPr lang="en-US" sz="1300" dirty="0"/>
          </a:p>
        </p:txBody>
      </p:sp>
      <p:sp>
        <p:nvSpPr>
          <p:cNvPr id="44" name="Shape 37"/>
          <p:cNvSpPr/>
          <p:nvPr/>
        </p:nvSpPr>
        <p:spPr>
          <a:xfrm>
            <a:off x="9756648" y="1536192"/>
            <a:ext cx="1755648" cy="2880360"/>
          </a:xfrm>
          <a:prstGeom prst="roundRect">
            <a:avLst>
              <a:gd name="adj" fmla="val 3125"/>
            </a:avLst>
          </a:prstGeom>
          <a:solidFill>
            <a:srgbClr val="F1F5F9"/>
          </a:solidFill>
          <a:ln w="12700">
            <a:solidFill>
              <a:srgbClr val="F1F5F9"/>
            </a:solidFill>
            <a:prstDash val="solid"/>
          </a:ln>
        </p:spPr>
      </p:sp>
      <p:sp>
        <p:nvSpPr>
          <p:cNvPr id="45" name="Shape 38"/>
          <p:cNvSpPr/>
          <p:nvPr/>
        </p:nvSpPr>
        <p:spPr>
          <a:xfrm>
            <a:off x="10415016" y="1700784"/>
            <a:ext cx="438912" cy="438912"/>
          </a:xfrm>
          <a:prstGeom prst="ellipse">
            <a:avLst/>
          </a:prstGeom>
          <a:solidFill>
            <a:srgbClr val="0D1F33"/>
          </a:solidFill>
          <a:ln w="12700">
            <a:solidFill>
              <a:srgbClr val="0D1F33"/>
            </a:solidFill>
            <a:prstDash val="solid"/>
          </a:ln>
        </p:spPr>
      </p:sp>
      <p:pic>
        <p:nvPicPr>
          <p:cNvPr id="46" name="Image 5" descr="preencoded.png">    </p:cNvPr>
          <p:cNvPicPr>
            <a:picLocks noChangeAspect="1"/>
          </p:cNvPicPr>
          <p:nvPr/>
        </p:nvPicPr>
        <p:blipFill>
          <a:blip r:embed="rId6"/>
          <a:stretch>
            <a:fillRect/>
          </a:stretch>
        </p:blipFill>
        <p:spPr>
          <a:xfrm>
            <a:off x="10515600" y="1801368"/>
            <a:ext cx="237744" cy="237744"/>
          </a:xfrm>
          <a:prstGeom prst="rect">
            <a:avLst/>
          </a:prstGeom>
        </p:spPr>
      </p:pic>
      <p:sp>
        <p:nvSpPr>
          <p:cNvPr id="47" name="Text 39"/>
          <p:cNvSpPr/>
          <p:nvPr/>
        </p:nvSpPr>
        <p:spPr>
          <a:xfrm>
            <a:off x="9848088" y="1719072"/>
            <a:ext cx="310896" cy="237744"/>
          </a:xfrm>
          <a:prstGeom prst="rect">
            <a:avLst/>
          </a:prstGeom>
          <a:noFill/>
          <a:ln/>
        </p:spPr>
        <p:txBody>
          <a:bodyPr wrap="square" lIns="0" tIns="0" rIns="0" bIns="0" rtlCol="0" anchor="ctr"/>
          <a:lstStyle/>
          <a:p>
            <a:pPr indent="0" marL="0">
              <a:buNone/>
            </a:pPr>
            <a:r>
              <a:rPr lang="en-US" sz="1200" b="1" dirty="0">
                <a:solidFill>
                  <a:srgbClr val="F59E0B"/>
                </a:solidFill>
                <a:latin typeface="Cambria" pitchFamily="34" charset="0"/>
                <a:ea typeface="Cambria" pitchFamily="34" charset="-122"/>
                <a:cs typeface="Cambria" pitchFamily="34" charset="-120"/>
              </a:rPr>
              <a:t>6</a:t>
            </a:r>
            <a:endParaRPr lang="en-US" sz="1200" dirty="0"/>
          </a:p>
        </p:txBody>
      </p:sp>
      <p:sp>
        <p:nvSpPr>
          <p:cNvPr id="48" name="Text 40"/>
          <p:cNvSpPr/>
          <p:nvPr/>
        </p:nvSpPr>
        <p:spPr>
          <a:xfrm>
            <a:off x="9884664" y="2249424"/>
            <a:ext cx="1499616" cy="566928"/>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It writes it up</a:t>
            </a:r>
            <a:endParaRPr lang="en-US" sz="1200" dirty="0"/>
          </a:p>
        </p:txBody>
      </p:sp>
      <p:sp>
        <p:nvSpPr>
          <p:cNvPr id="49" name="Text 41"/>
          <p:cNvSpPr/>
          <p:nvPr/>
        </p:nvSpPr>
        <p:spPr>
          <a:xfrm>
            <a:off x="9884664" y="2834640"/>
            <a:ext cx="1499616" cy="1143000"/>
          </a:xfrm>
          <a:prstGeom prst="rect">
            <a:avLst/>
          </a:prstGeom>
          <a:noFill/>
          <a:ln/>
        </p:spPr>
        <p:txBody>
          <a:bodyPr wrap="square" lIns="0" tIns="0" rIns="0" bIns="0" rtlCol="0" anchor="ctr"/>
          <a:lstStyle/>
          <a:p>
            <a:pPr algn="ctr" indent="0" marL="0">
              <a:buNone/>
            </a:pPr>
            <a:r>
              <a:rPr lang="en-US" sz="1000" dirty="0">
                <a:solidFill>
                  <a:srgbClr val="374151"/>
                </a:solidFill>
                <a:latin typeface="Calibri" pitchFamily="34" charset="0"/>
                <a:ea typeface="Calibri" pitchFamily="34" charset="-122"/>
                <a:cs typeface="Calibri" pitchFamily="34" charset="-120"/>
              </a:rPr>
              <a:t>Marked on the part, sorted worst first, with an owner against every decision.</a:t>
            </a:r>
            <a:endParaRPr lang="en-US" sz="1000" dirty="0"/>
          </a:p>
        </p:txBody>
      </p:sp>
      <p:sp>
        <p:nvSpPr>
          <p:cNvPr id="50" name="Text 42"/>
          <p:cNvSpPr/>
          <p:nvPr/>
        </p:nvSpPr>
        <p:spPr>
          <a:xfrm>
            <a:off x="9884664" y="4041648"/>
            <a:ext cx="1499616" cy="292608"/>
          </a:xfrm>
          <a:prstGeom prst="rect">
            <a:avLst/>
          </a:prstGeom>
          <a:noFill/>
          <a:ln/>
        </p:spPr>
        <p:txBody>
          <a:bodyPr wrap="square" lIns="0" tIns="0" rIns="0" bIns="0"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PDF · 14-sheet workbook</a:t>
            </a:r>
            <a:endParaRPr lang="en-US" sz="850" dirty="0"/>
          </a:p>
        </p:txBody>
      </p:sp>
      <p:sp>
        <p:nvSpPr>
          <p:cNvPr id="51" name="Text 43"/>
          <p:cNvSpPr/>
          <p:nvPr/>
        </p:nvSpPr>
        <p:spPr>
          <a:xfrm>
            <a:off x="566928" y="4572000"/>
            <a:ext cx="5577840" cy="256032"/>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The six measuring passes, in order</a:t>
            </a:r>
            <a:endParaRPr lang="en-US" sz="1150" dirty="0"/>
          </a:p>
        </p:txBody>
      </p:sp>
      <p:sp>
        <p:nvSpPr>
          <p:cNvPr id="52" name="Shape 44"/>
          <p:cNvSpPr/>
          <p:nvPr/>
        </p:nvSpPr>
        <p:spPr>
          <a:xfrm>
            <a:off x="566928" y="4882896"/>
            <a:ext cx="868680" cy="475488"/>
          </a:xfrm>
          <a:prstGeom prst="roundRect">
            <a:avLst>
              <a:gd name="adj" fmla="val 9615"/>
            </a:avLst>
          </a:prstGeom>
          <a:solidFill>
            <a:srgbClr val="0D1F33"/>
          </a:solidFill>
          <a:ln w="12700">
            <a:solidFill>
              <a:srgbClr val="0D1F33"/>
            </a:solidFill>
            <a:prstDash val="solid"/>
          </a:ln>
        </p:spPr>
      </p:sp>
      <p:sp>
        <p:nvSpPr>
          <p:cNvPr id="53" name="Text 45"/>
          <p:cNvSpPr/>
          <p:nvPr/>
        </p:nvSpPr>
        <p:spPr>
          <a:xfrm>
            <a:off x="612648" y="4937760"/>
            <a:ext cx="777240" cy="365760"/>
          </a:xfrm>
          <a:prstGeom prst="rect">
            <a:avLst/>
          </a:prstGeom>
          <a:noFill/>
          <a:ln/>
        </p:spPr>
        <p:txBody>
          <a:bodyPr wrap="square" lIns="0" tIns="0" rIns="0" bIns="0" rtlCol="0" anchor="ctr"/>
          <a:lstStyle/>
          <a:p>
            <a:pPr algn="ctr" indent="0" marL="0">
              <a:buNone/>
            </a:pPr>
            <a:r>
              <a:rPr lang="en-US" sz="780" dirty="0">
                <a:solidFill>
                  <a:srgbClr val="FFFFFF"/>
                </a:solidFill>
                <a:latin typeface="Calibri" pitchFamily="34" charset="0"/>
                <a:ea typeface="Calibri" pitchFamily="34" charset="-122"/>
                <a:cs typeface="Calibri" pitchFamily="34" charset="-120"/>
              </a:rPr>
              <a:t>Mesh the surface</a:t>
            </a:r>
            <a:endParaRPr lang="en-US" sz="780" dirty="0"/>
          </a:p>
        </p:txBody>
      </p:sp>
      <p:sp>
        <p:nvSpPr>
          <p:cNvPr id="54" name="Shape 46"/>
          <p:cNvSpPr/>
          <p:nvPr/>
        </p:nvSpPr>
        <p:spPr>
          <a:xfrm>
            <a:off x="1508760" y="4882896"/>
            <a:ext cx="868680" cy="475488"/>
          </a:xfrm>
          <a:prstGeom prst="roundRect">
            <a:avLst>
              <a:gd name="adj" fmla="val 9615"/>
            </a:avLst>
          </a:prstGeom>
          <a:solidFill>
            <a:srgbClr val="0D1F33"/>
          </a:solidFill>
          <a:ln w="12700">
            <a:solidFill>
              <a:srgbClr val="0D1F33"/>
            </a:solidFill>
            <a:prstDash val="solid"/>
          </a:ln>
        </p:spPr>
      </p:sp>
      <p:sp>
        <p:nvSpPr>
          <p:cNvPr id="55" name="Text 47"/>
          <p:cNvSpPr/>
          <p:nvPr/>
        </p:nvSpPr>
        <p:spPr>
          <a:xfrm>
            <a:off x="1554480" y="4937760"/>
            <a:ext cx="777240" cy="365760"/>
          </a:xfrm>
          <a:prstGeom prst="rect">
            <a:avLst/>
          </a:prstGeom>
          <a:noFill/>
          <a:ln/>
        </p:spPr>
        <p:txBody>
          <a:bodyPr wrap="square" lIns="0" tIns="0" rIns="0" bIns="0" rtlCol="0" anchor="ctr"/>
          <a:lstStyle/>
          <a:p>
            <a:pPr algn="ctr" indent="0" marL="0">
              <a:buNone/>
            </a:pPr>
            <a:r>
              <a:rPr lang="en-US" sz="780" dirty="0">
                <a:solidFill>
                  <a:srgbClr val="FFFFFF"/>
                </a:solidFill>
                <a:latin typeface="Calibri" pitchFamily="34" charset="0"/>
                <a:ea typeface="Calibri" pitchFamily="34" charset="-122"/>
                <a:cs typeface="Calibri" pitchFamily="34" charset="-120"/>
              </a:rPr>
              <a:t>Wall thickness</a:t>
            </a:r>
            <a:endParaRPr lang="en-US" sz="780" dirty="0"/>
          </a:p>
        </p:txBody>
      </p:sp>
      <p:sp>
        <p:nvSpPr>
          <p:cNvPr id="56" name="Shape 48"/>
          <p:cNvSpPr/>
          <p:nvPr/>
        </p:nvSpPr>
        <p:spPr>
          <a:xfrm>
            <a:off x="2450592" y="4882896"/>
            <a:ext cx="868680" cy="475488"/>
          </a:xfrm>
          <a:prstGeom prst="roundRect">
            <a:avLst>
              <a:gd name="adj" fmla="val 9615"/>
            </a:avLst>
          </a:prstGeom>
          <a:solidFill>
            <a:srgbClr val="0D1F33"/>
          </a:solidFill>
          <a:ln w="12700">
            <a:solidFill>
              <a:srgbClr val="0D1F33"/>
            </a:solidFill>
            <a:prstDash val="solid"/>
          </a:ln>
        </p:spPr>
      </p:sp>
      <p:sp>
        <p:nvSpPr>
          <p:cNvPr id="57" name="Text 49"/>
          <p:cNvSpPr/>
          <p:nvPr/>
        </p:nvSpPr>
        <p:spPr>
          <a:xfrm>
            <a:off x="2496312" y="4937760"/>
            <a:ext cx="777240" cy="365760"/>
          </a:xfrm>
          <a:prstGeom prst="rect">
            <a:avLst/>
          </a:prstGeom>
          <a:noFill/>
          <a:ln/>
        </p:spPr>
        <p:txBody>
          <a:bodyPr wrap="square" lIns="0" tIns="0" rIns="0" bIns="0" rtlCol="0" anchor="ctr"/>
          <a:lstStyle/>
          <a:p>
            <a:pPr algn="ctr" indent="0" marL="0">
              <a:buNone/>
            </a:pPr>
            <a:r>
              <a:rPr lang="en-US" sz="780" dirty="0">
                <a:solidFill>
                  <a:srgbClr val="FFFFFF"/>
                </a:solidFill>
                <a:latin typeface="Calibri" pitchFamily="34" charset="0"/>
                <a:ea typeface="Calibri" pitchFamily="34" charset="-122"/>
                <a:cs typeface="Calibri" pitchFamily="34" charset="-120"/>
              </a:rPr>
              <a:t>Draw direction</a:t>
            </a:r>
            <a:endParaRPr lang="en-US" sz="780" dirty="0"/>
          </a:p>
        </p:txBody>
      </p:sp>
      <p:sp>
        <p:nvSpPr>
          <p:cNvPr id="58" name="Shape 50"/>
          <p:cNvSpPr/>
          <p:nvPr/>
        </p:nvSpPr>
        <p:spPr>
          <a:xfrm>
            <a:off x="3392424" y="4882896"/>
            <a:ext cx="868680" cy="475488"/>
          </a:xfrm>
          <a:prstGeom prst="roundRect">
            <a:avLst>
              <a:gd name="adj" fmla="val 9615"/>
            </a:avLst>
          </a:prstGeom>
          <a:solidFill>
            <a:srgbClr val="0D1F33"/>
          </a:solidFill>
          <a:ln w="12700">
            <a:solidFill>
              <a:srgbClr val="0D1F33"/>
            </a:solidFill>
            <a:prstDash val="solid"/>
          </a:ln>
        </p:spPr>
      </p:sp>
      <p:sp>
        <p:nvSpPr>
          <p:cNvPr id="59" name="Text 51"/>
          <p:cNvSpPr/>
          <p:nvPr/>
        </p:nvSpPr>
        <p:spPr>
          <a:xfrm>
            <a:off x="3438144" y="4937760"/>
            <a:ext cx="777240" cy="365760"/>
          </a:xfrm>
          <a:prstGeom prst="rect">
            <a:avLst/>
          </a:prstGeom>
          <a:noFill/>
          <a:ln/>
        </p:spPr>
        <p:txBody>
          <a:bodyPr wrap="square" lIns="0" tIns="0" rIns="0" bIns="0" rtlCol="0" anchor="ctr"/>
          <a:lstStyle/>
          <a:p>
            <a:pPr algn="ctr" indent="0" marL="0">
              <a:buNone/>
            </a:pPr>
            <a:r>
              <a:rPr lang="en-US" sz="780" dirty="0">
                <a:solidFill>
                  <a:srgbClr val="FFFFFF"/>
                </a:solidFill>
                <a:latin typeface="Calibri" pitchFamily="34" charset="0"/>
                <a:ea typeface="Calibri" pitchFamily="34" charset="-122"/>
                <a:cs typeface="Calibri" pitchFamily="34" charset="-120"/>
              </a:rPr>
              <a:t>Features</a:t>
            </a:r>
            <a:endParaRPr lang="en-US" sz="780" dirty="0"/>
          </a:p>
        </p:txBody>
      </p:sp>
      <p:sp>
        <p:nvSpPr>
          <p:cNvPr id="60" name="Shape 52"/>
          <p:cNvSpPr/>
          <p:nvPr/>
        </p:nvSpPr>
        <p:spPr>
          <a:xfrm>
            <a:off x="4334256" y="4882896"/>
            <a:ext cx="868680" cy="475488"/>
          </a:xfrm>
          <a:prstGeom prst="roundRect">
            <a:avLst>
              <a:gd name="adj" fmla="val 9615"/>
            </a:avLst>
          </a:prstGeom>
          <a:solidFill>
            <a:srgbClr val="0D1F33"/>
          </a:solidFill>
          <a:ln w="12700">
            <a:solidFill>
              <a:srgbClr val="0D1F33"/>
            </a:solidFill>
            <a:prstDash val="solid"/>
          </a:ln>
        </p:spPr>
      </p:sp>
      <p:sp>
        <p:nvSpPr>
          <p:cNvPr id="61" name="Text 53"/>
          <p:cNvSpPr/>
          <p:nvPr/>
        </p:nvSpPr>
        <p:spPr>
          <a:xfrm>
            <a:off x="4379976" y="4937760"/>
            <a:ext cx="777240" cy="365760"/>
          </a:xfrm>
          <a:prstGeom prst="rect">
            <a:avLst/>
          </a:prstGeom>
          <a:noFill/>
          <a:ln/>
        </p:spPr>
        <p:txBody>
          <a:bodyPr wrap="square" lIns="0" tIns="0" rIns="0" bIns="0" rtlCol="0" anchor="ctr"/>
          <a:lstStyle/>
          <a:p>
            <a:pPr algn="ctr" indent="0" marL="0">
              <a:buNone/>
            </a:pPr>
            <a:r>
              <a:rPr lang="en-US" sz="780" dirty="0">
                <a:solidFill>
                  <a:srgbClr val="FFFFFF"/>
                </a:solidFill>
                <a:latin typeface="Calibri" pitchFamily="34" charset="0"/>
                <a:ea typeface="Calibri" pitchFamily="34" charset="-122"/>
                <a:cs typeface="Calibri" pitchFamily="34" charset="-120"/>
              </a:rPr>
              <a:t>Folded sheet?</a:t>
            </a:r>
            <a:endParaRPr lang="en-US" sz="780" dirty="0"/>
          </a:p>
        </p:txBody>
      </p:sp>
      <p:sp>
        <p:nvSpPr>
          <p:cNvPr id="62" name="Shape 54"/>
          <p:cNvSpPr/>
          <p:nvPr/>
        </p:nvSpPr>
        <p:spPr>
          <a:xfrm>
            <a:off x="5276088" y="4882896"/>
            <a:ext cx="868680" cy="475488"/>
          </a:xfrm>
          <a:prstGeom prst="roundRect">
            <a:avLst>
              <a:gd name="adj" fmla="val 9615"/>
            </a:avLst>
          </a:prstGeom>
          <a:solidFill>
            <a:srgbClr val="0D1F33"/>
          </a:solidFill>
          <a:ln w="12700">
            <a:solidFill>
              <a:srgbClr val="0D1F33"/>
            </a:solidFill>
            <a:prstDash val="solid"/>
          </a:ln>
        </p:spPr>
      </p:sp>
      <p:sp>
        <p:nvSpPr>
          <p:cNvPr id="63" name="Text 55"/>
          <p:cNvSpPr/>
          <p:nvPr/>
        </p:nvSpPr>
        <p:spPr>
          <a:xfrm>
            <a:off x="5321808" y="4937760"/>
            <a:ext cx="777240" cy="365760"/>
          </a:xfrm>
          <a:prstGeom prst="rect">
            <a:avLst/>
          </a:prstGeom>
          <a:noFill/>
          <a:ln/>
        </p:spPr>
        <p:txBody>
          <a:bodyPr wrap="square" lIns="0" tIns="0" rIns="0" bIns="0" rtlCol="0" anchor="ctr"/>
          <a:lstStyle/>
          <a:p>
            <a:pPr algn="ctr" indent="0" marL="0">
              <a:buNone/>
            </a:pPr>
            <a:r>
              <a:rPr lang="en-US" sz="780" dirty="0">
                <a:solidFill>
                  <a:srgbClr val="FFFFFF"/>
                </a:solidFill>
                <a:latin typeface="Calibri" pitchFamily="34" charset="0"/>
                <a:ea typeface="Calibri" pitchFamily="34" charset="-122"/>
                <a:cs typeface="Calibri" pitchFamily="34" charset="-120"/>
              </a:rPr>
              <a:t>Tool reach</a:t>
            </a:r>
            <a:endParaRPr lang="en-US" sz="780" dirty="0"/>
          </a:p>
        </p:txBody>
      </p:sp>
      <p:sp>
        <p:nvSpPr>
          <p:cNvPr id="64" name="Text 56"/>
          <p:cNvSpPr/>
          <p:nvPr/>
        </p:nvSpPr>
        <p:spPr>
          <a:xfrm>
            <a:off x="566928" y="5413248"/>
            <a:ext cx="5760720" cy="420624"/>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Each one reports the figure it measured — how many rays, how many triangles — or says it was skipped, and why.</a:t>
            </a:r>
            <a:endParaRPr lang="en-US" sz="950" dirty="0"/>
          </a:p>
        </p:txBody>
      </p:sp>
      <p:sp>
        <p:nvSpPr>
          <p:cNvPr id="65" name="Text 57"/>
          <p:cNvSpPr/>
          <p:nvPr/>
        </p:nvSpPr>
        <p:spPr>
          <a:xfrm>
            <a:off x="6355080" y="4572000"/>
            <a:ext cx="5303520" cy="256032"/>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Every rule ends in one of three states</a:t>
            </a:r>
            <a:endParaRPr lang="en-US" sz="1150" dirty="0"/>
          </a:p>
        </p:txBody>
      </p:sp>
      <p:sp>
        <p:nvSpPr>
          <p:cNvPr id="66" name="Shape 58"/>
          <p:cNvSpPr/>
          <p:nvPr/>
        </p:nvSpPr>
        <p:spPr>
          <a:xfrm>
            <a:off x="6355080" y="4882896"/>
            <a:ext cx="1691640" cy="475488"/>
          </a:xfrm>
          <a:prstGeom prst="roundRect">
            <a:avLst>
              <a:gd name="adj" fmla="val 9615"/>
            </a:avLst>
          </a:prstGeom>
          <a:solidFill>
            <a:srgbClr val="FFFFFF"/>
          </a:solidFill>
          <a:ln w="15875">
            <a:solidFill>
              <a:srgbClr val="059669"/>
            </a:solidFill>
            <a:prstDash val="solid"/>
          </a:ln>
        </p:spPr>
      </p:sp>
      <p:sp>
        <p:nvSpPr>
          <p:cNvPr id="67" name="Text 59"/>
          <p:cNvSpPr/>
          <p:nvPr/>
        </p:nvSpPr>
        <p:spPr>
          <a:xfrm>
            <a:off x="6409944" y="4919472"/>
            <a:ext cx="1581912" cy="201168"/>
          </a:xfrm>
          <a:prstGeom prst="rect">
            <a:avLst/>
          </a:prstGeom>
          <a:noFill/>
          <a:ln/>
        </p:spPr>
        <p:txBody>
          <a:bodyPr wrap="square" lIns="0" tIns="0" rIns="0" bIns="0" rtlCol="0" anchor="ctr"/>
          <a:lstStyle/>
          <a:p>
            <a:pPr algn="ctr" indent="0" marL="0">
              <a:buNone/>
            </a:pPr>
            <a:r>
              <a:rPr lang="en-US" sz="900" b="1" dirty="0">
                <a:solidFill>
                  <a:srgbClr val="059669"/>
                </a:solidFill>
                <a:latin typeface="Calibri" pitchFamily="34" charset="0"/>
                <a:ea typeface="Calibri" pitchFamily="34" charset="-122"/>
                <a:cs typeface="Calibri" pitchFamily="34" charset="-120"/>
              </a:rPr>
              <a:t>PASS</a:t>
            </a:r>
            <a:endParaRPr lang="en-US" sz="900" dirty="0"/>
          </a:p>
        </p:txBody>
      </p:sp>
      <p:sp>
        <p:nvSpPr>
          <p:cNvPr id="68" name="Text 60"/>
          <p:cNvSpPr/>
          <p:nvPr/>
        </p:nvSpPr>
        <p:spPr>
          <a:xfrm>
            <a:off x="6409944" y="5120640"/>
            <a:ext cx="1581912" cy="201168"/>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cleared</a:t>
            </a:r>
            <a:endParaRPr lang="en-US" sz="800" dirty="0"/>
          </a:p>
        </p:txBody>
      </p:sp>
      <p:sp>
        <p:nvSpPr>
          <p:cNvPr id="69" name="Shape 61"/>
          <p:cNvSpPr/>
          <p:nvPr/>
        </p:nvSpPr>
        <p:spPr>
          <a:xfrm>
            <a:off x="8138160" y="4882896"/>
            <a:ext cx="1691640" cy="475488"/>
          </a:xfrm>
          <a:prstGeom prst="roundRect">
            <a:avLst>
              <a:gd name="adj" fmla="val 9615"/>
            </a:avLst>
          </a:prstGeom>
          <a:solidFill>
            <a:srgbClr val="FFFFFF"/>
          </a:solidFill>
          <a:ln w="15875">
            <a:solidFill>
              <a:srgbClr val="DC2626"/>
            </a:solidFill>
            <a:prstDash val="solid"/>
          </a:ln>
        </p:spPr>
      </p:sp>
      <p:sp>
        <p:nvSpPr>
          <p:cNvPr id="70" name="Text 62"/>
          <p:cNvSpPr/>
          <p:nvPr/>
        </p:nvSpPr>
        <p:spPr>
          <a:xfrm>
            <a:off x="8193024" y="4919472"/>
            <a:ext cx="1581912" cy="201168"/>
          </a:xfrm>
          <a:prstGeom prst="rect">
            <a:avLst/>
          </a:prstGeom>
          <a:noFill/>
          <a:ln/>
        </p:spPr>
        <p:txBody>
          <a:bodyPr wrap="square" lIns="0" tIns="0" rIns="0" bIns="0" rtlCol="0" anchor="ctr"/>
          <a:lstStyle/>
          <a:p>
            <a:pPr algn="ctr" indent="0" marL="0">
              <a:buNone/>
            </a:pPr>
            <a:r>
              <a:rPr lang="en-US" sz="900" b="1" dirty="0">
                <a:solidFill>
                  <a:srgbClr val="DC2626"/>
                </a:solidFill>
                <a:latin typeface="Calibri" pitchFamily="34" charset="0"/>
                <a:ea typeface="Calibri" pitchFamily="34" charset="-122"/>
                <a:cs typeface="Calibri" pitchFamily="34" charset="-120"/>
              </a:rPr>
              <a:t>FAIL</a:t>
            </a:r>
            <a:endParaRPr lang="en-US" sz="900" dirty="0"/>
          </a:p>
        </p:txBody>
      </p:sp>
      <p:sp>
        <p:nvSpPr>
          <p:cNvPr id="71" name="Text 63"/>
          <p:cNvSpPr/>
          <p:nvPr/>
        </p:nvSpPr>
        <p:spPr>
          <a:xfrm>
            <a:off x="8193024" y="5120640"/>
            <a:ext cx="1581912" cy="201168"/>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broken — priced</a:t>
            </a:r>
            <a:endParaRPr lang="en-US" sz="800" dirty="0"/>
          </a:p>
        </p:txBody>
      </p:sp>
      <p:sp>
        <p:nvSpPr>
          <p:cNvPr id="72" name="Shape 64"/>
          <p:cNvSpPr/>
          <p:nvPr/>
        </p:nvSpPr>
        <p:spPr>
          <a:xfrm>
            <a:off x="9921240" y="4882896"/>
            <a:ext cx="1691640" cy="475488"/>
          </a:xfrm>
          <a:prstGeom prst="roundRect">
            <a:avLst>
              <a:gd name="adj" fmla="val 9615"/>
            </a:avLst>
          </a:prstGeom>
          <a:solidFill>
            <a:srgbClr val="FFFFFF"/>
          </a:solidFill>
          <a:ln w="15875">
            <a:solidFill>
              <a:srgbClr val="6B7280"/>
            </a:solidFill>
            <a:prstDash val="solid"/>
          </a:ln>
        </p:spPr>
      </p:sp>
      <p:sp>
        <p:nvSpPr>
          <p:cNvPr id="73" name="Text 65"/>
          <p:cNvSpPr/>
          <p:nvPr/>
        </p:nvSpPr>
        <p:spPr>
          <a:xfrm>
            <a:off x="9976104" y="4919472"/>
            <a:ext cx="1581912" cy="201168"/>
          </a:xfrm>
          <a:prstGeom prst="rect">
            <a:avLst/>
          </a:prstGeom>
          <a:noFill/>
          <a:ln/>
        </p:spPr>
        <p:txBody>
          <a:bodyPr wrap="square" lIns="0" tIns="0" rIns="0" bIns="0" rtlCol="0" anchor="ctr"/>
          <a:lstStyle/>
          <a:p>
            <a:pPr algn="ctr" indent="0" marL="0">
              <a:buNone/>
            </a:pPr>
            <a:r>
              <a:rPr lang="en-US" sz="900" b="1" dirty="0">
                <a:solidFill>
                  <a:srgbClr val="6B7280"/>
                </a:solidFill>
                <a:latin typeface="Calibri" pitchFamily="34" charset="0"/>
                <a:ea typeface="Calibri" pitchFamily="34" charset="-122"/>
                <a:cs typeface="Calibri" pitchFamily="34" charset="-120"/>
              </a:rPr>
              <a:t>NOT EVALUATED</a:t>
            </a:r>
            <a:endParaRPr lang="en-US" sz="900" dirty="0"/>
          </a:p>
        </p:txBody>
      </p:sp>
      <p:sp>
        <p:nvSpPr>
          <p:cNvPr id="74" name="Text 66"/>
          <p:cNvSpPr/>
          <p:nvPr/>
        </p:nvSpPr>
        <p:spPr>
          <a:xfrm>
            <a:off x="9976104" y="5120640"/>
            <a:ext cx="1581912" cy="201168"/>
          </a:xfrm>
          <a:prstGeom prst="rect">
            <a:avLst/>
          </a:prstGeom>
          <a:noFill/>
          <a:ln/>
        </p:spPr>
        <p:txBody>
          <a:bodyPr wrap="square" lIns="0" tIns="0" rIns="0" bIns="0" rtlCol="0" anchor="ctr"/>
          <a:lstStyle/>
          <a:p>
            <a:pPr algn="ctr" indent="0" marL="0">
              <a:buNone/>
            </a:pPr>
            <a:r>
              <a:rPr lang="en-US" sz="800" dirty="0">
                <a:solidFill>
                  <a:srgbClr val="374151"/>
                </a:solidFill>
                <a:latin typeface="Calibri" pitchFamily="34" charset="0"/>
                <a:ea typeface="Calibri" pitchFamily="34" charset="-122"/>
                <a:cs typeface="Calibri" pitchFamily="34" charset="-120"/>
              </a:rPr>
              <a:t>could not measure — says why</a:t>
            </a:r>
            <a:endParaRPr lang="en-US" sz="800" dirty="0"/>
          </a:p>
        </p:txBody>
      </p:sp>
      <p:sp>
        <p:nvSpPr>
          <p:cNvPr id="75" name="Text 67"/>
          <p:cNvSpPr/>
          <p:nvPr/>
        </p:nvSpPr>
        <p:spPr>
          <a:xfrm>
            <a:off x="6355080" y="5413248"/>
            <a:ext cx="5303520" cy="420624"/>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An unmeasurable rule is never scored as a pass. That is the whole difference.</a:t>
            </a:r>
            <a:endParaRPr lang="en-US" sz="950" dirty="0"/>
          </a:p>
        </p:txBody>
      </p:sp>
      <p:sp>
        <p:nvSpPr>
          <p:cNvPr id="76" name="Text 68"/>
          <p:cNvSpPr/>
          <p:nvPr/>
        </p:nvSpPr>
        <p:spPr>
          <a:xfrm>
            <a:off x="566928" y="6437376"/>
            <a:ext cx="11055096" cy="237744"/>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BrainSpark DFM / DFA Studio  ·  Design-for-Manufacture &amp; Assembly  ·  3/16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55096" cy="219456"/>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THE DISCIPLINE</a:t>
            </a:r>
            <a:endParaRPr lang="en-US" sz="1100" dirty="0"/>
          </a:p>
        </p:txBody>
      </p:sp>
      <p:sp>
        <p:nvSpPr>
          <p:cNvPr id="3" name="Text 1"/>
          <p:cNvSpPr/>
          <p:nvPr/>
        </p:nvSpPr>
        <p:spPr>
          <a:xfrm>
            <a:off x="566928" y="768096"/>
            <a:ext cx="11055096" cy="64008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Three outcomes, not two</a:t>
            </a:r>
            <a:endParaRPr lang="en-US" sz="3200" dirty="0"/>
          </a:p>
        </p:txBody>
      </p:sp>
      <p:sp>
        <p:nvSpPr>
          <p:cNvPr id="4" name="Shape 2"/>
          <p:cNvSpPr/>
          <p:nvPr/>
        </p:nvSpPr>
        <p:spPr>
          <a:xfrm>
            <a:off x="566928" y="1572768"/>
            <a:ext cx="3474720" cy="1737360"/>
          </a:xfrm>
          <a:prstGeom prst="roundRect">
            <a:avLst>
              <a:gd name="adj" fmla="val 3158"/>
            </a:avLst>
          </a:prstGeom>
          <a:solidFill>
            <a:srgbClr val="F1F5F9"/>
          </a:solidFill>
          <a:ln w="12700">
            <a:solidFill>
              <a:srgbClr val="F1F5F9"/>
            </a:solidFill>
            <a:prstDash val="solid"/>
          </a:ln>
        </p:spPr>
      </p:sp>
      <p:sp>
        <p:nvSpPr>
          <p:cNvPr id="5" name="Text 3"/>
          <p:cNvSpPr/>
          <p:nvPr/>
        </p:nvSpPr>
        <p:spPr>
          <a:xfrm>
            <a:off x="786384" y="1755648"/>
            <a:ext cx="3017520" cy="329184"/>
          </a:xfrm>
          <a:prstGeom prst="rect">
            <a:avLst/>
          </a:prstGeom>
          <a:noFill/>
          <a:ln/>
        </p:spPr>
        <p:txBody>
          <a:bodyPr wrap="square" lIns="0" tIns="0" rIns="0" bIns="0" rtlCol="0" anchor="ctr"/>
          <a:lstStyle/>
          <a:p>
            <a:pPr indent="0" marL="0">
              <a:buNone/>
            </a:pPr>
            <a:r>
              <a:rPr lang="en-US" sz="1700" b="1" dirty="0">
                <a:solidFill>
                  <a:srgbClr val="059669"/>
                </a:solidFill>
                <a:latin typeface="Cambria" pitchFamily="34" charset="0"/>
                <a:ea typeface="Cambria" pitchFamily="34" charset="-122"/>
                <a:cs typeface="Cambria" pitchFamily="34" charset="-120"/>
              </a:rPr>
              <a:t>PASS</a:t>
            </a:r>
            <a:endParaRPr lang="en-US" sz="1700" dirty="0"/>
          </a:p>
        </p:txBody>
      </p:sp>
      <p:sp>
        <p:nvSpPr>
          <p:cNvPr id="6" name="Text 4"/>
          <p:cNvSpPr/>
          <p:nvPr/>
        </p:nvSpPr>
        <p:spPr>
          <a:xfrm>
            <a:off x="786384" y="2157984"/>
            <a:ext cx="3017520" cy="1005840"/>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The rule ran and the geometry cleared it.</a:t>
            </a:r>
            <a:endParaRPr lang="en-US" sz="1150" dirty="0"/>
          </a:p>
        </p:txBody>
      </p:sp>
      <p:sp>
        <p:nvSpPr>
          <p:cNvPr id="7" name="Shape 5"/>
          <p:cNvSpPr/>
          <p:nvPr/>
        </p:nvSpPr>
        <p:spPr>
          <a:xfrm>
            <a:off x="4297680" y="1572768"/>
            <a:ext cx="3474720" cy="1737360"/>
          </a:xfrm>
          <a:prstGeom prst="roundRect">
            <a:avLst>
              <a:gd name="adj" fmla="val 3158"/>
            </a:avLst>
          </a:prstGeom>
          <a:solidFill>
            <a:srgbClr val="F1F5F9"/>
          </a:solidFill>
          <a:ln w="12700">
            <a:solidFill>
              <a:srgbClr val="F1F5F9"/>
            </a:solidFill>
            <a:prstDash val="solid"/>
          </a:ln>
        </p:spPr>
      </p:sp>
      <p:sp>
        <p:nvSpPr>
          <p:cNvPr id="8" name="Text 6"/>
          <p:cNvSpPr/>
          <p:nvPr/>
        </p:nvSpPr>
        <p:spPr>
          <a:xfrm>
            <a:off x="4517136" y="1755648"/>
            <a:ext cx="3017520" cy="329184"/>
          </a:xfrm>
          <a:prstGeom prst="rect">
            <a:avLst/>
          </a:prstGeom>
          <a:noFill/>
          <a:ln/>
        </p:spPr>
        <p:txBody>
          <a:bodyPr wrap="square" lIns="0" tIns="0" rIns="0" bIns="0" rtlCol="0" anchor="ctr"/>
          <a:lstStyle/>
          <a:p>
            <a:pPr indent="0" marL="0">
              <a:buNone/>
            </a:pPr>
            <a:r>
              <a:rPr lang="en-US" sz="1700" b="1" dirty="0">
                <a:solidFill>
                  <a:srgbClr val="DC2626"/>
                </a:solidFill>
                <a:latin typeface="Cambria" pitchFamily="34" charset="0"/>
                <a:ea typeface="Cambria" pitchFamily="34" charset="-122"/>
                <a:cs typeface="Cambria" pitchFamily="34" charset="-120"/>
              </a:rPr>
              <a:t>FAIL</a:t>
            </a:r>
            <a:endParaRPr lang="en-US" sz="1700" dirty="0"/>
          </a:p>
        </p:txBody>
      </p:sp>
      <p:sp>
        <p:nvSpPr>
          <p:cNvPr id="9" name="Text 7"/>
          <p:cNvSpPr/>
          <p:nvPr/>
        </p:nvSpPr>
        <p:spPr>
          <a:xfrm>
            <a:off x="4517136" y="2157984"/>
            <a:ext cx="3017520" cy="1005840"/>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The rule ran and the geometry broke it. Measured value, limit, and what it costs.</a:t>
            </a:r>
            <a:endParaRPr lang="en-US" sz="1150" dirty="0"/>
          </a:p>
        </p:txBody>
      </p:sp>
      <p:sp>
        <p:nvSpPr>
          <p:cNvPr id="10" name="Shape 8"/>
          <p:cNvSpPr/>
          <p:nvPr/>
        </p:nvSpPr>
        <p:spPr>
          <a:xfrm>
            <a:off x="8028432" y="1572768"/>
            <a:ext cx="3474720" cy="1737360"/>
          </a:xfrm>
          <a:prstGeom prst="roundRect">
            <a:avLst>
              <a:gd name="adj" fmla="val 3158"/>
            </a:avLst>
          </a:prstGeom>
          <a:solidFill>
            <a:srgbClr val="F1F5F9"/>
          </a:solidFill>
          <a:ln w="12700">
            <a:solidFill>
              <a:srgbClr val="F1F5F9"/>
            </a:solidFill>
            <a:prstDash val="solid"/>
          </a:ln>
        </p:spPr>
      </p:sp>
      <p:sp>
        <p:nvSpPr>
          <p:cNvPr id="11" name="Text 9"/>
          <p:cNvSpPr/>
          <p:nvPr/>
        </p:nvSpPr>
        <p:spPr>
          <a:xfrm>
            <a:off x="8247888" y="1755648"/>
            <a:ext cx="3017520" cy="329184"/>
          </a:xfrm>
          <a:prstGeom prst="rect">
            <a:avLst/>
          </a:prstGeom>
          <a:noFill/>
          <a:ln/>
        </p:spPr>
        <p:txBody>
          <a:bodyPr wrap="square" lIns="0" tIns="0" rIns="0" bIns="0" rtlCol="0" anchor="ctr"/>
          <a:lstStyle/>
          <a:p>
            <a:pPr indent="0" marL="0">
              <a:buNone/>
            </a:pPr>
            <a:r>
              <a:rPr lang="en-US" sz="1700" b="1" dirty="0">
                <a:solidFill>
                  <a:srgbClr val="6B7280"/>
                </a:solidFill>
                <a:latin typeface="Cambria" pitchFamily="34" charset="0"/>
                <a:ea typeface="Cambria" pitchFamily="34" charset="-122"/>
                <a:cs typeface="Cambria" pitchFamily="34" charset="-120"/>
              </a:rPr>
              <a:t>NOT EVALUATED</a:t>
            </a:r>
            <a:endParaRPr lang="en-US" sz="1700" dirty="0"/>
          </a:p>
        </p:txBody>
      </p:sp>
      <p:sp>
        <p:nvSpPr>
          <p:cNvPr id="12" name="Text 10"/>
          <p:cNvSpPr/>
          <p:nvPr/>
        </p:nvSpPr>
        <p:spPr>
          <a:xfrm>
            <a:off x="8247888" y="2157984"/>
            <a:ext cx="3017520" cy="1005840"/>
          </a:xfrm>
          <a:prstGeom prst="rect">
            <a:avLst/>
          </a:prstGeom>
          <a:noFill/>
          <a:ln/>
        </p:spPr>
        <p:txBody>
          <a:bodyPr wrap="square" lIns="0" tIns="0" rIns="0" bIns="0" rtlCol="0" anchor="ctr"/>
          <a:lstStyle/>
          <a:p>
            <a:pPr indent="0" marL="0">
              <a:buNone/>
            </a:pPr>
            <a:r>
              <a:rPr lang="en-US" sz="1150" dirty="0">
                <a:solidFill>
                  <a:srgbClr val="374151"/>
                </a:solidFill>
                <a:latin typeface="Calibri" pitchFamily="34" charset="0"/>
                <a:ea typeface="Calibri" pitchFamily="34" charset="-122"/>
                <a:cs typeface="Calibri" pitchFamily="34" charset="-120"/>
              </a:rPr>
              <a:t>The rule could not be judged — and the report says WHY, naming the missing measurement.</a:t>
            </a:r>
            <a:endParaRPr lang="en-US" sz="1150" dirty="0"/>
          </a:p>
        </p:txBody>
      </p:sp>
      <p:sp>
        <p:nvSpPr>
          <p:cNvPr id="13" name="Text 11"/>
          <p:cNvSpPr/>
          <p:nvPr/>
        </p:nvSpPr>
        <p:spPr>
          <a:xfrm>
            <a:off x="566928" y="3611880"/>
            <a:ext cx="11055096" cy="914400"/>
          </a:xfrm>
          <a:prstGeom prst="rect">
            <a:avLst/>
          </a:prstGeom>
          <a:noFill/>
          <a:ln/>
        </p:spPr>
        <p:txBody>
          <a:bodyPr wrap="square" lIns="0" tIns="0" rIns="0" bIns="0" rtlCol="0" anchor="ctr"/>
          <a:lstStyle/>
          <a:p>
            <a:pPr indent="0" marL="0">
              <a:lnSpc>
                <a:spcPts val="2200"/>
              </a:lnSpc>
              <a:buNone/>
            </a:pPr>
            <a:r>
              <a:rPr lang="en-US" sz="1300" b="1" dirty="0">
                <a:solidFill>
                  <a:srgbClr val="374151"/>
                </a:solidFill>
                <a:latin typeface="Calibri" pitchFamily="34" charset="0"/>
                <a:ea typeface="Calibri" pitchFamily="34" charset="-122"/>
                <a:cs typeface="Calibri" pitchFamily="34" charset="-120"/>
              </a:rPr>
              <a:t>Why it matters commercially. </a:t>
            </a:r>
            <a:pPr indent="0" marL="0">
              <a:lnSpc>
                <a:spcPts val="2200"/>
              </a:lnSpc>
              <a:buNone/>
            </a:pPr>
            <a:r>
              <a:rPr lang="en-US" sz="1300" dirty="0">
                <a:solidFill>
                  <a:srgbClr val="374151"/>
                </a:solidFill>
                <a:latin typeface="Calibri" pitchFamily="34" charset="0"/>
                <a:ea typeface="Calibri" pitchFamily="34" charset="-122"/>
                <a:cs typeface="Calibri" pitchFamily="34" charset="-120"/>
              </a:rPr>
              <a:t>A tool that scores an unmeasurable rule as a pass produces a clean sheet on a part it never actually checked. Ours reports the coverage figure beside the score, and the score is </a:t>
            </a:r>
            <a:pPr indent="0" marL="0">
              <a:lnSpc>
                <a:spcPts val="2200"/>
              </a:lnSpc>
              <a:buNone/>
            </a:pPr>
            <a:r>
              <a:rPr lang="en-US" sz="1300" b="1" dirty="0">
                <a:solidFill>
                  <a:srgbClr val="374151"/>
                </a:solidFill>
                <a:latin typeface="Calibri" pitchFamily="34" charset="0"/>
                <a:ea typeface="Calibri" pitchFamily="34" charset="-122"/>
                <a:cs typeface="Calibri" pitchFamily="34" charset="-120"/>
              </a:rPr>
              <a:t>null</a:t>
            </a:r>
            <a:pPr indent="0" marL="0">
              <a:lnSpc>
                <a:spcPts val="2200"/>
              </a:lnSpc>
              <a:buNone/>
            </a:pPr>
            <a:r>
              <a:rPr lang="en-US" sz="1300" dirty="0">
                <a:solidFill>
                  <a:srgbClr val="374151"/>
                </a:solidFill>
                <a:latin typeface="Calibri" pitchFamily="34" charset="0"/>
                <a:ea typeface="Calibri" pitchFamily="34" charset="-122"/>
                <a:cs typeface="Calibri" pitchFamily="34" charset="-120"/>
              </a:rPr>
              <a:t> — not 100 — when nothing could be evaluated. You always know how much of the catalogue actually ran on your part.</a:t>
            </a:r>
            <a:endParaRPr lang="en-US" sz="1300" dirty="0"/>
          </a:p>
        </p:txBody>
      </p:sp>
      <p:sp>
        <p:nvSpPr>
          <p:cNvPr id="14" name="Shape 12"/>
          <p:cNvSpPr/>
          <p:nvPr/>
        </p:nvSpPr>
        <p:spPr>
          <a:xfrm>
            <a:off x="566928" y="4709160"/>
            <a:ext cx="3474720" cy="1353312"/>
          </a:xfrm>
          <a:prstGeom prst="roundRect">
            <a:avLst>
              <a:gd name="adj" fmla="val 4054"/>
            </a:avLst>
          </a:prstGeom>
          <a:solidFill>
            <a:srgbClr val="F1F5F9"/>
          </a:solidFill>
          <a:ln w="12700">
            <a:solidFill>
              <a:srgbClr val="F1F5F9"/>
            </a:solidFill>
            <a:prstDash val="solid"/>
          </a:ln>
        </p:spPr>
      </p:sp>
      <p:sp>
        <p:nvSpPr>
          <p:cNvPr id="15" name="Text 13"/>
          <p:cNvSpPr/>
          <p:nvPr/>
        </p:nvSpPr>
        <p:spPr>
          <a:xfrm>
            <a:off x="731520" y="4818888"/>
            <a:ext cx="3145536" cy="45720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69.3 %</a:t>
            </a:r>
            <a:endParaRPr lang="en-US" sz="2800" dirty="0"/>
          </a:p>
        </p:txBody>
      </p:sp>
      <p:sp>
        <p:nvSpPr>
          <p:cNvPr id="16" name="Text 14"/>
          <p:cNvSpPr/>
          <p:nvPr/>
        </p:nvSpPr>
        <p:spPr>
          <a:xfrm>
            <a:off x="731520" y="5294376"/>
            <a:ext cx="3145536" cy="256032"/>
          </a:xfrm>
          <a:prstGeom prst="rect">
            <a:avLst/>
          </a:prstGeom>
          <a:noFill/>
          <a:ln/>
        </p:spPr>
        <p:txBody>
          <a:bodyPr wrap="square" lIns="0" tIns="0" rIns="0" bIns="0" rtlCol="0" anchor="ctr"/>
          <a:lstStyle/>
          <a:p>
            <a:pPr indent="0" marL="0">
              <a:buNone/>
            </a:pPr>
            <a:r>
              <a:rPr lang="en-US" sz="1000" b="1" spc="100" kern="0" dirty="0">
                <a:solidFill>
                  <a:srgbClr val="6B7280"/>
                </a:solidFill>
                <a:latin typeface="Calibri" pitchFamily="34" charset="0"/>
                <a:ea typeface="Calibri" pitchFamily="34" charset="-122"/>
                <a:cs typeface="Calibri" pitchFamily="34" charset="-120"/>
              </a:rPr>
              <a:t>MEAN RULE COVERAGE</a:t>
            </a:r>
            <a:endParaRPr lang="en-US" sz="1000" dirty="0"/>
          </a:p>
        </p:txBody>
      </p:sp>
      <p:sp>
        <p:nvSpPr>
          <p:cNvPr id="17" name="Text 15"/>
          <p:cNvSpPr/>
          <p:nvPr/>
        </p:nvSpPr>
        <p:spPr>
          <a:xfrm>
            <a:off x="731520" y="5550408"/>
            <a:ext cx="3145536" cy="420624"/>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Measured across 93 shaped parts, 10 Aug 2026</a:t>
            </a:r>
            <a:endParaRPr lang="en-US" sz="950" dirty="0"/>
          </a:p>
        </p:txBody>
      </p:sp>
      <p:sp>
        <p:nvSpPr>
          <p:cNvPr id="18" name="Shape 16"/>
          <p:cNvSpPr/>
          <p:nvPr/>
        </p:nvSpPr>
        <p:spPr>
          <a:xfrm>
            <a:off x="4297680" y="4709160"/>
            <a:ext cx="3474720" cy="1353312"/>
          </a:xfrm>
          <a:prstGeom prst="roundRect">
            <a:avLst>
              <a:gd name="adj" fmla="val 4054"/>
            </a:avLst>
          </a:prstGeom>
          <a:solidFill>
            <a:srgbClr val="F1F5F9"/>
          </a:solidFill>
          <a:ln w="12700">
            <a:solidFill>
              <a:srgbClr val="F1F5F9"/>
            </a:solidFill>
            <a:prstDash val="solid"/>
          </a:ln>
        </p:spPr>
      </p:sp>
      <p:sp>
        <p:nvSpPr>
          <p:cNvPr id="19" name="Text 17"/>
          <p:cNvSpPr/>
          <p:nvPr/>
        </p:nvSpPr>
        <p:spPr>
          <a:xfrm>
            <a:off x="4462272" y="4818888"/>
            <a:ext cx="3145536" cy="45720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stated</a:t>
            </a:r>
            <a:endParaRPr lang="en-US" sz="2800" dirty="0"/>
          </a:p>
        </p:txBody>
      </p:sp>
      <p:sp>
        <p:nvSpPr>
          <p:cNvPr id="20" name="Text 18"/>
          <p:cNvSpPr/>
          <p:nvPr/>
        </p:nvSpPr>
        <p:spPr>
          <a:xfrm>
            <a:off x="4462272" y="5294376"/>
            <a:ext cx="3145536" cy="256032"/>
          </a:xfrm>
          <a:prstGeom prst="rect">
            <a:avLst/>
          </a:prstGeom>
          <a:noFill/>
          <a:ln/>
        </p:spPr>
        <p:txBody>
          <a:bodyPr wrap="square" lIns="0" tIns="0" rIns="0" bIns="0" rtlCol="0" anchor="ctr"/>
          <a:lstStyle/>
          <a:p>
            <a:pPr indent="0" marL="0">
              <a:buNone/>
            </a:pPr>
            <a:r>
              <a:rPr lang="en-US" sz="1000" b="1" spc="100" kern="0" dirty="0">
                <a:solidFill>
                  <a:srgbClr val="6B7280"/>
                </a:solidFill>
                <a:latin typeface="Calibri" pitchFamily="34" charset="0"/>
                <a:ea typeface="Calibri" pitchFamily="34" charset="-122"/>
                <a:cs typeface="Calibri" pitchFamily="34" charset="-120"/>
              </a:rPr>
              <a:t>EVERY ABSTENTION</a:t>
            </a:r>
            <a:endParaRPr lang="en-US" sz="1000" dirty="0"/>
          </a:p>
        </p:txBody>
      </p:sp>
      <p:sp>
        <p:nvSpPr>
          <p:cNvPr id="21" name="Text 19"/>
          <p:cNvSpPr/>
          <p:nvPr/>
        </p:nvSpPr>
        <p:spPr>
          <a:xfrm>
            <a:off x="4462272" y="5550408"/>
            <a:ext cx="3145536" cy="420624"/>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Named with the measurement it lacked</a:t>
            </a:r>
            <a:endParaRPr lang="en-US" sz="950" dirty="0"/>
          </a:p>
        </p:txBody>
      </p:sp>
      <p:sp>
        <p:nvSpPr>
          <p:cNvPr id="22" name="Shape 20"/>
          <p:cNvSpPr/>
          <p:nvPr/>
        </p:nvSpPr>
        <p:spPr>
          <a:xfrm>
            <a:off x="8028432" y="4709160"/>
            <a:ext cx="3474720" cy="1353312"/>
          </a:xfrm>
          <a:prstGeom prst="roundRect">
            <a:avLst>
              <a:gd name="adj" fmla="val 4054"/>
            </a:avLst>
          </a:prstGeom>
          <a:solidFill>
            <a:srgbClr val="F1F5F9"/>
          </a:solidFill>
          <a:ln w="12700">
            <a:solidFill>
              <a:srgbClr val="F1F5F9"/>
            </a:solidFill>
            <a:prstDash val="solid"/>
          </a:ln>
        </p:spPr>
      </p:sp>
      <p:sp>
        <p:nvSpPr>
          <p:cNvPr id="23" name="Text 21"/>
          <p:cNvSpPr/>
          <p:nvPr/>
        </p:nvSpPr>
        <p:spPr>
          <a:xfrm>
            <a:off x="8193024" y="4818888"/>
            <a:ext cx="3145536" cy="45720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null</a:t>
            </a:r>
            <a:endParaRPr lang="en-US" sz="2800" dirty="0"/>
          </a:p>
        </p:txBody>
      </p:sp>
      <p:sp>
        <p:nvSpPr>
          <p:cNvPr id="24" name="Text 22"/>
          <p:cNvSpPr/>
          <p:nvPr/>
        </p:nvSpPr>
        <p:spPr>
          <a:xfrm>
            <a:off x="8193024" y="5294376"/>
            <a:ext cx="3145536" cy="256032"/>
          </a:xfrm>
          <a:prstGeom prst="rect">
            <a:avLst/>
          </a:prstGeom>
          <a:noFill/>
          <a:ln/>
        </p:spPr>
        <p:txBody>
          <a:bodyPr wrap="square" lIns="0" tIns="0" rIns="0" bIns="0" rtlCol="0" anchor="ctr"/>
          <a:lstStyle/>
          <a:p>
            <a:pPr indent="0" marL="0">
              <a:buNone/>
            </a:pPr>
            <a:r>
              <a:rPr lang="en-US" sz="1000" b="1" spc="100" kern="0" dirty="0">
                <a:solidFill>
                  <a:srgbClr val="6B7280"/>
                </a:solidFill>
                <a:latin typeface="Calibri" pitchFamily="34" charset="0"/>
                <a:ea typeface="Calibri" pitchFamily="34" charset="-122"/>
                <a:cs typeface="Calibri" pitchFamily="34" charset="-120"/>
              </a:rPr>
              <a:t>SCORE WHEN BLIND</a:t>
            </a:r>
            <a:endParaRPr lang="en-US" sz="1000" dirty="0"/>
          </a:p>
        </p:txBody>
      </p:sp>
      <p:sp>
        <p:nvSpPr>
          <p:cNvPr id="25" name="Text 23"/>
          <p:cNvSpPr/>
          <p:nvPr/>
        </p:nvSpPr>
        <p:spPr>
          <a:xfrm>
            <a:off x="8193024" y="5550408"/>
            <a:ext cx="3145536" cy="420624"/>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Never 100. A clean sheet must be earned</a:t>
            </a:r>
            <a:endParaRPr lang="en-US" sz="950" dirty="0"/>
          </a:p>
        </p:txBody>
      </p:sp>
      <p:sp>
        <p:nvSpPr>
          <p:cNvPr id="26" name="Text 24"/>
          <p:cNvSpPr/>
          <p:nvPr/>
        </p:nvSpPr>
        <p:spPr>
          <a:xfrm>
            <a:off x="566928" y="6437376"/>
            <a:ext cx="11055096" cy="237744"/>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BrainSpark DFM / DFA Studio  ·  Design-for-Manufacture &amp; Assembly  ·  4/16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55096" cy="219456"/>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WHAT IS INSIDE</a:t>
            </a:r>
            <a:endParaRPr lang="en-US" sz="1100" dirty="0"/>
          </a:p>
        </p:txBody>
      </p:sp>
      <p:sp>
        <p:nvSpPr>
          <p:cNvPr id="3" name="Text 1"/>
          <p:cNvSpPr/>
          <p:nvPr/>
        </p:nvSpPr>
        <p:spPr>
          <a:xfrm>
            <a:off x="566928" y="768096"/>
            <a:ext cx="11055096" cy="64008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The catalogue knows your process and your alloy</a:t>
            </a:r>
            <a:endParaRPr lang="en-US" sz="3200" dirty="0"/>
          </a:p>
        </p:txBody>
      </p:sp>
      <p:sp>
        <p:nvSpPr>
          <p:cNvPr id="4" name="Shape 2"/>
          <p:cNvSpPr/>
          <p:nvPr/>
        </p:nvSpPr>
        <p:spPr>
          <a:xfrm>
            <a:off x="566928" y="1572768"/>
            <a:ext cx="2606040" cy="1353312"/>
          </a:xfrm>
          <a:prstGeom prst="roundRect">
            <a:avLst>
              <a:gd name="adj" fmla="val 4054"/>
            </a:avLst>
          </a:prstGeom>
          <a:solidFill>
            <a:srgbClr val="F1F5F9"/>
          </a:solidFill>
          <a:ln w="12700">
            <a:solidFill>
              <a:srgbClr val="F1F5F9"/>
            </a:solidFill>
            <a:prstDash val="solid"/>
          </a:ln>
        </p:spPr>
      </p:sp>
      <p:sp>
        <p:nvSpPr>
          <p:cNvPr id="5" name="Text 3"/>
          <p:cNvSpPr/>
          <p:nvPr/>
        </p:nvSpPr>
        <p:spPr>
          <a:xfrm>
            <a:off x="731520" y="1682496"/>
            <a:ext cx="2276856" cy="45720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236</a:t>
            </a:r>
            <a:endParaRPr lang="en-US" sz="2800" dirty="0"/>
          </a:p>
        </p:txBody>
      </p:sp>
      <p:sp>
        <p:nvSpPr>
          <p:cNvPr id="6" name="Text 4"/>
          <p:cNvSpPr/>
          <p:nvPr/>
        </p:nvSpPr>
        <p:spPr>
          <a:xfrm>
            <a:off x="731520" y="2157984"/>
            <a:ext cx="2276856" cy="256032"/>
          </a:xfrm>
          <a:prstGeom prst="rect">
            <a:avLst/>
          </a:prstGeom>
          <a:noFill/>
          <a:ln/>
        </p:spPr>
        <p:txBody>
          <a:bodyPr wrap="square" lIns="0" tIns="0" rIns="0" bIns="0" rtlCol="0" anchor="ctr"/>
          <a:lstStyle/>
          <a:p>
            <a:pPr indent="0" marL="0">
              <a:buNone/>
            </a:pPr>
            <a:r>
              <a:rPr lang="en-US" sz="1000" b="1" spc="100" kern="0" dirty="0">
                <a:solidFill>
                  <a:srgbClr val="6B7280"/>
                </a:solidFill>
                <a:latin typeface="Calibri" pitchFamily="34" charset="0"/>
                <a:ea typeface="Calibri" pitchFamily="34" charset="-122"/>
                <a:cs typeface="Calibri" pitchFamily="34" charset="-120"/>
              </a:rPr>
              <a:t>RULES</a:t>
            </a:r>
            <a:endParaRPr lang="en-US" sz="1000" dirty="0"/>
          </a:p>
        </p:txBody>
      </p:sp>
      <p:sp>
        <p:nvSpPr>
          <p:cNvPr id="7" name="Text 5"/>
          <p:cNvSpPr/>
          <p:nvPr/>
        </p:nvSpPr>
        <p:spPr>
          <a:xfrm>
            <a:off x="731520" y="2414016"/>
            <a:ext cx="2276856" cy="420624"/>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Each citing its source and grading it</a:t>
            </a:r>
            <a:endParaRPr lang="en-US" sz="950" dirty="0"/>
          </a:p>
        </p:txBody>
      </p:sp>
      <p:sp>
        <p:nvSpPr>
          <p:cNvPr id="8" name="Shape 6"/>
          <p:cNvSpPr/>
          <p:nvPr/>
        </p:nvSpPr>
        <p:spPr>
          <a:xfrm>
            <a:off x="3419856" y="1572768"/>
            <a:ext cx="2606040" cy="1353312"/>
          </a:xfrm>
          <a:prstGeom prst="roundRect">
            <a:avLst>
              <a:gd name="adj" fmla="val 4054"/>
            </a:avLst>
          </a:prstGeom>
          <a:solidFill>
            <a:srgbClr val="F1F5F9"/>
          </a:solidFill>
          <a:ln w="12700">
            <a:solidFill>
              <a:srgbClr val="F1F5F9"/>
            </a:solidFill>
            <a:prstDash val="solid"/>
          </a:ln>
        </p:spPr>
      </p:sp>
      <p:sp>
        <p:nvSpPr>
          <p:cNvPr id="9" name="Text 7"/>
          <p:cNvSpPr/>
          <p:nvPr/>
        </p:nvSpPr>
        <p:spPr>
          <a:xfrm>
            <a:off x="3584448" y="1682496"/>
            <a:ext cx="2276856" cy="45720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35</a:t>
            </a:r>
            <a:endParaRPr lang="en-US" sz="2800" dirty="0"/>
          </a:p>
        </p:txBody>
      </p:sp>
      <p:sp>
        <p:nvSpPr>
          <p:cNvPr id="10" name="Text 8"/>
          <p:cNvSpPr/>
          <p:nvPr/>
        </p:nvSpPr>
        <p:spPr>
          <a:xfrm>
            <a:off x="3584448" y="2157984"/>
            <a:ext cx="2276856" cy="256032"/>
          </a:xfrm>
          <a:prstGeom prst="rect">
            <a:avLst/>
          </a:prstGeom>
          <a:noFill/>
          <a:ln/>
        </p:spPr>
        <p:txBody>
          <a:bodyPr wrap="square" lIns="0" tIns="0" rIns="0" bIns="0" rtlCol="0" anchor="ctr"/>
          <a:lstStyle/>
          <a:p>
            <a:pPr indent="0" marL="0">
              <a:buNone/>
            </a:pPr>
            <a:r>
              <a:rPr lang="en-US" sz="1000" b="1" spc="100" kern="0" dirty="0">
                <a:solidFill>
                  <a:srgbClr val="6B7280"/>
                </a:solidFill>
                <a:latin typeface="Calibri" pitchFamily="34" charset="0"/>
                <a:ea typeface="Calibri" pitchFamily="34" charset="-122"/>
                <a:cs typeface="Calibri" pitchFamily="34" charset="-120"/>
              </a:rPr>
              <a:t>PROCESS FAMILIES</a:t>
            </a:r>
            <a:endParaRPr lang="en-US" sz="1000" dirty="0"/>
          </a:p>
        </p:txBody>
      </p:sp>
      <p:sp>
        <p:nvSpPr>
          <p:cNvPr id="11" name="Text 9"/>
          <p:cNvSpPr/>
          <p:nvPr/>
        </p:nvSpPr>
        <p:spPr>
          <a:xfrm>
            <a:off x="3584448" y="2414016"/>
            <a:ext cx="2276856" cy="420624"/>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Casting, forming, machining, moulding, PM, additive</a:t>
            </a:r>
            <a:endParaRPr lang="en-US" sz="950" dirty="0"/>
          </a:p>
        </p:txBody>
      </p:sp>
      <p:sp>
        <p:nvSpPr>
          <p:cNvPr id="12" name="Shape 10"/>
          <p:cNvSpPr/>
          <p:nvPr/>
        </p:nvSpPr>
        <p:spPr>
          <a:xfrm>
            <a:off x="6272784" y="1572768"/>
            <a:ext cx="2606040" cy="1353312"/>
          </a:xfrm>
          <a:prstGeom prst="roundRect">
            <a:avLst>
              <a:gd name="adj" fmla="val 4054"/>
            </a:avLst>
          </a:prstGeom>
          <a:solidFill>
            <a:srgbClr val="F1F5F9"/>
          </a:solidFill>
          <a:ln w="12700">
            <a:solidFill>
              <a:srgbClr val="F1F5F9"/>
            </a:solidFill>
            <a:prstDash val="solid"/>
          </a:ln>
        </p:spPr>
      </p:sp>
      <p:sp>
        <p:nvSpPr>
          <p:cNvPr id="13" name="Text 11"/>
          <p:cNvSpPr/>
          <p:nvPr/>
        </p:nvSpPr>
        <p:spPr>
          <a:xfrm>
            <a:off x="6437376" y="1682496"/>
            <a:ext cx="2276856" cy="45720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64</a:t>
            </a:r>
            <a:endParaRPr lang="en-US" sz="2800" dirty="0"/>
          </a:p>
        </p:txBody>
      </p:sp>
      <p:sp>
        <p:nvSpPr>
          <p:cNvPr id="14" name="Text 12"/>
          <p:cNvSpPr/>
          <p:nvPr/>
        </p:nvSpPr>
        <p:spPr>
          <a:xfrm>
            <a:off x="6437376" y="2157984"/>
            <a:ext cx="2276856" cy="256032"/>
          </a:xfrm>
          <a:prstGeom prst="rect">
            <a:avLst/>
          </a:prstGeom>
          <a:noFill/>
          <a:ln/>
        </p:spPr>
        <p:txBody>
          <a:bodyPr wrap="square" lIns="0" tIns="0" rIns="0" bIns="0" rtlCol="0" anchor="ctr"/>
          <a:lstStyle/>
          <a:p>
            <a:pPr indent="0" marL="0">
              <a:buNone/>
            </a:pPr>
            <a:r>
              <a:rPr lang="en-US" sz="1000" b="1" spc="100" kern="0" dirty="0">
                <a:solidFill>
                  <a:srgbClr val="6B7280"/>
                </a:solidFill>
                <a:latin typeface="Calibri" pitchFamily="34" charset="0"/>
                <a:ea typeface="Calibri" pitchFamily="34" charset="-122"/>
                <a:cs typeface="Calibri" pitchFamily="34" charset="-120"/>
              </a:rPr>
              <a:t>MATERIALS</a:t>
            </a:r>
            <a:endParaRPr lang="en-US" sz="1000" dirty="0"/>
          </a:p>
        </p:txBody>
      </p:sp>
      <p:sp>
        <p:nvSpPr>
          <p:cNvPr id="15" name="Text 13"/>
          <p:cNvSpPr/>
          <p:nvPr/>
        </p:nvSpPr>
        <p:spPr>
          <a:xfrm>
            <a:off x="6437376" y="2414016"/>
            <a:ext cx="2276856" cy="420624"/>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Thresholds resolve to the alloy where it matters</a:t>
            </a:r>
            <a:endParaRPr lang="en-US" sz="950" dirty="0"/>
          </a:p>
        </p:txBody>
      </p:sp>
      <p:sp>
        <p:nvSpPr>
          <p:cNvPr id="16" name="Shape 14"/>
          <p:cNvSpPr/>
          <p:nvPr/>
        </p:nvSpPr>
        <p:spPr>
          <a:xfrm>
            <a:off x="9125712" y="1572768"/>
            <a:ext cx="2606040" cy="1353312"/>
          </a:xfrm>
          <a:prstGeom prst="roundRect">
            <a:avLst>
              <a:gd name="adj" fmla="val 4054"/>
            </a:avLst>
          </a:prstGeom>
          <a:solidFill>
            <a:srgbClr val="F1F5F9"/>
          </a:solidFill>
          <a:ln w="12700">
            <a:solidFill>
              <a:srgbClr val="F1F5F9"/>
            </a:solidFill>
            <a:prstDash val="solid"/>
          </a:ln>
        </p:spPr>
      </p:sp>
      <p:sp>
        <p:nvSpPr>
          <p:cNvPr id="17" name="Text 15"/>
          <p:cNvSpPr/>
          <p:nvPr/>
        </p:nvSpPr>
        <p:spPr>
          <a:xfrm>
            <a:off x="9290304" y="1682496"/>
            <a:ext cx="2276856" cy="45720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49</a:t>
            </a:r>
            <a:endParaRPr lang="en-US" sz="2800" dirty="0"/>
          </a:p>
        </p:txBody>
      </p:sp>
      <p:sp>
        <p:nvSpPr>
          <p:cNvPr id="18" name="Text 16"/>
          <p:cNvSpPr/>
          <p:nvPr/>
        </p:nvSpPr>
        <p:spPr>
          <a:xfrm>
            <a:off x="9290304" y="2157984"/>
            <a:ext cx="2276856" cy="256032"/>
          </a:xfrm>
          <a:prstGeom prst="rect">
            <a:avLst/>
          </a:prstGeom>
          <a:noFill/>
          <a:ln/>
        </p:spPr>
        <p:txBody>
          <a:bodyPr wrap="square" lIns="0" tIns="0" rIns="0" bIns="0" rtlCol="0" anchor="ctr"/>
          <a:lstStyle/>
          <a:p>
            <a:pPr indent="0" marL="0">
              <a:buNone/>
            </a:pPr>
            <a:r>
              <a:rPr lang="en-US" sz="1000" b="1" spc="100" kern="0" dirty="0">
                <a:solidFill>
                  <a:srgbClr val="6B7280"/>
                </a:solidFill>
                <a:latin typeface="Calibri" pitchFamily="34" charset="0"/>
                <a:ea typeface="Calibri" pitchFamily="34" charset="-122"/>
                <a:cs typeface="Calibri" pitchFamily="34" charset="-120"/>
              </a:rPr>
              <a:t>PROCESSES</a:t>
            </a:r>
            <a:endParaRPr lang="en-US" sz="1000" dirty="0"/>
          </a:p>
        </p:txBody>
      </p:sp>
      <p:sp>
        <p:nvSpPr>
          <p:cNvPr id="19" name="Text 17"/>
          <p:cNvSpPr/>
          <p:nvPr/>
        </p:nvSpPr>
        <p:spPr>
          <a:xfrm>
            <a:off x="9290304" y="2414016"/>
            <a:ext cx="2276856" cy="420624"/>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11 casting routes alone — HPDC, LPDC, GDC, VHPDC, SSM</a:t>
            </a:r>
            <a:endParaRPr lang="en-US" sz="950" dirty="0"/>
          </a:p>
        </p:txBody>
      </p:sp>
      <p:sp>
        <p:nvSpPr>
          <p:cNvPr id="20" name="Text 18"/>
          <p:cNvSpPr/>
          <p:nvPr/>
        </p:nvSpPr>
        <p:spPr>
          <a:xfrm>
            <a:off x="566928" y="3163824"/>
            <a:ext cx="11055096" cy="420624"/>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Selecting Steel DP980 + Stamping does not filter a generic list — it runs a different ruleset, with thresholds resolved for that steel.</a:t>
            </a:r>
            <a:endParaRPr lang="en-US" sz="1300" dirty="0"/>
          </a:p>
        </p:txBody>
      </p:sp>
      <p:sp>
        <p:nvSpPr>
          <p:cNvPr id="21" name="Shape 19"/>
          <p:cNvSpPr/>
          <p:nvPr/>
        </p:nvSpPr>
        <p:spPr>
          <a:xfrm>
            <a:off x="566928" y="3602736"/>
            <a:ext cx="11055096" cy="384048"/>
          </a:xfrm>
          <a:prstGeom prst="rect">
            <a:avLst/>
          </a:prstGeom>
          <a:solidFill>
            <a:srgbClr val="F1F5F9"/>
          </a:solidFill>
          <a:ln w="12700">
            <a:solidFill>
              <a:srgbClr val="F1F5F9"/>
            </a:solidFill>
            <a:prstDash val="solid"/>
          </a:ln>
        </p:spPr>
      </p:sp>
      <p:sp>
        <p:nvSpPr>
          <p:cNvPr id="22" name="Text 20"/>
          <p:cNvSpPr/>
          <p:nvPr/>
        </p:nvSpPr>
        <p:spPr>
          <a:xfrm>
            <a:off x="731520" y="3639312"/>
            <a:ext cx="3200400" cy="292608"/>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High-pressure die casting</a:t>
            </a:r>
            <a:endParaRPr lang="en-US" sz="1100" dirty="0"/>
          </a:p>
        </p:txBody>
      </p:sp>
      <p:sp>
        <p:nvSpPr>
          <p:cNvPr id="23" name="Text 21"/>
          <p:cNvSpPr/>
          <p:nvPr/>
        </p:nvSpPr>
        <p:spPr>
          <a:xfrm>
            <a:off x="4041648" y="3639312"/>
            <a:ext cx="7223760" cy="292608"/>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Wall range · draft · cored-hole draft · core-pin slenderness · undercuts</a:t>
            </a:r>
            <a:endParaRPr lang="en-US" sz="1050" dirty="0"/>
          </a:p>
        </p:txBody>
      </p:sp>
      <p:sp>
        <p:nvSpPr>
          <p:cNvPr id="24" name="Text 22"/>
          <p:cNvSpPr/>
          <p:nvPr/>
        </p:nvSpPr>
        <p:spPr>
          <a:xfrm>
            <a:off x="731520" y="4041648"/>
            <a:ext cx="3200400" cy="292608"/>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Sheet metal / stamping</a:t>
            </a:r>
            <a:endParaRPr lang="en-US" sz="1100" dirty="0"/>
          </a:p>
        </p:txBody>
      </p:sp>
      <p:sp>
        <p:nvSpPr>
          <p:cNvPr id="25" name="Text 23"/>
          <p:cNvSpPr/>
          <p:nvPr/>
        </p:nvSpPr>
        <p:spPr>
          <a:xfrm>
            <a:off x="4041648" y="4041648"/>
            <a:ext cx="7223760" cy="292608"/>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Bend radius by alloy · springback · max bend radius · hole size by sheet strength · strip utilisation</a:t>
            </a:r>
            <a:endParaRPr lang="en-US" sz="1050" dirty="0"/>
          </a:p>
        </p:txBody>
      </p:sp>
      <p:sp>
        <p:nvSpPr>
          <p:cNvPr id="26" name="Shape 24"/>
          <p:cNvSpPr/>
          <p:nvPr/>
        </p:nvSpPr>
        <p:spPr>
          <a:xfrm>
            <a:off x="566928" y="4407408"/>
            <a:ext cx="11055096" cy="384048"/>
          </a:xfrm>
          <a:prstGeom prst="rect">
            <a:avLst/>
          </a:prstGeom>
          <a:solidFill>
            <a:srgbClr val="F1F5F9"/>
          </a:solidFill>
          <a:ln w="12700">
            <a:solidFill>
              <a:srgbClr val="F1F5F9"/>
            </a:solidFill>
            <a:prstDash val="solid"/>
          </a:ln>
        </p:spPr>
      </p:sp>
      <p:sp>
        <p:nvSpPr>
          <p:cNvPr id="27" name="Text 25"/>
          <p:cNvSpPr/>
          <p:nvPr/>
        </p:nvSpPr>
        <p:spPr>
          <a:xfrm>
            <a:off x="731520" y="4443984"/>
            <a:ext cx="3200400" cy="292608"/>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Machining</a:t>
            </a:r>
            <a:endParaRPr lang="en-US" sz="1100" dirty="0"/>
          </a:p>
        </p:txBody>
      </p:sp>
      <p:sp>
        <p:nvSpPr>
          <p:cNvPr id="28" name="Text 26"/>
          <p:cNvSpPr/>
          <p:nvPr/>
        </p:nvSpPr>
        <p:spPr>
          <a:xfrm>
            <a:off x="4041648" y="4443984"/>
            <a:ext cx="7223760" cy="292608"/>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Tool reach · setup count · internal corner radius · pocket slenderness · hole depth</a:t>
            </a:r>
            <a:endParaRPr lang="en-US" sz="1050" dirty="0"/>
          </a:p>
        </p:txBody>
      </p:sp>
      <p:sp>
        <p:nvSpPr>
          <p:cNvPr id="29" name="Text 27"/>
          <p:cNvSpPr/>
          <p:nvPr/>
        </p:nvSpPr>
        <p:spPr>
          <a:xfrm>
            <a:off x="731520" y="4846320"/>
            <a:ext cx="3200400" cy="292608"/>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Injection moulding</a:t>
            </a:r>
            <a:endParaRPr lang="en-US" sz="1100" dirty="0"/>
          </a:p>
        </p:txBody>
      </p:sp>
      <p:sp>
        <p:nvSpPr>
          <p:cNvPr id="30" name="Text 28"/>
          <p:cNvSpPr/>
          <p:nvPr/>
        </p:nvSpPr>
        <p:spPr>
          <a:xfrm>
            <a:off x="4041648" y="4846320"/>
            <a:ext cx="7223760" cy="292608"/>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Wall uniformity · draft · rib proportions · boss height · undercuts</a:t>
            </a:r>
            <a:endParaRPr lang="en-US" sz="1050" dirty="0"/>
          </a:p>
        </p:txBody>
      </p:sp>
      <p:sp>
        <p:nvSpPr>
          <p:cNvPr id="31" name="Shape 29"/>
          <p:cNvSpPr/>
          <p:nvPr/>
        </p:nvSpPr>
        <p:spPr>
          <a:xfrm>
            <a:off x="566928" y="5212080"/>
            <a:ext cx="11055096" cy="384048"/>
          </a:xfrm>
          <a:prstGeom prst="rect">
            <a:avLst/>
          </a:prstGeom>
          <a:solidFill>
            <a:srgbClr val="F1F5F9"/>
          </a:solidFill>
          <a:ln w="12700">
            <a:solidFill>
              <a:srgbClr val="F1F5F9"/>
            </a:solidFill>
            <a:prstDash val="solid"/>
          </a:ln>
        </p:spPr>
      </p:sp>
      <p:sp>
        <p:nvSpPr>
          <p:cNvPr id="32" name="Text 30"/>
          <p:cNvSpPr/>
          <p:nvPr/>
        </p:nvSpPr>
        <p:spPr>
          <a:xfrm>
            <a:off x="731520" y="5248656"/>
            <a:ext cx="3200400" cy="292608"/>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Deep drawing</a:t>
            </a:r>
            <a:endParaRPr lang="en-US" sz="1100" dirty="0"/>
          </a:p>
        </p:txBody>
      </p:sp>
      <p:sp>
        <p:nvSpPr>
          <p:cNvPr id="33" name="Text 31"/>
          <p:cNvSpPr/>
          <p:nvPr/>
        </p:nvSpPr>
        <p:spPr>
          <a:xfrm>
            <a:off x="4041648" y="5248656"/>
            <a:ext cx="7223760" cy="292608"/>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Draw operations counted from the drawing-ratio table · wall uniformity · undercuts</a:t>
            </a:r>
            <a:endParaRPr lang="en-US" sz="1050" dirty="0"/>
          </a:p>
        </p:txBody>
      </p:sp>
      <p:sp>
        <p:nvSpPr>
          <p:cNvPr id="34" name="Text 32"/>
          <p:cNvSpPr/>
          <p:nvPr/>
        </p:nvSpPr>
        <p:spPr>
          <a:xfrm>
            <a:off x="731520" y="5650992"/>
            <a:ext cx="3200400" cy="292608"/>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Powder metallurgy, forging, extrusion</a:t>
            </a:r>
            <a:endParaRPr lang="en-US" sz="1100" dirty="0"/>
          </a:p>
        </p:txBody>
      </p:sp>
      <p:sp>
        <p:nvSpPr>
          <p:cNvPr id="35" name="Text 33"/>
          <p:cNvSpPr/>
          <p:nvPr/>
        </p:nvSpPr>
        <p:spPr>
          <a:xfrm>
            <a:off x="4041648" y="5650992"/>
            <a:ext cx="7223760" cy="292608"/>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Press depth, flash, die slenderness, overhang angle</a:t>
            </a:r>
            <a:endParaRPr lang="en-US" sz="1050" dirty="0"/>
          </a:p>
        </p:txBody>
      </p:sp>
      <p:sp>
        <p:nvSpPr>
          <p:cNvPr id="36" name="Text 34"/>
          <p:cNvSpPr/>
          <p:nvPr/>
        </p:nvSpPr>
        <p:spPr>
          <a:xfrm>
            <a:off x="566928" y="5998464"/>
            <a:ext cx="11055096" cy="347472"/>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Picked by the name a plant uses — HPDC, LPDC, GDC, VHPDC, SSM, PHS, MIM — grouped by commodity, with 20 casting alloys including Silafont-36, Castasil-37, ADC10, AM60B and ZAMAK 2.</a:t>
            </a:r>
            <a:endParaRPr lang="en-US" sz="1100" dirty="0"/>
          </a:p>
        </p:txBody>
      </p:sp>
      <p:sp>
        <p:nvSpPr>
          <p:cNvPr id="37" name="Text 35"/>
          <p:cNvSpPr/>
          <p:nvPr/>
        </p:nvSpPr>
        <p:spPr>
          <a:xfrm>
            <a:off x="566928" y="6437376"/>
            <a:ext cx="11055096" cy="237744"/>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BrainSpark DFM / DFA Studio  ·  Design-for-Manufacture &amp; Assembly  ·  5/16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55096" cy="219456"/>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LOCATED EVIDENCE</a:t>
            </a:r>
            <a:endParaRPr lang="en-US" sz="1100" dirty="0"/>
          </a:p>
        </p:txBody>
      </p:sp>
      <p:sp>
        <p:nvSpPr>
          <p:cNvPr id="3" name="Text 1"/>
          <p:cNvSpPr/>
          <p:nvPr/>
        </p:nvSpPr>
        <p:spPr>
          <a:xfrm>
            <a:off x="566928" y="768096"/>
            <a:ext cx="11055096" cy="64008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The finding, marked on the part that caused it</a:t>
            </a:r>
            <a:endParaRPr lang="en-US" sz="3200" dirty="0"/>
          </a:p>
        </p:txBody>
      </p:sp>
      <p:pic>
        <p:nvPicPr>
          <p:cNvPr id="4" name="Image 0" descr="preencoded.png">    </p:cNvPr>
          <p:cNvPicPr>
            <a:picLocks noChangeAspect="1"/>
          </p:cNvPicPr>
          <p:nvPr/>
        </p:nvPicPr>
        <p:blipFill>
          <a:blip r:embed="rId1"/>
          <a:stretch>
            <a:fillRect/>
          </a:stretch>
        </p:blipFill>
        <p:spPr>
          <a:xfrm>
            <a:off x="566928" y="1463040"/>
            <a:ext cx="5120640" cy="4903926"/>
          </a:xfrm>
          <a:prstGeom prst="rect">
            <a:avLst/>
          </a:prstGeom>
        </p:spPr>
      </p:pic>
      <p:sp>
        <p:nvSpPr>
          <p:cNvPr id="5" name="Text 2"/>
          <p:cNvSpPr/>
          <p:nvPr/>
        </p:nvSpPr>
        <p:spPr>
          <a:xfrm>
            <a:off x="5943600" y="1600200"/>
            <a:ext cx="5669280" cy="3108960"/>
          </a:xfrm>
          <a:prstGeom prst="rect">
            <a:avLst/>
          </a:prstGeom>
          <a:noFill/>
          <a:ln/>
        </p:spPr>
        <p:txBody>
          <a:bodyPr wrap="square" lIns="0" tIns="0" rIns="0" bIns="0" rtlCol="0" anchor="ctr"/>
          <a:lstStyle/>
          <a:p>
            <a:pPr indent="0" marL="0">
              <a:lnSpc>
                <a:spcPts val="2100"/>
              </a:lnSpc>
              <a:buNone/>
            </a:pPr>
            <a:r>
              <a:rPr lang="en-US" sz="1250" b="1" dirty="0">
                <a:solidFill>
                  <a:srgbClr val="374151"/>
                </a:solidFill>
                <a:latin typeface="Calibri" pitchFamily="34" charset="0"/>
                <a:ea typeface="Calibri" pitchFamily="34" charset="-122"/>
                <a:cs typeface="Calibri" pitchFamily="34" charset="-120"/>
              </a:rPr>
              <a:t>A ring on the geometry, numbered, with a legend beneath.</a:t>
            </a:r>
            <a:endParaRPr lang="en-US" sz="1250" dirty="0"/>
          </a:p>
          <a:p>
            <a:pPr indent="0" marL="0">
              <a:lnSpc>
                <a:spcPts val="2100"/>
              </a:lnSpc>
              <a:buNone/>
            </a:pPr>
            <a:r>
              <a:rPr lang="en-US" sz="1250" dirty="0">
                <a:solidFill>
                  <a:srgbClr val="374151"/>
                </a:solidFill>
                <a:latin typeface="Calibri" pitchFamily="34" charset="0"/>
                <a:ea typeface="Calibri" pitchFamily="34" charset="-122"/>
                <a:cs typeface="Calibri" pitchFamily="34" charset="-120"/>
              </a:rPr>
              <a:t>Every marker comes from a rule that FAILED — not from the geometry. An earlier version marked every rib and pocket the recogniser found, which put forty rings on a casting, most of them on features that broke nothing.</a:t>
            </a:r>
            <a:endParaRPr lang="en-US" sz="1250" dirty="0"/>
          </a:p>
          <a:p>
            <a:pPr indent="0" marL="0">
              <a:lnSpc>
                <a:spcPts val="2100"/>
              </a:lnSpc>
              <a:buNone/>
            </a:pPr>
            <a:endParaRPr lang="en-US" sz="1250" dirty="0"/>
          </a:p>
          <a:p>
            <a:pPr indent="0" marL="0">
              <a:lnSpc>
                <a:spcPts val="2100"/>
              </a:lnSpc>
              <a:buNone/>
            </a:pPr>
            <a:r>
              <a:rPr lang="en-US" sz="1250" dirty="0">
                <a:solidFill>
                  <a:srgbClr val="374151"/>
                </a:solidFill>
                <a:latin typeface="Calibri" pitchFamily="34" charset="0"/>
                <a:ea typeface="Calibri" pitchFamily="34" charset="-122"/>
                <a:cs typeface="Calibri" pitchFamily="34" charset="-120"/>
              </a:rPr>
              <a:t>Worst first, capped at eight, one ring per finding on its worst instance. Rings that would collide are pushed apart with a leader line back to the true point.</a:t>
            </a:r>
            <a:endParaRPr lang="en-US" sz="1250" dirty="0"/>
          </a:p>
          <a:p>
            <a:pPr indent="0" marL="0">
              <a:lnSpc>
                <a:spcPts val="2100"/>
              </a:lnSpc>
              <a:buNone/>
            </a:pPr>
            <a:endParaRPr lang="en-US" sz="1250" dirty="0"/>
          </a:p>
          <a:p>
            <a:pPr indent="0" marL="0">
              <a:lnSpc>
                <a:spcPts val="2100"/>
              </a:lnSpc>
              <a:buNone/>
            </a:pPr>
            <a:r>
              <a:rPr lang="en-US" sz="1250" dirty="0">
                <a:solidFill>
                  <a:srgbClr val="374151"/>
                </a:solidFill>
                <a:latin typeface="Calibri" pitchFamily="34" charset="0"/>
                <a:ea typeface="Calibri" pitchFamily="34" charset="-122"/>
                <a:cs typeface="Calibri" pitchFamily="34" charset="-120"/>
              </a:rPr>
              <a:t>And what CANNOT be marked is named: a tolerance is a property of the whole part, so the report says so instead of pinning it somewhere plausible.</a:t>
            </a:r>
            <a:endParaRPr lang="en-US" sz="1250" dirty="0"/>
          </a:p>
        </p:txBody>
      </p:sp>
      <p:sp>
        <p:nvSpPr>
          <p:cNvPr id="6" name="Shape 3"/>
          <p:cNvSpPr/>
          <p:nvPr/>
        </p:nvSpPr>
        <p:spPr>
          <a:xfrm>
            <a:off x="5943600" y="4892040"/>
            <a:ext cx="5669280" cy="914400"/>
          </a:xfrm>
          <a:prstGeom prst="roundRect">
            <a:avLst>
              <a:gd name="adj" fmla="val 6000"/>
            </a:avLst>
          </a:prstGeom>
          <a:solidFill>
            <a:srgbClr val="F1F5F9"/>
          </a:solidFill>
          <a:ln w="12700">
            <a:solidFill>
              <a:srgbClr val="F1F5F9"/>
            </a:solidFill>
            <a:prstDash val="solid"/>
          </a:ln>
        </p:spPr>
      </p:sp>
      <p:sp>
        <p:nvSpPr>
          <p:cNvPr id="7" name="Text 4"/>
          <p:cNvSpPr/>
          <p:nvPr/>
        </p:nvSpPr>
        <p:spPr>
          <a:xfrm>
            <a:off x="6144768" y="5047488"/>
            <a:ext cx="5303520" cy="640080"/>
          </a:xfrm>
          <a:prstGeom prst="rect">
            <a:avLst/>
          </a:prstGeom>
          <a:noFill/>
          <a:ln/>
        </p:spPr>
        <p:txBody>
          <a:bodyPr wrap="square" lIns="0" tIns="0" rIns="0" bIns="0" rtlCol="0" anchor="ctr"/>
          <a:lstStyle/>
          <a:p>
            <a:pPr indent="0" marL="0">
              <a:buNone/>
            </a:pPr>
            <a:r>
              <a:rPr lang="en-US" sz="1200" i="1" dirty="0">
                <a:solidFill>
                  <a:srgbClr val="1F2937"/>
                </a:solidFill>
                <a:latin typeface="Calibri" pitchFamily="34" charset="0"/>
                <a:ea typeface="Calibri" pitchFamily="34" charset="-122"/>
                <a:cs typeface="Calibri" pitchFamily="34" charset="-120"/>
              </a:rPr>
              <a:t>A supplier can act on this without opening CAD. That is the difference between a report that asserts and a report that shows.</a:t>
            </a:r>
            <a:endParaRPr lang="en-US" sz="1200" dirty="0"/>
          </a:p>
        </p:txBody>
      </p:sp>
      <p:sp>
        <p:nvSpPr>
          <p:cNvPr id="8" name="Text 5"/>
          <p:cNvSpPr/>
          <p:nvPr/>
        </p:nvSpPr>
        <p:spPr>
          <a:xfrm>
            <a:off x="566928" y="6437376"/>
            <a:ext cx="11055096" cy="237744"/>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BrainSpark DFM / DFA Studio  ·  Design-for-Manufacture &amp; Assembly  ·  6/16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55096" cy="219456"/>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FROM FINDINGS TO DECISIONS</a:t>
            </a:r>
            <a:endParaRPr lang="en-US" sz="1100" dirty="0"/>
          </a:p>
        </p:txBody>
      </p:sp>
      <p:sp>
        <p:nvSpPr>
          <p:cNvPr id="3" name="Text 1"/>
          <p:cNvSpPr/>
          <p:nvPr/>
        </p:nvSpPr>
        <p:spPr>
          <a:xfrm>
            <a:off x="566928" y="768096"/>
            <a:ext cx="11055096" cy="64008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Nobody leaves a review with a percentage</a:t>
            </a:r>
            <a:endParaRPr lang="en-US" sz="3200" dirty="0"/>
          </a:p>
        </p:txBody>
      </p:sp>
      <p:pic>
        <p:nvPicPr>
          <p:cNvPr id="4" name="Image 0" descr="preencoded.png">    </p:cNvPr>
          <p:cNvPicPr>
            <a:picLocks noChangeAspect="1"/>
          </p:cNvPicPr>
          <p:nvPr/>
        </p:nvPicPr>
        <p:blipFill>
          <a:blip r:embed="rId1"/>
          <a:stretch>
            <a:fillRect/>
          </a:stretch>
        </p:blipFill>
        <p:spPr>
          <a:xfrm>
            <a:off x="6537960" y="1463040"/>
            <a:ext cx="4937760" cy="4728786"/>
          </a:xfrm>
          <a:prstGeom prst="rect">
            <a:avLst/>
          </a:prstGeom>
        </p:spPr>
      </p:pic>
      <p:sp>
        <p:nvSpPr>
          <p:cNvPr id="5" name="Text 2"/>
          <p:cNvSpPr/>
          <p:nvPr/>
        </p:nvSpPr>
        <p:spPr>
          <a:xfrm>
            <a:off x="566928" y="1554480"/>
            <a:ext cx="5394960" cy="914400"/>
          </a:xfrm>
          <a:prstGeom prst="rect">
            <a:avLst/>
          </a:prstGeom>
          <a:noFill/>
          <a:ln/>
        </p:spPr>
        <p:txBody>
          <a:bodyPr wrap="square" lIns="0" tIns="0" rIns="0" bIns="0" rtlCol="0" anchor="ctr"/>
          <a:lstStyle/>
          <a:p>
            <a:pPr indent="0" marL="0">
              <a:lnSpc>
                <a:spcPts val="2100"/>
              </a:lnSpc>
              <a:buNone/>
            </a:pPr>
            <a:r>
              <a:rPr lang="en-US" sz="1300" b="1" dirty="0">
                <a:solidFill>
                  <a:srgbClr val="374151"/>
                </a:solidFill>
                <a:latin typeface="Calibri" pitchFamily="34" charset="0"/>
                <a:ea typeface="Calibri" pitchFamily="34" charset="-122"/>
                <a:cs typeface="Calibri" pitchFamily="34" charset="-120"/>
              </a:rPr>
              <a:t>They leave with an owner and a decision.</a:t>
            </a:r>
            <a:endParaRPr lang="en-US" sz="1300" dirty="0"/>
          </a:p>
          <a:p>
            <a:pPr indent="0" marL="0">
              <a:lnSpc>
                <a:spcPts val="2100"/>
              </a:lnSpc>
              <a:buNone/>
            </a:pPr>
            <a:r>
              <a:rPr lang="en-US" sz="1300" dirty="0">
                <a:solidFill>
                  <a:srgbClr val="374151"/>
                </a:solidFill>
                <a:latin typeface="Calibri" pitchFamily="34" charset="0"/>
                <a:ea typeface="Calibri" pitchFamily="34" charset="-122"/>
                <a:cs typeface="Calibri" pitchFamily="34" charset="-120"/>
              </a:rPr>
              <a:t>The report used to say what was wrong and what it cost, then stop. It now closes with an action list.</a:t>
            </a:r>
            <a:endParaRPr lang="en-US" sz="1300" dirty="0"/>
          </a:p>
          <a:p>
            <a:pPr indent="0" marL="0">
              <a:lnSpc>
                <a:spcPts val="2100"/>
              </a:lnSpc>
              <a:buNone/>
            </a:pPr>
            <a:endParaRPr lang="en-US" sz="1300" dirty="0"/>
          </a:p>
        </p:txBody>
      </p:sp>
      <p:sp>
        <p:nvSpPr>
          <p:cNvPr id="6" name="Shape 3"/>
          <p:cNvSpPr/>
          <p:nvPr/>
        </p:nvSpPr>
        <p:spPr>
          <a:xfrm>
            <a:off x="566928" y="2560320"/>
            <a:ext cx="256032" cy="256032"/>
          </a:xfrm>
          <a:prstGeom prst="ellipse">
            <a:avLst/>
          </a:prstGeom>
          <a:solidFill>
            <a:srgbClr val="F59E0B"/>
          </a:solidFill>
          <a:ln w="12700">
            <a:solidFill>
              <a:srgbClr val="F59E0B"/>
            </a:solidFill>
            <a:prstDash val="solid"/>
          </a:ln>
        </p:spPr>
      </p:sp>
      <p:sp>
        <p:nvSpPr>
          <p:cNvPr id="7" name="Text 4"/>
          <p:cNvSpPr/>
          <p:nvPr/>
        </p:nvSpPr>
        <p:spPr>
          <a:xfrm>
            <a:off x="987552" y="2542032"/>
            <a:ext cx="5029200" cy="27432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The action is the rule's own fix text</a:t>
            </a:r>
            <a:endParaRPr lang="en-US" sz="1250" dirty="0"/>
          </a:p>
        </p:txBody>
      </p:sp>
      <p:sp>
        <p:nvSpPr>
          <p:cNvPr id="8" name="Text 5"/>
          <p:cNvSpPr/>
          <p:nvPr/>
        </p:nvSpPr>
        <p:spPr>
          <a:xfrm>
            <a:off x="987552" y="2816352"/>
            <a:ext cx="5029200" cy="50292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Nothing on that page was authored by the tool.</a:t>
            </a:r>
            <a:endParaRPr lang="en-US" sz="1100" dirty="0"/>
          </a:p>
        </p:txBody>
      </p:sp>
      <p:sp>
        <p:nvSpPr>
          <p:cNvPr id="9" name="Shape 6"/>
          <p:cNvSpPr/>
          <p:nvPr/>
        </p:nvSpPr>
        <p:spPr>
          <a:xfrm>
            <a:off x="566928" y="3429000"/>
            <a:ext cx="256032" cy="256032"/>
          </a:xfrm>
          <a:prstGeom prst="ellipse">
            <a:avLst/>
          </a:prstGeom>
          <a:solidFill>
            <a:srgbClr val="F59E0B"/>
          </a:solidFill>
          <a:ln w="12700">
            <a:solidFill>
              <a:srgbClr val="F59E0B"/>
            </a:solidFill>
            <a:prstDash val="solid"/>
          </a:ln>
        </p:spPr>
      </p:sp>
      <p:sp>
        <p:nvSpPr>
          <p:cNvPr id="10" name="Text 7"/>
          <p:cNvSpPr/>
          <p:nvPr/>
        </p:nvSpPr>
        <p:spPr>
          <a:xfrm>
            <a:off x="987552" y="3410712"/>
            <a:ext cx="5029200" cy="27432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The owner is a ROLE, not a name</a:t>
            </a:r>
            <a:endParaRPr lang="en-US" sz="1250" dirty="0"/>
          </a:p>
        </p:txBody>
      </p:sp>
      <p:sp>
        <p:nvSpPr>
          <p:cNvPr id="11" name="Text 8"/>
          <p:cNvSpPr/>
          <p:nvPr/>
        </p:nvSpPr>
        <p:spPr>
          <a:xfrm>
            <a:off x="987552" y="3685032"/>
            <a:ext cx="5029200" cy="50292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 slide is a toolmaker's problem; a wall thickness is a designer's. The tool does not know who works here.</a:t>
            </a:r>
            <a:endParaRPr lang="en-US" sz="1100" dirty="0"/>
          </a:p>
        </p:txBody>
      </p:sp>
      <p:sp>
        <p:nvSpPr>
          <p:cNvPr id="12" name="Shape 9"/>
          <p:cNvSpPr/>
          <p:nvPr/>
        </p:nvSpPr>
        <p:spPr>
          <a:xfrm>
            <a:off x="566928" y="4297680"/>
            <a:ext cx="256032" cy="256032"/>
          </a:xfrm>
          <a:prstGeom prst="ellipse">
            <a:avLst/>
          </a:prstGeom>
          <a:solidFill>
            <a:srgbClr val="F59E0B"/>
          </a:solidFill>
          <a:ln w="12700">
            <a:solidFill>
              <a:srgbClr val="F59E0B"/>
            </a:solidFill>
            <a:prstDash val="solid"/>
          </a:ln>
        </p:spPr>
      </p:sp>
      <p:sp>
        <p:nvSpPr>
          <p:cNvPr id="13" name="Text 10"/>
          <p:cNvSpPr/>
          <p:nvPr/>
        </p:nvSpPr>
        <p:spPr>
          <a:xfrm>
            <a:off x="987552" y="4279392"/>
            <a:ext cx="5029200" cy="27432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The due date is blank on purpose</a:t>
            </a:r>
            <a:endParaRPr lang="en-US" sz="1250" dirty="0"/>
          </a:p>
        </p:txBody>
      </p:sp>
      <p:sp>
        <p:nvSpPr>
          <p:cNvPr id="14" name="Text 11"/>
          <p:cNvSpPr/>
          <p:nvPr/>
        </p:nvSpPr>
        <p:spPr>
          <a:xfrm>
            <a:off x="987552" y="4553712"/>
            <a:ext cx="5029200" cy="50292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 date this tool invented would be its least credible column.</a:t>
            </a:r>
            <a:endParaRPr lang="en-US" sz="1100" dirty="0"/>
          </a:p>
        </p:txBody>
      </p:sp>
      <p:sp>
        <p:nvSpPr>
          <p:cNvPr id="15" name="Shape 12"/>
          <p:cNvSpPr/>
          <p:nvPr/>
        </p:nvSpPr>
        <p:spPr>
          <a:xfrm>
            <a:off x="566928" y="5166360"/>
            <a:ext cx="256032" cy="256032"/>
          </a:xfrm>
          <a:prstGeom prst="ellipse">
            <a:avLst/>
          </a:prstGeom>
          <a:solidFill>
            <a:srgbClr val="F59E0B"/>
          </a:solidFill>
          <a:ln w="12700">
            <a:solidFill>
              <a:srgbClr val="F59E0B"/>
            </a:solidFill>
            <a:prstDash val="solid"/>
          </a:ln>
        </p:spPr>
      </p:sp>
      <p:sp>
        <p:nvSpPr>
          <p:cNvPr id="16" name="Text 13"/>
          <p:cNvSpPr/>
          <p:nvPr/>
        </p:nvSpPr>
        <p:spPr>
          <a:xfrm>
            <a:off x="987552" y="5148072"/>
            <a:ext cx="5029200" cy="274320"/>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Rolled up by owner</a:t>
            </a:r>
            <a:endParaRPr lang="en-US" sz="1250" dirty="0"/>
          </a:p>
        </p:txBody>
      </p:sp>
      <p:sp>
        <p:nvSpPr>
          <p:cNvPr id="17" name="Text 14"/>
          <p:cNvSpPr/>
          <p:nvPr/>
        </p:nvSpPr>
        <p:spPr>
          <a:xfrm>
            <a:off x="987552" y="5422392"/>
            <a:ext cx="5029200" cy="50292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So each role can be sent their own rows out of the workbook.</a:t>
            </a:r>
            <a:endParaRPr lang="en-US" sz="1100" dirty="0"/>
          </a:p>
        </p:txBody>
      </p:sp>
      <p:sp>
        <p:nvSpPr>
          <p:cNvPr id="18" name="Text 15"/>
          <p:cNvSpPr/>
          <p:nvPr/>
        </p:nvSpPr>
        <p:spPr>
          <a:xfrm>
            <a:off x="566928" y="6437376"/>
            <a:ext cx="11055096" cy="237744"/>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BrainSpark DFM / DFA Studio  ·  Design-for-Manufacture &amp; Assembly  ·  7/16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55096" cy="219456"/>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REVISION COMPARISON</a:t>
            </a:r>
            <a:endParaRPr lang="en-US" sz="1100" dirty="0"/>
          </a:p>
        </p:txBody>
      </p:sp>
      <p:sp>
        <p:nvSpPr>
          <p:cNvPr id="3" name="Text 1"/>
          <p:cNvSpPr/>
          <p:nvPr/>
        </p:nvSpPr>
        <p:spPr>
          <a:xfrm>
            <a:off x="566928" y="768096"/>
            <a:ext cx="11055096" cy="64008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Did the changes we agreed last month actually work?</a:t>
            </a:r>
            <a:endParaRPr lang="en-US" sz="3200" dirty="0"/>
          </a:p>
        </p:txBody>
      </p:sp>
      <p:pic>
        <p:nvPicPr>
          <p:cNvPr id="4" name="Image 0" descr="preencoded.png">    </p:cNvPr>
          <p:cNvPicPr>
            <a:picLocks noChangeAspect="1"/>
          </p:cNvPicPr>
          <p:nvPr/>
        </p:nvPicPr>
        <p:blipFill>
          <a:blip r:embed="rId1"/>
          <a:stretch>
            <a:fillRect/>
          </a:stretch>
        </p:blipFill>
        <p:spPr>
          <a:xfrm>
            <a:off x="566928" y="1481328"/>
            <a:ext cx="4937760" cy="4728786"/>
          </a:xfrm>
          <a:prstGeom prst="rect">
            <a:avLst/>
          </a:prstGeom>
        </p:spPr>
      </p:pic>
      <p:sp>
        <p:nvSpPr>
          <p:cNvPr id="5" name="Text 2"/>
          <p:cNvSpPr/>
          <p:nvPr/>
        </p:nvSpPr>
        <p:spPr>
          <a:xfrm>
            <a:off x="6035040" y="1554480"/>
            <a:ext cx="5577840" cy="731520"/>
          </a:xfrm>
          <a:prstGeom prst="rect">
            <a:avLst/>
          </a:prstGeom>
          <a:noFill/>
          <a:ln/>
        </p:spPr>
        <p:txBody>
          <a:bodyPr wrap="square" lIns="0" tIns="0" rIns="0" bIns="0" rtlCol="0" anchor="ctr"/>
          <a:lstStyle/>
          <a:p>
            <a:pPr indent="0" marL="0">
              <a:lnSpc>
                <a:spcPts val="2100"/>
              </a:lnSpc>
              <a:buNone/>
            </a:pPr>
            <a:r>
              <a:rPr lang="en-US" sz="1300" dirty="0">
                <a:solidFill>
                  <a:srgbClr val="374151"/>
                </a:solidFill>
                <a:latin typeface="Calibri" pitchFamily="34" charset="0"/>
                <a:ea typeface="Calibri" pitchFamily="34" charset="-122"/>
                <a:cs typeface="Calibri" pitchFamily="34" charset="-120"/>
              </a:rPr>
              <a:t>Every report used to be a snapshot. Reviewers diffed two PDFs by eye — which is how a closed finding gets missed and a regression ships.</a:t>
            </a:r>
            <a:endParaRPr lang="en-US" sz="1300" dirty="0"/>
          </a:p>
        </p:txBody>
      </p:sp>
      <p:sp>
        <p:nvSpPr>
          <p:cNvPr id="6" name="Shape 3"/>
          <p:cNvSpPr/>
          <p:nvPr/>
        </p:nvSpPr>
        <p:spPr>
          <a:xfrm>
            <a:off x="6035040" y="2505456"/>
            <a:ext cx="91440" cy="566928"/>
          </a:xfrm>
          <a:prstGeom prst="rect">
            <a:avLst/>
          </a:prstGeom>
          <a:solidFill>
            <a:srgbClr val="059669"/>
          </a:solidFill>
          <a:ln w="12700">
            <a:solidFill>
              <a:srgbClr val="059669"/>
            </a:solidFill>
            <a:prstDash val="solid"/>
          </a:ln>
        </p:spPr>
      </p:sp>
      <p:sp>
        <p:nvSpPr>
          <p:cNvPr id="7" name="Text 4"/>
          <p:cNvSpPr/>
          <p:nvPr/>
        </p:nvSpPr>
        <p:spPr>
          <a:xfrm>
            <a:off x="6272784" y="2450592"/>
            <a:ext cx="5303520" cy="256032"/>
          </a:xfrm>
          <a:prstGeom prst="rect">
            <a:avLst/>
          </a:prstGeom>
          <a:noFill/>
          <a:ln/>
        </p:spPr>
        <p:txBody>
          <a:bodyPr wrap="square" lIns="0" tIns="0" rIns="0" bIns="0"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FIXED</a:t>
            </a:r>
            <a:endParaRPr lang="en-US" sz="1200" dirty="0"/>
          </a:p>
        </p:txBody>
      </p:sp>
      <p:sp>
        <p:nvSpPr>
          <p:cNvPr id="8" name="Text 5"/>
          <p:cNvSpPr/>
          <p:nvPr/>
        </p:nvSpPr>
        <p:spPr>
          <a:xfrm>
            <a:off x="6272784" y="2706624"/>
            <a:ext cx="5303520" cy="54864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The rule now passes. This is the only state that frees money.</a:t>
            </a:r>
            <a:endParaRPr lang="en-US" sz="1050" dirty="0"/>
          </a:p>
        </p:txBody>
      </p:sp>
      <p:sp>
        <p:nvSpPr>
          <p:cNvPr id="9" name="Shape 6"/>
          <p:cNvSpPr/>
          <p:nvPr/>
        </p:nvSpPr>
        <p:spPr>
          <a:xfrm>
            <a:off x="6035040" y="3346704"/>
            <a:ext cx="91440" cy="566928"/>
          </a:xfrm>
          <a:prstGeom prst="rect">
            <a:avLst/>
          </a:prstGeom>
          <a:solidFill>
            <a:srgbClr val="6B7280"/>
          </a:solidFill>
          <a:ln w="12700">
            <a:solidFill>
              <a:srgbClr val="6B7280"/>
            </a:solidFill>
            <a:prstDash val="solid"/>
          </a:ln>
        </p:spPr>
      </p:sp>
      <p:sp>
        <p:nvSpPr>
          <p:cNvPr id="10" name="Text 7"/>
          <p:cNvSpPr/>
          <p:nvPr/>
        </p:nvSpPr>
        <p:spPr>
          <a:xfrm>
            <a:off x="6272784" y="3291840"/>
            <a:ext cx="5303520" cy="256032"/>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NOT FIXED</a:t>
            </a:r>
            <a:endParaRPr lang="en-US" sz="1200" dirty="0"/>
          </a:p>
        </p:txBody>
      </p:sp>
      <p:sp>
        <p:nvSpPr>
          <p:cNvPr id="11" name="Text 8"/>
          <p:cNvSpPr/>
          <p:nvPr/>
        </p:nvSpPr>
        <p:spPr>
          <a:xfrm>
            <a:off x="6272784" y="3547872"/>
            <a:ext cx="5303520" cy="54864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It stopped failing because the measurement disappeared. Counting this as a win is the most dangerous thing the feature could do — so it never does.</a:t>
            </a:r>
            <a:endParaRPr lang="en-US" sz="1050" dirty="0"/>
          </a:p>
        </p:txBody>
      </p:sp>
      <p:sp>
        <p:nvSpPr>
          <p:cNvPr id="12" name="Shape 9"/>
          <p:cNvSpPr/>
          <p:nvPr/>
        </p:nvSpPr>
        <p:spPr>
          <a:xfrm>
            <a:off x="6035040" y="4187952"/>
            <a:ext cx="91440" cy="566928"/>
          </a:xfrm>
          <a:prstGeom prst="rect">
            <a:avLst/>
          </a:prstGeom>
          <a:solidFill>
            <a:srgbClr val="0D9488"/>
          </a:solidFill>
          <a:ln w="12700">
            <a:solidFill>
              <a:srgbClr val="0D9488"/>
            </a:solidFill>
            <a:prstDash val="solid"/>
          </a:ln>
        </p:spPr>
      </p:sp>
      <p:sp>
        <p:nvSpPr>
          <p:cNvPr id="13" name="Text 10"/>
          <p:cNvSpPr/>
          <p:nvPr/>
        </p:nvSpPr>
        <p:spPr>
          <a:xfrm>
            <a:off x="6272784" y="4133088"/>
            <a:ext cx="5303520" cy="256032"/>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NEWLY VISIBLE</a:t>
            </a:r>
            <a:endParaRPr lang="en-US" sz="1200" dirty="0"/>
          </a:p>
        </p:txBody>
      </p:sp>
      <p:sp>
        <p:nvSpPr>
          <p:cNvPr id="14" name="Text 11"/>
          <p:cNvSpPr/>
          <p:nvPr/>
        </p:nvSpPr>
        <p:spPr>
          <a:xfrm>
            <a:off x="6272784" y="4389120"/>
            <a:ext cx="5303520" cy="54864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Could not be judged before, fails now. Not a regression — it became measurable.</a:t>
            </a:r>
            <a:endParaRPr lang="en-US" sz="1050" dirty="0"/>
          </a:p>
        </p:txBody>
      </p:sp>
      <p:sp>
        <p:nvSpPr>
          <p:cNvPr id="15" name="Shape 12"/>
          <p:cNvSpPr/>
          <p:nvPr/>
        </p:nvSpPr>
        <p:spPr>
          <a:xfrm>
            <a:off x="6035040" y="5029200"/>
            <a:ext cx="91440" cy="566928"/>
          </a:xfrm>
          <a:prstGeom prst="rect">
            <a:avLst/>
          </a:prstGeom>
          <a:solidFill>
            <a:srgbClr val="DC2626"/>
          </a:solidFill>
          <a:ln w="12700">
            <a:solidFill>
              <a:srgbClr val="DC2626"/>
            </a:solidFill>
            <a:prstDash val="solid"/>
          </a:ln>
        </p:spPr>
      </p:sp>
      <p:sp>
        <p:nvSpPr>
          <p:cNvPr id="16" name="Text 13"/>
          <p:cNvSpPr/>
          <p:nvPr/>
        </p:nvSpPr>
        <p:spPr>
          <a:xfrm>
            <a:off x="6272784" y="4974336"/>
            <a:ext cx="5303520" cy="256032"/>
          </a:xfrm>
          <a:prstGeom prst="rect">
            <a:avLst/>
          </a:prstGeom>
          <a:noFill/>
          <a:ln/>
        </p:spPr>
        <p:txBody>
          <a:bodyPr wrap="square" lIns="0" tIns="0" rIns="0" bIns="0" rtlCol="0" anchor="ctr"/>
          <a:lstStyle/>
          <a:p>
            <a:pPr indent="0" marL="0">
              <a:buNone/>
            </a:pPr>
            <a:r>
              <a:rPr lang="en-US" sz="1200" b="1" dirty="0">
                <a:solidFill>
                  <a:srgbClr val="DC2626"/>
                </a:solidFill>
                <a:latin typeface="Calibri" pitchFamily="34" charset="0"/>
                <a:ea typeface="Calibri" pitchFamily="34" charset="-122"/>
                <a:cs typeface="Calibri" pitchFamily="34" charset="-120"/>
              </a:rPr>
              <a:t>NEW</a:t>
            </a:r>
            <a:endParaRPr lang="en-US" sz="1200" dirty="0"/>
          </a:p>
        </p:txBody>
      </p:sp>
      <p:sp>
        <p:nvSpPr>
          <p:cNvPr id="17" name="Text 14"/>
          <p:cNvSpPr/>
          <p:nvPr/>
        </p:nvSpPr>
        <p:spPr>
          <a:xfrm>
            <a:off x="6272784" y="5230368"/>
            <a:ext cx="5303520" cy="548640"/>
          </a:xfrm>
          <a:prstGeom prst="rect">
            <a:avLst/>
          </a:prstGeom>
          <a:noFill/>
          <a:ln/>
        </p:spPr>
        <p:txBody>
          <a:bodyPr wrap="square" lIns="0" tIns="0" rIns="0" bIns="0" rtlCol="0" anchor="ctr"/>
          <a:lstStyle/>
          <a:p>
            <a:pPr indent="0" marL="0">
              <a:buNone/>
            </a:pPr>
            <a:r>
              <a:rPr lang="en-US" sz="1050" dirty="0">
                <a:solidFill>
                  <a:srgbClr val="374151"/>
                </a:solidFill>
                <a:latin typeface="Calibri" pitchFamily="34" charset="0"/>
                <a:ea typeface="Calibri" pitchFamily="34" charset="-122"/>
                <a:cs typeface="Calibri" pitchFamily="34" charset="-120"/>
              </a:rPr>
              <a:t>Was passing, fails now. The only genuine regression.</a:t>
            </a:r>
            <a:endParaRPr lang="en-US" sz="1050" dirty="0"/>
          </a:p>
        </p:txBody>
      </p:sp>
      <p:sp>
        <p:nvSpPr>
          <p:cNvPr id="18" name="Text 15"/>
          <p:cNvSpPr/>
          <p:nvPr/>
        </p:nvSpPr>
        <p:spPr>
          <a:xfrm>
            <a:off x="6035040" y="5833872"/>
            <a:ext cx="5577840" cy="475488"/>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Comparing two different processes, or two different alloys, is warned about — not silently tabulated.</a:t>
            </a:r>
            <a:endParaRPr lang="en-US" sz="1100" dirty="0"/>
          </a:p>
        </p:txBody>
      </p:sp>
      <p:sp>
        <p:nvSpPr>
          <p:cNvPr id="19" name="Text 16"/>
          <p:cNvSpPr/>
          <p:nvPr/>
        </p:nvSpPr>
        <p:spPr>
          <a:xfrm>
            <a:off x="566928" y="6437376"/>
            <a:ext cx="11055096" cy="237744"/>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BrainSpark DFM / DFA Studio  ·  Design-for-Manufacture &amp; Assembly  ·  8/16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55096" cy="219456"/>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COST, NOT JUST CONFORMANCE</a:t>
            </a:r>
            <a:endParaRPr lang="en-US" sz="1100" dirty="0"/>
          </a:p>
        </p:txBody>
      </p:sp>
      <p:sp>
        <p:nvSpPr>
          <p:cNvPr id="3" name="Text 1"/>
          <p:cNvSpPr/>
          <p:nvPr/>
        </p:nvSpPr>
        <p:spPr>
          <a:xfrm>
            <a:off x="566928" y="768096"/>
            <a:ext cx="11055096" cy="64008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Findings are priced, and the process is costed</a:t>
            </a:r>
            <a:endParaRPr lang="en-US" sz="3200" dirty="0"/>
          </a:p>
        </p:txBody>
      </p:sp>
      <p:pic>
        <p:nvPicPr>
          <p:cNvPr id="4" name="Image 0" descr="preencoded.png">    </p:cNvPr>
          <p:cNvPicPr>
            <a:picLocks noChangeAspect="1"/>
          </p:cNvPicPr>
          <p:nvPr/>
        </p:nvPicPr>
        <p:blipFill>
          <a:blip r:embed="rId1"/>
          <a:stretch>
            <a:fillRect/>
          </a:stretch>
        </p:blipFill>
        <p:spPr>
          <a:xfrm>
            <a:off x="6537960" y="1463040"/>
            <a:ext cx="4937760" cy="4728786"/>
          </a:xfrm>
          <a:prstGeom prst="rect">
            <a:avLst/>
          </a:prstGeom>
        </p:spPr>
      </p:pic>
      <p:sp>
        <p:nvSpPr>
          <p:cNvPr id="5" name="Text 2"/>
          <p:cNvSpPr/>
          <p:nvPr/>
        </p:nvSpPr>
        <p:spPr>
          <a:xfrm>
            <a:off x="566928" y="1554480"/>
            <a:ext cx="5486400" cy="2743200"/>
          </a:xfrm>
          <a:prstGeom prst="rect">
            <a:avLst/>
          </a:prstGeom>
          <a:noFill/>
          <a:ln/>
        </p:spPr>
        <p:txBody>
          <a:bodyPr wrap="square" lIns="0" tIns="0" rIns="0" bIns="0" rtlCol="0" anchor="ctr"/>
          <a:lstStyle/>
          <a:p>
            <a:pPr indent="0" marL="0">
              <a:lnSpc>
                <a:spcPts val="2100"/>
              </a:lnSpc>
              <a:buNone/>
            </a:pPr>
            <a:r>
              <a:rPr lang="en-US" sz="1250" b="1" dirty="0">
                <a:solidFill>
                  <a:srgbClr val="374151"/>
                </a:solidFill>
                <a:latin typeface="Calibri" pitchFamily="34" charset="0"/>
                <a:ea typeface="Calibri" pitchFamily="34" charset="-122"/>
                <a:cs typeface="Calibri" pitchFamily="34" charset="-120"/>
              </a:rPr>
              <a:t>Every finding carries what it is worth.</a:t>
            </a:r>
            <a:endParaRPr lang="en-US" sz="1250" dirty="0"/>
          </a:p>
          <a:p>
            <a:pPr indent="0" marL="0">
              <a:lnSpc>
                <a:spcPts val="2100"/>
              </a:lnSpc>
              <a:buNone/>
            </a:pPr>
            <a:r>
              <a:rPr lang="en-US" sz="1250" dirty="0">
                <a:solidFill>
                  <a:srgbClr val="374151"/>
                </a:solidFill>
                <a:latin typeface="Calibri" pitchFamily="34" charset="0"/>
                <a:ea typeface="Calibri" pitchFamily="34" charset="-122"/>
                <a:cs typeface="Calibri" pitchFamily="34" charset="-120"/>
              </a:rPr>
              <a:t>The same should-cost engines that quote the part are re-run with the geometry as drawn and again with the rule satisfied. The difference is the finding's value, per part and per year. Where the engines cannot price something — a slide, a die-life effect — the report says so and cites the literature range instead of inventing one.</a:t>
            </a:r>
            <a:endParaRPr lang="en-US" sz="1250" dirty="0"/>
          </a:p>
          <a:p>
            <a:pPr indent="0" marL="0">
              <a:lnSpc>
                <a:spcPts val="2100"/>
              </a:lnSpc>
              <a:buNone/>
            </a:pPr>
            <a:endParaRPr lang="en-US" sz="1250" dirty="0"/>
          </a:p>
          <a:p>
            <a:pPr indent="0" marL="0">
              <a:lnSpc>
                <a:spcPts val="2100"/>
              </a:lnSpc>
              <a:buNone/>
            </a:pPr>
            <a:r>
              <a:rPr lang="en-US" sz="1250" b="1" dirty="0">
                <a:solidFill>
                  <a:srgbClr val="374151"/>
                </a:solidFill>
                <a:latin typeface="Calibri" pitchFamily="34" charset="0"/>
                <a:ea typeface="Calibri" pitchFamily="34" charset="-122"/>
                <a:cs typeface="Calibri" pitchFamily="34" charset="-120"/>
              </a:rPr>
              <a:t>And the route table asks the harder question:</a:t>
            </a:r>
            <a:endParaRPr lang="en-US" sz="1250" dirty="0"/>
          </a:p>
          <a:p>
            <a:pPr indent="0" marL="0">
              <a:lnSpc>
                <a:spcPts val="2100"/>
              </a:lnSpc>
              <a:buNone/>
            </a:pPr>
            <a:r>
              <a:rPr lang="en-US" sz="1250" dirty="0">
                <a:solidFill>
                  <a:srgbClr val="374151"/>
                </a:solidFill>
                <a:latin typeface="Calibri" pitchFamily="34" charset="0"/>
                <a:ea typeface="Calibri" pitchFamily="34" charset="-122"/>
                <a:cs typeface="Calibri" pitchFamily="34" charset="-120"/>
              </a:rPr>
              <a:t>the same geometry run through every other process's own rules, priced, carbon-scored, with the reason each alternative is or is not viable.</a:t>
            </a:r>
            <a:endParaRPr lang="en-US" sz="1250" dirty="0"/>
          </a:p>
        </p:txBody>
      </p:sp>
      <p:sp>
        <p:nvSpPr>
          <p:cNvPr id="6" name="Shape 3"/>
          <p:cNvSpPr/>
          <p:nvPr/>
        </p:nvSpPr>
        <p:spPr>
          <a:xfrm>
            <a:off x="566928" y="4526280"/>
            <a:ext cx="5486400" cy="1325880"/>
          </a:xfrm>
          <a:prstGeom prst="roundRect">
            <a:avLst>
              <a:gd name="adj" fmla="val 4138"/>
            </a:avLst>
          </a:prstGeom>
          <a:solidFill>
            <a:srgbClr val="0D1F33"/>
          </a:solidFill>
          <a:ln w="12700">
            <a:solidFill>
              <a:srgbClr val="0D1F33"/>
            </a:solidFill>
            <a:prstDash val="solid"/>
          </a:ln>
        </p:spPr>
      </p:sp>
      <p:sp>
        <p:nvSpPr>
          <p:cNvPr id="7" name="Text 4"/>
          <p:cNvSpPr/>
          <p:nvPr/>
        </p:nvSpPr>
        <p:spPr>
          <a:xfrm>
            <a:off x="822960" y="4690872"/>
            <a:ext cx="4937760" cy="219456"/>
          </a:xfrm>
          <a:prstGeom prst="rect">
            <a:avLst/>
          </a:prstGeom>
          <a:noFill/>
          <a:ln/>
        </p:spPr>
        <p:txBody>
          <a:bodyPr wrap="square" lIns="0" tIns="0" rIns="0" bIns="0" rtlCol="0" anchor="ctr"/>
          <a:lstStyle/>
          <a:p>
            <a:pPr indent="0" marL="0">
              <a:buNone/>
            </a:pPr>
            <a:r>
              <a:rPr lang="en-US" sz="1000" b="1" spc="150" kern="0" dirty="0">
                <a:solidFill>
                  <a:srgbClr val="F59E0B"/>
                </a:solidFill>
                <a:latin typeface="Calibri" pitchFamily="34" charset="0"/>
                <a:ea typeface="Calibri" pitchFamily="34" charset="-122"/>
                <a:cs typeface="Calibri" pitchFamily="34" charset="-120"/>
              </a:rPr>
              <a:t>NEW THIS MONTH — SHEET METAL</a:t>
            </a:r>
            <a:endParaRPr lang="en-US" sz="1000" dirty="0"/>
          </a:p>
        </p:txBody>
      </p:sp>
      <p:sp>
        <p:nvSpPr>
          <p:cNvPr id="8" name="Text 5"/>
          <p:cNvSpPr/>
          <p:nvPr/>
        </p:nvSpPr>
        <p:spPr>
          <a:xfrm>
            <a:off x="822960" y="4937760"/>
            <a:ext cx="493776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Press class, strip utilisation and draw operations</a:t>
            </a:r>
            <a:endParaRPr lang="en-US" sz="1400" dirty="0"/>
          </a:p>
        </p:txBody>
      </p:sp>
      <p:sp>
        <p:nvSpPr>
          <p:cNvPr id="9" name="Text 6"/>
          <p:cNvSpPr/>
          <p:nvPr/>
        </p:nvSpPr>
        <p:spPr>
          <a:xfrm>
            <a:off x="822960" y="5266944"/>
            <a:ext cx="5029200"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Material is the largest cost in a stamping and our report never showed it. Utilisation now sits on page two, against the 70% industry target.</a:t>
            </a:r>
            <a:endParaRPr lang="en-US" sz="1050" dirty="0"/>
          </a:p>
        </p:txBody>
      </p:sp>
      <p:sp>
        <p:nvSpPr>
          <p:cNvPr id="10" name="Text 7"/>
          <p:cNvSpPr/>
          <p:nvPr/>
        </p:nvSpPr>
        <p:spPr>
          <a:xfrm>
            <a:off x="566928" y="6437376"/>
            <a:ext cx="11055096" cy="237744"/>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BrainSpark DFM / DFA Studio  ·  Design-for-Manufacture &amp; Assembly  ·  9/16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F33"/>
        </a:solidFill>
      </p:bgPr>
    </p:bg>
    <p:spTree>
      <p:nvGrpSpPr>
        <p:cNvPr id="1" name=""/>
        <p:cNvGrpSpPr/>
        <p:nvPr/>
      </p:nvGrpSpPr>
      <p:grpSpPr>
        <a:xfrm>
          <a:off x="0" y="0"/>
          <a:ext cx="0" cy="0"/>
          <a:chOff x="0" y="0"/>
          <a:chExt cx="0" cy="0"/>
        </a:xfrm>
      </p:grpSpPr>
      <p:sp>
        <p:nvSpPr>
          <p:cNvPr id="2" name="Text 0"/>
          <p:cNvSpPr/>
          <p:nvPr/>
        </p:nvSpPr>
        <p:spPr>
          <a:xfrm>
            <a:off x="566928" y="502920"/>
            <a:ext cx="10058400" cy="237744"/>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HOW WE KNOW IT IS RIGHT</a:t>
            </a:r>
            <a:endParaRPr lang="en-US" sz="1100" dirty="0"/>
          </a:p>
        </p:txBody>
      </p:sp>
      <p:sp>
        <p:nvSpPr>
          <p:cNvPr id="3" name="Text 1"/>
          <p:cNvSpPr/>
          <p:nvPr/>
        </p:nvSpPr>
        <p:spPr>
          <a:xfrm>
            <a:off x="566928" y="786384"/>
            <a:ext cx="10515600"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Tested against arithmetic, not itself</a:t>
            </a:r>
            <a:endParaRPr lang="en-US" sz="3000" dirty="0"/>
          </a:p>
        </p:txBody>
      </p:sp>
      <p:sp>
        <p:nvSpPr>
          <p:cNvPr id="4" name="Shape 2"/>
          <p:cNvSpPr/>
          <p:nvPr/>
        </p:nvSpPr>
        <p:spPr>
          <a:xfrm>
            <a:off x="566928" y="1691640"/>
            <a:ext cx="2578608" cy="2286000"/>
          </a:xfrm>
          <a:prstGeom prst="roundRect">
            <a:avLst>
              <a:gd name="adj" fmla="val 2400"/>
            </a:avLst>
          </a:prstGeom>
          <a:solidFill>
            <a:srgbClr val="15304E"/>
          </a:solidFill>
          <a:ln w="12700">
            <a:solidFill>
              <a:srgbClr val="15304E"/>
            </a:solidFill>
            <a:prstDash val="solid"/>
          </a:ln>
        </p:spPr>
      </p:sp>
      <p:sp>
        <p:nvSpPr>
          <p:cNvPr id="5" name="Text 3"/>
          <p:cNvSpPr/>
          <p:nvPr/>
        </p:nvSpPr>
        <p:spPr>
          <a:xfrm>
            <a:off x="768096" y="1874520"/>
            <a:ext cx="2194560" cy="502920"/>
          </a:xfrm>
          <a:prstGeom prst="rect">
            <a:avLst/>
          </a:prstGeom>
          <a:noFill/>
          <a:ln/>
        </p:spPr>
        <p:txBody>
          <a:bodyPr wrap="square" lIns="0" tIns="0" rIns="0" bIns="0" rtlCol="0" anchor="ctr"/>
          <a:lstStyle/>
          <a:p>
            <a:pPr indent="0" marL="0">
              <a:buNone/>
            </a:pPr>
            <a:r>
              <a:rPr lang="en-US" sz="2800" b="1" dirty="0">
                <a:solidFill>
                  <a:srgbClr val="F59E0B"/>
                </a:solidFill>
                <a:latin typeface="Cambria" pitchFamily="34" charset="0"/>
                <a:ea typeface="Cambria" pitchFamily="34" charset="-122"/>
                <a:cs typeface="Cambria" pitchFamily="34" charset="-120"/>
              </a:rPr>
              <a:t>199/199</a:t>
            </a:r>
            <a:endParaRPr lang="en-US" sz="2800" dirty="0"/>
          </a:p>
        </p:txBody>
      </p:sp>
      <p:sp>
        <p:nvSpPr>
          <p:cNvPr id="6" name="Text 4"/>
          <p:cNvSpPr/>
          <p:nvPr/>
        </p:nvSpPr>
        <p:spPr>
          <a:xfrm>
            <a:off x="768096" y="2395728"/>
            <a:ext cx="2194560" cy="402336"/>
          </a:xfrm>
          <a:prstGeom prst="rect">
            <a:avLst/>
          </a:prstGeom>
          <a:noFill/>
          <a:ln/>
        </p:spPr>
        <p:txBody>
          <a:bodyPr wrap="square" lIns="0" tIns="0" rIns="0" bIns="0" rtlCol="0" anchor="ctr"/>
          <a:lstStyle/>
          <a:p>
            <a:pPr indent="0" marL="0">
              <a:buNone/>
            </a:pPr>
            <a:r>
              <a:rPr lang="en-US" sz="950" b="1" spc="100" kern="0" dirty="0">
                <a:solidFill>
                  <a:srgbClr val="94A3B8"/>
                </a:solidFill>
                <a:latin typeface="Calibri" pitchFamily="34" charset="0"/>
                <a:ea typeface="Calibri" pitchFamily="34" charset="-122"/>
                <a:cs typeface="Calibri" pitchFamily="34" charset="-120"/>
              </a:rPr>
              <a:t>GEOMETRY ACCURACY GATE</a:t>
            </a:r>
            <a:endParaRPr lang="en-US" sz="950" dirty="0"/>
          </a:p>
        </p:txBody>
      </p:sp>
      <p:sp>
        <p:nvSpPr>
          <p:cNvPr id="7" name="Text 5"/>
          <p:cNvSpPr/>
          <p:nvPr/>
        </p:nvSpPr>
        <p:spPr>
          <a:xfrm>
            <a:off x="768096" y="2816352"/>
            <a:ext cx="2212848" cy="105156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Every fixture is a shape whose truth is arithmetic — a 3.000° cone, a 25 mm wall. CI fails on any regression.</a:t>
            </a:r>
            <a:endParaRPr lang="en-US" sz="1000" dirty="0"/>
          </a:p>
        </p:txBody>
      </p:sp>
      <p:sp>
        <p:nvSpPr>
          <p:cNvPr id="8" name="Shape 6"/>
          <p:cNvSpPr/>
          <p:nvPr/>
        </p:nvSpPr>
        <p:spPr>
          <a:xfrm>
            <a:off x="3383280" y="1691640"/>
            <a:ext cx="2578608" cy="2286000"/>
          </a:xfrm>
          <a:prstGeom prst="roundRect">
            <a:avLst>
              <a:gd name="adj" fmla="val 2400"/>
            </a:avLst>
          </a:prstGeom>
          <a:solidFill>
            <a:srgbClr val="15304E"/>
          </a:solidFill>
          <a:ln w="12700">
            <a:solidFill>
              <a:srgbClr val="15304E"/>
            </a:solidFill>
            <a:prstDash val="solid"/>
          </a:ln>
        </p:spPr>
      </p:sp>
      <p:sp>
        <p:nvSpPr>
          <p:cNvPr id="9" name="Text 7"/>
          <p:cNvSpPr/>
          <p:nvPr/>
        </p:nvSpPr>
        <p:spPr>
          <a:xfrm>
            <a:off x="3584448" y="1874520"/>
            <a:ext cx="2194560" cy="502920"/>
          </a:xfrm>
          <a:prstGeom prst="rect">
            <a:avLst/>
          </a:prstGeom>
          <a:noFill/>
          <a:ln/>
        </p:spPr>
        <p:txBody>
          <a:bodyPr wrap="square" lIns="0" tIns="0" rIns="0" bIns="0" rtlCol="0" anchor="ctr"/>
          <a:lstStyle/>
          <a:p>
            <a:pPr indent="0" marL="0">
              <a:buNone/>
            </a:pPr>
            <a:r>
              <a:rPr lang="en-US" sz="2800" b="1" dirty="0">
                <a:solidFill>
                  <a:srgbClr val="F59E0B"/>
                </a:solidFill>
                <a:latin typeface="Cambria" pitchFamily="34" charset="0"/>
                <a:ea typeface="Cambria" pitchFamily="34" charset="-122"/>
                <a:cs typeface="Cambria" pitchFamily="34" charset="-120"/>
              </a:rPr>
              <a:t>628</a:t>
            </a:r>
            <a:endParaRPr lang="en-US" sz="2800" dirty="0"/>
          </a:p>
        </p:txBody>
      </p:sp>
      <p:sp>
        <p:nvSpPr>
          <p:cNvPr id="10" name="Text 8"/>
          <p:cNvSpPr/>
          <p:nvPr/>
        </p:nvSpPr>
        <p:spPr>
          <a:xfrm>
            <a:off x="3584448" y="2395728"/>
            <a:ext cx="2194560" cy="402336"/>
          </a:xfrm>
          <a:prstGeom prst="rect">
            <a:avLst/>
          </a:prstGeom>
          <a:noFill/>
          <a:ln/>
        </p:spPr>
        <p:txBody>
          <a:bodyPr wrap="square" lIns="0" tIns="0" rIns="0" bIns="0" rtlCol="0" anchor="ctr"/>
          <a:lstStyle/>
          <a:p>
            <a:pPr indent="0" marL="0">
              <a:buNone/>
            </a:pPr>
            <a:r>
              <a:rPr lang="en-US" sz="950" b="1" spc="100" kern="0" dirty="0">
                <a:solidFill>
                  <a:srgbClr val="94A3B8"/>
                </a:solidFill>
                <a:latin typeface="Calibri" pitchFamily="34" charset="0"/>
                <a:ea typeface="Calibri" pitchFamily="34" charset="-122"/>
                <a:cs typeface="Calibri" pitchFamily="34" charset="-120"/>
              </a:rPr>
              <a:t>AUTOMATED TESTS</a:t>
            </a:r>
            <a:endParaRPr lang="en-US" sz="950" dirty="0"/>
          </a:p>
        </p:txBody>
      </p:sp>
      <p:sp>
        <p:nvSpPr>
          <p:cNvPr id="11" name="Text 9"/>
          <p:cNvSpPr/>
          <p:nvPr/>
        </p:nvSpPr>
        <p:spPr>
          <a:xfrm>
            <a:off x="3584448" y="2816352"/>
            <a:ext cx="2212848" cy="105156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Plus HTTP integration tests and an accessibility gate on every page. 10 Aug 2026.</a:t>
            </a:r>
            <a:endParaRPr lang="en-US" sz="1000" dirty="0"/>
          </a:p>
        </p:txBody>
      </p:sp>
      <p:sp>
        <p:nvSpPr>
          <p:cNvPr id="12" name="Shape 10"/>
          <p:cNvSpPr/>
          <p:nvPr/>
        </p:nvSpPr>
        <p:spPr>
          <a:xfrm>
            <a:off x="6199632" y="1691640"/>
            <a:ext cx="2578608" cy="2286000"/>
          </a:xfrm>
          <a:prstGeom prst="roundRect">
            <a:avLst>
              <a:gd name="adj" fmla="val 2400"/>
            </a:avLst>
          </a:prstGeom>
          <a:solidFill>
            <a:srgbClr val="15304E"/>
          </a:solidFill>
          <a:ln w="12700">
            <a:solidFill>
              <a:srgbClr val="15304E"/>
            </a:solidFill>
            <a:prstDash val="solid"/>
          </a:ln>
        </p:spPr>
      </p:sp>
      <p:sp>
        <p:nvSpPr>
          <p:cNvPr id="13" name="Text 11"/>
          <p:cNvSpPr/>
          <p:nvPr/>
        </p:nvSpPr>
        <p:spPr>
          <a:xfrm>
            <a:off x="6400800" y="1874520"/>
            <a:ext cx="2194560" cy="502920"/>
          </a:xfrm>
          <a:prstGeom prst="rect">
            <a:avLst/>
          </a:prstGeom>
          <a:noFill/>
          <a:ln/>
        </p:spPr>
        <p:txBody>
          <a:bodyPr wrap="square" lIns="0" tIns="0" rIns="0" bIns="0" rtlCol="0" anchor="ctr"/>
          <a:lstStyle/>
          <a:p>
            <a:pPr indent="0" marL="0">
              <a:buNone/>
            </a:pPr>
            <a:r>
              <a:rPr lang="en-US" sz="2800" b="1" dirty="0">
                <a:solidFill>
                  <a:srgbClr val="F59E0B"/>
                </a:solidFill>
                <a:latin typeface="Cambria" pitchFamily="34" charset="0"/>
                <a:ea typeface="Cambria" pitchFamily="34" charset="-122"/>
                <a:cs typeface="Cambria" pitchFamily="34" charset="-120"/>
              </a:rPr>
              <a:t>93</a:t>
            </a:r>
            <a:endParaRPr lang="en-US" sz="2800" dirty="0"/>
          </a:p>
        </p:txBody>
      </p:sp>
      <p:sp>
        <p:nvSpPr>
          <p:cNvPr id="14" name="Text 12"/>
          <p:cNvSpPr/>
          <p:nvPr/>
        </p:nvSpPr>
        <p:spPr>
          <a:xfrm>
            <a:off x="6400800" y="2395728"/>
            <a:ext cx="2194560" cy="402336"/>
          </a:xfrm>
          <a:prstGeom prst="rect">
            <a:avLst/>
          </a:prstGeom>
          <a:noFill/>
          <a:ln/>
        </p:spPr>
        <p:txBody>
          <a:bodyPr wrap="square" lIns="0" tIns="0" rIns="0" bIns="0" rtlCol="0" anchor="ctr"/>
          <a:lstStyle/>
          <a:p>
            <a:pPr indent="0" marL="0">
              <a:buNone/>
            </a:pPr>
            <a:r>
              <a:rPr lang="en-US" sz="950" b="1" spc="100" kern="0" dirty="0">
                <a:solidFill>
                  <a:srgbClr val="94A3B8"/>
                </a:solidFill>
                <a:latin typeface="Calibri" pitchFamily="34" charset="0"/>
                <a:ea typeface="Calibri" pitchFamily="34" charset="-122"/>
                <a:cs typeface="Calibri" pitchFamily="34" charset="-120"/>
              </a:rPr>
              <a:t>SHAPED PARTS SWEPT</a:t>
            </a:r>
            <a:endParaRPr lang="en-US" sz="950" dirty="0"/>
          </a:p>
        </p:txBody>
      </p:sp>
      <p:sp>
        <p:nvSpPr>
          <p:cNvPr id="15" name="Text 13"/>
          <p:cNvSpPr/>
          <p:nvPr/>
        </p:nvSpPr>
        <p:spPr>
          <a:xfrm>
            <a:off x="6400800" y="2816352"/>
            <a:ext cx="2212848" cy="105156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Ten commodities, ten variants each, through the full production path.</a:t>
            </a:r>
            <a:endParaRPr lang="en-US" sz="1000" dirty="0"/>
          </a:p>
        </p:txBody>
      </p:sp>
      <p:sp>
        <p:nvSpPr>
          <p:cNvPr id="16" name="Shape 14"/>
          <p:cNvSpPr/>
          <p:nvPr/>
        </p:nvSpPr>
        <p:spPr>
          <a:xfrm>
            <a:off x="9015984" y="1691640"/>
            <a:ext cx="2578608" cy="2286000"/>
          </a:xfrm>
          <a:prstGeom prst="roundRect">
            <a:avLst>
              <a:gd name="adj" fmla="val 2400"/>
            </a:avLst>
          </a:prstGeom>
          <a:solidFill>
            <a:srgbClr val="15304E"/>
          </a:solidFill>
          <a:ln w="12700">
            <a:solidFill>
              <a:srgbClr val="15304E"/>
            </a:solidFill>
            <a:prstDash val="solid"/>
          </a:ln>
        </p:spPr>
      </p:sp>
      <p:sp>
        <p:nvSpPr>
          <p:cNvPr id="17" name="Text 15"/>
          <p:cNvSpPr/>
          <p:nvPr/>
        </p:nvSpPr>
        <p:spPr>
          <a:xfrm>
            <a:off x="9217152" y="1874520"/>
            <a:ext cx="2194560" cy="502920"/>
          </a:xfrm>
          <a:prstGeom prst="rect">
            <a:avLst/>
          </a:prstGeom>
          <a:noFill/>
          <a:ln/>
        </p:spPr>
        <p:txBody>
          <a:bodyPr wrap="square" lIns="0" tIns="0" rIns="0" bIns="0" rtlCol="0" anchor="ctr"/>
          <a:lstStyle/>
          <a:p>
            <a:pPr indent="0" marL="0">
              <a:buNone/>
            </a:pPr>
            <a:r>
              <a:rPr lang="en-US" sz="2800" b="1" dirty="0">
                <a:solidFill>
                  <a:srgbClr val="F59E0B"/>
                </a:solidFill>
                <a:latin typeface="Cambria" pitchFamily="34" charset="0"/>
                <a:ea typeface="Cambria" pitchFamily="34" charset="-122"/>
                <a:cs typeface="Cambria" pitchFamily="34" charset="-120"/>
              </a:rPr>
              <a:t>0</a:t>
            </a:r>
            <a:endParaRPr lang="en-US" sz="2800" dirty="0"/>
          </a:p>
        </p:txBody>
      </p:sp>
      <p:sp>
        <p:nvSpPr>
          <p:cNvPr id="18" name="Text 16"/>
          <p:cNvSpPr/>
          <p:nvPr/>
        </p:nvSpPr>
        <p:spPr>
          <a:xfrm>
            <a:off x="9217152" y="2395728"/>
            <a:ext cx="2194560" cy="402336"/>
          </a:xfrm>
          <a:prstGeom prst="rect">
            <a:avLst/>
          </a:prstGeom>
          <a:noFill/>
          <a:ln/>
        </p:spPr>
        <p:txBody>
          <a:bodyPr wrap="square" lIns="0" tIns="0" rIns="0" bIns="0" rtlCol="0" anchor="ctr"/>
          <a:lstStyle/>
          <a:p>
            <a:pPr indent="0" marL="0">
              <a:buNone/>
            </a:pPr>
            <a:r>
              <a:rPr lang="en-US" sz="950" b="1" spc="100" kern="0" dirty="0">
                <a:solidFill>
                  <a:srgbClr val="94A3B8"/>
                </a:solidFill>
                <a:latin typeface="Calibri" pitchFamily="34" charset="0"/>
                <a:ea typeface="Calibri" pitchFamily="34" charset="-122"/>
                <a:cs typeface="Calibri" pitchFamily="34" charset="-120"/>
              </a:rPr>
              <a:t>AI-WRITTEN NUMBERS</a:t>
            </a:r>
            <a:endParaRPr lang="en-US" sz="950" dirty="0"/>
          </a:p>
        </p:txBody>
      </p:sp>
      <p:sp>
        <p:nvSpPr>
          <p:cNvPr id="19" name="Text 17"/>
          <p:cNvSpPr/>
          <p:nvPr/>
        </p:nvSpPr>
        <p:spPr>
          <a:xfrm>
            <a:off x="9217152" y="2816352"/>
            <a:ext cx="2212848" cy="105156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No language model touches this analysis at any point.</a:t>
            </a:r>
            <a:endParaRPr lang="en-US" sz="1000" dirty="0"/>
          </a:p>
        </p:txBody>
      </p:sp>
      <p:sp>
        <p:nvSpPr>
          <p:cNvPr id="20" name="Text 18"/>
          <p:cNvSpPr/>
          <p:nvPr/>
        </p:nvSpPr>
        <p:spPr>
          <a:xfrm>
            <a:off x="566928" y="4279392"/>
            <a:ext cx="1005840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What we deliberately do NOT claim</a:t>
            </a:r>
            <a:endParaRPr lang="en-US" sz="1700" dirty="0"/>
          </a:p>
        </p:txBody>
      </p:sp>
      <p:sp>
        <p:nvSpPr>
          <p:cNvPr id="21" name="Text 19"/>
          <p:cNvSpPr/>
          <p:nvPr/>
        </p:nvSpPr>
        <p:spPr>
          <a:xfrm>
            <a:off x="566928" y="4681728"/>
            <a:ext cx="10789920" cy="914400"/>
          </a:xfrm>
          <a:prstGeom prst="rect">
            <a:avLst/>
          </a:prstGeom>
          <a:noFill/>
          <a:ln/>
        </p:spPr>
        <p:txBody>
          <a:bodyPr wrap="square" lIns="0" tIns="0" rIns="0" bIns="0" rtlCol="0" anchor="ctr"/>
          <a:lstStyle/>
          <a:p>
            <a:pPr indent="0" marL="0">
              <a:lnSpc>
                <a:spcPts val="2100"/>
              </a:lnSpc>
              <a:buNone/>
            </a:pPr>
            <a:r>
              <a:rPr lang="en-US" sz="1250" dirty="0">
                <a:solidFill>
                  <a:srgbClr val="CBD5E1"/>
                </a:solidFill>
                <a:latin typeface="Calibri" pitchFamily="34" charset="0"/>
                <a:ea typeface="Calibri" pitchFamily="34" charset="-122"/>
                <a:cs typeface="Calibri" pitchFamily="34" charset="-120"/>
              </a:rPr>
              <a:t>Of 236 thresholds, 8 come from a reference we have read first-hand. 2 are recorded as CONTESTED, where a primary source disagrees with the value we hold. 221 are unaudited industry consensus.</a:t>
            </a:r>
            <a:endParaRPr lang="en-US" sz="1250" dirty="0"/>
          </a:p>
          <a:p>
            <a:pPr indent="0" marL="0">
              <a:lnSpc>
                <a:spcPts val="2100"/>
              </a:lnSpc>
              <a:buNone/>
            </a:pPr>
            <a:r>
              <a:rPr lang="en-US" sz="1250" dirty="0">
                <a:solidFill>
                  <a:srgbClr val="CBD5E1"/>
                </a:solidFill>
                <a:latin typeface="Calibri" pitchFamily="34" charset="0"/>
                <a:ea typeface="Calibri" pitchFamily="34" charset="-122"/>
                <a:cs typeface="Calibri" pitchFamily="34" charset="-120"/>
              </a:rPr>
              <a:t>That register ships with the product and there is a command that prints it. A number nobody has checked is worth knowing about before a supplier finds it.</a:t>
            </a:r>
            <a:endParaRPr lang="en-US" sz="1250" dirty="0"/>
          </a:p>
        </p:txBody>
      </p:sp>
      <p:sp>
        <p:nvSpPr>
          <p:cNvPr id="22" name="Text 20"/>
          <p:cNvSpPr/>
          <p:nvPr/>
        </p:nvSpPr>
        <p:spPr>
          <a:xfrm>
            <a:off x="566928" y="6437376"/>
            <a:ext cx="11055096" cy="237744"/>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BrainSpark DFM / DFA Studio  ·  Design-for-Manufacture &amp; Assembly  ·  10/16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55096" cy="219456"/>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TESTED ON REAL PARTS</a:t>
            </a:r>
            <a:endParaRPr lang="en-US" sz="1100" dirty="0"/>
          </a:p>
        </p:txBody>
      </p:sp>
      <p:sp>
        <p:nvSpPr>
          <p:cNvPr id="3" name="Text 1"/>
          <p:cNvSpPr/>
          <p:nvPr/>
        </p:nvSpPr>
        <p:spPr>
          <a:xfrm>
            <a:off x="566928" y="768096"/>
            <a:ext cx="11055096" cy="64008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Three real components, seven faults found</a:t>
            </a:r>
            <a:endParaRPr lang="en-US" sz="3200" dirty="0"/>
          </a:p>
        </p:txBody>
      </p:sp>
      <p:sp>
        <p:nvSpPr>
          <p:cNvPr id="4" name="Text 2"/>
          <p:cNvSpPr/>
          <p:nvPr/>
        </p:nvSpPr>
        <p:spPr>
          <a:xfrm>
            <a:off x="566928" y="1463040"/>
            <a:ext cx="11055096" cy="457200"/>
          </a:xfrm>
          <a:prstGeom prst="rect">
            <a:avLst/>
          </a:prstGeom>
          <a:noFill/>
          <a:ln/>
        </p:spPr>
        <p:txBody>
          <a:bodyPr wrap="square" lIns="0" tIns="0" rIns="0" bIns="0" rtlCol="0" anchor="ctr"/>
          <a:lstStyle/>
          <a:p>
            <a:pPr indent="0" marL="0">
              <a:lnSpc>
                <a:spcPts val="2000"/>
              </a:lnSpc>
              <a:buNone/>
            </a:pPr>
            <a:r>
              <a:rPr lang="en-US" sz="1250" dirty="0">
                <a:solidFill>
                  <a:srgbClr val="374151"/>
                </a:solidFill>
                <a:latin typeface="Calibri" pitchFamily="34" charset="0"/>
                <a:ea typeface="Calibri" pitchFamily="34" charset="-122"/>
                <a:cs typeface="Calibri" pitchFamily="34" charset="-120"/>
              </a:rPr>
              <a:t>The benchmarks prove the maths. They cannot tell you whether the report SAYS the right thing. So we took three real components, read every finding by hand, and re-ran them through the live tool.</a:t>
            </a:r>
            <a:endParaRPr lang="en-US" sz="1250" dirty="0"/>
          </a:p>
        </p:txBody>
      </p:sp>
      <p:sp>
        <p:nvSpPr>
          <p:cNvPr id="5" name="Shape 3"/>
          <p:cNvSpPr/>
          <p:nvPr/>
        </p:nvSpPr>
        <p:spPr>
          <a:xfrm>
            <a:off x="566928" y="1993392"/>
            <a:ext cx="3474720" cy="713232"/>
          </a:xfrm>
          <a:prstGeom prst="roundRect">
            <a:avLst>
              <a:gd name="adj" fmla="val 7692"/>
            </a:avLst>
          </a:prstGeom>
          <a:solidFill>
            <a:srgbClr val="F1F5F9"/>
          </a:solidFill>
          <a:ln w="12700">
            <a:solidFill>
              <a:srgbClr val="F1F5F9"/>
            </a:solidFill>
            <a:prstDash val="solid"/>
          </a:ln>
        </p:spPr>
      </p:sp>
      <p:sp>
        <p:nvSpPr>
          <p:cNvPr id="6" name="Text 4"/>
          <p:cNvSpPr/>
          <p:nvPr/>
        </p:nvSpPr>
        <p:spPr>
          <a:xfrm>
            <a:off x="768096" y="2103120"/>
            <a:ext cx="3108960" cy="256032"/>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Steering knuckle</a:t>
            </a:r>
            <a:endParaRPr lang="en-US" sz="1250" dirty="0"/>
          </a:p>
        </p:txBody>
      </p:sp>
      <p:sp>
        <p:nvSpPr>
          <p:cNvPr id="7" name="Text 5"/>
          <p:cNvSpPr/>
          <p:nvPr/>
        </p:nvSpPr>
        <p:spPr>
          <a:xfrm>
            <a:off x="768096" y="2359152"/>
            <a:ext cx="310896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Hot forging · high-strength steel</a:t>
            </a:r>
            <a:endParaRPr lang="en-US" sz="1000" dirty="0"/>
          </a:p>
        </p:txBody>
      </p:sp>
      <p:sp>
        <p:nvSpPr>
          <p:cNvPr id="8" name="Shape 6"/>
          <p:cNvSpPr/>
          <p:nvPr/>
        </p:nvSpPr>
        <p:spPr>
          <a:xfrm>
            <a:off x="4297680" y="1993392"/>
            <a:ext cx="3474720" cy="713232"/>
          </a:xfrm>
          <a:prstGeom prst="roundRect">
            <a:avLst>
              <a:gd name="adj" fmla="val 7692"/>
            </a:avLst>
          </a:prstGeom>
          <a:solidFill>
            <a:srgbClr val="F1F5F9"/>
          </a:solidFill>
          <a:ln w="12700">
            <a:solidFill>
              <a:srgbClr val="F1F5F9"/>
            </a:solidFill>
            <a:prstDash val="solid"/>
          </a:ln>
        </p:spPr>
      </p:sp>
      <p:sp>
        <p:nvSpPr>
          <p:cNvPr id="9" name="Text 7"/>
          <p:cNvSpPr/>
          <p:nvPr/>
        </p:nvSpPr>
        <p:spPr>
          <a:xfrm>
            <a:off x="4498848" y="2103120"/>
            <a:ext cx="3108960" cy="256032"/>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Casting bracket</a:t>
            </a:r>
            <a:endParaRPr lang="en-US" sz="1250" dirty="0"/>
          </a:p>
        </p:txBody>
      </p:sp>
      <p:sp>
        <p:nvSpPr>
          <p:cNvPr id="10" name="Text 8"/>
          <p:cNvSpPr/>
          <p:nvPr/>
        </p:nvSpPr>
        <p:spPr>
          <a:xfrm>
            <a:off x="4498848" y="2359152"/>
            <a:ext cx="310896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HPDC · aluminium A356</a:t>
            </a:r>
            <a:endParaRPr lang="en-US" sz="1000" dirty="0"/>
          </a:p>
        </p:txBody>
      </p:sp>
      <p:sp>
        <p:nvSpPr>
          <p:cNvPr id="11" name="Shape 9"/>
          <p:cNvSpPr/>
          <p:nvPr/>
        </p:nvSpPr>
        <p:spPr>
          <a:xfrm>
            <a:off x="8028432" y="1993392"/>
            <a:ext cx="3474720" cy="713232"/>
          </a:xfrm>
          <a:prstGeom prst="roundRect">
            <a:avLst>
              <a:gd name="adj" fmla="val 7692"/>
            </a:avLst>
          </a:prstGeom>
          <a:solidFill>
            <a:srgbClr val="F1F5F9"/>
          </a:solidFill>
          <a:ln w="12700">
            <a:solidFill>
              <a:srgbClr val="F1F5F9"/>
            </a:solidFill>
            <a:prstDash val="solid"/>
          </a:ln>
        </p:spPr>
      </p:sp>
      <p:sp>
        <p:nvSpPr>
          <p:cNvPr id="12" name="Text 10"/>
          <p:cNvSpPr/>
          <p:nvPr/>
        </p:nvSpPr>
        <p:spPr>
          <a:xfrm>
            <a:off x="8229600" y="2103120"/>
            <a:ext cx="3108960" cy="256032"/>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Seat locking bracket</a:t>
            </a:r>
            <a:endParaRPr lang="en-US" sz="1250" dirty="0"/>
          </a:p>
        </p:txBody>
      </p:sp>
      <p:sp>
        <p:nvSpPr>
          <p:cNvPr id="13" name="Text 11"/>
          <p:cNvSpPr/>
          <p:nvPr/>
        </p:nvSpPr>
        <p:spPr>
          <a:xfrm>
            <a:off x="8229600" y="2359152"/>
            <a:ext cx="3108960" cy="256032"/>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Stamping · high-strength steel</a:t>
            </a:r>
            <a:endParaRPr lang="en-US" sz="1000" dirty="0"/>
          </a:p>
        </p:txBody>
      </p:sp>
      <p:sp>
        <p:nvSpPr>
          <p:cNvPr id="14" name="Shape 12"/>
          <p:cNvSpPr/>
          <p:nvPr/>
        </p:nvSpPr>
        <p:spPr>
          <a:xfrm>
            <a:off x="566928" y="2798064"/>
            <a:ext cx="11055096" cy="566928"/>
          </a:xfrm>
          <a:prstGeom prst="rect">
            <a:avLst/>
          </a:prstGeom>
          <a:solidFill>
            <a:srgbClr val="F1F5F9"/>
          </a:solidFill>
          <a:ln w="12700">
            <a:solidFill>
              <a:srgbClr val="F1F5F9"/>
            </a:solidFill>
            <a:prstDash val="solid"/>
          </a:ln>
        </p:spPr>
      </p:sp>
      <p:sp>
        <p:nvSpPr>
          <p:cNvPr id="15" name="Text 13"/>
          <p:cNvSpPr/>
          <p:nvPr/>
        </p:nvSpPr>
        <p:spPr>
          <a:xfrm>
            <a:off x="713232" y="2834640"/>
            <a:ext cx="3566160" cy="256032"/>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It reported a EUR 151,200 a year saving</a:t>
            </a:r>
            <a:endParaRPr lang="en-US" sz="1100" dirty="0"/>
          </a:p>
        </p:txBody>
      </p:sp>
      <p:sp>
        <p:nvSpPr>
          <p:cNvPr id="16" name="Text 14"/>
          <p:cNvSpPr/>
          <p:nvPr/>
        </p:nvSpPr>
        <p:spPr>
          <a:xfrm>
            <a:off x="713232" y="3072384"/>
            <a:ext cx="6949440" cy="25603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on a bend-radius finding — but the figure priced deleting all 23 bends, which is a different part</a:t>
            </a:r>
            <a:endParaRPr lang="en-US" sz="950" dirty="0"/>
          </a:p>
        </p:txBody>
      </p:sp>
      <p:sp>
        <p:nvSpPr>
          <p:cNvPr id="17" name="Text 15"/>
          <p:cNvSpPr/>
          <p:nvPr/>
        </p:nvSpPr>
        <p:spPr>
          <a:xfrm>
            <a:off x="7772400" y="2889504"/>
            <a:ext cx="3291840" cy="365760"/>
          </a:xfrm>
          <a:prstGeom prst="rect">
            <a:avLst/>
          </a:prstGeom>
          <a:noFill/>
          <a:ln/>
        </p:spPr>
        <p:txBody>
          <a:bodyPr wrap="square" lIns="0" tIns="0" rIns="0" bIns="0" rtlCol="0" anchor="ctr"/>
          <a:lstStyle/>
          <a:p>
            <a:pPr indent="0" marL="0">
              <a:buNone/>
            </a:pPr>
            <a:r>
              <a:rPr lang="en-US" sz="1050" b="1" dirty="0">
                <a:solidFill>
                  <a:srgbClr val="059669"/>
                </a:solidFill>
                <a:latin typeface="Calibri" pitchFamily="34" charset="0"/>
                <a:ea typeface="Calibri" pitchFamily="34" charset="-122"/>
                <a:cs typeface="Calibri" pitchFamily="34" charset="-120"/>
              </a:rPr>
              <a:t>Now says NOT PRICED, with the reason</a:t>
            </a:r>
            <a:endParaRPr lang="en-US" sz="1050" dirty="0"/>
          </a:p>
        </p:txBody>
      </p:sp>
      <p:sp>
        <p:nvSpPr>
          <p:cNvPr id="18" name="Text 16"/>
          <p:cNvSpPr/>
          <p:nvPr/>
        </p:nvSpPr>
        <p:spPr>
          <a:xfrm>
            <a:off x="713232" y="3410712"/>
            <a:ext cx="3566160" cy="256032"/>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It recommended cold heading a die casting</a:t>
            </a:r>
            <a:endParaRPr lang="en-US" sz="1100" dirty="0"/>
          </a:p>
        </p:txBody>
      </p:sp>
      <p:sp>
        <p:nvSpPr>
          <p:cNvPr id="19" name="Text 17"/>
          <p:cNvSpPr/>
          <p:nvPr/>
        </p:nvSpPr>
        <p:spPr>
          <a:xfrm>
            <a:off x="713232" y="3648456"/>
            <a:ext cx="6949440" cy="25603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a wire-fed fastener process, for a 320 cm3 bracket. Only 2 of 35 routes had a feasibility gate</a:t>
            </a:r>
            <a:endParaRPr lang="en-US" sz="950" dirty="0"/>
          </a:p>
        </p:txBody>
      </p:sp>
      <p:sp>
        <p:nvSpPr>
          <p:cNvPr id="20" name="Text 18"/>
          <p:cNvSpPr/>
          <p:nvPr/>
        </p:nvSpPr>
        <p:spPr>
          <a:xfrm>
            <a:off x="7772400" y="3465576"/>
            <a:ext cx="3291840" cy="365760"/>
          </a:xfrm>
          <a:prstGeom prst="rect">
            <a:avLst/>
          </a:prstGeom>
          <a:noFill/>
          <a:ln/>
        </p:spPr>
        <p:txBody>
          <a:bodyPr wrap="square" lIns="0" tIns="0" rIns="0" bIns="0" rtlCol="0" anchor="ctr"/>
          <a:lstStyle/>
          <a:p>
            <a:pPr indent="0" marL="0">
              <a:buNone/>
            </a:pPr>
            <a:r>
              <a:rPr lang="en-US" sz="1050" b="1" dirty="0">
                <a:solidFill>
                  <a:srgbClr val="059669"/>
                </a:solidFill>
                <a:latin typeface="Calibri" pitchFamily="34" charset="0"/>
                <a:ea typeface="Calibri" pitchFamily="34" charset="-122"/>
                <a:cs typeface="Calibri" pitchFamily="34" charset="-120"/>
              </a:rPr>
              <a:t>6 gates now — it refuses both</a:t>
            </a:r>
            <a:endParaRPr lang="en-US" sz="1050" dirty="0"/>
          </a:p>
        </p:txBody>
      </p:sp>
      <p:sp>
        <p:nvSpPr>
          <p:cNvPr id="21" name="Shape 19"/>
          <p:cNvSpPr/>
          <p:nvPr/>
        </p:nvSpPr>
        <p:spPr>
          <a:xfrm>
            <a:off x="566928" y="3950208"/>
            <a:ext cx="11055096" cy="566928"/>
          </a:xfrm>
          <a:prstGeom prst="rect">
            <a:avLst/>
          </a:prstGeom>
          <a:solidFill>
            <a:srgbClr val="F1F5F9"/>
          </a:solidFill>
          <a:ln w="12700">
            <a:solidFill>
              <a:srgbClr val="F1F5F9"/>
            </a:solidFill>
            <a:prstDash val="solid"/>
          </a:ln>
        </p:spPr>
      </p:sp>
      <p:sp>
        <p:nvSpPr>
          <p:cNvPr id="22" name="Text 20"/>
          <p:cNvSpPr/>
          <p:nvPr/>
        </p:nvSpPr>
        <p:spPr>
          <a:xfrm>
            <a:off x="713232" y="3986784"/>
            <a:ext cx="3566160" cy="256032"/>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One label, two different numbers</a:t>
            </a:r>
            <a:endParaRPr lang="en-US" sz="1100" dirty="0"/>
          </a:p>
        </p:txBody>
      </p:sp>
      <p:sp>
        <p:nvSpPr>
          <p:cNvPr id="23" name="Text 21"/>
          <p:cNvSpPr/>
          <p:nvPr/>
        </p:nvSpPr>
        <p:spPr>
          <a:xfrm>
            <a:off x="713232" y="4224528"/>
            <a:ext cx="6949440" cy="25603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"wall below minimum draft" read 64% on page 1 and 56% on page 2 — measured at different angles</a:t>
            </a:r>
            <a:endParaRPr lang="en-US" sz="950" dirty="0"/>
          </a:p>
        </p:txBody>
      </p:sp>
      <p:sp>
        <p:nvSpPr>
          <p:cNvPr id="24" name="Text 22"/>
          <p:cNvSpPr/>
          <p:nvPr/>
        </p:nvSpPr>
        <p:spPr>
          <a:xfrm>
            <a:off x="7772400" y="4041648"/>
            <a:ext cx="3291840" cy="365760"/>
          </a:xfrm>
          <a:prstGeom prst="rect">
            <a:avLst/>
          </a:prstGeom>
          <a:noFill/>
          <a:ln/>
        </p:spPr>
        <p:txBody>
          <a:bodyPr wrap="square" lIns="0" tIns="0" rIns="0" bIns="0" rtlCol="0" anchor="ctr"/>
          <a:lstStyle/>
          <a:p>
            <a:pPr indent="0" marL="0">
              <a:buNone/>
            </a:pPr>
            <a:r>
              <a:rPr lang="en-US" sz="1050" b="1" dirty="0">
                <a:solidFill>
                  <a:srgbClr val="059669"/>
                </a:solidFill>
                <a:latin typeface="Calibri" pitchFamily="34" charset="0"/>
                <a:ea typeface="Calibri" pitchFamily="34" charset="-122"/>
                <a:cs typeface="Calibri" pitchFamily="34" charset="-120"/>
              </a:rPr>
              <a:t>The angle is printed in the label</a:t>
            </a:r>
            <a:endParaRPr lang="en-US" sz="1050" dirty="0"/>
          </a:p>
        </p:txBody>
      </p:sp>
      <p:sp>
        <p:nvSpPr>
          <p:cNvPr id="25" name="Text 23"/>
          <p:cNvSpPr/>
          <p:nvPr/>
        </p:nvSpPr>
        <p:spPr>
          <a:xfrm>
            <a:off x="713232" y="4562856"/>
            <a:ext cx="3566160" cy="256032"/>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A rule told you to do the wrong thing</a:t>
            </a:r>
            <a:endParaRPr lang="en-US" sz="1100" dirty="0"/>
          </a:p>
        </p:txBody>
      </p:sp>
      <p:sp>
        <p:nvSpPr>
          <p:cNvPr id="26" name="Text 24"/>
          <p:cNvSpPr/>
          <p:nvPr/>
        </p:nvSpPr>
        <p:spPr>
          <a:xfrm>
            <a:off x="713232" y="4800600"/>
            <a:ext cx="6949440" cy="25603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"open the radius to 1x thickness" when the steel it had resolved needs 2x</a:t>
            </a:r>
            <a:endParaRPr lang="en-US" sz="950" dirty="0"/>
          </a:p>
        </p:txBody>
      </p:sp>
      <p:sp>
        <p:nvSpPr>
          <p:cNvPr id="27" name="Text 25"/>
          <p:cNvSpPr/>
          <p:nvPr/>
        </p:nvSpPr>
        <p:spPr>
          <a:xfrm>
            <a:off x="7772400" y="4617720"/>
            <a:ext cx="3291840" cy="365760"/>
          </a:xfrm>
          <a:prstGeom prst="rect">
            <a:avLst/>
          </a:prstGeom>
          <a:noFill/>
          <a:ln/>
        </p:spPr>
        <p:txBody>
          <a:bodyPr wrap="square" lIns="0" tIns="0" rIns="0" bIns="0" rtlCol="0" anchor="ctr"/>
          <a:lstStyle/>
          <a:p>
            <a:pPr indent="0" marL="0">
              <a:buNone/>
            </a:pPr>
            <a:r>
              <a:rPr lang="en-US" sz="1050" b="1" dirty="0">
                <a:solidFill>
                  <a:srgbClr val="059669"/>
                </a:solidFill>
                <a:latin typeface="Calibri" pitchFamily="34" charset="0"/>
                <a:ea typeface="Calibri" pitchFamily="34" charset="-122"/>
                <a:cs typeface="Calibri" pitchFamily="34" charset="-120"/>
              </a:rPr>
              <a:t>Titles and fixes read the alloy limit</a:t>
            </a:r>
            <a:endParaRPr lang="en-US" sz="1050" dirty="0"/>
          </a:p>
        </p:txBody>
      </p:sp>
      <p:sp>
        <p:nvSpPr>
          <p:cNvPr id="28" name="Shape 26"/>
          <p:cNvSpPr/>
          <p:nvPr/>
        </p:nvSpPr>
        <p:spPr>
          <a:xfrm>
            <a:off x="566928" y="5102352"/>
            <a:ext cx="11055096" cy="566928"/>
          </a:xfrm>
          <a:prstGeom prst="rect">
            <a:avLst/>
          </a:prstGeom>
          <a:solidFill>
            <a:srgbClr val="F1F5F9"/>
          </a:solidFill>
          <a:ln w="12700">
            <a:solidFill>
              <a:srgbClr val="F1F5F9"/>
            </a:solidFill>
            <a:prstDash val="solid"/>
          </a:ln>
        </p:spPr>
      </p:sp>
      <p:sp>
        <p:nvSpPr>
          <p:cNvPr id="29" name="Text 27"/>
          <p:cNvSpPr/>
          <p:nvPr/>
        </p:nvSpPr>
        <p:spPr>
          <a:xfrm>
            <a:off x="713232" y="5138928"/>
            <a:ext cx="3566160" cy="256032"/>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26 holes, none of them round</a:t>
            </a:r>
            <a:endParaRPr lang="en-US" sz="1100" dirty="0"/>
          </a:p>
        </p:txBody>
      </p:sp>
      <p:sp>
        <p:nvSpPr>
          <p:cNvPr id="30" name="Text 28"/>
          <p:cNvSpPr/>
          <p:nvPr/>
        </p:nvSpPr>
        <p:spPr>
          <a:xfrm>
            <a:off x="713232" y="5376672"/>
            <a:ext cx="6949440" cy="25603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it asked the CAD exporter what shape they were instead of measuring</a:t>
            </a:r>
            <a:endParaRPr lang="en-US" sz="950" dirty="0"/>
          </a:p>
        </p:txBody>
      </p:sp>
      <p:sp>
        <p:nvSpPr>
          <p:cNvPr id="31" name="Text 29"/>
          <p:cNvSpPr/>
          <p:nvPr/>
        </p:nvSpPr>
        <p:spPr>
          <a:xfrm>
            <a:off x="7772400" y="5193792"/>
            <a:ext cx="3291840" cy="365760"/>
          </a:xfrm>
          <a:prstGeom prst="rect">
            <a:avLst/>
          </a:prstGeom>
          <a:noFill/>
          <a:ln/>
        </p:spPr>
        <p:txBody>
          <a:bodyPr wrap="square" lIns="0" tIns="0" rIns="0" bIns="0" rtlCol="0" anchor="ctr"/>
          <a:lstStyle/>
          <a:p>
            <a:pPr indent="0" marL="0">
              <a:buNone/>
            </a:pPr>
            <a:r>
              <a:rPr lang="en-US" sz="1050" b="1" dirty="0">
                <a:solidFill>
                  <a:srgbClr val="059669"/>
                </a:solidFill>
                <a:latin typeface="Calibri" pitchFamily="34" charset="0"/>
                <a:ea typeface="Calibri" pitchFamily="34" charset="-122"/>
                <a:cs typeface="Calibri" pitchFamily="34" charset="-120"/>
              </a:rPr>
              <a:t>Measured — 12 round, 14 shaped</a:t>
            </a:r>
            <a:endParaRPr lang="en-US" sz="1050" dirty="0"/>
          </a:p>
        </p:txBody>
      </p:sp>
      <p:sp>
        <p:nvSpPr>
          <p:cNvPr id="32" name="Shape 30"/>
          <p:cNvSpPr/>
          <p:nvPr/>
        </p:nvSpPr>
        <p:spPr>
          <a:xfrm>
            <a:off x="566928" y="5797296"/>
            <a:ext cx="11055096" cy="548640"/>
          </a:xfrm>
          <a:prstGeom prst="roundRect">
            <a:avLst>
              <a:gd name="adj" fmla="val 10000"/>
            </a:avLst>
          </a:prstGeom>
          <a:solidFill>
            <a:srgbClr val="0D1F33"/>
          </a:solidFill>
          <a:ln w="12700">
            <a:solidFill>
              <a:srgbClr val="0D1F33"/>
            </a:solidFill>
            <a:prstDash val="solid"/>
          </a:ln>
        </p:spPr>
      </p:sp>
      <p:sp>
        <p:nvSpPr>
          <p:cNvPr id="33" name="Text 31"/>
          <p:cNvSpPr/>
          <p:nvPr/>
        </p:nvSpPr>
        <p:spPr>
          <a:xfrm>
            <a:off x="841248" y="5916168"/>
            <a:ext cx="1042416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All seven are fixed, and every one is now held down by a test that fails if it comes back. 628 tests run on every change.</a:t>
            </a:r>
            <a:endParaRPr lang="en-US" sz="1200" dirty="0"/>
          </a:p>
        </p:txBody>
      </p:sp>
      <p:sp>
        <p:nvSpPr>
          <p:cNvPr id="34" name="Text 32"/>
          <p:cNvSpPr/>
          <p:nvPr/>
        </p:nvSpPr>
        <p:spPr>
          <a:xfrm>
            <a:off x="566928" y="6437376"/>
            <a:ext cx="11055096" cy="237744"/>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BrainSpark DFM / DFA Studio  ·  Design-for-Manufacture &amp; Assembly  ·  11/16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55096" cy="219456"/>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WHAT IT CAN ACTUALLY SAY</a:t>
            </a:r>
            <a:endParaRPr lang="en-US" sz="1100" dirty="0"/>
          </a:p>
        </p:txBody>
      </p:sp>
      <p:sp>
        <p:nvSpPr>
          <p:cNvPr id="3" name="Text 1"/>
          <p:cNvSpPr/>
          <p:nvPr/>
        </p:nvSpPr>
        <p:spPr>
          <a:xfrm>
            <a:off x="566928" y="768096"/>
            <a:ext cx="11055096" cy="64008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Measured on 93 shaped parts · 10 Aug 2026</a:t>
            </a:r>
            <a:endParaRPr lang="en-US" sz="3200" dirty="0"/>
          </a:p>
        </p:txBody>
      </p:sp>
      <p:sp>
        <p:nvSpPr>
          <p:cNvPr id="4" name="Text 2"/>
          <p:cNvSpPr/>
          <p:nvPr/>
        </p:nvSpPr>
        <p:spPr>
          <a:xfrm>
            <a:off x="566928" y="1463040"/>
            <a:ext cx="6766560" cy="548640"/>
          </a:xfrm>
          <a:prstGeom prst="rect">
            <a:avLst/>
          </a:prstGeom>
          <a:noFill/>
          <a:ln/>
        </p:spPr>
        <p:txBody>
          <a:bodyPr wrap="square" lIns="0" tIns="0" rIns="0" bIns="0" rtlCol="0" anchor="ctr"/>
          <a:lstStyle/>
          <a:p>
            <a:pPr indent="0" marL="0">
              <a:lnSpc>
                <a:spcPts val="2000"/>
              </a:lnSpc>
              <a:buNone/>
            </a:pPr>
            <a:r>
              <a:rPr lang="en-US" sz="1250" dirty="0">
                <a:solidFill>
                  <a:srgbClr val="374151"/>
                </a:solidFill>
                <a:latin typeface="Calibri" pitchFamily="34" charset="0"/>
                <a:ea typeface="Calibri" pitchFamily="34" charset="-122"/>
                <a:cs typeface="Calibri" pitchFamily="34" charset="-120"/>
              </a:rPr>
              <a:t>A rule that is correct and abstains on every real part is worth nothing. So we measure how much of the catalogue actually speaks, by commodity.</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2148840"/>
          <a:ext cx="6949440" cy="914400"/>
        </p:xfrm>
        <a:graphic>
          <a:graphicData uri="http://schemas.openxmlformats.org/drawingml/2006/table">
            <a:tbl>
              <a:tblPr/>
              <a:tblGrid>
                <a:gridCol w="2103120"/>
                <a:gridCol w="2468880"/>
                <a:gridCol w="1280160"/>
                <a:gridCol w="1097280"/>
              </a:tblGrid>
              <a:tr h="28803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Commodity</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D1F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Process family</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D1F33"/>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Rule coverage</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D1F33"/>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Findings / part</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0D1F33"/>
                    </a:solidFill>
                  </a:tcPr>
                </a:tc>
              </a:tr>
              <a:tr h="288036">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HPDC housing</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050" dirty="0">
                          <a:solidFill>
                            <a:srgbClr val="374151"/>
                          </a:solidFill>
                          <a:latin typeface="Calibri" pitchFamily="34" charset="0"/>
                          <a:ea typeface="Calibri" pitchFamily="34" charset="-122"/>
                          <a:cs typeface="Calibri" pitchFamily="34" charset="-120"/>
                        </a:rPr>
                        <a:t>High-pressure die casting</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050" b="1" dirty="0">
                          <a:solidFill>
                            <a:srgbClr val="059669"/>
                          </a:solidFill>
                          <a:latin typeface="Calibri" pitchFamily="34" charset="0"/>
                          <a:ea typeface="Calibri" pitchFamily="34" charset="-122"/>
                          <a:cs typeface="Calibri" pitchFamily="34" charset="-120"/>
                        </a:rPr>
                        <a:t>83.3 %</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050" dirty="0">
                          <a:solidFill>
                            <a:srgbClr val="374151"/>
                          </a:solidFill>
                          <a:latin typeface="Calibri" pitchFamily="34" charset="0"/>
                          <a:ea typeface="Calibri" pitchFamily="34" charset="-122"/>
                          <a:cs typeface="Calibri" pitchFamily="34" charset="-120"/>
                        </a:rPr>
                        <a:t>4.8</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r>
              <a:tr h="288036">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Gear blank</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374151"/>
                          </a:solidFill>
                          <a:latin typeface="Calibri" pitchFamily="34" charset="0"/>
                          <a:ea typeface="Calibri" pitchFamily="34" charset="-122"/>
                          <a:cs typeface="Calibri" pitchFamily="34" charset="-120"/>
                        </a:rPr>
                        <a:t>Powder metallurgy</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b="1" dirty="0">
                          <a:solidFill>
                            <a:srgbClr val="059669"/>
                          </a:solidFill>
                          <a:latin typeface="Calibri" pitchFamily="34" charset="0"/>
                          <a:ea typeface="Calibri" pitchFamily="34" charset="-122"/>
                          <a:cs typeface="Calibri" pitchFamily="34" charset="-120"/>
                        </a:rPr>
                        <a:t>83.3 %</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374151"/>
                          </a:solidFill>
                          <a:latin typeface="Calibri" pitchFamily="34" charset="0"/>
                          <a:ea typeface="Calibri" pitchFamily="34" charset="-122"/>
                          <a:cs typeface="Calibri" pitchFamily="34" charset="-120"/>
                        </a:rPr>
                        <a:t>0.0</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r>
              <a:tr h="288036">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Extruded profile</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050" dirty="0">
                          <a:solidFill>
                            <a:srgbClr val="374151"/>
                          </a:solidFill>
                          <a:latin typeface="Calibri" pitchFamily="34" charset="0"/>
                          <a:ea typeface="Calibri" pitchFamily="34" charset="-122"/>
                          <a:cs typeface="Calibri" pitchFamily="34" charset="-120"/>
                        </a:rPr>
                        <a:t>Extrusion</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050" b="1" dirty="0">
                          <a:solidFill>
                            <a:srgbClr val="059669"/>
                          </a:solidFill>
                          <a:latin typeface="Calibri" pitchFamily="34" charset="0"/>
                          <a:ea typeface="Calibri" pitchFamily="34" charset="-122"/>
                          <a:cs typeface="Calibri" pitchFamily="34" charset="-120"/>
                        </a:rPr>
                        <a:t>83.3 %</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050" dirty="0">
                          <a:solidFill>
                            <a:srgbClr val="374151"/>
                          </a:solidFill>
                          <a:latin typeface="Calibri" pitchFamily="34" charset="0"/>
                          <a:ea typeface="Calibri" pitchFamily="34" charset="-122"/>
                          <a:cs typeface="Calibri" pitchFamily="34" charset="-120"/>
                        </a:rPr>
                        <a:t>0.1</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r>
              <a:tr h="288036">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Moulded cover</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374151"/>
                          </a:solidFill>
                          <a:latin typeface="Calibri" pitchFamily="34" charset="0"/>
                          <a:ea typeface="Calibri" pitchFamily="34" charset="-122"/>
                          <a:cs typeface="Calibri" pitchFamily="34" charset="-120"/>
                        </a:rPr>
                        <a:t>Injection moulding</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b="1" dirty="0">
                          <a:solidFill>
                            <a:srgbClr val="059669"/>
                          </a:solidFill>
                          <a:latin typeface="Calibri" pitchFamily="34" charset="0"/>
                          <a:ea typeface="Calibri" pitchFamily="34" charset="-122"/>
                          <a:cs typeface="Calibri" pitchFamily="34" charset="-120"/>
                        </a:rPr>
                        <a:t>77.8 %</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374151"/>
                          </a:solidFill>
                          <a:latin typeface="Calibri" pitchFamily="34" charset="0"/>
                          <a:ea typeface="Calibri" pitchFamily="34" charset="-122"/>
                          <a:cs typeface="Calibri" pitchFamily="34" charset="-120"/>
                        </a:rPr>
                        <a:t>3.3</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r>
              <a:tr h="288036">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Machined block</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050" dirty="0">
                          <a:solidFill>
                            <a:srgbClr val="374151"/>
                          </a:solidFill>
                          <a:latin typeface="Calibri" pitchFamily="34" charset="0"/>
                          <a:ea typeface="Calibri" pitchFamily="34" charset="-122"/>
                          <a:cs typeface="Calibri" pitchFamily="34" charset="-120"/>
                        </a:rPr>
                        <a:t>Machining</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050" b="1" dirty="0">
                          <a:solidFill>
                            <a:srgbClr val="059669"/>
                          </a:solidFill>
                          <a:latin typeface="Calibri" pitchFamily="34" charset="0"/>
                          <a:ea typeface="Calibri" pitchFamily="34" charset="-122"/>
                          <a:cs typeface="Calibri" pitchFamily="34" charset="-120"/>
                        </a:rPr>
                        <a:t>71.4 %</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050" dirty="0">
                          <a:solidFill>
                            <a:srgbClr val="374151"/>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r>
              <a:tr h="288036">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Drawn cup</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374151"/>
                          </a:solidFill>
                          <a:latin typeface="Calibri" pitchFamily="34" charset="0"/>
                          <a:ea typeface="Calibri" pitchFamily="34" charset="-122"/>
                          <a:cs typeface="Calibri" pitchFamily="34" charset="-120"/>
                        </a:rPr>
                        <a:t>Deep drawing</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b="1" dirty="0">
                          <a:solidFill>
                            <a:srgbClr val="1F2937"/>
                          </a:solidFill>
                          <a:latin typeface="Calibri" pitchFamily="34" charset="0"/>
                          <a:ea typeface="Calibri" pitchFamily="34" charset="-122"/>
                          <a:cs typeface="Calibri" pitchFamily="34" charset="-120"/>
                        </a:rPr>
                        <a:t>68.0 %</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374151"/>
                          </a:solidFill>
                          <a:latin typeface="Calibri" pitchFamily="34" charset="0"/>
                          <a:ea typeface="Calibri" pitchFamily="34" charset="-122"/>
                          <a:cs typeface="Calibri" pitchFamily="34" charset="-120"/>
                        </a:rPr>
                        <a:t>0.3</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r>
              <a:tr h="288036">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Forged lever</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050" dirty="0">
                          <a:solidFill>
                            <a:srgbClr val="374151"/>
                          </a:solidFill>
                          <a:latin typeface="Calibri" pitchFamily="34" charset="0"/>
                          <a:ea typeface="Calibri" pitchFamily="34" charset="-122"/>
                          <a:cs typeface="Calibri" pitchFamily="34" charset="-120"/>
                        </a:rPr>
                        <a:t>Hot forging</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050" b="1" dirty="0">
                          <a:solidFill>
                            <a:srgbClr val="1F2937"/>
                          </a:solidFill>
                          <a:latin typeface="Calibri" pitchFamily="34" charset="0"/>
                          <a:ea typeface="Calibri" pitchFamily="34" charset="-122"/>
                          <a:cs typeface="Calibri" pitchFamily="34" charset="-120"/>
                        </a:rPr>
                        <a:t>66.7 %</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050" dirty="0">
                          <a:solidFill>
                            <a:srgbClr val="374151"/>
                          </a:solidFill>
                          <a:latin typeface="Calibri" pitchFamily="34" charset="0"/>
                          <a:ea typeface="Calibri" pitchFamily="34" charset="-122"/>
                          <a:cs typeface="Calibri" pitchFamily="34" charset="-120"/>
                        </a:rPr>
                        <a:t>3.7</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r>
              <a:tr h="288036">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Turned shaft</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374151"/>
                          </a:solidFill>
                          <a:latin typeface="Calibri" pitchFamily="34" charset="0"/>
                          <a:ea typeface="Calibri" pitchFamily="34" charset="-122"/>
                          <a:cs typeface="Calibri" pitchFamily="34" charset="-120"/>
                        </a:rPr>
                        <a:t>Turning</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b="1" dirty="0">
                          <a:solidFill>
                            <a:srgbClr val="1F2937"/>
                          </a:solidFill>
                          <a:latin typeface="Calibri" pitchFamily="34" charset="0"/>
                          <a:ea typeface="Calibri" pitchFamily="34" charset="-122"/>
                          <a:cs typeface="Calibri" pitchFamily="34" charset="-120"/>
                        </a:rPr>
                        <a:t>60.0 %</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374151"/>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r>
              <a:tr h="288036">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Sand-cast arm</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050" dirty="0">
                          <a:solidFill>
                            <a:srgbClr val="374151"/>
                          </a:solidFill>
                          <a:latin typeface="Calibri" pitchFamily="34" charset="0"/>
                          <a:ea typeface="Calibri" pitchFamily="34" charset="-122"/>
                          <a:cs typeface="Calibri" pitchFamily="34" charset="-120"/>
                        </a:rPr>
                        <a:t>Sand casting</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050" b="1" dirty="0">
                          <a:solidFill>
                            <a:srgbClr val="1F2937"/>
                          </a:solidFill>
                          <a:latin typeface="Calibri" pitchFamily="34" charset="0"/>
                          <a:ea typeface="Calibri" pitchFamily="34" charset="-122"/>
                          <a:cs typeface="Calibri" pitchFamily="34" charset="-120"/>
                        </a:rPr>
                        <a:t>60.0 %</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r" indent="0" marL="0">
                        <a:buNone/>
                      </a:pPr>
                      <a:r>
                        <a:rPr lang="en-US" sz="1050" dirty="0">
                          <a:solidFill>
                            <a:srgbClr val="374151"/>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1F5F9"/>
                    </a:solidFill>
                  </a:tcPr>
                </a:tc>
              </a:tr>
              <a:tr h="288036">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Sheet bracket</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050" dirty="0">
                          <a:solidFill>
                            <a:srgbClr val="374151"/>
                          </a:solidFill>
                          <a:latin typeface="Calibri" pitchFamily="34" charset="0"/>
                          <a:ea typeface="Calibri" pitchFamily="34" charset="-122"/>
                          <a:cs typeface="Calibri" pitchFamily="34" charset="-120"/>
                        </a:rPr>
                        <a:t>Sheet metal</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b="1" dirty="0">
                          <a:solidFill>
                            <a:srgbClr val="DC2626"/>
                          </a:solidFill>
                          <a:latin typeface="Calibri" pitchFamily="34" charset="0"/>
                          <a:ea typeface="Calibri" pitchFamily="34" charset="-122"/>
                          <a:cs typeface="Calibri" pitchFamily="34" charset="-120"/>
                        </a:rPr>
                        <a:t>37.5 %</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050" dirty="0">
                          <a:solidFill>
                            <a:srgbClr val="374151"/>
                          </a:solidFill>
                          <a:latin typeface="Calibri" pitchFamily="34" charset="0"/>
                          <a:ea typeface="Calibri" pitchFamily="34" charset="-122"/>
                          <a:cs typeface="Calibri" pitchFamily="34" charset="-120"/>
                        </a:rPr>
                        <a:t>0.0</a:t>
                      </a:r>
                      <a:endParaRPr lang="en-US" sz="10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Shape 3"/>
          <p:cNvSpPr/>
          <p:nvPr/>
        </p:nvSpPr>
        <p:spPr>
          <a:xfrm>
            <a:off x="7726680" y="2148840"/>
            <a:ext cx="3895344" cy="1353312"/>
          </a:xfrm>
          <a:prstGeom prst="roundRect">
            <a:avLst>
              <a:gd name="adj" fmla="val 4054"/>
            </a:avLst>
          </a:prstGeom>
          <a:solidFill>
            <a:srgbClr val="F1F5F9"/>
          </a:solidFill>
          <a:ln w="12700">
            <a:solidFill>
              <a:srgbClr val="F1F5F9"/>
            </a:solidFill>
            <a:prstDash val="solid"/>
          </a:ln>
        </p:spPr>
      </p:sp>
      <p:sp>
        <p:nvSpPr>
          <p:cNvPr id="7" name="Text 4"/>
          <p:cNvSpPr/>
          <p:nvPr/>
        </p:nvSpPr>
        <p:spPr>
          <a:xfrm>
            <a:off x="7891272" y="2258568"/>
            <a:ext cx="3566160" cy="45720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69.3 %</a:t>
            </a:r>
            <a:endParaRPr lang="en-US" sz="2800" dirty="0"/>
          </a:p>
        </p:txBody>
      </p:sp>
      <p:sp>
        <p:nvSpPr>
          <p:cNvPr id="8" name="Text 5"/>
          <p:cNvSpPr/>
          <p:nvPr/>
        </p:nvSpPr>
        <p:spPr>
          <a:xfrm>
            <a:off x="7891272" y="2734056"/>
            <a:ext cx="3566160" cy="256032"/>
          </a:xfrm>
          <a:prstGeom prst="rect">
            <a:avLst/>
          </a:prstGeom>
          <a:noFill/>
          <a:ln/>
        </p:spPr>
        <p:txBody>
          <a:bodyPr wrap="square" lIns="0" tIns="0" rIns="0" bIns="0" rtlCol="0" anchor="ctr"/>
          <a:lstStyle/>
          <a:p>
            <a:pPr indent="0" marL="0">
              <a:buNone/>
            </a:pPr>
            <a:r>
              <a:rPr lang="en-US" sz="1000" b="1" spc="100" kern="0" dirty="0">
                <a:solidFill>
                  <a:srgbClr val="6B7280"/>
                </a:solidFill>
                <a:latin typeface="Calibri" pitchFamily="34" charset="0"/>
                <a:ea typeface="Calibri" pitchFamily="34" charset="-122"/>
                <a:cs typeface="Calibri" pitchFamily="34" charset="-120"/>
              </a:rPr>
              <a:t>MEAN COVERAGE</a:t>
            </a:r>
            <a:endParaRPr lang="en-US" sz="1000" dirty="0"/>
          </a:p>
        </p:txBody>
      </p:sp>
      <p:sp>
        <p:nvSpPr>
          <p:cNvPr id="9" name="Text 6"/>
          <p:cNvSpPr/>
          <p:nvPr/>
        </p:nvSpPr>
        <p:spPr>
          <a:xfrm>
            <a:off x="7891272" y="2990088"/>
            <a:ext cx="3566160" cy="420624"/>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Up from 64.1% when the sweep was first built</a:t>
            </a:r>
            <a:endParaRPr lang="en-US" sz="950" dirty="0"/>
          </a:p>
        </p:txBody>
      </p:sp>
      <p:sp>
        <p:nvSpPr>
          <p:cNvPr id="10" name="Shape 7"/>
          <p:cNvSpPr/>
          <p:nvPr/>
        </p:nvSpPr>
        <p:spPr>
          <a:xfrm>
            <a:off x="7726680" y="3657600"/>
            <a:ext cx="3895344" cy="2103120"/>
          </a:xfrm>
          <a:prstGeom prst="roundRect">
            <a:avLst>
              <a:gd name="adj" fmla="val 2609"/>
            </a:avLst>
          </a:prstGeom>
          <a:solidFill>
            <a:srgbClr val="F1F5F9"/>
          </a:solidFill>
          <a:ln w="12700">
            <a:solidFill>
              <a:srgbClr val="F1F5F9"/>
            </a:solidFill>
            <a:prstDash val="solid"/>
          </a:ln>
        </p:spPr>
      </p:sp>
      <p:sp>
        <p:nvSpPr>
          <p:cNvPr id="11" name="Text 8"/>
          <p:cNvSpPr/>
          <p:nvPr/>
        </p:nvSpPr>
        <p:spPr>
          <a:xfrm>
            <a:off x="7927848" y="3840480"/>
            <a:ext cx="3520440" cy="274320"/>
          </a:xfrm>
          <a:prstGeom prst="rect">
            <a:avLst/>
          </a:prstGeom>
          <a:noFill/>
          <a:ln/>
        </p:spPr>
        <p:txBody>
          <a:bodyPr wrap="square" lIns="0" tIns="0" rIns="0" bIns="0" rtlCol="0" anchor="ctr"/>
          <a:lstStyle/>
          <a:p>
            <a:pPr indent="0" marL="0">
              <a:buNone/>
            </a:pPr>
            <a:r>
              <a:rPr lang="en-US" sz="1250" b="1" dirty="0">
                <a:solidFill>
                  <a:srgbClr val="DC2626"/>
                </a:solidFill>
                <a:latin typeface="Calibri" pitchFamily="34" charset="0"/>
                <a:ea typeface="Calibri" pitchFamily="34" charset="-122"/>
                <a:cs typeface="Calibri" pitchFamily="34" charset="-120"/>
              </a:rPr>
              <a:t>The sheet-metal row is the honest one</a:t>
            </a:r>
            <a:endParaRPr lang="en-US" sz="1250" dirty="0"/>
          </a:p>
        </p:txBody>
      </p:sp>
      <p:sp>
        <p:nvSpPr>
          <p:cNvPr id="12" name="Text 9"/>
          <p:cNvSpPr/>
          <p:nvPr/>
        </p:nvSpPr>
        <p:spPr>
          <a:xfrm>
            <a:off x="7927848" y="4160520"/>
            <a:ext cx="3520440" cy="1463040"/>
          </a:xfrm>
          <a:prstGeom prst="rect">
            <a:avLst/>
          </a:prstGeom>
          <a:noFill/>
          <a:ln/>
        </p:spPr>
        <p:txBody>
          <a:bodyPr wrap="square" lIns="0" tIns="0" rIns="0" bIns="0" rtlCol="0" anchor="ctr"/>
          <a:lstStyle/>
          <a:p>
            <a:pPr indent="0" marL="0">
              <a:lnSpc>
                <a:spcPts val="1500"/>
              </a:lnSpc>
              <a:buNone/>
            </a:pPr>
            <a:r>
              <a:rPr lang="en-US" sz="1050" dirty="0">
                <a:solidFill>
                  <a:srgbClr val="374151"/>
                </a:solidFill>
                <a:latin typeface="Calibri" pitchFamily="34" charset="0"/>
                <a:ea typeface="Calibri" pitchFamily="34" charset="-122"/>
                <a:cs typeface="Calibri" pitchFamily="34" charset="-120"/>
              </a:rPr>
              <a:t>37.5% — the lowest on the board. Our test brackets are flat plates with holes, so no bend is recognised and seven bend rules never fire.</a:t>
            </a:r>
            <a:endParaRPr lang="en-US" sz="1050" dirty="0"/>
          </a:p>
          <a:p>
            <a:pPr indent="0" marL="0">
              <a:lnSpc>
                <a:spcPts val="1500"/>
              </a:lnSpc>
              <a:buNone/>
            </a:pPr>
            <a:endParaRPr lang="en-US" sz="1050" dirty="0"/>
          </a:p>
          <a:p>
            <a:pPr indent="0" marL="0">
              <a:lnSpc>
                <a:spcPts val="1500"/>
              </a:lnSpc>
              <a:buNone/>
            </a:pPr>
            <a:r>
              <a:rPr lang="en-US" sz="1050" dirty="0">
                <a:solidFill>
                  <a:srgbClr val="374151"/>
                </a:solidFill>
                <a:latin typeface="Calibri" pitchFamily="34" charset="0"/>
                <a:ea typeface="Calibri" pitchFamily="34" charset="-122"/>
                <a:cs typeface="Calibri" pitchFamily="34" charset="-120"/>
              </a:rPr>
              <a:t>It is a fixture gap, not a rule gap, and it is on the slide because you would find it in five minutes.</a:t>
            </a:r>
            <a:endParaRPr lang="en-US" sz="1050" dirty="0"/>
          </a:p>
        </p:txBody>
      </p:sp>
      <p:sp>
        <p:nvSpPr>
          <p:cNvPr id="13" name="Text 10"/>
          <p:cNvSpPr/>
          <p:nvPr/>
        </p:nvSpPr>
        <p:spPr>
          <a:xfrm>
            <a:off x="566928" y="6437376"/>
            <a:ext cx="11055096" cy="237744"/>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BrainSpark DFM / DFA Studio  ·  Design-for-Manufacture &amp; Assembly  ·  12/16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55096" cy="219456"/>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AGAINST THE MARKET</a:t>
            </a:r>
            <a:endParaRPr lang="en-US" sz="1100" dirty="0"/>
          </a:p>
        </p:txBody>
      </p:sp>
      <p:sp>
        <p:nvSpPr>
          <p:cNvPr id="3" name="Text 1"/>
          <p:cNvSpPr/>
          <p:nvPr/>
        </p:nvSpPr>
        <p:spPr>
          <a:xfrm>
            <a:off x="566928" y="768096"/>
            <a:ext cx="11055096" cy="64008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Versus DFMPro, aPriori and Boothroyd</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5096" cy="914400"/>
        </p:xfrm>
        <a:graphic>
          <a:graphicData uri="http://schemas.openxmlformats.org/drawingml/2006/table">
            <a:tbl>
              <a:tblPr/>
              <a:tblGrid>
                <a:gridCol w="4846320"/>
                <a:gridCol w="1737360"/>
                <a:gridCol w="2194560"/>
                <a:gridCol w="2276856"/>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Capability</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0D1F3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BrainSpark</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0D1F33"/>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Established tools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0D1F33"/>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Position</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0D1F33"/>
                    </a:solidFill>
                  </a:tcPr>
                </a:tc>
              </a:tr>
              <a:tr h="365760">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Geometry read from B-rep</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100" b="1" dirty="0">
                          <a:solidFill>
                            <a:srgbClr val="374151"/>
                          </a:solidFill>
                          <a:latin typeface="Calibri" pitchFamily="34" charset="0"/>
                          <a:ea typeface="Calibri" pitchFamily="34" charset="-122"/>
                          <a:cs typeface="Calibri" pitchFamily="34" charset="-120"/>
                        </a:rPr>
                        <a:t>Parity</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r>
              <a:tr h="365760">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Process- and alloy-specific rules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b="1" dirty="0">
                          <a:solidFill>
                            <a:srgbClr val="374151"/>
                          </a:solidFill>
                          <a:latin typeface="Calibri" pitchFamily="34" charset="0"/>
                          <a:ea typeface="Calibri" pitchFamily="34" charset="-122"/>
                          <a:cs typeface="Calibri" pitchFamily="34" charset="-120"/>
                        </a:rPr>
                        <a:t>Parity</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Findings priced by a should-cost engine</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aPriori yes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100" b="1" dirty="0">
                          <a:solidFill>
                            <a:srgbClr val="374151"/>
                          </a:solidFill>
                          <a:latin typeface="Calibri" pitchFamily="34" charset="0"/>
                          <a:ea typeface="Calibri" pitchFamily="34" charset="-122"/>
                          <a:cs typeface="Calibri" pitchFamily="34" charset="-120"/>
                        </a:rPr>
                        <a:t>Parity with the leader</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r>
              <a:tr h="365760">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Alternative process routes, priced and carbon-scored</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Ahead</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"Not evaluated" as a first-class outcome</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Rare</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Ahead</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r>
              <a:tr h="365760">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Threshold provenance published with the finding</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b="1" dirty="0">
                          <a:solidFill>
                            <a:srgbClr val="059669"/>
                          </a:solidFill>
                          <a:latin typeface="Calibri" pitchFamily="34" charset="0"/>
                          <a:ea typeface="Calibri" pitchFamily="34" charset="-122"/>
                          <a:cs typeface="Calibri" pitchFamily="34" charset="-120"/>
                        </a:rPr>
                        <a:t>Ahead</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Revision-to-revision comparison</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ctr" indent="0" marL="0">
                        <a:buNone/>
                      </a:pPr>
                      <a:r>
                        <a:rPr lang="en-US" sz="1100" b="1" dirty="0">
                          <a:solidFill>
                            <a:srgbClr val="1F2937"/>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100" b="1" dirty="0">
                          <a:solidFill>
                            <a:srgbClr val="374151"/>
                          </a:solidFill>
                          <a:latin typeface="Calibri" pitchFamily="34" charset="0"/>
                          <a:ea typeface="Calibri" pitchFamily="34" charset="-122"/>
                          <a:cs typeface="Calibri" pitchFamily="34" charset="-120"/>
                        </a:rPr>
                        <a:t>Parity</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r>
              <a:tr h="365760">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Validated against measured production outcomes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b="1" dirty="0">
                          <a:solidFill>
                            <a:srgbClr val="DC2626"/>
                          </a:solidFill>
                          <a:latin typeface="Calibri" pitchFamily="34" charset="0"/>
                          <a:ea typeface="Calibri" pitchFamily="34" charset="-122"/>
                          <a:cs typeface="Calibri" pitchFamily="34" charset="-120"/>
                        </a:rPr>
                        <a:t>Not yet</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00" b="1" dirty="0">
                          <a:solidFill>
                            <a:srgbClr val="DC2626"/>
                          </a:solidFill>
                          <a:latin typeface="Calibri" pitchFamily="34" charset="0"/>
                          <a:ea typeface="Calibri" pitchFamily="34" charset="-122"/>
                          <a:cs typeface="Calibri" pitchFamily="34" charset="-120"/>
                        </a:rPr>
                        <a:t>Behind</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Native CATIA / NX / JT input</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ctr" indent="0" marL="0">
                        <a:buNone/>
                      </a:pPr>
                      <a:r>
                        <a:rPr lang="en-US" sz="1100" b="1" dirty="0">
                          <a:solidFill>
                            <a:srgbClr val="DC2626"/>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algn="ctr" indent="0" marL="0">
                        <a:buNone/>
                      </a:pPr>
                      <a:r>
                        <a:rPr lang="en-US" sz="1100" dirty="0">
                          <a:solidFill>
                            <a:srgbClr val="374151"/>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100" b="1" dirty="0">
                          <a:solidFill>
                            <a:srgbClr val="DC2626"/>
                          </a:solidFill>
                          <a:latin typeface="Calibri" pitchFamily="34" charset="0"/>
                          <a:ea typeface="Calibri" pitchFamily="34" charset="-122"/>
                          <a:cs typeface="Calibri" pitchFamily="34" charset="-120"/>
                        </a:rPr>
                        <a:t>Behind</a:t>
                      </a:r>
                      <a:endParaRPr lang="en-US" sz="11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0" cap="flat" cmpd="sng" algn="ctr">
                      <a:noFill/>
                    </a:lnB>
                    <a:solidFill>
                      <a:srgbClr val="F1F5F9"/>
                    </a:solidFill>
                  </a:tcPr>
                </a:tc>
              </a:tr>
            </a:tbl>
          </a:graphicData>
        </a:graphic>
      </p:graphicFrame>
      <p:sp>
        <p:nvSpPr>
          <p:cNvPr id="5" name="Text 2"/>
          <p:cNvSpPr/>
          <p:nvPr/>
        </p:nvSpPr>
        <p:spPr>
          <a:xfrm>
            <a:off x="566928" y="5440680"/>
            <a:ext cx="11055096" cy="365760"/>
          </a:xfrm>
          <a:prstGeom prst="rect">
            <a:avLst/>
          </a:prstGeom>
          <a:noFill/>
          <a:ln/>
        </p:spPr>
        <p:txBody>
          <a:bodyPr wrap="square" lIns="0" tIns="0" rIns="0" bIns="0" rtlCol="0" anchor="ctr"/>
          <a:lstStyle/>
          <a:p>
            <a:pPr indent="0" marL="0">
              <a:buNone/>
            </a:pPr>
            <a:r>
              <a:rPr lang="en-US" sz="1250" i="1" dirty="0">
                <a:solidFill>
                  <a:srgbClr val="1F2937"/>
                </a:solidFill>
                <a:latin typeface="Calibri" pitchFamily="34" charset="0"/>
                <a:ea typeface="Calibri" pitchFamily="34" charset="-122"/>
                <a:cs typeface="Calibri" pitchFamily="34" charset="-120"/>
              </a:rPr>
              <a:t>The two red rows are the honest gaps, and they are the two I would spend money on next. Everything above them we already do.</a:t>
            </a:r>
            <a:endParaRPr lang="en-US" sz="1250" dirty="0"/>
          </a:p>
        </p:txBody>
      </p:sp>
      <p:sp>
        <p:nvSpPr>
          <p:cNvPr id="6" name="Text 3"/>
          <p:cNvSpPr/>
          <p:nvPr/>
        </p:nvSpPr>
        <p:spPr>
          <a:xfrm>
            <a:off x="566928" y="6437376"/>
            <a:ext cx="11055096" cy="237744"/>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BrainSpark DFM / DFA Studio  ·  Design-for-Manufacture &amp; Assembly  ·  13/16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75488"/>
            <a:ext cx="11055096" cy="219456"/>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WHAT IS NEXT</a:t>
            </a:r>
            <a:endParaRPr lang="en-US" sz="1100" dirty="0"/>
          </a:p>
        </p:txBody>
      </p:sp>
      <p:sp>
        <p:nvSpPr>
          <p:cNvPr id="3" name="Text 1"/>
          <p:cNvSpPr/>
          <p:nvPr/>
        </p:nvSpPr>
        <p:spPr>
          <a:xfrm>
            <a:off x="566928" y="768096"/>
            <a:ext cx="11055096" cy="640080"/>
          </a:xfrm>
          <a:prstGeom prst="rect">
            <a:avLst/>
          </a:prstGeom>
          <a:noFill/>
          <a:ln/>
        </p:spPr>
        <p:txBody>
          <a:bodyPr wrap="square" lIns="0" tIns="0" rIns="0" bIns="0" rtlCol="0" anchor="ctr"/>
          <a:lstStyle/>
          <a:p>
            <a:pPr indent="0" marL="0">
              <a:buNone/>
            </a:pPr>
            <a:r>
              <a:rPr lang="en-US" sz="3200" b="1" dirty="0">
                <a:solidFill>
                  <a:srgbClr val="1F2937"/>
                </a:solidFill>
                <a:latin typeface="Cambria" pitchFamily="34" charset="0"/>
                <a:ea typeface="Cambria" pitchFamily="34" charset="-122"/>
                <a:cs typeface="Cambria" pitchFamily="34" charset="-120"/>
              </a:rPr>
              <a:t>Ordered by impact, not by effort</a:t>
            </a:r>
            <a:endParaRPr lang="en-US" sz="3200" dirty="0"/>
          </a:p>
        </p:txBody>
      </p:sp>
      <p:sp>
        <p:nvSpPr>
          <p:cNvPr id="4" name="Shape 2"/>
          <p:cNvSpPr/>
          <p:nvPr/>
        </p:nvSpPr>
        <p:spPr>
          <a:xfrm>
            <a:off x="566928" y="1572768"/>
            <a:ext cx="11055096" cy="987552"/>
          </a:xfrm>
          <a:prstGeom prst="roundRect">
            <a:avLst>
              <a:gd name="adj" fmla="val 5556"/>
            </a:avLst>
          </a:prstGeom>
          <a:solidFill>
            <a:srgbClr val="FEF3C7"/>
          </a:solidFill>
          <a:ln w="12700">
            <a:solidFill>
              <a:srgbClr val="FDE68A"/>
            </a:solidFill>
            <a:prstDash val="solid"/>
          </a:ln>
        </p:spPr>
      </p:sp>
      <p:sp>
        <p:nvSpPr>
          <p:cNvPr id="5" name="Shape 3"/>
          <p:cNvSpPr/>
          <p:nvPr/>
        </p:nvSpPr>
        <p:spPr>
          <a:xfrm>
            <a:off x="822960" y="1847088"/>
            <a:ext cx="420624" cy="420624"/>
          </a:xfrm>
          <a:prstGeom prst="ellipse">
            <a:avLst/>
          </a:prstGeom>
          <a:solidFill>
            <a:srgbClr val="F59E0B"/>
          </a:solidFill>
          <a:ln w="12700">
            <a:solidFill>
              <a:srgbClr val="F59E0B"/>
            </a:solidFill>
            <a:prstDash val="solid"/>
          </a:ln>
        </p:spPr>
      </p:sp>
      <p:sp>
        <p:nvSpPr>
          <p:cNvPr id="6" name="Text 4"/>
          <p:cNvSpPr/>
          <p:nvPr/>
        </p:nvSpPr>
        <p:spPr>
          <a:xfrm>
            <a:off x="822960" y="1847088"/>
            <a:ext cx="420624" cy="420624"/>
          </a:xfrm>
          <a:prstGeom prst="rect">
            <a:avLst/>
          </a:prstGeom>
          <a:noFill/>
          <a:ln/>
        </p:spPr>
        <p:txBody>
          <a:bodyPr wrap="square" lIns="0" tIns="0" rIns="0" bIns="0" rtlCol="0" anchor="ctr"/>
          <a:lstStyle/>
          <a:p>
            <a:pPr algn="ctr" indent="0" marL="0">
              <a:buNone/>
            </a:pPr>
            <a:r>
              <a:rPr lang="en-US" sz="1500" b="1" dirty="0">
                <a:solidFill>
                  <a:srgbClr val="0D1F33"/>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435608" y="1719072"/>
            <a:ext cx="9966960" cy="29260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Validate against one real part</a:t>
            </a:r>
            <a:endParaRPr lang="en-US" sz="1400" dirty="0"/>
          </a:p>
        </p:txBody>
      </p:sp>
      <p:sp>
        <p:nvSpPr>
          <p:cNvPr id="8" name="Text 6"/>
          <p:cNvSpPr/>
          <p:nvPr/>
        </p:nvSpPr>
        <p:spPr>
          <a:xfrm>
            <a:off x="1435608" y="2029968"/>
            <a:ext cx="9966960" cy="45720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 production part, its quote, and the supplier's own DFM markup. This is what converts "internally consistent" into "accurate" — and it is the only item on this list I cannot do alone.</a:t>
            </a:r>
            <a:endParaRPr lang="en-US" sz="1100" dirty="0"/>
          </a:p>
        </p:txBody>
      </p:sp>
      <p:sp>
        <p:nvSpPr>
          <p:cNvPr id="9" name="Shape 7"/>
          <p:cNvSpPr/>
          <p:nvPr/>
        </p:nvSpPr>
        <p:spPr>
          <a:xfrm>
            <a:off x="566928" y="2706624"/>
            <a:ext cx="11055096" cy="987552"/>
          </a:xfrm>
          <a:prstGeom prst="roundRect">
            <a:avLst>
              <a:gd name="adj" fmla="val 5556"/>
            </a:avLst>
          </a:prstGeom>
          <a:solidFill>
            <a:srgbClr val="F1F5F9"/>
          </a:solidFill>
          <a:ln w="12700">
            <a:solidFill>
              <a:srgbClr val="F1F5F9"/>
            </a:solidFill>
            <a:prstDash val="solid"/>
          </a:ln>
        </p:spPr>
      </p:sp>
      <p:sp>
        <p:nvSpPr>
          <p:cNvPr id="10" name="Shape 8"/>
          <p:cNvSpPr/>
          <p:nvPr/>
        </p:nvSpPr>
        <p:spPr>
          <a:xfrm>
            <a:off x="822960" y="2980944"/>
            <a:ext cx="420624" cy="420624"/>
          </a:xfrm>
          <a:prstGeom prst="ellipse">
            <a:avLst/>
          </a:prstGeom>
          <a:solidFill>
            <a:srgbClr val="15304E"/>
          </a:solidFill>
          <a:ln w="12700">
            <a:solidFill>
              <a:srgbClr val="15304E"/>
            </a:solidFill>
            <a:prstDash val="solid"/>
          </a:ln>
        </p:spPr>
      </p:sp>
      <p:sp>
        <p:nvSpPr>
          <p:cNvPr id="11" name="Text 9"/>
          <p:cNvSpPr/>
          <p:nvPr/>
        </p:nvSpPr>
        <p:spPr>
          <a:xfrm>
            <a:off x="822960" y="29809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435608" y="2852928"/>
            <a:ext cx="9966960" cy="29260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Native CAD input</a:t>
            </a:r>
            <a:endParaRPr lang="en-US" sz="1400" dirty="0"/>
          </a:p>
        </p:txBody>
      </p:sp>
      <p:sp>
        <p:nvSpPr>
          <p:cNvPr id="13" name="Text 11"/>
          <p:cNvSpPr/>
          <p:nvPr/>
        </p:nvSpPr>
        <p:spPr>
          <a:xfrm>
            <a:off x="1435608" y="3163824"/>
            <a:ext cx="9966960" cy="45720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CATIA, NX and JT. Today we read STEP and IGES, which means a translation step and a lost PMI tolerance every time.</a:t>
            </a:r>
            <a:endParaRPr lang="en-US" sz="1100" dirty="0"/>
          </a:p>
        </p:txBody>
      </p:sp>
      <p:sp>
        <p:nvSpPr>
          <p:cNvPr id="14" name="Shape 12"/>
          <p:cNvSpPr/>
          <p:nvPr/>
        </p:nvSpPr>
        <p:spPr>
          <a:xfrm>
            <a:off x="566928" y="3840480"/>
            <a:ext cx="11055096" cy="987552"/>
          </a:xfrm>
          <a:prstGeom prst="roundRect">
            <a:avLst>
              <a:gd name="adj" fmla="val 5556"/>
            </a:avLst>
          </a:prstGeom>
          <a:solidFill>
            <a:srgbClr val="F1F5F9"/>
          </a:solidFill>
          <a:ln w="12700">
            <a:solidFill>
              <a:srgbClr val="F1F5F9"/>
            </a:solidFill>
            <a:prstDash val="solid"/>
          </a:ln>
        </p:spPr>
      </p:sp>
      <p:sp>
        <p:nvSpPr>
          <p:cNvPr id="15" name="Shape 13"/>
          <p:cNvSpPr/>
          <p:nvPr/>
        </p:nvSpPr>
        <p:spPr>
          <a:xfrm>
            <a:off x="822960" y="4114800"/>
            <a:ext cx="420624" cy="420624"/>
          </a:xfrm>
          <a:prstGeom prst="ellipse">
            <a:avLst/>
          </a:prstGeom>
          <a:solidFill>
            <a:srgbClr val="15304E"/>
          </a:solidFill>
          <a:ln w="12700">
            <a:solidFill>
              <a:srgbClr val="15304E"/>
            </a:solidFill>
            <a:prstDash val="solid"/>
          </a:ln>
        </p:spPr>
      </p:sp>
      <p:sp>
        <p:nvSpPr>
          <p:cNvPr id="16" name="Text 14"/>
          <p:cNvSpPr/>
          <p:nvPr/>
        </p:nvSpPr>
        <p:spPr>
          <a:xfrm>
            <a:off x="822960" y="41148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435608" y="3986784"/>
            <a:ext cx="9966960" cy="29260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Audit the top 20 thresholds</a:t>
            </a:r>
            <a:endParaRPr lang="en-US" sz="1400" dirty="0"/>
          </a:p>
        </p:txBody>
      </p:sp>
      <p:sp>
        <p:nvSpPr>
          <p:cNvPr id="18" name="Text 16"/>
          <p:cNvSpPr/>
          <p:nvPr/>
        </p:nvSpPr>
        <p:spPr>
          <a:xfrm>
            <a:off x="1435608" y="4297680"/>
            <a:ext cx="9966960" cy="45720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Against primary standards. The register already names which twenty and ranks them by exposure.</a:t>
            </a:r>
            <a:endParaRPr lang="en-US" sz="1100" dirty="0"/>
          </a:p>
        </p:txBody>
      </p:sp>
      <p:sp>
        <p:nvSpPr>
          <p:cNvPr id="19" name="Shape 17"/>
          <p:cNvSpPr/>
          <p:nvPr/>
        </p:nvSpPr>
        <p:spPr>
          <a:xfrm>
            <a:off x="566928" y="4974336"/>
            <a:ext cx="11055096" cy="987552"/>
          </a:xfrm>
          <a:prstGeom prst="roundRect">
            <a:avLst>
              <a:gd name="adj" fmla="val 5556"/>
            </a:avLst>
          </a:prstGeom>
          <a:solidFill>
            <a:srgbClr val="F1F5F9"/>
          </a:solidFill>
          <a:ln w="12700">
            <a:solidFill>
              <a:srgbClr val="F1F5F9"/>
            </a:solidFill>
            <a:prstDash val="solid"/>
          </a:ln>
        </p:spPr>
      </p:sp>
      <p:sp>
        <p:nvSpPr>
          <p:cNvPr id="20" name="Shape 18"/>
          <p:cNvSpPr/>
          <p:nvPr/>
        </p:nvSpPr>
        <p:spPr>
          <a:xfrm>
            <a:off x="822960" y="5248656"/>
            <a:ext cx="420624" cy="420624"/>
          </a:xfrm>
          <a:prstGeom prst="ellipse">
            <a:avLst/>
          </a:prstGeom>
          <a:solidFill>
            <a:srgbClr val="15304E"/>
          </a:solidFill>
          <a:ln w="12700">
            <a:solidFill>
              <a:srgbClr val="15304E"/>
            </a:solidFill>
            <a:prstDash val="solid"/>
          </a:ln>
        </p:spPr>
      </p:sp>
      <p:sp>
        <p:nvSpPr>
          <p:cNvPr id="21" name="Text 19"/>
          <p:cNvSpPr/>
          <p:nvPr/>
        </p:nvSpPr>
        <p:spPr>
          <a:xfrm>
            <a:off x="822960" y="52486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435608" y="5120640"/>
            <a:ext cx="9966960" cy="292608"/>
          </a:xfrm>
          <a:prstGeom prst="rect">
            <a:avLst/>
          </a:prstGeom>
          <a:noFill/>
          <a:ln/>
        </p:spPr>
        <p:txBody>
          <a:bodyPr wrap="square" lIns="0" tIns="0" rIns="0" bIns="0" rtlCol="0" anchor="ctr"/>
          <a:lstStyle/>
          <a:p>
            <a:pPr indent="0" marL="0">
              <a:buNone/>
            </a:pPr>
            <a:r>
              <a:rPr lang="en-US" sz="1400" b="1" dirty="0">
                <a:solidFill>
                  <a:srgbClr val="1F2937"/>
                </a:solidFill>
                <a:latin typeface="Cambria" pitchFamily="34" charset="0"/>
                <a:ea typeface="Cambria" pitchFamily="34" charset="-122"/>
                <a:cs typeface="Cambria" pitchFamily="34" charset="-120"/>
              </a:rPr>
              <a:t>Company standards, plant-wide</a:t>
            </a:r>
            <a:endParaRPr lang="en-US" sz="1400" dirty="0"/>
          </a:p>
        </p:txBody>
      </p:sp>
      <p:sp>
        <p:nvSpPr>
          <p:cNvPr id="23" name="Text 21"/>
          <p:cNvSpPr/>
          <p:nvPr/>
        </p:nvSpPr>
        <p:spPr>
          <a:xfrm>
            <a:off x="1435608" y="5431536"/>
            <a:ext cx="9966960" cy="457200"/>
          </a:xfrm>
          <a:prstGeom prst="rect">
            <a:avLst/>
          </a:prstGeom>
          <a:noFill/>
          <a:ln/>
        </p:spPr>
        <p:txBody>
          <a:bodyPr wrap="square" lIns="0" tIns="0" rIns="0" bIns="0"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Already built and org-scoped; needs the plant's own values loaded to be worth anything.</a:t>
            </a:r>
            <a:endParaRPr lang="en-US" sz="1100" dirty="0"/>
          </a:p>
        </p:txBody>
      </p:sp>
      <p:sp>
        <p:nvSpPr>
          <p:cNvPr id="24" name="Text 22"/>
          <p:cNvSpPr/>
          <p:nvPr/>
        </p:nvSpPr>
        <p:spPr>
          <a:xfrm>
            <a:off x="566928" y="6437376"/>
            <a:ext cx="11055096" cy="237744"/>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BrainSpark DFM / DFA Studio  ·  Design-for-Manufacture &amp; Assembly  ·  14/16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F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0000"/>
          </a:blip>
          <a:stretch>
            <a:fillRect/>
          </a:stretch>
        </p:blipFill>
        <p:spPr>
          <a:xfrm>
            <a:off x="7406640" y="2103120"/>
            <a:ext cx="4206240" cy="2990088"/>
          </a:xfrm>
          <a:prstGeom prst="rect">
            <a:avLst/>
          </a:prstGeom>
        </p:spPr>
      </p:pic>
      <p:sp>
        <p:nvSpPr>
          <p:cNvPr id="3" name="Text 0"/>
          <p:cNvSpPr/>
          <p:nvPr/>
        </p:nvSpPr>
        <p:spPr>
          <a:xfrm>
            <a:off x="566928" y="1234440"/>
            <a:ext cx="7315200" cy="256032"/>
          </a:xfrm>
          <a:prstGeom prst="rect">
            <a:avLst/>
          </a:prstGeom>
          <a:noFill/>
          <a:ln/>
        </p:spPr>
        <p:txBody>
          <a:bodyPr wrap="square" lIns="0" tIns="0" rIns="0" bIns="0" rtlCol="0" anchor="ctr"/>
          <a:lstStyle/>
          <a:p>
            <a:pPr indent="0" marL="0">
              <a:buNone/>
            </a:pPr>
            <a:r>
              <a:rPr lang="en-US" sz="1100" b="1" spc="200" kern="0" dirty="0">
                <a:solidFill>
                  <a:srgbClr val="F59E0B"/>
                </a:solidFill>
                <a:latin typeface="Calibri" pitchFamily="34" charset="0"/>
                <a:ea typeface="Calibri" pitchFamily="34" charset="-122"/>
                <a:cs typeface="Calibri" pitchFamily="34" charset="-120"/>
              </a:rPr>
              <a:t>THE ASK</a:t>
            </a:r>
            <a:endParaRPr lang="en-US" sz="1100" dirty="0"/>
          </a:p>
        </p:txBody>
      </p:sp>
      <p:sp>
        <p:nvSpPr>
          <p:cNvPr id="4" name="Text 1"/>
          <p:cNvSpPr/>
          <p:nvPr/>
        </p:nvSpPr>
        <p:spPr>
          <a:xfrm>
            <a:off x="566928" y="1572768"/>
            <a:ext cx="749808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One real part, with its quote</a:t>
            </a:r>
            <a:endParaRPr lang="en-US" sz="3800" dirty="0"/>
          </a:p>
        </p:txBody>
      </p:sp>
      <p:sp>
        <p:nvSpPr>
          <p:cNvPr id="5" name="Text 2"/>
          <p:cNvSpPr/>
          <p:nvPr/>
        </p:nvSpPr>
        <p:spPr>
          <a:xfrm>
            <a:off x="566928" y="2514600"/>
            <a:ext cx="6492240" cy="2011680"/>
          </a:xfrm>
          <a:prstGeom prst="rect">
            <a:avLst/>
          </a:prstGeom>
          <a:noFill/>
          <a:ln/>
        </p:spPr>
        <p:txBody>
          <a:bodyPr wrap="square" lIns="0" tIns="0" rIns="0" bIns="0" rtlCol="0" anchor="ctr"/>
          <a:lstStyle/>
          <a:p>
            <a:pPr indent="0" marL="0">
              <a:lnSpc>
                <a:spcPts val="2300"/>
              </a:lnSpc>
              <a:buNone/>
            </a:pPr>
            <a:r>
              <a:rPr lang="en-US" sz="1350" dirty="0">
                <a:solidFill>
                  <a:srgbClr val="CBD5E1"/>
                </a:solidFill>
                <a:latin typeface="Calibri" pitchFamily="34" charset="0"/>
                <a:ea typeface="Calibri" pitchFamily="34" charset="-122"/>
                <a:cs typeface="Calibri" pitchFamily="34" charset="-120"/>
              </a:rPr>
              <a:t>The tool is built, tested and honest about its limits. What it has never had is a production part with a known outcome.</a:t>
            </a:r>
            <a:endParaRPr lang="en-US" sz="1350" dirty="0"/>
          </a:p>
          <a:p>
            <a:pPr indent="0" marL="0">
              <a:lnSpc>
                <a:spcPts val="2300"/>
              </a:lnSpc>
              <a:buNone/>
            </a:pPr>
            <a:endParaRPr lang="en-US" sz="1350" dirty="0"/>
          </a:p>
          <a:p>
            <a:pPr indent="0" marL="0">
              <a:lnSpc>
                <a:spcPts val="2300"/>
              </a:lnSpc>
              <a:buNone/>
            </a:pPr>
            <a:r>
              <a:rPr lang="en-US" sz="1350" dirty="0">
                <a:solidFill>
                  <a:srgbClr val="CBD5E1"/>
                </a:solidFill>
                <a:latin typeface="Calibri" pitchFamily="34" charset="0"/>
                <a:ea typeface="Calibri" pitchFamily="34" charset="-122"/>
                <a:cs typeface="Calibri" pitchFamily="34" charset="-120"/>
              </a:rPr>
              <a:t>Give me one part we already buy — the STEP file, the quote we pay, and the supplier's own DFM comments. I will run it, publish every disagreement, and we will know within a week whether this is a tool we can put in front of a supplier or a prototype that needs another quarter.</a:t>
            </a:r>
            <a:endParaRPr lang="en-US" sz="1350" dirty="0"/>
          </a:p>
        </p:txBody>
      </p:sp>
      <p:sp>
        <p:nvSpPr>
          <p:cNvPr id="6" name="Shape 3"/>
          <p:cNvSpPr/>
          <p:nvPr/>
        </p:nvSpPr>
        <p:spPr>
          <a:xfrm>
            <a:off x="566928" y="4709160"/>
            <a:ext cx="6492240" cy="960120"/>
          </a:xfrm>
          <a:prstGeom prst="roundRect">
            <a:avLst>
              <a:gd name="adj" fmla="val 5714"/>
            </a:avLst>
          </a:prstGeom>
          <a:solidFill>
            <a:srgbClr val="15304E"/>
          </a:solidFill>
          <a:ln w="12700">
            <a:solidFill>
              <a:srgbClr val="15304E"/>
            </a:solidFill>
            <a:prstDash val="solid"/>
          </a:ln>
        </p:spPr>
      </p:sp>
      <p:sp>
        <p:nvSpPr>
          <p:cNvPr id="7" name="Text 4"/>
          <p:cNvSpPr/>
          <p:nvPr/>
        </p:nvSpPr>
        <p:spPr>
          <a:xfrm>
            <a:off x="822960" y="4892040"/>
            <a:ext cx="6035040" cy="640080"/>
          </a:xfrm>
          <a:prstGeom prst="rect">
            <a:avLst/>
          </a:prstGeom>
          <a:noFill/>
          <a:ln/>
        </p:spPr>
        <p:txBody>
          <a:bodyPr wrap="square" lIns="0" tIns="0" rIns="0" bIns="0" rtlCol="0" anchor="ctr"/>
          <a:lstStyle/>
          <a:p>
            <a:pPr indent="0" marL="0">
              <a:buNone/>
            </a:pPr>
            <a:r>
              <a:rPr lang="en-US" sz="1150" i="1" dirty="0">
                <a:solidFill>
                  <a:srgbClr val="E2E8F0"/>
                </a:solidFill>
                <a:latin typeface="Calibri" pitchFamily="34" charset="0"/>
                <a:ea typeface="Calibri" pitchFamily="34" charset="-122"/>
                <a:cs typeface="Calibri" pitchFamily="34" charset="-120"/>
              </a:rPr>
              <a:t>A sheet-metal bracket with real bends would be ideal — it would light up seven rules that have never yet run on anything but a fixture.</a:t>
            </a:r>
            <a:endParaRPr lang="en-US" sz="1150" dirty="0"/>
          </a:p>
        </p:txBody>
      </p:sp>
      <p:sp>
        <p:nvSpPr>
          <p:cNvPr id="8" name="Text 5"/>
          <p:cNvSpPr/>
          <p:nvPr/>
        </p:nvSpPr>
        <p:spPr>
          <a:xfrm>
            <a:off x="566928" y="6035040"/>
            <a:ext cx="73152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Avinash Bhosale   ·   Cost Engineering   ·   August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BrainSpark DFM / DFA Studio</dc:title>
  <dc:subject>PptxGenJS Presentation</dc:subject>
  <dc:creator>Avinash Bhosale</dc:creator>
  <cp:lastModifiedBy>Avinash Bhosale</cp:lastModifiedBy>
  <cp:revision>1</cp:revision>
  <dcterms:created xsi:type="dcterms:W3CDTF">2026-08-10T20:50:30Z</dcterms:created>
  <dcterms:modified xsi:type="dcterms:W3CDTF">2026-08-10T20:50:30Z</dcterms:modified>
</cp:coreProperties>
</file>