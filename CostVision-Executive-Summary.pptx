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0" r:id="rId6"/>
    <p:sldId id="261" r:id="rId7"/>
    <p:sldId id="288" r:id="rId39"/>
    <p:sldId id="264" r:id="rId10"/>
    <p:sldId id="268" r:id="rId14"/>
    <p:sldId id="269" r:id="rId15"/>
    <p:sldId id="273" r:id="rId19"/>
    <p:sldId id="274" r:id="rId20"/>
    <p:sldId id="276" r:id="rId22"/>
    <p:sldId id="278" r:id="rId24"/>
    <p:sldId id="280" r:id="rId26"/>
    <p:sldId id="283" r:id="rId29"/>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4.91</c:v>
                </c:pt>
                <c:pt idx="1">
                  <c:v>4.93</c:v>
                </c:pt>
                <c:pt idx="2">
                  <c:v>5.1</c:v>
                </c:pt>
                <c:pt idx="3">
                  <c:v>5.32</c:v>
                </c:pt>
                <c:pt idx="4">
                  <c:v>5.64</c:v>
                </c:pt>
                <c:pt idx="5">
                  <c:v>6.19</c:v>
                </c:pt>
                <c:pt idx="6">
                  <c:v>6.36</c:v>
                </c:pt>
                <c:pt idx="7">
                  <c:v>6.75</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This is CostVision, version 4.2. I want to set one thing straight at the start. In the JLR build the AI has no API key yet, so the tool runs on rules and arithmetic alone, on a laptop, with no internet. What it does is simple to say. It works out what a part should cost, from a CAD file or from inputs an engineer types. It splits that cost into eight buckets, from material to margin, using real 2026 rates. And every number traces back to a rate you can look up. Today I will show you what it covers, how CAD to Cost works, how we would use it in a negotiation, and what has been proven so far. I will also be clear about what has not been proven yet, because that matters just as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remember one slide, make it this one. Across the top are five facts. Every cost is split into eight buckets, and each one traces to a rate. The tool covers nineteen manufacturing processes and twenty manufacturing regions. The rate library holds 328 materials, dated June 2026. And it runs offline on a laptop, with no internet and no admin rights. Below that, the four boxes are the four jobs it does: estimate, understand the part, support the negotiation, and learn from real prices. The bottom line is honest. It gives us one consistent number that anyone can check. But I have not yet compared its answers with a price JLR actually paid. That is the next step, and it is what the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lay out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we select the material, the process, the machine, and we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us, it suggests the material and process with a confidence score we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tool on one slide. Read it left to right. On the left are the inputs: a CAD file, or the inputs an engineer types, plus a flat pattern for sheet metal, a supplier quote, and the country and volume. Next, the tool measures the part. The geometry engine reads volume, weight, walls, holes and features. Where the geometry cannot decide something, like the process route or the material family, the tool asks the engineer. It does not guess. Then the engines price it, using the rate tables. That column is pure arithmetic. On the right are the outputs: the eight-bucket cost, an uncertainty band, a negotiation pack, the exports and a carbon figure. The rule at the bottom is the one to hold on to. AI never sets a price, and in the JLR build it is not running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CostVision actually does, this is my answer: four jobs. First, it estimates. That is CAD to Cost, PCB fabrication and assembly, nineteen manufacturing processes, feature-based machining, plus an assembly roll-up and a cost model for automotive software. Second, it helps us understand the part: a 3D viewer, a table of measured features, design-for-manufacture findings, a carbon figure, and a self-audit on every result. Third, it supports the negotiation: a supplier quote compared bucket by bucket, twenty regions, what-if scenarios, and an uncertainty band. Fourth, it learns and stays governed. It keeps saved cases, finds similar parts, and corrects its band once real prices are logged. Everything on this map works without an API key, which is how it runs at JLR.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us.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we can override. Fourth, a deterministic engine prices it and explains the number with a confidence band and design-for-manufacture guidance. And note the bottom line — a 3D model alone is enough to get a defensible number, and if we attach the 2D drawing it reads the tolerances and GD&amp;T to sharpen the estimate further. The more we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CAD to Cost from end to end, left to right. You upload a STEP, IGES or STL file, and for sheet metal you can add a DXF flat pattern. The tool measures the part: volume, weight, walls and faces. It finds the features. Then it asks. Where the geometry cannot decide the process route or the material family, it puts the question to the engineer. Rules turn the answers into cost inputs, and the engine prices them in eight buckets. Thirteen processes can be costed straight from CAD this way. Before the result appears, the tool checks the inputs against the measured geometry. For example, a near-net casting or forging cannot carry a full machining cycle, so that time is capped. The honest limit: an STL has no feature table, so a machined STL needs a typed cycle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we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and I'll be straight — we don't quote a single headline 'X percent accurate on CAD' number, because honestly that depends on our parts and our rates, and we'd rather prove it on 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Electronics go through the same engine. At JLR you type in the board spec: size, layers, copper, finish and vias. You enter the BOM, with a quantity and unit price on each line. You add the assembly details, like SMT placements and through-hole joints, and pick the region and volume. The tool then prices the bare board, the parts and the assembly. One point is worth knowing. The bare board is a bought-in price, taken from fabricators' price tables. So the tool no longer adds overhead and margin on top of it. That fix took a default board from £100.44 down to £83.08. There is also a screen that reads a photo of the board. The model lists the parts; it is not asked for a cost. The tool prices every line from its own catalogue and class tables, and the engineer checks the lines marked to verify. That screen needs an API key, so it is hidden in the JLR build until one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A tool that only does one kind of part will not change how a team works. CostVision covers nineteen manufacturing processes. Casting, including high-pressure die-casting, sand, gravity and investment. Cast and machine. Machining, forging and gear cutting. Pressed sheet metal and sheet-metal fabrication. The moulding family: injection, blow, thermoforming and rotational. Then rubber, composites, extrusion, wiring harness, PCB fabrication, PCB assembly, painting and body-in-white assembly. On top of those there is an assembly roll-up and a cost model for automotive software. The key point is on the bottom bar. Every one of them uses the same eight-bucket cost stack, so every process is costed the same way. And every part can be priced in twenty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we actually have to give it, bottom-left: the part once, the regions we care about, and a volume. Everything on the bottom-right is what the model factors in for us, per region — and on the next slide we'll see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we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anyone who asks whose rates these are. They can be ours. The tool ships with a built-in library, version 2.1.0, dated 16 June 2026. It holds 328 materials, 178 machines and 42 labour grades. But we can load our own rates as one Excel workbook, with six tabs: materials, machines, labour, energy, exchange rates, and overhead and margin. Only an admin can upload, switch between our rates and the built-in set, or reset. Everyone else costs on whatever is active, and a badge says which. The server checks every row and rejects bad cells with the row number, so the library cannot be quietly corrupted. The library is versioned, and each costing records which rate book it used. There is also a JLR Rate Converter workbook that turns JLR's own rate card into this format, with no macros.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it concrete with one part, run through the engine. It is a 1.2 kilo aluminium die-casting in ADC12, two cavities, on an 800-tonne machine. The inputs are on the bottom bar, so anyone can check them. On the left is the UK cost stack. The total is £6.96 a part, and material is 63 percent of it. That tells a buyer this is a material game, not a labour game. On the right is the same part, ex-works, across eight regions. China comes out about 23 percent below the UK. Once shipping and duty are added, the gap narrows to about 12 percent. The tool shows both, so we do not chase a saving that freight eats. Please treat this as a worked example of the method. It is the engine's answer for these inputs, not a price anyone has quoted or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should-cost turns into a conversation with a supplier. We start with our should-cost. The tool builds an Excel quote template for that exact part, and the supplier fills it in, or we enter their quote line by line. The tool then compares the two, bucket by bucket, and shows which driver causes each gap: material, cycle time, rate or margin. Out comes a negotiation pack, as a PDF or PowerPoint, with the gap table, levers ranked by pounds a year, and questions to send the supplier. I have taken the old savings figures off this slide on purpose. They were illustrative, and I do not want to quote a saving we have not made. The real numbers will come from running this on real JLR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tool gets better with use, and none of it needs AI. It remembers: each saved analysis becomes a case. It compares: a new part is matched to similar past parts, and it shows why they matched. It corrects: when we log a real quote or purchase-order price, the tool records it. After three actuals for a process, the uncertainty band is corrected by real data instead of assumptions. And it checks: a background job compares logged prices with the should-cost and flags big gaps, and estimates that have gone stale. I have removed the old headline numbers from this slide. The honest number today is in the middle box. No estimate has yet been compared with a price JLR paid. That is exactly what logging actuals in the pilot will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our real quotes landed within plus-or-minus six-and-a-half percent. That's evidence a buyer can defend. The causal coach knows WHY a part costs what it does and writes the negotiating sentence for us — every one percent move in aluminium shifts the price by eleven pence. The what-if engine lets us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tool puts a number on a part, the fair question is: can I trust it? Here is my honest answer, in four parts. First, it is traceable. Every number is arithmetic you can follow back to a rate, and AI never sets a price. Second, what is proven. The engine matches a hand calculation to under 0.01 percent on a reference bracket at £24.34. Six real production parts, including a steering knuckle and a gear, are pinned, so any change that moves them fails the build. Third, what is not proven. No estimate has yet been compared with a price JLR paid. Until then, every result carries an uncertainty band. Fourth, it is tested: 2,438 automated tests, plus browser tests on every run. So the arithmetic is sound. Accuracy against real prices is the part we still have to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answered ‘can I trust the number today.’ This one answers the harder question a board should ask: ‘will it still be trustworthy after six months of changes.’ The answer is yes, because trust is wired into the build itself. Four guardrails. One — our golden rule, that AI never sets a price, is no longer just a principle we promise; it’s a machine check. If anyone ever wires an AI dependency into the deterministic cost engine, the build fails automatically. It can’t be bypassed. Two — accuracy is measured on every build: the CAD feature detection is scored against hand-verified reference parts, and a minimum-accuracy gate stops a regression from shipping; it even surfaced a real edge case on day one. Three — every change is guarded by nine hundred and forty-four automated tests plus visual screenshots of the key screens, so a broken layout or a logic slip fails here, not in front of a customer. Four — every result carries a confidence band, P10 to P90, so we’re always honest about the range. The bottom line for this room: the number is defensible by construction, and it stays defensible as the tool grows — quality is enforced on every commit, not reviewed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just over a thousand automated tests across eighty-six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this mean for the business? Four things, and I will be careful not to promise more than we have measured. First, a first number sooner. An engineer can get a should-cost from a CAD file or a typed form without building a spreadsheet. I have not timed that against today's process, so we will measure it in the pilot. Second, better negotiations. A line-by-line should-cost lets us challenge a quote by bucket and driver, not just argue about the total. Third, consistency. One method and one rate library, so two engineers get the same answer from the same inputs. Fourth, our own data. Saved cases and logged prices stay on our laptops, and the more real prices we log, the tighter the bands become. The savings themselves are still to be proven on real JLR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Our data, our infrastructure, 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we see it's reading real geometry, then hit Calculate — the should-cost and confidence band come back in under a minute. Then I'll attach a 2D drawing and re-run, so we watch the tolerances tighten the estimate live. Step three, I'll switch regions and show the twenty-country spread in one click — China against Germany. Then something different — I'll drop a photo of a circuit board: the model lists the parts and the tool prices every line from its catalogue.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together. A CAD file or typed inputs go in, and a traceable should-cost comes out. It is tested, it runs offline on a laptop with no admin rights, and the AI needs an API key at JLR. What it does not have yet is proof against real JLR prices. So my ask is three small decisions. One: approve a six-week pilot on JLR laptops, where we log real quotes and the prices we actually paid. Two: pick a first part family, ideally CAD parts we already have prices for, so we can compare straight away. Three: at the end, review the estimates against the prices paid. That review is how we prove accuracy, or find out where the tool needs work. Thank you. I am happy to take questions, or to open the tool and cost one of our parts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every engineer asks first: where do the numbers come from? The geometry engine, OpenCASCADE, measures the part. Volume, weight, size and wall thickness. On STEP and IGES files it also finds the holes, pockets, slots and bosses, and each one becomes a machining step with its own cost line. Now the important part. When the geometry cannot decide something, such as the process route or the material family, the tool asks the engineer. An STL file has no feature table, so a machined STL is blocked until someone types a cycle time. For sheet metal you can add a DXF flat pattern, and the tool uses the real blank. Any process can also be costed from a typed form. Then a self-audit checks the result. None of this uses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6000"/>
            </a:srgbClr>
          </a:solidFill>
          <a:ln/>
        </p:spPr>
        <p:txBody>
          <a:bodyPr/>
          <a:p/>
        </p:txBody>
      </p:sp>
      <p:sp>
        <p:nvSpPr>
          <p:cNvPr id="5" name="Shape 2"/>
          <p:cNvSpPr/>
          <p:nvPr/>
        </p:nvSpPr>
        <p:spPr>
          <a:xfrm>
            <a:off x="0" y="4572000"/>
            <a:ext cx="12191695" cy="2286000"/>
          </a:xfrm>
          <a:prstGeom prst="rect">
            <a:avLst/>
          </a:prstGeom>
          <a:solidFill>
            <a:srgbClr val="061024">
              <a:alpha val="70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2563EB"/>
          </a:solidFill>
          <a:ln/>
        </p:spPr>
        <p:txBody>
          <a:bodyPr/>
          <a:p/>
        </p:txBody>
      </p:sp>
      <p:sp>
        <p:nvSpPr>
          <p:cNvPr id="8" name="Shape 5"/>
          <p:cNvSpPr/>
          <p:nvPr/>
        </p:nvSpPr>
        <p:spPr>
          <a:xfrm>
            <a:off x="822960" y="731520"/>
            <a:ext cx="566928" cy="566928"/>
          </a:xfrm>
          <a:prstGeom prst="roundRect">
            <a:avLst>
              <a:gd name="adj" fmla="val 22581"/>
            </a:avLst>
          </a:prstGeom>
          <a:solidFill>
            <a:srgbClr val="4F46E5"/>
          </a:solidFill>
          <a:ln/>
        </p:spPr>
        <p:txBody>
          <a:bodyPr/>
          <a:p/>
        </p:txBody>
      </p:sp>
      <p:sp>
        <p:nvSpPr>
          <p:cNvPr id="9" name="Text 6"/>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10" name="Text 7"/>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11" name="Text 8"/>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SHOULD-COST  INTELLIGENCE</a:t>
            </a:r>
            <a:endParaRPr lang="en-US" sz="950" dirty="0"/>
          </a:p>
        </p:txBody>
      </p:sp>
      <p:sp>
        <p:nvSpPr>
          <p:cNvPr id="12" name="Text 9"/>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3" name="Text 10"/>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What a part should cost, traced line by line</a:t>
            </a:r>
            <a:endParaRPr lang="en-US" sz="2300" dirty="0"/>
          </a:p>
        </p:txBody>
      </p:sp>
      <p:sp>
        <p:nvSpPr>
          <p:cNvPr id="14" name="Text 11"/>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file or the inputs you type, to a should-cost in 8 buckets,</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priced with real 2026 rates. Every number traces back to a rate.</a:t>
            </a:r>
            <a:endParaRPr lang="en-US" sz="1500" dirty="0"/>
          </a:p>
        </p:txBody>
      </p:sp>
      <p:sp>
        <p:nvSpPr>
          <p:cNvPr id="15" name="Shape 12"/>
          <p:cNvSpPr/>
          <p:nvPr/>
        </p:nvSpPr>
        <p:spPr>
          <a:xfrm>
            <a:off x="822960" y="5029200"/>
            <a:ext cx="2542032" cy="457200"/>
          </a:xfrm>
          <a:prstGeom prst="roundRect">
            <a:avLst>
              <a:gd name="adj" fmla="val 50000"/>
            </a:avLst>
          </a:prstGeom>
          <a:solidFill>
            <a:srgbClr val="FFFFFF">
              <a:alpha val="92000"/>
            </a:srgbClr>
          </a:solidFill>
          <a:ln/>
        </p:spPr>
        <p:txBody>
          <a:bodyPr/>
          <a:p/>
        </p:txBody>
      </p:sp>
      <p:sp>
        <p:nvSpPr>
          <p:cNvPr id="16" name="Shape 13"/>
          <p:cNvSpPr/>
          <p:nvPr/>
        </p:nvSpPr>
        <p:spPr>
          <a:xfrm>
            <a:off x="1024128" y="5166360"/>
            <a:ext cx="182880" cy="182880"/>
          </a:xfrm>
          <a:prstGeom prst="ellipse">
            <a:avLst/>
          </a:prstGeom>
          <a:solidFill>
            <a:srgbClr val="2E90FA"/>
          </a:solidFill>
          <a:ln/>
        </p:spPr>
        <p:txBody>
          <a:bodyPr/>
          <a:p/>
        </p:txBody>
      </p:sp>
      <p:sp>
        <p:nvSpPr>
          <p:cNvPr id="17" name="Text 14"/>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8" name="Shape 15"/>
          <p:cNvSpPr/>
          <p:nvPr/>
        </p:nvSpPr>
        <p:spPr>
          <a:xfrm>
            <a:off x="3566160" y="5029200"/>
            <a:ext cx="2542032" cy="457200"/>
          </a:xfrm>
          <a:prstGeom prst="roundRect">
            <a:avLst>
              <a:gd name="adj" fmla="val 50000"/>
            </a:avLst>
          </a:prstGeom>
          <a:solidFill>
            <a:srgbClr val="FFFFFF">
              <a:alpha val="92000"/>
            </a:srgbClr>
          </a:solidFill>
          <a:ln/>
        </p:spPr>
        <p:txBody>
          <a:bodyPr/>
          <a:p/>
        </p:txBody>
      </p:sp>
      <p:sp>
        <p:nvSpPr>
          <p:cNvPr id="19" name="Shape 16"/>
          <p:cNvSpPr/>
          <p:nvPr/>
        </p:nvSpPr>
        <p:spPr>
          <a:xfrm>
            <a:off x="3767328" y="5166360"/>
            <a:ext cx="182880" cy="182880"/>
          </a:xfrm>
          <a:prstGeom prst="ellipse">
            <a:avLst/>
          </a:prstGeom>
          <a:solidFill>
            <a:srgbClr val="0E93B0"/>
          </a:solidFill>
          <a:ln/>
        </p:spPr>
        <p:txBody>
          <a:bodyPr/>
          <a:p/>
        </p:txBody>
      </p:sp>
      <p:sp>
        <p:nvSpPr>
          <p:cNvPr id="20" name="Text 17"/>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&amp; PCBA</a:t>
            </a:r>
            <a:endParaRPr lang="en-US" sz="1200" dirty="0"/>
          </a:p>
        </p:txBody>
      </p:sp>
      <p:sp>
        <p:nvSpPr>
          <p:cNvPr id="21" name="Shape 18"/>
          <p:cNvSpPr/>
          <p:nvPr/>
        </p:nvSpPr>
        <p:spPr>
          <a:xfrm>
            <a:off x="6309360" y="5029200"/>
            <a:ext cx="2542032" cy="457200"/>
          </a:xfrm>
          <a:prstGeom prst="roundRect">
            <a:avLst>
              <a:gd name="adj" fmla="val 50000"/>
            </a:avLst>
          </a:prstGeom>
          <a:solidFill>
            <a:srgbClr val="FFFFFF">
              <a:alpha val="92000"/>
            </a:srgbClr>
          </a:solidFill>
          <a:ln/>
        </p:spPr>
        <p:txBody>
          <a:bodyPr/>
          <a:p/>
        </p:txBody>
      </p:sp>
      <p:sp>
        <p:nvSpPr>
          <p:cNvPr id="22" name="Shape 19"/>
          <p:cNvSpPr/>
          <p:nvPr/>
        </p:nvSpPr>
        <p:spPr>
          <a:xfrm>
            <a:off x="6510528" y="5166360"/>
            <a:ext cx="182880" cy="182880"/>
          </a:xfrm>
          <a:prstGeom prst="ellipse">
            <a:avLst/>
          </a:prstGeom>
          <a:solidFill>
            <a:srgbClr val="E0900C"/>
          </a:solidFill>
          <a:ln/>
        </p:spPr>
        <p:txBody>
          <a:bodyPr/>
          <a:p/>
        </p:txBody>
      </p:sp>
      <p:sp>
        <p:nvSpPr>
          <p:cNvPr id="23" name="Text 20"/>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Processes</a:t>
            </a:r>
            <a:endParaRPr lang="en-US" sz="1200" dirty="0"/>
          </a:p>
        </p:txBody>
      </p:sp>
      <p:sp>
        <p:nvSpPr>
          <p:cNvPr id="24" name="Shape 21"/>
          <p:cNvSpPr/>
          <p:nvPr/>
        </p:nvSpPr>
        <p:spPr>
          <a:xfrm>
            <a:off x="9052560" y="5029200"/>
            <a:ext cx="2542032" cy="457200"/>
          </a:xfrm>
          <a:prstGeom prst="roundRect">
            <a:avLst>
              <a:gd name="adj" fmla="val 50000"/>
            </a:avLst>
          </a:prstGeom>
          <a:solidFill>
            <a:srgbClr val="FFFFFF">
              <a:alpha val="92000"/>
            </a:srgbClr>
          </a:solidFill>
          <a:ln/>
        </p:spPr>
        <p:txBody>
          <a:bodyPr/>
          <a:p/>
        </p:txBody>
      </p:sp>
      <p:sp>
        <p:nvSpPr>
          <p:cNvPr id="25" name="Shape 22"/>
          <p:cNvSpPr/>
          <p:nvPr/>
        </p:nvSpPr>
        <p:spPr>
          <a:xfrm>
            <a:off x="9253728" y="5166360"/>
            <a:ext cx="182880" cy="182880"/>
          </a:xfrm>
          <a:prstGeom prst="ellipse">
            <a:avLst/>
          </a:prstGeom>
          <a:solidFill>
            <a:srgbClr val="0EA472"/>
          </a:solidFill>
          <a:ln/>
        </p:spPr>
        <p:txBody>
          <a:bodyPr/>
          <a:p/>
        </p:txBody>
      </p:sp>
      <p:sp>
        <p:nvSpPr>
          <p:cNvPr id="26" name="Text 23"/>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20 Regions</a:t>
            </a:r>
            <a:endParaRPr lang="en-US" sz="1200" dirty="0"/>
          </a:p>
        </p:txBody>
      </p:sp>
      <p:sp>
        <p:nvSpPr>
          <p:cNvPr id="27" name="Text 24"/>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September 2026   ·   Version V4.2   ·   Runs offline, AI needs an API key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txBody>
          <a:bodyPr/>
          <a:p/>
        </p:txBody>
      </p:sp>
      <p:sp>
        <p:nvSpPr>
          <p:cNvPr id="11" name="Shape 9"/>
          <p:cNvSpPr/>
          <p:nvPr/>
        </p:nvSpPr>
        <p:spPr>
          <a:xfrm>
            <a:off x="548640" y="1600200"/>
            <a:ext cx="82296" cy="1371600"/>
          </a:xfrm>
          <a:prstGeom prst="rect">
            <a:avLst/>
          </a:prstGeom>
          <a:solidFill>
            <a:srgbClr val="2563EB"/>
          </a:solidFill>
          <a:ln/>
        </p:spPr>
        <p:txBody>
          <a:bodyPr/>
          <a:p/>
        </p:txBody>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2600" b="1" dirty="0">
                <a:solidFill>
                  <a:srgbClr val="2563EB"/>
                </a:solidFill>
                <a:latin typeface="Calibri" pitchFamily="34" charset="0"/>
                <a:ea typeface="Calibri" pitchFamily="34" charset="-122"/>
                <a:cs typeface="Calibri" pitchFamily="34" charset="-120"/>
              </a:rPr>
              <a:t>8</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cost buckets, each traced to a rate</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txBody>
          <a:bodyPr/>
          <a:p/>
        </p:txBody>
      </p:sp>
      <p:sp>
        <p:nvSpPr>
          <p:cNvPr id="15" name="Shape 13"/>
          <p:cNvSpPr/>
          <p:nvPr/>
        </p:nvSpPr>
        <p:spPr>
          <a:xfrm>
            <a:off x="2724912" y="1600200"/>
            <a:ext cx="82296" cy="1371600"/>
          </a:xfrm>
          <a:prstGeom prst="rect">
            <a:avLst/>
          </a:prstGeom>
          <a:solidFill>
            <a:srgbClr val="E0900C"/>
          </a:solidFill>
          <a:ln/>
        </p:spPr>
        <p:txBody>
          <a:bodyPr/>
          <a:p/>
        </p:txBody>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processes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txBody>
          <a:bodyPr/>
          <a:p/>
        </p:txBody>
      </p:sp>
      <p:sp>
        <p:nvSpPr>
          <p:cNvPr id="19" name="Shape 17"/>
          <p:cNvSpPr/>
          <p:nvPr/>
        </p:nvSpPr>
        <p:spPr>
          <a:xfrm>
            <a:off x="4901184" y="1600200"/>
            <a:ext cx="82296" cy="1371600"/>
          </a:xfrm>
          <a:prstGeom prst="rect">
            <a:avLst/>
          </a:prstGeom>
          <a:solidFill>
            <a:srgbClr val="0DA5A0"/>
          </a:solidFill>
          <a:ln/>
        </p:spPr>
        <p:txBody>
          <a:bodyPr/>
          <a:p/>
        </p:txBody>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txBody>
          <a:bodyPr/>
          <a:p/>
        </p:txBody>
      </p:sp>
      <p:sp>
        <p:nvSpPr>
          <p:cNvPr id="23" name="Shape 21"/>
          <p:cNvSpPr/>
          <p:nvPr/>
        </p:nvSpPr>
        <p:spPr>
          <a:xfrm>
            <a:off x="7077456" y="1600200"/>
            <a:ext cx="82296" cy="1371600"/>
          </a:xfrm>
          <a:prstGeom prst="rect">
            <a:avLst/>
          </a:prstGeom>
          <a:solidFill>
            <a:srgbClr val="0EA472"/>
          </a:solidFill>
          <a:ln/>
        </p:spPr>
        <p:txBody>
          <a:bodyPr/>
          <a:p/>
        </p:txBody>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328</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materials in the rate library (16 Jun 2026)</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txBody>
          <a:bodyPr/>
          <a:p/>
        </p:txBody>
      </p:sp>
      <p:sp>
        <p:nvSpPr>
          <p:cNvPr id="27" name="Shape 25"/>
          <p:cNvSpPr/>
          <p:nvPr/>
        </p:nvSpPr>
        <p:spPr>
          <a:xfrm>
            <a:off x="9253728" y="1600200"/>
            <a:ext cx="82296" cy="1371600"/>
          </a:xfrm>
          <a:prstGeom prst="rect">
            <a:avLst/>
          </a:prstGeom>
          <a:solidFill>
            <a:srgbClr val="E5484D"/>
          </a:solidFill>
          <a:ln/>
        </p:spPr>
        <p:txBody>
          <a:bodyPr/>
          <a:p/>
        </p:txBody>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Offline</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runs on a laptop: no internet, no admin rights</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txBody>
          <a:bodyPr/>
          <a:p/>
        </p:txBody>
      </p:sp>
      <p:sp>
        <p:nvSpPr>
          <p:cNvPr id="31" name="Shape 29"/>
          <p:cNvSpPr/>
          <p:nvPr/>
        </p:nvSpPr>
        <p:spPr>
          <a:xfrm>
            <a:off x="548640" y="3200400"/>
            <a:ext cx="82296" cy="868680"/>
          </a:xfrm>
          <a:prstGeom prst="rect">
            <a:avLst/>
          </a:prstGeom>
          <a:solidFill>
            <a:srgbClr val="4F46E5"/>
          </a:solidFill>
          <a:ln/>
        </p:spPr>
        <p:txBody>
          <a:bodyPr/>
          <a:p/>
        </p:txBody>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a tool that works out what a part should cost, from a CAD file or typed inputs. It prices the part in 20 regions, compares it with a supplier quote, and learns from real prices we log. AI needs an API key at JLR; every £ is plain arithmetic.</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txBody>
          <a:bodyPr/>
          <a:p/>
        </p:txBody>
      </p:sp>
      <p:sp>
        <p:nvSpPr>
          <p:cNvPr id="34" name="Shape 32"/>
          <p:cNvSpPr/>
          <p:nvPr/>
        </p:nvSpPr>
        <p:spPr>
          <a:xfrm>
            <a:off x="548640" y="4297680"/>
            <a:ext cx="82296" cy="1280160"/>
          </a:xfrm>
          <a:prstGeom prst="rect">
            <a:avLst/>
          </a:prstGeom>
          <a:solidFill>
            <a:srgbClr val="2563EB"/>
          </a:solidFill>
          <a:ln/>
        </p:spPr>
        <p:txBody>
          <a:bodyPr/>
          <a:p/>
        </p:txBody>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typed inputs · 19 processes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txBody>
          <a:bodyPr/>
          <a:p/>
        </p:txBody>
      </p:sp>
      <p:sp>
        <p:nvSpPr>
          <p:cNvPr id="38" name="Shape 36"/>
          <p:cNvSpPr/>
          <p:nvPr/>
        </p:nvSpPr>
        <p:spPr>
          <a:xfrm>
            <a:off x="3319272" y="4297680"/>
            <a:ext cx="82296" cy="1280160"/>
          </a:xfrm>
          <a:prstGeom prst="rect">
            <a:avLst/>
          </a:prstGeom>
          <a:solidFill>
            <a:srgbClr val="7C3AED"/>
          </a:solidFill>
          <a:ln/>
        </p:spPr>
        <p:txBody>
          <a:bodyPr/>
          <a:p/>
        </p:txBody>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view · measured features · self-audit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txBody>
          <a:bodyPr/>
          <a:p/>
        </p:txBody>
      </p:sp>
      <p:sp>
        <p:nvSpPr>
          <p:cNvPr id="42" name="Shape 40"/>
          <p:cNvSpPr/>
          <p:nvPr/>
        </p:nvSpPr>
        <p:spPr>
          <a:xfrm>
            <a:off x="6089904" y="4297680"/>
            <a:ext cx="82296" cy="1280160"/>
          </a:xfrm>
          <a:prstGeom prst="rect">
            <a:avLst/>
          </a:prstGeom>
          <a:solidFill>
            <a:srgbClr val="0DA5A0"/>
          </a:solidFill>
          <a:ln/>
        </p:spPr>
        <p:txBody>
          <a:bodyPr/>
          <a:p/>
        </p:txBody>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quote teardown · 20 regions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txBody>
          <a:bodyPr/>
          <a:p/>
        </p:txBody>
      </p:sp>
      <p:sp>
        <p:nvSpPr>
          <p:cNvPr id="46" name="Shape 44"/>
          <p:cNvSpPr/>
          <p:nvPr/>
        </p:nvSpPr>
        <p:spPr>
          <a:xfrm>
            <a:off x="8860536" y="4297680"/>
            <a:ext cx="82296" cy="1280160"/>
          </a:xfrm>
          <a:prstGeom prst="rect">
            <a:avLst/>
          </a:prstGeom>
          <a:solidFill>
            <a:srgbClr val="0EA472"/>
          </a:solidFill>
          <a:ln/>
        </p:spPr>
        <p:txBody>
          <a:bodyPr/>
          <a:p/>
        </p:txBody>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logged actuals · traceable · offline</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txBody>
          <a:bodyPr/>
          <a:p/>
        </p:txBody>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one consistent, traceable number for every part, on our own laptops. Not yet compared with a price JLR paid.</a:t>
            </a:r>
            <a:endParaRPr lang="en-US" sz="1150" dirty="0"/>
          </a:p>
        </p:txBody>
      </p:sp>
      <p:sp>
        <p:nvSpPr>
          <p:cNvPr id="51" name="Shape 49"/>
          <p:cNvSpPr/>
          <p:nvPr/>
        </p:nvSpPr>
        <p:spPr>
          <a:xfrm>
            <a:off x="548640" y="6400800"/>
            <a:ext cx="11094415" cy="12802"/>
          </a:xfrm>
          <a:prstGeom prst="rect">
            <a:avLst/>
          </a:prstGeom>
          <a:solidFill>
            <a:srgbClr val="E4EAF2"/>
          </a:solidFill>
          <a:ln/>
        </p:spPr>
        <p:txBody>
          <a:bodyPr/>
          <a:p/>
        </p:txBody>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15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we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we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upload updated rates once — every part re-prices in a click</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 engineering input → the tool measures it and asks what it can’t tell → rules and rates price it → a result we can defend.</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txBody>
          <a:bodyPr/>
          <a:p/>
        </p:txBody>
      </p:sp>
      <p:sp>
        <p:nvSpPr>
          <p:cNvPr id="12" name="Shape 10"/>
          <p:cNvSpPr/>
          <p:nvPr/>
        </p:nvSpPr>
        <p:spPr>
          <a:xfrm>
            <a:off x="548640" y="2103120"/>
            <a:ext cx="82296" cy="3291840"/>
          </a:xfrm>
          <a:prstGeom prst="rect">
            <a:avLst/>
          </a:prstGeom>
          <a:solidFill>
            <a:srgbClr val="2E90FA"/>
          </a:solidFill>
          <a:ln/>
        </p:spPr>
        <p:txBody>
          <a:bodyPr/>
          <a:p/>
        </p:txBody>
      </p:sp>
      <p:sp>
        <p:nvSpPr>
          <p:cNvPr id="13" name="Shape 11"/>
          <p:cNvSpPr/>
          <p:nvPr/>
        </p:nvSpPr>
        <p:spPr>
          <a:xfrm>
            <a:off x="804672" y="2359152"/>
            <a:ext cx="457200" cy="457200"/>
          </a:xfrm>
          <a:prstGeom prst="ellipse">
            <a:avLst/>
          </a:prstGeom>
          <a:solidFill>
            <a:srgbClr val="F4F7FB"/>
          </a:solidFill>
          <a:ln/>
        </p:spPr>
        <p:txBody>
          <a:bodyPr/>
          <a:p/>
        </p:txBody>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txBody>
          <a:bodyPr/>
          <a:p/>
        </p:txBody>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(STEP, IGES, STL)</a:t>
            </a:r>
            <a:endParaRPr lang="en-US" sz="980" dirty="0"/>
          </a:p>
        </p:txBody>
      </p:sp>
      <p:sp>
        <p:nvSpPr>
          <p:cNvPr id="18" name="Shape 16"/>
          <p:cNvSpPr/>
          <p:nvPr/>
        </p:nvSpPr>
        <p:spPr>
          <a:xfrm>
            <a:off x="822960" y="3547872"/>
            <a:ext cx="82296" cy="82296"/>
          </a:xfrm>
          <a:prstGeom prst="ellipse">
            <a:avLst/>
          </a:prstGeom>
          <a:solidFill>
            <a:srgbClr val="2E90FA"/>
          </a:solidFill>
          <a:ln/>
        </p:spPr>
        <p:txBody>
          <a:bodyPr/>
          <a:p/>
        </p:txBody>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Typed part inputs</a:t>
            </a:r>
            <a:endParaRPr lang="en-US" sz="980" dirty="0"/>
          </a:p>
        </p:txBody>
      </p:sp>
      <p:sp>
        <p:nvSpPr>
          <p:cNvPr id="20" name="Shape 18"/>
          <p:cNvSpPr/>
          <p:nvPr/>
        </p:nvSpPr>
        <p:spPr>
          <a:xfrm>
            <a:off x="822960" y="3986784"/>
            <a:ext cx="82296" cy="82296"/>
          </a:xfrm>
          <a:prstGeom prst="ellipse">
            <a:avLst/>
          </a:prstGeom>
          <a:solidFill>
            <a:srgbClr val="2E90FA"/>
          </a:solidFill>
          <a:ln/>
        </p:spPr>
        <p:txBody>
          <a:bodyPr/>
          <a:p/>
        </p:txBody>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DXF flat pattern (sheet)</a:t>
            </a:r>
            <a:endParaRPr lang="en-US" sz="980" dirty="0"/>
          </a:p>
        </p:txBody>
      </p:sp>
      <p:sp>
        <p:nvSpPr>
          <p:cNvPr id="22" name="Shape 20"/>
          <p:cNvSpPr/>
          <p:nvPr/>
        </p:nvSpPr>
        <p:spPr>
          <a:xfrm>
            <a:off x="822960" y="4425696"/>
            <a:ext cx="82296" cy="82296"/>
          </a:xfrm>
          <a:prstGeom prst="ellipse">
            <a:avLst/>
          </a:prstGeom>
          <a:solidFill>
            <a:srgbClr val="2E90FA"/>
          </a:solidFill>
          <a:ln/>
        </p:spPr>
        <p:txBody>
          <a:bodyPr/>
          <a:p/>
        </p:txBody>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Supplier quote</a:t>
            </a:r>
            <a:endParaRPr lang="en-US" sz="980" dirty="0"/>
          </a:p>
        </p:txBody>
      </p:sp>
      <p:sp>
        <p:nvSpPr>
          <p:cNvPr id="24" name="Shape 22"/>
          <p:cNvSpPr/>
          <p:nvPr/>
        </p:nvSpPr>
        <p:spPr>
          <a:xfrm>
            <a:off x="822960" y="4864608"/>
            <a:ext cx="82296" cy="82296"/>
          </a:xfrm>
          <a:prstGeom prst="ellipse">
            <a:avLst/>
          </a:prstGeom>
          <a:solidFill>
            <a:srgbClr val="2E90FA"/>
          </a:solidFill>
          <a:ln/>
        </p:spPr>
        <p:txBody>
          <a:bodyPr/>
          <a:p/>
        </p:txBody>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txBody>
          <a:bodyPr/>
          <a:p/>
        </p:txBody>
      </p:sp>
      <p:sp>
        <p:nvSpPr>
          <p:cNvPr id="28" name="Shape 26"/>
          <p:cNvSpPr/>
          <p:nvPr/>
        </p:nvSpPr>
        <p:spPr>
          <a:xfrm>
            <a:off x="3419856" y="2103120"/>
            <a:ext cx="82296" cy="3291840"/>
          </a:xfrm>
          <a:prstGeom prst="rect">
            <a:avLst/>
          </a:prstGeom>
          <a:solidFill>
            <a:srgbClr val="7C3AED"/>
          </a:solidFill>
          <a:ln/>
        </p:spPr>
        <p:txBody>
          <a:bodyPr/>
          <a:p/>
        </p:txBody>
      </p:sp>
      <p:sp>
        <p:nvSpPr>
          <p:cNvPr id="29" name="Shape 27"/>
          <p:cNvSpPr/>
          <p:nvPr/>
        </p:nvSpPr>
        <p:spPr>
          <a:xfrm>
            <a:off x="3675888" y="2359152"/>
            <a:ext cx="457200" cy="457200"/>
          </a:xfrm>
          <a:prstGeom prst="ellipse">
            <a:avLst/>
          </a:prstGeom>
          <a:solidFill>
            <a:srgbClr val="F3EEFE"/>
          </a:solidFill>
          <a:ln/>
        </p:spPr>
        <p:txBody>
          <a:bodyPr/>
          <a:p/>
        </p:txBody>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MEASURE &amp; ASK</a:t>
            </a:r>
            <a:endParaRPr lang="en-US" sz="1250" dirty="0"/>
          </a:p>
        </p:txBody>
      </p:sp>
      <p:sp>
        <p:nvSpPr>
          <p:cNvPr id="32" name="Shape 30"/>
          <p:cNvSpPr/>
          <p:nvPr/>
        </p:nvSpPr>
        <p:spPr>
          <a:xfrm>
            <a:off x="3694176" y="3108960"/>
            <a:ext cx="82296" cy="82296"/>
          </a:xfrm>
          <a:prstGeom prst="ellipse">
            <a:avLst/>
          </a:prstGeom>
          <a:solidFill>
            <a:srgbClr val="7C3AED"/>
          </a:solidFill>
          <a:ln/>
        </p:spPr>
        <p:txBody>
          <a:bodyPr/>
          <a:p/>
        </p:txBody>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Geometry engine (OpenCASCADE)</a:t>
            </a:r>
            <a:endParaRPr lang="en-US" sz="980" dirty="0"/>
          </a:p>
        </p:txBody>
      </p:sp>
      <p:sp>
        <p:nvSpPr>
          <p:cNvPr id="34" name="Shape 32"/>
          <p:cNvSpPr/>
          <p:nvPr/>
        </p:nvSpPr>
        <p:spPr>
          <a:xfrm>
            <a:off x="3694176" y="3547872"/>
            <a:ext cx="82296" cy="82296"/>
          </a:xfrm>
          <a:prstGeom prst="ellipse">
            <a:avLst/>
          </a:prstGeom>
          <a:solidFill>
            <a:srgbClr val="7C3AED"/>
          </a:solidFill>
          <a:ln/>
        </p:spPr>
        <p:txBody>
          <a:bodyPr/>
          <a:p/>
        </p:txBody>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weight, walls, holes</a:t>
            </a:r>
            <a:endParaRPr lang="en-US" sz="980" dirty="0"/>
          </a:p>
        </p:txBody>
      </p:sp>
      <p:sp>
        <p:nvSpPr>
          <p:cNvPr id="36" name="Shape 34"/>
          <p:cNvSpPr/>
          <p:nvPr/>
        </p:nvSpPr>
        <p:spPr>
          <a:xfrm>
            <a:off x="3694176" y="3986784"/>
            <a:ext cx="82296" cy="82296"/>
          </a:xfrm>
          <a:prstGeom prst="ellipse">
            <a:avLst/>
          </a:prstGeom>
          <a:solidFill>
            <a:srgbClr val="7C3AED"/>
          </a:solidFill>
          <a:ln/>
        </p:spPr>
        <p:txBody>
          <a:bodyPr/>
          <a:p/>
        </p:txBody>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txBody>
          <a:bodyPr/>
          <a:p/>
        </p:txBody>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Asks you where CAD can’t decide</a:t>
            </a:r>
            <a:endParaRPr lang="en-US" sz="980" dirty="0"/>
          </a:p>
        </p:txBody>
      </p:sp>
      <p:sp>
        <p:nvSpPr>
          <p:cNvPr id="40" name="Shape 38"/>
          <p:cNvSpPr/>
          <p:nvPr/>
        </p:nvSpPr>
        <p:spPr>
          <a:xfrm>
            <a:off x="3694176" y="4864608"/>
            <a:ext cx="82296" cy="82296"/>
          </a:xfrm>
          <a:prstGeom prst="ellipse">
            <a:avLst/>
          </a:prstGeom>
          <a:solidFill>
            <a:srgbClr val="7C3AED"/>
          </a:solidFill>
          <a:ln/>
        </p:spPr>
        <p:txBody>
          <a:bodyPr/>
          <a:p/>
        </p:txBody>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AI: optional, needs a key</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txBody>
          <a:bodyPr/>
          <a:p/>
        </p:txBody>
      </p:sp>
      <p:sp>
        <p:nvSpPr>
          <p:cNvPr id="44" name="Shape 42"/>
          <p:cNvSpPr/>
          <p:nvPr/>
        </p:nvSpPr>
        <p:spPr>
          <a:xfrm>
            <a:off x="6291072" y="2103120"/>
            <a:ext cx="82296" cy="3291840"/>
          </a:xfrm>
          <a:prstGeom prst="rect">
            <a:avLst/>
          </a:prstGeom>
          <a:solidFill>
            <a:srgbClr val="0DA5A0"/>
          </a:solidFill>
          <a:ln/>
        </p:spPr>
        <p:txBody>
          <a:bodyPr/>
          <a:p/>
        </p:txBody>
      </p:sp>
      <p:sp>
        <p:nvSpPr>
          <p:cNvPr id="45" name="Shape 43"/>
          <p:cNvSpPr/>
          <p:nvPr/>
        </p:nvSpPr>
        <p:spPr>
          <a:xfrm>
            <a:off x="6547104" y="2359152"/>
            <a:ext cx="457200" cy="457200"/>
          </a:xfrm>
          <a:prstGeom prst="ellipse">
            <a:avLst/>
          </a:prstGeom>
          <a:solidFill>
            <a:srgbClr val="E7F7F0"/>
          </a:solidFill>
          <a:ln/>
        </p:spPr>
        <p:txBody>
          <a:bodyPr/>
          <a:p/>
        </p:txBody>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txBody>
          <a:bodyPr/>
          <a:p/>
        </p:txBody>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manufacturing processes</a:t>
            </a:r>
            <a:endParaRPr lang="en-US" sz="980" dirty="0"/>
          </a:p>
        </p:txBody>
      </p:sp>
      <p:sp>
        <p:nvSpPr>
          <p:cNvPr id="50" name="Shape 48"/>
          <p:cNvSpPr/>
          <p:nvPr/>
        </p:nvSpPr>
        <p:spPr>
          <a:xfrm>
            <a:off x="6565392" y="3547872"/>
            <a:ext cx="82296" cy="82296"/>
          </a:xfrm>
          <a:prstGeom prst="ellipse">
            <a:avLst/>
          </a:prstGeom>
          <a:solidFill>
            <a:srgbClr val="0DA5A0"/>
          </a:solidFill>
          <a:ln/>
        </p:spPr>
        <p:txBody>
          <a:bodyPr/>
          <a:p/>
        </p:txBody>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txBody>
          <a:bodyPr/>
          <a:p/>
        </p:txBody>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txBody>
          <a:bodyPr/>
          <a:p/>
        </p:txBody>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tooling spread</a:t>
            </a:r>
            <a:endParaRPr lang="en-US" sz="980" dirty="0"/>
          </a:p>
        </p:txBody>
      </p:sp>
      <p:sp>
        <p:nvSpPr>
          <p:cNvPr id="56" name="Shape 54"/>
          <p:cNvSpPr/>
          <p:nvPr/>
        </p:nvSpPr>
        <p:spPr>
          <a:xfrm>
            <a:off x="6565392" y="4864608"/>
            <a:ext cx="82296" cy="82296"/>
          </a:xfrm>
          <a:prstGeom prst="ellipse">
            <a:avLst/>
          </a:prstGeom>
          <a:solidFill>
            <a:srgbClr val="0DA5A0"/>
          </a:solidFill>
          <a:ln/>
        </p:spPr>
        <p:txBody>
          <a:bodyPr/>
          <a:p/>
        </p:txBody>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Self-audit on every result</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txBody>
          <a:bodyPr/>
          <a:p/>
        </p:txBody>
      </p:sp>
      <p:sp>
        <p:nvSpPr>
          <p:cNvPr id="60" name="Shape 58"/>
          <p:cNvSpPr/>
          <p:nvPr/>
        </p:nvSpPr>
        <p:spPr>
          <a:xfrm>
            <a:off x="9162288" y="2103120"/>
            <a:ext cx="82296" cy="3291840"/>
          </a:xfrm>
          <a:prstGeom prst="rect">
            <a:avLst/>
          </a:prstGeom>
          <a:solidFill>
            <a:srgbClr val="0EA472"/>
          </a:solidFill>
          <a:ln/>
        </p:spPr>
        <p:txBody>
          <a:bodyPr/>
          <a:p/>
        </p:txBody>
      </p:sp>
      <p:sp>
        <p:nvSpPr>
          <p:cNvPr id="61" name="Shape 59"/>
          <p:cNvSpPr/>
          <p:nvPr/>
        </p:nvSpPr>
        <p:spPr>
          <a:xfrm>
            <a:off x="9418320" y="2359152"/>
            <a:ext cx="457200" cy="457200"/>
          </a:xfrm>
          <a:prstGeom prst="ellipse">
            <a:avLst/>
          </a:prstGeom>
          <a:solidFill>
            <a:srgbClr val="E7F7F0"/>
          </a:solidFill>
          <a:ln/>
        </p:spPr>
        <p:txBody>
          <a:bodyPr/>
          <a:p/>
        </p:txBody>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txBody>
          <a:bodyPr/>
          <a:p/>
        </p:txBody>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8-bucket should-cost</a:t>
            </a:r>
            <a:endParaRPr lang="en-US" sz="980" dirty="0"/>
          </a:p>
        </p:txBody>
      </p:sp>
      <p:sp>
        <p:nvSpPr>
          <p:cNvPr id="66" name="Shape 64"/>
          <p:cNvSpPr/>
          <p:nvPr/>
        </p:nvSpPr>
        <p:spPr>
          <a:xfrm>
            <a:off x="9436608" y="3547872"/>
            <a:ext cx="82296" cy="82296"/>
          </a:xfrm>
          <a:prstGeom prst="ellipse">
            <a:avLst/>
          </a:prstGeom>
          <a:solidFill>
            <a:srgbClr val="0EA472"/>
          </a:solidFill>
          <a:ln/>
        </p:spPr>
        <p:txBody>
          <a:bodyPr/>
          <a:p/>
        </p:txBody>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Uncertainty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txBody>
          <a:bodyPr/>
          <a:p/>
        </p:txBody>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txBody>
          <a:bodyPr/>
          <a:p/>
        </p:txBody>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txBody>
          <a:bodyPr/>
          <a:p/>
        </p:txBody>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txBody>
          <a:bodyPr/>
          <a:p/>
        </p:txBody>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never sets a price, and at JLR it needs an API key. Every pound is plain arithmetic we can trace to a rate.</a:t>
            </a:r>
            <a:endParaRPr lang="en-US" sz="1200" dirty="0"/>
          </a:p>
        </p:txBody>
      </p:sp>
      <p:sp>
        <p:nvSpPr>
          <p:cNvPr id="76" name="Shape 74"/>
          <p:cNvSpPr/>
          <p:nvPr/>
        </p:nvSpPr>
        <p:spPr>
          <a:xfrm>
            <a:off x="548640" y="6400800"/>
            <a:ext cx="11094415" cy="12802"/>
          </a:xfrm>
          <a:prstGeom prst="rect">
            <a:avLst/>
          </a:prstGeom>
          <a:solidFill>
            <a:srgbClr val="E4EAF2"/>
          </a:solidFill>
          <a:ln/>
        </p:spPr>
        <p:txBody>
          <a:bodyPr/>
          <a:p/>
        </p:txBody>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15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txBody>
          <a:bodyPr/>
          <a:p/>
        </p:txBody>
      </p:sp>
      <p:sp>
        <p:nvSpPr>
          <p:cNvPr id="11" name="Shape 9"/>
          <p:cNvSpPr/>
          <p:nvPr/>
        </p:nvSpPr>
        <p:spPr>
          <a:xfrm>
            <a:off x="548640" y="1691640"/>
            <a:ext cx="82296" cy="2148840"/>
          </a:xfrm>
          <a:prstGeom prst="rect">
            <a:avLst/>
          </a:prstGeom>
          <a:solidFill>
            <a:srgbClr val="2563EB"/>
          </a:solidFill>
          <a:ln/>
        </p:spPr>
        <p:txBody>
          <a:bodyPr/>
          <a:p/>
        </p:txBody>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txBody>
          <a:bodyPr/>
          <a:p/>
        </p:txBody>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txBody>
          <a:bodyPr/>
          <a:p/>
        </p:txBody>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fab + PCBA</a:t>
            </a:r>
            <a:endParaRPr lang="en-US" sz="1000" dirty="0"/>
          </a:p>
        </p:txBody>
      </p:sp>
      <p:sp>
        <p:nvSpPr>
          <p:cNvPr id="17" name="Shape 15"/>
          <p:cNvSpPr/>
          <p:nvPr/>
        </p:nvSpPr>
        <p:spPr>
          <a:xfrm>
            <a:off x="841248" y="2825496"/>
            <a:ext cx="91440" cy="91440"/>
          </a:xfrm>
          <a:prstGeom prst="ellipse">
            <a:avLst/>
          </a:prstGeom>
          <a:solidFill>
            <a:srgbClr val="2563EB"/>
          </a:solidFill>
          <a:ln/>
        </p:spPr>
        <p:txBody>
          <a:bodyPr/>
          <a:p/>
        </p:txBody>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manufacturing processes</a:t>
            </a:r>
            <a:endParaRPr lang="en-US" sz="1000" dirty="0"/>
          </a:p>
        </p:txBody>
      </p:sp>
      <p:sp>
        <p:nvSpPr>
          <p:cNvPr id="19" name="Shape 17"/>
          <p:cNvSpPr/>
          <p:nvPr/>
        </p:nvSpPr>
        <p:spPr>
          <a:xfrm>
            <a:off x="3447288" y="2825496"/>
            <a:ext cx="91440" cy="91440"/>
          </a:xfrm>
          <a:prstGeom prst="ellipse">
            <a:avLst/>
          </a:prstGeom>
          <a:solidFill>
            <a:srgbClr val="2563EB"/>
          </a:solidFill>
          <a:ln/>
        </p:spPr>
        <p:txBody>
          <a:bodyPr/>
          <a:p/>
        </p:txBody>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txBody>
          <a:bodyPr/>
          <a:p/>
        </p:txBody>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Assembly roll-up + software cost model</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txBody>
          <a:bodyPr/>
          <a:p/>
        </p:txBody>
      </p:sp>
      <p:sp>
        <p:nvSpPr>
          <p:cNvPr id="24" name="Shape 22"/>
          <p:cNvSpPr/>
          <p:nvPr/>
        </p:nvSpPr>
        <p:spPr>
          <a:xfrm>
            <a:off x="6245352" y="1691640"/>
            <a:ext cx="82296" cy="2148840"/>
          </a:xfrm>
          <a:prstGeom prst="rect">
            <a:avLst/>
          </a:prstGeom>
          <a:solidFill>
            <a:srgbClr val="7C3AED"/>
          </a:solidFill>
          <a:ln/>
        </p:spPr>
        <p:txBody>
          <a:bodyPr/>
          <a:p/>
        </p:txBody>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txBody>
          <a:bodyPr/>
          <a:p/>
        </p:txBody>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a:t>
            </a:r>
            <a:endParaRPr lang="en-US" sz="1000" dirty="0"/>
          </a:p>
        </p:txBody>
      </p:sp>
      <p:sp>
        <p:nvSpPr>
          <p:cNvPr id="28" name="Shape 26"/>
          <p:cNvSpPr/>
          <p:nvPr/>
        </p:nvSpPr>
        <p:spPr>
          <a:xfrm>
            <a:off x="9144000" y="2368296"/>
            <a:ext cx="91440" cy="91440"/>
          </a:xfrm>
          <a:prstGeom prst="ellipse">
            <a:avLst/>
          </a:prstGeom>
          <a:solidFill>
            <a:srgbClr val="7C3AED"/>
          </a:solidFill>
          <a:ln/>
        </p:spPr>
        <p:txBody>
          <a:bodyPr/>
          <a:p/>
        </p:txBody>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txBody>
          <a:bodyPr/>
          <a:p/>
        </p:txBody>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Geometric DFM findings</a:t>
            </a:r>
            <a:endParaRPr lang="en-US" sz="1000" dirty="0"/>
          </a:p>
        </p:txBody>
      </p:sp>
      <p:sp>
        <p:nvSpPr>
          <p:cNvPr id="32" name="Shape 30"/>
          <p:cNvSpPr/>
          <p:nvPr/>
        </p:nvSpPr>
        <p:spPr>
          <a:xfrm>
            <a:off x="9144000" y="2825496"/>
            <a:ext cx="91440" cy="91440"/>
          </a:xfrm>
          <a:prstGeom prst="ellipse">
            <a:avLst/>
          </a:prstGeom>
          <a:solidFill>
            <a:srgbClr val="7C3AED"/>
          </a:solidFill>
          <a:ln/>
        </p:spPr>
        <p:txBody>
          <a:bodyPr/>
          <a:p/>
        </p:txBody>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Self-audit on every result</a:t>
            </a:r>
            <a:endParaRPr lang="en-US" sz="1000" dirty="0"/>
          </a:p>
        </p:txBody>
      </p:sp>
      <p:sp>
        <p:nvSpPr>
          <p:cNvPr id="34" name="Shape 32"/>
          <p:cNvSpPr/>
          <p:nvPr/>
        </p:nvSpPr>
        <p:spPr>
          <a:xfrm>
            <a:off x="6537960" y="3227832"/>
            <a:ext cx="91440" cy="91440"/>
          </a:xfrm>
          <a:prstGeom prst="ellipse">
            <a:avLst/>
          </a:prstGeom>
          <a:solidFill>
            <a:srgbClr val="7C3AED"/>
          </a:solidFill>
          <a:ln/>
        </p:spPr>
        <p:txBody>
          <a:bodyPr/>
          <a:p/>
        </p:txBody>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txBody>
          <a:bodyPr/>
          <a:p/>
        </p:txBody>
      </p:sp>
      <p:sp>
        <p:nvSpPr>
          <p:cNvPr id="37" name="Shape 35"/>
          <p:cNvSpPr/>
          <p:nvPr/>
        </p:nvSpPr>
        <p:spPr>
          <a:xfrm>
            <a:off x="548640" y="4096512"/>
            <a:ext cx="82296" cy="2148840"/>
          </a:xfrm>
          <a:prstGeom prst="rect">
            <a:avLst/>
          </a:prstGeom>
          <a:solidFill>
            <a:srgbClr val="0DA5A0"/>
          </a:solidFill>
          <a:ln/>
        </p:spPr>
        <p:txBody>
          <a:bodyPr/>
          <a:p/>
        </p:txBody>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txBody>
          <a:bodyPr/>
          <a:p/>
        </p:txBody>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Quote vs should-cost teardown</a:t>
            </a:r>
            <a:endParaRPr lang="en-US" sz="1000" dirty="0"/>
          </a:p>
        </p:txBody>
      </p:sp>
      <p:sp>
        <p:nvSpPr>
          <p:cNvPr id="41" name="Shape 39"/>
          <p:cNvSpPr/>
          <p:nvPr/>
        </p:nvSpPr>
        <p:spPr>
          <a:xfrm>
            <a:off x="3447288" y="4773168"/>
            <a:ext cx="91440" cy="91440"/>
          </a:xfrm>
          <a:prstGeom prst="ellipse">
            <a:avLst/>
          </a:prstGeom>
          <a:solidFill>
            <a:srgbClr val="0DA5A0"/>
          </a:solidFill>
          <a:ln/>
        </p:spPr>
        <p:txBody>
          <a:bodyPr/>
          <a:p/>
        </p:txBody>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txBody>
          <a:bodyPr/>
          <a:p/>
        </p:txBody>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txBody>
          <a:bodyPr/>
          <a:p/>
        </p:txBody>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Uncertainty band (P10–P90)</a:t>
            </a:r>
            <a:endParaRPr lang="en-US" sz="1000" dirty="0"/>
          </a:p>
        </p:txBody>
      </p:sp>
      <p:sp>
        <p:nvSpPr>
          <p:cNvPr id="47" name="Shape 45"/>
          <p:cNvSpPr/>
          <p:nvPr/>
        </p:nvSpPr>
        <p:spPr>
          <a:xfrm>
            <a:off x="841248" y="5632704"/>
            <a:ext cx="91440" cy="91440"/>
          </a:xfrm>
          <a:prstGeom prst="ellipse">
            <a:avLst/>
          </a:prstGeom>
          <a:solidFill>
            <a:srgbClr val="0DA5A0"/>
          </a:solidFill>
          <a:ln/>
        </p:spPr>
        <p:txBody>
          <a:bodyPr/>
          <a:p/>
        </p:txBody>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Material-price what-ifs</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txBody>
          <a:bodyPr/>
          <a:p/>
        </p:txBody>
      </p:sp>
      <p:sp>
        <p:nvSpPr>
          <p:cNvPr id="50" name="Shape 48"/>
          <p:cNvSpPr/>
          <p:nvPr/>
        </p:nvSpPr>
        <p:spPr>
          <a:xfrm>
            <a:off x="6245352" y="4096512"/>
            <a:ext cx="82296" cy="2148840"/>
          </a:xfrm>
          <a:prstGeom prst="rect">
            <a:avLst/>
          </a:prstGeom>
          <a:solidFill>
            <a:srgbClr val="0EA472"/>
          </a:solidFill>
          <a:ln/>
        </p:spPr>
        <p:txBody>
          <a:bodyPr/>
          <a:p/>
        </p:txBody>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txBody>
          <a:bodyPr/>
          <a:p/>
        </p:txBody>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Saved cases + similar parts</a:t>
            </a:r>
            <a:endParaRPr lang="en-US" sz="1000" dirty="0"/>
          </a:p>
        </p:txBody>
      </p:sp>
      <p:sp>
        <p:nvSpPr>
          <p:cNvPr id="54" name="Shape 52"/>
          <p:cNvSpPr/>
          <p:nvPr/>
        </p:nvSpPr>
        <p:spPr>
          <a:xfrm>
            <a:off x="9144000" y="4773168"/>
            <a:ext cx="91440" cy="91440"/>
          </a:xfrm>
          <a:prstGeom prst="ellipse">
            <a:avLst/>
          </a:prstGeom>
          <a:solidFill>
            <a:srgbClr val="0EA472"/>
          </a:solidFill>
          <a:ln/>
        </p:spPr>
        <p:txBody>
          <a:bodyPr/>
          <a:p/>
        </p:txBody>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Band corrected by real prices</a:t>
            </a:r>
            <a:endParaRPr lang="en-US" sz="1000" dirty="0"/>
          </a:p>
        </p:txBody>
      </p:sp>
      <p:sp>
        <p:nvSpPr>
          <p:cNvPr id="56" name="Shape 54"/>
          <p:cNvSpPr/>
          <p:nvPr/>
        </p:nvSpPr>
        <p:spPr>
          <a:xfrm>
            <a:off x="6537960" y="5230368"/>
            <a:ext cx="91440" cy="91440"/>
          </a:xfrm>
          <a:prstGeom prst="ellipse">
            <a:avLst/>
          </a:prstGeom>
          <a:solidFill>
            <a:srgbClr val="0EA472"/>
          </a:solidFill>
          <a:ln/>
        </p:spPr>
        <p:txBody>
          <a:bodyPr/>
          <a:p/>
        </p:txBody>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Flags prices above should-cost</a:t>
            </a:r>
            <a:endParaRPr lang="en-US" sz="1000" dirty="0"/>
          </a:p>
        </p:txBody>
      </p:sp>
      <p:sp>
        <p:nvSpPr>
          <p:cNvPr id="58" name="Shape 56"/>
          <p:cNvSpPr/>
          <p:nvPr/>
        </p:nvSpPr>
        <p:spPr>
          <a:xfrm>
            <a:off x="9144000" y="5230368"/>
            <a:ext cx="91440" cy="91440"/>
          </a:xfrm>
          <a:prstGeom prst="ellipse">
            <a:avLst/>
          </a:prstGeom>
          <a:solidFill>
            <a:srgbClr val="0EA472"/>
          </a:solidFill>
          <a:ln/>
        </p:spPr>
        <p:txBody>
          <a:bodyPr/>
          <a:p/>
        </p:txBody>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Traceability sheet in Excel</a:t>
            </a:r>
            <a:endParaRPr lang="en-US" sz="1000" dirty="0"/>
          </a:p>
        </p:txBody>
      </p:sp>
      <p:sp>
        <p:nvSpPr>
          <p:cNvPr id="60" name="Shape 58"/>
          <p:cNvSpPr/>
          <p:nvPr/>
        </p:nvSpPr>
        <p:spPr>
          <a:xfrm>
            <a:off x="6537960" y="5632704"/>
            <a:ext cx="91440" cy="91440"/>
          </a:xfrm>
          <a:prstGeom prst="ellipse">
            <a:avLst/>
          </a:prstGeom>
          <a:solidFill>
            <a:srgbClr val="0EA472"/>
          </a:solidFill>
          <a:ln/>
        </p:spPr>
        <p:txBody>
          <a:bodyPr/>
          <a:p/>
        </p:txBody>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Offline, signed-in, AI needs a key</a:t>
            </a:r>
            <a:endParaRPr lang="en-US" sz="1000" dirty="0"/>
          </a:p>
        </p:txBody>
      </p:sp>
      <p:sp>
        <p:nvSpPr>
          <p:cNvPr id="62" name="Shape 60"/>
          <p:cNvSpPr/>
          <p:nvPr/>
        </p:nvSpPr>
        <p:spPr>
          <a:xfrm>
            <a:off x="548640" y="6400800"/>
            <a:ext cx="11094415" cy="12802"/>
          </a:xfrm>
          <a:prstGeom prst="rect">
            <a:avLst/>
          </a:prstGeom>
          <a:solidFill>
            <a:srgbClr val="E4EAF2"/>
          </a:solidFill>
          <a:ln/>
        </p:spPr>
        <p:txBody>
          <a:bodyPr/>
          <a:p/>
        </p:txBody>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15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cad-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DA5A0"/>
          </a:solidFill>
          <a:ln/>
        </p:spPr>
      </p:sp>
      <p:sp>
        <p:nvSpPr>
          <p:cNvPr id="7" name="Shape 4"/>
          <p:cNvSpPr/>
          <p:nvPr/>
        </p:nvSpPr>
        <p:spPr>
          <a:xfrm>
            <a:off x="0" y="6729984"/>
            <a:ext cx="12191695" cy="128016"/>
          </a:xfrm>
          <a:prstGeom prst="rect">
            <a:avLst/>
          </a:prstGeom>
          <a:solidFill>
            <a:srgbClr val="0DA5A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CAD → 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we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txBody>
          <a:bodyPr/>
          <a:p/>
        </p:txBody>
      </p:sp>
      <p:sp>
        <p:nvSpPr>
          <p:cNvPr id="11" name="Shape 9"/>
          <p:cNvSpPr/>
          <p:nvPr/>
        </p:nvSpPr>
        <p:spPr>
          <a:xfrm>
            <a:off x="548640" y="1783080"/>
            <a:ext cx="1463040" cy="82296"/>
          </a:xfrm>
          <a:prstGeom prst="rect">
            <a:avLst/>
          </a:prstGeom>
          <a:solidFill>
            <a:srgbClr val="2E90FA"/>
          </a:solidFill>
          <a:ln/>
        </p:spPr>
        <p:txBody>
          <a:bodyPr/>
          <a:p/>
        </p:txBody>
      </p:sp>
      <p:sp>
        <p:nvSpPr>
          <p:cNvPr id="12" name="Shape 10"/>
          <p:cNvSpPr/>
          <p:nvPr/>
        </p:nvSpPr>
        <p:spPr>
          <a:xfrm>
            <a:off x="1024128" y="1984248"/>
            <a:ext cx="512064" cy="512064"/>
          </a:xfrm>
          <a:prstGeom prst="ellipse">
            <a:avLst/>
          </a:prstGeom>
          <a:solidFill>
            <a:srgbClr val="F4F7FB"/>
          </a:solidFill>
          <a:ln/>
        </p:spPr>
        <p:txBody>
          <a:bodyPr/>
          <a:p/>
        </p:txBody>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STEP · IGES · STL (+ DXF for sheet)</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txBody>
          <a:bodyPr/>
          <a:p/>
        </p:txBody>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txBody>
          <a:bodyPr/>
          <a:p/>
        </p:txBody>
      </p:sp>
      <p:sp>
        <p:nvSpPr>
          <p:cNvPr id="18" name="Shape 16"/>
          <p:cNvSpPr/>
          <p:nvPr/>
        </p:nvSpPr>
        <p:spPr>
          <a:xfrm>
            <a:off x="2130552" y="1783080"/>
            <a:ext cx="1463040" cy="82296"/>
          </a:xfrm>
          <a:prstGeom prst="rect">
            <a:avLst/>
          </a:prstGeom>
          <a:solidFill>
            <a:srgbClr val="0DA5A0"/>
          </a:solidFill>
          <a:ln/>
        </p:spPr>
        <p:txBody>
          <a:bodyPr/>
          <a:p/>
        </p:txBody>
      </p:sp>
      <p:sp>
        <p:nvSpPr>
          <p:cNvPr id="19" name="Shape 17"/>
          <p:cNvSpPr/>
          <p:nvPr/>
        </p:nvSpPr>
        <p:spPr>
          <a:xfrm>
            <a:off x="2606040" y="1984248"/>
            <a:ext cx="512064" cy="512064"/>
          </a:xfrm>
          <a:prstGeom prst="ellipse">
            <a:avLst/>
          </a:prstGeom>
          <a:solidFill>
            <a:srgbClr val="E7F7F0"/>
          </a:solidFill>
          <a:ln/>
        </p:spPr>
        <p:txBody>
          <a:bodyPr/>
          <a:p/>
        </p:txBody>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Measure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weight · walls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txBody>
          <a:bodyPr/>
          <a:p/>
        </p:txBody>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txBody>
          <a:bodyPr/>
          <a:p/>
        </p:txBody>
      </p:sp>
      <p:sp>
        <p:nvSpPr>
          <p:cNvPr id="25" name="Shape 23"/>
          <p:cNvSpPr/>
          <p:nvPr/>
        </p:nvSpPr>
        <p:spPr>
          <a:xfrm>
            <a:off x="3712464" y="1783080"/>
            <a:ext cx="1463040" cy="82296"/>
          </a:xfrm>
          <a:prstGeom prst="rect">
            <a:avLst/>
          </a:prstGeom>
          <a:solidFill>
            <a:srgbClr val="2563EB"/>
          </a:solidFill>
          <a:ln/>
        </p:spPr>
        <p:txBody>
          <a:bodyPr/>
          <a:p/>
        </p:txBody>
      </p:sp>
      <p:sp>
        <p:nvSpPr>
          <p:cNvPr id="26" name="Shape 24"/>
          <p:cNvSpPr/>
          <p:nvPr/>
        </p:nvSpPr>
        <p:spPr>
          <a:xfrm>
            <a:off x="4187952" y="1984248"/>
            <a:ext cx="512064" cy="512064"/>
          </a:xfrm>
          <a:prstGeom prst="ellipse">
            <a:avLst/>
          </a:prstGeom>
          <a:solidFill>
            <a:srgbClr val="EAF1FE"/>
          </a:solidFill>
          <a:ln/>
        </p:spPr>
        <p:txBody>
          <a:bodyPr/>
          <a:p/>
        </p:txBody>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Features</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bosses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txBody>
          <a:bodyPr/>
          <a:p/>
        </p:txBody>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txBody>
          <a:bodyPr/>
          <a:p/>
        </p:txBody>
      </p:sp>
      <p:sp>
        <p:nvSpPr>
          <p:cNvPr id="32" name="Shape 30"/>
          <p:cNvSpPr/>
          <p:nvPr/>
        </p:nvSpPr>
        <p:spPr>
          <a:xfrm>
            <a:off x="5294376" y="1783080"/>
            <a:ext cx="1463040" cy="82296"/>
          </a:xfrm>
          <a:prstGeom prst="rect">
            <a:avLst/>
          </a:prstGeom>
          <a:solidFill>
            <a:srgbClr val="7C3AED"/>
          </a:solidFill>
          <a:ln/>
        </p:spPr>
        <p:txBody>
          <a:bodyPr/>
          <a:p/>
        </p:txBody>
      </p:sp>
      <p:sp>
        <p:nvSpPr>
          <p:cNvPr id="33" name="Shape 31"/>
          <p:cNvSpPr/>
          <p:nvPr/>
        </p:nvSpPr>
        <p:spPr>
          <a:xfrm>
            <a:off x="5769864" y="1984248"/>
            <a:ext cx="512064" cy="512064"/>
          </a:xfrm>
          <a:prstGeom prst="ellipse">
            <a:avLst/>
          </a:prstGeom>
          <a:solidFill>
            <a:srgbClr val="F3EEFE"/>
          </a:solidFill>
          <a:ln/>
        </p:spPr>
        <p:txBody>
          <a:bodyPr/>
          <a:p/>
        </p:txBody>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Ask</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route, material: where CAD can’t decide</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txBody>
          <a:bodyPr/>
          <a:p/>
        </p:txBody>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txBody>
          <a:bodyPr/>
          <a:p/>
        </p:txBody>
      </p:sp>
      <p:sp>
        <p:nvSpPr>
          <p:cNvPr id="39" name="Shape 37"/>
          <p:cNvSpPr/>
          <p:nvPr/>
        </p:nvSpPr>
        <p:spPr>
          <a:xfrm>
            <a:off x="6876288" y="1783080"/>
            <a:ext cx="1463040" cy="82296"/>
          </a:xfrm>
          <a:prstGeom prst="rect">
            <a:avLst/>
          </a:prstGeom>
          <a:solidFill>
            <a:srgbClr val="0E93B0"/>
          </a:solidFill>
          <a:ln/>
        </p:spPr>
        <p:txBody>
          <a:bodyPr/>
          <a:p/>
        </p:txBody>
      </p:sp>
      <p:sp>
        <p:nvSpPr>
          <p:cNvPr id="40" name="Shape 38"/>
          <p:cNvSpPr/>
          <p:nvPr/>
        </p:nvSpPr>
        <p:spPr>
          <a:xfrm>
            <a:off x="7351776" y="1984248"/>
            <a:ext cx="512064" cy="512064"/>
          </a:xfrm>
          <a:prstGeom prst="ellipse">
            <a:avLst/>
          </a:prstGeom>
          <a:solidFill>
            <a:srgbClr val="E8F6FA"/>
          </a:solidFill>
          <a:ln/>
        </p:spPr>
        <p:txBody>
          <a:bodyPr/>
          <a:p/>
        </p:txBody>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txBody>
          <a:bodyPr/>
          <a:p/>
        </p:txBody>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txBody>
          <a:bodyPr/>
          <a:p/>
        </p:txBody>
      </p:sp>
      <p:sp>
        <p:nvSpPr>
          <p:cNvPr id="46" name="Shape 44"/>
          <p:cNvSpPr/>
          <p:nvPr/>
        </p:nvSpPr>
        <p:spPr>
          <a:xfrm>
            <a:off x="8458200" y="1783080"/>
            <a:ext cx="1463040" cy="82296"/>
          </a:xfrm>
          <a:prstGeom prst="rect">
            <a:avLst/>
          </a:prstGeom>
          <a:solidFill>
            <a:srgbClr val="E0900C"/>
          </a:solidFill>
          <a:ln/>
        </p:spPr>
        <p:txBody>
          <a:bodyPr/>
          <a:p/>
        </p:txBody>
      </p:sp>
      <p:sp>
        <p:nvSpPr>
          <p:cNvPr id="47" name="Shape 45"/>
          <p:cNvSpPr/>
          <p:nvPr/>
        </p:nvSpPr>
        <p:spPr>
          <a:xfrm>
            <a:off x="8933688" y="1984248"/>
            <a:ext cx="512064" cy="512064"/>
          </a:xfrm>
          <a:prstGeom prst="ellipse">
            <a:avLst/>
          </a:prstGeom>
          <a:solidFill>
            <a:srgbClr val="FEF6E7"/>
          </a:solidFill>
          <a:ln/>
        </p:spPr>
        <p:txBody>
          <a:bodyPr/>
          <a:p/>
        </p:txBody>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inputs vs measured geometry</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txBody>
          <a:bodyPr/>
          <a:p/>
        </p:txBody>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txBody>
          <a:bodyPr/>
          <a:p/>
        </p:txBody>
      </p:sp>
      <p:sp>
        <p:nvSpPr>
          <p:cNvPr id="53" name="Shape 51"/>
          <p:cNvSpPr/>
          <p:nvPr/>
        </p:nvSpPr>
        <p:spPr>
          <a:xfrm>
            <a:off x="10040112" y="1783080"/>
            <a:ext cx="1463040" cy="82296"/>
          </a:xfrm>
          <a:prstGeom prst="rect">
            <a:avLst/>
          </a:prstGeom>
          <a:solidFill>
            <a:srgbClr val="0EA472"/>
          </a:solidFill>
          <a:ln/>
        </p:spPr>
        <p:txBody>
          <a:bodyPr/>
          <a:p/>
        </p:txBody>
      </p:sp>
      <p:sp>
        <p:nvSpPr>
          <p:cNvPr id="54" name="Shape 52"/>
          <p:cNvSpPr/>
          <p:nvPr/>
        </p:nvSpPr>
        <p:spPr>
          <a:xfrm>
            <a:off x="10515600" y="1984248"/>
            <a:ext cx="512064" cy="512064"/>
          </a:xfrm>
          <a:prstGeom prst="ellipse">
            <a:avLst/>
          </a:prstGeom>
          <a:solidFill>
            <a:srgbClr val="E7F7F0"/>
          </a:solidFill>
          <a:ln/>
        </p:spPr>
        <p:txBody>
          <a:bodyPr/>
          <a:p/>
        </p:txBody>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traceability</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txBody>
          <a:bodyPr/>
          <a:p/>
        </p:txBody>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The tool measures, then asks you</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txBody>
          <a:bodyPr/>
          <a:p/>
        </p:txBody>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txBody>
          <a:bodyPr/>
          <a:p/>
        </p:txBody>
      </p:sp>
      <p:sp>
        <p:nvSpPr>
          <p:cNvPr id="63" name="Shape 61"/>
          <p:cNvSpPr/>
          <p:nvPr/>
        </p:nvSpPr>
        <p:spPr>
          <a:xfrm>
            <a:off x="548640" y="4297680"/>
            <a:ext cx="82296" cy="1051560"/>
          </a:xfrm>
          <a:prstGeom prst="rect">
            <a:avLst/>
          </a:prstGeom>
          <a:solidFill>
            <a:srgbClr val="0DA5A0"/>
          </a:solidFill>
          <a:ln/>
        </p:spPr>
        <p:txBody>
          <a:bodyPr/>
          <a:p/>
        </p:txBody>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measured geometry.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Inputs are checked against the measured volume and weight before they reach the cost. A near-net casting or forging can’t carry a full machining cycle. A machined STL with no cycle time is blocked until the engineer types one.</a:t>
            </a:r>
            <a:endParaRPr lang="en-US" sz="1200" dirty="0"/>
          </a:p>
        </p:txBody>
      </p:sp>
      <p:sp>
        <p:nvSpPr>
          <p:cNvPr id="65" name="Shape 63"/>
          <p:cNvSpPr/>
          <p:nvPr/>
        </p:nvSpPr>
        <p:spPr>
          <a:xfrm>
            <a:off x="548640" y="6400800"/>
            <a:ext cx="11094415" cy="12802"/>
          </a:xfrm>
          <a:prstGeom prst="rect">
            <a:avLst/>
          </a:prstGeom>
          <a:solidFill>
            <a:srgbClr val="E4EAF2"/>
          </a:solidFill>
          <a:ln/>
        </p:spPr>
        <p:txBody>
          <a:bodyPr/>
          <a:p/>
        </p:txBody>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15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we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A small model classifies the commodity · a mid-size model runs the specialist analysis · a larger model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£24.34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we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pcb-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E93B0"/>
          </a:solidFill>
          <a:ln/>
        </p:spPr>
      </p:sp>
      <p:sp>
        <p:nvSpPr>
          <p:cNvPr id="7" name="Shape 4"/>
          <p:cNvSpPr/>
          <p:nvPr/>
        </p:nvSpPr>
        <p:spPr>
          <a:xfrm>
            <a:off x="0" y="6729984"/>
            <a:ext cx="12191695" cy="128016"/>
          </a:xfrm>
          <a:prstGeom prst="rect">
            <a:avLst/>
          </a:prstGeom>
          <a:solidFill>
            <a:srgbClr val="0E93B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E93B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ONE MORE INPUT · ELECTRONICS</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PCB photo → BOM</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ELECTRONICS · PCB AND PCBA</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and PCBA: board, parts and assembly</a:t>
            </a:r>
            <a:endParaRPr lang="en-US" sz="2400" dirty="0"/>
          </a:p>
        </p:txBody>
      </p:sp>
      <p:sp>
        <p:nvSpPr>
          <p:cNvPr id="9" name="Shape 7"/>
          <p:cNvSpPr/>
          <p:nvPr/>
        </p:nvSpPr>
        <p:spPr>
          <a:xfrm>
            <a:off x="548640" y="1371600"/>
            <a:ext cx="1051560" cy="45720"/>
          </a:xfrm>
          <a:prstGeom prst="rect">
            <a:avLst/>
          </a:prstGeom>
          <a:solidFill>
            <a:srgbClr val="0E93B0"/>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Electronics use the same engine. Type in the board spec and the BOM, and the tool prices the bare board, the parts and the assembly.</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txBody>
          <a:bodyPr/>
          <a:p/>
        </p:txBody>
      </p:sp>
      <p:sp>
        <p:nvSpPr>
          <p:cNvPr id="15" name="Text 12"/>
          <p:cNvSpPr/>
          <p:nvPr/>
        </p:nvSpPr>
        <p:spPr>
          <a:xfrm>
            <a:off x="82296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How a board is costed</a:t>
            </a:r>
            <a:endParaRPr lang="en-US" sz="1350" dirty="0"/>
          </a:p>
        </p:txBody>
      </p:sp>
      <p:sp>
        <p:nvSpPr>
          <p:cNvPr id="16" name="Shape 13"/>
          <p:cNvSpPr/>
          <p:nvPr/>
        </p:nvSpPr>
        <p:spPr>
          <a:xfrm>
            <a:off x="804672" y="2578608"/>
            <a:ext cx="274320" cy="274320"/>
          </a:xfrm>
          <a:prstGeom prst="ellipse">
            <a:avLst/>
          </a:prstGeom>
          <a:solidFill>
            <a:srgbClr val="E8F6FA"/>
          </a:solidFill>
          <a:ln/>
        </p:spPr>
        <p:txBody>
          <a:bodyPr/>
          <a:p/>
        </p:txBody>
      </p:sp>
      <p:sp>
        <p:nvSpPr>
          <p:cNvPr id="17" name="Text 14"/>
          <p:cNvSpPr/>
          <p:nvPr/>
        </p:nvSpPr>
        <p:spPr>
          <a:xfrm>
            <a:off x="80467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1</a:t>
            </a:r>
            <a:endParaRPr lang="en-US" sz="1000" dirty="0"/>
          </a:p>
        </p:txBody>
      </p:sp>
      <p:sp>
        <p:nvSpPr>
          <p:cNvPr id="18" name="Text 15"/>
          <p:cNvSpPr/>
          <p:nvPr/>
        </p:nvSpPr>
        <p:spPr>
          <a:xfrm>
            <a:off x="117043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Board spec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size, layers, copper, finish and vias, typed in</a:t>
            </a:r>
            <a:endParaRPr lang="en-US" sz="1030" dirty="0"/>
          </a:p>
        </p:txBody>
      </p:sp>
      <p:sp>
        <p:nvSpPr>
          <p:cNvPr id="19" name="Shape 16"/>
          <p:cNvSpPr/>
          <p:nvPr/>
        </p:nvSpPr>
        <p:spPr>
          <a:xfrm>
            <a:off x="804672" y="3090672"/>
            <a:ext cx="274320" cy="274320"/>
          </a:xfrm>
          <a:prstGeom prst="ellipse">
            <a:avLst/>
          </a:prstGeom>
          <a:solidFill>
            <a:srgbClr val="E7F7F0"/>
          </a:solidFill>
          <a:ln/>
        </p:spPr>
        <p:txBody>
          <a:bodyPr/>
          <a:p/>
        </p:txBody>
      </p:sp>
      <p:sp>
        <p:nvSpPr>
          <p:cNvPr id="20" name="Text 17"/>
          <p:cNvSpPr/>
          <p:nvPr/>
        </p:nvSpPr>
        <p:spPr>
          <a:xfrm>
            <a:off x="80467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2</a:t>
            </a:r>
            <a:endParaRPr lang="en-US" sz="1000" dirty="0"/>
          </a:p>
        </p:txBody>
      </p:sp>
      <p:sp>
        <p:nvSpPr>
          <p:cNvPr id="21" name="Text 18"/>
          <p:cNvSpPr/>
          <p:nvPr/>
        </p:nvSpPr>
        <p:spPr>
          <a:xfrm>
            <a:off x="117043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BOM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each part with its quantity and unit price</a:t>
            </a:r>
            <a:endParaRPr lang="en-US" sz="1030" dirty="0"/>
          </a:p>
        </p:txBody>
      </p:sp>
      <p:sp>
        <p:nvSpPr>
          <p:cNvPr id="22" name="Shape 19"/>
          <p:cNvSpPr/>
          <p:nvPr/>
        </p:nvSpPr>
        <p:spPr>
          <a:xfrm>
            <a:off x="804672" y="3602736"/>
            <a:ext cx="274320" cy="274320"/>
          </a:xfrm>
          <a:prstGeom prst="ellipse">
            <a:avLst/>
          </a:prstGeom>
          <a:solidFill>
            <a:srgbClr val="F3EEFE"/>
          </a:solidFill>
          <a:ln/>
        </p:spPr>
        <p:txBody>
          <a:bodyPr/>
          <a:p/>
        </p:txBody>
      </p:sp>
      <p:sp>
        <p:nvSpPr>
          <p:cNvPr id="23" name="Text 20"/>
          <p:cNvSpPr/>
          <p:nvPr/>
        </p:nvSpPr>
        <p:spPr>
          <a:xfrm>
            <a:off x="80467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3</a:t>
            </a:r>
            <a:endParaRPr lang="en-US" sz="1000" dirty="0"/>
          </a:p>
        </p:txBody>
      </p:sp>
      <p:sp>
        <p:nvSpPr>
          <p:cNvPr id="24" name="Text 21"/>
          <p:cNvSpPr/>
          <p:nvPr/>
        </p:nvSpPr>
        <p:spPr>
          <a:xfrm>
            <a:off x="117043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Assembly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SMT placements, through-hole joints, test, yield</a:t>
            </a:r>
            <a:endParaRPr lang="en-US" sz="1030" dirty="0"/>
          </a:p>
        </p:txBody>
      </p:sp>
      <p:sp>
        <p:nvSpPr>
          <p:cNvPr id="25" name="Shape 22"/>
          <p:cNvSpPr/>
          <p:nvPr/>
        </p:nvSpPr>
        <p:spPr>
          <a:xfrm>
            <a:off x="804672" y="4114800"/>
            <a:ext cx="274320" cy="274320"/>
          </a:xfrm>
          <a:prstGeom prst="ellipse">
            <a:avLst/>
          </a:prstGeom>
          <a:solidFill>
            <a:srgbClr val="EAF1FE"/>
          </a:solidFill>
          <a:ln/>
        </p:spPr>
        <p:txBody>
          <a:bodyPr/>
          <a:p/>
        </p:txBody>
      </p:sp>
      <p:sp>
        <p:nvSpPr>
          <p:cNvPr id="26" name="Text 23"/>
          <p:cNvSpPr/>
          <p:nvPr/>
        </p:nvSpPr>
        <p:spPr>
          <a:xfrm>
            <a:off x="80467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4</a:t>
            </a:r>
            <a:endParaRPr lang="en-US" sz="1000" dirty="0"/>
          </a:p>
        </p:txBody>
      </p:sp>
      <p:sp>
        <p:nvSpPr>
          <p:cNvPr id="27" name="Text 24"/>
          <p:cNvSpPr/>
          <p:nvPr/>
        </p:nvSpPr>
        <p:spPr>
          <a:xfrm>
            <a:off x="117043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 and volume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and assembly rates by country</a:t>
            </a:r>
            <a:endParaRPr lang="en-US" sz="1030" dirty="0"/>
          </a:p>
        </p:txBody>
      </p:sp>
      <p:sp>
        <p:nvSpPr>
          <p:cNvPr id="28" name="Shape 25"/>
          <p:cNvSpPr/>
          <p:nvPr/>
        </p:nvSpPr>
        <p:spPr>
          <a:xfrm>
            <a:off x="804672" y="4626864"/>
            <a:ext cx="274320" cy="274320"/>
          </a:xfrm>
          <a:prstGeom prst="ellipse">
            <a:avLst/>
          </a:prstGeom>
          <a:solidFill>
            <a:srgbClr val="FEF6E7"/>
          </a:solidFill>
          <a:ln/>
        </p:spPr>
        <p:txBody>
          <a:bodyPr/>
          <a:p/>
        </p:txBody>
      </p:sp>
      <p:sp>
        <p:nvSpPr>
          <p:cNvPr id="29" name="Text 26"/>
          <p:cNvSpPr/>
          <p:nvPr/>
        </p:nvSpPr>
        <p:spPr>
          <a:xfrm>
            <a:off x="80467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5</a:t>
            </a:r>
            <a:endParaRPr lang="en-US" sz="1000" dirty="0"/>
          </a:p>
        </p:txBody>
      </p:sp>
      <p:sp>
        <p:nvSpPr>
          <p:cNvPr id="30" name="Text 27"/>
          <p:cNvSpPr/>
          <p:nvPr/>
        </p:nvSpPr>
        <p:spPr>
          <a:xfrm>
            <a:off x="117043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Result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board, parts and assembly in the 8 buckets</a:t>
            </a:r>
            <a:endParaRPr lang="en-US" sz="103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txBody>
          <a:bodyPr/>
          <a:p/>
        </p:txBody>
      </p:sp>
      <p:sp>
        <p:nvSpPr>
          <p:cNvPr id="500"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Worth knowing</a:t>
            </a:r>
            <a:endParaRPr lang="en-US" sz="1350" dirty="0"/>
          </a:p>
        </p:txBody>
      </p:sp>
      <p:sp>
        <p:nvSpPr>
          <p:cNvPr id="501" name="Shape 13"/>
          <p:cNvSpPr/>
          <p:nvPr/>
        </p:nvSpPr>
        <p:spPr>
          <a:xfrm>
            <a:off x="6611112" y="2578608"/>
            <a:ext cx="274320" cy="274320"/>
          </a:xfrm>
          <a:prstGeom prst="ellipse">
            <a:avLst/>
          </a:prstGeom>
          <a:solidFill>
            <a:srgbClr val="E8F6FA"/>
          </a:solidFill>
          <a:ln/>
        </p:spPr>
        <p:txBody>
          <a:bodyPr/>
          <a:p/>
        </p:txBody>
      </p:sp>
      <p:sp>
        <p:nvSpPr>
          <p:cNvPr id="502"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503"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Bought-in board price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the bare board comes from fabricators’ price tables</a:t>
            </a:r>
            <a:endParaRPr lang="en-US" sz="1030" dirty="0"/>
          </a:p>
        </p:txBody>
      </p:sp>
      <p:sp>
        <p:nvSpPr>
          <p:cNvPr id="504" name="Shape 16"/>
          <p:cNvSpPr/>
          <p:nvPr/>
        </p:nvSpPr>
        <p:spPr>
          <a:xfrm>
            <a:off x="6611112" y="3090672"/>
            <a:ext cx="274320" cy="274320"/>
          </a:xfrm>
          <a:prstGeom prst="ellipse">
            <a:avLst/>
          </a:prstGeom>
          <a:solidFill>
            <a:srgbClr val="E7F7F0"/>
          </a:solidFill>
          <a:ln/>
        </p:spPr>
        <p:txBody>
          <a:bodyPr/>
          <a:p/>
        </p:txBody>
      </p:sp>
      <p:sp>
        <p:nvSpPr>
          <p:cNvPr id="505"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506"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No double mark-up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no overhead or margin is added on top of that price</a:t>
            </a:r>
            <a:endParaRPr lang="en-US" sz="1030" dirty="0"/>
          </a:p>
        </p:txBody>
      </p:sp>
      <p:sp>
        <p:nvSpPr>
          <p:cNvPr id="507" name="Shape 19"/>
          <p:cNvSpPr/>
          <p:nvPr/>
        </p:nvSpPr>
        <p:spPr>
          <a:xfrm>
            <a:off x="6611112" y="3602736"/>
            <a:ext cx="274320" cy="274320"/>
          </a:xfrm>
          <a:prstGeom prst="ellipse">
            <a:avLst/>
          </a:prstGeom>
          <a:solidFill>
            <a:srgbClr val="F3EEFE"/>
          </a:solidFill>
          <a:ln/>
        </p:spPr>
        <p:txBody>
          <a:bodyPr/>
          <a:p/>
        </p:txBody>
      </p:sp>
      <p:sp>
        <p:nvSpPr>
          <p:cNvPr id="508"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09"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Parts at your volume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each BOM line is priced for the build volume</a:t>
            </a:r>
            <a:endParaRPr lang="en-US" sz="1030" dirty="0"/>
          </a:p>
        </p:txBody>
      </p:sp>
      <p:sp>
        <p:nvSpPr>
          <p:cNvPr id="510" name="Shape 22"/>
          <p:cNvSpPr/>
          <p:nvPr/>
        </p:nvSpPr>
        <p:spPr>
          <a:xfrm>
            <a:off x="6611112" y="4114800"/>
            <a:ext cx="274320" cy="274320"/>
          </a:xfrm>
          <a:prstGeom prst="ellipse">
            <a:avLst/>
          </a:prstGeom>
          <a:solidFill>
            <a:srgbClr val="EAF1FE"/>
          </a:solidFill>
          <a:ln/>
        </p:spPr>
        <p:txBody>
          <a:bodyPr/>
          <a:p/>
        </p:txBody>
      </p:sp>
      <p:sp>
        <p:nvSpPr>
          <p:cNvPr id="511"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512"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and assembly priced across regions</a:t>
            </a:r>
            <a:endParaRPr lang="en-US" sz="1030" dirty="0"/>
          </a:p>
        </p:txBody>
      </p:sp>
      <p:sp>
        <p:nvSpPr>
          <p:cNvPr id="513" name="Shape 25"/>
          <p:cNvSpPr/>
          <p:nvPr/>
        </p:nvSpPr>
        <p:spPr>
          <a:xfrm>
            <a:off x="6611112" y="4626864"/>
            <a:ext cx="274320" cy="274320"/>
          </a:xfrm>
          <a:prstGeom prst="ellipse">
            <a:avLst/>
          </a:prstGeom>
          <a:solidFill>
            <a:srgbClr val="FEF6E7"/>
          </a:solidFill>
          <a:ln/>
        </p:spPr>
        <p:txBody>
          <a:bodyPr/>
          <a:p/>
        </p:txBody>
      </p:sp>
      <p:sp>
        <p:nvSpPr>
          <p:cNvPr id="514"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515"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Photo → BOM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an optional AI screen; needs an API key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txBody>
          <a:bodyPr/>
          <a:p/>
        </p:txBody>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A fix worth knowing: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a default board used to cost £100.44, because overhead and margin were added on top of a bought-in price. It now costs £83.08. The photo-to-BOM screen is hidden until an API key is added.</a:t>
            </a:r>
            <a:endParaRPr lang="en-US" sz="1150" dirty="0"/>
          </a:p>
        </p:txBody>
      </p:sp>
      <p:sp>
        <p:nvSpPr>
          <p:cNvPr id="33" name="Shape 30"/>
          <p:cNvSpPr/>
          <p:nvPr/>
        </p:nvSpPr>
        <p:spPr>
          <a:xfrm>
            <a:off x="548640" y="6400800"/>
            <a:ext cx="11094415" cy="12802"/>
          </a:xfrm>
          <a:prstGeom prst="rect">
            <a:avLst/>
          </a:prstGeom>
          <a:solidFill>
            <a:srgbClr val="E4EAF2"/>
          </a:solidFill>
          <a:ln/>
        </p:spPr>
        <p:txBody>
          <a:bodyPr/>
          <a:p/>
        </p:txBody>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15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manufacturing processes</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bottom-up model for each process, built for the job. Not one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txBody>
          <a:bodyPr/>
          <a:p/>
        </p:txBody>
      </p:sp>
      <p:sp>
        <p:nvSpPr>
          <p:cNvPr id="12" name="Shape 10"/>
          <p:cNvSpPr/>
          <p:nvPr/>
        </p:nvSpPr>
        <p:spPr>
          <a:xfrm>
            <a:off x="768096" y="2066544"/>
            <a:ext cx="128016" cy="128016"/>
          </a:xfrm>
          <a:prstGeom prst="ellipse">
            <a:avLst/>
          </a:prstGeom>
          <a:solidFill>
            <a:srgbClr val="2563EB"/>
          </a:solidFill>
          <a:ln/>
        </p:spPr>
        <p:txBody>
          <a:bodyPr/>
          <a:p/>
        </p:txBody>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HPDC · sand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txBody>
          <a:bodyPr/>
          <a:p/>
        </p:txBody>
      </p:sp>
      <p:sp>
        <p:nvSpPr>
          <p:cNvPr id="15" name="Shape 13"/>
          <p:cNvSpPr/>
          <p:nvPr/>
        </p:nvSpPr>
        <p:spPr>
          <a:xfrm>
            <a:off x="4544568" y="2066544"/>
            <a:ext cx="128016" cy="128016"/>
          </a:xfrm>
          <a:prstGeom prst="ellipse">
            <a:avLst/>
          </a:prstGeom>
          <a:solidFill>
            <a:srgbClr val="0E93B0"/>
          </a:solidFill>
          <a:ln/>
        </p:spPr>
        <p:txBody>
          <a:bodyPr/>
          <a:p/>
        </p:txBody>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 + machine</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txBody>
          <a:bodyPr/>
          <a:p/>
        </p:txBody>
      </p:sp>
      <p:sp>
        <p:nvSpPr>
          <p:cNvPr id="18" name="Shape 16"/>
          <p:cNvSpPr/>
          <p:nvPr/>
        </p:nvSpPr>
        <p:spPr>
          <a:xfrm>
            <a:off x="8321040" y="2066544"/>
            <a:ext cx="128016" cy="128016"/>
          </a:xfrm>
          <a:prstGeom prst="ellipse">
            <a:avLst/>
          </a:prstGeom>
          <a:solidFill>
            <a:srgbClr val="0DA5A0"/>
          </a:solidFill>
          <a:ln/>
        </p:spPr>
        <p:txBody>
          <a:bodyPr/>
          <a:p/>
        </p:txBody>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4325112" y="2423160"/>
            <a:ext cx="3520440" cy="502920"/>
          </a:xfrm>
          <a:prstGeom prst="roundRect">
            <a:avLst>
              <a:gd name="adj" fmla="val 14545"/>
            </a:avLst>
          </a:prstGeom>
          <a:solidFill>
            <a:srgbClr val="EAF1FE"/>
          </a:solidFill>
          <a:ln w="9525">
            <a:solidFill>
              <a:srgbClr val="E4EAF2"/>
            </a:solidFill>
            <a:prstDash val="solid"/>
          </a:ln>
        </p:spPr>
        <p:txBody>
          <a:bodyPr/>
          <a:p/>
        </p:txBody>
      </p:sp>
      <p:sp>
        <p:nvSpPr>
          <p:cNvPr id="21" name="Shape 19"/>
          <p:cNvSpPr/>
          <p:nvPr/>
        </p:nvSpPr>
        <p:spPr>
          <a:xfrm>
            <a:off x="4544568" y="2615184"/>
            <a:ext cx="128016" cy="128016"/>
          </a:xfrm>
          <a:prstGeom prst="ellipse">
            <a:avLst/>
          </a:prstGeom>
          <a:solidFill>
            <a:srgbClr val="4F46E5"/>
          </a:solidFill>
          <a:ln/>
        </p:spPr>
        <p:txBody>
          <a:bodyPr/>
          <a:p/>
        </p:txBody>
      </p:sp>
      <p:sp>
        <p:nvSpPr>
          <p:cNvPr id="22" name="Text 20"/>
          <p:cNvSpPr/>
          <p:nvPr/>
        </p:nvSpPr>
        <p:spPr>
          <a:xfrm>
            <a:off x="4782312"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8101584" y="2423160"/>
            <a:ext cx="3520440" cy="502920"/>
          </a:xfrm>
          <a:prstGeom prst="roundRect">
            <a:avLst>
              <a:gd name="adj" fmla="val 14545"/>
            </a:avLst>
          </a:prstGeom>
          <a:solidFill>
            <a:srgbClr val="F4F7FB"/>
          </a:solidFill>
          <a:ln w="9525">
            <a:solidFill>
              <a:srgbClr val="E4EAF2"/>
            </a:solidFill>
            <a:prstDash val="solid"/>
          </a:ln>
        </p:spPr>
        <p:txBody>
          <a:bodyPr/>
          <a:p/>
        </p:txBody>
      </p:sp>
      <p:sp>
        <p:nvSpPr>
          <p:cNvPr id="24" name="Shape 22"/>
          <p:cNvSpPr/>
          <p:nvPr/>
        </p:nvSpPr>
        <p:spPr>
          <a:xfrm>
            <a:off x="8321040" y="2615184"/>
            <a:ext cx="128016" cy="128016"/>
          </a:xfrm>
          <a:prstGeom prst="ellipse">
            <a:avLst/>
          </a:prstGeom>
          <a:solidFill>
            <a:srgbClr val="2E90FA"/>
          </a:solidFill>
          <a:ln/>
        </p:spPr>
        <p:txBody>
          <a:bodyPr/>
          <a:p/>
        </p:txBody>
      </p:sp>
      <p:sp>
        <p:nvSpPr>
          <p:cNvPr id="25" name="Text 23"/>
          <p:cNvSpPr/>
          <p:nvPr/>
        </p:nvSpPr>
        <p:spPr>
          <a:xfrm>
            <a:off x="8558784"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pressed</a:t>
            </a:r>
            <a:endParaRPr lang="en-US" sz="1050" dirty="0"/>
          </a:p>
        </p:txBody>
      </p:sp>
      <p:sp>
        <p:nvSpPr>
          <p:cNvPr id="26" name="Shape 24"/>
          <p:cNvSpPr/>
          <p:nvPr/>
        </p:nvSpPr>
        <p:spPr>
          <a:xfrm>
            <a:off x="548640" y="2971800"/>
            <a:ext cx="3520440" cy="502920"/>
          </a:xfrm>
          <a:prstGeom prst="roundRect">
            <a:avLst>
              <a:gd name="adj" fmla="val 14545"/>
            </a:avLst>
          </a:prstGeom>
          <a:solidFill>
            <a:srgbClr val="F3EEFE"/>
          </a:solidFill>
          <a:ln w="9525">
            <a:solidFill>
              <a:srgbClr val="E4EAF2"/>
            </a:solidFill>
            <a:prstDash val="solid"/>
          </a:ln>
        </p:spPr>
        <p:txBody>
          <a:bodyPr/>
          <a:p/>
        </p:txBody>
      </p:sp>
      <p:sp>
        <p:nvSpPr>
          <p:cNvPr id="27" name="Shape 25"/>
          <p:cNvSpPr/>
          <p:nvPr/>
        </p:nvSpPr>
        <p:spPr>
          <a:xfrm>
            <a:off x="768096" y="3163824"/>
            <a:ext cx="128016" cy="128016"/>
          </a:xfrm>
          <a:prstGeom prst="ellipse">
            <a:avLst/>
          </a:prstGeom>
          <a:solidFill>
            <a:srgbClr val="7C3AED"/>
          </a:solidFill>
          <a:ln/>
        </p:spPr>
        <p:txBody>
          <a:bodyPr/>
          <a:p/>
        </p:txBody>
      </p:sp>
      <p:sp>
        <p:nvSpPr>
          <p:cNvPr id="28" name="Text 26"/>
          <p:cNvSpPr/>
          <p:nvPr/>
        </p:nvSpPr>
        <p:spPr>
          <a:xfrm>
            <a:off x="1005840"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4325112" y="2971800"/>
            <a:ext cx="3520440" cy="502920"/>
          </a:xfrm>
          <a:prstGeom prst="roundRect">
            <a:avLst>
              <a:gd name="adj" fmla="val 14545"/>
            </a:avLst>
          </a:prstGeom>
          <a:solidFill>
            <a:srgbClr val="E7F7F0"/>
          </a:solidFill>
          <a:ln w="9525">
            <a:solidFill>
              <a:srgbClr val="E4EAF2"/>
            </a:solidFill>
            <a:prstDash val="solid"/>
          </a:ln>
        </p:spPr>
        <p:txBody>
          <a:bodyPr/>
          <a:p/>
        </p:txBody>
      </p:sp>
      <p:sp>
        <p:nvSpPr>
          <p:cNvPr id="30" name="Shape 28"/>
          <p:cNvSpPr/>
          <p:nvPr/>
        </p:nvSpPr>
        <p:spPr>
          <a:xfrm>
            <a:off x="4544568" y="3163824"/>
            <a:ext cx="128016" cy="128016"/>
          </a:xfrm>
          <a:prstGeom prst="ellipse">
            <a:avLst/>
          </a:prstGeom>
          <a:solidFill>
            <a:srgbClr val="0EA472"/>
          </a:solidFill>
          <a:ln/>
        </p:spPr>
        <p:txBody>
          <a:bodyPr/>
          <a:p/>
        </p:txBody>
      </p:sp>
      <p:sp>
        <p:nvSpPr>
          <p:cNvPr id="31" name="Text 29"/>
          <p:cNvSpPr/>
          <p:nvPr/>
        </p:nvSpPr>
        <p:spPr>
          <a:xfrm>
            <a:off x="4782312"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8101584" y="2971800"/>
            <a:ext cx="3520440" cy="502920"/>
          </a:xfrm>
          <a:prstGeom prst="roundRect">
            <a:avLst>
              <a:gd name="adj" fmla="val 14545"/>
            </a:avLst>
          </a:prstGeom>
          <a:solidFill>
            <a:srgbClr val="FEF6E7"/>
          </a:solidFill>
          <a:ln w="9525">
            <a:solidFill>
              <a:srgbClr val="E4EAF2"/>
            </a:solidFill>
            <a:prstDash val="solid"/>
          </a:ln>
        </p:spPr>
        <p:txBody>
          <a:bodyPr/>
          <a:p/>
        </p:txBody>
      </p:sp>
      <p:sp>
        <p:nvSpPr>
          <p:cNvPr id="33" name="Shape 31"/>
          <p:cNvSpPr/>
          <p:nvPr/>
        </p:nvSpPr>
        <p:spPr>
          <a:xfrm>
            <a:off x="8321040" y="3163824"/>
            <a:ext cx="128016" cy="128016"/>
          </a:xfrm>
          <a:prstGeom prst="ellipse">
            <a:avLst/>
          </a:prstGeom>
          <a:solidFill>
            <a:srgbClr val="E0900C"/>
          </a:solidFill>
          <a:ln/>
        </p:spPr>
        <p:txBody>
          <a:bodyPr/>
          <a:p/>
        </p:txBody>
      </p:sp>
      <p:sp>
        <p:nvSpPr>
          <p:cNvPr id="34" name="Text 32"/>
          <p:cNvSpPr/>
          <p:nvPr/>
        </p:nvSpPr>
        <p:spPr>
          <a:xfrm>
            <a:off x="8558784"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548640" y="3520440"/>
            <a:ext cx="3520440" cy="502920"/>
          </a:xfrm>
          <a:prstGeom prst="roundRect">
            <a:avLst>
              <a:gd name="adj" fmla="val 14545"/>
            </a:avLst>
          </a:prstGeom>
          <a:solidFill>
            <a:srgbClr val="FDECEC"/>
          </a:solidFill>
          <a:ln w="9525">
            <a:solidFill>
              <a:srgbClr val="E4EAF2"/>
            </a:solidFill>
            <a:prstDash val="solid"/>
          </a:ln>
        </p:spPr>
        <p:txBody>
          <a:bodyPr/>
          <a:p/>
        </p:txBody>
      </p:sp>
      <p:sp>
        <p:nvSpPr>
          <p:cNvPr id="36" name="Shape 34"/>
          <p:cNvSpPr/>
          <p:nvPr/>
        </p:nvSpPr>
        <p:spPr>
          <a:xfrm>
            <a:off x="768096" y="3712464"/>
            <a:ext cx="128016" cy="128016"/>
          </a:xfrm>
          <a:prstGeom prst="ellipse">
            <a:avLst/>
          </a:prstGeom>
          <a:solidFill>
            <a:srgbClr val="E5484D"/>
          </a:solidFill>
          <a:ln/>
        </p:spPr>
        <p:txBody>
          <a:bodyPr/>
          <a:p/>
        </p:txBody>
      </p:sp>
      <p:sp>
        <p:nvSpPr>
          <p:cNvPr id="37" name="Text 35"/>
          <p:cNvSpPr/>
          <p:nvPr/>
        </p:nvSpPr>
        <p:spPr>
          <a:xfrm>
            <a:off x="1005840"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4325112" y="3520440"/>
            <a:ext cx="3520440" cy="502920"/>
          </a:xfrm>
          <a:prstGeom prst="roundRect">
            <a:avLst>
              <a:gd name="adj" fmla="val 14545"/>
            </a:avLst>
          </a:prstGeom>
          <a:solidFill>
            <a:srgbClr val="EAF1FE"/>
          </a:solidFill>
          <a:ln w="9525">
            <a:solidFill>
              <a:srgbClr val="E4EAF2"/>
            </a:solidFill>
            <a:prstDash val="solid"/>
          </a:ln>
        </p:spPr>
        <p:txBody>
          <a:bodyPr/>
          <a:p/>
        </p:txBody>
      </p:sp>
      <p:sp>
        <p:nvSpPr>
          <p:cNvPr id="39" name="Shape 37"/>
          <p:cNvSpPr/>
          <p:nvPr/>
        </p:nvSpPr>
        <p:spPr>
          <a:xfrm>
            <a:off x="4544568" y="3712464"/>
            <a:ext cx="128016" cy="128016"/>
          </a:xfrm>
          <a:prstGeom prst="ellipse">
            <a:avLst/>
          </a:prstGeom>
          <a:solidFill>
            <a:srgbClr val="2563EB"/>
          </a:solidFill>
          <a:ln/>
        </p:spPr>
        <p:txBody>
          <a:bodyPr/>
          <a:p/>
        </p:txBody>
      </p:sp>
      <p:sp>
        <p:nvSpPr>
          <p:cNvPr id="40" name="Text 38"/>
          <p:cNvSpPr/>
          <p:nvPr/>
        </p:nvSpPr>
        <p:spPr>
          <a:xfrm>
            <a:off x="4782312"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8101584" y="3520440"/>
            <a:ext cx="3520440" cy="502920"/>
          </a:xfrm>
          <a:prstGeom prst="roundRect">
            <a:avLst>
              <a:gd name="adj" fmla="val 14545"/>
            </a:avLst>
          </a:prstGeom>
          <a:solidFill>
            <a:srgbClr val="E8F6FA"/>
          </a:solidFill>
          <a:ln w="9525">
            <a:solidFill>
              <a:srgbClr val="E4EAF2"/>
            </a:solidFill>
            <a:prstDash val="solid"/>
          </a:ln>
        </p:spPr>
        <p:txBody>
          <a:bodyPr/>
          <a:p/>
        </p:txBody>
      </p:sp>
      <p:sp>
        <p:nvSpPr>
          <p:cNvPr id="42" name="Shape 40"/>
          <p:cNvSpPr/>
          <p:nvPr/>
        </p:nvSpPr>
        <p:spPr>
          <a:xfrm>
            <a:off x="8321040" y="3712464"/>
            <a:ext cx="128016" cy="128016"/>
          </a:xfrm>
          <a:prstGeom prst="ellipse">
            <a:avLst/>
          </a:prstGeom>
          <a:solidFill>
            <a:srgbClr val="0E93B0"/>
          </a:solidFill>
          <a:ln/>
        </p:spPr>
        <p:txBody>
          <a:bodyPr/>
          <a:p/>
        </p:txBody>
      </p:sp>
      <p:sp>
        <p:nvSpPr>
          <p:cNvPr id="43" name="Text 41"/>
          <p:cNvSpPr/>
          <p:nvPr/>
        </p:nvSpPr>
        <p:spPr>
          <a:xfrm>
            <a:off x="8558784"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548640" y="4069080"/>
            <a:ext cx="3520440" cy="502920"/>
          </a:xfrm>
          <a:prstGeom prst="roundRect">
            <a:avLst>
              <a:gd name="adj" fmla="val 14545"/>
            </a:avLst>
          </a:prstGeom>
          <a:solidFill>
            <a:srgbClr val="E7F7F0"/>
          </a:solidFill>
          <a:ln w="9525">
            <a:solidFill>
              <a:srgbClr val="E4EAF2"/>
            </a:solidFill>
            <a:prstDash val="solid"/>
          </a:ln>
        </p:spPr>
        <p:txBody>
          <a:bodyPr/>
          <a:p/>
        </p:txBody>
      </p:sp>
      <p:sp>
        <p:nvSpPr>
          <p:cNvPr id="45" name="Shape 43"/>
          <p:cNvSpPr/>
          <p:nvPr/>
        </p:nvSpPr>
        <p:spPr>
          <a:xfrm>
            <a:off x="768096" y="4261104"/>
            <a:ext cx="128016" cy="128016"/>
          </a:xfrm>
          <a:prstGeom prst="ellipse">
            <a:avLst/>
          </a:prstGeom>
          <a:solidFill>
            <a:srgbClr val="0DA5A0"/>
          </a:solidFill>
          <a:ln/>
        </p:spPr>
        <p:txBody>
          <a:bodyPr/>
          <a:p/>
        </p:txBody>
      </p:sp>
      <p:sp>
        <p:nvSpPr>
          <p:cNvPr id="46" name="Text 44"/>
          <p:cNvSpPr/>
          <p:nvPr/>
        </p:nvSpPr>
        <p:spPr>
          <a:xfrm>
            <a:off x="1005840"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4325112" y="4069080"/>
            <a:ext cx="3520440" cy="502920"/>
          </a:xfrm>
          <a:prstGeom prst="roundRect">
            <a:avLst>
              <a:gd name="adj" fmla="val 14545"/>
            </a:avLst>
          </a:prstGeom>
          <a:solidFill>
            <a:srgbClr val="EAF1FE"/>
          </a:solidFill>
          <a:ln w="9525">
            <a:solidFill>
              <a:srgbClr val="E4EAF2"/>
            </a:solidFill>
            <a:prstDash val="solid"/>
          </a:ln>
        </p:spPr>
        <p:txBody>
          <a:bodyPr/>
          <a:p/>
        </p:txBody>
      </p:sp>
      <p:sp>
        <p:nvSpPr>
          <p:cNvPr id="48" name="Shape 46"/>
          <p:cNvSpPr/>
          <p:nvPr/>
        </p:nvSpPr>
        <p:spPr>
          <a:xfrm>
            <a:off x="4544568" y="4261104"/>
            <a:ext cx="128016" cy="128016"/>
          </a:xfrm>
          <a:prstGeom prst="ellipse">
            <a:avLst/>
          </a:prstGeom>
          <a:solidFill>
            <a:srgbClr val="4F46E5"/>
          </a:solidFill>
          <a:ln/>
        </p:spPr>
        <p:txBody>
          <a:bodyPr/>
          <a:p/>
        </p:txBody>
      </p:sp>
      <p:sp>
        <p:nvSpPr>
          <p:cNvPr id="49" name="Text 47"/>
          <p:cNvSpPr/>
          <p:nvPr/>
        </p:nvSpPr>
        <p:spPr>
          <a:xfrm>
            <a:off x="4782312"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8101584" y="4069080"/>
            <a:ext cx="3520440" cy="502920"/>
          </a:xfrm>
          <a:prstGeom prst="roundRect">
            <a:avLst>
              <a:gd name="adj" fmla="val 14545"/>
            </a:avLst>
          </a:prstGeom>
          <a:solidFill>
            <a:srgbClr val="F4F7FB"/>
          </a:solidFill>
          <a:ln w="9525">
            <a:solidFill>
              <a:srgbClr val="E4EAF2"/>
            </a:solidFill>
            <a:prstDash val="solid"/>
          </a:ln>
        </p:spPr>
        <p:txBody>
          <a:bodyPr/>
          <a:p/>
        </p:txBody>
      </p:sp>
      <p:sp>
        <p:nvSpPr>
          <p:cNvPr id="51" name="Shape 49"/>
          <p:cNvSpPr/>
          <p:nvPr/>
        </p:nvSpPr>
        <p:spPr>
          <a:xfrm>
            <a:off x="8321040" y="4261104"/>
            <a:ext cx="128016" cy="128016"/>
          </a:xfrm>
          <a:prstGeom prst="ellipse">
            <a:avLst/>
          </a:prstGeom>
          <a:solidFill>
            <a:srgbClr val="2E90FA"/>
          </a:solidFill>
          <a:ln/>
        </p:spPr>
        <p:txBody>
          <a:bodyPr/>
          <a:p/>
        </p:txBody>
      </p:sp>
      <p:sp>
        <p:nvSpPr>
          <p:cNvPr id="52" name="Text 50"/>
          <p:cNvSpPr/>
          <p:nvPr/>
        </p:nvSpPr>
        <p:spPr>
          <a:xfrm>
            <a:off x="8558784"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548640" y="4617720"/>
            <a:ext cx="3520440" cy="502920"/>
          </a:xfrm>
          <a:prstGeom prst="roundRect">
            <a:avLst>
              <a:gd name="adj" fmla="val 14545"/>
            </a:avLst>
          </a:prstGeom>
          <a:solidFill>
            <a:srgbClr val="F3EEFE"/>
          </a:solidFill>
          <a:ln w="9525">
            <a:solidFill>
              <a:srgbClr val="E4EAF2"/>
            </a:solidFill>
            <a:prstDash val="solid"/>
          </a:ln>
        </p:spPr>
        <p:txBody>
          <a:bodyPr/>
          <a:p/>
        </p:txBody>
      </p:sp>
      <p:sp>
        <p:nvSpPr>
          <p:cNvPr id="54" name="Shape 52"/>
          <p:cNvSpPr/>
          <p:nvPr/>
        </p:nvSpPr>
        <p:spPr>
          <a:xfrm>
            <a:off x="768096" y="4809744"/>
            <a:ext cx="128016" cy="128016"/>
          </a:xfrm>
          <a:prstGeom prst="ellipse">
            <a:avLst/>
          </a:prstGeom>
          <a:solidFill>
            <a:srgbClr val="7C3AED"/>
          </a:solidFill>
          <a:ln/>
        </p:spPr>
        <p:txBody>
          <a:bodyPr/>
          <a:p/>
        </p:txBody>
      </p:sp>
      <p:sp>
        <p:nvSpPr>
          <p:cNvPr id="55" name="Text 53"/>
          <p:cNvSpPr/>
          <p:nvPr/>
        </p:nvSpPr>
        <p:spPr>
          <a:xfrm>
            <a:off x="1005840"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4325112" y="4617720"/>
            <a:ext cx="3520440" cy="502920"/>
          </a:xfrm>
          <a:prstGeom prst="roundRect">
            <a:avLst>
              <a:gd name="adj" fmla="val 14545"/>
            </a:avLst>
          </a:prstGeom>
          <a:solidFill>
            <a:srgbClr val="E7F7F0"/>
          </a:solidFill>
          <a:ln w="9525">
            <a:solidFill>
              <a:srgbClr val="E4EAF2"/>
            </a:solidFill>
            <a:prstDash val="solid"/>
          </a:ln>
        </p:spPr>
        <p:txBody>
          <a:bodyPr/>
          <a:p/>
        </p:txBody>
      </p:sp>
      <p:sp>
        <p:nvSpPr>
          <p:cNvPr id="57" name="Shape 55"/>
          <p:cNvSpPr/>
          <p:nvPr/>
        </p:nvSpPr>
        <p:spPr>
          <a:xfrm>
            <a:off x="4544568" y="4809744"/>
            <a:ext cx="128016" cy="128016"/>
          </a:xfrm>
          <a:prstGeom prst="ellipse">
            <a:avLst/>
          </a:prstGeom>
          <a:solidFill>
            <a:srgbClr val="0EA472"/>
          </a:solidFill>
          <a:ln/>
        </p:spPr>
        <p:txBody>
          <a:bodyPr/>
          <a:p/>
        </p:txBody>
      </p:sp>
      <p:sp>
        <p:nvSpPr>
          <p:cNvPr id="58" name="Text 56"/>
          <p:cNvSpPr/>
          <p:nvPr/>
        </p:nvSpPr>
        <p:spPr>
          <a:xfrm>
            <a:off x="4782312"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8101584" y="4617720"/>
            <a:ext cx="3520440" cy="502920"/>
          </a:xfrm>
          <a:prstGeom prst="roundRect">
            <a:avLst>
              <a:gd name="adj" fmla="val 14545"/>
            </a:avLst>
          </a:prstGeom>
          <a:solidFill>
            <a:srgbClr val="FEF6E7"/>
          </a:solidFill>
          <a:ln w="9525">
            <a:solidFill>
              <a:srgbClr val="E4EAF2"/>
            </a:solidFill>
            <a:prstDash val="solid"/>
          </a:ln>
        </p:spPr>
        <p:txBody>
          <a:bodyPr/>
          <a:p/>
        </p:txBody>
      </p:sp>
      <p:sp>
        <p:nvSpPr>
          <p:cNvPr id="60" name="Shape 58"/>
          <p:cNvSpPr/>
          <p:nvPr/>
        </p:nvSpPr>
        <p:spPr>
          <a:xfrm>
            <a:off x="8321040" y="4809744"/>
            <a:ext cx="128016" cy="128016"/>
          </a:xfrm>
          <a:prstGeom prst="ellipse">
            <a:avLst/>
          </a:prstGeom>
          <a:solidFill>
            <a:srgbClr val="E0900C"/>
          </a:solidFill>
          <a:ln/>
        </p:spPr>
        <p:txBody>
          <a:bodyPr/>
          <a:p/>
        </p:txBody>
      </p:sp>
      <p:sp>
        <p:nvSpPr>
          <p:cNvPr id="61" name="Text 59"/>
          <p:cNvSpPr/>
          <p:nvPr/>
        </p:nvSpPr>
        <p:spPr>
          <a:xfrm>
            <a:off x="8558784"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548640" y="5166360"/>
            <a:ext cx="3520440" cy="502920"/>
          </a:xfrm>
          <a:prstGeom prst="roundRect">
            <a:avLst>
              <a:gd name="adj" fmla="val 14545"/>
            </a:avLst>
          </a:prstGeom>
          <a:solidFill>
            <a:srgbClr val="FDECEC"/>
          </a:solidFill>
          <a:ln w="9525">
            <a:solidFill>
              <a:srgbClr val="E4EAF2"/>
            </a:solidFill>
            <a:prstDash val="solid"/>
          </a:ln>
        </p:spPr>
        <p:txBody>
          <a:bodyPr/>
          <a:p/>
        </p:txBody>
      </p:sp>
      <p:sp>
        <p:nvSpPr>
          <p:cNvPr id="63" name="Shape 61"/>
          <p:cNvSpPr/>
          <p:nvPr/>
        </p:nvSpPr>
        <p:spPr>
          <a:xfrm>
            <a:off x="768096" y="5358384"/>
            <a:ext cx="128016" cy="128016"/>
          </a:xfrm>
          <a:prstGeom prst="ellipse">
            <a:avLst/>
          </a:prstGeom>
          <a:solidFill>
            <a:srgbClr val="E5484D"/>
          </a:solidFill>
          <a:ln/>
        </p:spPr>
        <p:txBody>
          <a:bodyPr/>
          <a:p/>
        </p:txBody>
      </p:sp>
      <p:sp>
        <p:nvSpPr>
          <p:cNvPr id="64" name="Text 62"/>
          <p:cNvSpPr/>
          <p:nvPr/>
        </p:nvSpPr>
        <p:spPr>
          <a:xfrm>
            <a:off x="1005840" y="51663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txBody>
          <a:bodyPr/>
          <a:p/>
        </p:txBody>
      </p:sp>
      <p:sp>
        <p:nvSpPr>
          <p:cNvPr id="66" name="Shape 64"/>
          <p:cNvSpPr/>
          <p:nvPr/>
        </p:nvSpPr>
        <p:spPr>
          <a:xfrm>
            <a:off x="548640" y="5742432"/>
            <a:ext cx="82296" cy="548640"/>
          </a:xfrm>
          <a:prstGeom prst="rect">
            <a:avLst/>
          </a:prstGeom>
          <a:solidFill>
            <a:srgbClr val="E0900C"/>
          </a:solidFill>
          <a:ln/>
        </p:spPr>
        <p:txBody>
          <a:bodyPr/>
          <a:p/>
        </p:txBody>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8-bucket cost stack, material to margin. Plus an assembly roll-up and a 49-module automotive software cost model. Every part prices in 20 regions.</a:t>
            </a:r>
            <a:endParaRPr lang="en-US" sz="1150" dirty="0"/>
          </a:p>
        </p:txBody>
      </p:sp>
      <p:sp>
        <p:nvSpPr>
          <p:cNvPr id="68" name="Shape 66"/>
          <p:cNvSpPr/>
          <p:nvPr/>
        </p:nvSpPr>
        <p:spPr>
          <a:xfrm>
            <a:off x="548640" y="6400800"/>
            <a:ext cx="11094415" cy="12802"/>
          </a:xfrm>
          <a:prstGeom prst="rect">
            <a:avLst/>
          </a:prstGeom>
          <a:solidFill>
            <a:srgbClr val="E4EAF2"/>
          </a:solidFill>
          <a:ln/>
        </p:spPr>
        <p:txBody>
          <a:bodyPr/>
          <a:p/>
        </p:txBody>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15</a:t>
            </a:r>
            <a:endParaRPr lang="en-US" sz="850" dirty="0"/>
          </a:p>
        </p:txBody>
      </p:sp>
      <p:sp>
        <p:nvSpPr>
          <p:cNvPr id="71" name="GearChip71"/>
          <p:cNvSpPr/>
          <p:nvPr/>
        </p:nvSpPr>
        <p:spPr>
          <a:xfrm>
            <a:off x="548640" y="2423160"/>
            <a:ext cx="3520440" cy="502920"/>
          </a:xfrm>
          <a:prstGeom prst="roundRect">
            <a:avLst>
              <a:gd name="adj" fmla="val 14545"/>
            </a:avLst>
          </a:prstGeom>
          <a:solidFill>
            <a:srgbClr val="EAF1FE"/>
          </a:solidFill>
          <a:ln w="9525">
            <a:solidFill>
              <a:srgbClr val="E4EAF2"/>
            </a:solidFill>
            <a:prstDash val="solid"/>
          </a:ln>
        </p:spPr>
        <p:txBody>
          <a:bodyPr/>
          <a:p/>
        </p:txBody>
      </p:sp>
      <p:sp>
        <p:nvSpPr>
          <p:cNvPr id="72" name="GearChip72"/>
          <p:cNvSpPr/>
          <p:nvPr/>
        </p:nvSpPr>
        <p:spPr>
          <a:xfrm>
            <a:off x="768096" y="2615184"/>
            <a:ext cx="128016" cy="128016"/>
          </a:xfrm>
          <a:prstGeom prst="ellipse">
            <a:avLst/>
          </a:prstGeom>
          <a:solidFill>
            <a:srgbClr val="2563EB"/>
          </a:solidFill>
          <a:ln/>
        </p:spPr>
        <p:txBody>
          <a:bodyPr/>
          <a:p/>
        </p:txBody>
      </p:sp>
      <p:sp>
        <p:nvSpPr>
          <p:cNvPr id="73" name="GearChip73"/>
          <p:cNvSpPr/>
          <p:nvPr/>
        </p:nvSpPr>
        <p:spPr>
          <a:xfrm>
            <a:off x="1005840"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Gear cutting — hob · shape · grind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globe-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DA5A0"/>
          </a:solidFill>
          <a:ln/>
        </p:spPr>
      </p:sp>
      <p:sp>
        <p:nvSpPr>
          <p:cNvPr id="7" name="Shape 4"/>
          <p:cNvSpPr/>
          <p:nvPr/>
        </p:nvSpPr>
        <p:spPr>
          <a:xfrm>
            <a:off x="0" y="6729984"/>
            <a:ext cx="12191695" cy="128016"/>
          </a:xfrm>
          <a:prstGeom prst="rect">
            <a:avLst/>
          </a:prstGeom>
          <a:solidFill>
            <a:srgbClr val="0DA5A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 · SHOULD-COST MODEL</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Global should-cost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we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our own rate database — our rates, our numbers</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Load our own cost rates as one Excel workbook. Every costing then runs on our numbers: checked on upload, versioned and traceable.</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txBody>
          <a:bodyPr/>
          <a:p/>
        </p:txBody>
      </p:sp>
      <p:sp>
        <p:nvSpPr>
          <p:cNvPr id="12" name="Shape 10"/>
          <p:cNvSpPr/>
          <p:nvPr/>
        </p:nvSpPr>
        <p:spPr>
          <a:xfrm>
            <a:off x="548640" y="1938528"/>
            <a:ext cx="82296" cy="1371600"/>
          </a:xfrm>
          <a:prstGeom prst="rect">
            <a:avLst/>
          </a:prstGeom>
          <a:solidFill>
            <a:srgbClr val="2563EB"/>
          </a:solidFill>
          <a:ln/>
        </p:spPr>
        <p:txBody>
          <a:bodyPr/>
          <a:p/>
        </p:txBody>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txBody>
          <a:bodyPr/>
          <a:p/>
        </p:txBody>
      </p:sp>
      <p:sp>
        <p:nvSpPr>
          <p:cNvPr id="16" name="Shape 14"/>
          <p:cNvSpPr/>
          <p:nvPr/>
        </p:nvSpPr>
        <p:spPr>
          <a:xfrm>
            <a:off x="2409444" y="1938528"/>
            <a:ext cx="82296" cy="1371600"/>
          </a:xfrm>
          <a:prstGeom prst="rect">
            <a:avLst/>
          </a:prstGeom>
          <a:solidFill>
            <a:srgbClr val="4F46E5"/>
          </a:solidFill>
          <a:ln/>
        </p:spPr>
        <p:txBody>
          <a:bodyPr/>
          <a:p/>
        </p:txBody>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txBody>
          <a:bodyPr/>
          <a:p/>
        </p:txBody>
      </p:sp>
      <p:sp>
        <p:nvSpPr>
          <p:cNvPr id="20" name="Shape 18"/>
          <p:cNvSpPr/>
          <p:nvPr/>
        </p:nvSpPr>
        <p:spPr>
          <a:xfrm>
            <a:off x="4270248" y="1938528"/>
            <a:ext cx="82296" cy="1371600"/>
          </a:xfrm>
          <a:prstGeom prst="rect">
            <a:avLst/>
          </a:prstGeom>
          <a:solidFill>
            <a:srgbClr val="0DA5A0"/>
          </a:solidFill>
          <a:ln/>
        </p:spPr>
        <p:txBody>
          <a:bodyPr/>
          <a:p/>
        </p:txBody>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txBody>
          <a:bodyPr/>
          <a:p/>
        </p:txBody>
      </p:sp>
      <p:sp>
        <p:nvSpPr>
          <p:cNvPr id="24" name="Shape 22"/>
          <p:cNvSpPr/>
          <p:nvPr/>
        </p:nvSpPr>
        <p:spPr>
          <a:xfrm>
            <a:off x="6131052" y="1938528"/>
            <a:ext cx="82296" cy="1371600"/>
          </a:xfrm>
          <a:prstGeom prst="rect">
            <a:avLst/>
          </a:prstGeom>
          <a:solidFill>
            <a:srgbClr val="E0900C"/>
          </a:solidFill>
          <a:ln/>
        </p:spPr>
        <p:txBody>
          <a:bodyPr/>
          <a:p/>
        </p:txBody>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txBody>
          <a:bodyPr/>
          <a:p/>
        </p:txBody>
      </p:sp>
      <p:sp>
        <p:nvSpPr>
          <p:cNvPr id="28" name="Shape 26"/>
          <p:cNvSpPr/>
          <p:nvPr/>
        </p:nvSpPr>
        <p:spPr>
          <a:xfrm>
            <a:off x="7991856" y="1938528"/>
            <a:ext cx="82296" cy="1371600"/>
          </a:xfrm>
          <a:prstGeom prst="rect">
            <a:avLst/>
          </a:prstGeom>
          <a:solidFill>
            <a:srgbClr val="0E93B0"/>
          </a:solidFill>
          <a:ln/>
        </p:spPr>
        <p:txBody>
          <a:bodyPr/>
          <a:p/>
        </p:txBody>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txBody>
          <a:bodyPr/>
          <a:p/>
        </p:txBody>
      </p:sp>
      <p:sp>
        <p:nvSpPr>
          <p:cNvPr id="32" name="Shape 30"/>
          <p:cNvSpPr/>
          <p:nvPr/>
        </p:nvSpPr>
        <p:spPr>
          <a:xfrm>
            <a:off x="9852660" y="1938528"/>
            <a:ext cx="82296" cy="1371600"/>
          </a:xfrm>
          <a:prstGeom prst="rect">
            <a:avLst/>
          </a:prstGeom>
          <a:solidFill>
            <a:srgbClr val="7C3AED"/>
          </a:solidFill>
          <a:ln/>
        </p:spPr>
        <p:txBody>
          <a:bodyPr/>
          <a:p/>
        </p:txBody>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txBody>
          <a:bodyPr/>
          <a:p/>
        </p:txBody>
      </p:sp>
      <p:sp>
        <p:nvSpPr>
          <p:cNvPr id="37" name="Shape 35"/>
          <p:cNvSpPr/>
          <p:nvPr/>
        </p:nvSpPr>
        <p:spPr>
          <a:xfrm>
            <a:off x="548640" y="3474720"/>
            <a:ext cx="82296" cy="1463040"/>
          </a:xfrm>
          <a:prstGeom prst="rect">
            <a:avLst/>
          </a:prstGeom>
          <a:solidFill>
            <a:srgbClr val="7C3AED"/>
          </a:solidFill>
          <a:ln/>
        </p:spPr>
        <p:txBody>
          <a:bodyPr/>
          <a:p/>
        </p:txBody>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Admins only.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and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One number across the team.</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txBody>
          <a:bodyPr/>
          <a:p/>
        </p:txBody>
      </p:sp>
      <p:sp>
        <p:nvSpPr>
          <p:cNvPr id="41" name="Shape 39"/>
          <p:cNvSpPr/>
          <p:nvPr/>
        </p:nvSpPr>
        <p:spPr>
          <a:xfrm>
            <a:off x="4285488" y="3474720"/>
            <a:ext cx="82296" cy="1463040"/>
          </a:xfrm>
          <a:prstGeom prst="rect">
            <a:avLst/>
          </a:prstGeom>
          <a:solidFill>
            <a:srgbClr val="2563EB"/>
          </a:solidFill>
          <a:ln/>
        </p:spPr>
        <p:txBody>
          <a:bodyPr/>
          <a:p/>
        </p:txBody>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6 tabs.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fill, upload. The server checks every row and rejects bad cells with the row number.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and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txBody>
          <a:bodyPr/>
          <a:p/>
        </p:txBody>
      </p:sp>
      <p:sp>
        <p:nvSpPr>
          <p:cNvPr id="45" name="Shape 43"/>
          <p:cNvSpPr/>
          <p:nvPr/>
        </p:nvSpPr>
        <p:spPr>
          <a:xfrm>
            <a:off x="8022336" y="3474720"/>
            <a:ext cx="82296" cy="1463040"/>
          </a:xfrm>
          <a:prstGeom prst="rect">
            <a:avLst/>
          </a:prstGeom>
          <a:solidFill>
            <a:srgbClr val="0EA472"/>
          </a:solidFill>
          <a:ln/>
        </p:spPr>
        <p:txBody>
          <a:bodyPr/>
          <a:p/>
        </p:txBody>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WITH A NEW SET</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it. Every new costing uses it.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each costing records which rate book it used, so a result can be reproduced.</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txBody>
          <a:bodyPr/>
          <a:p/>
        </p:txBody>
      </p:sp>
      <p:sp>
        <p:nvSpPr>
          <p:cNvPr id="49" name="Shape 47"/>
          <p:cNvSpPr/>
          <p:nvPr/>
        </p:nvSpPr>
        <p:spPr>
          <a:xfrm>
            <a:off x="548640" y="5138928"/>
            <a:ext cx="82296" cy="841248"/>
          </a:xfrm>
          <a:prstGeom prst="rect">
            <a:avLst/>
          </a:prstGeom>
          <a:solidFill>
            <a:srgbClr val="E0900C"/>
          </a:solidFill>
          <a:ln/>
        </p:spPr>
        <p:txBody>
          <a:bodyPr/>
          <a:p/>
        </p:txBody>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Built-in library 2.1.0, dated 16 June 2026: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328 materials, 178 machines, 42 labour grades. The JLR Rate Converter workbook turns JLR’s own rate card into this format, with no macros.</a:t>
            </a:r>
            <a:endParaRPr lang="en-US" sz="1120" dirty="0"/>
          </a:p>
        </p:txBody>
      </p:sp>
      <p:sp>
        <p:nvSpPr>
          <p:cNvPr id="51" name="Shape 49"/>
          <p:cNvSpPr/>
          <p:nvPr/>
        </p:nvSpPr>
        <p:spPr>
          <a:xfrm>
            <a:off x="548640" y="6400800"/>
            <a:ext cx="11094415" cy="12802"/>
          </a:xfrm>
          <a:prstGeom prst="rect">
            <a:avLst/>
          </a:prstGeom>
          <a:solidFill>
            <a:srgbClr val="E4EAF2"/>
          </a:solidFill>
          <a:ln/>
        </p:spPr>
        <p:txBody>
          <a:bodyPr/>
          <a:p/>
        </p:txBody>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15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WORKED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Worked example — aluminium HPDC casting, 8 regions</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1.2 kg ADC12 aluminium die-casting (2-cavity, 800 T press), run through the engine: the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txBody>
          <a:bodyPr/>
          <a:p/>
        </p:txBody>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the main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txBody>
          <a:bodyPr/>
          <a:p/>
        </p:txBody>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23% cheaper ex-works, about 12% once shipping and duty are added.</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txBody>
          <a:bodyPr/>
          <a:p/>
        </p:txBody>
      </p:sp>
      <p:sp>
        <p:nvSpPr>
          <p:cNvPr id="20" name="Shape 16"/>
          <p:cNvSpPr/>
          <p:nvPr/>
        </p:nvSpPr>
        <p:spPr>
          <a:xfrm>
            <a:off x="548640" y="5074920"/>
            <a:ext cx="82296" cy="960120"/>
          </a:xfrm>
          <a:prstGeom prst="rect">
            <a:avLst/>
          </a:prstGeom>
          <a:solidFill>
            <a:srgbClr val="0EA472"/>
          </a:solidFill>
          <a:ln/>
        </p:spPr>
        <p:txBody>
          <a:bodyPr/>
          <a:p/>
        </p:txBody>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labour, energy and overhead rates live in one versioned library, not in scattered spreadsheets.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Load a new dated rate set and every new costing uses it.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Inputs: 45 s cycle, 75% yield, 3% reject, £120k die over 200k parts, 10% overhead, 7% margin.</a:t>
            </a:r>
            <a:endParaRPr lang="en-US" sz="1080" dirty="0"/>
          </a:p>
        </p:txBody>
      </p:sp>
      <p:sp>
        <p:nvSpPr>
          <p:cNvPr id="23" name="Shape 19"/>
          <p:cNvSpPr/>
          <p:nvPr/>
        </p:nvSpPr>
        <p:spPr>
          <a:xfrm>
            <a:off x="548640" y="6400800"/>
            <a:ext cx="11094415" cy="12802"/>
          </a:xfrm>
          <a:prstGeom prst="rect">
            <a:avLst/>
          </a:prstGeom>
          <a:solidFill>
            <a:srgbClr val="E4EAF2"/>
          </a:solidFill>
          <a:ln/>
        </p:spPr>
        <p:txBody>
          <a:bodyPr/>
          <a:p/>
        </p:txBody>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neg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7C3AED"/>
          </a:solidFill>
          <a:ln/>
        </p:spPr>
      </p:sp>
      <p:sp>
        <p:nvSpPr>
          <p:cNvPr id="7" name="Shape 4"/>
          <p:cNvSpPr/>
          <p:nvPr/>
        </p:nvSpPr>
        <p:spPr>
          <a:xfrm>
            <a:off x="0" y="6729984"/>
            <a:ext cx="12191695" cy="128016"/>
          </a:xfrm>
          <a:prstGeom prst="rect">
            <a:avLst/>
          </a:prstGeom>
          <a:solidFill>
            <a:srgbClr val="7C3AED"/>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7C3AED"/>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DECIDE &amp; NEGOTIATE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Negotiation Intelligence</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 the quote against the should-cost</a:t>
            </a:r>
            <a:endParaRPr lang="en-US" sz="2400" dirty="0"/>
          </a:p>
        </p:txBody>
      </p:sp>
      <p:sp>
        <p:nvSpPr>
          <p:cNvPr id="9" name="Shape 7"/>
          <p:cNvSpPr/>
          <p:nvPr/>
        </p:nvSpPr>
        <p:spPr>
          <a:xfrm>
            <a:off x="548640" y="1371600"/>
            <a:ext cx="1051560" cy="45720"/>
          </a:xfrm>
          <a:prstGeom prst="rect">
            <a:avLst/>
          </a:prstGeom>
          <a:solidFill>
            <a:srgbClr val="7C3AED"/>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most useful when it goes into the supplier meeting. This is how it gets there.</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txBody>
          <a:bodyPr/>
          <a:p/>
        </p:txBody>
      </p:sp>
      <p:sp>
        <p:nvSpPr>
          <p:cNvPr id="12" name="Shape 10"/>
          <p:cNvSpPr/>
          <p:nvPr/>
        </p:nvSpPr>
        <p:spPr>
          <a:xfrm>
            <a:off x="548640" y="2103120"/>
            <a:ext cx="2487168" cy="82296"/>
          </a:xfrm>
          <a:prstGeom prst="rect">
            <a:avLst/>
          </a:prstGeom>
          <a:solidFill>
            <a:srgbClr val="2563EB"/>
          </a:solidFill>
          <a:ln/>
        </p:spPr>
        <p:txBody>
          <a:bodyPr/>
          <a:p/>
        </p:txBody>
      </p:sp>
      <p:sp>
        <p:nvSpPr>
          <p:cNvPr id="13" name="Shape 11"/>
          <p:cNvSpPr/>
          <p:nvPr/>
        </p:nvSpPr>
        <p:spPr>
          <a:xfrm>
            <a:off x="1536192" y="2304288"/>
            <a:ext cx="512064" cy="512064"/>
          </a:xfrm>
          <a:prstGeom prst="ellipse">
            <a:avLst/>
          </a:prstGeom>
          <a:solidFill>
            <a:srgbClr val="EAF1FE"/>
          </a:solidFill>
          <a:ln/>
        </p:spPr>
        <p:txBody>
          <a:bodyPr/>
          <a:p/>
        </p:txBody>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txBody>
          <a:bodyPr/>
          <a:p/>
        </p:txBody>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txBody>
          <a:bodyPr/>
          <a:p/>
        </p:txBody>
      </p:sp>
      <p:sp>
        <p:nvSpPr>
          <p:cNvPr id="19" name="Shape 17"/>
          <p:cNvSpPr/>
          <p:nvPr/>
        </p:nvSpPr>
        <p:spPr>
          <a:xfrm>
            <a:off x="3355848" y="2103120"/>
            <a:ext cx="2487168" cy="82296"/>
          </a:xfrm>
          <a:prstGeom prst="rect">
            <a:avLst/>
          </a:prstGeom>
          <a:solidFill>
            <a:srgbClr val="0E93B0"/>
          </a:solidFill>
          <a:ln/>
        </p:spPr>
        <p:txBody>
          <a:bodyPr/>
          <a:p/>
        </p:txBody>
      </p:sp>
      <p:sp>
        <p:nvSpPr>
          <p:cNvPr id="20" name="Shape 18"/>
          <p:cNvSpPr/>
          <p:nvPr/>
        </p:nvSpPr>
        <p:spPr>
          <a:xfrm>
            <a:off x="4343400" y="2304288"/>
            <a:ext cx="512064" cy="512064"/>
          </a:xfrm>
          <a:prstGeom prst="ellipse">
            <a:avLst/>
          </a:prstGeom>
          <a:solidFill>
            <a:srgbClr val="E8F6FA"/>
          </a:solidFill>
          <a:ln/>
        </p:spPr>
        <p:txBody>
          <a:bodyPr/>
          <a:p/>
        </p:txBody>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txBody>
          <a:bodyPr/>
          <a:p/>
        </p:txBody>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txBody>
          <a:bodyPr/>
          <a:p/>
        </p:txBody>
      </p:sp>
      <p:sp>
        <p:nvSpPr>
          <p:cNvPr id="26" name="Shape 24"/>
          <p:cNvSpPr/>
          <p:nvPr/>
        </p:nvSpPr>
        <p:spPr>
          <a:xfrm>
            <a:off x="6163056" y="2103120"/>
            <a:ext cx="2487168" cy="82296"/>
          </a:xfrm>
          <a:prstGeom prst="rect">
            <a:avLst/>
          </a:prstGeom>
          <a:solidFill>
            <a:srgbClr val="E0900C"/>
          </a:solidFill>
          <a:ln/>
        </p:spPr>
        <p:txBody>
          <a:bodyPr/>
          <a:p/>
        </p:txBody>
      </p:sp>
      <p:sp>
        <p:nvSpPr>
          <p:cNvPr id="27" name="Shape 25"/>
          <p:cNvSpPr/>
          <p:nvPr/>
        </p:nvSpPr>
        <p:spPr>
          <a:xfrm>
            <a:off x="7150608" y="2304288"/>
            <a:ext cx="512064" cy="512064"/>
          </a:xfrm>
          <a:prstGeom prst="ellipse">
            <a:avLst/>
          </a:prstGeom>
          <a:solidFill>
            <a:srgbClr val="FEF6E7"/>
          </a:solidFill>
          <a:ln/>
        </p:spPr>
        <p:txBody>
          <a:bodyPr/>
          <a:p/>
        </p:txBody>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bucket and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txBody>
          <a:bodyPr/>
          <a:p/>
        </p:txBody>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txBody>
          <a:bodyPr/>
          <a:p/>
        </p:txBody>
      </p:sp>
      <p:sp>
        <p:nvSpPr>
          <p:cNvPr id="33" name="Shape 31"/>
          <p:cNvSpPr/>
          <p:nvPr/>
        </p:nvSpPr>
        <p:spPr>
          <a:xfrm>
            <a:off x="8970264" y="2103120"/>
            <a:ext cx="2487168" cy="82296"/>
          </a:xfrm>
          <a:prstGeom prst="rect">
            <a:avLst/>
          </a:prstGeom>
          <a:solidFill>
            <a:srgbClr val="0EA472"/>
          </a:solidFill>
          <a:ln/>
        </p:spPr>
        <p:txBody>
          <a:bodyPr/>
          <a:p/>
        </p:txBody>
      </p:sp>
      <p:sp>
        <p:nvSpPr>
          <p:cNvPr id="34" name="Shape 32"/>
          <p:cNvSpPr/>
          <p:nvPr/>
        </p:nvSpPr>
        <p:spPr>
          <a:xfrm>
            <a:off x="9957816" y="2304288"/>
            <a:ext cx="512064" cy="512064"/>
          </a:xfrm>
          <a:prstGeom prst="ellipse">
            <a:avLst/>
          </a:prstGeom>
          <a:solidFill>
            <a:srgbClr val="E7F7F0"/>
          </a:solidFill>
          <a:ln/>
        </p:spPr>
        <p:txBody>
          <a:bodyPr/>
          <a:p/>
        </p:txBody>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gap table, ranked levers, supplier questions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39" name="Shape 37"/>
          <p:cNvSpPr/>
          <p:nvPr/>
        </p:nvSpPr>
        <p:spPr>
          <a:xfrm>
            <a:off x="548640" y="3794760"/>
            <a:ext cx="73152" cy="960120"/>
          </a:xfrm>
          <a:prstGeom prst="rect">
            <a:avLst/>
          </a:prstGeom>
          <a:solidFill>
            <a:srgbClr val="E5484D"/>
          </a:solidFill>
          <a:ln/>
        </p:spPr>
        <p:txBody>
          <a:bodyPr/>
          <a:p/>
        </p:txBody>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8</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cost buckets compared line by line</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43" name="Shape 41"/>
          <p:cNvSpPr/>
          <p:nvPr/>
        </p:nvSpPr>
        <p:spPr>
          <a:xfrm>
            <a:off x="3319272" y="3794760"/>
            <a:ext cx="73152" cy="960120"/>
          </a:xfrm>
          <a:prstGeom prst="rect">
            <a:avLst/>
          </a:prstGeom>
          <a:solidFill>
            <a:srgbClr val="E0900C"/>
          </a:solidFill>
          <a:ln/>
        </p:spPr>
        <p:txBody>
          <a:bodyPr/>
          <a:p/>
        </p:txBody>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Excel</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quote template, built for each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47" name="Shape 45"/>
          <p:cNvSpPr/>
          <p:nvPr/>
        </p:nvSpPr>
        <p:spPr>
          <a:xfrm>
            <a:off x="6089904" y="3794760"/>
            <a:ext cx="73152" cy="960120"/>
          </a:xfrm>
          <a:prstGeom prst="rect">
            <a:avLst/>
          </a:prstGeom>
          <a:solidFill>
            <a:srgbClr val="0EA472"/>
          </a:solidFill>
          <a:ln/>
        </p:spPr>
        <p:txBody>
          <a:bodyPr/>
          <a:p/>
        </p:txBody>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PDF + PPT</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one-click negotiation pack</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51" name="Shape 49"/>
          <p:cNvSpPr/>
          <p:nvPr/>
        </p:nvSpPr>
        <p:spPr>
          <a:xfrm>
            <a:off x="8860536" y="3794760"/>
            <a:ext cx="73152" cy="960120"/>
          </a:xfrm>
          <a:prstGeom prst="rect">
            <a:avLst/>
          </a:prstGeom>
          <a:solidFill>
            <a:srgbClr val="7C3AED"/>
          </a:solidFill>
          <a:ln/>
        </p:spPr>
        <p:txBody>
          <a:bodyPr/>
          <a:p/>
        </p:txBody>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logged actuals correct the band</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No savings figure is claimed here. Savings will be measured on real JLR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txBody>
          <a:bodyPr/>
          <a:p/>
        </p:txBody>
      </p:sp>
      <p:sp>
        <p:nvSpPr>
          <p:cNvPr id="56" name="Shape 54"/>
          <p:cNvSpPr/>
          <p:nvPr/>
        </p:nvSpPr>
        <p:spPr>
          <a:xfrm>
            <a:off x="548640" y="5010912"/>
            <a:ext cx="82296" cy="914400"/>
          </a:xfrm>
          <a:prstGeom prst="rect">
            <a:avLst/>
          </a:prstGeom>
          <a:solidFill>
            <a:srgbClr val="7C3AED"/>
          </a:solidFill>
          <a:ln/>
        </p:spPr>
        <p:txBody>
          <a:bodyPr/>
          <a:p/>
        </p:txBody>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which driver causes each gap, levers ranked by £ a year, and questions to send the supplier. We stop arguing about the total and start talking about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txBody>
          <a:bodyPr/>
          <a:p/>
        </p:txBody>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15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agent-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4F46E5"/>
          </a:solidFill>
          <a:ln/>
        </p:spPr>
      </p:sp>
      <p:sp>
        <p:nvSpPr>
          <p:cNvPr id="7" name="Shape 4"/>
          <p:cNvSpPr/>
          <p:nvPr/>
        </p:nvSpPr>
        <p:spPr>
          <a:xfrm>
            <a:off x="0" y="6729984"/>
            <a:ext cx="12191695" cy="128016"/>
          </a:xfrm>
          <a:prstGeom prst="rect">
            <a:avLst/>
          </a:prstGeom>
          <a:solidFill>
            <a:srgbClr val="4F46E5"/>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4F46E5"/>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LEARN &amp; GOVERN</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Agentic AI</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Learning — it remembers, compares and checks</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txBody>
          <a:bodyPr/>
          <a:p/>
        </p:txBody>
      </p:sp>
      <p:sp>
        <p:nvSpPr>
          <p:cNvPr id="11" name="Shape 9"/>
          <p:cNvSpPr/>
          <p:nvPr/>
        </p:nvSpPr>
        <p:spPr>
          <a:xfrm>
            <a:off x="548640" y="1691640"/>
            <a:ext cx="82296" cy="2423160"/>
          </a:xfrm>
          <a:prstGeom prst="rect">
            <a:avLst/>
          </a:prstGeom>
          <a:solidFill>
            <a:srgbClr val="2563EB"/>
          </a:solidFill>
          <a:ln/>
        </p:spPr>
        <p:txBody>
          <a:bodyPr/>
          <a:p/>
        </p:txBody>
      </p:sp>
      <p:sp>
        <p:nvSpPr>
          <p:cNvPr id="12" name="Shape 10"/>
          <p:cNvSpPr/>
          <p:nvPr/>
        </p:nvSpPr>
        <p:spPr>
          <a:xfrm>
            <a:off x="1472184" y="1947672"/>
            <a:ext cx="694944" cy="694944"/>
          </a:xfrm>
          <a:prstGeom prst="ellipse">
            <a:avLst/>
          </a:prstGeom>
          <a:solidFill>
            <a:srgbClr val="EAF1FE"/>
          </a:solidFill>
          <a:ln/>
        </p:spPr>
        <p:txBody>
          <a:bodyPr/>
          <a:p/>
        </p:txBody>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Each saved analysis becomes a case the tool can compare against later.</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txBody>
          <a:bodyPr/>
          <a:p/>
        </p:txBody>
      </p:sp>
      <p:sp>
        <p:nvSpPr>
          <p:cNvPr id="18" name="Shape 16"/>
          <p:cNvSpPr/>
          <p:nvPr/>
        </p:nvSpPr>
        <p:spPr>
          <a:xfrm>
            <a:off x="3419856" y="1691640"/>
            <a:ext cx="82296" cy="2423160"/>
          </a:xfrm>
          <a:prstGeom prst="rect">
            <a:avLst/>
          </a:prstGeom>
          <a:solidFill>
            <a:srgbClr val="0E93B0"/>
          </a:solidFill>
          <a:ln/>
        </p:spPr>
        <p:txBody>
          <a:bodyPr/>
          <a:p/>
        </p:txBody>
      </p:sp>
      <p:sp>
        <p:nvSpPr>
          <p:cNvPr id="19" name="Shape 17"/>
          <p:cNvSpPr/>
          <p:nvPr/>
        </p:nvSpPr>
        <p:spPr>
          <a:xfrm>
            <a:off x="4343400" y="1947672"/>
            <a:ext cx="694944" cy="694944"/>
          </a:xfrm>
          <a:prstGeom prst="ellipse">
            <a:avLst/>
          </a:prstGeom>
          <a:solidFill>
            <a:srgbClr val="E8F6FA"/>
          </a:solidFill>
          <a:ln/>
        </p:spPr>
        <p:txBody>
          <a:bodyPr/>
          <a:p/>
        </p:txBody>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txBody>
          <a:bodyPr/>
          <a:p/>
        </p:txBody>
      </p:sp>
      <p:sp>
        <p:nvSpPr>
          <p:cNvPr id="25" name="Shape 23"/>
          <p:cNvSpPr/>
          <p:nvPr/>
        </p:nvSpPr>
        <p:spPr>
          <a:xfrm>
            <a:off x="6291072" y="1691640"/>
            <a:ext cx="82296" cy="2423160"/>
          </a:xfrm>
          <a:prstGeom prst="rect">
            <a:avLst/>
          </a:prstGeom>
          <a:solidFill>
            <a:srgbClr val="7C3AED"/>
          </a:solidFill>
          <a:ln/>
        </p:spPr>
        <p:txBody>
          <a:bodyPr/>
          <a:p/>
        </p:txBody>
      </p:sp>
      <p:sp>
        <p:nvSpPr>
          <p:cNvPr id="26" name="Shape 24"/>
          <p:cNvSpPr/>
          <p:nvPr/>
        </p:nvSpPr>
        <p:spPr>
          <a:xfrm>
            <a:off x="7214616" y="1947672"/>
            <a:ext cx="694944" cy="694944"/>
          </a:xfrm>
          <a:prstGeom prst="ellipse">
            <a:avLst/>
          </a:prstGeom>
          <a:solidFill>
            <a:srgbClr val="F3EEFE"/>
          </a:solidFill>
          <a:ln/>
        </p:spPr>
        <p:txBody>
          <a:bodyPr/>
          <a:p/>
        </p:txBody>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or PO price. After 3 for a process, its band is corrected by real data.</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txBody>
          <a:bodyPr/>
          <a:p/>
        </p:txBody>
      </p:sp>
      <p:sp>
        <p:nvSpPr>
          <p:cNvPr id="32" name="Shape 30"/>
          <p:cNvSpPr/>
          <p:nvPr/>
        </p:nvSpPr>
        <p:spPr>
          <a:xfrm>
            <a:off x="9162288" y="1691640"/>
            <a:ext cx="82296" cy="2423160"/>
          </a:xfrm>
          <a:prstGeom prst="rect">
            <a:avLst/>
          </a:prstGeom>
          <a:solidFill>
            <a:srgbClr val="0EA472"/>
          </a:solidFill>
          <a:ln/>
        </p:spPr>
        <p:txBody>
          <a:bodyPr/>
          <a:p/>
        </p:txBody>
      </p:sp>
      <p:sp>
        <p:nvSpPr>
          <p:cNvPr id="33" name="Shape 31"/>
          <p:cNvSpPr/>
          <p:nvPr/>
        </p:nvSpPr>
        <p:spPr>
          <a:xfrm>
            <a:off x="10085832" y="1947672"/>
            <a:ext cx="694944" cy="694944"/>
          </a:xfrm>
          <a:prstGeom prst="ellipse">
            <a:avLst/>
          </a:prstGeom>
          <a:solidFill>
            <a:srgbClr val="E7F7F0"/>
          </a:solidFill>
          <a:ln/>
        </p:spPr>
        <p:txBody>
          <a:bodyPr/>
          <a:p/>
        </p:txBody>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Checks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check compares logged prices with should-cost and flags big gaps.</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38" name="Shape 36"/>
          <p:cNvSpPr/>
          <p:nvPr/>
        </p:nvSpPr>
        <p:spPr>
          <a:xfrm>
            <a:off x="548640" y="4343400"/>
            <a:ext cx="73152" cy="1051560"/>
          </a:xfrm>
          <a:prstGeom prst="rect">
            <a:avLst/>
          </a:prstGeom>
          <a:solidFill>
            <a:srgbClr val="0EA472"/>
          </a:solidFill>
          <a:ln/>
        </p:spPr>
        <p:txBody>
          <a:bodyPr/>
          <a:p/>
        </p:txBody>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logged actuals before a band is corrected</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42" name="Shape 40"/>
          <p:cNvSpPr/>
          <p:nvPr/>
        </p:nvSpPr>
        <p:spPr>
          <a:xfrm>
            <a:off x="4261104" y="4343400"/>
            <a:ext cx="73152" cy="1051560"/>
          </a:xfrm>
          <a:prstGeom prst="rect">
            <a:avLst/>
          </a:prstGeom>
          <a:solidFill>
            <a:srgbClr val="E5484D"/>
          </a:solidFill>
          <a:ln/>
        </p:spPr>
        <p:txBody>
          <a:bodyPr/>
          <a:p/>
        </p:txBody>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None yet</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estimates compared with a price JLR paid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46" name="Shape 44"/>
          <p:cNvSpPr/>
          <p:nvPr/>
        </p:nvSpPr>
        <p:spPr>
          <a:xfrm>
            <a:off x="7973568" y="4343400"/>
            <a:ext cx="73152" cy="1051560"/>
          </a:xfrm>
          <a:prstGeom prst="rect">
            <a:avLst/>
          </a:prstGeom>
          <a:solidFill>
            <a:srgbClr val="0E93B0"/>
          </a:solidFill>
          <a:ln/>
        </p:spPr>
        <p:txBody>
          <a:bodyPr/>
          <a:p/>
        </p:txBody>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No AI</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all of this is rules and arithmetic</a:t>
            </a:r>
            <a:endParaRPr lang="en-US" sz="950" dirty="0"/>
          </a:p>
        </p:txBody>
      </p:sp>
      <p:sp>
        <p:nvSpPr>
          <p:cNvPr id="49" name="Shape 47"/>
          <p:cNvSpPr/>
          <p:nvPr/>
        </p:nvSpPr>
        <p:spPr>
          <a:xfrm>
            <a:off x="548640" y="6400800"/>
            <a:ext cx="11094415" cy="12802"/>
          </a:xfrm>
          <a:prstGeom prst="rect">
            <a:avLst/>
          </a:prstGeom>
          <a:solidFill>
            <a:srgbClr val="E4EAF2"/>
          </a:solidFill>
          <a:ln/>
        </p:spPr>
        <p:txBody>
          <a:bodyPr/>
          <a:p/>
        </p:txBody>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15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 what is proven, and what is not</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txBody>
          <a:bodyPr/>
          <a:p/>
        </p:txBody>
      </p:sp>
      <p:sp>
        <p:nvSpPr>
          <p:cNvPr id="11" name="Shape 9"/>
          <p:cNvSpPr/>
          <p:nvPr/>
        </p:nvSpPr>
        <p:spPr>
          <a:xfrm>
            <a:off x="548640" y="1691640"/>
            <a:ext cx="82296" cy="1417320"/>
          </a:xfrm>
          <a:prstGeom prst="rect">
            <a:avLst/>
          </a:prstGeom>
          <a:solidFill>
            <a:srgbClr val="2563EB"/>
          </a:solidFill>
          <a:ln/>
        </p:spPr>
        <p:txBody>
          <a:bodyPr/>
          <a:p/>
        </p:txBody>
      </p:sp>
      <p:sp>
        <p:nvSpPr>
          <p:cNvPr id="12" name="Shape 10"/>
          <p:cNvSpPr/>
          <p:nvPr/>
        </p:nvSpPr>
        <p:spPr>
          <a:xfrm>
            <a:off x="804672" y="1911096"/>
            <a:ext cx="457200" cy="457200"/>
          </a:xfrm>
          <a:prstGeom prst="ellipse">
            <a:avLst/>
          </a:prstGeom>
          <a:solidFill>
            <a:srgbClr val="EAF1FE"/>
          </a:solidFill>
          <a:ln/>
        </p:spPr>
        <p:txBody>
          <a:bodyPr/>
          <a:p/>
        </p:txBody>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Traceable, not a black 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number is plain arithmetic you can trace to a rate. AI never sets a price, and at JLR it needs an API key.</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txBody>
          <a:bodyPr/>
          <a:p/>
        </p:txBody>
      </p:sp>
      <p:sp>
        <p:nvSpPr>
          <p:cNvPr id="17" name="Shape 15"/>
          <p:cNvSpPr/>
          <p:nvPr/>
        </p:nvSpPr>
        <p:spPr>
          <a:xfrm>
            <a:off x="6217920" y="1691640"/>
            <a:ext cx="82296" cy="1417320"/>
          </a:xfrm>
          <a:prstGeom prst="rect">
            <a:avLst/>
          </a:prstGeom>
          <a:solidFill>
            <a:srgbClr val="0DA5A0"/>
          </a:solidFill>
          <a:ln/>
        </p:spPr>
        <p:txBody>
          <a:bodyPr/>
          <a:p/>
        </p:txBody>
      </p:sp>
      <p:sp>
        <p:nvSpPr>
          <p:cNvPr id="18" name="Shape 16"/>
          <p:cNvSpPr/>
          <p:nvPr/>
        </p:nvSpPr>
        <p:spPr>
          <a:xfrm>
            <a:off x="6473952" y="1911096"/>
            <a:ext cx="457200" cy="457200"/>
          </a:xfrm>
          <a:prstGeom prst="ellipse">
            <a:avLst/>
          </a:prstGeom>
          <a:solidFill>
            <a:srgbClr val="E7F7F0"/>
          </a:solidFill>
          <a:ln/>
        </p:spPr>
        <p:txBody>
          <a:bodyPr/>
          <a:p/>
        </p:txBody>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Proven so far</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The engine matches a hand calculation to under 0.01% (a £24.34 bracket). 6 real production parts are pinned; a change that moves one fails the build.</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txBody>
          <a:bodyPr/>
          <a:p/>
        </p:txBody>
      </p:sp>
      <p:sp>
        <p:nvSpPr>
          <p:cNvPr id="23" name="Shape 21"/>
          <p:cNvSpPr/>
          <p:nvPr/>
        </p:nvSpPr>
        <p:spPr>
          <a:xfrm>
            <a:off x="548640" y="3291840"/>
            <a:ext cx="82296" cy="1417320"/>
          </a:xfrm>
          <a:prstGeom prst="rect">
            <a:avLst/>
          </a:prstGeom>
          <a:solidFill>
            <a:srgbClr val="7C3AED"/>
          </a:solidFill>
          <a:ln/>
        </p:spPr>
        <p:txBody>
          <a:bodyPr/>
          <a:p/>
        </p:txBody>
      </p:sp>
      <p:sp>
        <p:nvSpPr>
          <p:cNvPr id="24" name="Shape 22"/>
          <p:cNvSpPr/>
          <p:nvPr/>
        </p:nvSpPr>
        <p:spPr>
          <a:xfrm>
            <a:off x="804672" y="3511296"/>
            <a:ext cx="457200" cy="457200"/>
          </a:xfrm>
          <a:prstGeom prst="ellipse">
            <a:avLst/>
          </a:prstGeom>
          <a:solidFill>
            <a:srgbClr val="F3EEFE"/>
          </a:solidFill>
          <a:ln/>
        </p:spPr>
        <p:txBody>
          <a:bodyPr/>
          <a:p/>
        </p:txBody>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Not proven yet</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No estimate has been compared with a price JLR paid. Every result carries a P10–P90 band until it is.</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txBody>
          <a:bodyPr/>
          <a:p/>
        </p:txBody>
      </p:sp>
      <p:sp>
        <p:nvSpPr>
          <p:cNvPr id="29" name="Shape 27"/>
          <p:cNvSpPr/>
          <p:nvPr/>
        </p:nvSpPr>
        <p:spPr>
          <a:xfrm>
            <a:off x="6217920" y="3291840"/>
            <a:ext cx="82296" cy="1417320"/>
          </a:xfrm>
          <a:prstGeom prst="rect">
            <a:avLst/>
          </a:prstGeom>
          <a:solidFill>
            <a:srgbClr val="0EA472"/>
          </a:solidFill>
          <a:ln/>
        </p:spPr>
        <p:txBody>
          <a:bodyPr/>
          <a:p/>
        </p:txBody>
      </p:sp>
      <p:sp>
        <p:nvSpPr>
          <p:cNvPr id="30" name="Shape 28"/>
          <p:cNvSpPr/>
          <p:nvPr/>
        </p:nvSpPr>
        <p:spPr>
          <a:xfrm>
            <a:off x="6473952" y="3511296"/>
            <a:ext cx="457200" cy="457200"/>
          </a:xfrm>
          <a:prstGeom prst="ellipse">
            <a:avLst/>
          </a:prstGeom>
          <a:solidFill>
            <a:srgbClr val="E7F7F0"/>
          </a:solidFill>
          <a:ln/>
        </p:spPr>
        <p:txBody>
          <a:bodyPr/>
          <a:p/>
        </p:txBody>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Tested on every build</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2,438 automated tests, plus browser tests that cost every process, export Excel and PDF, upload an STL and check accessibility.</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txBody>
          <a:bodyPr/>
          <a:p/>
        </p:txBody>
      </p:sp>
      <p:sp>
        <p:nvSpPr>
          <p:cNvPr id="35" name="Shape 33"/>
          <p:cNvSpPr/>
          <p:nvPr/>
        </p:nvSpPr>
        <p:spPr>
          <a:xfrm>
            <a:off x="548640" y="5029200"/>
            <a:ext cx="82296" cy="914400"/>
          </a:xfrm>
          <a:prstGeom prst="rect">
            <a:avLst/>
          </a:prstGeom>
          <a:solidFill>
            <a:srgbClr val="0EA472"/>
          </a:solidFill>
          <a:ln/>
        </p:spPr>
        <p:txBody>
          <a:bodyPr/>
          <a:p/>
        </p:txBody>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rules and rates do the money, and every number is traceable and tested. Accuracy against real prices will be measured as actuals are logged. It is not claimed up front.</a:t>
            </a:r>
            <a:endParaRPr lang="en-US" sz="1200" dirty="0"/>
          </a:p>
        </p:txBody>
      </p:sp>
      <p:sp>
        <p:nvSpPr>
          <p:cNvPr id="37" name="Shape 35"/>
          <p:cNvSpPr/>
          <p:nvPr/>
        </p:nvSpPr>
        <p:spPr>
          <a:xfrm>
            <a:off x="548640" y="6400800"/>
            <a:ext cx="11094415" cy="12802"/>
          </a:xfrm>
          <a:prstGeom prst="rect">
            <a:avLst/>
          </a:prstGeom>
          <a:solidFill>
            <a:srgbClr val="E4EAF2"/>
          </a:solidFill>
          <a:ln/>
        </p:spPr>
        <p:txBody>
          <a:bodyPr/>
          <a:p/>
        </p:txBody>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15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 · CONTINUOUS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Built to stay right — quality that’s enforced, not promised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It isn’t enough to be right once. These guardrails run on every change, so the tool stays defensible as it evolves — quality is enforced by the build, not by memory.</a:t>
            </a:r>
            <a:endParaRPr lang="en-US" sz="1200" dirty="0"/>
          </a:p>
        </p:txBody>
      </p:sp>
      <p:sp>
        <p:nvSpPr>
          <p:cNvPr id="11" name="Shape 9"/>
          <p:cNvSpPr/>
          <p:nvPr/>
        </p:nvSpPr>
        <p:spPr>
          <a:xfrm>
            <a:off x="54864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2084832"/>
            <a:ext cx="82296" cy="1335024"/>
          </a:xfrm>
          <a:prstGeom prst="rect">
            <a:avLst/>
          </a:prstGeom>
          <a:solidFill>
            <a:srgbClr val="2563EB"/>
          </a:solidFill>
          <a:ln/>
        </p:spPr>
      </p:sp>
      <p:sp>
        <p:nvSpPr>
          <p:cNvPr id="13" name="Shape 11"/>
          <p:cNvSpPr/>
          <p:nvPr/>
        </p:nvSpPr>
        <p:spPr>
          <a:xfrm>
            <a:off x="804672" y="2286000"/>
            <a:ext cx="457200" cy="457200"/>
          </a:xfrm>
          <a:prstGeom prst="ellipse">
            <a:avLst/>
          </a:prstGeom>
          <a:solidFill>
            <a:srgbClr val="EAF1FE"/>
          </a:solidFill>
          <a:ln/>
        </p:spPr>
      </p:sp>
      <p:sp>
        <p:nvSpPr>
          <p:cNvPr id="14" name="Text 12"/>
          <p:cNvSpPr/>
          <p:nvPr/>
        </p:nvSpPr>
        <p:spPr>
          <a:xfrm>
            <a:off x="804672" y="2276856"/>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335024" y="2322576"/>
            <a:ext cx="4434840" cy="45720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The golden rule, machine-enforced</a:t>
            </a:r>
            <a:endParaRPr lang="en-US" sz="1300" dirty="0"/>
          </a:p>
        </p:txBody>
      </p:sp>
      <p:sp>
        <p:nvSpPr>
          <p:cNvPr id="16" name="Text 14"/>
          <p:cNvSpPr/>
          <p:nvPr/>
        </p:nvSpPr>
        <p:spPr>
          <a:xfrm>
            <a:off x="82296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“AI never sets a price” is now a build-time check: if any AI dependency ever reaches the deterministic cost engine, the build fails. It cannot be bypassed.</a:t>
            </a:r>
            <a:endParaRPr lang="en-US" sz="1000" dirty="0"/>
          </a:p>
        </p:txBody>
      </p:sp>
      <p:sp>
        <p:nvSpPr>
          <p:cNvPr id="17" name="Shape 15"/>
          <p:cNvSpPr/>
          <p:nvPr/>
        </p:nvSpPr>
        <p:spPr>
          <a:xfrm>
            <a:off x="621792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18" name="Shape 16"/>
          <p:cNvSpPr/>
          <p:nvPr/>
        </p:nvSpPr>
        <p:spPr>
          <a:xfrm>
            <a:off x="6217920" y="2084832"/>
            <a:ext cx="82296" cy="1335024"/>
          </a:xfrm>
          <a:prstGeom prst="rect">
            <a:avLst/>
          </a:prstGeom>
          <a:solidFill>
            <a:srgbClr val="0DA5A0"/>
          </a:solidFill>
          <a:ln/>
        </p:spPr>
      </p:sp>
      <p:sp>
        <p:nvSpPr>
          <p:cNvPr id="19" name="Shape 17"/>
          <p:cNvSpPr/>
          <p:nvPr/>
        </p:nvSpPr>
        <p:spPr>
          <a:xfrm>
            <a:off x="6473952" y="2286000"/>
            <a:ext cx="457200" cy="457200"/>
          </a:xfrm>
          <a:prstGeom prst="ellipse">
            <a:avLst/>
          </a:prstGeom>
          <a:solidFill>
            <a:srgbClr val="E7F7F0"/>
          </a:solidFill>
          <a:ln/>
        </p:spPr>
      </p:sp>
      <p:sp>
        <p:nvSpPr>
          <p:cNvPr id="20" name="Text 18"/>
          <p:cNvSpPr/>
          <p:nvPr/>
        </p:nvSpPr>
        <p:spPr>
          <a:xfrm>
            <a:off x="6473952" y="2276856"/>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1" name="Text 19"/>
          <p:cNvSpPr/>
          <p:nvPr/>
        </p:nvSpPr>
        <p:spPr>
          <a:xfrm>
            <a:off x="7004304" y="2322576"/>
            <a:ext cx="4434840" cy="457200"/>
          </a:xfrm>
          <a:prstGeom prst="rect">
            <a:avLst/>
          </a:prstGeom>
          <a:noFill/>
          <a:ln/>
        </p:spPr>
        <p:txBody>
          <a:bodyPr wrap="square" lIns="0" tIns="0" rIns="0" bIns="0" rtlCol="0" anchor="ctr"/>
          <a:lstStyle/>
          <a:p>
            <a:pPr indent="0" marL="0">
              <a:buNone/>
            </a:pPr>
            <a:r>
              <a:rPr lang="en-US" sz="1300" b="1" dirty="0">
                <a:solidFill>
                  <a:srgbClr val="0DA5A0"/>
                </a:solidFill>
                <a:latin typeface="Calibri" pitchFamily="34" charset="0"/>
                <a:ea typeface="Calibri" pitchFamily="34" charset="-122"/>
                <a:cs typeface="Calibri" pitchFamily="34" charset="-120"/>
              </a:rPr>
              <a:t>Accuracy measured every build</a:t>
            </a:r>
            <a:endParaRPr lang="en-US" sz="1300" dirty="0"/>
          </a:p>
        </p:txBody>
      </p:sp>
      <p:sp>
        <p:nvSpPr>
          <p:cNvPr id="22" name="Text 20"/>
          <p:cNvSpPr/>
          <p:nvPr/>
        </p:nvSpPr>
        <p:spPr>
          <a:xfrm>
            <a:off x="649224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CAD feature detection is scored against hand-verified golden parts — precision, recall, F1 (≈0.96 today). A floor gate catches any drop before it ships.</a:t>
            </a:r>
            <a:endParaRPr lang="en-US" sz="1000" dirty="0"/>
          </a:p>
        </p:txBody>
      </p:sp>
      <p:sp>
        <p:nvSpPr>
          <p:cNvPr id="23" name="Shape 21"/>
          <p:cNvSpPr/>
          <p:nvPr/>
        </p:nvSpPr>
        <p:spPr>
          <a:xfrm>
            <a:off x="54864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24" name="Shape 22"/>
          <p:cNvSpPr/>
          <p:nvPr/>
        </p:nvSpPr>
        <p:spPr>
          <a:xfrm>
            <a:off x="548640" y="3566160"/>
            <a:ext cx="82296" cy="1335024"/>
          </a:xfrm>
          <a:prstGeom prst="rect">
            <a:avLst/>
          </a:prstGeom>
          <a:solidFill>
            <a:srgbClr val="0EA472"/>
          </a:solidFill>
          <a:ln/>
        </p:spPr>
      </p:sp>
      <p:sp>
        <p:nvSpPr>
          <p:cNvPr id="25" name="Shape 23"/>
          <p:cNvSpPr/>
          <p:nvPr/>
        </p:nvSpPr>
        <p:spPr>
          <a:xfrm>
            <a:off x="804672" y="3767328"/>
            <a:ext cx="457200" cy="457200"/>
          </a:xfrm>
          <a:prstGeom prst="ellipse">
            <a:avLst/>
          </a:prstGeom>
          <a:solidFill>
            <a:srgbClr val="E7F7F0"/>
          </a:solidFill>
          <a:ln/>
        </p:spPr>
      </p:sp>
      <p:sp>
        <p:nvSpPr>
          <p:cNvPr id="26" name="Text 24"/>
          <p:cNvSpPr/>
          <p:nvPr/>
        </p:nvSpPr>
        <p:spPr>
          <a:xfrm>
            <a:off x="804672" y="3758184"/>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27" name="Text 25"/>
          <p:cNvSpPr/>
          <p:nvPr/>
        </p:nvSpPr>
        <p:spPr>
          <a:xfrm>
            <a:off x="1335024" y="3803904"/>
            <a:ext cx="44348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Every change guarded</a:t>
            </a:r>
            <a:endParaRPr lang="en-US" sz="1300" dirty="0"/>
          </a:p>
        </p:txBody>
      </p:sp>
      <p:sp>
        <p:nvSpPr>
          <p:cNvPr id="28" name="Text 26"/>
          <p:cNvSpPr/>
          <p:nvPr/>
        </p:nvSpPr>
        <p:spPr>
          <a:xfrm>
            <a:off x="82296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1,005 automated tests, a self-audit re-checking every estimate, plus visual-regression screenshots — a regression fails the build, not the demo.</a:t>
            </a:r>
            <a:endParaRPr lang="en-US" sz="1000" dirty="0"/>
          </a:p>
        </p:txBody>
      </p:sp>
      <p:sp>
        <p:nvSpPr>
          <p:cNvPr id="29" name="Shape 27"/>
          <p:cNvSpPr/>
          <p:nvPr/>
        </p:nvSpPr>
        <p:spPr>
          <a:xfrm>
            <a:off x="621792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30" name="Shape 28"/>
          <p:cNvSpPr/>
          <p:nvPr/>
        </p:nvSpPr>
        <p:spPr>
          <a:xfrm>
            <a:off x="6217920" y="3566160"/>
            <a:ext cx="82296" cy="1335024"/>
          </a:xfrm>
          <a:prstGeom prst="rect">
            <a:avLst/>
          </a:prstGeom>
          <a:solidFill>
            <a:srgbClr val="7C3AED"/>
          </a:solidFill>
          <a:ln/>
        </p:spPr>
      </p:sp>
      <p:sp>
        <p:nvSpPr>
          <p:cNvPr id="31" name="Shape 29"/>
          <p:cNvSpPr/>
          <p:nvPr/>
        </p:nvSpPr>
        <p:spPr>
          <a:xfrm>
            <a:off x="6473952" y="3767328"/>
            <a:ext cx="457200" cy="457200"/>
          </a:xfrm>
          <a:prstGeom prst="ellipse">
            <a:avLst/>
          </a:prstGeom>
          <a:solidFill>
            <a:srgbClr val="F3EEFE"/>
          </a:solidFill>
          <a:ln/>
        </p:spPr>
      </p:sp>
      <p:sp>
        <p:nvSpPr>
          <p:cNvPr id="32" name="Text 30"/>
          <p:cNvSpPr/>
          <p:nvPr/>
        </p:nvSpPr>
        <p:spPr>
          <a:xfrm>
            <a:off x="6473952" y="3758184"/>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33" name="Text 31"/>
          <p:cNvSpPr/>
          <p:nvPr/>
        </p:nvSpPr>
        <p:spPr>
          <a:xfrm>
            <a:off x="7004304" y="3803904"/>
            <a:ext cx="4434840" cy="4572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Confidence on every number</a:t>
            </a:r>
            <a:endParaRPr lang="en-US" sz="1300" dirty="0"/>
          </a:p>
        </p:txBody>
      </p:sp>
      <p:sp>
        <p:nvSpPr>
          <p:cNvPr id="34" name="Text 32"/>
          <p:cNvSpPr/>
          <p:nvPr/>
        </p:nvSpPr>
        <p:spPr>
          <a:xfrm>
            <a:off x="649224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Each should-cost shows a P10–P50–P90 band, colour-graded by width — an honest range a buyer can defend, never a false single figure.</a:t>
            </a:r>
            <a:endParaRPr lang="en-US" sz="1000" dirty="0"/>
          </a:p>
        </p:txBody>
      </p:sp>
      <p:sp>
        <p:nvSpPr>
          <p:cNvPr id="35" name="Shape 33"/>
          <p:cNvSpPr/>
          <p:nvPr/>
        </p:nvSpPr>
        <p:spPr>
          <a:xfrm>
            <a:off x="548640" y="5138928"/>
            <a:ext cx="11091672" cy="841248"/>
          </a:xfrm>
          <a:prstGeom prst="roundRect">
            <a:avLst>
              <a:gd name="adj" fmla="val 7609"/>
            </a:avLst>
          </a:prstGeom>
          <a:solidFill>
            <a:srgbClr val="E7F7F0"/>
          </a:solidFill>
          <a:ln w="12700">
            <a:solidFill>
              <a:srgbClr val="E4EAF2"/>
            </a:solidFill>
            <a:prstDash val="solid"/>
          </a:ln>
        </p:spPr>
      </p:sp>
      <p:sp>
        <p:nvSpPr>
          <p:cNvPr id="36" name="Shape 34"/>
          <p:cNvSpPr/>
          <p:nvPr/>
        </p:nvSpPr>
        <p:spPr>
          <a:xfrm>
            <a:off x="548640" y="5138928"/>
            <a:ext cx="82296" cy="841248"/>
          </a:xfrm>
          <a:prstGeom prst="rect">
            <a:avLst/>
          </a:prstGeom>
          <a:solidFill>
            <a:srgbClr val="0EA472"/>
          </a:solidFill>
          <a:ln/>
        </p:spPr>
      </p:sp>
      <p:sp>
        <p:nvSpPr>
          <p:cNvPr id="37" name="Text 35"/>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50" b="1" dirty="0">
                <a:solidFill>
                  <a:srgbClr val="0F1E3D"/>
                </a:solidFill>
                <a:latin typeface="Calibri" pitchFamily="34" charset="0"/>
                <a:ea typeface="Calibri" pitchFamily="34" charset="-122"/>
                <a:cs typeface="Calibri" pitchFamily="34" charset="-120"/>
              </a:rPr>
              <a:t>Bottom line: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number we put in front of a supplier is defensible by construction — and stays that way. Quality isn’t reviewed in after the fact; it’s enforced on every commit.</a:t>
            </a:r>
            <a:endParaRPr lang="en-US" sz="115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1,005</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86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~10,400 lines of tests, 1,005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1" name="Shape 9"/>
          <p:cNvSpPr/>
          <p:nvPr/>
        </p:nvSpPr>
        <p:spPr>
          <a:xfrm>
            <a:off x="548640" y="1691640"/>
            <a:ext cx="82296" cy="1783080"/>
          </a:xfrm>
          <a:prstGeom prst="rect">
            <a:avLst/>
          </a:prstGeom>
          <a:solidFill>
            <a:srgbClr val="2563EB"/>
          </a:solidFill>
          <a:ln/>
        </p:spPr>
        <p:txBody>
          <a:bodyPr/>
          <a:p/>
        </p:txBody>
      </p:sp>
      <p:sp>
        <p:nvSpPr>
          <p:cNvPr id="12" name="Shape 10"/>
          <p:cNvSpPr/>
          <p:nvPr/>
        </p:nvSpPr>
        <p:spPr>
          <a:xfrm>
            <a:off x="822960" y="1965960"/>
            <a:ext cx="548640" cy="548640"/>
          </a:xfrm>
          <a:prstGeom prst="ellipse">
            <a:avLst/>
          </a:prstGeom>
          <a:solidFill>
            <a:srgbClr val="EAF1FE"/>
          </a:solidFill>
          <a:ln/>
        </p:spPr>
        <p:txBody>
          <a:bodyPr/>
          <a:p/>
        </p:txBody>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A first number, sooner</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A should-cost from a CAD file or typed inputs, without building a spreadsheet. We will time it against today’s process in the pilot.</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7" name="Shape 15"/>
          <p:cNvSpPr/>
          <p:nvPr/>
        </p:nvSpPr>
        <p:spPr>
          <a:xfrm>
            <a:off x="6217920" y="1691640"/>
            <a:ext cx="82296" cy="1783080"/>
          </a:xfrm>
          <a:prstGeom prst="rect">
            <a:avLst/>
          </a:prstGeom>
          <a:solidFill>
            <a:srgbClr val="0EA472"/>
          </a:solidFill>
          <a:ln/>
        </p:spPr>
        <p:txBody>
          <a:bodyPr/>
          <a:p/>
        </p:txBody>
      </p:sp>
      <p:sp>
        <p:nvSpPr>
          <p:cNvPr id="18" name="Shape 16"/>
          <p:cNvSpPr/>
          <p:nvPr/>
        </p:nvSpPr>
        <p:spPr>
          <a:xfrm>
            <a:off x="6492240" y="1965960"/>
            <a:ext cx="548640" cy="548640"/>
          </a:xfrm>
          <a:prstGeom prst="ellipse">
            <a:avLst/>
          </a:prstGeom>
          <a:solidFill>
            <a:srgbClr val="E7F7F0"/>
          </a:solidFill>
          <a:ln/>
        </p:spPr>
        <p:txBody>
          <a:bodyPr/>
          <a:p/>
        </p:txBody>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Better negotiations</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A line-by-line should-cost lets us challenge a quote by bucket and driver, not just the total.</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3" name="Shape 21"/>
          <p:cNvSpPr/>
          <p:nvPr/>
        </p:nvSpPr>
        <p:spPr>
          <a:xfrm>
            <a:off x="548640" y="3657600"/>
            <a:ext cx="82296" cy="1783080"/>
          </a:xfrm>
          <a:prstGeom prst="rect">
            <a:avLst/>
          </a:prstGeom>
          <a:solidFill>
            <a:srgbClr val="7C3AED"/>
          </a:solidFill>
          <a:ln/>
        </p:spPr>
        <p:txBody>
          <a:bodyPr/>
          <a:p/>
        </p:txBody>
      </p:sp>
      <p:sp>
        <p:nvSpPr>
          <p:cNvPr id="24" name="Shape 22"/>
          <p:cNvSpPr/>
          <p:nvPr/>
        </p:nvSpPr>
        <p:spPr>
          <a:xfrm>
            <a:off x="822960" y="3931920"/>
            <a:ext cx="548640" cy="548640"/>
          </a:xfrm>
          <a:prstGeom prst="ellipse">
            <a:avLst/>
          </a:prstGeom>
          <a:solidFill>
            <a:srgbClr val="F3EEFE"/>
          </a:solidFill>
          <a:ln/>
        </p:spPr>
        <p:txBody>
          <a:bodyPr/>
          <a:p/>
        </p:txBody>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method and one rate library for everyone, so two engineers get the same answer for the same inputs.</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9" name="Shape 27"/>
          <p:cNvSpPr/>
          <p:nvPr/>
        </p:nvSpPr>
        <p:spPr>
          <a:xfrm>
            <a:off x="6217920" y="3657600"/>
            <a:ext cx="82296" cy="1783080"/>
          </a:xfrm>
          <a:prstGeom prst="rect">
            <a:avLst/>
          </a:prstGeom>
          <a:solidFill>
            <a:srgbClr val="E0900C"/>
          </a:solidFill>
          <a:ln/>
        </p:spPr>
        <p:txBody>
          <a:bodyPr/>
          <a:p/>
        </p:txBody>
      </p:sp>
      <p:sp>
        <p:nvSpPr>
          <p:cNvPr id="30" name="Shape 28"/>
          <p:cNvSpPr/>
          <p:nvPr/>
        </p:nvSpPr>
        <p:spPr>
          <a:xfrm>
            <a:off x="6492240" y="3931920"/>
            <a:ext cx="548640" cy="548640"/>
          </a:xfrm>
          <a:prstGeom prst="ellipse">
            <a:avLst/>
          </a:prstGeom>
          <a:solidFill>
            <a:srgbClr val="FEF6E7"/>
          </a:solidFill>
          <a:ln/>
        </p:spPr>
        <p:txBody>
          <a:bodyPr/>
          <a:p/>
        </p:txBody>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Our own data, kept here</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Saved cases and logged prices stay on our laptops. The more real prices we log, the better the bands get.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txBody>
          <a:bodyPr/>
          <a:p/>
        </p:txBody>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consistent, traceable should-costs, run offline on our own laptops. The savings are still to be proven on real JLR quotes.</a:t>
            </a:r>
            <a:endParaRPr lang="en-US" sz="1200" dirty="0"/>
          </a:p>
        </p:txBody>
      </p:sp>
      <p:sp>
        <p:nvSpPr>
          <p:cNvPr id="36" name="Shape 34"/>
          <p:cNvSpPr/>
          <p:nvPr/>
        </p:nvSpPr>
        <p:spPr>
          <a:xfrm>
            <a:off x="548640" y="6400800"/>
            <a:ext cx="11094415" cy="12802"/>
          </a:xfrm>
          <a:prstGeom prst="rect">
            <a:avLst/>
          </a:prstGeom>
          <a:solidFill>
            <a:srgbClr val="E4EAF2"/>
          </a:solidFill>
          <a:ln/>
        </p:spPr>
        <p:txBody>
          <a:bodyPr/>
          <a:p/>
        </p:txBody>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15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our data, our infrastructure, 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Our data, our infrastructure, 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model lists the parts, the tool prices each line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we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74000"/>
            </a:srgbClr>
          </a:solidFill>
          <a:ln/>
        </p:spPr>
        <p:txBody>
          <a:bodyPr/>
          <a:p/>
        </p:txBody>
      </p:sp>
      <p:sp>
        <p:nvSpPr>
          <p:cNvPr id="5" name="Shape 2"/>
          <p:cNvSpPr/>
          <p:nvPr/>
        </p:nvSpPr>
        <p:spPr>
          <a:xfrm>
            <a:off x="0" y="3566160"/>
            <a:ext cx="12191695" cy="3291840"/>
          </a:xfrm>
          <a:prstGeom prst="rect">
            <a:avLst/>
          </a:prstGeom>
          <a:solidFill>
            <a:srgbClr val="061024">
              <a:alpha val="84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2563EB"/>
          </a:solidFill>
          <a:ln/>
        </p:spPr>
        <p:txBody>
          <a:bodyPr/>
          <a:p/>
        </p:txBody>
      </p:sp>
      <p:sp>
        <p:nvSpPr>
          <p:cNvPr id="8" name="Shape 5"/>
          <p:cNvSpPr/>
          <p:nvPr/>
        </p:nvSpPr>
        <p:spPr>
          <a:xfrm>
            <a:off x="822960" y="640080"/>
            <a:ext cx="457200" cy="457200"/>
          </a:xfrm>
          <a:prstGeom prst="roundRect">
            <a:avLst>
              <a:gd name="adj" fmla="val 24000"/>
            </a:avLst>
          </a:prstGeom>
          <a:solidFill>
            <a:srgbClr val="4F46E5"/>
          </a:solidFill>
          <a:ln/>
        </p:spPr>
        <p:txBody>
          <a:bodyPr/>
          <a:p/>
        </p:txBody>
      </p:sp>
      <p:sp>
        <p:nvSpPr>
          <p:cNvPr id="9" name="Text 6"/>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10" name="Text 7"/>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11" name="Text 8"/>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CAD file or typed inputs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traceable should-cost out.</a:t>
            </a:r>
            <a:endParaRPr lang="en-US" sz="3400" dirty="0"/>
          </a:p>
        </p:txBody>
      </p:sp>
      <p:sp>
        <p:nvSpPr>
          <p:cNvPr id="12" name="Text 9"/>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Traceable · tested · offline · AI needs an API key.</a:t>
            </a:r>
            <a:endParaRPr lang="en-US" sz="1600" dirty="0"/>
          </a:p>
        </p:txBody>
      </p:sp>
      <p:sp>
        <p:nvSpPr>
          <p:cNvPr id="13" name="Text 10"/>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4" name="Shape 11"/>
          <p:cNvSpPr/>
          <p:nvPr/>
        </p:nvSpPr>
        <p:spPr>
          <a:xfrm>
            <a:off x="822960" y="4206240"/>
            <a:ext cx="3383280" cy="1280160"/>
          </a:xfrm>
          <a:prstGeom prst="roundRect">
            <a:avLst>
              <a:gd name="adj" fmla="val 5714"/>
            </a:avLst>
          </a:prstGeom>
          <a:solidFill>
            <a:srgbClr val="FFFFFF">
              <a:alpha val="94000"/>
            </a:srgbClr>
          </a:solidFill>
          <a:ln/>
        </p:spPr>
        <p:txBody>
          <a:bodyPr/>
          <a:p/>
        </p:txBody>
      </p:sp>
      <p:sp>
        <p:nvSpPr>
          <p:cNvPr id="15" name="Shape 12"/>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txBody>
          <a:bodyPr/>
          <a:p/>
        </p:txBody>
      </p:sp>
      <p:sp>
        <p:nvSpPr>
          <p:cNvPr id="16" name="Text 13"/>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7" name="Text 14"/>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Approve a 6-week laptop pilot</a:t>
            </a:r>
            <a:endParaRPr lang="en-US" sz="1200" dirty="0"/>
          </a:p>
        </p:txBody>
      </p:sp>
      <p:sp>
        <p:nvSpPr>
          <p:cNvPr id="18" name="Text 15"/>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log our real quotes and prices paid</a:t>
            </a:r>
            <a:endParaRPr lang="en-US" sz="950" dirty="0"/>
          </a:p>
        </p:txBody>
      </p:sp>
      <p:sp>
        <p:nvSpPr>
          <p:cNvPr id="19" name="Shape 16"/>
          <p:cNvSpPr/>
          <p:nvPr/>
        </p:nvSpPr>
        <p:spPr>
          <a:xfrm>
            <a:off x="4434840" y="4206240"/>
            <a:ext cx="3383280" cy="1280160"/>
          </a:xfrm>
          <a:prstGeom prst="roundRect">
            <a:avLst>
              <a:gd name="adj" fmla="val 5714"/>
            </a:avLst>
          </a:prstGeom>
          <a:solidFill>
            <a:srgbClr val="FFFFFF">
              <a:alpha val="94000"/>
            </a:srgbClr>
          </a:solidFill>
          <a:ln/>
        </p:spPr>
        <p:txBody>
          <a:bodyPr/>
          <a:p/>
        </p:txBody>
      </p:sp>
      <p:sp>
        <p:nvSpPr>
          <p:cNvPr id="20" name="Shape 17"/>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txBody>
          <a:bodyPr/>
          <a:p/>
        </p:txBody>
      </p:sp>
      <p:sp>
        <p:nvSpPr>
          <p:cNvPr id="21" name="Text 18"/>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2" name="Text 19"/>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Pick a first part family</a:t>
            </a:r>
            <a:endParaRPr lang="en-US" sz="1200" dirty="0"/>
          </a:p>
        </p:txBody>
      </p:sp>
      <p:sp>
        <p:nvSpPr>
          <p:cNvPr id="23" name="Text 20"/>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CAD parts we already have prices for</a:t>
            </a:r>
            <a:endParaRPr lang="en-US" sz="950" dirty="0"/>
          </a:p>
        </p:txBody>
      </p:sp>
      <p:sp>
        <p:nvSpPr>
          <p:cNvPr id="24" name="Shape 21"/>
          <p:cNvSpPr/>
          <p:nvPr/>
        </p:nvSpPr>
        <p:spPr>
          <a:xfrm>
            <a:off x="8046720" y="4206240"/>
            <a:ext cx="3383280" cy="1280160"/>
          </a:xfrm>
          <a:prstGeom prst="roundRect">
            <a:avLst>
              <a:gd name="adj" fmla="val 5714"/>
            </a:avLst>
          </a:prstGeom>
          <a:solidFill>
            <a:srgbClr val="FFFFFF">
              <a:alpha val="94000"/>
            </a:srgbClr>
          </a:solidFill>
          <a:ln/>
        </p:spPr>
        <p:txBody>
          <a:bodyPr/>
          <a:p/>
        </p:txBody>
      </p:sp>
      <p:sp>
        <p:nvSpPr>
          <p:cNvPr id="25" name="Shape 22"/>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txBody>
          <a:bodyPr/>
          <a:p/>
        </p:txBody>
      </p:sp>
      <p:sp>
        <p:nvSpPr>
          <p:cNvPr id="26" name="Text 23"/>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7" name="Text 24"/>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Review estimates vs prices paid</a:t>
            </a:r>
            <a:endParaRPr lang="en-US" sz="1200" dirty="0"/>
          </a:p>
        </p:txBody>
      </p:sp>
      <p:sp>
        <p:nvSpPr>
          <p:cNvPr id="28" name="Text 25"/>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that is how we prove accuracy</a:t>
            </a:r>
            <a:endParaRPr lang="en-US" sz="950" dirty="0"/>
          </a:p>
        </p:txBody>
      </p:sp>
      <p:sp>
        <p:nvSpPr>
          <p:cNvPr id="29" name="Text 26"/>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CAD TO COST · WHAT THE TOOL MEASURES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the tool measures, and what it asks you</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The tool measures what the geometry can tell it, and asks the engineer the rest. The engine turns the facts into cost.</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txBody>
          <a:bodyPr/>
          <a:p/>
        </p:txBody>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txBody>
          <a:bodyPr/>
          <a:p/>
        </p:txBody>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geometry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The geometry engine (OpenCASCADE) measures volume, weight, size and wall thickness. This is the ground truth for material and machine size.</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txBody>
          <a:bodyPr/>
          <a:p/>
        </p:txBody>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txBody>
          <a:bodyPr/>
          <a:p/>
        </p:txBody>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features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Holes, pockets, slots and bosses are found and counted in STEP and IGES files. Each one becomes a machining step with its own cost line.</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txBody>
          <a:bodyPr/>
          <a:p/>
        </p:txBody>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Questions, not guesses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Where the geometry can’t decide (process route, material family, a hole count on an STL) the tool asks the engineer.</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txBody>
          <a:bodyPr/>
          <a:p/>
        </p:txBody>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txBody>
          <a:bodyPr/>
          <a:p/>
        </p:txBody>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Sheet-metal blanks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Upload a DXF flat pattern with the STEP, and the measured blank is used instead of the bounding box.</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txBody>
          <a:bodyPr/>
          <a:p/>
        </p:txBody>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Typed inputs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process also has a form. The engineer types the inputs and the same engine prices them. Extrusion is costed this way today.</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txBody>
          <a:bodyPr/>
          <a:p/>
        </p:txBody>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txBody>
          <a:bodyPr/>
          <a:p/>
        </p:txBody>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Checked before it counts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self-audit flags a wrong machine size, tooling spread over the wrong volume, a material-only cost or an odd cycle time.</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txBody>
          <a:bodyPr/>
          <a:p/>
        </p:txBody>
      </p:sp>
      <p:sp>
        <p:nvSpPr>
          <p:cNvPr id="36" name="Shape 34"/>
          <p:cNvSpPr/>
          <p:nvPr/>
        </p:nvSpPr>
        <p:spPr>
          <a:xfrm>
            <a:off x="7909560" y="2148840"/>
            <a:ext cx="82296" cy="3749040"/>
          </a:xfrm>
          <a:prstGeom prst="rect">
            <a:avLst/>
          </a:prstGeom>
          <a:solidFill>
            <a:srgbClr val="0EA472"/>
          </a:solidFill>
          <a:ln/>
        </p:spPr>
        <p:txBody>
          <a:bodyPr/>
          <a:p/>
        </p:txBody>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The golden rule</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AI never sets a price. At JLR it needs an API key.</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Every £ is plain arithmetic on the measured facts and the engineer’s answers, using the rate library. We can defend it line by line.</a:t>
            </a:r>
            <a:endParaRPr lang="en-US" sz="1150" dirty="0"/>
          </a:p>
        </p:txBody>
      </p:sp>
      <p:sp>
        <p:nvSpPr>
          <p:cNvPr id="40" name="Shape 38"/>
          <p:cNvSpPr/>
          <p:nvPr/>
        </p:nvSpPr>
        <p:spPr>
          <a:xfrm>
            <a:off x="548640" y="6400800"/>
            <a:ext cx="11094415" cy="12802"/>
          </a:xfrm>
          <a:prstGeom prst="rect">
            <a:avLst/>
          </a:prstGeom>
          <a:solidFill>
            <a:srgbClr val="E4EAF2"/>
          </a:solidFill>
          <a:ln/>
        </p:spPr>
        <p:txBody>
          <a:bodyPr/>
          <a:p/>
        </p:txBody>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2026-07-21T12:38:07Z</dcterms:created>
  <dcterms:modified xsi:type="dcterms:W3CDTF">2026-07-21T12:38:07Z</dcterms:modified>
</cp:coreProperties>
</file>