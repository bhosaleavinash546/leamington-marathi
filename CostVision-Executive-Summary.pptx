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6"/>
    <p:sldId id="261" r:id="rId7"/>
    <p:sldId id="288" r:id="rId39"/>
    <p:sldId id="264" r:id="rId10"/>
    <p:sldId id="268" r:id="rId14"/>
    <p:sldId id="269" r:id="rId15"/>
    <p:sldId id="273" r:id="rId19"/>
    <p:sldId id="274" r:id="rId20"/>
    <p:sldId id="276" r:id="rId22"/>
    <p:sldId id="278" r:id="rId24"/>
    <p:sldId id="280" r:id="rId26"/>
    <p:sldId id="283" r:id="rId29"/>
    <p:sldId id="287" r:id="rId33"/>
  </p:sldIdLst>
  <p:notesMasterIdLst>
    <p:notesMasterId r:id="rId3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3.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£/part</c:v>
                </c:pt>
              </c:strCache>
            </c:strRef>
          </c:tx>
          <c:spPr>
            <a:solidFill>
              <a:srgbClr val="0DA5A0"/>
            </a:solidFill>
            <a:effectLst/>
          </c:spPr>
          <c:invertIfNegative val="0"/>
          <c:dLbls>
            <c:numFmt formatCode="0.00" sourceLinked="0"/>
            <c:txPr>
              <a:bodyPr/>
              <a:lstStyle/>
              <a:p>
                <a:pPr>
                  <a:defRPr b="1" i="0" strike="noStrike" sz="750" u="none">
                    <a:solidFill>
                      <a:srgbClr val="0F1E3D"/>
                    </a:solidFill>
                    <a:latin typeface="Arial"/>
                  </a:defRPr>
                </a:pPr>
              </a:p>
            </c:txPr>
            <c:showLegendKey val="0"/>
            <c:showVal val="1"/>
            <c:showCatName val="0"/>
            <c:showSerName val="0"/>
            <c:showPercent val="0"/>
            <c:showBubbleSize val="0"/>
            <c:showLeaderLines val="0"/>
          </c:dLbls>
          <c:cat>
            <c:multiLvlStrRef>
              <c:f>Sheet1!$A$2:$A$9</c:f>
              <c:multiLvlStrCache>
                <c:ptCount val="8"/>
                <c:lvl>
                  <c:pt idx="0">
                    <c:v>Material</c:v>
                  </c:pt>
                  <c:pt idx="1">
                    <c:v>Process</c:v>
                  </c:pt>
                  <c:pt idx="2">
                    <c:v>Labour</c:v>
                  </c:pt>
                  <c:pt idx="3">
                    <c:v>Tooling</c:v>
                  </c:pt>
                  <c:pt idx="4">
                    <c:v>Pack</c:v>
                  </c:pt>
                  <c:pt idx="5">
                    <c:v>Logs</c:v>
                  </c:pt>
                  <c:pt idx="6">
                    <c:v>O/H</c:v>
                  </c:pt>
                  <c:pt idx="7">
                    <c:v>Margin</c:v>
                  </c:pt>
                </c:lvl>
              </c:multiLvlStrCache>
            </c:multiLvlStrRef>
          </c:cat>
          <c:val>
            <c:numRef>
              <c:f>Sheet1!$B$2:$B$9</c:f>
              <c:numCache>
                <c:formatCode>General</c:formatCode>
                <c:ptCount val="8"/>
                <c:pt idx="0">
                  <c:v>4.36</c:v>
                </c:pt>
                <c:pt idx="1">
                  <c:v>0.64</c:v>
                </c:pt>
                <c:pt idx="2">
                  <c:v>0.18</c:v>
                </c:pt>
                <c:pt idx="3">
                  <c:v>0.6</c:v>
                </c:pt>
                <c:pt idx="4">
                  <c:v>0.05</c:v>
                </c:pt>
                <c:pt idx="5">
                  <c:v>0.1</c:v>
                </c:pt>
                <c:pt idx="6">
                  <c:v>0.58</c:v>
                </c:pt>
                <c:pt idx="7">
                  <c:v>0.46</c:v>
                </c:pt>
              </c:numCache>
            </c:numRef>
          </c:val>
        </c:ser>
        <c:dLbls>
          <c:numFmt formatCode="0.00" sourceLinked="0"/>
          <c:txPr>
            <a:bodyPr/>
            <a:lstStyle/>
            <a:p>
              <a:pPr>
                <a:defRPr b="1" i="0" strike="noStrike" sz="750" u="none">
                  <a:solidFill>
                    <a:srgbClr val="0F1E3D"/>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4EAF2"/>
            </a:solidFill>
            <a:prstDash val="solid"/>
            <a:round/>
          </a:ln>
        </c:spPr>
        <c:txPr>
          <a:bodyPr/>
          <a:lstStyle/>
          <a:p>
            <a:pPr>
              <a:defRPr sz="800" b="0" i="0" u="none" strike="noStrike">
                <a:solidFill>
                  <a:srgbClr val="3E4C63"/>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E4EAF2"/>
              </a:solidFill>
              <a:prstDash val="solid"/>
              <a:round/>
            </a:ln>
          </c:spPr>
        </c:majorGridlines>
        <c:numFmt formatCode="General" sourceLinked="0"/>
        <c:majorTickMark val="out"/>
        <c:minorTickMark val="none"/>
        <c:tickLblPos val="nextTo"/>
        <c:spPr>
          <a:ln w="12700" cap="flat">
            <a:solidFill>
              <a:srgbClr val="E4EAF2"/>
            </a:solidFill>
            <a:prstDash val="solid"/>
            <a:round/>
          </a:ln>
        </c:spPr>
        <c:txPr>
          <a:bodyPr/>
          <a:lstStyle/>
          <a:p>
            <a:pPr>
              <a:defRPr sz="1000" b="0" i="0" u="none" strike="noStrike">
                <a:solidFill>
                  <a:srgbClr val="8A97A8"/>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£/part (ex-works)</c:v>
                </c:pt>
              </c:strCache>
            </c:strRef>
          </c:tx>
          <c:spPr>
            <a:solidFill>
              <a:srgbClr val="E0900C"/>
            </a:solidFill>
            <a:effectLst/>
          </c:spPr>
          <c:invertIfNegative val="0"/>
          <c:dLbls>
            <c:numFmt formatCode="0.00" sourceLinked="0"/>
            <c:txPr>
              <a:bodyPr/>
              <a:lstStyle/>
              <a:p>
                <a:pPr>
                  <a:defRPr b="1" i="0" strike="noStrike" sz="750" u="none">
                    <a:solidFill>
                      <a:srgbClr val="0F1E3D"/>
                    </a:solidFill>
                    <a:latin typeface="Arial"/>
                  </a:defRPr>
                </a:pPr>
              </a:p>
            </c:txPr>
            <c:showLegendKey val="0"/>
            <c:showVal val="1"/>
            <c:showCatName val="0"/>
            <c:showSerName val="0"/>
            <c:showPercent val="0"/>
            <c:showBubbleSize val="0"/>
            <c:showLeaderLines val="0"/>
          </c:dLbls>
          <c:cat>
            <c:multiLvlStrRef>
              <c:f>Sheet1!$A$2:$A$9</c:f>
              <c:multiLvlStrCache>
                <c:ptCount val="8"/>
                <c:lvl>
                  <c:pt idx="0">
                    <c:v>CN</c:v>
                  </c:pt>
                  <c:pt idx="1">
                    <c:v>IN</c:v>
                  </c:pt>
                  <c:pt idx="2">
                    <c:v>VN</c:v>
                  </c:pt>
                  <c:pt idx="3">
                    <c:v>MX</c:v>
                  </c:pt>
                  <c:pt idx="4">
                    <c:v>PL</c:v>
                  </c:pt>
                  <c:pt idx="5">
                    <c:v>US</c:v>
                  </c:pt>
                  <c:pt idx="6">
                    <c:v>UK</c:v>
                  </c:pt>
                  <c:pt idx="7">
                    <c:v>DE</c:v>
                  </c:pt>
                </c:lvl>
              </c:multiLvlStrCache>
            </c:multiLvlStrRef>
          </c:cat>
          <c:val>
            <c:numRef>
              <c:f>Sheet1!$B$2:$B$9</c:f>
              <c:numCache>
                <c:formatCode>General</c:formatCode>
                <c:ptCount val="8"/>
                <c:pt idx="0">
                  <c:v>4.91</c:v>
                </c:pt>
                <c:pt idx="1">
                  <c:v>4.93</c:v>
                </c:pt>
                <c:pt idx="2">
                  <c:v>5.1</c:v>
                </c:pt>
                <c:pt idx="3">
                  <c:v>5.32</c:v>
                </c:pt>
                <c:pt idx="4">
                  <c:v>5.64</c:v>
                </c:pt>
                <c:pt idx="5">
                  <c:v>6.19</c:v>
                </c:pt>
                <c:pt idx="6">
                  <c:v>6.36</c:v>
                </c:pt>
                <c:pt idx="7">
                  <c:v>6.75</c:v>
                </c:pt>
              </c:numCache>
            </c:numRef>
          </c:val>
        </c:ser>
        <c:dLbls>
          <c:numFmt formatCode="0.00" sourceLinked="0"/>
          <c:txPr>
            <a:bodyPr/>
            <a:lstStyle/>
            <a:p>
              <a:pPr>
                <a:defRPr b="1" i="0" strike="noStrike" sz="750" u="none">
                  <a:solidFill>
                    <a:srgbClr val="0F1E3D"/>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4EAF2"/>
            </a:solidFill>
            <a:prstDash val="solid"/>
            <a:round/>
          </a:ln>
        </c:spPr>
        <c:txPr>
          <a:bodyPr/>
          <a:lstStyle/>
          <a:p>
            <a:pPr>
              <a:defRPr sz="900" b="0" i="0" u="none" strike="noStrike">
                <a:solidFill>
                  <a:srgbClr val="3E4C63"/>
                </a:solidFill>
                <a:latin typeface="Arial"/>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9525" cap="flat">
              <a:solidFill>
                <a:srgbClr val="E4EAF2"/>
              </a:solidFill>
              <a:prstDash val="solid"/>
              <a:round/>
            </a:ln>
          </c:spPr>
        </c:majorGridlines>
        <c:numFmt formatCode="General" sourceLinked="0"/>
        <c:majorTickMark val="out"/>
        <c:minorTickMark val="none"/>
        <c:tickLblPos val="nextTo"/>
        <c:spPr>
          <a:ln w="12700" cap="flat">
            <a:solidFill>
              <a:srgbClr val="E4EAF2"/>
            </a:solidFill>
            <a:prstDash val="solid"/>
            <a:round/>
          </a:ln>
        </c:spPr>
        <c:txPr>
          <a:bodyPr/>
          <a:lstStyle/>
          <a:p>
            <a:pPr>
              <a:defRPr sz="1000" b="0" i="0" u="none" strike="noStrike">
                <a:solidFill>
                  <a:srgbClr val="8A97A8"/>
                </a:solidFill>
                <a:latin typeface="Arial"/>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 lines</c:v>
                </c:pt>
              </c:strCache>
            </c:strRef>
          </c:tx>
          <c:spPr>
            <a:solidFill>
              <a:srgbClr val="4F46E5"/>
            </a:solidFill>
            <a:effectLst/>
          </c:spPr>
          <c:invertIfNegative val="0"/>
          <c:dLbls>
            <c:numFmt formatCode="0.0" sourceLinked="0"/>
            <c:txPr>
              <a:bodyPr/>
              <a:lstStyle/>
              <a:p>
                <a:pPr>
                  <a:defRPr b="1" i="0" strike="noStrike" sz="800" u="none">
                    <a:solidFill>
                      <a:srgbClr val="0F1E3D"/>
                    </a:solidFill>
                    <a:latin typeface="Arial"/>
                  </a:defRPr>
                </a:pPr>
              </a:p>
            </c:txPr>
            <c:showLegendKey val="0"/>
            <c:showVal val="1"/>
            <c:showCatName val="0"/>
            <c:showSerName val="0"/>
            <c:showPercent val="0"/>
            <c:showBubbleSize val="0"/>
            <c:showLeaderLines val="0"/>
          </c:dLbls>
          <c:cat>
            <c:multiLvlStrRef>
              <c:f>Sheet1!$A$2:$A$7</c:f>
              <c:multiLvlStrCache>
                <c:ptCount val="6"/>
                <c:lvl>
                  <c:pt idx="0">
                    <c:v>Frontend / UI</c:v>
                  </c:pt>
                  <c:pt idx="1">
                    <c:v>Cost engines</c:v>
                  </c:pt>
                  <c:pt idx="2">
                    <c:v>Backend API</c:v>
                  </c:pt>
                  <c:pt idx="3">
                    <c:v>Tests</c:v>
                  </c:pt>
                  <c:pt idx="4">
                    <c:v>Styling</c:v>
                  </c:pt>
                  <c:pt idx="5">
                    <c:v>CAD engine (Py)</c:v>
                  </c:pt>
                </c:lvl>
              </c:multiLvlStrCache>
            </c:multiLvlStrRef>
          </c:cat>
          <c:val>
            <c:numRef>
              <c:f>Sheet1!$B$2:$B$7</c:f>
              <c:numCache>
                <c:formatCode>General</c:formatCode>
                <c:ptCount val="6"/>
                <c:pt idx="0">
                  <c:v>28.1</c:v>
                </c:pt>
                <c:pt idx="1">
                  <c:v>16</c:v>
                </c:pt>
                <c:pt idx="2">
                  <c:v>13</c:v>
                </c:pt>
                <c:pt idx="3">
                  <c:v>9.7</c:v>
                </c:pt>
                <c:pt idx="4">
                  <c:v>6.5</c:v>
                </c:pt>
                <c:pt idx="5">
                  <c:v>1.2</c:v>
                </c:pt>
              </c:numCache>
            </c:numRef>
          </c:val>
        </c:ser>
        <c:dLbls>
          <c:numFmt formatCode="0.0" sourceLinked="0"/>
          <c:txPr>
            <a:bodyPr/>
            <a:lstStyle/>
            <a:p>
              <a:pPr>
                <a:defRPr b="1" i="0" strike="noStrike" sz="800" u="none">
                  <a:solidFill>
                    <a:srgbClr val="0F1E3D"/>
                  </a:solidFill>
                  <a:latin typeface="Ari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E4EAF2"/>
            </a:solidFill>
            <a:prstDash val="solid"/>
            <a:round/>
          </a:ln>
        </c:spPr>
        <c:txPr>
          <a:bodyPr/>
          <a:lstStyle/>
          <a:p>
            <a:pPr>
              <a:defRPr sz="900" b="0" i="0" u="none" strike="noStrike">
                <a:solidFill>
                  <a:srgbClr val="3E4C63"/>
                </a:solidFill>
                <a:latin typeface="Arial"/>
              </a:defRPr>
            </a:pPr>
            <a:endParaRPr lang="en-US"/>
          </a:p>
        </c:txPr>
        <c:crossAx val="2094734552"/>
        <c:crosses val="autoZero"/>
        <c:auto val="1"/>
        <c:lblAlgn val="ctr"/>
        <c:noMultiLvlLbl val="1"/>
      </c:catAx>
      <c:valAx>
        <c:axId val="2094734552"/>
        <c:scaling>
          <c:orientation val="minMax"/>
          <c:max val="30"/>
          <c:min val="0"/>
        </c:scaling>
        <c:delete val="0"/>
        <c:axPos val="b"/>
        <c:majorGridlines>
          <c:spPr>
            <a:ln w="9525" cap="flat">
              <a:solidFill>
                <a:srgbClr val="E4EAF2"/>
              </a:solidFill>
              <a:prstDash val="solid"/>
              <a:round/>
            </a:ln>
          </c:spPr>
        </c:majorGridlines>
        <c:numFmt formatCode="General" sourceLinked="0"/>
        <c:majorTickMark val="out"/>
        <c:minorTickMark val="none"/>
        <c:tickLblPos val="low"/>
        <c:spPr>
          <a:ln w="12700" cap="flat">
            <a:solidFill>
              <a:srgbClr val="E4EAF2"/>
            </a:solidFill>
            <a:prstDash val="solid"/>
            <a:round/>
          </a:ln>
        </c:spPr>
        <c:txPr>
          <a:bodyPr/>
          <a:lstStyle/>
          <a:p>
            <a:pPr>
              <a:defRPr sz="1000" b="0" i="0" u="none" strike="noStrike">
                <a:solidFill>
                  <a:srgbClr val="8A97A8"/>
                </a:solidFill>
                <a:latin typeface="Arial"/>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This is CostVision, version 4.2. I want to set one thing straight at the start. In the JLR build the AI is switched off. JLR has no AI approval yet, so the tool runs on rules and arithmetic alone, on a laptop, with no internet. What it does is simple to say. It works out what a part should cost, from a CAD file or from inputs an engineer types. It splits that cost into eight buckets, from material to margin, using real 2026 rates. And every number traces back to a rate you can look up. Today I will show you what it covers, how CAD to Cost works, how we would use it in a negotiation, and what has been proven so far. I will also be clear about what has not been proven yet, because that matters just as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remember one slide, make it this one. Across the top are five facts. Every cost is split into eight buckets, and each one traces to a rate. The tool covers nineteen manufacturing processes and twenty manufacturing regions. The rate library holds 328 materials, dated June 2026. And it runs offline on a laptop, with no internet and no admin rights. Below that, the four boxes are the four jobs it does: estimate, understand the part, support the negotiation, and learn from real prices. The bottom line is honest. It gives us one consistent number that anyone can check. But I have not yet compared its answers with a price JLR actually paid. That is the next step, and it is what the pilot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the next thirty minutes, and a one-paragraph 'why' before we dive in. Let me set the framing carefully, because it matters: we already do proper should-costing. We have an internal tool that covers every commodity with a rigorous, bottom-up method — that's a real asset and it works. The one thing it asks of us is a lot of manual effort: selecting every input and reading the geometry off the CAD and drawings by hand, part by part. So this isn't a story about a broken system — it's about taking that same trusted method and automating the hands-on parts with AI. I'll start there, then lay out the whole platform on one slide, go deep on CAD-to-Cost where the automation is most visible, tour the other capabilities, and close on trust, security and how we'd roll it out alongside what we have today. Jump in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up front: we're not fixing something broken. Our internal should-cost tool is genuinely good — it's thorough, it's bottom-up, and it covers every commodity. The team has built real rigour into it. The honest observation is simply that it's hands-on: for every part we select the material, the process, the machine, and we key in the geometry and tolerances by hand from the 3D CAD and the drawings — the classic should-costing method. And when economics move, someone updates the rates manually. CostVision doesn't throw any of that away. It keeps the exact same defensible method — and automates the hands-on parts with AI: it reads the CAD and the drawings for us, it suggests the material and process with a confidence score we confirm, and it keeps the rates current on its own. So the shift isn't 'old versus new' — it's the same trusted should-cost, with the manual effort taken out, so our experts spend their time on judgement and decisions instead of data entry. That's the whole story of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tool on one slide. Read it left to right. On the left are the inputs: a CAD file, or the inputs an engineer types, plus a flat pattern for sheet metal, a supplier quote, and the country and volume. Next, the tool measures the part. The geometry engine reads volume, weight, walls, holes and features. Where the geometry cannot decide something, like the process route or the material family, the tool asks the engineer. It does not guess. Then the engines price it, using the rate tables. That column is pure arithmetic. On the right are the outputs: the eight-bucket cost, an uncertainty band, a negotiation pack, the exports and a carbon figure. The rule at the bottom is the one to hold on to. AI never sets a price, and in the JLR build it is not running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what CostVision actually does, this is my answer: four jobs. First, it estimates. That is CAD to Cost, PCB fabrication and assembly, nineteen manufacturing processes, feature-based machining, plus an assembly roll-up and a cost model for automotive software. Second, it helps us understand the part: a 3D viewer, a table of measured features, design-for-manufacture findings, a carbon figure, and a self-audit on every result. Third, it supports the negotiation: a supplier quote compared bucket by bucket, twenty regions, what-if scenarios, and an uncertainty band. Fourth, it learns and stays governed. It keeps saved cases, finds similar parts, and corrects its band once real prices are logged. Everything on this map works with AI switched off, which is how it runs at JLR.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heart of the demo — CAD-to-Cost — and this is exactly where the manual effort lives today. In our current method, an engineer opens the CAD, measures it, reads the tolerances off the drawing, and keys all of that in before selecting a process. CostVision does those steps for us. The promise is simple: drop in a 3D model, get a should-cost. But how it does that is what earns trust. Four moves, left to right. First, it reads the REAL geometry — we run a genuine geometry kernel that measures volume, bounding box and surface area. That's measured ground truth, not the AI guessing. Second, it recognises the manufacturing features — the holes, pockets, slots, bends — and turns them into actual machining operations. Third, the AI proposes a material and a process route, each with a confidence score, and we can override. Fourth, a deterministic engine prices it and explains the number with a confidence band and design-for-manufacture guidance. And note the bottom line — a 3D model alone is enough to get a defensible number, and if we attach the 2D drawing it reads the tolerances and GD&amp;T to sharpen the estimate further. The more we give it, the tighter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CAD to Cost from end to end, left to right. You upload a STEP, IGES or STL file, and for sheet metal you can add a DXF flat pattern. The tool measures the part: volume, weight, walls and faces. It finds the features. Then it asks. Where the geometry cannot decide the process route or the material family, it puts the question to the engineer. Rules turn the answers into cost inputs, and the engine prices them in eight buckets. Thirteen processes can be costed straight from CAD this way. Before the result appears, the tool checks the inputs against the measured geometry. For example, a near-net casting or forging cannot carry a full machining cycle, so that time is capped. The honest limit: an STL has no feature table, so a machined STL needs a typed cycle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AI intelligence layered on top of the geometry — the part that makes engineers lean in. Start top-left: a real interactive 3D viewer in the browser — rotate, section, measure, and the highlights link a face on the model to a line in the cost. Underneath that: B-rep face intelligence. This matters — it understands the boundary representation, the actual faces and edges and how they relate, not just a mesh of triangles. That's what lets it recognise a pocket as a pocket. The feature table lists every detected feature and feeds it straight into the costing as a real operation — no manual keying. Feature-based machining then costs each secondary operation per feature and per commodity. The AI suggests material and process with a confidence score we can override. And the manufacturability score tells the designer what's driving cost — so this isn't just an estimate, it's design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the question senior teams always ask about AI, so let me be precise about how we earn it — it's engineered in layers. One: measured ground truth — the geometry kernel measures the part, so the AI is checked against physics, not trusted. Two: bounded sanity checks — if the AI's volume drifts more than twenty-five percent from the measured value it's flagged, over fifty percent it's rejected, and weight is cross-checked against density. Three, and this is the one I love telling engineers: the money maths is deterministic, and it reproduces a hand-calculated benchmark part — twenty-three pounds twenty-seven — to within one-hundredth of a percent. That's not a claim, it's a unit test. Four: provenance — every figure traces to its source with a confidence grade. Five: a confidence band, never a false single number. Six: it's been demonstrated on real automotive parts through the live system. and I'll be straight — we don't quote a single headline 'X percent accurate on CAD' number, because honestly that depends on our parts and our rates, and we'd rather prove it on our data in the pilot. The box on the right is the takeaway: the AI can suggest, but it can never quietly decide the number. A wrong guess gets flagged, not baked into a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Electronics go through the same engine. At JLR you type in the board spec: size, layers, copper, finish and vias. You enter the BOM, with a quantity and unit price on each line. You add the assembly details, like SMT placements and through-hole joints, and pick the region and volume. The tool then prices the bare board, the parts and the assembly. One point is worth knowing. The bare board is a bought-in price, taken from fabricators' price tables. So the tool no longer adds overhead and margin on top of it. That fix took a default board from £100.44 down to £83.08. There is also a screen that reads a BOM from a photo of the board. That one uses AI, so it is switched off and hidden in the JLR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Breadth matters. A tool that only does one kind of part will not change how a team works. CostVision covers nineteen manufacturing processes. Casting, including high-pressure die-casting, sand, gravity and investment. Cast and machine. Machining, forging and gear cutting. Pressed sheet metal and sheet-metal fabrication. The moulding family: injection, blow, thermoforming and rotational. Then rubber, composites, extrusion, wiring harness, PCB fabrication, PCB assembly, painting and body-in-white assembly. On top of those there is an assembly roll-up and a cost model for automotive software. The key point is on the bottom bar. Every one of them uses the same eight-bucket cost stack, so every process is costed the same way. And every part can be priced in twenty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engine behind 'the same part, priced anywhere.' It's four deterministic steps, no AI in the money. Step one: we take the base part cost — the eight-bucket breakdown, whether it came from CAD or a commodity form. Step two: we multiply through each region's real rate library — labour by trade, energy, material factors, machine rate, overhead, and the exchange rate. Step three: we add the landed pieces — packaging, logistics, duty, shipping. Step four: out comes a should-cost for every country, ranked, both ex-works and landed. And notice what we actually have to give it, bottom-left: the part once, the regions we care about, and a volume. Everything on the bottom-right is what the model factors in for us, per region — and on the next slide we'll see those exact numbers, because transparency is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builds confidence, so let me slow right down. Everything the model uses is on the table — these are the real, current rates, not a mystery multiplier. Read across: a skilled operator is twenty-six pounds an hour in the UK, forty in Germany, but under eight in China and under four in Vietnam. Foundry labour, industrial electricity, and then the multipliers that capture machine cost, overhead structure and logistics distance. Germany's overhead runs ten percent above the UK; China's is twenty-five percent below; but China's logistics multiplier is one-point-four-five because the part has to travel. This is ten of the twenty regions — behind them sit material factors, exchange rates, gas, packaging and duty. The key message: it's one versioned library, used by every costing, fully auditable. When someone challenges a China number, we can show them exactly which rate drove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anyone who asks whose rates these are. They can be ours. The tool ships with a built-in library, version 2.1.0, dated 16 June 2026. It holds 328 materials, 178 machines and 42 labour grades. But we can load our own rates as one Excel workbook, with six tabs: materials, machines, labour, energy, exchange rates, and overhead and margin. Only an admin can upload, switch between our rates and the built-in set, or reset. Everyone else costs on whatever is active, and a badge says which. The server checks every row and rejects bad cells with the row number, so the library cannot be quietly corrupted. The library is versioned, and each costing records which rate book it used. There is also a JLR Rate Converter workbook that turns JLR's own rate card into this format, with no macros.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it concrete with one part, run through the engine. It is a 1.2 kilo aluminium die-casting in ADC12, two cavities, on an 800-tonne machine. The inputs are on the bottom bar, so anyone can check them. On the left is the UK cost stack. The total is £6.96 a part, and material is 63 percent of it. That tells a buyer this is a material game, not a labour game. On the right is the same part, ex-works, across eight regions. China comes out about 23 percent below the UK. Once shipping and duty are added, the gap narrows to about 12 percent. The tool shows both, so we do not chase a saving that freight eats. Please treat this as a worked example of the method. It is the engine's answer for these inputs, not a price anyone has quoted or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 should-cost turns into a conversation with a supplier. We start with our should-cost. The tool builds an Excel quote template for that exact part, and the supplier fills it in, or we enter their quote line by line. The tool then compares the two, bucket by bucket, and shows which driver causes each gap: material, cycle time, rate or margin. Out comes a negotiation pack, as a PDF or PowerPoint, with the gap table, levers ranked by pounds a year, and questions to send the supplier. I have taken the old savings figures off this slide on purpose. They were illustrative, and I do not want to quote a saving we have not made. The real numbers will come from running this on real JLR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tool gets better with use, and none of it needs AI. It remembers: each saved analysis becomes a case. It compares: a new part is matched to similar past parts, and it shows why they matched. It corrects: when we log a real quote or purchase-order price, the tool records it. After three actuals for a process, the uncertainty band is corrected by real data instead of assumptions. And it checks: a background job compares logged prices with the should-cost and flags big gaps, and estimates that have gone stale. I have removed the old headline numbers from this slide. The honest number today is in the middle box. No estimate has yet been compared with a price JLR paid. That is exactly what logging actuals in the pilot will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newer capabilities that lift this above a normal estimator. Conformal confidence bands — instead of asserting a precision, it states an observed fact with a statistical guarantee: ninety percent of our real quotes landed within plus-or-minus six-and-a-half percent. That's evidence a buyer can defend. The causal coach knows WHY a part costs what it does and writes the negotiating sentence for us — every one percent move in aluminium shifts the price by eleven pence. The what-if engine lets us move a commodity and watch the price recompute, for one part or the whole portfolio, so sourcing gets ahead of the market. And carbon co-costing puts a CO2 figure next to every pound, which customers increasingly demand. Each of these turns a number into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tool puts a number on a part, the fair question is: can I trust it? Here is my honest answer, in four parts. First, it is traceable. Every number is arithmetic you can follow back to a rate, and AI never sets a price. Second, what is proven. The engine matches a hand calculation to under 0.01 percent on a reference bracket at £23.27. Six real production parts, including a steering knuckle and a gear, are pinned, so any change that moves them fails the build. Third, what is not proven. No estimate has yet been compared with a price JLR paid. Until then, every result carries an uncertainty band. Fourth, it is tested: 2,438 automated tests, plus browser tests on every run. So the arithmetic is sound. Accuracy against real prices is the part we still have to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slide answered ‘can I trust the number today.’ This one answers the harder question a board should ask: ‘will it still be trustworthy after six months of changes.’ The answer is yes, because trust is wired into the build itself. Four guardrails. One — our golden rule, that AI never sets a price, is no longer just a principle we promise; it’s a machine check. If anyone ever wires an AI dependency into the deterministic cost engine, the build fails automatically. It can’t be bypassed. Two — accuracy is measured on every build: the CAD feature detection is scored against hand-verified reference parts, and a minimum-accuracy gate stops a regression from shipping; it even surfaced a real edge case on day one. Three — every change is guarded by nine hundred and forty-four automated tests plus visual screenshots of the key screens, so a broken layout or a logic slip fails here, not in front of a customer. Four — every result carries a confidence band, P10 to P90, so we’re always honest about the range. The bottom line for this room: the number is defensible by construction, and it stays defensible as the tool grows — quality is enforced on every commit, not reviewed in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spend a moment on the effort behind this, because it speaks to how seriously we should take it as an asset. This is not a prototype, and it is emphatically not a thin wrapper around a chatbot. It's about seventy-five thousand lines of custom code — of which roughly fifty-eight thousand is core product logic — backed by just over a thousand automated tests across eighty-six suites. I'll be transparent about how it was built, because it's actually part of the story: it was engineered in-house and accelerated with AI-assisted development — which is fitting, given what the tool itself does. The design, the domain knowledge, the cost models and the validation are ours; AI helped us build it faster. The chart shows where the code lives: a large front-end and 3D viewer, a sixteen-thousand-line deterministic cost engine that is the real IP — the auditable money maths for nineteen commodities and twenty regions — a full backend API, and a genuine Python geometry kernel running OCCT that reads STEP, IGES and STL files. Five languages and runtimes working as one integrated system. Two takeaways. First, the quality is engineered in — nearly ten thousand lines of tests mean it doesn't silently regress. Second, the strategic point: this depth of engineering, and the cost knowledge baked into it, is precisely why the intelligence is a durable, proprietary asset we own — not a subscription someone else can switch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for the business? Four things, and I will be careful not to promise more than we have measured. First, a first number sooner. An engineer can get a should-cost from a CAD file or a typed form without building a spreadsheet. I have not timed that against today's process, so we will measure it in the pilot. Second, better negotiations. A line-by-line should-cost lets us challenge a quote by bucket and driver, not just argue about the total. Third, consistency. One method and one rate library, so two engineers get the same answer from the same inputs. Fourth, our own data. Saved cases and logged prices stay on our laptops, and the more real prices we log, the tighter the bands become. The savings themselves are still to be proven on real JLR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get from a demo to business-as-usual? A staged, low-risk blueprint — and importantly, it runs alongside our current tool, not instead of it, until we're confident. Phase one, the pilot — six weeks: stand it up on-premise, seed the memory with our historic quotes, cost twenty or thirty live parts, and baseline the accuracy against both our current method and real actuals so we prove it on our own data. Phase two, scale — roll it out to costing and sourcing, make 'Log Actual £' a routine habit, wire it into the RFQ workflow, and review the agent's findings monthly. Phase three, embed — negotiation packs become standard, portfolio what-if and risk go live, we connect real market feeds, and we track the KPI that matters: pounds saved and cycle-time cut. And I'll be honest about the one dependency: the intelligence starts empty and grows with use — which is exactly why Phase one seeds it, so it starts smart, not from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room like this, security isn't a footnote — so here it is head-on, and precisely. CostVision runs on-premise: the knowledge base and every analysis are stored on our own servers, and no vendor ever retains our data. Let me be exact about what does leave the building, because someone will ask: the only thing that goes out is the AI inference request itself — the prompt for a given analysis — and it goes through our own server to the model endpoint, where it is not retained. For the most sensitive programmes we can route that privately or run fully air-gapped, and then nothing leaves at all — the deterministic core still works. The key lives server-side; the browser never sees it. Every number carries provenance and is logged, so it's auditable. And critically, the accumulated intelligence is OUR IP — it doesn't walk out with a subscription. Our data, our infrastructure, our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my runbook for the live demo — and if I'm short on time I'll do steps one, three and six. I'll start with CAD-to-Cost: upload a STEP model, show the 3D viewer and the feature table so we see it's reading real geometry, then hit Calculate — the should-cost and confidence band come back in under a minute. Then I'll attach a 2D drawing and re-run, so we watch the tolerances tighten the estimate live. Step three, I'll switch regions and show the twenty-country spread in one click — China against Germany. Then something different — I'll drop a photo of a circuit board and watch a full BOM build itself. Step five, I'll paste in a supplier quote and generate the negotiation pack. And I'll finish on the agent's findings panel — half a million pounds it found on its own. That's the note to end on. The checklist on the right is what I've got staged so nothing stalls — including cached runs as a fallback if the network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bring it together. A CAD file or typed inputs go in, and a traceable should-cost comes out. It is tested, it runs offline on a laptop with no admin rights, and the AI is switched off at JLR. What it does not have yet is proof against real JLR prices. So my ask is three small decisions. One: approve a six-week pilot on JLR laptops, where we log real quotes and the prices we actually paid. Two: pick a first part family, ideally CAD parts we already have prices for, so we can compare straight away. Three: at the end, review the estimates against the prices paid. That review is how we prove accuracy, or find out where the tool needs work. Thank you. I am happy to take questions, or to open the tool and cost one of our parts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every engineer asks first: where do the numbers come from? The geometry engine, OpenCASCADE, measures the part. Volume, weight, size and wall thickness. On STEP and IGES files it also finds the holes, pockets, slots and bosses, and each one becomes a machining step with its own cost line. Now the important part. When the geometry cannot decide something, such as the process route or the material family, the tool asks the engineer. An STL file has no feature table, so a machined STL is blocked until someone types a cycle time. For sheet metal you can add a DXF flat pattern, and the tool uses the real blank. Any process can also be costed from a typed form. Then a self-audit checks the result. None of this uses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txBody>
          <a:bodyPr/>
          <a:p/>
        </p:txBody>
      </p:sp>
      <p:pic>
        <p:nvPicPr>
          <p:cNvPr id="3" name="Image 0" descr="/tmp/claude-0/-home-user-leamington-marathi/8bf32d1a-7485-5bd6-9947-7843ee6c5644/scratchpad/art/hero-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56000"/>
            </a:srgbClr>
          </a:solidFill>
          <a:ln/>
        </p:spPr>
        <p:txBody>
          <a:bodyPr/>
          <a:p/>
        </p:txBody>
      </p:sp>
      <p:sp>
        <p:nvSpPr>
          <p:cNvPr id="5" name="Shape 2"/>
          <p:cNvSpPr/>
          <p:nvPr/>
        </p:nvSpPr>
        <p:spPr>
          <a:xfrm>
            <a:off x="0" y="4572000"/>
            <a:ext cx="12191695" cy="2286000"/>
          </a:xfrm>
          <a:prstGeom prst="rect">
            <a:avLst/>
          </a:prstGeom>
          <a:solidFill>
            <a:srgbClr val="061024">
              <a:alpha val="70000"/>
            </a:srgbClr>
          </a:solidFill>
          <a:ln/>
        </p:spPr>
        <p:txBody>
          <a:bodyPr/>
          <a:p/>
        </p:txBody>
      </p:sp>
      <p:sp>
        <p:nvSpPr>
          <p:cNvPr id="6" name="Shape 3"/>
          <p:cNvSpPr/>
          <p:nvPr/>
        </p:nvSpPr>
        <p:spPr>
          <a:xfrm>
            <a:off x="0" y="0"/>
            <a:ext cx="146304" cy="6858000"/>
          </a:xfrm>
          <a:prstGeom prst="rect">
            <a:avLst/>
          </a:prstGeom>
          <a:solidFill>
            <a:srgbClr val="4F46E5"/>
          </a:solidFill>
          <a:ln/>
        </p:spPr>
        <p:txBody>
          <a:bodyPr/>
          <a:p/>
        </p:txBody>
      </p:sp>
      <p:sp>
        <p:nvSpPr>
          <p:cNvPr id="7" name="Shape 4"/>
          <p:cNvSpPr/>
          <p:nvPr/>
        </p:nvSpPr>
        <p:spPr>
          <a:xfrm>
            <a:off x="0" y="6729984"/>
            <a:ext cx="12191695" cy="128016"/>
          </a:xfrm>
          <a:prstGeom prst="rect">
            <a:avLst/>
          </a:prstGeom>
          <a:solidFill>
            <a:srgbClr val="2563EB"/>
          </a:solidFill>
          <a:ln/>
        </p:spPr>
        <p:txBody>
          <a:bodyPr/>
          <a:p/>
        </p:txBody>
      </p:sp>
      <p:sp>
        <p:nvSpPr>
          <p:cNvPr id="8" name="Shape 5"/>
          <p:cNvSpPr/>
          <p:nvPr/>
        </p:nvSpPr>
        <p:spPr>
          <a:xfrm>
            <a:off x="822960" y="731520"/>
            <a:ext cx="566928" cy="566928"/>
          </a:xfrm>
          <a:prstGeom prst="roundRect">
            <a:avLst>
              <a:gd name="adj" fmla="val 22581"/>
            </a:avLst>
          </a:prstGeom>
          <a:solidFill>
            <a:srgbClr val="4F46E5"/>
          </a:solidFill>
          <a:ln/>
        </p:spPr>
        <p:txBody>
          <a:bodyPr/>
          <a:p/>
        </p:txBody>
      </p:sp>
      <p:sp>
        <p:nvSpPr>
          <p:cNvPr id="9" name="Text 6"/>
          <p:cNvSpPr/>
          <p:nvPr/>
        </p:nvSpPr>
        <p:spPr>
          <a:xfrm>
            <a:off x="822960" y="73152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cv</a:t>
            </a:r>
            <a:endParaRPr lang="en-US" sz="2400" dirty="0"/>
          </a:p>
        </p:txBody>
      </p:sp>
      <p:sp>
        <p:nvSpPr>
          <p:cNvPr id="10" name="Text 7"/>
          <p:cNvSpPr/>
          <p:nvPr/>
        </p:nvSpPr>
        <p:spPr>
          <a:xfrm>
            <a:off x="1508760" y="777240"/>
            <a:ext cx="5486400" cy="4572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CostVision</a:t>
            </a:r>
            <a:endParaRPr lang="en-US" sz="2000" dirty="0"/>
          </a:p>
        </p:txBody>
      </p:sp>
      <p:sp>
        <p:nvSpPr>
          <p:cNvPr id="11" name="Text 8"/>
          <p:cNvSpPr/>
          <p:nvPr/>
        </p:nvSpPr>
        <p:spPr>
          <a:xfrm>
            <a:off x="1527048" y="1197864"/>
            <a:ext cx="5486400" cy="274320"/>
          </a:xfrm>
          <a:prstGeom prst="rect">
            <a:avLst/>
          </a:prstGeom>
          <a:noFill/>
          <a:ln/>
        </p:spPr>
        <p:txBody>
          <a:bodyPr wrap="square" lIns="0" tIns="0" rIns="0" bIns="0" rtlCol="0" anchor="t"/>
          <a:lstStyle/>
          <a:p>
            <a:pPr indent="0" marL="0">
              <a:buNone/>
            </a:pPr>
            <a:r>
              <a:rPr lang="en-US" sz="950" spc="250" kern="0" dirty="0">
                <a:solidFill>
                  <a:srgbClr val="A9BEDC"/>
                </a:solidFill>
                <a:latin typeface="Calibri" pitchFamily="34" charset="0"/>
                <a:ea typeface="Calibri" pitchFamily="34" charset="-122"/>
                <a:cs typeface="Calibri" pitchFamily="34" charset="-120"/>
              </a:rPr>
              <a:t>SHOULD-COST  INTELLIGENCE</a:t>
            </a:r>
            <a:endParaRPr lang="en-US" sz="950" dirty="0"/>
          </a:p>
        </p:txBody>
      </p:sp>
      <p:sp>
        <p:nvSpPr>
          <p:cNvPr id="12" name="Text 9"/>
          <p:cNvSpPr/>
          <p:nvPr/>
        </p:nvSpPr>
        <p:spPr>
          <a:xfrm>
            <a:off x="822960" y="2286000"/>
            <a:ext cx="10972800" cy="914400"/>
          </a:xfrm>
          <a:prstGeom prst="rect">
            <a:avLst/>
          </a:prstGeom>
          <a:noFill/>
          <a:ln/>
        </p:spPr>
        <p:txBody>
          <a:bodyPr wrap="square" lIns="0" tIns="0" rIns="0" bIns="0" rtlCol="0" anchor="t"/>
          <a:lstStyle/>
          <a:p>
            <a:pPr indent="0" marL="0">
              <a:buNone/>
            </a:pPr>
            <a:r>
              <a:rPr lang="en-US" sz="5200" b="1" dirty="0">
                <a:solidFill>
                  <a:srgbClr val="FFFFFF"/>
                </a:solidFill>
                <a:latin typeface="Calibri" pitchFamily="34" charset="0"/>
                <a:ea typeface="Calibri" pitchFamily="34" charset="-122"/>
                <a:cs typeface="Calibri" pitchFamily="34" charset="-120"/>
              </a:rPr>
              <a:t>CostVision</a:t>
            </a:r>
            <a:endParaRPr lang="en-US" sz="5200" dirty="0"/>
          </a:p>
        </p:txBody>
      </p:sp>
      <p:sp>
        <p:nvSpPr>
          <p:cNvPr id="13" name="Text 10"/>
          <p:cNvSpPr/>
          <p:nvPr/>
        </p:nvSpPr>
        <p:spPr>
          <a:xfrm>
            <a:off x="859536" y="3310128"/>
            <a:ext cx="10972800" cy="548640"/>
          </a:xfrm>
          <a:prstGeom prst="rect">
            <a:avLst/>
          </a:prstGeom>
          <a:noFill/>
          <a:ln/>
        </p:spPr>
        <p:txBody>
          <a:bodyPr wrap="square" lIns="0" tIns="0" rIns="0" bIns="0" rtlCol="0" anchor="t"/>
          <a:lstStyle/>
          <a:p>
            <a:pPr indent="0" marL="0">
              <a:buNone/>
            </a:pPr>
            <a:r>
              <a:rPr lang="en-US" sz="2300" dirty="0">
                <a:solidFill>
                  <a:srgbClr val="CFE0F5"/>
                </a:solidFill>
                <a:latin typeface="Calibri" pitchFamily="34" charset="0"/>
                <a:ea typeface="Calibri" pitchFamily="34" charset="-122"/>
                <a:cs typeface="Calibri" pitchFamily="34" charset="-120"/>
              </a:rPr>
              <a:t>What a part should cost, traced line by line</a:t>
            </a:r>
            <a:endParaRPr lang="en-US" sz="2300" dirty="0"/>
          </a:p>
        </p:txBody>
      </p:sp>
      <p:sp>
        <p:nvSpPr>
          <p:cNvPr id="14" name="Text 11"/>
          <p:cNvSpPr/>
          <p:nvPr/>
        </p:nvSpPr>
        <p:spPr>
          <a:xfrm>
            <a:off x="859536" y="3977640"/>
            <a:ext cx="10607040" cy="822960"/>
          </a:xfrm>
          <a:prstGeom prst="rect">
            <a:avLst/>
          </a:prstGeom>
          <a:noFill/>
          <a:ln/>
        </p:spPr>
        <p:txBody>
          <a:bodyPr wrap="square" lIns="0" tIns="0" rIns="0" bIns="0" rtlCol="0" anchor="t"/>
          <a:lstStyle/>
          <a:p>
            <a:pPr indent="0" marL="0">
              <a:lnSpc>
                <a:spcPct val="120000"/>
              </a:lnSpc>
              <a:buNone/>
            </a:pPr>
            <a:r>
              <a:rPr lang="en-US" sz="1500" dirty="0">
                <a:solidFill>
                  <a:srgbClr val="AFC4E2"/>
                </a:solidFill>
                <a:latin typeface="Calibri" pitchFamily="34" charset="0"/>
                <a:ea typeface="Calibri" pitchFamily="34" charset="-122"/>
                <a:cs typeface="Calibri" pitchFamily="34" charset="-120"/>
              </a:rPr>
              <a:t>From a CAD file or the inputs you type, to a should-cost in 8 buckets,</a:t>
            </a:r>
            <a:endParaRPr lang="en-US" sz="1500" dirty="0"/>
          </a:p>
          <a:p>
            <a:pPr indent="0" marL="0">
              <a:lnSpc>
                <a:spcPct val="120000"/>
              </a:lnSpc>
              <a:buNone/>
            </a:pPr>
            <a:r>
              <a:rPr lang="en-US" sz="1500" dirty="0">
                <a:solidFill>
                  <a:srgbClr val="AFC4E2"/>
                </a:solidFill>
                <a:latin typeface="Calibri" pitchFamily="34" charset="0"/>
                <a:ea typeface="Calibri" pitchFamily="34" charset="-122"/>
                <a:cs typeface="Calibri" pitchFamily="34" charset="-120"/>
              </a:rPr>
              <a:t>priced with real 2026 rates. Every number traces back to a rate.</a:t>
            </a:r>
            <a:endParaRPr lang="en-US" sz="1500" dirty="0"/>
          </a:p>
        </p:txBody>
      </p:sp>
      <p:sp>
        <p:nvSpPr>
          <p:cNvPr id="15" name="Shape 12"/>
          <p:cNvSpPr/>
          <p:nvPr/>
        </p:nvSpPr>
        <p:spPr>
          <a:xfrm>
            <a:off x="822960" y="5029200"/>
            <a:ext cx="2542032" cy="457200"/>
          </a:xfrm>
          <a:prstGeom prst="roundRect">
            <a:avLst>
              <a:gd name="adj" fmla="val 50000"/>
            </a:avLst>
          </a:prstGeom>
          <a:solidFill>
            <a:srgbClr val="FFFFFF">
              <a:alpha val="92000"/>
            </a:srgbClr>
          </a:solidFill>
          <a:ln/>
        </p:spPr>
        <p:txBody>
          <a:bodyPr/>
          <a:p/>
        </p:txBody>
      </p:sp>
      <p:sp>
        <p:nvSpPr>
          <p:cNvPr id="16" name="Shape 13"/>
          <p:cNvSpPr/>
          <p:nvPr/>
        </p:nvSpPr>
        <p:spPr>
          <a:xfrm>
            <a:off x="1024128" y="5166360"/>
            <a:ext cx="182880" cy="182880"/>
          </a:xfrm>
          <a:prstGeom prst="ellipse">
            <a:avLst/>
          </a:prstGeom>
          <a:solidFill>
            <a:srgbClr val="2E90FA"/>
          </a:solidFill>
          <a:ln/>
        </p:spPr>
        <p:txBody>
          <a:bodyPr/>
          <a:p/>
        </p:txBody>
      </p:sp>
      <p:sp>
        <p:nvSpPr>
          <p:cNvPr id="17" name="Text 14"/>
          <p:cNvSpPr/>
          <p:nvPr/>
        </p:nvSpPr>
        <p:spPr>
          <a:xfrm>
            <a:off x="1280160" y="5029200"/>
            <a:ext cx="2057400" cy="457200"/>
          </a:xfrm>
          <a:prstGeom prst="rect">
            <a:avLst/>
          </a:prstGeom>
          <a:noFill/>
          <a:ln/>
        </p:spPr>
        <p:txBody>
          <a:bodyPr wrap="square" lIns="0" tIns="0" rIns="0" bIns="0" rtlCol="0" anchor="ctr"/>
          <a:lstStyle/>
          <a:p>
            <a:pPr indent="0" marL="0">
              <a:buNone/>
            </a:pPr>
            <a:r>
              <a:rPr lang="en-US" sz="1200" b="1" dirty="0">
                <a:solidFill>
                  <a:srgbClr val="0B1E3B"/>
                </a:solidFill>
                <a:latin typeface="Calibri" pitchFamily="34" charset="0"/>
                <a:ea typeface="Calibri" pitchFamily="34" charset="-122"/>
                <a:cs typeface="Calibri" pitchFamily="34" charset="-120"/>
              </a:rPr>
              <a:t>CAD → Cost</a:t>
            </a:r>
            <a:endParaRPr lang="en-US" sz="1200" dirty="0"/>
          </a:p>
        </p:txBody>
      </p:sp>
      <p:sp>
        <p:nvSpPr>
          <p:cNvPr id="18" name="Shape 15"/>
          <p:cNvSpPr/>
          <p:nvPr/>
        </p:nvSpPr>
        <p:spPr>
          <a:xfrm>
            <a:off x="3566160" y="5029200"/>
            <a:ext cx="2542032" cy="457200"/>
          </a:xfrm>
          <a:prstGeom prst="roundRect">
            <a:avLst>
              <a:gd name="adj" fmla="val 50000"/>
            </a:avLst>
          </a:prstGeom>
          <a:solidFill>
            <a:srgbClr val="FFFFFF">
              <a:alpha val="92000"/>
            </a:srgbClr>
          </a:solidFill>
          <a:ln/>
        </p:spPr>
        <p:txBody>
          <a:bodyPr/>
          <a:p/>
        </p:txBody>
      </p:sp>
      <p:sp>
        <p:nvSpPr>
          <p:cNvPr id="19" name="Shape 16"/>
          <p:cNvSpPr/>
          <p:nvPr/>
        </p:nvSpPr>
        <p:spPr>
          <a:xfrm>
            <a:off x="3767328" y="5166360"/>
            <a:ext cx="182880" cy="182880"/>
          </a:xfrm>
          <a:prstGeom prst="ellipse">
            <a:avLst/>
          </a:prstGeom>
          <a:solidFill>
            <a:srgbClr val="0E93B0"/>
          </a:solidFill>
          <a:ln/>
        </p:spPr>
        <p:txBody>
          <a:bodyPr/>
          <a:p/>
        </p:txBody>
      </p:sp>
      <p:sp>
        <p:nvSpPr>
          <p:cNvPr id="20" name="Text 17"/>
          <p:cNvSpPr/>
          <p:nvPr/>
        </p:nvSpPr>
        <p:spPr>
          <a:xfrm>
            <a:off x="4023360" y="5029200"/>
            <a:ext cx="2057400" cy="457200"/>
          </a:xfrm>
          <a:prstGeom prst="rect">
            <a:avLst/>
          </a:prstGeom>
          <a:noFill/>
          <a:ln/>
        </p:spPr>
        <p:txBody>
          <a:bodyPr wrap="square" lIns="0" tIns="0" rIns="0" bIns="0" rtlCol="0" anchor="ctr"/>
          <a:lstStyle/>
          <a:p>
            <a:pPr indent="0" marL="0">
              <a:buNone/>
            </a:pPr>
            <a:r>
              <a:rPr lang="en-US" sz="1200" b="1" dirty="0">
                <a:solidFill>
                  <a:srgbClr val="0B1E3B"/>
                </a:solidFill>
                <a:latin typeface="Calibri" pitchFamily="34" charset="0"/>
                <a:ea typeface="Calibri" pitchFamily="34" charset="-122"/>
                <a:cs typeface="Calibri" pitchFamily="34" charset="-120"/>
              </a:rPr>
              <a:t>PCB &amp; PCBA</a:t>
            </a:r>
            <a:endParaRPr lang="en-US" sz="1200" dirty="0"/>
          </a:p>
        </p:txBody>
      </p:sp>
      <p:sp>
        <p:nvSpPr>
          <p:cNvPr id="21" name="Shape 18"/>
          <p:cNvSpPr/>
          <p:nvPr/>
        </p:nvSpPr>
        <p:spPr>
          <a:xfrm>
            <a:off x="6309360" y="5029200"/>
            <a:ext cx="2542032" cy="457200"/>
          </a:xfrm>
          <a:prstGeom prst="roundRect">
            <a:avLst>
              <a:gd name="adj" fmla="val 50000"/>
            </a:avLst>
          </a:prstGeom>
          <a:solidFill>
            <a:srgbClr val="FFFFFF">
              <a:alpha val="92000"/>
            </a:srgbClr>
          </a:solidFill>
          <a:ln/>
        </p:spPr>
        <p:txBody>
          <a:bodyPr/>
          <a:p/>
        </p:txBody>
      </p:sp>
      <p:sp>
        <p:nvSpPr>
          <p:cNvPr id="22" name="Shape 19"/>
          <p:cNvSpPr/>
          <p:nvPr/>
        </p:nvSpPr>
        <p:spPr>
          <a:xfrm>
            <a:off x="6510528" y="5166360"/>
            <a:ext cx="182880" cy="182880"/>
          </a:xfrm>
          <a:prstGeom prst="ellipse">
            <a:avLst/>
          </a:prstGeom>
          <a:solidFill>
            <a:srgbClr val="E0900C"/>
          </a:solidFill>
          <a:ln/>
        </p:spPr>
        <p:txBody>
          <a:bodyPr/>
          <a:p/>
        </p:txBody>
      </p:sp>
      <p:sp>
        <p:nvSpPr>
          <p:cNvPr id="23" name="Text 20"/>
          <p:cNvSpPr/>
          <p:nvPr/>
        </p:nvSpPr>
        <p:spPr>
          <a:xfrm>
            <a:off x="6766560" y="5029200"/>
            <a:ext cx="2057400" cy="457200"/>
          </a:xfrm>
          <a:prstGeom prst="rect">
            <a:avLst/>
          </a:prstGeom>
          <a:noFill/>
          <a:ln/>
        </p:spPr>
        <p:txBody>
          <a:bodyPr wrap="square" lIns="0" tIns="0" rIns="0" bIns="0" rtlCol="0" anchor="ctr"/>
          <a:lstStyle/>
          <a:p>
            <a:pPr indent="0" marL="0">
              <a:buNone/>
            </a:pPr>
            <a:r>
              <a:rPr lang="en-US" sz="1200" b="1" dirty="0">
                <a:solidFill>
                  <a:srgbClr val="0B1E3B"/>
                </a:solidFill>
                <a:latin typeface="Calibri" pitchFamily="34" charset="0"/>
                <a:ea typeface="Calibri" pitchFamily="34" charset="-122"/>
                <a:cs typeface="Calibri" pitchFamily="34" charset="-120"/>
              </a:rPr>
              <a:t>19 Processes</a:t>
            </a:r>
            <a:endParaRPr lang="en-US" sz="1200" dirty="0"/>
          </a:p>
        </p:txBody>
      </p:sp>
      <p:sp>
        <p:nvSpPr>
          <p:cNvPr id="24" name="Shape 21"/>
          <p:cNvSpPr/>
          <p:nvPr/>
        </p:nvSpPr>
        <p:spPr>
          <a:xfrm>
            <a:off x="9052560" y="5029200"/>
            <a:ext cx="2542032" cy="457200"/>
          </a:xfrm>
          <a:prstGeom prst="roundRect">
            <a:avLst>
              <a:gd name="adj" fmla="val 50000"/>
            </a:avLst>
          </a:prstGeom>
          <a:solidFill>
            <a:srgbClr val="FFFFFF">
              <a:alpha val="92000"/>
            </a:srgbClr>
          </a:solidFill>
          <a:ln/>
        </p:spPr>
        <p:txBody>
          <a:bodyPr/>
          <a:p/>
        </p:txBody>
      </p:sp>
      <p:sp>
        <p:nvSpPr>
          <p:cNvPr id="25" name="Shape 22"/>
          <p:cNvSpPr/>
          <p:nvPr/>
        </p:nvSpPr>
        <p:spPr>
          <a:xfrm>
            <a:off x="9253728" y="5166360"/>
            <a:ext cx="182880" cy="182880"/>
          </a:xfrm>
          <a:prstGeom prst="ellipse">
            <a:avLst/>
          </a:prstGeom>
          <a:solidFill>
            <a:srgbClr val="0EA472"/>
          </a:solidFill>
          <a:ln/>
        </p:spPr>
        <p:txBody>
          <a:bodyPr/>
          <a:p/>
        </p:txBody>
      </p:sp>
      <p:sp>
        <p:nvSpPr>
          <p:cNvPr id="26" name="Text 23"/>
          <p:cNvSpPr/>
          <p:nvPr/>
        </p:nvSpPr>
        <p:spPr>
          <a:xfrm>
            <a:off x="9509760" y="5029200"/>
            <a:ext cx="2057400" cy="457200"/>
          </a:xfrm>
          <a:prstGeom prst="rect">
            <a:avLst/>
          </a:prstGeom>
          <a:noFill/>
          <a:ln/>
        </p:spPr>
        <p:txBody>
          <a:bodyPr wrap="square" lIns="0" tIns="0" rIns="0" bIns="0" rtlCol="0" anchor="ctr"/>
          <a:lstStyle/>
          <a:p>
            <a:pPr indent="0" marL="0">
              <a:buNone/>
            </a:pPr>
            <a:r>
              <a:rPr lang="en-US" sz="1200" b="1" dirty="0">
                <a:solidFill>
                  <a:srgbClr val="0B1E3B"/>
                </a:solidFill>
                <a:latin typeface="Calibri" pitchFamily="34" charset="0"/>
                <a:ea typeface="Calibri" pitchFamily="34" charset="-122"/>
                <a:cs typeface="Calibri" pitchFamily="34" charset="-120"/>
              </a:rPr>
              <a:t>20 Regions</a:t>
            </a:r>
            <a:endParaRPr lang="en-US" sz="1200" dirty="0"/>
          </a:p>
        </p:txBody>
      </p:sp>
      <p:sp>
        <p:nvSpPr>
          <p:cNvPr id="27" name="Text 24"/>
          <p:cNvSpPr/>
          <p:nvPr/>
        </p:nvSpPr>
        <p:spPr>
          <a:xfrm>
            <a:off x="859536" y="5989320"/>
            <a:ext cx="10789920" cy="365760"/>
          </a:xfrm>
          <a:prstGeom prst="rect">
            <a:avLst/>
          </a:prstGeom>
          <a:noFill/>
          <a:ln/>
        </p:spPr>
        <p:txBody>
          <a:bodyPr wrap="square" lIns="0" tIns="0" rIns="0" bIns="0" rtlCol="0" anchor="t"/>
          <a:lstStyle/>
          <a:p>
            <a:pPr indent="0" marL="0">
              <a:buNone/>
            </a:pPr>
            <a:r>
              <a:rPr lang="en-US" sz="1100" dirty="0">
                <a:solidFill>
                  <a:srgbClr val="8FA6C6"/>
                </a:solidFill>
                <a:latin typeface="Calibri" pitchFamily="34" charset="0"/>
                <a:ea typeface="Calibri" pitchFamily="34" charset="-122"/>
                <a:cs typeface="Calibri" pitchFamily="34" charset="-120"/>
              </a:rPr>
              <a:t>Executive briefing &amp; live demo   ·   September 2026   ·   Version V4.2   ·   Runs offline, AI switched off at JLR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4F46E5"/>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4F46E5"/>
                </a:solidFill>
                <a:latin typeface="Calibri" pitchFamily="34" charset="0"/>
                <a:ea typeface="Calibri" pitchFamily="34" charset="-122"/>
                <a:cs typeface="Calibri" pitchFamily="34" charset="-120"/>
              </a:rPr>
              <a:t>AT A GLANCE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Executive summary — the whole platform on one page</a:t>
            </a:r>
            <a:endParaRPr lang="en-US" sz="2400" dirty="0"/>
          </a:p>
        </p:txBody>
      </p:sp>
      <p:sp>
        <p:nvSpPr>
          <p:cNvPr id="9" name="Shape 7"/>
          <p:cNvSpPr/>
          <p:nvPr/>
        </p:nvSpPr>
        <p:spPr>
          <a:xfrm>
            <a:off x="548640" y="1371600"/>
            <a:ext cx="1051560" cy="45720"/>
          </a:xfrm>
          <a:prstGeom prst="rect">
            <a:avLst/>
          </a:prstGeom>
          <a:solidFill>
            <a:srgbClr val="4F46E5"/>
          </a:solidFill>
          <a:ln/>
        </p:spPr>
        <p:txBody>
          <a:bodyPr/>
          <a:p/>
        </p:txBody>
      </p:sp>
      <p:sp>
        <p:nvSpPr>
          <p:cNvPr id="10" name="Shape 8"/>
          <p:cNvSpPr/>
          <p:nvPr/>
        </p:nvSpPr>
        <p:spPr>
          <a:xfrm>
            <a:off x="548640" y="1600200"/>
            <a:ext cx="2103120"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88900" dist="25400" dir="5400000">
              <a:srgbClr val="9DB0CC">
                <a:alpha val="22000"/>
              </a:srgbClr>
            </a:outerShdw>
          </a:effectLst>
        </p:spPr>
        <p:txBody>
          <a:bodyPr/>
          <a:p/>
        </p:txBody>
      </p:sp>
      <p:sp>
        <p:nvSpPr>
          <p:cNvPr id="11" name="Shape 9"/>
          <p:cNvSpPr/>
          <p:nvPr/>
        </p:nvSpPr>
        <p:spPr>
          <a:xfrm>
            <a:off x="548640" y="1600200"/>
            <a:ext cx="82296" cy="1371600"/>
          </a:xfrm>
          <a:prstGeom prst="rect">
            <a:avLst/>
          </a:prstGeom>
          <a:solidFill>
            <a:srgbClr val="2563EB"/>
          </a:solidFill>
          <a:ln/>
        </p:spPr>
        <p:txBody>
          <a:bodyPr/>
          <a:p/>
        </p:txBody>
      </p:sp>
      <p:sp>
        <p:nvSpPr>
          <p:cNvPr id="12" name="Text 10"/>
          <p:cNvSpPr/>
          <p:nvPr/>
        </p:nvSpPr>
        <p:spPr>
          <a:xfrm>
            <a:off x="731520" y="1755648"/>
            <a:ext cx="1783080" cy="502920"/>
          </a:xfrm>
          <a:prstGeom prst="rect">
            <a:avLst/>
          </a:prstGeom>
          <a:noFill/>
          <a:ln/>
        </p:spPr>
        <p:txBody>
          <a:bodyPr wrap="square" lIns="0" tIns="0" rIns="0" bIns="0" rtlCol="0" anchor="t"/>
          <a:lstStyle/>
          <a:p>
            <a:pPr indent="0" marL="0">
              <a:buNone/>
            </a:pPr>
            <a:r>
              <a:rPr lang="en-US" sz="2600" b="1" dirty="0">
                <a:solidFill>
                  <a:srgbClr val="2563EB"/>
                </a:solidFill>
                <a:latin typeface="Calibri" pitchFamily="34" charset="0"/>
                <a:ea typeface="Calibri" pitchFamily="34" charset="-122"/>
                <a:cs typeface="Calibri" pitchFamily="34" charset="-120"/>
              </a:rPr>
              <a:t>8</a:t>
            </a:r>
            <a:endParaRPr lang="en-US" sz="1800" dirty="0"/>
          </a:p>
        </p:txBody>
      </p:sp>
      <p:sp>
        <p:nvSpPr>
          <p:cNvPr id="13" name="Text 11"/>
          <p:cNvSpPr/>
          <p:nvPr/>
        </p:nvSpPr>
        <p:spPr>
          <a:xfrm>
            <a:off x="731520" y="2286000"/>
            <a:ext cx="1783080" cy="594360"/>
          </a:xfrm>
          <a:prstGeom prst="rect">
            <a:avLst/>
          </a:prstGeom>
          <a:noFill/>
          <a:ln/>
        </p:spPr>
        <p:txBody>
          <a:bodyPr wrap="square" lIns="0" tIns="0" rIns="0" bIns="0" rtlCol="0" anchor="t"/>
          <a:lstStyle/>
          <a:p>
            <a:pPr indent="0" marL="0">
              <a:lnSpc>
                <a:spcPct val="105000"/>
              </a:lnSpc>
              <a:buNone/>
            </a:pPr>
            <a:r>
              <a:rPr lang="en-US" sz="950" dirty="0">
                <a:solidFill>
                  <a:srgbClr val="8A97A8"/>
                </a:solidFill>
                <a:latin typeface="Calibri" pitchFamily="34" charset="0"/>
                <a:ea typeface="Calibri" pitchFamily="34" charset="-122"/>
                <a:cs typeface="Calibri" pitchFamily="34" charset="-120"/>
              </a:rPr>
              <a:t>cost buckets, each traced to a rate</a:t>
            </a:r>
            <a:endParaRPr lang="en-US" sz="950" dirty="0"/>
          </a:p>
        </p:txBody>
      </p:sp>
      <p:sp>
        <p:nvSpPr>
          <p:cNvPr id="14" name="Shape 12"/>
          <p:cNvSpPr/>
          <p:nvPr/>
        </p:nvSpPr>
        <p:spPr>
          <a:xfrm>
            <a:off x="2724912" y="1600200"/>
            <a:ext cx="2103120"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129030000" dist="322580000" dir="324000000000">
              <a:srgbClr val="9DB0CC">
                <a:alpha val="2200000000"/>
              </a:srgbClr>
            </a:outerShdw>
          </a:effectLst>
        </p:spPr>
        <p:txBody>
          <a:bodyPr/>
          <a:p/>
        </p:txBody>
      </p:sp>
      <p:sp>
        <p:nvSpPr>
          <p:cNvPr id="15" name="Shape 13"/>
          <p:cNvSpPr/>
          <p:nvPr/>
        </p:nvSpPr>
        <p:spPr>
          <a:xfrm>
            <a:off x="2724912" y="1600200"/>
            <a:ext cx="82296" cy="1371600"/>
          </a:xfrm>
          <a:prstGeom prst="rect">
            <a:avLst/>
          </a:prstGeom>
          <a:solidFill>
            <a:srgbClr val="E0900C"/>
          </a:solidFill>
          <a:ln/>
        </p:spPr>
        <p:txBody>
          <a:bodyPr/>
          <a:p/>
        </p:txBody>
      </p:sp>
      <p:sp>
        <p:nvSpPr>
          <p:cNvPr id="16" name="Text 14"/>
          <p:cNvSpPr/>
          <p:nvPr/>
        </p:nvSpPr>
        <p:spPr>
          <a:xfrm>
            <a:off x="2907792" y="1755648"/>
            <a:ext cx="1783080" cy="502920"/>
          </a:xfrm>
          <a:prstGeom prst="rect">
            <a:avLst/>
          </a:prstGeom>
          <a:noFill/>
          <a:ln/>
        </p:spPr>
        <p:txBody>
          <a:bodyPr wrap="square" lIns="0" tIns="0" rIns="0" bIns="0" rtlCol="0" anchor="t"/>
          <a:lstStyle/>
          <a:p>
            <a:pPr indent="0" marL="0">
              <a:buNone/>
            </a:pPr>
            <a:r>
              <a:rPr lang="en-US" sz="2600" b="1" dirty="0">
                <a:solidFill>
                  <a:srgbClr val="E0900C"/>
                </a:solidFill>
                <a:latin typeface="Calibri" pitchFamily="34" charset="0"/>
                <a:ea typeface="Calibri" pitchFamily="34" charset="-122"/>
                <a:cs typeface="Calibri" pitchFamily="34" charset="-120"/>
              </a:rPr>
              <a:t>19</a:t>
            </a:r>
            <a:endParaRPr lang="en-US" sz="2600" dirty="0"/>
          </a:p>
        </p:txBody>
      </p:sp>
      <p:sp>
        <p:nvSpPr>
          <p:cNvPr id="17" name="Text 15"/>
          <p:cNvSpPr/>
          <p:nvPr/>
        </p:nvSpPr>
        <p:spPr>
          <a:xfrm>
            <a:off x="2907792" y="2286000"/>
            <a:ext cx="1783080" cy="594360"/>
          </a:xfrm>
          <a:prstGeom prst="rect">
            <a:avLst/>
          </a:prstGeom>
          <a:noFill/>
          <a:ln/>
        </p:spPr>
        <p:txBody>
          <a:bodyPr wrap="square" lIns="0" tIns="0" rIns="0" bIns="0" rtlCol="0" anchor="t"/>
          <a:lstStyle/>
          <a:p>
            <a:pPr indent="0" marL="0">
              <a:lnSpc>
                <a:spcPct val="105000"/>
              </a:lnSpc>
              <a:buNone/>
            </a:pPr>
            <a:r>
              <a:rPr lang="en-US" sz="950" dirty="0">
                <a:solidFill>
                  <a:srgbClr val="8A97A8"/>
                </a:solidFill>
                <a:latin typeface="Calibri" pitchFamily="34" charset="0"/>
                <a:ea typeface="Calibri" pitchFamily="34" charset="-122"/>
                <a:cs typeface="Calibri" pitchFamily="34" charset="-120"/>
              </a:rPr>
              <a:t>manufacturing processes</a:t>
            </a:r>
            <a:endParaRPr lang="en-US" sz="950" dirty="0"/>
          </a:p>
        </p:txBody>
      </p:sp>
      <p:sp>
        <p:nvSpPr>
          <p:cNvPr id="18" name="Shape 16"/>
          <p:cNvSpPr/>
          <p:nvPr/>
        </p:nvSpPr>
        <p:spPr>
          <a:xfrm>
            <a:off x="4901184" y="1600200"/>
            <a:ext cx="2103120"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4338681000000" dist="4096766000000" dir="19440000000000000">
              <a:srgbClr val="9DB0CC">
                <a:alpha val="220000000000000"/>
              </a:srgbClr>
            </a:outerShdw>
          </a:effectLst>
        </p:spPr>
        <p:txBody>
          <a:bodyPr/>
          <a:p/>
        </p:txBody>
      </p:sp>
      <p:sp>
        <p:nvSpPr>
          <p:cNvPr id="19" name="Shape 17"/>
          <p:cNvSpPr/>
          <p:nvPr/>
        </p:nvSpPr>
        <p:spPr>
          <a:xfrm>
            <a:off x="4901184" y="1600200"/>
            <a:ext cx="82296" cy="1371600"/>
          </a:xfrm>
          <a:prstGeom prst="rect">
            <a:avLst/>
          </a:prstGeom>
          <a:solidFill>
            <a:srgbClr val="0DA5A0"/>
          </a:solidFill>
          <a:ln/>
        </p:spPr>
        <p:txBody>
          <a:bodyPr/>
          <a:p/>
        </p:txBody>
      </p:sp>
      <p:sp>
        <p:nvSpPr>
          <p:cNvPr id="20" name="Text 18"/>
          <p:cNvSpPr/>
          <p:nvPr/>
        </p:nvSpPr>
        <p:spPr>
          <a:xfrm>
            <a:off x="5084064" y="1755648"/>
            <a:ext cx="1783080" cy="502920"/>
          </a:xfrm>
          <a:prstGeom prst="rect">
            <a:avLst/>
          </a:prstGeom>
          <a:noFill/>
          <a:ln/>
        </p:spPr>
        <p:txBody>
          <a:bodyPr wrap="square" lIns="0" tIns="0" rIns="0" bIns="0" rtlCol="0" anchor="t"/>
          <a:lstStyle/>
          <a:p>
            <a:pPr indent="0" marL="0">
              <a:buNone/>
            </a:pPr>
            <a:r>
              <a:rPr lang="en-US" sz="2600" b="1" dirty="0">
                <a:solidFill>
                  <a:srgbClr val="0DA5A0"/>
                </a:solidFill>
                <a:latin typeface="Calibri" pitchFamily="34" charset="0"/>
                <a:ea typeface="Calibri" pitchFamily="34" charset="-122"/>
                <a:cs typeface="Calibri" pitchFamily="34" charset="-120"/>
              </a:rPr>
              <a:t>20</a:t>
            </a:r>
            <a:endParaRPr lang="en-US" sz="2600" dirty="0"/>
          </a:p>
        </p:txBody>
      </p:sp>
      <p:sp>
        <p:nvSpPr>
          <p:cNvPr id="21" name="Text 19"/>
          <p:cNvSpPr/>
          <p:nvPr/>
        </p:nvSpPr>
        <p:spPr>
          <a:xfrm>
            <a:off x="5084064" y="2286000"/>
            <a:ext cx="1783080" cy="594360"/>
          </a:xfrm>
          <a:prstGeom prst="rect">
            <a:avLst/>
          </a:prstGeom>
          <a:noFill/>
          <a:ln/>
        </p:spPr>
        <p:txBody>
          <a:bodyPr wrap="square" lIns="0" tIns="0" rIns="0" bIns="0" rtlCol="0" anchor="t"/>
          <a:lstStyle/>
          <a:p>
            <a:pPr indent="0" marL="0">
              <a:lnSpc>
                <a:spcPct val="105000"/>
              </a:lnSpc>
              <a:buNone/>
            </a:pPr>
            <a:r>
              <a:rPr lang="en-US" sz="950" dirty="0">
                <a:solidFill>
                  <a:srgbClr val="8A97A8"/>
                </a:solidFill>
                <a:latin typeface="Calibri" pitchFamily="34" charset="0"/>
                <a:ea typeface="Calibri" pitchFamily="34" charset="-122"/>
                <a:cs typeface="Calibri" pitchFamily="34" charset="-120"/>
              </a:rPr>
              <a:t>manufacturing regions, real rates</a:t>
            </a:r>
            <a:endParaRPr lang="en-US" sz="950" dirty="0"/>
          </a:p>
        </p:txBody>
      </p:sp>
      <p:sp>
        <p:nvSpPr>
          <p:cNvPr id="22" name="Shape 20"/>
          <p:cNvSpPr/>
          <p:nvPr/>
        </p:nvSpPr>
        <p:spPr>
          <a:xfrm>
            <a:off x="7077456" y="1600200"/>
            <a:ext cx="2103120"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82101248700000000" dist="52028928200000000" dir="1.1664e+21">
              <a:srgbClr val="9DB0CC">
                <a:alpha val="22000000000000000000"/>
              </a:srgbClr>
            </a:outerShdw>
          </a:effectLst>
        </p:spPr>
        <p:txBody>
          <a:bodyPr/>
          <a:p/>
        </p:txBody>
      </p:sp>
      <p:sp>
        <p:nvSpPr>
          <p:cNvPr id="23" name="Shape 21"/>
          <p:cNvSpPr/>
          <p:nvPr/>
        </p:nvSpPr>
        <p:spPr>
          <a:xfrm>
            <a:off x="7077456" y="1600200"/>
            <a:ext cx="82296" cy="1371600"/>
          </a:xfrm>
          <a:prstGeom prst="rect">
            <a:avLst/>
          </a:prstGeom>
          <a:solidFill>
            <a:srgbClr val="0EA472"/>
          </a:solidFill>
          <a:ln/>
        </p:spPr>
        <p:txBody>
          <a:bodyPr/>
          <a:p/>
        </p:txBody>
      </p:sp>
      <p:sp>
        <p:nvSpPr>
          <p:cNvPr id="24" name="Text 22"/>
          <p:cNvSpPr/>
          <p:nvPr/>
        </p:nvSpPr>
        <p:spPr>
          <a:xfrm>
            <a:off x="7260336" y="1755648"/>
            <a:ext cx="1783080" cy="502920"/>
          </a:xfrm>
          <a:prstGeom prst="rect">
            <a:avLst/>
          </a:prstGeom>
          <a:noFill/>
          <a:ln/>
        </p:spPr>
        <p:txBody>
          <a:bodyPr wrap="square" lIns="0" tIns="0" rIns="0" bIns="0" rtlCol="0" anchor="t"/>
          <a:lstStyle/>
          <a:p>
            <a:pPr indent="0" marL="0">
              <a:buNone/>
            </a:pPr>
            <a:r>
              <a:rPr lang="en-US" sz="2600" b="1" dirty="0">
                <a:solidFill>
                  <a:srgbClr val="0EA472"/>
                </a:solidFill>
                <a:latin typeface="Calibri" pitchFamily="34" charset="0"/>
                <a:ea typeface="Calibri" pitchFamily="34" charset="-122"/>
                <a:cs typeface="Calibri" pitchFamily="34" charset="-120"/>
              </a:rPr>
              <a:t>328</a:t>
            </a:r>
            <a:endParaRPr lang="en-US" sz="2600" dirty="0"/>
          </a:p>
        </p:txBody>
      </p:sp>
      <p:sp>
        <p:nvSpPr>
          <p:cNvPr id="25" name="Text 23"/>
          <p:cNvSpPr/>
          <p:nvPr/>
        </p:nvSpPr>
        <p:spPr>
          <a:xfrm>
            <a:off x="7260336" y="2286000"/>
            <a:ext cx="1783080" cy="594360"/>
          </a:xfrm>
          <a:prstGeom prst="rect">
            <a:avLst/>
          </a:prstGeom>
          <a:noFill/>
          <a:ln/>
        </p:spPr>
        <p:txBody>
          <a:bodyPr wrap="square" lIns="0" tIns="0" rIns="0" bIns="0" rtlCol="0" anchor="t"/>
          <a:lstStyle/>
          <a:p>
            <a:pPr indent="0" marL="0">
              <a:lnSpc>
                <a:spcPct val="105000"/>
              </a:lnSpc>
              <a:buNone/>
            </a:pPr>
            <a:r>
              <a:rPr lang="en-US" sz="950" dirty="0">
                <a:solidFill>
                  <a:srgbClr val="8A97A8"/>
                </a:solidFill>
                <a:latin typeface="Calibri" pitchFamily="34" charset="0"/>
                <a:ea typeface="Calibri" pitchFamily="34" charset="-122"/>
                <a:cs typeface="Calibri" pitchFamily="34" charset="-120"/>
              </a:rPr>
              <a:t>materials in the rate library (16 Jun 2026)</a:t>
            </a:r>
            <a:endParaRPr lang="en-US" sz="950" dirty="0"/>
          </a:p>
        </p:txBody>
      </p:sp>
      <p:sp>
        <p:nvSpPr>
          <p:cNvPr id="26" name="Shape 24"/>
          <p:cNvSpPr/>
          <p:nvPr/>
        </p:nvSpPr>
        <p:spPr>
          <a:xfrm>
            <a:off x="9253728" y="1600200"/>
            <a:ext cx="2103120"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2.31268585849e+21" dist="660767388140000000000" dir="6.9984e+25">
              <a:srgbClr val="9DB0CC">
                <a:alpha val="2.2e+24"/>
              </a:srgbClr>
            </a:outerShdw>
          </a:effectLst>
        </p:spPr>
        <p:txBody>
          <a:bodyPr/>
          <a:p/>
        </p:txBody>
      </p:sp>
      <p:sp>
        <p:nvSpPr>
          <p:cNvPr id="27" name="Shape 25"/>
          <p:cNvSpPr/>
          <p:nvPr/>
        </p:nvSpPr>
        <p:spPr>
          <a:xfrm>
            <a:off x="9253728" y="1600200"/>
            <a:ext cx="82296" cy="1371600"/>
          </a:xfrm>
          <a:prstGeom prst="rect">
            <a:avLst/>
          </a:prstGeom>
          <a:solidFill>
            <a:srgbClr val="E5484D"/>
          </a:solidFill>
          <a:ln/>
        </p:spPr>
        <p:txBody>
          <a:bodyPr/>
          <a:p/>
        </p:txBody>
      </p:sp>
      <p:sp>
        <p:nvSpPr>
          <p:cNvPr id="28" name="Text 26"/>
          <p:cNvSpPr/>
          <p:nvPr/>
        </p:nvSpPr>
        <p:spPr>
          <a:xfrm>
            <a:off x="9436608" y="1755648"/>
            <a:ext cx="1783080" cy="502920"/>
          </a:xfrm>
          <a:prstGeom prst="rect">
            <a:avLst/>
          </a:prstGeom>
          <a:noFill/>
          <a:ln/>
        </p:spPr>
        <p:txBody>
          <a:bodyPr wrap="square" lIns="0" tIns="0" rIns="0" bIns="0" rtlCol="0" anchor="t"/>
          <a:lstStyle/>
          <a:p>
            <a:pPr indent="0" marL="0">
              <a:buNone/>
            </a:pPr>
            <a:r>
              <a:rPr lang="en-US" sz="1800" b="1" dirty="0">
                <a:solidFill>
                  <a:srgbClr val="E5484D"/>
                </a:solidFill>
                <a:latin typeface="Calibri" pitchFamily="34" charset="0"/>
                <a:ea typeface="Calibri" pitchFamily="34" charset="-122"/>
                <a:cs typeface="Calibri" pitchFamily="34" charset="-120"/>
              </a:rPr>
              <a:t>Offline</a:t>
            </a:r>
            <a:endParaRPr lang="en-US" sz="1800" dirty="0"/>
          </a:p>
        </p:txBody>
      </p:sp>
      <p:sp>
        <p:nvSpPr>
          <p:cNvPr id="29" name="Text 27"/>
          <p:cNvSpPr/>
          <p:nvPr/>
        </p:nvSpPr>
        <p:spPr>
          <a:xfrm>
            <a:off x="9436608" y="2286000"/>
            <a:ext cx="1783080" cy="594360"/>
          </a:xfrm>
          <a:prstGeom prst="rect">
            <a:avLst/>
          </a:prstGeom>
          <a:noFill/>
          <a:ln/>
        </p:spPr>
        <p:txBody>
          <a:bodyPr wrap="square" lIns="0" tIns="0" rIns="0" bIns="0" rtlCol="0" anchor="t"/>
          <a:lstStyle/>
          <a:p>
            <a:pPr indent="0" marL="0">
              <a:lnSpc>
                <a:spcPct val="105000"/>
              </a:lnSpc>
              <a:buNone/>
            </a:pPr>
            <a:r>
              <a:rPr lang="en-US" sz="950" dirty="0">
                <a:solidFill>
                  <a:srgbClr val="8A97A8"/>
                </a:solidFill>
                <a:latin typeface="Calibri" pitchFamily="34" charset="0"/>
                <a:ea typeface="Calibri" pitchFamily="34" charset="-122"/>
                <a:cs typeface="Calibri" pitchFamily="34" charset="-120"/>
              </a:rPr>
              <a:t>runs on a laptop: no internet, no admin rights</a:t>
            </a:r>
            <a:endParaRPr lang="en-US" sz="950" dirty="0"/>
          </a:p>
        </p:txBody>
      </p:sp>
      <p:sp>
        <p:nvSpPr>
          <p:cNvPr id="30" name="Shape 28"/>
          <p:cNvSpPr/>
          <p:nvPr/>
        </p:nvSpPr>
        <p:spPr>
          <a:xfrm>
            <a:off x="548640" y="3200400"/>
            <a:ext cx="11091672" cy="868680"/>
          </a:xfrm>
          <a:prstGeom prst="roundRect">
            <a:avLst>
              <a:gd name="adj" fmla="val 7368"/>
            </a:avLst>
          </a:prstGeom>
          <a:solidFill>
            <a:srgbClr val="EAF1FE"/>
          </a:solidFill>
          <a:ln w="12700">
            <a:solidFill>
              <a:srgbClr val="E4EAF2"/>
            </a:solidFill>
            <a:prstDash val="solid"/>
          </a:ln>
        </p:spPr>
        <p:txBody>
          <a:bodyPr/>
          <a:p/>
        </p:txBody>
      </p:sp>
      <p:sp>
        <p:nvSpPr>
          <p:cNvPr id="31" name="Shape 29"/>
          <p:cNvSpPr/>
          <p:nvPr/>
        </p:nvSpPr>
        <p:spPr>
          <a:xfrm>
            <a:off x="548640" y="3200400"/>
            <a:ext cx="82296" cy="868680"/>
          </a:xfrm>
          <a:prstGeom prst="rect">
            <a:avLst/>
          </a:prstGeom>
          <a:solidFill>
            <a:srgbClr val="4F46E5"/>
          </a:solidFill>
          <a:ln/>
        </p:spPr>
        <p:txBody>
          <a:bodyPr/>
          <a:p/>
        </p:txBody>
      </p:sp>
      <p:sp>
        <p:nvSpPr>
          <p:cNvPr id="32" name="Text 30"/>
          <p:cNvSpPr/>
          <p:nvPr/>
        </p:nvSpPr>
        <p:spPr>
          <a:xfrm>
            <a:off x="914400" y="3337560"/>
            <a:ext cx="10378440" cy="640080"/>
          </a:xfrm>
          <a:prstGeom prst="rect">
            <a:avLst/>
          </a:prstGeom>
          <a:noFill/>
          <a:ln/>
        </p:spPr>
        <p:txBody>
          <a:bodyPr wrap="square" lIns="0" tIns="0" rIns="0" bIns="0" rtlCol="0" anchor="t"/>
          <a:lstStyle/>
          <a:p>
            <a:pPr indent="0" marL="0">
              <a:lnSpc>
                <a:spcPct val="120000"/>
              </a:lnSpc>
              <a:buNone/>
            </a:pPr>
            <a:r>
              <a:rPr lang="en-US" sz="1250" b="1" dirty="0">
                <a:solidFill>
                  <a:srgbClr val="0F1E3D"/>
                </a:solidFill>
                <a:latin typeface="Calibri" pitchFamily="34" charset="0"/>
                <a:ea typeface="Calibri" pitchFamily="34" charset="-122"/>
                <a:cs typeface="Calibri" pitchFamily="34" charset="-120"/>
              </a:rPr>
              <a:t>What it is:  </a:t>
            </a:r>
            <a:pPr indent="0" marL="0">
              <a:lnSpc>
                <a:spcPct val="120000"/>
              </a:lnSpc>
              <a:buNone/>
            </a:pPr>
            <a:r>
              <a:rPr lang="en-US" sz="1250" dirty="0">
                <a:solidFill>
                  <a:srgbClr val="3E4C63"/>
                </a:solidFill>
                <a:latin typeface="Calibri" pitchFamily="34" charset="0"/>
                <a:ea typeface="Calibri" pitchFamily="34" charset="-122"/>
                <a:cs typeface="Calibri" pitchFamily="34" charset="-120"/>
              </a:rPr>
              <a:t>a tool that works out what a part should cost, from a CAD file or typed inputs. It prices the part in 20 regions, compares it with a supplier quote, and learns from real prices we log. AI is switched off at JLR; every £ is plain arithmetic.</a:t>
            </a:r>
            <a:endParaRPr lang="en-US" sz="1250" dirty="0"/>
          </a:p>
        </p:txBody>
      </p:sp>
      <p:sp>
        <p:nvSpPr>
          <p:cNvPr id="33" name="Shape 31"/>
          <p:cNvSpPr/>
          <p:nvPr/>
        </p:nvSpPr>
        <p:spPr>
          <a:xfrm>
            <a:off x="548640" y="4297680"/>
            <a:ext cx="2724912" cy="1280160"/>
          </a:xfrm>
          <a:prstGeom prst="roundRect">
            <a:avLst>
              <a:gd name="adj" fmla="val 5000"/>
            </a:avLst>
          </a:prstGeom>
          <a:solidFill>
            <a:srgbClr val="FFFFFF"/>
          </a:solidFill>
          <a:ln w="12700">
            <a:solidFill>
              <a:srgbClr val="E4EAF2"/>
            </a:solidFill>
            <a:prstDash val="solid"/>
          </a:ln>
          <a:effectLst>
            <a:outerShdw sx="100000" sy="100000" kx="0" ky="0" algn="bl" rotWithShape="0" blurRad="2.9371110402823e+25" dist="8.391745829378e+24" dir="4.19904e+30">
              <a:srgbClr val="9DB0CC">
                <a:alpha val="2.2e+29"/>
              </a:srgbClr>
            </a:outerShdw>
          </a:effectLst>
        </p:spPr>
        <p:txBody>
          <a:bodyPr/>
          <a:p/>
        </p:txBody>
      </p:sp>
      <p:sp>
        <p:nvSpPr>
          <p:cNvPr id="34" name="Shape 32"/>
          <p:cNvSpPr/>
          <p:nvPr/>
        </p:nvSpPr>
        <p:spPr>
          <a:xfrm>
            <a:off x="548640" y="4297680"/>
            <a:ext cx="82296" cy="1280160"/>
          </a:xfrm>
          <a:prstGeom prst="rect">
            <a:avLst/>
          </a:prstGeom>
          <a:solidFill>
            <a:srgbClr val="2563EB"/>
          </a:solidFill>
          <a:ln/>
        </p:spPr>
        <p:txBody>
          <a:bodyPr/>
          <a:p/>
        </p:txBody>
      </p:sp>
      <p:sp>
        <p:nvSpPr>
          <p:cNvPr id="35" name="Text 33"/>
          <p:cNvSpPr/>
          <p:nvPr/>
        </p:nvSpPr>
        <p:spPr>
          <a:xfrm>
            <a:off x="768096" y="4462272"/>
            <a:ext cx="2377440" cy="320040"/>
          </a:xfrm>
          <a:prstGeom prst="rect">
            <a:avLst/>
          </a:prstGeom>
          <a:noFill/>
          <a:ln/>
        </p:spPr>
        <p:txBody>
          <a:bodyPr wrap="square" lIns="0" tIns="0" rIns="0" bIns="0" rtlCol="0" anchor="t"/>
          <a:lstStyle/>
          <a:p>
            <a:pPr indent="0" marL="0">
              <a:buNone/>
            </a:pPr>
            <a:r>
              <a:rPr lang="en-US" sz="1300" b="1" spc="50" kern="0" dirty="0">
                <a:solidFill>
                  <a:srgbClr val="2563EB"/>
                </a:solidFill>
                <a:latin typeface="Calibri" pitchFamily="34" charset="0"/>
                <a:ea typeface="Calibri" pitchFamily="34" charset="-122"/>
                <a:cs typeface="Calibri" pitchFamily="34" charset="-120"/>
              </a:rPr>
              <a:t>ESTIMATE</a:t>
            </a:r>
            <a:endParaRPr lang="en-US" sz="1300" dirty="0"/>
          </a:p>
        </p:txBody>
      </p:sp>
      <p:sp>
        <p:nvSpPr>
          <p:cNvPr id="36" name="Text 34"/>
          <p:cNvSpPr/>
          <p:nvPr/>
        </p:nvSpPr>
        <p:spPr>
          <a:xfrm>
            <a:off x="768096" y="4828032"/>
            <a:ext cx="2377440" cy="640080"/>
          </a:xfrm>
          <a:prstGeom prst="rect">
            <a:avLst/>
          </a:prstGeom>
          <a:noFill/>
          <a:ln/>
        </p:spPr>
        <p:txBody>
          <a:bodyPr wrap="square" lIns="0" tIns="0" rIns="0" bIns="0" rtlCol="0" anchor="t"/>
          <a:lstStyle/>
          <a:p>
            <a:pPr indent="0" marL="0">
              <a:lnSpc>
                <a:spcPct val="110000"/>
              </a:lnSpc>
              <a:buNone/>
            </a:pPr>
            <a:r>
              <a:rPr lang="en-US" sz="1050" dirty="0">
                <a:solidFill>
                  <a:srgbClr val="3E4C63"/>
                </a:solidFill>
                <a:latin typeface="Calibri" pitchFamily="34" charset="0"/>
                <a:ea typeface="Calibri" pitchFamily="34" charset="-122"/>
                <a:cs typeface="Calibri" pitchFamily="34" charset="-120"/>
              </a:rPr>
              <a:t>CAD · typed inputs · 19 processes</a:t>
            </a:r>
            <a:endParaRPr lang="en-US" sz="1050" dirty="0"/>
          </a:p>
        </p:txBody>
      </p:sp>
      <p:sp>
        <p:nvSpPr>
          <p:cNvPr id="37" name="Shape 35"/>
          <p:cNvSpPr/>
          <p:nvPr/>
        </p:nvSpPr>
        <p:spPr>
          <a:xfrm>
            <a:off x="3319272" y="4297680"/>
            <a:ext cx="2724912" cy="1280160"/>
          </a:xfrm>
          <a:prstGeom prst="roundRect">
            <a:avLst>
              <a:gd name="adj" fmla="val 5000"/>
            </a:avLst>
          </a:prstGeom>
          <a:solidFill>
            <a:srgbClr val="FFFFFF"/>
          </a:solidFill>
          <a:ln w="12700">
            <a:solidFill>
              <a:srgbClr val="E4EAF2"/>
            </a:solidFill>
            <a:prstDash val="solid"/>
          </a:ln>
          <a:effectLst>
            <a:outerShdw sx="100000" sy="100000" kx="0" ky="0" algn="bl" rotWithShape="0" blurRad="3.730131021158521e+29" dist="1.0657517203310059e+29" dir="2.519424e+35">
              <a:srgbClr val="9DB0CC">
                <a:alpha val="2.2e+34"/>
              </a:srgbClr>
            </a:outerShdw>
          </a:effectLst>
        </p:spPr>
        <p:txBody>
          <a:bodyPr/>
          <a:p/>
        </p:txBody>
      </p:sp>
      <p:sp>
        <p:nvSpPr>
          <p:cNvPr id="38" name="Shape 36"/>
          <p:cNvSpPr/>
          <p:nvPr/>
        </p:nvSpPr>
        <p:spPr>
          <a:xfrm>
            <a:off x="3319272" y="4297680"/>
            <a:ext cx="82296" cy="1280160"/>
          </a:xfrm>
          <a:prstGeom prst="rect">
            <a:avLst/>
          </a:prstGeom>
          <a:solidFill>
            <a:srgbClr val="7C3AED"/>
          </a:solidFill>
          <a:ln/>
        </p:spPr>
        <p:txBody>
          <a:bodyPr/>
          <a:p/>
        </p:txBody>
      </p:sp>
      <p:sp>
        <p:nvSpPr>
          <p:cNvPr id="39" name="Text 37"/>
          <p:cNvSpPr/>
          <p:nvPr/>
        </p:nvSpPr>
        <p:spPr>
          <a:xfrm>
            <a:off x="3538728" y="4462272"/>
            <a:ext cx="2377440" cy="320040"/>
          </a:xfrm>
          <a:prstGeom prst="rect">
            <a:avLst/>
          </a:prstGeom>
          <a:noFill/>
          <a:ln/>
        </p:spPr>
        <p:txBody>
          <a:bodyPr wrap="square" lIns="0" tIns="0" rIns="0" bIns="0" rtlCol="0" anchor="t"/>
          <a:lstStyle/>
          <a:p>
            <a:pPr indent="0" marL="0">
              <a:buNone/>
            </a:pPr>
            <a:r>
              <a:rPr lang="en-US" sz="1300" b="1" spc="50" kern="0" dirty="0">
                <a:solidFill>
                  <a:srgbClr val="7C3AED"/>
                </a:solidFill>
                <a:latin typeface="Calibri" pitchFamily="34" charset="0"/>
                <a:ea typeface="Calibri" pitchFamily="34" charset="-122"/>
                <a:cs typeface="Calibri" pitchFamily="34" charset="-120"/>
              </a:rPr>
              <a:t>UNDERSTAND</a:t>
            </a:r>
            <a:endParaRPr lang="en-US" sz="1300" dirty="0"/>
          </a:p>
        </p:txBody>
      </p:sp>
      <p:sp>
        <p:nvSpPr>
          <p:cNvPr id="40" name="Text 38"/>
          <p:cNvSpPr/>
          <p:nvPr/>
        </p:nvSpPr>
        <p:spPr>
          <a:xfrm>
            <a:off x="3538728" y="4828032"/>
            <a:ext cx="2377440" cy="640080"/>
          </a:xfrm>
          <a:prstGeom prst="rect">
            <a:avLst/>
          </a:prstGeom>
          <a:noFill/>
          <a:ln/>
        </p:spPr>
        <p:txBody>
          <a:bodyPr wrap="square" lIns="0" tIns="0" rIns="0" bIns="0" rtlCol="0" anchor="t"/>
          <a:lstStyle/>
          <a:p>
            <a:pPr indent="0" marL="0">
              <a:lnSpc>
                <a:spcPct val="110000"/>
              </a:lnSpc>
              <a:buNone/>
            </a:pPr>
            <a:r>
              <a:rPr lang="en-US" sz="1050" dirty="0">
                <a:solidFill>
                  <a:srgbClr val="3E4C63"/>
                </a:solidFill>
                <a:latin typeface="Calibri" pitchFamily="34" charset="0"/>
                <a:ea typeface="Calibri" pitchFamily="34" charset="-122"/>
                <a:cs typeface="Calibri" pitchFamily="34" charset="-120"/>
              </a:rPr>
              <a:t>3D view · measured features · self-audit</a:t>
            </a:r>
            <a:endParaRPr lang="en-US" sz="1050" dirty="0"/>
          </a:p>
        </p:txBody>
      </p:sp>
      <p:sp>
        <p:nvSpPr>
          <p:cNvPr id="41" name="Shape 39"/>
          <p:cNvSpPr/>
          <p:nvPr/>
        </p:nvSpPr>
        <p:spPr>
          <a:xfrm>
            <a:off x="6089904" y="4297680"/>
            <a:ext cx="2724912" cy="1280160"/>
          </a:xfrm>
          <a:prstGeom prst="roundRect">
            <a:avLst>
              <a:gd name="adj" fmla="val 5000"/>
            </a:avLst>
          </a:prstGeom>
          <a:solidFill>
            <a:srgbClr val="FFFFFF"/>
          </a:solidFill>
          <a:ln w="12700">
            <a:solidFill>
              <a:srgbClr val="E4EAF2"/>
            </a:solidFill>
            <a:prstDash val="solid"/>
          </a:ln>
          <a:effectLst>
            <a:outerShdw sx="100000" sy="100000" kx="0" ky="0" algn="bl" rotWithShape="0" blurRad="4.737266396871321e+33" dist="1.3535046848203775e+33" dir="1.5116544e+40">
              <a:srgbClr val="9DB0CC">
                <a:alpha val="2.2e+39"/>
              </a:srgbClr>
            </a:outerShdw>
          </a:effectLst>
        </p:spPr>
        <p:txBody>
          <a:bodyPr/>
          <a:p/>
        </p:txBody>
      </p:sp>
      <p:sp>
        <p:nvSpPr>
          <p:cNvPr id="42" name="Shape 40"/>
          <p:cNvSpPr/>
          <p:nvPr/>
        </p:nvSpPr>
        <p:spPr>
          <a:xfrm>
            <a:off x="6089904" y="4297680"/>
            <a:ext cx="82296" cy="1280160"/>
          </a:xfrm>
          <a:prstGeom prst="rect">
            <a:avLst/>
          </a:prstGeom>
          <a:solidFill>
            <a:srgbClr val="0DA5A0"/>
          </a:solidFill>
          <a:ln/>
        </p:spPr>
        <p:txBody>
          <a:bodyPr/>
          <a:p/>
        </p:txBody>
      </p:sp>
      <p:sp>
        <p:nvSpPr>
          <p:cNvPr id="43" name="Text 41"/>
          <p:cNvSpPr/>
          <p:nvPr/>
        </p:nvSpPr>
        <p:spPr>
          <a:xfrm>
            <a:off x="6309360" y="4462272"/>
            <a:ext cx="2377440" cy="320040"/>
          </a:xfrm>
          <a:prstGeom prst="rect">
            <a:avLst/>
          </a:prstGeom>
          <a:noFill/>
          <a:ln/>
        </p:spPr>
        <p:txBody>
          <a:bodyPr wrap="square" lIns="0" tIns="0" rIns="0" bIns="0" rtlCol="0" anchor="t"/>
          <a:lstStyle/>
          <a:p>
            <a:pPr indent="0" marL="0">
              <a:buNone/>
            </a:pPr>
            <a:r>
              <a:rPr lang="en-US" sz="1300" b="1" spc="50" kern="0" dirty="0">
                <a:solidFill>
                  <a:srgbClr val="0DA5A0"/>
                </a:solidFill>
                <a:latin typeface="Calibri" pitchFamily="34" charset="0"/>
                <a:ea typeface="Calibri" pitchFamily="34" charset="-122"/>
                <a:cs typeface="Calibri" pitchFamily="34" charset="-120"/>
              </a:rPr>
              <a:t>NEGOTIATE</a:t>
            </a:r>
            <a:endParaRPr lang="en-US" sz="1300" dirty="0"/>
          </a:p>
        </p:txBody>
      </p:sp>
      <p:sp>
        <p:nvSpPr>
          <p:cNvPr id="44" name="Text 42"/>
          <p:cNvSpPr/>
          <p:nvPr/>
        </p:nvSpPr>
        <p:spPr>
          <a:xfrm>
            <a:off x="6309360" y="4828032"/>
            <a:ext cx="2377440" cy="640080"/>
          </a:xfrm>
          <a:prstGeom prst="rect">
            <a:avLst/>
          </a:prstGeom>
          <a:noFill/>
          <a:ln/>
        </p:spPr>
        <p:txBody>
          <a:bodyPr wrap="square" lIns="0" tIns="0" rIns="0" bIns="0" rtlCol="0" anchor="t"/>
          <a:lstStyle/>
          <a:p>
            <a:pPr indent="0" marL="0">
              <a:lnSpc>
                <a:spcPct val="110000"/>
              </a:lnSpc>
              <a:buNone/>
            </a:pPr>
            <a:r>
              <a:rPr lang="en-US" sz="1050" dirty="0">
                <a:solidFill>
                  <a:srgbClr val="3E4C63"/>
                </a:solidFill>
                <a:latin typeface="Calibri" pitchFamily="34" charset="0"/>
                <a:ea typeface="Calibri" pitchFamily="34" charset="-122"/>
                <a:cs typeface="Calibri" pitchFamily="34" charset="-120"/>
              </a:rPr>
              <a:t>quote teardown · 20 regions · what-if</a:t>
            </a:r>
            <a:endParaRPr lang="en-US" sz="1050" dirty="0"/>
          </a:p>
        </p:txBody>
      </p:sp>
      <p:sp>
        <p:nvSpPr>
          <p:cNvPr id="45" name="Shape 43"/>
          <p:cNvSpPr/>
          <p:nvPr/>
        </p:nvSpPr>
        <p:spPr>
          <a:xfrm>
            <a:off x="8860536" y="4297680"/>
            <a:ext cx="2724912" cy="1280160"/>
          </a:xfrm>
          <a:prstGeom prst="roundRect">
            <a:avLst>
              <a:gd name="adj" fmla="val 5000"/>
            </a:avLst>
          </a:prstGeom>
          <a:solidFill>
            <a:srgbClr val="FFFFFF"/>
          </a:solidFill>
          <a:ln w="12700">
            <a:solidFill>
              <a:srgbClr val="E4EAF2"/>
            </a:solidFill>
            <a:prstDash val="solid"/>
          </a:ln>
          <a:effectLst>
            <a:outerShdw sx="100000" sy="100000" kx="0" ky="0" algn="bl" rotWithShape="0" blurRad="6.016328324026578e+37" dist="1.7189509497218795e+37" dir="9.069926400000001e+44">
              <a:srgbClr val="9DB0CC">
                <a:alpha val="2.2e+44"/>
              </a:srgbClr>
            </a:outerShdw>
          </a:effectLst>
        </p:spPr>
        <p:txBody>
          <a:bodyPr/>
          <a:p/>
        </p:txBody>
      </p:sp>
      <p:sp>
        <p:nvSpPr>
          <p:cNvPr id="46" name="Shape 44"/>
          <p:cNvSpPr/>
          <p:nvPr/>
        </p:nvSpPr>
        <p:spPr>
          <a:xfrm>
            <a:off x="8860536" y="4297680"/>
            <a:ext cx="82296" cy="1280160"/>
          </a:xfrm>
          <a:prstGeom prst="rect">
            <a:avLst/>
          </a:prstGeom>
          <a:solidFill>
            <a:srgbClr val="0EA472"/>
          </a:solidFill>
          <a:ln/>
        </p:spPr>
        <p:txBody>
          <a:bodyPr/>
          <a:p/>
        </p:txBody>
      </p:sp>
      <p:sp>
        <p:nvSpPr>
          <p:cNvPr id="47" name="Text 45"/>
          <p:cNvSpPr/>
          <p:nvPr/>
        </p:nvSpPr>
        <p:spPr>
          <a:xfrm>
            <a:off x="9079992" y="4462272"/>
            <a:ext cx="2377440" cy="320040"/>
          </a:xfrm>
          <a:prstGeom prst="rect">
            <a:avLst/>
          </a:prstGeom>
          <a:noFill/>
          <a:ln/>
        </p:spPr>
        <p:txBody>
          <a:bodyPr wrap="square" lIns="0" tIns="0" rIns="0" bIns="0" rtlCol="0" anchor="t"/>
          <a:lstStyle/>
          <a:p>
            <a:pPr indent="0" marL="0">
              <a:buNone/>
            </a:pPr>
            <a:r>
              <a:rPr lang="en-US" sz="1300" b="1" spc="50" kern="0" dirty="0">
                <a:solidFill>
                  <a:srgbClr val="0EA472"/>
                </a:solidFill>
                <a:latin typeface="Calibri" pitchFamily="34" charset="0"/>
                <a:ea typeface="Calibri" pitchFamily="34" charset="-122"/>
                <a:cs typeface="Calibri" pitchFamily="34" charset="-120"/>
              </a:rPr>
              <a:t>LEARN &amp; GOVERN</a:t>
            </a:r>
            <a:endParaRPr lang="en-US" sz="1300" dirty="0"/>
          </a:p>
        </p:txBody>
      </p:sp>
      <p:sp>
        <p:nvSpPr>
          <p:cNvPr id="48" name="Text 46"/>
          <p:cNvSpPr/>
          <p:nvPr/>
        </p:nvSpPr>
        <p:spPr>
          <a:xfrm>
            <a:off x="9079992" y="4828032"/>
            <a:ext cx="2377440" cy="640080"/>
          </a:xfrm>
          <a:prstGeom prst="rect">
            <a:avLst/>
          </a:prstGeom>
          <a:noFill/>
          <a:ln/>
        </p:spPr>
        <p:txBody>
          <a:bodyPr wrap="square" lIns="0" tIns="0" rIns="0" bIns="0" rtlCol="0" anchor="t"/>
          <a:lstStyle/>
          <a:p>
            <a:pPr indent="0" marL="0">
              <a:lnSpc>
                <a:spcPct val="110000"/>
              </a:lnSpc>
              <a:buNone/>
            </a:pPr>
            <a:r>
              <a:rPr lang="en-US" sz="1050" dirty="0">
                <a:solidFill>
                  <a:srgbClr val="3E4C63"/>
                </a:solidFill>
                <a:latin typeface="Calibri" pitchFamily="34" charset="0"/>
                <a:ea typeface="Calibri" pitchFamily="34" charset="-122"/>
                <a:cs typeface="Calibri" pitchFamily="34" charset="-120"/>
              </a:rPr>
              <a:t>logged actuals · traceable · offline</a:t>
            </a:r>
            <a:endParaRPr lang="en-US" sz="1050" dirty="0"/>
          </a:p>
        </p:txBody>
      </p:sp>
      <p:sp>
        <p:nvSpPr>
          <p:cNvPr id="49" name="Shape 47"/>
          <p:cNvSpPr/>
          <p:nvPr/>
        </p:nvSpPr>
        <p:spPr>
          <a:xfrm>
            <a:off x="548640" y="5715000"/>
            <a:ext cx="11091672" cy="457200"/>
          </a:xfrm>
          <a:prstGeom prst="roundRect">
            <a:avLst>
              <a:gd name="adj" fmla="val 14000"/>
            </a:avLst>
          </a:prstGeom>
          <a:solidFill>
            <a:srgbClr val="E7F7F0"/>
          </a:solidFill>
          <a:ln w="12700">
            <a:solidFill>
              <a:srgbClr val="E4EAF2"/>
            </a:solidFill>
            <a:prstDash val="solid"/>
          </a:ln>
        </p:spPr>
        <p:txBody>
          <a:bodyPr/>
          <a:p/>
        </p:txBody>
      </p:sp>
      <p:sp>
        <p:nvSpPr>
          <p:cNvPr id="50" name="Text 48"/>
          <p:cNvSpPr/>
          <p:nvPr/>
        </p:nvSpPr>
        <p:spPr>
          <a:xfrm>
            <a:off x="914400" y="5715000"/>
            <a:ext cx="10332720" cy="457200"/>
          </a:xfrm>
          <a:prstGeom prst="rect">
            <a:avLst/>
          </a:prstGeom>
          <a:noFill/>
          <a:ln/>
        </p:spPr>
        <p:txBody>
          <a:bodyPr wrap="square" lIns="0" tIns="0" rIns="0" bIns="0" rtlCol="0" anchor="ctr"/>
          <a:lstStyle/>
          <a:p>
            <a:pPr indent="0" marL="0">
              <a:buNone/>
            </a:pPr>
            <a:r>
              <a:rPr lang="en-US" sz="1150" b="1" dirty="0">
                <a:solidFill>
                  <a:srgbClr val="0F1E3D"/>
                </a:solidFill>
                <a:latin typeface="Calibri" pitchFamily="34" charset="0"/>
                <a:ea typeface="Calibri" pitchFamily="34" charset="-122"/>
                <a:cs typeface="Calibri" pitchFamily="34" charset="-120"/>
              </a:rPr>
              <a:t>Bottom line:  </a:t>
            </a:r>
            <a:pPr indent="0" marL="0">
              <a:buNone/>
            </a:pPr>
            <a:r>
              <a:rPr lang="en-US" sz="1150" dirty="0">
                <a:solidFill>
                  <a:srgbClr val="3E4C63"/>
                </a:solidFill>
                <a:latin typeface="Calibri" pitchFamily="34" charset="0"/>
                <a:ea typeface="Calibri" pitchFamily="34" charset="-122"/>
                <a:cs typeface="Calibri" pitchFamily="34" charset="-120"/>
              </a:rPr>
              <a:t>one consistent, traceable number for every part, on our own laptops. Not yet compared with a price JLR paid.</a:t>
            </a:r>
            <a:endParaRPr lang="en-US" sz="1150" dirty="0"/>
          </a:p>
        </p:txBody>
      </p:sp>
      <p:sp>
        <p:nvSpPr>
          <p:cNvPr id="51" name="Shape 49"/>
          <p:cNvSpPr/>
          <p:nvPr/>
        </p:nvSpPr>
        <p:spPr>
          <a:xfrm>
            <a:off x="548640" y="6400800"/>
            <a:ext cx="11094415" cy="12802"/>
          </a:xfrm>
          <a:prstGeom prst="rect">
            <a:avLst/>
          </a:prstGeom>
          <a:solidFill>
            <a:srgbClr val="E4EAF2"/>
          </a:solidFill>
          <a:ln/>
        </p:spPr>
        <p:txBody>
          <a:bodyPr/>
          <a:p/>
        </p:txBody>
      </p:sp>
      <p:sp>
        <p:nvSpPr>
          <p:cNvPr id="52" name="Text 50"/>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3" name="Text 5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 / 15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4F46E5"/>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4F46E5"/>
                </a:solidFill>
                <a:latin typeface="Calibri" pitchFamily="34" charset="0"/>
                <a:ea typeface="Calibri" pitchFamily="34" charset="-122"/>
                <a:cs typeface="Calibri" pitchFamily="34" charset="-120"/>
              </a:rPr>
              <a:t>ORIENTATION</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Background &amp; agenda</a:t>
            </a:r>
            <a:endParaRPr lang="en-US" sz="2400" dirty="0"/>
          </a:p>
        </p:txBody>
      </p:sp>
      <p:sp>
        <p:nvSpPr>
          <p:cNvPr id="9" name="Shape 7"/>
          <p:cNvSpPr/>
          <p:nvPr/>
        </p:nvSpPr>
        <p:spPr>
          <a:xfrm>
            <a:off x="548640" y="1371600"/>
            <a:ext cx="1051560" cy="45720"/>
          </a:xfrm>
          <a:prstGeom prst="rect">
            <a:avLst/>
          </a:prstGeom>
          <a:solidFill>
            <a:srgbClr val="4F46E5"/>
          </a:solidFill>
          <a:ln/>
        </p:spPr>
      </p:sp>
      <p:sp>
        <p:nvSpPr>
          <p:cNvPr id="10" name="Shape 8"/>
          <p:cNvSpPr/>
          <p:nvPr/>
        </p:nvSpPr>
        <p:spPr>
          <a:xfrm>
            <a:off x="548640" y="1600200"/>
            <a:ext cx="11091672" cy="1234440"/>
          </a:xfrm>
          <a:prstGeom prst="roundRect">
            <a:avLst>
              <a:gd name="adj" fmla="val 5185"/>
            </a:avLst>
          </a:prstGeom>
          <a:solidFill>
            <a:srgbClr val="EAF1FE"/>
          </a:solidFill>
          <a:ln w="12700">
            <a:solidFill>
              <a:srgbClr val="E4EAF2"/>
            </a:solidFill>
            <a:prstDash val="solid"/>
          </a:ln>
        </p:spPr>
      </p:sp>
      <p:sp>
        <p:nvSpPr>
          <p:cNvPr id="11" name="Shape 9"/>
          <p:cNvSpPr/>
          <p:nvPr/>
        </p:nvSpPr>
        <p:spPr>
          <a:xfrm>
            <a:off x="548640" y="1600200"/>
            <a:ext cx="82296" cy="1234440"/>
          </a:xfrm>
          <a:prstGeom prst="rect">
            <a:avLst/>
          </a:prstGeom>
          <a:solidFill>
            <a:srgbClr val="4F46E5"/>
          </a:solidFill>
          <a:ln/>
        </p:spPr>
      </p:sp>
      <p:sp>
        <p:nvSpPr>
          <p:cNvPr id="12" name="Text 10"/>
          <p:cNvSpPr/>
          <p:nvPr/>
        </p:nvSpPr>
        <p:spPr>
          <a:xfrm>
            <a:off x="914400" y="1755648"/>
            <a:ext cx="10378440" cy="960120"/>
          </a:xfrm>
          <a:prstGeom prst="rect">
            <a:avLst/>
          </a:prstGeom>
          <a:noFill/>
          <a:ln/>
        </p:spPr>
        <p:txBody>
          <a:bodyPr wrap="square" lIns="0" tIns="0" rIns="0" bIns="0" rtlCol="0" anchor="t"/>
          <a:lstStyle/>
          <a:p>
            <a:pPr indent="0" marL="0">
              <a:lnSpc>
                <a:spcPct val="116000"/>
              </a:lnSpc>
              <a:buNone/>
            </a:pPr>
            <a:r>
              <a:rPr lang="en-US" sz="1200" b="1" dirty="0">
                <a:solidFill>
                  <a:srgbClr val="0F1E3D"/>
                </a:solidFill>
                <a:latin typeface="Calibri" pitchFamily="34" charset="0"/>
                <a:ea typeface="Calibri" pitchFamily="34" charset="-122"/>
                <a:cs typeface="Calibri" pitchFamily="34" charset="-120"/>
              </a:rPr>
              <a:t>The picture:  </a:t>
            </a:r>
            <a:pPr indent="0" marL="0">
              <a:lnSpc>
                <a:spcPct val="116000"/>
              </a:lnSpc>
              <a:buNone/>
            </a:pPr>
            <a:r>
              <a:rPr lang="en-US" sz="1200" dirty="0">
                <a:solidFill>
                  <a:srgbClr val="3E4C63"/>
                </a:solidFill>
                <a:latin typeface="Calibri" pitchFamily="34" charset="0"/>
                <a:ea typeface="Calibri" pitchFamily="34" charset="-122"/>
                <a:cs typeface="Calibri" pitchFamily="34" charset="-120"/>
              </a:rPr>
              <a:t>we already run rigorous should-costing across every commodity with our internal tool — a proven, bottom-up method. Today it is hands-on: every input is selected and keyed in by hand from the 3D CAD and drawings. CostVision is the next step — it keeps that trusted method and automates the manual work with an AI layer: reading the CAD, suggesting material &amp; process, and keeping rates current. Same defensible number, in minutes — and the knowledge compounds as a company asset.</a:t>
            </a:r>
            <a:endParaRPr lang="en-US" sz="1200" dirty="0"/>
          </a:p>
        </p:txBody>
      </p:sp>
      <p:sp>
        <p:nvSpPr>
          <p:cNvPr id="13" name="Shape 11"/>
          <p:cNvSpPr/>
          <p:nvPr/>
        </p:nvSpPr>
        <p:spPr>
          <a:xfrm>
            <a:off x="548640" y="3063240"/>
            <a:ext cx="5394960" cy="566928"/>
          </a:xfrm>
          <a:prstGeom prst="roundRect">
            <a:avLst>
              <a:gd name="adj" fmla="val 9677"/>
            </a:avLst>
          </a:prstGeom>
          <a:solidFill>
            <a:srgbClr val="F4F7FB"/>
          </a:solidFill>
          <a:ln w="12700">
            <a:solidFill>
              <a:srgbClr val="E4EAF2"/>
            </a:solidFill>
            <a:prstDash val="solid"/>
          </a:ln>
        </p:spPr>
      </p:sp>
      <p:sp>
        <p:nvSpPr>
          <p:cNvPr id="14" name="Shape 12"/>
          <p:cNvSpPr/>
          <p:nvPr/>
        </p:nvSpPr>
        <p:spPr>
          <a:xfrm>
            <a:off x="713232" y="3191256"/>
            <a:ext cx="310896" cy="310896"/>
          </a:xfrm>
          <a:prstGeom prst="ellipse">
            <a:avLst/>
          </a:prstGeom>
          <a:solidFill>
            <a:srgbClr val="2563EB"/>
          </a:solidFill>
          <a:ln/>
          <a:effectLst>
            <a:outerShdw sx="100000" sy="100000" kx="0" ky="0" algn="bl" rotWithShape="0" blurRad="63500" dist="19050" dir="5400000">
              <a:srgbClr val="A7B6CE">
                <a:alpha val="18000"/>
              </a:srgbClr>
            </a:outerShdw>
          </a:effectLst>
        </p:spPr>
      </p:sp>
      <p:sp>
        <p:nvSpPr>
          <p:cNvPr id="15" name="Text 13"/>
          <p:cNvSpPr/>
          <p:nvPr/>
        </p:nvSpPr>
        <p:spPr>
          <a:xfrm>
            <a:off x="713232" y="3191256"/>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1</a:t>
            </a:r>
            <a:endParaRPr lang="en-US" sz="1156" dirty="0"/>
          </a:p>
        </p:txBody>
      </p:sp>
      <p:sp>
        <p:nvSpPr>
          <p:cNvPr id="16" name="Text 14"/>
          <p:cNvSpPr/>
          <p:nvPr/>
        </p:nvSpPr>
        <p:spPr>
          <a:xfrm>
            <a:off x="1152144" y="3063240"/>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From manual should-costing to AI-assisted</a:t>
            </a:r>
            <a:endParaRPr lang="en-US" sz="1250" dirty="0"/>
          </a:p>
        </p:txBody>
      </p:sp>
      <p:sp>
        <p:nvSpPr>
          <p:cNvPr id="17" name="Shape 15"/>
          <p:cNvSpPr/>
          <p:nvPr/>
        </p:nvSpPr>
        <p:spPr>
          <a:xfrm>
            <a:off x="6245352" y="3063240"/>
            <a:ext cx="5394960" cy="566928"/>
          </a:xfrm>
          <a:prstGeom prst="roundRect">
            <a:avLst>
              <a:gd name="adj" fmla="val 9677"/>
            </a:avLst>
          </a:prstGeom>
          <a:solidFill>
            <a:srgbClr val="FFFFFF"/>
          </a:solidFill>
          <a:ln w="12700">
            <a:solidFill>
              <a:srgbClr val="E4EAF2"/>
            </a:solidFill>
            <a:prstDash val="solid"/>
          </a:ln>
        </p:spPr>
      </p:sp>
      <p:sp>
        <p:nvSpPr>
          <p:cNvPr id="18" name="Shape 16"/>
          <p:cNvSpPr/>
          <p:nvPr/>
        </p:nvSpPr>
        <p:spPr>
          <a:xfrm>
            <a:off x="6409944" y="3191256"/>
            <a:ext cx="310896" cy="310896"/>
          </a:xfrm>
          <a:prstGeom prst="ellipse">
            <a:avLst/>
          </a:prstGeom>
          <a:solidFill>
            <a:srgbClr val="2563EB"/>
          </a:solidFill>
          <a:ln/>
          <a:effectLst>
            <a:outerShdw sx="100000" sy="100000" kx="0" ky="0" algn="bl" rotWithShape="0" blurRad="806450000" dist="241935000" dir="324000000000">
              <a:srgbClr val="A7B6CE">
                <a:alpha val="1800000000"/>
              </a:srgbClr>
            </a:outerShdw>
          </a:effectLst>
        </p:spPr>
      </p:sp>
      <p:sp>
        <p:nvSpPr>
          <p:cNvPr id="19" name="Text 17"/>
          <p:cNvSpPr/>
          <p:nvPr/>
        </p:nvSpPr>
        <p:spPr>
          <a:xfrm>
            <a:off x="6409944" y="3191256"/>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2</a:t>
            </a:r>
            <a:endParaRPr lang="en-US" sz="1156" dirty="0"/>
          </a:p>
        </p:txBody>
      </p:sp>
      <p:sp>
        <p:nvSpPr>
          <p:cNvPr id="20" name="Text 18"/>
          <p:cNvSpPr/>
          <p:nvPr/>
        </p:nvSpPr>
        <p:spPr>
          <a:xfrm>
            <a:off x="6848856" y="3063240"/>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The platform at a glance</a:t>
            </a:r>
            <a:endParaRPr lang="en-US" sz="1250" dirty="0"/>
          </a:p>
        </p:txBody>
      </p:sp>
      <p:sp>
        <p:nvSpPr>
          <p:cNvPr id="21" name="Shape 19"/>
          <p:cNvSpPr/>
          <p:nvPr/>
        </p:nvSpPr>
        <p:spPr>
          <a:xfrm>
            <a:off x="548640" y="3666744"/>
            <a:ext cx="5394960" cy="566928"/>
          </a:xfrm>
          <a:prstGeom prst="roundRect">
            <a:avLst>
              <a:gd name="adj" fmla="val 9677"/>
            </a:avLst>
          </a:prstGeom>
          <a:solidFill>
            <a:srgbClr val="F4F7FB"/>
          </a:solidFill>
          <a:ln w="12700">
            <a:solidFill>
              <a:srgbClr val="E4EAF2"/>
            </a:solidFill>
            <a:prstDash val="solid"/>
          </a:ln>
        </p:spPr>
      </p:sp>
      <p:sp>
        <p:nvSpPr>
          <p:cNvPr id="22" name="Shape 20"/>
          <p:cNvSpPr/>
          <p:nvPr/>
        </p:nvSpPr>
        <p:spPr>
          <a:xfrm>
            <a:off x="713232" y="3794760"/>
            <a:ext cx="310896" cy="310896"/>
          </a:xfrm>
          <a:prstGeom prst="ellipse">
            <a:avLst/>
          </a:prstGeom>
          <a:solidFill>
            <a:srgbClr val="0DA5A0"/>
          </a:solidFill>
          <a:ln/>
          <a:effectLst>
            <a:outerShdw sx="100000" sy="100000" kx="0" ky="0" algn="bl" rotWithShape="0" blurRad="10241915000000" dist="3072574500000" dir="19440000000000000">
              <a:srgbClr val="A7B6CE">
                <a:alpha val="180000000000000"/>
              </a:srgbClr>
            </a:outerShdw>
          </a:effectLst>
        </p:spPr>
      </p:sp>
      <p:sp>
        <p:nvSpPr>
          <p:cNvPr id="23" name="Text 21"/>
          <p:cNvSpPr/>
          <p:nvPr/>
        </p:nvSpPr>
        <p:spPr>
          <a:xfrm>
            <a:off x="713232" y="3794760"/>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3</a:t>
            </a:r>
            <a:endParaRPr lang="en-US" sz="1156" dirty="0"/>
          </a:p>
        </p:txBody>
      </p:sp>
      <p:sp>
        <p:nvSpPr>
          <p:cNvPr id="24" name="Text 22"/>
          <p:cNvSpPr/>
          <p:nvPr/>
        </p:nvSpPr>
        <p:spPr>
          <a:xfrm>
            <a:off x="1152144" y="3666744"/>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CAD → Cost — workflow, AI &amp; accuracy</a:t>
            </a:r>
            <a:endParaRPr lang="en-US" sz="1250" dirty="0"/>
          </a:p>
        </p:txBody>
      </p:sp>
      <p:sp>
        <p:nvSpPr>
          <p:cNvPr id="25" name="Shape 23"/>
          <p:cNvSpPr/>
          <p:nvPr/>
        </p:nvSpPr>
        <p:spPr>
          <a:xfrm>
            <a:off x="6245352" y="3666744"/>
            <a:ext cx="5394960" cy="566928"/>
          </a:xfrm>
          <a:prstGeom prst="roundRect">
            <a:avLst>
              <a:gd name="adj" fmla="val 9677"/>
            </a:avLst>
          </a:prstGeom>
          <a:solidFill>
            <a:srgbClr val="FFFFFF"/>
          </a:solidFill>
          <a:ln w="12700">
            <a:solidFill>
              <a:srgbClr val="E4EAF2"/>
            </a:solidFill>
            <a:prstDash val="solid"/>
          </a:ln>
        </p:spPr>
      </p:sp>
      <p:sp>
        <p:nvSpPr>
          <p:cNvPr id="26" name="Shape 24"/>
          <p:cNvSpPr/>
          <p:nvPr/>
        </p:nvSpPr>
        <p:spPr>
          <a:xfrm>
            <a:off x="6409944" y="3794760"/>
            <a:ext cx="310896" cy="310896"/>
          </a:xfrm>
          <a:prstGeom prst="ellipse">
            <a:avLst/>
          </a:prstGeom>
          <a:solidFill>
            <a:srgbClr val="0E93B0"/>
          </a:solidFill>
          <a:ln/>
          <a:effectLst>
            <a:outerShdw sx="100000" sy="100000" kx="0" ky="0" algn="bl" rotWithShape="0" blurRad="130072320500000000" dist="39021696150000000" dir="1.1664e+21">
              <a:srgbClr val="A7B6CE">
                <a:alpha val="18000000000000000000"/>
              </a:srgbClr>
            </a:outerShdw>
          </a:effectLst>
        </p:spPr>
      </p:sp>
      <p:sp>
        <p:nvSpPr>
          <p:cNvPr id="27" name="Text 25"/>
          <p:cNvSpPr/>
          <p:nvPr/>
        </p:nvSpPr>
        <p:spPr>
          <a:xfrm>
            <a:off x="6409944" y="3794760"/>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4</a:t>
            </a:r>
            <a:endParaRPr lang="en-US" sz="1156" dirty="0"/>
          </a:p>
        </p:txBody>
      </p:sp>
      <p:sp>
        <p:nvSpPr>
          <p:cNvPr id="28" name="Text 26"/>
          <p:cNvSpPr/>
          <p:nvPr/>
        </p:nvSpPr>
        <p:spPr>
          <a:xfrm>
            <a:off x="6848856" y="3666744"/>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PCB Image → BOM → should-cost</a:t>
            </a:r>
            <a:endParaRPr lang="en-US" sz="1250" dirty="0"/>
          </a:p>
        </p:txBody>
      </p:sp>
      <p:sp>
        <p:nvSpPr>
          <p:cNvPr id="29" name="Shape 27"/>
          <p:cNvSpPr/>
          <p:nvPr/>
        </p:nvSpPr>
        <p:spPr>
          <a:xfrm>
            <a:off x="548640" y="4270248"/>
            <a:ext cx="5394960" cy="566928"/>
          </a:xfrm>
          <a:prstGeom prst="roundRect">
            <a:avLst>
              <a:gd name="adj" fmla="val 9677"/>
            </a:avLst>
          </a:prstGeom>
          <a:solidFill>
            <a:srgbClr val="F4F7FB"/>
          </a:solidFill>
          <a:ln w="12700">
            <a:solidFill>
              <a:srgbClr val="E4EAF2"/>
            </a:solidFill>
            <a:prstDash val="solid"/>
          </a:ln>
        </p:spPr>
      </p:sp>
      <p:sp>
        <p:nvSpPr>
          <p:cNvPr id="30" name="Shape 28"/>
          <p:cNvSpPr/>
          <p:nvPr/>
        </p:nvSpPr>
        <p:spPr>
          <a:xfrm>
            <a:off x="713232" y="4398264"/>
            <a:ext cx="310896" cy="310896"/>
          </a:xfrm>
          <a:prstGeom prst="ellipse">
            <a:avLst/>
          </a:prstGeom>
          <a:solidFill>
            <a:srgbClr val="E0900C"/>
          </a:solidFill>
          <a:ln/>
          <a:effectLst>
            <a:outerShdw sx="100000" sy="100000" kx="0" ky="0" algn="bl" rotWithShape="0" blurRad="1.65191847035e+21" dist="495575541105000000000" dir="6.9984e+25">
              <a:srgbClr val="A7B6CE">
                <a:alpha val="1.8e+24"/>
              </a:srgbClr>
            </a:outerShdw>
          </a:effectLst>
        </p:spPr>
      </p:sp>
      <p:sp>
        <p:nvSpPr>
          <p:cNvPr id="31" name="Text 29"/>
          <p:cNvSpPr/>
          <p:nvPr/>
        </p:nvSpPr>
        <p:spPr>
          <a:xfrm>
            <a:off x="713232" y="4398264"/>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5</a:t>
            </a:r>
            <a:endParaRPr lang="en-US" sz="1156" dirty="0"/>
          </a:p>
        </p:txBody>
      </p:sp>
      <p:sp>
        <p:nvSpPr>
          <p:cNvPr id="32" name="Text 30"/>
          <p:cNvSpPr/>
          <p:nvPr/>
        </p:nvSpPr>
        <p:spPr>
          <a:xfrm>
            <a:off x="1152144" y="4270248"/>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Global should-cost — engines, rates &amp; transparency</a:t>
            </a:r>
            <a:endParaRPr lang="en-US" sz="1250" dirty="0"/>
          </a:p>
        </p:txBody>
      </p:sp>
      <p:sp>
        <p:nvSpPr>
          <p:cNvPr id="33" name="Shape 31"/>
          <p:cNvSpPr/>
          <p:nvPr/>
        </p:nvSpPr>
        <p:spPr>
          <a:xfrm>
            <a:off x="6245352" y="4270248"/>
            <a:ext cx="5394960" cy="566928"/>
          </a:xfrm>
          <a:prstGeom prst="roundRect">
            <a:avLst>
              <a:gd name="adj" fmla="val 9677"/>
            </a:avLst>
          </a:prstGeom>
          <a:solidFill>
            <a:srgbClr val="FFFFFF"/>
          </a:solidFill>
          <a:ln w="12700">
            <a:solidFill>
              <a:srgbClr val="E4EAF2"/>
            </a:solidFill>
            <a:prstDash val="solid"/>
          </a:ln>
        </p:spPr>
      </p:sp>
      <p:sp>
        <p:nvSpPr>
          <p:cNvPr id="34" name="Shape 32"/>
          <p:cNvSpPr/>
          <p:nvPr/>
        </p:nvSpPr>
        <p:spPr>
          <a:xfrm>
            <a:off x="6409944" y="4398264"/>
            <a:ext cx="310896" cy="310896"/>
          </a:xfrm>
          <a:prstGeom prst="ellipse">
            <a:avLst/>
          </a:prstGeom>
          <a:solidFill>
            <a:srgbClr val="7C3AED"/>
          </a:solidFill>
          <a:ln/>
          <a:effectLst>
            <a:outerShdw sx="100000" sy="100000" kx="0" ky="0" algn="bl" rotWithShape="0" blurRad="2.0979364573445003e+25" dist="6.2938093720335e+24" dir="4.19904e+30">
              <a:srgbClr val="A7B6CE">
                <a:alpha val="1.8e+29"/>
              </a:srgbClr>
            </a:outerShdw>
          </a:effectLst>
        </p:spPr>
      </p:sp>
      <p:sp>
        <p:nvSpPr>
          <p:cNvPr id="35" name="Text 33"/>
          <p:cNvSpPr/>
          <p:nvPr/>
        </p:nvSpPr>
        <p:spPr>
          <a:xfrm>
            <a:off x="6409944" y="4398264"/>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6</a:t>
            </a:r>
            <a:endParaRPr lang="en-US" sz="1156" dirty="0"/>
          </a:p>
        </p:txBody>
      </p:sp>
      <p:sp>
        <p:nvSpPr>
          <p:cNvPr id="36" name="Text 34"/>
          <p:cNvSpPr/>
          <p:nvPr/>
        </p:nvSpPr>
        <p:spPr>
          <a:xfrm>
            <a:off x="6848856" y="4270248"/>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Negotiation Intelligence</a:t>
            </a:r>
            <a:endParaRPr lang="en-US" sz="1250" dirty="0"/>
          </a:p>
        </p:txBody>
      </p:sp>
      <p:sp>
        <p:nvSpPr>
          <p:cNvPr id="37" name="Shape 35"/>
          <p:cNvSpPr/>
          <p:nvPr/>
        </p:nvSpPr>
        <p:spPr>
          <a:xfrm>
            <a:off x="548640" y="4873752"/>
            <a:ext cx="5394960" cy="566928"/>
          </a:xfrm>
          <a:prstGeom prst="roundRect">
            <a:avLst>
              <a:gd name="adj" fmla="val 9677"/>
            </a:avLst>
          </a:prstGeom>
          <a:solidFill>
            <a:srgbClr val="F4F7FB"/>
          </a:solidFill>
          <a:ln w="12700">
            <a:solidFill>
              <a:srgbClr val="E4EAF2"/>
            </a:solidFill>
            <a:prstDash val="solid"/>
          </a:ln>
        </p:spPr>
      </p:sp>
      <p:sp>
        <p:nvSpPr>
          <p:cNvPr id="38" name="Shape 36"/>
          <p:cNvSpPr/>
          <p:nvPr/>
        </p:nvSpPr>
        <p:spPr>
          <a:xfrm>
            <a:off x="713232" y="5001768"/>
            <a:ext cx="310896" cy="310896"/>
          </a:xfrm>
          <a:prstGeom prst="ellipse">
            <a:avLst/>
          </a:prstGeom>
          <a:solidFill>
            <a:srgbClr val="4F46E5"/>
          </a:solidFill>
          <a:ln/>
          <a:effectLst>
            <a:outerShdw sx="100000" sy="100000" kx="0" ky="0" algn="bl" rotWithShape="0" blurRad="2.6643793008275154e+29" dist="7.993137902482545e+28" dir="2.519424e+35">
              <a:srgbClr val="A7B6CE">
                <a:alpha val="1.7999999999999998e+34"/>
              </a:srgbClr>
            </a:outerShdw>
          </a:effectLst>
        </p:spPr>
      </p:sp>
      <p:sp>
        <p:nvSpPr>
          <p:cNvPr id="39" name="Text 37"/>
          <p:cNvSpPr/>
          <p:nvPr/>
        </p:nvSpPr>
        <p:spPr>
          <a:xfrm>
            <a:off x="713232" y="5001768"/>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7</a:t>
            </a:r>
            <a:endParaRPr lang="en-US" sz="1156" dirty="0"/>
          </a:p>
        </p:txBody>
      </p:sp>
      <p:sp>
        <p:nvSpPr>
          <p:cNvPr id="40" name="Text 38"/>
          <p:cNvSpPr/>
          <p:nvPr/>
        </p:nvSpPr>
        <p:spPr>
          <a:xfrm>
            <a:off x="1152144" y="4873752"/>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Agentic &amp; advanced AI</a:t>
            </a:r>
            <a:endParaRPr lang="en-US" sz="1250" dirty="0"/>
          </a:p>
        </p:txBody>
      </p:sp>
      <p:sp>
        <p:nvSpPr>
          <p:cNvPr id="41" name="Shape 39"/>
          <p:cNvSpPr/>
          <p:nvPr/>
        </p:nvSpPr>
        <p:spPr>
          <a:xfrm>
            <a:off x="6245352" y="4873752"/>
            <a:ext cx="5394960" cy="566928"/>
          </a:xfrm>
          <a:prstGeom prst="roundRect">
            <a:avLst>
              <a:gd name="adj" fmla="val 9677"/>
            </a:avLst>
          </a:prstGeom>
          <a:solidFill>
            <a:srgbClr val="FFFFFF"/>
          </a:solidFill>
          <a:ln w="12700">
            <a:solidFill>
              <a:srgbClr val="E4EAF2"/>
            </a:solidFill>
            <a:prstDash val="solid"/>
          </a:ln>
        </p:spPr>
      </p:sp>
      <p:sp>
        <p:nvSpPr>
          <p:cNvPr id="42" name="Shape 40"/>
          <p:cNvSpPr/>
          <p:nvPr/>
        </p:nvSpPr>
        <p:spPr>
          <a:xfrm>
            <a:off x="6409944" y="5001768"/>
            <a:ext cx="310896" cy="310896"/>
          </a:xfrm>
          <a:prstGeom prst="ellipse">
            <a:avLst/>
          </a:prstGeom>
          <a:solidFill>
            <a:srgbClr val="0EA472"/>
          </a:solidFill>
          <a:ln/>
          <a:effectLst>
            <a:outerShdw sx="100000" sy="100000" kx="0" ky="0" algn="bl" rotWithShape="0" blurRad="3.3837617120509443e+33" dist="1.0151285136152831e+33" dir="1.5116544e+40">
              <a:srgbClr val="A7B6CE">
                <a:alpha val="1.8e+39"/>
              </a:srgbClr>
            </a:outerShdw>
          </a:effectLst>
        </p:spPr>
      </p:sp>
      <p:sp>
        <p:nvSpPr>
          <p:cNvPr id="43" name="Text 41"/>
          <p:cNvSpPr/>
          <p:nvPr/>
        </p:nvSpPr>
        <p:spPr>
          <a:xfrm>
            <a:off x="6409944" y="5001768"/>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8</a:t>
            </a:r>
            <a:endParaRPr lang="en-US" sz="1156" dirty="0"/>
          </a:p>
        </p:txBody>
      </p:sp>
      <p:sp>
        <p:nvSpPr>
          <p:cNvPr id="44" name="Text 42"/>
          <p:cNvSpPr/>
          <p:nvPr/>
        </p:nvSpPr>
        <p:spPr>
          <a:xfrm>
            <a:off x="6848856" y="4873752"/>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Trust, accuracy &amp; data security</a:t>
            </a:r>
            <a:endParaRPr lang="en-US" sz="1250" dirty="0"/>
          </a:p>
        </p:txBody>
      </p:sp>
      <p:sp>
        <p:nvSpPr>
          <p:cNvPr id="45" name="Shape 43"/>
          <p:cNvSpPr/>
          <p:nvPr/>
        </p:nvSpPr>
        <p:spPr>
          <a:xfrm>
            <a:off x="548640" y="5477256"/>
            <a:ext cx="5394960" cy="566928"/>
          </a:xfrm>
          <a:prstGeom prst="roundRect">
            <a:avLst>
              <a:gd name="adj" fmla="val 9677"/>
            </a:avLst>
          </a:prstGeom>
          <a:solidFill>
            <a:srgbClr val="F4F7FB"/>
          </a:solidFill>
          <a:ln w="12700">
            <a:solidFill>
              <a:srgbClr val="E4EAF2"/>
            </a:solidFill>
            <a:prstDash val="solid"/>
          </a:ln>
        </p:spPr>
      </p:sp>
      <p:sp>
        <p:nvSpPr>
          <p:cNvPr id="46" name="Shape 44"/>
          <p:cNvSpPr/>
          <p:nvPr/>
        </p:nvSpPr>
        <p:spPr>
          <a:xfrm>
            <a:off x="713232" y="5605272"/>
            <a:ext cx="310896" cy="310896"/>
          </a:xfrm>
          <a:prstGeom prst="ellipse">
            <a:avLst/>
          </a:prstGeom>
          <a:solidFill>
            <a:srgbClr val="2563EB"/>
          </a:solidFill>
          <a:ln/>
          <a:effectLst>
            <a:outerShdw sx="100000" sy="100000" kx="0" ky="0" algn="bl" rotWithShape="0" blurRad="4.297377374304699e+37" dist="1.2892132122914095e+37" dir="9.069926400000001e+44">
              <a:srgbClr val="A7B6CE">
                <a:alpha val="1.8e+44"/>
              </a:srgbClr>
            </a:outerShdw>
          </a:effectLst>
        </p:spPr>
      </p:sp>
      <p:sp>
        <p:nvSpPr>
          <p:cNvPr id="47" name="Text 45"/>
          <p:cNvSpPr/>
          <p:nvPr/>
        </p:nvSpPr>
        <p:spPr>
          <a:xfrm>
            <a:off x="713232" y="5605272"/>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9</a:t>
            </a:r>
            <a:endParaRPr lang="en-US" sz="1156" dirty="0"/>
          </a:p>
        </p:txBody>
      </p:sp>
      <p:sp>
        <p:nvSpPr>
          <p:cNvPr id="48" name="Text 46"/>
          <p:cNvSpPr/>
          <p:nvPr/>
        </p:nvSpPr>
        <p:spPr>
          <a:xfrm>
            <a:off x="1152144" y="5477256"/>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Way forward, blueprint &amp; live demo</a:t>
            </a:r>
            <a:endParaRPr lang="en-US" sz="1250" dirty="0"/>
          </a:p>
        </p:txBody>
      </p:sp>
      <p:sp>
        <p:nvSpPr>
          <p:cNvPr id="49" name="Shape 47"/>
          <p:cNvSpPr/>
          <p:nvPr/>
        </p:nvSpPr>
        <p:spPr>
          <a:xfrm>
            <a:off x="548640" y="6400800"/>
            <a:ext cx="11094415" cy="12802"/>
          </a:xfrm>
          <a:prstGeom prst="rect">
            <a:avLst/>
          </a:prstGeom>
          <a:solidFill>
            <a:srgbClr val="E4EAF2"/>
          </a:solidFill>
          <a:ln/>
        </p:spPr>
      </p:sp>
      <p:sp>
        <p:nvSpPr>
          <p:cNvPr id="50" name="Text 48"/>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1" name="Text 49"/>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2563EB"/>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2563EB"/>
                </a:solidFill>
                <a:latin typeface="Calibri" pitchFamily="34" charset="0"/>
                <a:ea typeface="Calibri" pitchFamily="34" charset="-122"/>
                <a:cs typeface="Calibri" pitchFamily="34" charset="-120"/>
              </a:rPr>
              <a:t>WHERE WE ARE → WHERE WE GO</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From manual should-costing to AI-assisted</a:t>
            </a:r>
            <a:endParaRPr lang="en-US" sz="2400" dirty="0"/>
          </a:p>
        </p:txBody>
      </p:sp>
      <p:sp>
        <p:nvSpPr>
          <p:cNvPr id="9" name="Shape 7"/>
          <p:cNvSpPr/>
          <p:nvPr/>
        </p:nvSpPr>
        <p:spPr>
          <a:xfrm>
            <a:off x="548640" y="1371600"/>
            <a:ext cx="1051560" cy="45720"/>
          </a:xfrm>
          <a:prstGeom prst="rect">
            <a:avLst/>
          </a:prstGeom>
          <a:solidFill>
            <a:srgbClr val="2563EB"/>
          </a:solidFill>
          <a:ln/>
        </p:spPr>
      </p:sp>
      <p:sp>
        <p:nvSpPr>
          <p:cNvPr id="10" name="Text 8"/>
          <p:cNvSpPr/>
          <p:nvPr/>
        </p:nvSpPr>
        <p:spPr>
          <a:xfrm>
            <a:off x="548640" y="1536192"/>
            <a:ext cx="11064240" cy="365760"/>
          </a:xfrm>
          <a:prstGeom prst="rect">
            <a:avLst/>
          </a:prstGeom>
          <a:noFill/>
          <a:ln/>
        </p:spPr>
        <p:txBody>
          <a:bodyPr wrap="square" lIns="0" tIns="0" rIns="0" bIns="0" rtlCol="0" anchor="t"/>
          <a:lstStyle/>
          <a:p>
            <a:pPr indent="0" marL="0">
              <a:buNone/>
            </a:pPr>
            <a:r>
              <a:rPr lang="en-US" sz="1200" dirty="0">
                <a:solidFill>
                  <a:srgbClr val="3E4C63"/>
                </a:solidFill>
                <a:latin typeface="Calibri" pitchFamily="34" charset="0"/>
                <a:ea typeface="Calibri" pitchFamily="34" charset="-122"/>
                <a:cs typeface="Calibri" pitchFamily="34" charset="-120"/>
              </a:rPr>
              <a:t>We already do rigorous should-costing across every commodity. CostVision keeps that method — and automates the hands-on steps with AI.</a:t>
            </a:r>
            <a:endParaRPr lang="en-US" sz="1200" dirty="0"/>
          </a:p>
        </p:txBody>
      </p:sp>
      <p:sp>
        <p:nvSpPr>
          <p:cNvPr id="11" name="Shape 9"/>
          <p:cNvSpPr/>
          <p:nvPr/>
        </p:nvSpPr>
        <p:spPr>
          <a:xfrm>
            <a:off x="548640" y="2057400"/>
            <a:ext cx="5349240" cy="3246120"/>
          </a:xfrm>
          <a:prstGeom prst="roundRect">
            <a:avLst>
              <a:gd name="adj" fmla="val 1972"/>
            </a:avLst>
          </a:prstGeom>
          <a:solidFill>
            <a:srgbClr val="FFFFFF"/>
          </a:solidFill>
          <a:ln w="12700">
            <a:solidFill>
              <a:srgbClr val="E4EAF2"/>
            </a:solidFill>
            <a:prstDash val="solid"/>
          </a:ln>
        </p:spPr>
      </p:sp>
      <p:sp>
        <p:nvSpPr>
          <p:cNvPr id="12" name="Shape 10"/>
          <p:cNvSpPr/>
          <p:nvPr/>
        </p:nvSpPr>
        <p:spPr>
          <a:xfrm>
            <a:off x="548640" y="2057400"/>
            <a:ext cx="5349240" cy="457200"/>
          </a:xfrm>
          <a:prstGeom prst="rect">
            <a:avLst/>
          </a:prstGeom>
          <a:solidFill>
            <a:srgbClr val="FEF6E7"/>
          </a:solidFill>
          <a:ln/>
        </p:spPr>
      </p:sp>
      <p:sp>
        <p:nvSpPr>
          <p:cNvPr id="13" name="Text 11"/>
          <p:cNvSpPr/>
          <p:nvPr/>
        </p:nvSpPr>
        <p:spPr>
          <a:xfrm>
            <a:off x="822960" y="2057400"/>
            <a:ext cx="4892040" cy="457200"/>
          </a:xfrm>
          <a:prstGeom prst="rect">
            <a:avLst/>
          </a:prstGeom>
          <a:noFill/>
          <a:ln/>
        </p:spPr>
        <p:txBody>
          <a:bodyPr wrap="square" lIns="0" tIns="0" rIns="0" bIns="0" rtlCol="0" anchor="ctr"/>
          <a:lstStyle/>
          <a:p>
            <a:pPr indent="0" marL="0">
              <a:buNone/>
            </a:pPr>
            <a:r>
              <a:rPr lang="en-US" sz="1300" b="1" dirty="0">
                <a:solidFill>
                  <a:srgbClr val="E0900C"/>
                </a:solidFill>
                <a:latin typeface="Calibri" pitchFamily="34" charset="0"/>
                <a:ea typeface="Calibri" pitchFamily="34" charset="-122"/>
                <a:cs typeface="Calibri" pitchFamily="34" charset="-120"/>
              </a:rPr>
              <a:t>OUR SHOULD-COST TODAY  ·  capable, but hands-on</a:t>
            </a:r>
            <a:endParaRPr lang="en-US" sz="1300" dirty="0"/>
          </a:p>
        </p:txBody>
      </p:sp>
      <p:sp>
        <p:nvSpPr>
          <p:cNvPr id="14" name="Shape 12"/>
          <p:cNvSpPr/>
          <p:nvPr/>
        </p:nvSpPr>
        <p:spPr>
          <a:xfrm>
            <a:off x="804672" y="2679192"/>
            <a:ext cx="329184" cy="329184"/>
          </a:xfrm>
          <a:prstGeom prst="ellipse">
            <a:avLst/>
          </a:prstGeom>
          <a:solidFill>
            <a:srgbClr val="FEF6E7"/>
          </a:solidFill>
          <a:ln/>
        </p:spPr>
      </p:sp>
      <p:sp>
        <p:nvSpPr>
          <p:cNvPr id="15" name="Text 13"/>
          <p:cNvSpPr/>
          <p:nvPr/>
        </p:nvSpPr>
        <p:spPr>
          <a:xfrm>
            <a:off x="804672" y="2670048"/>
            <a:ext cx="329184" cy="329184"/>
          </a:xfrm>
          <a:prstGeom prst="rect">
            <a:avLst/>
          </a:prstGeom>
          <a:noFill/>
          <a:ln/>
        </p:spPr>
        <p:txBody>
          <a:bodyPr wrap="square" lIns="0" tIns="0" rIns="0" bIns="0" rtlCol="0" anchor="ctr"/>
          <a:lstStyle/>
          <a:p>
            <a:pPr algn="ctr" indent="0" marL="0">
              <a:buNone/>
            </a:pPr>
            <a:r>
              <a:rPr lang="en-US" sz="900" b="1" dirty="0">
                <a:solidFill>
                  <a:srgbClr val="E0900C"/>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1243584" y="2624328"/>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Trusted &amp; thorough</a:t>
            </a:r>
            <a:endParaRPr lang="en-US" sz="1250" dirty="0"/>
          </a:p>
        </p:txBody>
      </p:sp>
      <p:sp>
        <p:nvSpPr>
          <p:cNvPr id="17" name="Text 15"/>
          <p:cNvSpPr/>
          <p:nvPr/>
        </p:nvSpPr>
        <p:spPr>
          <a:xfrm>
            <a:off x="1243584" y="2935224"/>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 rigorous bottom-up method across every commodity</a:t>
            </a:r>
            <a:endParaRPr lang="en-US" sz="1000" dirty="0"/>
          </a:p>
        </p:txBody>
      </p:sp>
      <p:sp>
        <p:nvSpPr>
          <p:cNvPr id="18" name="Shape 16"/>
          <p:cNvSpPr/>
          <p:nvPr/>
        </p:nvSpPr>
        <p:spPr>
          <a:xfrm>
            <a:off x="804672" y="3337560"/>
            <a:ext cx="329184" cy="329184"/>
          </a:xfrm>
          <a:prstGeom prst="ellipse">
            <a:avLst/>
          </a:prstGeom>
          <a:solidFill>
            <a:srgbClr val="FEF6E7"/>
          </a:solidFill>
          <a:ln/>
        </p:spPr>
      </p:sp>
      <p:sp>
        <p:nvSpPr>
          <p:cNvPr id="19" name="Text 17"/>
          <p:cNvSpPr/>
          <p:nvPr/>
        </p:nvSpPr>
        <p:spPr>
          <a:xfrm>
            <a:off x="804672" y="3328416"/>
            <a:ext cx="329184" cy="329184"/>
          </a:xfrm>
          <a:prstGeom prst="rect">
            <a:avLst/>
          </a:prstGeom>
          <a:noFill/>
          <a:ln/>
        </p:spPr>
        <p:txBody>
          <a:bodyPr wrap="square" lIns="0" tIns="0" rIns="0" bIns="0" rtlCol="0" anchor="ctr"/>
          <a:lstStyle/>
          <a:p>
            <a:pPr algn="ctr" indent="0" marL="0">
              <a:buNone/>
            </a:pPr>
            <a:r>
              <a:rPr lang="en-US" sz="900" b="1" dirty="0">
                <a:solidFill>
                  <a:srgbClr val="E0900C"/>
                </a:solidFill>
                <a:latin typeface="Calibri" pitchFamily="34" charset="0"/>
                <a:ea typeface="Calibri" pitchFamily="34" charset="-122"/>
                <a:cs typeface="Calibri" pitchFamily="34" charset="-120"/>
              </a:rPr>
              <a:t>●</a:t>
            </a:r>
            <a:endParaRPr lang="en-US" sz="900" dirty="0"/>
          </a:p>
        </p:txBody>
      </p:sp>
      <p:sp>
        <p:nvSpPr>
          <p:cNvPr id="20" name="Text 18"/>
          <p:cNvSpPr/>
          <p:nvPr/>
        </p:nvSpPr>
        <p:spPr>
          <a:xfrm>
            <a:off x="1243584" y="3282696"/>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Hands-on setup</a:t>
            </a:r>
            <a:endParaRPr lang="en-US" sz="1250" dirty="0"/>
          </a:p>
        </p:txBody>
      </p:sp>
      <p:sp>
        <p:nvSpPr>
          <p:cNvPr id="21" name="Text 19"/>
          <p:cNvSpPr/>
          <p:nvPr/>
        </p:nvSpPr>
        <p:spPr>
          <a:xfrm>
            <a:off x="1243584" y="3593592"/>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material, process &amp; machine selected manually, part by part</a:t>
            </a:r>
            <a:endParaRPr lang="en-US" sz="1000" dirty="0"/>
          </a:p>
        </p:txBody>
      </p:sp>
      <p:sp>
        <p:nvSpPr>
          <p:cNvPr id="22" name="Shape 20"/>
          <p:cNvSpPr/>
          <p:nvPr/>
        </p:nvSpPr>
        <p:spPr>
          <a:xfrm>
            <a:off x="804672" y="3995928"/>
            <a:ext cx="329184" cy="329184"/>
          </a:xfrm>
          <a:prstGeom prst="ellipse">
            <a:avLst/>
          </a:prstGeom>
          <a:solidFill>
            <a:srgbClr val="FEF6E7"/>
          </a:solidFill>
          <a:ln/>
        </p:spPr>
      </p:sp>
      <p:sp>
        <p:nvSpPr>
          <p:cNvPr id="23" name="Text 21"/>
          <p:cNvSpPr/>
          <p:nvPr/>
        </p:nvSpPr>
        <p:spPr>
          <a:xfrm>
            <a:off x="804672" y="3986784"/>
            <a:ext cx="329184" cy="329184"/>
          </a:xfrm>
          <a:prstGeom prst="rect">
            <a:avLst/>
          </a:prstGeom>
          <a:noFill/>
          <a:ln/>
        </p:spPr>
        <p:txBody>
          <a:bodyPr wrap="square" lIns="0" tIns="0" rIns="0" bIns="0" rtlCol="0" anchor="ctr"/>
          <a:lstStyle/>
          <a:p>
            <a:pPr algn="ctr" indent="0" marL="0">
              <a:buNone/>
            </a:pPr>
            <a:r>
              <a:rPr lang="en-US" sz="900" b="1" dirty="0">
                <a:solidFill>
                  <a:srgbClr val="E0900C"/>
                </a:solidFill>
                <a:latin typeface="Calibri" pitchFamily="34" charset="0"/>
                <a:ea typeface="Calibri" pitchFamily="34" charset="-122"/>
                <a:cs typeface="Calibri" pitchFamily="34" charset="-120"/>
              </a:rPr>
              <a:t>●</a:t>
            </a:r>
            <a:endParaRPr lang="en-US" sz="900" dirty="0"/>
          </a:p>
        </p:txBody>
      </p:sp>
      <p:sp>
        <p:nvSpPr>
          <p:cNvPr id="24" name="Text 22"/>
          <p:cNvSpPr/>
          <p:nvPr/>
        </p:nvSpPr>
        <p:spPr>
          <a:xfrm>
            <a:off x="1243584" y="3941064"/>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Manual data entry</a:t>
            </a:r>
            <a:endParaRPr lang="en-US" sz="1250" dirty="0"/>
          </a:p>
        </p:txBody>
      </p:sp>
      <p:sp>
        <p:nvSpPr>
          <p:cNvPr id="25" name="Text 23"/>
          <p:cNvSpPr/>
          <p:nvPr/>
        </p:nvSpPr>
        <p:spPr>
          <a:xfrm>
            <a:off x="1243584" y="4251960"/>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geometry &amp; tolerances read off 3D CAD and drawings by hand</a:t>
            </a:r>
            <a:endParaRPr lang="en-US" sz="1000" dirty="0"/>
          </a:p>
        </p:txBody>
      </p:sp>
      <p:sp>
        <p:nvSpPr>
          <p:cNvPr id="26" name="Shape 24"/>
          <p:cNvSpPr/>
          <p:nvPr/>
        </p:nvSpPr>
        <p:spPr>
          <a:xfrm>
            <a:off x="804672" y="4654296"/>
            <a:ext cx="329184" cy="329184"/>
          </a:xfrm>
          <a:prstGeom prst="ellipse">
            <a:avLst/>
          </a:prstGeom>
          <a:solidFill>
            <a:srgbClr val="FEF6E7"/>
          </a:solidFill>
          <a:ln/>
        </p:spPr>
      </p:sp>
      <p:sp>
        <p:nvSpPr>
          <p:cNvPr id="27" name="Text 25"/>
          <p:cNvSpPr/>
          <p:nvPr/>
        </p:nvSpPr>
        <p:spPr>
          <a:xfrm>
            <a:off x="804672" y="4645152"/>
            <a:ext cx="329184" cy="329184"/>
          </a:xfrm>
          <a:prstGeom prst="rect">
            <a:avLst/>
          </a:prstGeom>
          <a:noFill/>
          <a:ln/>
        </p:spPr>
        <p:txBody>
          <a:bodyPr wrap="square" lIns="0" tIns="0" rIns="0" bIns="0" rtlCol="0" anchor="ctr"/>
          <a:lstStyle/>
          <a:p>
            <a:pPr algn="ctr" indent="0" marL="0">
              <a:buNone/>
            </a:pPr>
            <a:r>
              <a:rPr lang="en-US" sz="900" b="1" dirty="0">
                <a:solidFill>
                  <a:srgbClr val="E0900C"/>
                </a:solidFill>
                <a:latin typeface="Calibri" pitchFamily="34" charset="0"/>
                <a:ea typeface="Calibri" pitchFamily="34" charset="-122"/>
                <a:cs typeface="Calibri" pitchFamily="34" charset="-120"/>
              </a:rPr>
              <a:t>●</a:t>
            </a:r>
            <a:endParaRPr lang="en-US" sz="900" dirty="0"/>
          </a:p>
        </p:txBody>
      </p:sp>
      <p:sp>
        <p:nvSpPr>
          <p:cNvPr id="28" name="Text 26"/>
          <p:cNvSpPr/>
          <p:nvPr/>
        </p:nvSpPr>
        <p:spPr>
          <a:xfrm>
            <a:off x="1243584" y="4599432"/>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Updated by hand</a:t>
            </a:r>
            <a:endParaRPr lang="en-US" sz="1250" dirty="0"/>
          </a:p>
        </p:txBody>
      </p:sp>
      <p:sp>
        <p:nvSpPr>
          <p:cNvPr id="29" name="Text 27"/>
          <p:cNvSpPr/>
          <p:nvPr/>
        </p:nvSpPr>
        <p:spPr>
          <a:xfrm>
            <a:off x="1243584" y="4910328"/>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rates &amp; inputs refreshed manually as economics change</a:t>
            </a:r>
            <a:endParaRPr lang="en-US" sz="1000" dirty="0"/>
          </a:p>
        </p:txBody>
      </p:sp>
      <p:sp>
        <p:nvSpPr>
          <p:cNvPr id="30" name="Shape 28"/>
          <p:cNvSpPr/>
          <p:nvPr/>
        </p:nvSpPr>
        <p:spPr>
          <a:xfrm>
            <a:off x="6291072" y="2057400"/>
            <a:ext cx="5349240" cy="3246120"/>
          </a:xfrm>
          <a:prstGeom prst="roundRect">
            <a:avLst>
              <a:gd name="adj" fmla="val 1972"/>
            </a:avLst>
          </a:prstGeom>
          <a:solidFill>
            <a:srgbClr val="FFFFFF"/>
          </a:solidFill>
          <a:ln w="12700">
            <a:solidFill>
              <a:srgbClr val="E4EAF2"/>
            </a:solidFill>
            <a:prstDash val="solid"/>
          </a:ln>
        </p:spPr>
      </p:sp>
      <p:sp>
        <p:nvSpPr>
          <p:cNvPr id="31" name="Shape 29"/>
          <p:cNvSpPr/>
          <p:nvPr/>
        </p:nvSpPr>
        <p:spPr>
          <a:xfrm>
            <a:off x="6291072" y="2057400"/>
            <a:ext cx="5349240" cy="457200"/>
          </a:xfrm>
          <a:prstGeom prst="rect">
            <a:avLst/>
          </a:prstGeom>
          <a:solidFill>
            <a:srgbClr val="E7F7F0"/>
          </a:solidFill>
          <a:ln/>
        </p:spPr>
      </p:sp>
      <p:sp>
        <p:nvSpPr>
          <p:cNvPr id="32" name="Text 30"/>
          <p:cNvSpPr/>
          <p:nvPr/>
        </p:nvSpPr>
        <p:spPr>
          <a:xfrm>
            <a:off x="6565392" y="2057400"/>
            <a:ext cx="4892040" cy="457200"/>
          </a:xfrm>
          <a:prstGeom prst="rect">
            <a:avLst/>
          </a:prstGeom>
          <a:noFill/>
          <a:ln/>
        </p:spPr>
        <p:txBody>
          <a:bodyPr wrap="square" lIns="0" tIns="0" rIns="0" bIns="0" rtlCol="0" anchor="ctr"/>
          <a:lstStyle/>
          <a:p>
            <a:pPr indent="0" marL="0">
              <a:buNone/>
            </a:pPr>
            <a:r>
              <a:rPr lang="en-US" sz="1300" b="1" dirty="0">
                <a:solidFill>
                  <a:srgbClr val="0EA472"/>
                </a:solidFill>
                <a:latin typeface="Calibri" pitchFamily="34" charset="0"/>
                <a:ea typeface="Calibri" pitchFamily="34" charset="-122"/>
                <a:cs typeface="Calibri" pitchFamily="34" charset="-120"/>
              </a:rPr>
              <a:t>WITH COSTVISION  ·  automated &amp; AI-assisted</a:t>
            </a:r>
            <a:endParaRPr lang="en-US" sz="1300" dirty="0"/>
          </a:p>
        </p:txBody>
      </p:sp>
      <p:sp>
        <p:nvSpPr>
          <p:cNvPr id="33" name="Shape 31"/>
          <p:cNvSpPr/>
          <p:nvPr/>
        </p:nvSpPr>
        <p:spPr>
          <a:xfrm>
            <a:off x="6547104" y="2679192"/>
            <a:ext cx="329184" cy="329184"/>
          </a:xfrm>
          <a:prstGeom prst="ellipse">
            <a:avLst/>
          </a:prstGeom>
          <a:solidFill>
            <a:srgbClr val="E7F7F0"/>
          </a:solidFill>
          <a:ln/>
        </p:spPr>
      </p:sp>
      <p:sp>
        <p:nvSpPr>
          <p:cNvPr id="34" name="Text 32"/>
          <p:cNvSpPr/>
          <p:nvPr/>
        </p:nvSpPr>
        <p:spPr>
          <a:xfrm>
            <a:off x="6547104" y="2670048"/>
            <a:ext cx="329184" cy="329184"/>
          </a:xfrm>
          <a:prstGeom prst="rect">
            <a:avLst/>
          </a:prstGeom>
          <a:noFill/>
          <a:ln/>
        </p:spPr>
        <p:txBody>
          <a:bodyPr wrap="square" lIns="0" tIns="0" rIns="0" bIns="0" rtlCol="0" anchor="ctr"/>
          <a:lstStyle/>
          <a:p>
            <a:pPr algn="ctr" indent="0" marL="0">
              <a:buNone/>
            </a:pPr>
            <a:r>
              <a:rPr lang="en-US" sz="1300" b="1" dirty="0">
                <a:solidFill>
                  <a:srgbClr val="0EA472"/>
                </a:solidFill>
                <a:latin typeface="Calibri" pitchFamily="34" charset="0"/>
                <a:ea typeface="Calibri" pitchFamily="34" charset="-122"/>
                <a:cs typeface="Calibri" pitchFamily="34" charset="-120"/>
              </a:rPr>
              <a:t>✓</a:t>
            </a:r>
            <a:endParaRPr lang="en-US" sz="1300" dirty="0"/>
          </a:p>
        </p:txBody>
      </p:sp>
      <p:sp>
        <p:nvSpPr>
          <p:cNvPr id="35" name="Text 33"/>
          <p:cNvSpPr/>
          <p:nvPr/>
        </p:nvSpPr>
        <p:spPr>
          <a:xfrm>
            <a:off x="6986016" y="2624328"/>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Same rigour, automated</a:t>
            </a:r>
            <a:endParaRPr lang="en-US" sz="1250" dirty="0"/>
          </a:p>
        </p:txBody>
      </p:sp>
      <p:sp>
        <p:nvSpPr>
          <p:cNvPr id="36" name="Text 34"/>
          <p:cNvSpPr/>
          <p:nvPr/>
        </p:nvSpPr>
        <p:spPr>
          <a:xfrm>
            <a:off x="6986016" y="2935224"/>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the deterministic method we trust — the manual steps removed</a:t>
            </a:r>
            <a:endParaRPr lang="en-US" sz="1000" dirty="0"/>
          </a:p>
        </p:txBody>
      </p:sp>
      <p:sp>
        <p:nvSpPr>
          <p:cNvPr id="37" name="Shape 35"/>
          <p:cNvSpPr/>
          <p:nvPr/>
        </p:nvSpPr>
        <p:spPr>
          <a:xfrm>
            <a:off x="6547104" y="3337560"/>
            <a:ext cx="329184" cy="329184"/>
          </a:xfrm>
          <a:prstGeom prst="ellipse">
            <a:avLst/>
          </a:prstGeom>
          <a:solidFill>
            <a:srgbClr val="E7F7F0"/>
          </a:solidFill>
          <a:ln/>
        </p:spPr>
      </p:sp>
      <p:sp>
        <p:nvSpPr>
          <p:cNvPr id="38" name="Text 36"/>
          <p:cNvSpPr/>
          <p:nvPr/>
        </p:nvSpPr>
        <p:spPr>
          <a:xfrm>
            <a:off x="6547104" y="3328416"/>
            <a:ext cx="329184" cy="329184"/>
          </a:xfrm>
          <a:prstGeom prst="rect">
            <a:avLst/>
          </a:prstGeom>
          <a:noFill/>
          <a:ln/>
        </p:spPr>
        <p:txBody>
          <a:bodyPr wrap="square" lIns="0" tIns="0" rIns="0" bIns="0" rtlCol="0" anchor="ctr"/>
          <a:lstStyle/>
          <a:p>
            <a:pPr algn="ctr" indent="0" marL="0">
              <a:buNone/>
            </a:pPr>
            <a:r>
              <a:rPr lang="en-US" sz="1300" b="1" dirty="0">
                <a:solidFill>
                  <a:srgbClr val="0EA472"/>
                </a:solidFill>
                <a:latin typeface="Calibri" pitchFamily="34" charset="0"/>
                <a:ea typeface="Calibri" pitchFamily="34" charset="-122"/>
                <a:cs typeface="Calibri" pitchFamily="34" charset="-120"/>
              </a:rPr>
              <a:t>✓</a:t>
            </a:r>
            <a:endParaRPr lang="en-US" sz="1300" dirty="0"/>
          </a:p>
        </p:txBody>
      </p:sp>
      <p:sp>
        <p:nvSpPr>
          <p:cNvPr id="39" name="Text 37"/>
          <p:cNvSpPr/>
          <p:nvPr/>
        </p:nvSpPr>
        <p:spPr>
          <a:xfrm>
            <a:off x="6986016" y="3282696"/>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Reads CAD &amp; drawings</a:t>
            </a:r>
            <a:endParaRPr lang="en-US" sz="1250" dirty="0"/>
          </a:p>
        </p:txBody>
      </p:sp>
      <p:sp>
        <p:nvSpPr>
          <p:cNvPr id="40" name="Text 38"/>
          <p:cNvSpPr/>
          <p:nvPr/>
        </p:nvSpPr>
        <p:spPr>
          <a:xfrm>
            <a:off x="6986016" y="3593592"/>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geometry, features &amp; tolerances extracted automatically</a:t>
            </a:r>
            <a:endParaRPr lang="en-US" sz="1000" dirty="0"/>
          </a:p>
        </p:txBody>
      </p:sp>
      <p:sp>
        <p:nvSpPr>
          <p:cNvPr id="41" name="Shape 39"/>
          <p:cNvSpPr/>
          <p:nvPr/>
        </p:nvSpPr>
        <p:spPr>
          <a:xfrm>
            <a:off x="6547104" y="3995928"/>
            <a:ext cx="329184" cy="329184"/>
          </a:xfrm>
          <a:prstGeom prst="ellipse">
            <a:avLst/>
          </a:prstGeom>
          <a:solidFill>
            <a:srgbClr val="E7F7F0"/>
          </a:solidFill>
          <a:ln/>
        </p:spPr>
      </p:sp>
      <p:sp>
        <p:nvSpPr>
          <p:cNvPr id="42" name="Text 40"/>
          <p:cNvSpPr/>
          <p:nvPr/>
        </p:nvSpPr>
        <p:spPr>
          <a:xfrm>
            <a:off x="6547104" y="3986784"/>
            <a:ext cx="329184" cy="329184"/>
          </a:xfrm>
          <a:prstGeom prst="rect">
            <a:avLst/>
          </a:prstGeom>
          <a:noFill/>
          <a:ln/>
        </p:spPr>
        <p:txBody>
          <a:bodyPr wrap="square" lIns="0" tIns="0" rIns="0" bIns="0" rtlCol="0" anchor="ctr"/>
          <a:lstStyle/>
          <a:p>
            <a:pPr algn="ctr" indent="0" marL="0">
              <a:buNone/>
            </a:pPr>
            <a:r>
              <a:rPr lang="en-US" sz="1300" b="1" dirty="0">
                <a:solidFill>
                  <a:srgbClr val="0EA472"/>
                </a:solidFill>
                <a:latin typeface="Calibri" pitchFamily="34" charset="0"/>
                <a:ea typeface="Calibri" pitchFamily="34" charset="-122"/>
                <a:cs typeface="Calibri" pitchFamily="34" charset="-120"/>
              </a:rPr>
              <a:t>✓</a:t>
            </a:r>
            <a:endParaRPr lang="en-US" sz="1300" dirty="0"/>
          </a:p>
        </p:txBody>
      </p:sp>
      <p:sp>
        <p:nvSpPr>
          <p:cNvPr id="43" name="Text 41"/>
          <p:cNvSpPr/>
          <p:nvPr/>
        </p:nvSpPr>
        <p:spPr>
          <a:xfrm>
            <a:off x="6986016" y="3941064"/>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AI suggests, we decide</a:t>
            </a:r>
            <a:endParaRPr lang="en-US" sz="1250" dirty="0"/>
          </a:p>
        </p:txBody>
      </p:sp>
      <p:sp>
        <p:nvSpPr>
          <p:cNvPr id="44" name="Text 42"/>
          <p:cNvSpPr/>
          <p:nvPr/>
        </p:nvSpPr>
        <p:spPr>
          <a:xfrm>
            <a:off x="6986016" y="4251960"/>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material &amp; process proposed with a confidence score to confirm</a:t>
            </a:r>
            <a:endParaRPr lang="en-US" sz="1000" dirty="0"/>
          </a:p>
        </p:txBody>
      </p:sp>
      <p:sp>
        <p:nvSpPr>
          <p:cNvPr id="45" name="Shape 43"/>
          <p:cNvSpPr/>
          <p:nvPr/>
        </p:nvSpPr>
        <p:spPr>
          <a:xfrm>
            <a:off x="6547104" y="4654296"/>
            <a:ext cx="329184" cy="329184"/>
          </a:xfrm>
          <a:prstGeom prst="ellipse">
            <a:avLst/>
          </a:prstGeom>
          <a:solidFill>
            <a:srgbClr val="E7F7F0"/>
          </a:solidFill>
          <a:ln/>
        </p:spPr>
      </p:sp>
      <p:sp>
        <p:nvSpPr>
          <p:cNvPr id="46" name="Text 44"/>
          <p:cNvSpPr/>
          <p:nvPr/>
        </p:nvSpPr>
        <p:spPr>
          <a:xfrm>
            <a:off x="6547104" y="4645152"/>
            <a:ext cx="329184" cy="329184"/>
          </a:xfrm>
          <a:prstGeom prst="rect">
            <a:avLst/>
          </a:prstGeom>
          <a:noFill/>
          <a:ln/>
        </p:spPr>
        <p:txBody>
          <a:bodyPr wrap="square" lIns="0" tIns="0" rIns="0" bIns="0" rtlCol="0" anchor="ctr"/>
          <a:lstStyle/>
          <a:p>
            <a:pPr algn="ctr" indent="0" marL="0">
              <a:buNone/>
            </a:pPr>
            <a:r>
              <a:rPr lang="en-US" sz="1300" b="1" dirty="0">
                <a:solidFill>
                  <a:srgbClr val="0EA472"/>
                </a:solidFill>
                <a:latin typeface="Calibri" pitchFamily="34" charset="0"/>
                <a:ea typeface="Calibri" pitchFamily="34" charset="-122"/>
                <a:cs typeface="Calibri" pitchFamily="34" charset="-120"/>
              </a:rPr>
              <a:t>✓</a:t>
            </a:r>
            <a:endParaRPr lang="en-US" sz="1300" dirty="0"/>
          </a:p>
        </p:txBody>
      </p:sp>
      <p:sp>
        <p:nvSpPr>
          <p:cNvPr id="47" name="Text 45"/>
          <p:cNvSpPr/>
          <p:nvPr/>
        </p:nvSpPr>
        <p:spPr>
          <a:xfrm>
            <a:off x="6986016" y="4599432"/>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One versioned rate library</a:t>
            </a:r>
            <a:endParaRPr lang="en-US" sz="1250" dirty="0"/>
          </a:p>
        </p:txBody>
      </p:sp>
      <p:sp>
        <p:nvSpPr>
          <p:cNvPr id="48" name="Text 46"/>
          <p:cNvSpPr/>
          <p:nvPr/>
        </p:nvSpPr>
        <p:spPr>
          <a:xfrm>
            <a:off x="6986016" y="4910328"/>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upload updated rates once — every part re-prices in a click</a:t>
            </a:r>
            <a:endParaRPr lang="en-US" sz="1000" dirty="0"/>
          </a:p>
        </p:txBody>
      </p:sp>
      <p:sp>
        <p:nvSpPr>
          <p:cNvPr id="49" name="Text 47"/>
          <p:cNvSpPr/>
          <p:nvPr/>
        </p:nvSpPr>
        <p:spPr>
          <a:xfrm>
            <a:off x="5952744" y="3429000"/>
            <a:ext cx="283464" cy="548640"/>
          </a:xfrm>
          <a:prstGeom prst="rect">
            <a:avLst/>
          </a:prstGeom>
          <a:noFill/>
          <a:ln/>
        </p:spPr>
        <p:txBody>
          <a:bodyPr wrap="square" lIns="0" tIns="0" rIns="0" bIns="0" rtlCol="0" anchor="ctr"/>
          <a:lstStyle/>
          <a:p>
            <a:pPr algn="ctr" indent="0" marL="0">
              <a:buNone/>
            </a:pPr>
            <a:r>
              <a:rPr lang="en-US" sz="2600" b="1" dirty="0">
                <a:solidFill>
                  <a:srgbClr val="2563EB"/>
                </a:solidFill>
                <a:latin typeface="Calibri" pitchFamily="34" charset="0"/>
                <a:ea typeface="Calibri" pitchFamily="34" charset="-122"/>
                <a:cs typeface="Calibri" pitchFamily="34" charset="-120"/>
              </a:rPr>
              <a:t>→</a:t>
            </a:r>
            <a:endParaRPr lang="en-US" sz="2600" dirty="0"/>
          </a:p>
        </p:txBody>
      </p:sp>
      <p:sp>
        <p:nvSpPr>
          <p:cNvPr id="50" name="Shape 48"/>
          <p:cNvSpPr/>
          <p:nvPr/>
        </p:nvSpPr>
        <p:spPr>
          <a:xfrm>
            <a:off x="548640" y="5504688"/>
            <a:ext cx="11091672" cy="566928"/>
          </a:xfrm>
          <a:prstGeom prst="roundRect">
            <a:avLst>
              <a:gd name="adj" fmla="val 11290"/>
            </a:avLst>
          </a:prstGeom>
          <a:solidFill>
            <a:srgbClr val="EAF1FE"/>
          </a:solidFill>
          <a:ln w="12700">
            <a:solidFill>
              <a:srgbClr val="E4EAF2"/>
            </a:solidFill>
            <a:prstDash val="solid"/>
          </a:ln>
        </p:spPr>
      </p:sp>
      <p:sp>
        <p:nvSpPr>
          <p:cNvPr id="51" name="Text 49"/>
          <p:cNvSpPr/>
          <p:nvPr/>
        </p:nvSpPr>
        <p:spPr>
          <a:xfrm>
            <a:off x="914400" y="5504688"/>
            <a:ext cx="10332720" cy="566928"/>
          </a:xfrm>
          <a:prstGeom prst="rect">
            <a:avLst/>
          </a:prstGeom>
          <a:noFill/>
          <a:ln/>
        </p:spPr>
        <p:txBody>
          <a:bodyPr wrap="square" lIns="0" tIns="0" rIns="0" bIns="0" rtlCol="0" anchor="ctr"/>
          <a:lstStyle/>
          <a:p>
            <a:pPr indent="0" marL="0">
              <a:buNone/>
            </a:pPr>
            <a:r>
              <a:rPr lang="en-US" sz="1200" b="1" dirty="0">
                <a:solidFill>
                  <a:srgbClr val="0F1E3D"/>
                </a:solidFill>
                <a:latin typeface="Calibri" pitchFamily="34" charset="0"/>
                <a:ea typeface="Calibri" pitchFamily="34" charset="-122"/>
                <a:cs typeface="Calibri" pitchFamily="34" charset="-120"/>
              </a:rPr>
              <a:t>The step forward:  </a:t>
            </a:r>
            <a:pPr indent="0" marL="0">
              <a:buNone/>
            </a:pPr>
            <a:r>
              <a:rPr lang="en-US" sz="1200" dirty="0">
                <a:solidFill>
                  <a:srgbClr val="3E4C63"/>
                </a:solidFill>
                <a:latin typeface="Calibri" pitchFamily="34" charset="0"/>
                <a:ea typeface="Calibri" pitchFamily="34" charset="-122"/>
                <a:cs typeface="Calibri" pitchFamily="34" charset="-120"/>
              </a:rPr>
              <a:t>the same defensible should-cost, with the manual work automated and AI-assisted — so our experts spend their time on decisions, not data entry.</a:t>
            </a:r>
            <a:endParaRPr lang="en-US" sz="1200" dirty="0"/>
          </a:p>
        </p:txBody>
      </p:sp>
      <p:sp>
        <p:nvSpPr>
          <p:cNvPr id="52" name="Shape 50"/>
          <p:cNvSpPr/>
          <p:nvPr/>
        </p:nvSpPr>
        <p:spPr>
          <a:xfrm>
            <a:off x="548640" y="6400800"/>
            <a:ext cx="11094415" cy="12802"/>
          </a:xfrm>
          <a:prstGeom prst="rect">
            <a:avLst/>
          </a:prstGeom>
          <a:solidFill>
            <a:srgbClr val="E4EAF2"/>
          </a:solidFill>
          <a:ln/>
        </p:spPr>
      </p:sp>
      <p:sp>
        <p:nvSpPr>
          <p:cNvPr id="53" name="Text 51"/>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4" name="Text 52"/>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2563EB"/>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2563EB"/>
                </a:solidFill>
                <a:latin typeface="Calibri" pitchFamily="34" charset="0"/>
                <a:ea typeface="Calibri" pitchFamily="34" charset="-122"/>
                <a:cs typeface="Calibri" pitchFamily="34" charset="-120"/>
              </a:rPr>
              <a:t>THE BIG PICTURE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CostVision at a glance — the platform</a:t>
            </a:r>
            <a:endParaRPr lang="en-US" sz="2400" dirty="0"/>
          </a:p>
        </p:txBody>
      </p:sp>
      <p:sp>
        <p:nvSpPr>
          <p:cNvPr id="9" name="Shape 7"/>
          <p:cNvSpPr/>
          <p:nvPr/>
        </p:nvSpPr>
        <p:spPr>
          <a:xfrm>
            <a:off x="548640" y="1371600"/>
            <a:ext cx="1051560" cy="45720"/>
          </a:xfrm>
          <a:prstGeom prst="rect">
            <a:avLst/>
          </a:prstGeom>
          <a:solidFill>
            <a:srgbClr val="2563EB"/>
          </a:solidFill>
          <a:ln/>
        </p:spPr>
        <p:txBody>
          <a:bodyPr/>
          <a:p/>
        </p:txBody>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An engineering input → the tool measures it and asks what it can’t tell → rules and rates price it → a result we can defend.</a:t>
            </a:r>
            <a:endParaRPr lang="en-US" sz="1250" dirty="0"/>
          </a:p>
        </p:txBody>
      </p:sp>
      <p:sp>
        <p:nvSpPr>
          <p:cNvPr id="11" name="Shape 9"/>
          <p:cNvSpPr/>
          <p:nvPr/>
        </p:nvSpPr>
        <p:spPr>
          <a:xfrm>
            <a:off x="548640" y="2103120"/>
            <a:ext cx="2542032" cy="3291840"/>
          </a:xfrm>
          <a:prstGeom prst="roundRect">
            <a:avLst>
              <a:gd name="adj" fmla="val 2518"/>
            </a:avLst>
          </a:prstGeom>
          <a:solidFill>
            <a:srgbClr val="FFFFFF"/>
          </a:solidFill>
          <a:ln w="12700">
            <a:solidFill>
              <a:srgbClr val="E4EAF2"/>
            </a:solidFill>
            <a:prstDash val="solid"/>
          </a:ln>
          <a:effectLst>
            <a:outerShdw sx="100000" sy="100000" kx="0" ky="0" algn="bl" rotWithShape="0" blurRad="7.640736971513755e+41" dist="2.183067706146787e+41" dir="5.44195584e+49">
              <a:srgbClr val="9DB0CC">
                <a:alpha val="2.2e+49"/>
              </a:srgbClr>
            </a:outerShdw>
          </a:effectLst>
        </p:spPr>
        <p:txBody>
          <a:bodyPr/>
          <a:p/>
        </p:txBody>
      </p:sp>
      <p:sp>
        <p:nvSpPr>
          <p:cNvPr id="12" name="Shape 10"/>
          <p:cNvSpPr/>
          <p:nvPr/>
        </p:nvSpPr>
        <p:spPr>
          <a:xfrm>
            <a:off x="548640" y="2103120"/>
            <a:ext cx="82296" cy="3291840"/>
          </a:xfrm>
          <a:prstGeom prst="rect">
            <a:avLst/>
          </a:prstGeom>
          <a:solidFill>
            <a:srgbClr val="2E90FA"/>
          </a:solidFill>
          <a:ln/>
        </p:spPr>
        <p:txBody>
          <a:bodyPr/>
          <a:p/>
        </p:txBody>
      </p:sp>
      <p:sp>
        <p:nvSpPr>
          <p:cNvPr id="13" name="Shape 11"/>
          <p:cNvSpPr/>
          <p:nvPr/>
        </p:nvSpPr>
        <p:spPr>
          <a:xfrm>
            <a:off x="804672" y="2359152"/>
            <a:ext cx="457200" cy="457200"/>
          </a:xfrm>
          <a:prstGeom prst="ellipse">
            <a:avLst/>
          </a:prstGeom>
          <a:solidFill>
            <a:srgbClr val="F4F7FB"/>
          </a:solidFill>
          <a:ln/>
        </p:spPr>
        <p:txBody>
          <a:bodyPr/>
          <a:p/>
        </p:txBody>
      </p:sp>
      <p:sp>
        <p:nvSpPr>
          <p:cNvPr id="14" name="Text 12"/>
          <p:cNvSpPr/>
          <p:nvPr/>
        </p:nvSpPr>
        <p:spPr>
          <a:xfrm>
            <a:off x="804672" y="2350008"/>
            <a:ext cx="457200" cy="457200"/>
          </a:xfrm>
          <a:prstGeom prst="rect">
            <a:avLst/>
          </a:prstGeom>
          <a:noFill/>
          <a:ln/>
        </p:spPr>
        <p:txBody>
          <a:bodyPr wrap="square" lIns="0" tIns="0" rIns="0" bIns="0" rtlCol="0" anchor="ctr"/>
          <a:lstStyle/>
          <a:p>
            <a:pPr algn="ctr" indent="0" marL="0">
              <a:buNone/>
            </a:pPr>
            <a:endParaRPr lang="en-US" sz="1700" dirty="0"/>
          </a:p>
        </p:txBody>
      </p:sp>
      <p:sp>
        <p:nvSpPr>
          <p:cNvPr id="15" name="Text 13"/>
          <p:cNvSpPr/>
          <p:nvPr/>
        </p:nvSpPr>
        <p:spPr>
          <a:xfrm>
            <a:off x="1371600" y="2395728"/>
            <a:ext cx="1627632" cy="411480"/>
          </a:xfrm>
          <a:prstGeom prst="rect">
            <a:avLst/>
          </a:prstGeom>
          <a:noFill/>
          <a:ln/>
        </p:spPr>
        <p:txBody>
          <a:bodyPr wrap="square" lIns="0" tIns="0" rIns="0" bIns="0" rtlCol="0" anchor="ctr"/>
          <a:lstStyle/>
          <a:p>
            <a:pPr indent="0" marL="0">
              <a:buNone/>
            </a:pPr>
            <a:r>
              <a:rPr lang="en-US" sz="1250" b="1" dirty="0">
                <a:solidFill>
                  <a:srgbClr val="2E90FA"/>
                </a:solidFill>
                <a:latin typeface="Calibri" pitchFamily="34" charset="0"/>
                <a:ea typeface="Calibri" pitchFamily="34" charset="-122"/>
                <a:cs typeface="Calibri" pitchFamily="34" charset="-120"/>
              </a:rPr>
              <a:t>INPUTS</a:t>
            </a:r>
            <a:endParaRPr lang="en-US" sz="1250" dirty="0"/>
          </a:p>
        </p:txBody>
      </p:sp>
      <p:sp>
        <p:nvSpPr>
          <p:cNvPr id="16" name="Shape 14"/>
          <p:cNvSpPr/>
          <p:nvPr/>
        </p:nvSpPr>
        <p:spPr>
          <a:xfrm>
            <a:off x="822960" y="3108960"/>
            <a:ext cx="82296" cy="82296"/>
          </a:xfrm>
          <a:prstGeom prst="ellipse">
            <a:avLst/>
          </a:prstGeom>
          <a:solidFill>
            <a:srgbClr val="2E90FA"/>
          </a:solidFill>
          <a:ln/>
        </p:spPr>
        <p:txBody>
          <a:bodyPr/>
          <a:p/>
        </p:txBody>
      </p:sp>
      <p:sp>
        <p:nvSpPr>
          <p:cNvPr id="17" name="Text 15"/>
          <p:cNvSpPr/>
          <p:nvPr/>
        </p:nvSpPr>
        <p:spPr>
          <a:xfrm>
            <a:off x="1005840" y="3017520"/>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3D CAD (STEP, IGES, STL)</a:t>
            </a:r>
            <a:endParaRPr lang="en-US" sz="980" dirty="0"/>
          </a:p>
        </p:txBody>
      </p:sp>
      <p:sp>
        <p:nvSpPr>
          <p:cNvPr id="18" name="Shape 16"/>
          <p:cNvSpPr/>
          <p:nvPr/>
        </p:nvSpPr>
        <p:spPr>
          <a:xfrm>
            <a:off x="822960" y="3547872"/>
            <a:ext cx="82296" cy="82296"/>
          </a:xfrm>
          <a:prstGeom prst="ellipse">
            <a:avLst/>
          </a:prstGeom>
          <a:solidFill>
            <a:srgbClr val="2E90FA"/>
          </a:solidFill>
          <a:ln/>
        </p:spPr>
        <p:txBody>
          <a:bodyPr/>
          <a:p/>
        </p:txBody>
      </p:sp>
      <p:sp>
        <p:nvSpPr>
          <p:cNvPr id="19" name="Text 17"/>
          <p:cNvSpPr/>
          <p:nvPr/>
        </p:nvSpPr>
        <p:spPr>
          <a:xfrm>
            <a:off x="1005840" y="3456432"/>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Typed part inputs</a:t>
            </a:r>
            <a:endParaRPr lang="en-US" sz="980" dirty="0"/>
          </a:p>
        </p:txBody>
      </p:sp>
      <p:sp>
        <p:nvSpPr>
          <p:cNvPr id="20" name="Shape 18"/>
          <p:cNvSpPr/>
          <p:nvPr/>
        </p:nvSpPr>
        <p:spPr>
          <a:xfrm>
            <a:off x="822960" y="3986784"/>
            <a:ext cx="82296" cy="82296"/>
          </a:xfrm>
          <a:prstGeom prst="ellipse">
            <a:avLst/>
          </a:prstGeom>
          <a:solidFill>
            <a:srgbClr val="2E90FA"/>
          </a:solidFill>
          <a:ln/>
        </p:spPr>
        <p:txBody>
          <a:bodyPr/>
          <a:p/>
        </p:txBody>
      </p:sp>
      <p:sp>
        <p:nvSpPr>
          <p:cNvPr id="21" name="Text 19"/>
          <p:cNvSpPr/>
          <p:nvPr/>
        </p:nvSpPr>
        <p:spPr>
          <a:xfrm>
            <a:off x="1005840" y="3895344"/>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DXF flat pattern (sheet)</a:t>
            </a:r>
            <a:endParaRPr lang="en-US" sz="980" dirty="0"/>
          </a:p>
        </p:txBody>
      </p:sp>
      <p:sp>
        <p:nvSpPr>
          <p:cNvPr id="22" name="Shape 20"/>
          <p:cNvSpPr/>
          <p:nvPr/>
        </p:nvSpPr>
        <p:spPr>
          <a:xfrm>
            <a:off x="822960" y="4425696"/>
            <a:ext cx="82296" cy="82296"/>
          </a:xfrm>
          <a:prstGeom prst="ellipse">
            <a:avLst/>
          </a:prstGeom>
          <a:solidFill>
            <a:srgbClr val="2E90FA"/>
          </a:solidFill>
          <a:ln/>
        </p:spPr>
        <p:txBody>
          <a:bodyPr/>
          <a:p/>
        </p:txBody>
      </p:sp>
      <p:sp>
        <p:nvSpPr>
          <p:cNvPr id="23" name="Text 21"/>
          <p:cNvSpPr/>
          <p:nvPr/>
        </p:nvSpPr>
        <p:spPr>
          <a:xfrm>
            <a:off x="1005840" y="4334256"/>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Supplier quote</a:t>
            </a:r>
            <a:endParaRPr lang="en-US" sz="980" dirty="0"/>
          </a:p>
        </p:txBody>
      </p:sp>
      <p:sp>
        <p:nvSpPr>
          <p:cNvPr id="24" name="Shape 22"/>
          <p:cNvSpPr/>
          <p:nvPr/>
        </p:nvSpPr>
        <p:spPr>
          <a:xfrm>
            <a:off x="822960" y="4864608"/>
            <a:ext cx="82296" cy="82296"/>
          </a:xfrm>
          <a:prstGeom prst="ellipse">
            <a:avLst/>
          </a:prstGeom>
          <a:solidFill>
            <a:srgbClr val="2E90FA"/>
          </a:solidFill>
          <a:ln/>
        </p:spPr>
        <p:txBody>
          <a:bodyPr/>
          <a:p/>
        </p:txBody>
      </p:sp>
      <p:sp>
        <p:nvSpPr>
          <p:cNvPr id="25" name="Text 23"/>
          <p:cNvSpPr/>
          <p:nvPr/>
        </p:nvSpPr>
        <p:spPr>
          <a:xfrm>
            <a:off x="1005840" y="4773168"/>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Manufacturing country + volume</a:t>
            </a:r>
            <a:endParaRPr lang="en-US" sz="980" dirty="0"/>
          </a:p>
        </p:txBody>
      </p:sp>
      <p:sp>
        <p:nvSpPr>
          <p:cNvPr id="26" name="Text 24"/>
          <p:cNvSpPr/>
          <p:nvPr/>
        </p:nvSpPr>
        <p:spPr>
          <a:xfrm>
            <a:off x="3108960" y="3474720"/>
            <a:ext cx="329184" cy="548640"/>
          </a:xfrm>
          <a:prstGeom prst="rect">
            <a:avLst/>
          </a:prstGeom>
          <a:noFill/>
          <a:ln/>
        </p:spPr>
        <p:txBody>
          <a:bodyPr wrap="square" lIns="0" tIns="0" rIns="0" bIns="0" rtlCol="0" anchor="ctr"/>
          <a:lstStyle/>
          <a:p>
            <a:pPr algn="ctr" indent="0" marL="0">
              <a:buNone/>
            </a:pPr>
            <a:r>
              <a:rPr lang="en-US" sz="2000" b="1" dirty="0">
                <a:solidFill>
                  <a:srgbClr val="8A97A8"/>
                </a:solidFill>
                <a:latin typeface="Calibri" pitchFamily="34" charset="0"/>
                <a:ea typeface="Calibri" pitchFamily="34" charset="-122"/>
                <a:cs typeface="Calibri" pitchFamily="34" charset="-120"/>
              </a:rPr>
              <a:t>→</a:t>
            </a:r>
            <a:endParaRPr lang="en-US" sz="2000" dirty="0"/>
          </a:p>
        </p:txBody>
      </p:sp>
      <p:sp>
        <p:nvSpPr>
          <p:cNvPr id="27" name="Shape 25"/>
          <p:cNvSpPr/>
          <p:nvPr/>
        </p:nvSpPr>
        <p:spPr>
          <a:xfrm>
            <a:off x="3419856" y="2103120"/>
            <a:ext cx="2542032" cy="3291840"/>
          </a:xfrm>
          <a:prstGeom prst="roundRect">
            <a:avLst>
              <a:gd name="adj" fmla="val 2518"/>
            </a:avLst>
          </a:prstGeom>
          <a:solidFill>
            <a:srgbClr val="FFFFFF"/>
          </a:solidFill>
          <a:ln w="12700">
            <a:solidFill>
              <a:srgbClr val="E4EAF2"/>
            </a:solidFill>
            <a:prstDash val="solid"/>
          </a:ln>
          <a:effectLst>
            <a:outerShdw sx="100000" sy="100000" kx="0" ky="0" algn="bl" rotWithShape="0" blurRad="9.703735953822469e+45" dist="2.7724959868064195e+45" dir="3.2651735040000005e+54">
              <a:srgbClr val="9DB0CC">
                <a:alpha val="2.2e+54"/>
              </a:srgbClr>
            </a:outerShdw>
          </a:effectLst>
        </p:spPr>
        <p:txBody>
          <a:bodyPr/>
          <a:p/>
        </p:txBody>
      </p:sp>
      <p:sp>
        <p:nvSpPr>
          <p:cNvPr id="28" name="Shape 26"/>
          <p:cNvSpPr/>
          <p:nvPr/>
        </p:nvSpPr>
        <p:spPr>
          <a:xfrm>
            <a:off x="3419856" y="2103120"/>
            <a:ext cx="82296" cy="3291840"/>
          </a:xfrm>
          <a:prstGeom prst="rect">
            <a:avLst/>
          </a:prstGeom>
          <a:solidFill>
            <a:srgbClr val="7C3AED"/>
          </a:solidFill>
          <a:ln/>
        </p:spPr>
        <p:txBody>
          <a:bodyPr/>
          <a:p/>
        </p:txBody>
      </p:sp>
      <p:sp>
        <p:nvSpPr>
          <p:cNvPr id="29" name="Shape 27"/>
          <p:cNvSpPr/>
          <p:nvPr/>
        </p:nvSpPr>
        <p:spPr>
          <a:xfrm>
            <a:off x="3675888" y="2359152"/>
            <a:ext cx="457200" cy="457200"/>
          </a:xfrm>
          <a:prstGeom prst="ellipse">
            <a:avLst/>
          </a:prstGeom>
          <a:solidFill>
            <a:srgbClr val="F3EEFE"/>
          </a:solidFill>
          <a:ln/>
        </p:spPr>
        <p:txBody>
          <a:bodyPr/>
          <a:p/>
        </p:txBody>
      </p:sp>
      <p:sp>
        <p:nvSpPr>
          <p:cNvPr id="30" name="Text 28"/>
          <p:cNvSpPr/>
          <p:nvPr/>
        </p:nvSpPr>
        <p:spPr>
          <a:xfrm>
            <a:off x="3675888" y="2350008"/>
            <a:ext cx="457200" cy="457200"/>
          </a:xfrm>
          <a:prstGeom prst="rect">
            <a:avLst/>
          </a:prstGeom>
          <a:noFill/>
          <a:ln/>
        </p:spPr>
        <p:txBody>
          <a:bodyPr wrap="square" lIns="0" tIns="0" rIns="0" bIns="0" rtlCol="0" anchor="ctr"/>
          <a:lstStyle/>
          <a:p>
            <a:pPr algn="ctr" indent="0" marL="0">
              <a:buNone/>
            </a:pPr>
            <a:endParaRPr lang="en-US" sz="1700" dirty="0"/>
          </a:p>
        </p:txBody>
      </p:sp>
      <p:sp>
        <p:nvSpPr>
          <p:cNvPr id="31" name="Text 29"/>
          <p:cNvSpPr/>
          <p:nvPr/>
        </p:nvSpPr>
        <p:spPr>
          <a:xfrm>
            <a:off x="4242816" y="2395728"/>
            <a:ext cx="1627632" cy="411480"/>
          </a:xfrm>
          <a:prstGeom prst="rect">
            <a:avLst/>
          </a:prstGeom>
          <a:noFill/>
          <a:ln/>
        </p:spPr>
        <p:txBody>
          <a:bodyPr wrap="square" lIns="0" tIns="0" rIns="0" bIns="0" rtlCol="0" anchor="ctr"/>
          <a:lstStyle/>
          <a:p>
            <a:pPr indent="0" marL="0">
              <a:buNone/>
            </a:pPr>
            <a:r>
              <a:rPr lang="en-US" sz="1250" b="1" dirty="0">
                <a:solidFill>
                  <a:srgbClr val="7C3AED"/>
                </a:solidFill>
                <a:latin typeface="Calibri" pitchFamily="34" charset="0"/>
                <a:ea typeface="Calibri" pitchFamily="34" charset="-122"/>
                <a:cs typeface="Calibri" pitchFamily="34" charset="-120"/>
              </a:rPr>
              <a:t>MEASURE &amp; ASK</a:t>
            </a:r>
            <a:endParaRPr lang="en-US" sz="1250" dirty="0"/>
          </a:p>
        </p:txBody>
      </p:sp>
      <p:sp>
        <p:nvSpPr>
          <p:cNvPr id="32" name="Shape 30"/>
          <p:cNvSpPr/>
          <p:nvPr/>
        </p:nvSpPr>
        <p:spPr>
          <a:xfrm>
            <a:off x="3694176" y="3108960"/>
            <a:ext cx="82296" cy="82296"/>
          </a:xfrm>
          <a:prstGeom prst="ellipse">
            <a:avLst/>
          </a:prstGeom>
          <a:solidFill>
            <a:srgbClr val="7C3AED"/>
          </a:solidFill>
          <a:ln/>
        </p:spPr>
        <p:txBody>
          <a:bodyPr/>
          <a:p/>
        </p:txBody>
      </p:sp>
      <p:sp>
        <p:nvSpPr>
          <p:cNvPr id="33" name="Text 31"/>
          <p:cNvSpPr/>
          <p:nvPr/>
        </p:nvSpPr>
        <p:spPr>
          <a:xfrm>
            <a:off x="3877056" y="3017520"/>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Geometry engine (OpenCASCADE)</a:t>
            </a:r>
            <a:endParaRPr lang="en-US" sz="980" dirty="0"/>
          </a:p>
        </p:txBody>
      </p:sp>
      <p:sp>
        <p:nvSpPr>
          <p:cNvPr id="34" name="Shape 32"/>
          <p:cNvSpPr/>
          <p:nvPr/>
        </p:nvSpPr>
        <p:spPr>
          <a:xfrm>
            <a:off x="3694176" y="3547872"/>
            <a:ext cx="82296" cy="82296"/>
          </a:xfrm>
          <a:prstGeom prst="ellipse">
            <a:avLst/>
          </a:prstGeom>
          <a:solidFill>
            <a:srgbClr val="7C3AED"/>
          </a:solidFill>
          <a:ln/>
        </p:spPr>
        <p:txBody>
          <a:bodyPr/>
          <a:p/>
        </p:txBody>
      </p:sp>
      <p:sp>
        <p:nvSpPr>
          <p:cNvPr id="35" name="Text 33"/>
          <p:cNvSpPr/>
          <p:nvPr/>
        </p:nvSpPr>
        <p:spPr>
          <a:xfrm>
            <a:off x="3877056" y="3456432"/>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Volume, weight, walls, holes</a:t>
            </a:r>
            <a:endParaRPr lang="en-US" sz="980" dirty="0"/>
          </a:p>
        </p:txBody>
      </p:sp>
      <p:sp>
        <p:nvSpPr>
          <p:cNvPr id="36" name="Shape 34"/>
          <p:cNvSpPr/>
          <p:nvPr/>
        </p:nvSpPr>
        <p:spPr>
          <a:xfrm>
            <a:off x="3694176" y="3986784"/>
            <a:ext cx="82296" cy="82296"/>
          </a:xfrm>
          <a:prstGeom prst="ellipse">
            <a:avLst/>
          </a:prstGeom>
          <a:solidFill>
            <a:srgbClr val="7C3AED"/>
          </a:solidFill>
          <a:ln/>
        </p:spPr>
        <p:txBody>
          <a:bodyPr/>
          <a:p/>
        </p:txBody>
      </p:sp>
      <p:sp>
        <p:nvSpPr>
          <p:cNvPr id="37" name="Text 35"/>
          <p:cNvSpPr/>
          <p:nvPr/>
        </p:nvSpPr>
        <p:spPr>
          <a:xfrm>
            <a:off x="3877056" y="3895344"/>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Feature recognition</a:t>
            </a:r>
            <a:endParaRPr lang="en-US" sz="980" dirty="0"/>
          </a:p>
        </p:txBody>
      </p:sp>
      <p:sp>
        <p:nvSpPr>
          <p:cNvPr id="38" name="Shape 36"/>
          <p:cNvSpPr/>
          <p:nvPr/>
        </p:nvSpPr>
        <p:spPr>
          <a:xfrm>
            <a:off x="3694176" y="4425696"/>
            <a:ext cx="82296" cy="82296"/>
          </a:xfrm>
          <a:prstGeom prst="ellipse">
            <a:avLst/>
          </a:prstGeom>
          <a:solidFill>
            <a:srgbClr val="7C3AED"/>
          </a:solidFill>
          <a:ln/>
        </p:spPr>
        <p:txBody>
          <a:bodyPr/>
          <a:p/>
        </p:txBody>
      </p:sp>
      <p:sp>
        <p:nvSpPr>
          <p:cNvPr id="39" name="Text 37"/>
          <p:cNvSpPr/>
          <p:nvPr/>
        </p:nvSpPr>
        <p:spPr>
          <a:xfrm>
            <a:off x="3877056" y="4334256"/>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Asks you where CAD can’t decide</a:t>
            </a:r>
            <a:endParaRPr lang="en-US" sz="980" dirty="0"/>
          </a:p>
        </p:txBody>
      </p:sp>
      <p:sp>
        <p:nvSpPr>
          <p:cNvPr id="40" name="Shape 38"/>
          <p:cNvSpPr/>
          <p:nvPr/>
        </p:nvSpPr>
        <p:spPr>
          <a:xfrm>
            <a:off x="3694176" y="4864608"/>
            <a:ext cx="82296" cy="82296"/>
          </a:xfrm>
          <a:prstGeom prst="ellipse">
            <a:avLst/>
          </a:prstGeom>
          <a:solidFill>
            <a:srgbClr val="7C3AED"/>
          </a:solidFill>
          <a:ln/>
        </p:spPr>
        <p:txBody>
          <a:bodyPr/>
          <a:p/>
        </p:txBody>
      </p:sp>
      <p:sp>
        <p:nvSpPr>
          <p:cNvPr id="41" name="Text 39"/>
          <p:cNvSpPr/>
          <p:nvPr/>
        </p:nvSpPr>
        <p:spPr>
          <a:xfrm>
            <a:off x="3877056" y="4773168"/>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AI: optional, off at JLR</a:t>
            </a:r>
            <a:endParaRPr lang="en-US" sz="980" dirty="0"/>
          </a:p>
        </p:txBody>
      </p:sp>
      <p:sp>
        <p:nvSpPr>
          <p:cNvPr id="42" name="Text 40"/>
          <p:cNvSpPr/>
          <p:nvPr/>
        </p:nvSpPr>
        <p:spPr>
          <a:xfrm>
            <a:off x="5980176" y="3474720"/>
            <a:ext cx="329184" cy="548640"/>
          </a:xfrm>
          <a:prstGeom prst="rect">
            <a:avLst/>
          </a:prstGeom>
          <a:noFill/>
          <a:ln/>
        </p:spPr>
        <p:txBody>
          <a:bodyPr wrap="square" lIns="0" tIns="0" rIns="0" bIns="0" rtlCol="0" anchor="ctr"/>
          <a:lstStyle/>
          <a:p>
            <a:pPr algn="ctr" indent="0" marL="0">
              <a:buNone/>
            </a:pPr>
            <a:r>
              <a:rPr lang="en-US" sz="2000" b="1" dirty="0">
                <a:solidFill>
                  <a:srgbClr val="8A97A8"/>
                </a:solidFill>
                <a:latin typeface="Calibri" pitchFamily="34" charset="0"/>
                <a:ea typeface="Calibri" pitchFamily="34" charset="-122"/>
                <a:cs typeface="Calibri" pitchFamily="34" charset="-120"/>
              </a:rPr>
              <a:t>→</a:t>
            </a:r>
            <a:endParaRPr lang="en-US" sz="2000" dirty="0"/>
          </a:p>
        </p:txBody>
      </p:sp>
      <p:sp>
        <p:nvSpPr>
          <p:cNvPr id="43" name="Shape 41"/>
          <p:cNvSpPr/>
          <p:nvPr/>
        </p:nvSpPr>
        <p:spPr>
          <a:xfrm>
            <a:off x="6291072" y="2103120"/>
            <a:ext cx="2542032" cy="3291840"/>
          </a:xfrm>
          <a:prstGeom prst="roundRect">
            <a:avLst>
              <a:gd name="adj" fmla="val 2518"/>
            </a:avLst>
          </a:prstGeom>
          <a:solidFill>
            <a:srgbClr val="FFFFFF"/>
          </a:solidFill>
          <a:ln w="12700">
            <a:solidFill>
              <a:srgbClr val="E4EAF2"/>
            </a:solidFill>
            <a:prstDash val="solid"/>
          </a:ln>
          <a:effectLst>
            <a:outerShdw sx="100000" sy="100000" kx="0" ky="0" algn="bl" rotWithShape="0" blurRad="1.2323744661354536e+50" dist="3.5210699032441527e+49" dir="1.9591041024000004e+59">
              <a:srgbClr val="9DB0CC">
                <a:alpha val="2.2e+59"/>
              </a:srgbClr>
            </a:outerShdw>
          </a:effectLst>
        </p:spPr>
        <p:txBody>
          <a:bodyPr/>
          <a:p/>
        </p:txBody>
      </p:sp>
      <p:sp>
        <p:nvSpPr>
          <p:cNvPr id="44" name="Shape 42"/>
          <p:cNvSpPr/>
          <p:nvPr/>
        </p:nvSpPr>
        <p:spPr>
          <a:xfrm>
            <a:off x="6291072" y="2103120"/>
            <a:ext cx="82296" cy="3291840"/>
          </a:xfrm>
          <a:prstGeom prst="rect">
            <a:avLst/>
          </a:prstGeom>
          <a:solidFill>
            <a:srgbClr val="0DA5A0"/>
          </a:solidFill>
          <a:ln/>
        </p:spPr>
        <p:txBody>
          <a:bodyPr/>
          <a:p/>
        </p:txBody>
      </p:sp>
      <p:sp>
        <p:nvSpPr>
          <p:cNvPr id="45" name="Shape 43"/>
          <p:cNvSpPr/>
          <p:nvPr/>
        </p:nvSpPr>
        <p:spPr>
          <a:xfrm>
            <a:off x="6547104" y="2359152"/>
            <a:ext cx="457200" cy="457200"/>
          </a:xfrm>
          <a:prstGeom prst="ellipse">
            <a:avLst/>
          </a:prstGeom>
          <a:solidFill>
            <a:srgbClr val="E7F7F0"/>
          </a:solidFill>
          <a:ln/>
        </p:spPr>
        <p:txBody>
          <a:bodyPr/>
          <a:p/>
        </p:txBody>
      </p:sp>
      <p:sp>
        <p:nvSpPr>
          <p:cNvPr id="46" name="Text 44"/>
          <p:cNvSpPr/>
          <p:nvPr/>
        </p:nvSpPr>
        <p:spPr>
          <a:xfrm>
            <a:off x="6547104" y="2350008"/>
            <a:ext cx="457200" cy="457200"/>
          </a:xfrm>
          <a:prstGeom prst="rect">
            <a:avLst/>
          </a:prstGeom>
          <a:noFill/>
          <a:ln/>
        </p:spPr>
        <p:txBody>
          <a:bodyPr wrap="square" lIns="0" tIns="0" rIns="0" bIns="0" rtlCol="0" anchor="ctr"/>
          <a:lstStyle/>
          <a:p>
            <a:pPr algn="ctr" indent="0" marL="0">
              <a:buNone/>
            </a:pPr>
            <a:endParaRPr lang="en-US" sz="1700" dirty="0"/>
          </a:p>
        </p:txBody>
      </p:sp>
      <p:sp>
        <p:nvSpPr>
          <p:cNvPr id="47" name="Text 45"/>
          <p:cNvSpPr/>
          <p:nvPr/>
        </p:nvSpPr>
        <p:spPr>
          <a:xfrm>
            <a:off x="7114032" y="2395728"/>
            <a:ext cx="1627632" cy="411480"/>
          </a:xfrm>
          <a:prstGeom prst="rect">
            <a:avLst/>
          </a:prstGeom>
          <a:noFill/>
          <a:ln/>
        </p:spPr>
        <p:txBody>
          <a:bodyPr wrap="square" lIns="0" tIns="0" rIns="0" bIns="0" rtlCol="0" anchor="ctr"/>
          <a:lstStyle/>
          <a:p>
            <a:pPr indent="0" marL="0">
              <a:buNone/>
            </a:pPr>
            <a:r>
              <a:rPr lang="en-US" sz="1250" b="1" dirty="0">
                <a:solidFill>
                  <a:srgbClr val="0DA5A0"/>
                </a:solidFill>
                <a:latin typeface="Calibri" pitchFamily="34" charset="0"/>
                <a:ea typeface="Calibri" pitchFamily="34" charset="-122"/>
                <a:cs typeface="Calibri" pitchFamily="34" charset="-120"/>
              </a:rPr>
              <a:t>DETERMINISTIC ENGINES</a:t>
            </a:r>
            <a:endParaRPr lang="en-US" sz="1250" dirty="0"/>
          </a:p>
        </p:txBody>
      </p:sp>
      <p:sp>
        <p:nvSpPr>
          <p:cNvPr id="48" name="Shape 46"/>
          <p:cNvSpPr/>
          <p:nvPr/>
        </p:nvSpPr>
        <p:spPr>
          <a:xfrm>
            <a:off x="6565392" y="3108960"/>
            <a:ext cx="82296" cy="82296"/>
          </a:xfrm>
          <a:prstGeom prst="ellipse">
            <a:avLst/>
          </a:prstGeom>
          <a:solidFill>
            <a:srgbClr val="0DA5A0"/>
          </a:solidFill>
          <a:ln/>
        </p:spPr>
        <p:txBody>
          <a:bodyPr/>
          <a:p/>
        </p:txBody>
      </p:sp>
      <p:sp>
        <p:nvSpPr>
          <p:cNvPr id="49" name="Text 47"/>
          <p:cNvSpPr/>
          <p:nvPr/>
        </p:nvSpPr>
        <p:spPr>
          <a:xfrm>
            <a:off x="6748272" y="3017520"/>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19 manufacturing processes</a:t>
            </a:r>
            <a:endParaRPr lang="en-US" sz="980" dirty="0"/>
          </a:p>
        </p:txBody>
      </p:sp>
      <p:sp>
        <p:nvSpPr>
          <p:cNvPr id="50" name="Shape 48"/>
          <p:cNvSpPr/>
          <p:nvPr/>
        </p:nvSpPr>
        <p:spPr>
          <a:xfrm>
            <a:off x="6565392" y="3547872"/>
            <a:ext cx="82296" cy="82296"/>
          </a:xfrm>
          <a:prstGeom prst="ellipse">
            <a:avLst/>
          </a:prstGeom>
          <a:solidFill>
            <a:srgbClr val="0DA5A0"/>
          </a:solidFill>
          <a:ln/>
        </p:spPr>
        <p:txBody>
          <a:bodyPr/>
          <a:p/>
        </p:txBody>
      </p:sp>
      <p:sp>
        <p:nvSpPr>
          <p:cNvPr id="51" name="Text 49"/>
          <p:cNvSpPr/>
          <p:nvPr/>
        </p:nvSpPr>
        <p:spPr>
          <a:xfrm>
            <a:off x="6748272" y="3456432"/>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Feature-based machining</a:t>
            </a:r>
            <a:endParaRPr lang="en-US" sz="980" dirty="0"/>
          </a:p>
        </p:txBody>
      </p:sp>
      <p:sp>
        <p:nvSpPr>
          <p:cNvPr id="52" name="Shape 50"/>
          <p:cNvSpPr/>
          <p:nvPr/>
        </p:nvSpPr>
        <p:spPr>
          <a:xfrm>
            <a:off x="6565392" y="3986784"/>
            <a:ext cx="82296" cy="82296"/>
          </a:xfrm>
          <a:prstGeom prst="ellipse">
            <a:avLst/>
          </a:prstGeom>
          <a:solidFill>
            <a:srgbClr val="0DA5A0"/>
          </a:solidFill>
          <a:ln/>
        </p:spPr>
        <p:txBody>
          <a:bodyPr/>
          <a:p/>
        </p:txBody>
      </p:sp>
      <p:sp>
        <p:nvSpPr>
          <p:cNvPr id="53" name="Text 51"/>
          <p:cNvSpPr/>
          <p:nvPr/>
        </p:nvSpPr>
        <p:spPr>
          <a:xfrm>
            <a:off x="6748272" y="3895344"/>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20-region rate tables</a:t>
            </a:r>
            <a:endParaRPr lang="en-US" sz="980" dirty="0"/>
          </a:p>
        </p:txBody>
      </p:sp>
      <p:sp>
        <p:nvSpPr>
          <p:cNvPr id="54" name="Shape 52"/>
          <p:cNvSpPr/>
          <p:nvPr/>
        </p:nvSpPr>
        <p:spPr>
          <a:xfrm>
            <a:off x="6565392" y="4425696"/>
            <a:ext cx="82296" cy="82296"/>
          </a:xfrm>
          <a:prstGeom prst="ellipse">
            <a:avLst/>
          </a:prstGeom>
          <a:solidFill>
            <a:srgbClr val="0DA5A0"/>
          </a:solidFill>
          <a:ln/>
        </p:spPr>
        <p:txBody>
          <a:bodyPr/>
          <a:p/>
        </p:txBody>
      </p:sp>
      <p:sp>
        <p:nvSpPr>
          <p:cNvPr id="55" name="Text 53"/>
          <p:cNvSpPr/>
          <p:nvPr/>
        </p:nvSpPr>
        <p:spPr>
          <a:xfrm>
            <a:off x="6748272" y="4334256"/>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Volume &amp; tooling spread</a:t>
            </a:r>
            <a:endParaRPr lang="en-US" sz="980" dirty="0"/>
          </a:p>
        </p:txBody>
      </p:sp>
      <p:sp>
        <p:nvSpPr>
          <p:cNvPr id="56" name="Shape 54"/>
          <p:cNvSpPr/>
          <p:nvPr/>
        </p:nvSpPr>
        <p:spPr>
          <a:xfrm>
            <a:off x="6565392" y="4864608"/>
            <a:ext cx="82296" cy="82296"/>
          </a:xfrm>
          <a:prstGeom prst="ellipse">
            <a:avLst/>
          </a:prstGeom>
          <a:solidFill>
            <a:srgbClr val="0DA5A0"/>
          </a:solidFill>
          <a:ln/>
        </p:spPr>
        <p:txBody>
          <a:bodyPr/>
          <a:p/>
        </p:txBody>
      </p:sp>
      <p:sp>
        <p:nvSpPr>
          <p:cNvPr id="57" name="Text 55"/>
          <p:cNvSpPr/>
          <p:nvPr/>
        </p:nvSpPr>
        <p:spPr>
          <a:xfrm>
            <a:off x="6748272" y="4773168"/>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Self-audit on every result</a:t>
            </a:r>
            <a:endParaRPr lang="en-US" sz="980" dirty="0"/>
          </a:p>
        </p:txBody>
      </p:sp>
      <p:sp>
        <p:nvSpPr>
          <p:cNvPr id="58" name="Text 56"/>
          <p:cNvSpPr/>
          <p:nvPr/>
        </p:nvSpPr>
        <p:spPr>
          <a:xfrm>
            <a:off x="8851392" y="3474720"/>
            <a:ext cx="329184" cy="548640"/>
          </a:xfrm>
          <a:prstGeom prst="rect">
            <a:avLst/>
          </a:prstGeom>
          <a:noFill/>
          <a:ln/>
        </p:spPr>
        <p:txBody>
          <a:bodyPr wrap="square" lIns="0" tIns="0" rIns="0" bIns="0" rtlCol="0" anchor="ctr"/>
          <a:lstStyle/>
          <a:p>
            <a:pPr algn="ctr" indent="0" marL="0">
              <a:buNone/>
            </a:pPr>
            <a:r>
              <a:rPr lang="en-US" sz="2000" b="1" dirty="0">
                <a:solidFill>
                  <a:srgbClr val="8A97A8"/>
                </a:solidFill>
                <a:latin typeface="Calibri" pitchFamily="34" charset="0"/>
                <a:ea typeface="Calibri" pitchFamily="34" charset="-122"/>
                <a:cs typeface="Calibri" pitchFamily="34" charset="-120"/>
              </a:rPr>
              <a:t>→</a:t>
            </a:r>
            <a:endParaRPr lang="en-US" sz="2000" dirty="0"/>
          </a:p>
        </p:txBody>
      </p:sp>
      <p:sp>
        <p:nvSpPr>
          <p:cNvPr id="59" name="Shape 57"/>
          <p:cNvSpPr/>
          <p:nvPr/>
        </p:nvSpPr>
        <p:spPr>
          <a:xfrm>
            <a:off x="9162288" y="2103120"/>
            <a:ext cx="2542032" cy="3291840"/>
          </a:xfrm>
          <a:prstGeom prst="roundRect">
            <a:avLst>
              <a:gd name="adj" fmla="val 2518"/>
            </a:avLst>
          </a:prstGeom>
          <a:solidFill>
            <a:srgbClr val="FFFFFF"/>
          </a:solidFill>
          <a:ln w="12700">
            <a:solidFill>
              <a:srgbClr val="E4EAF2"/>
            </a:solidFill>
            <a:prstDash val="solid"/>
          </a:ln>
          <a:effectLst>
            <a:outerShdw sx="100000" sy="100000" kx="0" ky="0" algn="bl" rotWithShape="0" blurRad="1.5651155719920262e+54" dist="4.471758777120074e+53" dir="1.1754624614400003e+64">
              <a:srgbClr val="9DB0CC">
                <a:alpha val="2.2e+64"/>
              </a:srgbClr>
            </a:outerShdw>
          </a:effectLst>
        </p:spPr>
        <p:txBody>
          <a:bodyPr/>
          <a:p/>
        </p:txBody>
      </p:sp>
      <p:sp>
        <p:nvSpPr>
          <p:cNvPr id="60" name="Shape 58"/>
          <p:cNvSpPr/>
          <p:nvPr/>
        </p:nvSpPr>
        <p:spPr>
          <a:xfrm>
            <a:off x="9162288" y="2103120"/>
            <a:ext cx="82296" cy="3291840"/>
          </a:xfrm>
          <a:prstGeom prst="rect">
            <a:avLst/>
          </a:prstGeom>
          <a:solidFill>
            <a:srgbClr val="0EA472"/>
          </a:solidFill>
          <a:ln/>
        </p:spPr>
        <p:txBody>
          <a:bodyPr/>
          <a:p/>
        </p:txBody>
      </p:sp>
      <p:sp>
        <p:nvSpPr>
          <p:cNvPr id="61" name="Shape 59"/>
          <p:cNvSpPr/>
          <p:nvPr/>
        </p:nvSpPr>
        <p:spPr>
          <a:xfrm>
            <a:off x="9418320" y="2359152"/>
            <a:ext cx="457200" cy="457200"/>
          </a:xfrm>
          <a:prstGeom prst="ellipse">
            <a:avLst/>
          </a:prstGeom>
          <a:solidFill>
            <a:srgbClr val="E7F7F0"/>
          </a:solidFill>
          <a:ln/>
        </p:spPr>
        <p:txBody>
          <a:bodyPr/>
          <a:p/>
        </p:txBody>
      </p:sp>
      <p:sp>
        <p:nvSpPr>
          <p:cNvPr id="62" name="Text 60"/>
          <p:cNvSpPr/>
          <p:nvPr/>
        </p:nvSpPr>
        <p:spPr>
          <a:xfrm>
            <a:off x="9418320" y="2350008"/>
            <a:ext cx="457200" cy="457200"/>
          </a:xfrm>
          <a:prstGeom prst="rect">
            <a:avLst/>
          </a:prstGeom>
          <a:noFill/>
          <a:ln/>
        </p:spPr>
        <p:txBody>
          <a:bodyPr wrap="square" lIns="0" tIns="0" rIns="0" bIns="0" rtlCol="0" anchor="ctr"/>
          <a:lstStyle/>
          <a:p>
            <a:pPr algn="ctr" indent="0" marL="0">
              <a:buNone/>
            </a:pPr>
            <a:endParaRPr lang="en-US" sz="1700" dirty="0"/>
          </a:p>
        </p:txBody>
      </p:sp>
      <p:sp>
        <p:nvSpPr>
          <p:cNvPr id="63" name="Text 61"/>
          <p:cNvSpPr/>
          <p:nvPr/>
        </p:nvSpPr>
        <p:spPr>
          <a:xfrm>
            <a:off x="9985248" y="2395728"/>
            <a:ext cx="1627632" cy="411480"/>
          </a:xfrm>
          <a:prstGeom prst="rect">
            <a:avLst/>
          </a:prstGeom>
          <a:noFill/>
          <a:ln/>
        </p:spPr>
        <p:txBody>
          <a:bodyPr wrap="square" lIns="0" tIns="0" rIns="0" bIns="0" rtlCol="0" anchor="ctr"/>
          <a:lstStyle/>
          <a:p>
            <a:pPr indent="0" marL="0">
              <a:buNone/>
            </a:pPr>
            <a:r>
              <a:rPr lang="en-US" sz="1250" b="1" dirty="0">
                <a:solidFill>
                  <a:srgbClr val="0EA472"/>
                </a:solidFill>
                <a:latin typeface="Calibri" pitchFamily="34" charset="0"/>
                <a:ea typeface="Calibri" pitchFamily="34" charset="-122"/>
                <a:cs typeface="Calibri" pitchFamily="34" charset="-120"/>
              </a:rPr>
              <a:t>OUTPUTS</a:t>
            </a:r>
            <a:endParaRPr lang="en-US" sz="1250" dirty="0"/>
          </a:p>
        </p:txBody>
      </p:sp>
      <p:sp>
        <p:nvSpPr>
          <p:cNvPr id="64" name="Shape 62"/>
          <p:cNvSpPr/>
          <p:nvPr/>
        </p:nvSpPr>
        <p:spPr>
          <a:xfrm>
            <a:off x="9436608" y="3108960"/>
            <a:ext cx="82296" cy="82296"/>
          </a:xfrm>
          <a:prstGeom prst="ellipse">
            <a:avLst/>
          </a:prstGeom>
          <a:solidFill>
            <a:srgbClr val="0EA472"/>
          </a:solidFill>
          <a:ln/>
        </p:spPr>
        <p:txBody>
          <a:bodyPr/>
          <a:p/>
        </p:txBody>
      </p:sp>
      <p:sp>
        <p:nvSpPr>
          <p:cNvPr id="65" name="Text 63"/>
          <p:cNvSpPr/>
          <p:nvPr/>
        </p:nvSpPr>
        <p:spPr>
          <a:xfrm>
            <a:off x="9619488" y="3017520"/>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8-bucket should-cost</a:t>
            </a:r>
            <a:endParaRPr lang="en-US" sz="980" dirty="0"/>
          </a:p>
        </p:txBody>
      </p:sp>
      <p:sp>
        <p:nvSpPr>
          <p:cNvPr id="66" name="Shape 64"/>
          <p:cNvSpPr/>
          <p:nvPr/>
        </p:nvSpPr>
        <p:spPr>
          <a:xfrm>
            <a:off x="9436608" y="3547872"/>
            <a:ext cx="82296" cy="82296"/>
          </a:xfrm>
          <a:prstGeom prst="ellipse">
            <a:avLst/>
          </a:prstGeom>
          <a:solidFill>
            <a:srgbClr val="0EA472"/>
          </a:solidFill>
          <a:ln/>
        </p:spPr>
        <p:txBody>
          <a:bodyPr/>
          <a:p/>
        </p:txBody>
      </p:sp>
      <p:sp>
        <p:nvSpPr>
          <p:cNvPr id="67" name="Text 65"/>
          <p:cNvSpPr/>
          <p:nvPr/>
        </p:nvSpPr>
        <p:spPr>
          <a:xfrm>
            <a:off x="9619488" y="3456432"/>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Uncertainty band (P10–P90)</a:t>
            </a:r>
            <a:endParaRPr lang="en-US" sz="980" dirty="0"/>
          </a:p>
        </p:txBody>
      </p:sp>
      <p:sp>
        <p:nvSpPr>
          <p:cNvPr id="68" name="Shape 66"/>
          <p:cNvSpPr/>
          <p:nvPr/>
        </p:nvSpPr>
        <p:spPr>
          <a:xfrm>
            <a:off x="9436608" y="3986784"/>
            <a:ext cx="82296" cy="82296"/>
          </a:xfrm>
          <a:prstGeom prst="ellipse">
            <a:avLst/>
          </a:prstGeom>
          <a:solidFill>
            <a:srgbClr val="0EA472"/>
          </a:solidFill>
          <a:ln/>
        </p:spPr>
        <p:txBody>
          <a:bodyPr/>
          <a:p/>
        </p:txBody>
      </p:sp>
      <p:sp>
        <p:nvSpPr>
          <p:cNvPr id="69" name="Text 67"/>
          <p:cNvSpPr/>
          <p:nvPr/>
        </p:nvSpPr>
        <p:spPr>
          <a:xfrm>
            <a:off x="9619488" y="3895344"/>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Negotiation pack</a:t>
            </a:r>
            <a:endParaRPr lang="en-US" sz="980" dirty="0"/>
          </a:p>
        </p:txBody>
      </p:sp>
      <p:sp>
        <p:nvSpPr>
          <p:cNvPr id="70" name="Shape 68"/>
          <p:cNvSpPr/>
          <p:nvPr/>
        </p:nvSpPr>
        <p:spPr>
          <a:xfrm>
            <a:off x="9436608" y="4425696"/>
            <a:ext cx="82296" cy="82296"/>
          </a:xfrm>
          <a:prstGeom prst="ellipse">
            <a:avLst/>
          </a:prstGeom>
          <a:solidFill>
            <a:srgbClr val="0EA472"/>
          </a:solidFill>
          <a:ln/>
        </p:spPr>
        <p:txBody>
          <a:bodyPr/>
          <a:p/>
        </p:txBody>
      </p:sp>
      <p:sp>
        <p:nvSpPr>
          <p:cNvPr id="71" name="Text 69"/>
          <p:cNvSpPr/>
          <p:nvPr/>
        </p:nvSpPr>
        <p:spPr>
          <a:xfrm>
            <a:off x="9619488" y="4334256"/>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Excel · PDF · PowerPoint</a:t>
            </a:r>
            <a:endParaRPr lang="en-US" sz="980" dirty="0"/>
          </a:p>
        </p:txBody>
      </p:sp>
      <p:sp>
        <p:nvSpPr>
          <p:cNvPr id="72" name="Shape 70"/>
          <p:cNvSpPr/>
          <p:nvPr/>
        </p:nvSpPr>
        <p:spPr>
          <a:xfrm>
            <a:off x="9436608" y="4864608"/>
            <a:ext cx="82296" cy="82296"/>
          </a:xfrm>
          <a:prstGeom prst="ellipse">
            <a:avLst/>
          </a:prstGeom>
          <a:solidFill>
            <a:srgbClr val="0EA472"/>
          </a:solidFill>
          <a:ln/>
        </p:spPr>
        <p:txBody>
          <a:bodyPr/>
          <a:p/>
        </p:txBody>
      </p:sp>
      <p:sp>
        <p:nvSpPr>
          <p:cNvPr id="73" name="Text 71"/>
          <p:cNvSpPr/>
          <p:nvPr/>
        </p:nvSpPr>
        <p:spPr>
          <a:xfrm>
            <a:off x="9619488" y="4773168"/>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Carbon (CO₂e) alongside £</a:t>
            </a:r>
            <a:endParaRPr lang="en-US" sz="980" dirty="0"/>
          </a:p>
        </p:txBody>
      </p:sp>
      <p:sp>
        <p:nvSpPr>
          <p:cNvPr id="74" name="Shape 72"/>
          <p:cNvSpPr/>
          <p:nvPr/>
        </p:nvSpPr>
        <p:spPr>
          <a:xfrm>
            <a:off x="548640" y="5623560"/>
            <a:ext cx="11091672" cy="566928"/>
          </a:xfrm>
          <a:prstGeom prst="roundRect">
            <a:avLst>
              <a:gd name="adj" fmla="val 11290"/>
            </a:avLst>
          </a:prstGeom>
          <a:solidFill>
            <a:srgbClr val="F4F7FB"/>
          </a:solidFill>
          <a:ln w="12700">
            <a:solidFill>
              <a:srgbClr val="E4EAF2"/>
            </a:solidFill>
            <a:prstDash val="solid"/>
          </a:ln>
        </p:spPr>
        <p:txBody>
          <a:bodyPr/>
          <a:p/>
        </p:txBody>
      </p:sp>
      <p:sp>
        <p:nvSpPr>
          <p:cNvPr id="75" name="Text 73"/>
          <p:cNvSpPr/>
          <p:nvPr/>
        </p:nvSpPr>
        <p:spPr>
          <a:xfrm>
            <a:off x="914400" y="5623560"/>
            <a:ext cx="10332720" cy="566928"/>
          </a:xfrm>
          <a:prstGeom prst="rect">
            <a:avLst/>
          </a:prstGeom>
          <a:noFill/>
          <a:ln/>
        </p:spPr>
        <p:txBody>
          <a:bodyPr wrap="square" lIns="0" tIns="0" rIns="0" bIns="0" rtlCol="0" anchor="ctr"/>
          <a:lstStyle/>
          <a:p>
            <a:pPr indent="0" marL="0">
              <a:buNone/>
            </a:pPr>
            <a:r>
              <a:rPr lang="en-US" sz="1200" b="1" dirty="0">
                <a:solidFill>
                  <a:srgbClr val="0F1E3D"/>
                </a:solidFill>
                <a:latin typeface="Calibri" pitchFamily="34" charset="0"/>
                <a:ea typeface="Calibri" pitchFamily="34" charset="-122"/>
                <a:cs typeface="Calibri" pitchFamily="34" charset="-120"/>
              </a:rPr>
              <a:t>The golden rule:  </a:t>
            </a:r>
            <a:pPr indent="0" marL="0">
              <a:buNone/>
            </a:pPr>
            <a:r>
              <a:rPr lang="en-US" sz="1200" dirty="0">
                <a:solidFill>
                  <a:srgbClr val="3E4C63"/>
                </a:solidFill>
                <a:latin typeface="Calibri" pitchFamily="34" charset="0"/>
                <a:ea typeface="Calibri" pitchFamily="34" charset="-122"/>
                <a:cs typeface="Calibri" pitchFamily="34" charset="-120"/>
              </a:rPr>
              <a:t>AI never sets a price, and at JLR it is switched off. Every pound is plain arithmetic we can trace to a rate.</a:t>
            </a:r>
            <a:endParaRPr lang="en-US" sz="1200" dirty="0"/>
          </a:p>
        </p:txBody>
      </p:sp>
      <p:sp>
        <p:nvSpPr>
          <p:cNvPr id="76" name="Shape 74"/>
          <p:cNvSpPr/>
          <p:nvPr/>
        </p:nvSpPr>
        <p:spPr>
          <a:xfrm>
            <a:off x="548640" y="6400800"/>
            <a:ext cx="11094415" cy="12802"/>
          </a:xfrm>
          <a:prstGeom prst="rect">
            <a:avLst/>
          </a:prstGeom>
          <a:solidFill>
            <a:srgbClr val="E4EAF2"/>
          </a:solidFill>
          <a:ln/>
        </p:spPr>
        <p:txBody>
          <a:bodyPr/>
          <a:p/>
        </p:txBody>
      </p:sp>
      <p:sp>
        <p:nvSpPr>
          <p:cNvPr id="77" name="Text 75"/>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78" name="Text 76"/>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3 / 15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4F46E5"/>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4F46E5"/>
                </a:solidFill>
                <a:latin typeface="Calibri" pitchFamily="34" charset="0"/>
                <a:ea typeface="Calibri" pitchFamily="34" charset="-122"/>
                <a:cs typeface="Calibri" pitchFamily="34" charset="-120"/>
              </a:rPr>
              <a:t>WHAT IT DOES</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One platform, four jobs — the capability map</a:t>
            </a:r>
            <a:endParaRPr lang="en-US" sz="2400" dirty="0"/>
          </a:p>
        </p:txBody>
      </p:sp>
      <p:sp>
        <p:nvSpPr>
          <p:cNvPr id="9" name="Shape 7"/>
          <p:cNvSpPr/>
          <p:nvPr/>
        </p:nvSpPr>
        <p:spPr>
          <a:xfrm>
            <a:off x="548640" y="1371600"/>
            <a:ext cx="1051560" cy="45720"/>
          </a:xfrm>
          <a:prstGeom prst="rect">
            <a:avLst/>
          </a:prstGeom>
          <a:solidFill>
            <a:srgbClr val="4F46E5"/>
          </a:solidFill>
          <a:ln/>
        </p:spPr>
        <p:txBody>
          <a:bodyPr/>
          <a:p/>
        </p:txBody>
      </p:sp>
      <p:sp>
        <p:nvSpPr>
          <p:cNvPr id="10" name="Shape 8"/>
          <p:cNvSpPr/>
          <p:nvPr/>
        </p:nvSpPr>
        <p:spPr>
          <a:xfrm>
            <a:off x="548640" y="1691640"/>
            <a:ext cx="5394960" cy="2148840"/>
          </a:xfrm>
          <a:prstGeom prst="roundRect">
            <a:avLst>
              <a:gd name="adj" fmla="val 2979"/>
            </a:avLst>
          </a:prstGeom>
          <a:solidFill>
            <a:srgbClr val="FFFFFF"/>
          </a:solidFill>
          <a:ln w="12700">
            <a:solidFill>
              <a:srgbClr val="E4EAF2"/>
            </a:solidFill>
            <a:prstDash val="solid"/>
          </a:ln>
          <a:effectLst>
            <a:outerShdw sx="100000" sy="100000" kx="0" ky="0" algn="bl" rotWithShape="0" blurRad="1.9876967764298733e+58" dist="5.679133646942494e+57" dir="7.052774768640002e+68">
              <a:srgbClr val="9DB0CC">
                <a:alpha val="2.2e+69"/>
              </a:srgbClr>
            </a:outerShdw>
          </a:effectLst>
        </p:spPr>
        <p:txBody>
          <a:bodyPr/>
          <a:p/>
        </p:txBody>
      </p:sp>
      <p:sp>
        <p:nvSpPr>
          <p:cNvPr id="11" name="Shape 9"/>
          <p:cNvSpPr/>
          <p:nvPr/>
        </p:nvSpPr>
        <p:spPr>
          <a:xfrm>
            <a:off x="548640" y="1691640"/>
            <a:ext cx="82296" cy="2148840"/>
          </a:xfrm>
          <a:prstGeom prst="rect">
            <a:avLst/>
          </a:prstGeom>
          <a:solidFill>
            <a:srgbClr val="2563EB"/>
          </a:solidFill>
          <a:ln/>
        </p:spPr>
        <p:txBody>
          <a:bodyPr/>
          <a:p/>
        </p:txBody>
      </p:sp>
      <p:sp>
        <p:nvSpPr>
          <p:cNvPr id="12" name="Text 10"/>
          <p:cNvSpPr/>
          <p:nvPr/>
        </p:nvSpPr>
        <p:spPr>
          <a:xfrm>
            <a:off x="822960" y="1856232"/>
            <a:ext cx="4937760" cy="320040"/>
          </a:xfrm>
          <a:prstGeom prst="rect">
            <a:avLst/>
          </a:prstGeom>
          <a:noFill/>
          <a:ln/>
        </p:spPr>
        <p:txBody>
          <a:bodyPr wrap="square" lIns="0" tIns="0" rIns="0" bIns="0" rtlCol="0" anchor="t"/>
          <a:lstStyle/>
          <a:p>
            <a:pPr indent="0" marL="0">
              <a:buNone/>
            </a:pPr>
            <a:r>
              <a:rPr lang="en-US" sz="1350" b="1" spc="50" kern="0" dirty="0">
                <a:solidFill>
                  <a:srgbClr val="2563EB"/>
                </a:solidFill>
                <a:latin typeface="Calibri" pitchFamily="34" charset="0"/>
                <a:ea typeface="Calibri" pitchFamily="34" charset="-122"/>
                <a:cs typeface="Calibri" pitchFamily="34" charset="-120"/>
              </a:rPr>
              <a:t>ESTIMATE</a:t>
            </a:r>
            <a:endParaRPr lang="en-US" sz="1350" dirty="0"/>
          </a:p>
        </p:txBody>
      </p:sp>
      <p:sp>
        <p:nvSpPr>
          <p:cNvPr id="13" name="Shape 11"/>
          <p:cNvSpPr/>
          <p:nvPr/>
        </p:nvSpPr>
        <p:spPr>
          <a:xfrm>
            <a:off x="841248" y="2368296"/>
            <a:ext cx="91440" cy="91440"/>
          </a:xfrm>
          <a:prstGeom prst="ellipse">
            <a:avLst/>
          </a:prstGeom>
          <a:solidFill>
            <a:srgbClr val="2563EB"/>
          </a:solidFill>
          <a:ln/>
        </p:spPr>
        <p:txBody>
          <a:bodyPr/>
          <a:p/>
        </p:txBody>
      </p:sp>
      <p:sp>
        <p:nvSpPr>
          <p:cNvPr id="14" name="Text 12"/>
          <p:cNvSpPr/>
          <p:nvPr/>
        </p:nvSpPr>
        <p:spPr>
          <a:xfrm>
            <a:off x="1024128" y="23134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CAD → Cost (3D model)</a:t>
            </a:r>
            <a:endParaRPr lang="en-US" sz="1000" dirty="0"/>
          </a:p>
        </p:txBody>
      </p:sp>
      <p:sp>
        <p:nvSpPr>
          <p:cNvPr id="15" name="Shape 13"/>
          <p:cNvSpPr/>
          <p:nvPr/>
        </p:nvSpPr>
        <p:spPr>
          <a:xfrm>
            <a:off x="3447288" y="2368296"/>
            <a:ext cx="91440" cy="91440"/>
          </a:xfrm>
          <a:prstGeom prst="ellipse">
            <a:avLst/>
          </a:prstGeom>
          <a:solidFill>
            <a:srgbClr val="2563EB"/>
          </a:solidFill>
          <a:ln/>
        </p:spPr>
        <p:txBody>
          <a:bodyPr/>
          <a:p/>
        </p:txBody>
      </p:sp>
      <p:sp>
        <p:nvSpPr>
          <p:cNvPr id="16" name="Text 14"/>
          <p:cNvSpPr/>
          <p:nvPr/>
        </p:nvSpPr>
        <p:spPr>
          <a:xfrm>
            <a:off x="3630168" y="23134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PCB fab + PCBA</a:t>
            </a:r>
            <a:endParaRPr lang="en-US" sz="1000" dirty="0"/>
          </a:p>
        </p:txBody>
      </p:sp>
      <p:sp>
        <p:nvSpPr>
          <p:cNvPr id="17" name="Shape 15"/>
          <p:cNvSpPr/>
          <p:nvPr/>
        </p:nvSpPr>
        <p:spPr>
          <a:xfrm>
            <a:off x="841248" y="2825496"/>
            <a:ext cx="91440" cy="91440"/>
          </a:xfrm>
          <a:prstGeom prst="ellipse">
            <a:avLst/>
          </a:prstGeom>
          <a:solidFill>
            <a:srgbClr val="2563EB"/>
          </a:solidFill>
          <a:ln/>
        </p:spPr>
        <p:txBody>
          <a:bodyPr/>
          <a:p/>
        </p:txBody>
      </p:sp>
      <p:sp>
        <p:nvSpPr>
          <p:cNvPr id="18" name="Text 16"/>
          <p:cNvSpPr/>
          <p:nvPr/>
        </p:nvSpPr>
        <p:spPr>
          <a:xfrm>
            <a:off x="1024128" y="27706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19 manufacturing processes</a:t>
            </a:r>
            <a:endParaRPr lang="en-US" sz="1000" dirty="0"/>
          </a:p>
        </p:txBody>
      </p:sp>
      <p:sp>
        <p:nvSpPr>
          <p:cNvPr id="19" name="Shape 17"/>
          <p:cNvSpPr/>
          <p:nvPr/>
        </p:nvSpPr>
        <p:spPr>
          <a:xfrm>
            <a:off x="3447288" y="2825496"/>
            <a:ext cx="91440" cy="91440"/>
          </a:xfrm>
          <a:prstGeom prst="ellipse">
            <a:avLst/>
          </a:prstGeom>
          <a:solidFill>
            <a:srgbClr val="2563EB"/>
          </a:solidFill>
          <a:ln/>
        </p:spPr>
        <p:txBody>
          <a:bodyPr/>
          <a:p/>
        </p:txBody>
      </p:sp>
      <p:sp>
        <p:nvSpPr>
          <p:cNvPr id="20" name="Text 18"/>
          <p:cNvSpPr/>
          <p:nvPr/>
        </p:nvSpPr>
        <p:spPr>
          <a:xfrm>
            <a:off x="3630168" y="27706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Feature-based machining</a:t>
            </a:r>
            <a:endParaRPr lang="en-US" sz="1000" dirty="0"/>
          </a:p>
        </p:txBody>
      </p:sp>
      <p:sp>
        <p:nvSpPr>
          <p:cNvPr id="21" name="Shape 19"/>
          <p:cNvSpPr/>
          <p:nvPr/>
        </p:nvSpPr>
        <p:spPr>
          <a:xfrm>
            <a:off x="841248" y="3227832"/>
            <a:ext cx="91440" cy="91440"/>
          </a:xfrm>
          <a:prstGeom prst="ellipse">
            <a:avLst/>
          </a:prstGeom>
          <a:solidFill>
            <a:srgbClr val="2563EB"/>
          </a:solidFill>
          <a:ln/>
        </p:spPr>
        <p:txBody>
          <a:bodyPr/>
          <a:p/>
        </p:txBody>
      </p:sp>
      <p:sp>
        <p:nvSpPr>
          <p:cNvPr id="22" name="Text 20"/>
          <p:cNvSpPr/>
          <p:nvPr/>
        </p:nvSpPr>
        <p:spPr>
          <a:xfrm>
            <a:off x="1024128" y="3172968"/>
            <a:ext cx="4663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Assembly roll-up + software cost model</a:t>
            </a:r>
            <a:endParaRPr lang="en-US" sz="1000" dirty="0"/>
          </a:p>
        </p:txBody>
      </p:sp>
      <p:sp>
        <p:nvSpPr>
          <p:cNvPr id="23" name="Shape 21"/>
          <p:cNvSpPr/>
          <p:nvPr/>
        </p:nvSpPr>
        <p:spPr>
          <a:xfrm>
            <a:off x="6245352" y="1691640"/>
            <a:ext cx="5394960" cy="2148840"/>
          </a:xfrm>
          <a:prstGeom prst="roundRect">
            <a:avLst>
              <a:gd name="adj" fmla="val 2979"/>
            </a:avLst>
          </a:prstGeom>
          <a:solidFill>
            <a:srgbClr val="FFFFFF"/>
          </a:solidFill>
          <a:ln w="12700">
            <a:solidFill>
              <a:srgbClr val="E4EAF2"/>
            </a:solidFill>
            <a:prstDash val="solid"/>
          </a:ln>
          <a:effectLst>
            <a:outerShdw sx="100000" sy="100000" kx="0" ky="0" algn="bl" rotWithShape="0" blurRad="2.524374906065939e+62" dist="7.212499731616968e+61" dir="4.2316648611840007e+73">
              <a:srgbClr val="9DB0CC">
                <a:alpha val="2.2e+74"/>
              </a:srgbClr>
            </a:outerShdw>
          </a:effectLst>
        </p:spPr>
        <p:txBody>
          <a:bodyPr/>
          <a:p/>
        </p:txBody>
      </p:sp>
      <p:sp>
        <p:nvSpPr>
          <p:cNvPr id="24" name="Shape 22"/>
          <p:cNvSpPr/>
          <p:nvPr/>
        </p:nvSpPr>
        <p:spPr>
          <a:xfrm>
            <a:off x="6245352" y="1691640"/>
            <a:ext cx="82296" cy="2148840"/>
          </a:xfrm>
          <a:prstGeom prst="rect">
            <a:avLst/>
          </a:prstGeom>
          <a:solidFill>
            <a:srgbClr val="7C3AED"/>
          </a:solidFill>
          <a:ln/>
        </p:spPr>
        <p:txBody>
          <a:bodyPr/>
          <a:p/>
        </p:txBody>
      </p:sp>
      <p:sp>
        <p:nvSpPr>
          <p:cNvPr id="25" name="Text 23"/>
          <p:cNvSpPr/>
          <p:nvPr/>
        </p:nvSpPr>
        <p:spPr>
          <a:xfrm>
            <a:off x="6519672" y="1856232"/>
            <a:ext cx="4937760" cy="320040"/>
          </a:xfrm>
          <a:prstGeom prst="rect">
            <a:avLst/>
          </a:prstGeom>
          <a:noFill/>
          <a:ln/>
        </p:spPr>
        <p:txBody>
          <a:bodyPr wrap="square" lIns="0" tIns="0" rIns="0" bIns="0" rtlCol="0" anchor="t"/>
          <a:lstStyle/>
          <a:p>
            <a:pPr indent="0" marL="0">
              <a:buNone/>
            </a:pPr>
            <a:r>
              <a:rPr lang="en-US" sz="1350" b="1" spc="50" kern="0" dirty="0">
                <a:solidFill>
                  <a:srgbClr val="7C3AED"/>
                </a:solidFill>
                <a:latin typeface="Calibri" pitchFamily="34" charset="0"/>
                <a:ea typeface="Calibri" pitchFamily="34" charset="-122"/>
                <a:cs typeface="Calibri" pitchFamily="34" charset="-120"/>
              </a:rPr>
              <a:t>UNDERSTAND</a:t>
            </a:r>
            <a:endParaRPr lang="en-US" sz="1350" dirty="0"/>
          </a:p>
        </p:txBody>
      </p:sp>
      <p:sp>
        <p:nvSpPr>
          <p:cNvPr id="26" name="Shape 24"/>
          <p:cNvSpPr/>
          <p:nvPr/>
        </p:nvSpPr>
        <p:spPr>
          <a:xfrm>
            <a:off x="6537960" y="2368296"/>
            <a:ext cx="91440" cy="91440"/>
          </a:xfrm>
          <a:prstGeom prst="ellipse">
            <a:avLst/>
          </a:prstGeom>
          <a:solidFill>
            <a:srgbClr val="7C3AED"/>
          </a:solidFill>
          <a:ln/>
        </p:spPr>
        <p:txBody>
          <a:bodyPr/>
          <a:p/>
        </p:txBody>
      </p:sp>
      <p:sp>
        <p:nvSpPr>
          <p:cNvPr id="27" name="Text 25"/>
          <p:cNvSpPr/>
          <p:nvPr/>
        </p:nvSpPr>
        <p:spPr>
          <a:xfrm>
            <a:off x="6720840" y="23134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3D CAD viewer</a:t>
            </a:r>
            <a:endParaRPr lang="en-US" sz="1000" dirty="0"/>
          </a:p>
        </p:txBody>
      </p:sp>
      <p:sp>
        <p:nvSpPr>
          <p:cNvPr id="28" name="Shape 26"/>
          <p:cNvSpPr/>
          <p:nvPr/>
        </p:nvSpPr>
        <p:spPr>
          <a:xfrm>
            <a:off x="9144000" y="2368296"/>
            <a:ext cx="91440" cy="91440"/>
          </a:xfrm>
          <a:prstGeom prst="ellipse">
            <a:avLst/>
          </a:prstGeom>
          <a:solidFill>
            <a:srgbClr val="7C3AED"/>
          </a:solidFill>
          <a:ln/>
        </p:spPr>
        <p:txBody>
          <a:bodyPr/>
          <a:p/>
        </p:txBody>
      </p:sp>
      <p:sp>
        <p:nvSpPr>
          <p:cNvPr id="29" name="Text 27"/>
          <p:cNvSpPr/>
          <p:nvPr/>
        </p:nvSpPr>
        <p:spPr>
          <a:xfrm>
            <a:off x="9326880" y="23134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Geometry feature table</a:t>
            </a:r>
            <a:endParaRPr lang="en-US" sz="1000" dirty="0"/>
          </a:p>
        </p:txBody>
      </p:sp>
      <p:sp>
        <p:nvSpPr>
          <p:cNvPr id="30" name="Shape 28"/>
          <p:cNvSpPr/>
          <p:nvPr/>
        </p:nvSpPr>
        <p:spPr>
          <a:xfrm>
            <a:off x="6537960" y="2825496"/>
            <a:ext cx="91440" cy="91440"/>
          </a:xfrm>
          <a:prstGeom prst="ellipse">
            <a:avLst/>
          </a:prstGeom>
          <a:solidFill>
            <a:srgbClr val="7C3AED"/>
          </a:solidFill>
          <a:ln/>
        </p:spPr>
        <p:txBody>
          <a:bodyPr/>
          <a:p/>
        </p:txBody>
      </p:sp>
      <p:sp>
        <p:nvSpPr>
          <p:cNvPr id="31" name="Text 29"/>
          <p:cNvSpPr/>
          <p:nvPr/>
        </p:nvSpPr>
        <p:spPr>
          <a:xfrm>
            <a:off x="6720840" y="27706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Geometric DFM findings</a:t>
            </a:r>
            <a:endParaRPr lang="en-US" sz="1000" dirty="0"/>
          </a:p>
        </p:txBody>
      </p:sp>
      <p:sp>
        <p:nvSpPr>
          <p:cNvPr id="32" name="Shape 30"/>
          <p:cNvSpPr/>
          <p:nvPr/>
        </p:nvSpPr>
        <p:spPr>
          <a:xfrm>
            <a:off x="9144000" y="2825496"/>
            <a:ext cx="91440" cy="91440"/>
          </a:xfrm>
          <a:prstGeom prst="ellipse">
            <a:avLst/>
          </a:prstGeom>
          <a:solidFill>
            <a:srgbClr val="7C3AED"/>
          </a:solidFill>
          <a:ln/>
        </p:spPr>
        <p:txBody>
          <a:bodyPr/>
          <a:p/>
        </p:txBody>
      </p:sp>
      <p:sp>
        <p:nvSpPr>
          <p:cNvPr id="33" name="Text 31"/>
          <p:cNvSpPr/>
          <p:nvPr/>
        </p:nvSpPr>
        <p:spPr>
          <a:xfrm>
            <a:off x="9326880" y="27706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Self-audit on every result</a:t>
            </a:r>
            <a:endParaRPr lang="en-US" sz="1000" dirty="0"/>
          </a:p>
        </p:txBody>
      </p:sp>
      <p:sp>
        <p:nvSpPr>
          <p:cNvPr id="34" name="Shape 32"/>
          <p:cNvSpPr/>
          <p:nvPr/>
        </p:nvSpPr>
        <p:spPr>
          <a:xfrm>
            <a:off x="6537960" y="3227832"/>
            <a:ext cx="91440" cy="91440"/>
          </a:xfrm>
          <a:prstGeom prst="ellipse">
            <a:avLst/>
          </a:prstGeom>
          <a:solidFill>
            <a:srgbClr val="7C3AED"/>
          </a:solidFill>
          <a:ln/>
        </p:spPr>
        <p:txBody>
          <a:bodyPr/>
          <a:p/>
        </p:txBody>
      </p:sp>
      <p:sp>
        <p:nvSpPr>
          <p:cNvPr id="35" name="Text 33"/>
          <p:cNvSpPr/>
          <p:nvPr/>
        </p:nvSpPr>
        <p:spPr>
          <a:xfrm>
            <a:off x="6720840" y="3172968"/>
            <a:ext cx="4663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Carbon co-costing</a:t>
            </a:r>
            <a:endParaRPr lang="en-US" sz="1000" dirty="0"/>
          </a:p>
        </p:txBody>
      </p:sp>
      <p:sp>
        <p:nvSpPr>
          <p:cNvPr id="36" name="Shape 34"/>
          <p:cNvSpPr/>
          <p:nvPr/>
        </p:nvSpPr>
        <p:spPr>
          <a:xfrm>
            <a:off x="548640" y="4096512"/>
            <a:ext cx="5394960" cy="2148840"/>
          </a:xfrm>
          <a:prstGeom prst="roundRect">
            <a:avLst>
              <a:gd name="adj" fmla="val 2979"/>
            </a:avLst>
          </a:prstGeom>
          <a:solidFill>
            <a:srgbClr val="FFFFFF"/>
          </a:solidFill>
          <a:ln w="12700">
            <a:solidFill>
              <a:srgbClr val="E4EAF2"/>
            </a:solidFill>
            <a:prstDash val="solid"/>
          </a:ln>
          <a:effectLst>
            <a:outerShdw sx="100000" sy="100000" kx="0" ky="0" algn="bl" rotWithShape="0" blurRad="3.2059561307037426e+66" dist="9.15987465915355e+65" dir="2.5389989167104004e+78">
              <a:srgbClr val="9DB0CC">
                <a:alpha val="2.2000000000000002e+79"/>
              </a:srgbClr>
            </a:outerShdw>
          </a:effectLst>
        </p:spPr>
        <p:txBody>
          <a:bodyPr/>
          <a:p/>
        </p:txBody>
      </p:sp>
      <p:sp>
        <p:nvSpPr>
          <p:cNvPr id="37" name="Shape 35"/>
          <p:cNvSpPr/>
          <p:nvPr/>
        </p:nvSpPr>
        <p:spPr>
          <a:xfrm>
            <a:off x="548640" y="4096512"/>
            <a:ext cx="82296" cy="2148840"/>
          </a:xfrm>
          <a:prstGeom prst="rect">
            <a:avLst/>
          </a:prstGeom>
          <a:solidFill>
            <a:srgbClr val="0DA5A0"/>
          </a:solidFill>
          <a:ln/>
        </p:spPr>
        <p:txBody>
          <a:bodyPr/>
          <a:p/>
        </p:txBody>
      </p:sp>
      <p:sp>
        <p:nvSpPr>
          <p:cNvPr id="38" name="Text 36"/>
          <p:cNvSpPr/>
          <p:nvPr/>
        </p:nvSpPr>
        <p:spPr>
          <a:xfrm>
            <a:off x="822960" y="4261104"/>
            <a:ext cx="4937760" cy="320040"/>
          </a:xfrm>
          <a:prstGeom prst="rect">
            <a:avLst/>
          </a:prstGeom>
          <a:noFill/>
          <a:ln/>
        </p:spPr>
        <p:txBody>
          <a:bodyPr wrap="square" lIns="0" tIns="0" rIns="0" bIns="0" rtlCol="0" anchor="t"/>
          <a:lstStyle/>
          <a:p>
            <a:pPr indent="0" marL="0">
              <a:buNone/>
            </a:pPr>
            <a:r>
              <a:rPr lang="en-US" sz="1350" b="1" spc="50" kern="0" dirty="0">
                <a:solidFill>
                  <a:srgbClr val="0DA5A0"/>
                </a:solidFill>
                <a:latin typeface="Calibri" pitchFamily="34" charset="0"/>
                <a:ea typeface="Calibri" pitchFamily="34" charset="-122"/>
                <a:cs typeface="Calibri" pitchFamily="34" charset="-120"/>
              </a:rPr>
              <a:t>DECIDE &amp; NEGOTIATE</a:t>
            </a:r>
            <a:endParaRPr lang="en-US" sz="1350" dirty="0"/>
          </a:p>
        </p:txBody>
      </p:sp>
      <p:sp>
        <p:nvSpPr>
          <p:cNvPr id="39" name="Shape 37"/>
          <p:cNvSpPr/>
          <p:nvPr/>
        </p:nvSpPr>
        <p:spPr>
          <a:xfrm>
            <a:off x="841248" y="4773168"/>
            <a:ext cx="91440" cy="91440"/>
          </a:xfrm>
          <a:prstGeom prst="ellipse">
            <a:avLst/>
          </a:prstGeom>
          <a:solidFill>
            <a:srgbClr val="0DA5A0"/>
          </a:solidFill>
          <a:ln/>
        </p:spPr>
        <p:txBody>
          <a:bodyPr/>
          <a:p/>
        </p:txBody>
      </p:sp>
      <p:sp>
        <p:nvSpPr>
          <p:cNvPr id="40" name="Text 38"/>
          <p:cNvSpPr/>
          <p:nvPr/>
        </p:nvSpPr>
        <p:spPr>
          <a:xfrm>
            <a:off x="1024128" y="47183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Quote vs should-cost teardown</a:t>
            </a:r>
            <a:endParaRPr lang="en-US" sz="1000" dirty="0"/>
          </a:p>
        </p:txBody>
      </p:sp>
      <p:sp>
        <p:nvSpPr>
          <p:cNvPr id="41" name="Shape 39"/>
          <p:cNvSpPr/>
          <p:nvPr/>
        </p:nvSpPr>
        <p:spPr>
          <a:xfrm>
            <a:off x="3447288" y="4773168"/>
            <a:ext cx="91440" cy="91440"/>
          </a:xfrm>
          <a:prstGeom prst="ellipse">
            <a:avLst/>
          </a:prstGeom>
          <a:solidFill>
            <a:srgbClr val="0DA5A0"/>
          </a:solidFill>
          <a:ln/>
        </p:spPr>
        <p:txBody>
          <a:bodyPr/>
          <a:p/>
        </p:txBody>
      </p:sp>
      <p:sp>
        <p:nvSpPr>
          <p:cNvPr id="42" name="Text 40"/>
          <p:cNvSpPr/>
          <p:nvPr/>
        </p:nvSpPr>
        <p:spPr>
          <a:xfrm>
            <a:off x="3630168" y="47183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20-region should-cost</a:t>
            </a:r>
            <a:endParaRPr lang="en-US" sz="1000" dirty="0"/>
          </a:p>
        </p:txBody>
      </p:sp>
      <p:sp>
        <p:nvSpPr>
          <p:cNvPr id="43" name="Shape 41"/>
          <p:cNvSpPr/>
          <p:nvPr/>
        </p:nvSpPr>
        <p:spPr>
          <a:xfrm>
            <a:off x="841248" y="5230368"/>
            <a:ext cx="91440" cy="91440"/>
          </a:xfrm>
          <a:prstGeom prst="ellipse">
            <a:avLst/>
          </a:prstGeom>
          <a:solidFill>
            <a:srgbClr val="0DA5A0"/>
          </a:solidFill>
          <a:ln/>
        </p:spPr>
        <p:txBody>
          <a:bodyPr/>
          <a:p/>
        </p:txBody>
      </p:sp>
      <p:sp>
        <p:nvSpPr>
          <p:cNvPr id="44" name="Text 42"/>
          <p:cNvSpPr/>
          <p:nvPr/>
        </p:nvSpPr>
        <p:spPr>
          <a:xfrm>
            <a:off x="1024128" y="51755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Volume &amp; what-if scenarios</a:t>
            </a:r>
            <a:endParaRPr lang="en-US" sz="1000" dirty="0"/>
          </a:p>
        </p:txBody>
      </p:sp>
      <p:sp>
        <p:nvSpPr>
          <p:cNvPr id="45" name="Shape 43"/>
          <p:cNvSpPr/>
          <p:nvPr/>
        </p:nvSpPr>
        <p:spPr>
          <a:xfrm>
            <a:off x="3447288" y="5230368"/>
            <a:ext cx="91440" cy="91440"/>
          </a:xfrm>
          <a:prstGeom prst="ellipse">
            <a:avLst/>
          </a:prstGeom>
          <a:solidFill>
            <a:srgbClr val="0DA5A0"/>
          </a:solidFill>
          <a:ln/>
        </p:spPr>
        <p:txBody>
          <a:bodyPr/>
          <a:p/>
        </p:txBody>
      </p:sp>
      <p:sp>
        <p:nvSpPr>
          <p:cNvPr id="46" name="Text 44"/>
          <p:cNvSpPr/>
          <p:nvPr/>
        </p:nvSpPr>
        <p:spPr>
          <a:xfrm>
            <a:off x="3630168" y="51755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Uncertainty band (P10–P90)</a:t>
            </a:r>
            <a:endParaRPr lang="en-US" sz="1000" dirty="0"/>
          </a:p>
        </p:txBody>
      </p:sp>
      <p:sp>
        <p:nvSpPr>
          <p:cNvPr id="47" name="Shape 45"/>
          <p:cNvSpPr/>
          <p:nvPr/>
        </p:nvSpPr>
        <p:spPr>
          <a:xfrm>
            <a:off x="841248" y="5632704"/>
            <a:ext cx="91440" cy="91440"/>
          </a:xfrm>
          <a:prstGeom prst="ellipse">
            <a:avLst/>
          </a:prstGeom>
          <a:solidFill>
            <a:srgbClr val="0DA5A0"/>
          </a:solidFill>
          <a:ln/>
        </p:spPr>
        <p:txBody>
          <a:bodyPr/>
          <a:p/>
        </p:txBody>
      </p:sp>
      <p:sp>
        <p:nvSpPr>
          <p:cNvPr id="48" name="Text 46"/>
          <p:cNvSpPr/>
          <p:nvPr/>
        </p:nvSpPr>
        <p:spPr>
          <a:xfrm>
            <a:off x="1024128" y="5577840"/>
            <a:ext cx="4663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Material-price what-ifs</a:t>
            </a:r>
            <a:endParaRPr lang="en-US" sz="1000" dirty="0"/>
          </a:p>
        </p:txBody>
      </p:sp>
      <p:sp>
        <p:nvSpPr>
          <p:cNvPr id="49" name="Shape 47"/>
          <p:cNvSpPr/>
          <p:nvPr/>
        </p:nvSpPr>
        <p:spPr>
          <a:xfrm>
            <a:off x="6245352" y="4096512"/>
            <a:ext cx="5394960" cy="2148840"/>
          </a:xfrm>
          <a:prstGeom prst="roundRect">
            <a:avLst>
              <a:gd name="adj" fmla="val 2979"/>
            </a:avLst>
          </a:prstGeom>
          <a:solidFill>
            <a:srgbClr val="FFFFFF"/>
          </a:solidFill>
          <a:ln w="12700">
            <a:solidFill>
              <a:srgbClr val="E4EAF2"/>
            </a:solidFill>
            <a:prstDash val="solid"/>
          </a:ln>
          <a:effectLst>
            <a:outerShdw sx="100000" sy="100000" kx="0" ky="0" algn="bl" rotWithShape="0" blurRad="4.071564285993753e+70" dist="1.1633040817125008e+70" dir="1.5233993500262402e+83">
              <a:srgbClr val="9DB0CC">
                <a:alpha val="2.2000000000000003e+84"/>
              </a:srgbClr>
            </a:outerShdw>
          </a:effectLst>
        </p:spPr>
        <p:txBody>
          <a:bodyPr/>
          <a:p/>
        </p:txBody>
      </p:sp>
      <p:sp>
        <p:nvSpPr>
          <p:cNvPr id="50" name="Shape 48"/>
          <p:cNvSpPr/>
          <p:nvPr/>
        </p:nvSpPr>
        <p:spPr>
          <a:xfrm>
            <a:off x="6245352" y="4096512"/>
            <a:ext cx="82296" cy="2148840"/>
          </a:xfrm>
          <a:prstGeom prst="rect">
            <a:avLst/>
          </a:prstGeom>
          <a:solidFill>
            <a:srgbClr val="0EA472"/>
          </a:solidFill>
          <a:ln/>
        </p:spPr>
        <p:txBody>
          <a:bodyPr/>
          <a:p/>
        </p:txBody>
      </p:sp>
      <p:sp>
        <p:nvSpPr>
          <p:cNvPr id="51" name="Text 49"/>
          <p:cNvSpPr/>
          <p:nvPr/>
        </p:nvSpPr>
        <p:spPr>
          <a:xfrm>
            <a:off x="6519672" y="4261104"/>
            <a:ext cx="4937760" cy="320040"/>
          </a:xfrm>
          <a:prstGeom prst="rect">
            <a:avLst/>
          </a:prstGeom>
          <a:noFill/>
          <a:ln/>
        </p:spPr>
        <p:txBody>
          <a:bodyPr wrap="square" lIns="0" tIns="0" rIns="0" bIns="0" rtlCol="0" anchor="t"/>
          <a:lstStyle/>
          <a:p>
            <a:pPr indent="0" marL="0">
              <a:buNone/>
            </a:pPr>
            <a:r>
              <a:rPr lang="en-US" sz="1350" b="1" spc="50" kern="0" dirty="0">
                <a:solidFill>
                  <a:srgbClr val="0EA472"/>
                </a:solidFill>
                <a:latin typeface="Calibri" pitchFamily="34" charset="0"/>
                <a:ea typeface="Calibri" pitchFamily="34" charset="-122"/>
                <a:cs typeface="Calibri" pitchFamily="34" charset="-120"/>
              </a:rPr>
              <a:t>LEARN &amp; GOVERN</a:t>
            </a:r>
            <a:endParaRPr lang="en-US" sz="1350" dirty="0"/>
          </a:p>
        </p:txBody>
      </p:sp>
      <p:sp>
        <p:nvSpPr>
          <p:cNvPr id="52" name="Shape 50"/>
          <p:cNvSpPr/>
          <p:nvPr/>
        </p:nvSpPr>
        <p:spPr>
          <a:xfrm>
            <a:off x="6537960" y="4773168"/>
            <a:ext cx="91440" cy="91440"/>
          </a:xfrm>
          <a:prstGeom prst="ellipse">
            <a:avLst/>
          </a:prstGeom>
          <a:solidFill>
            <a:srgbClr val="0EA472"/>
          </a:solidFill>
          <a:ln/>
        </p:spPr>
        <p:txBody>
          <a:bodyPr/>
          <a:p/>
        </p:txBody>
      </p:sp>
      <p:sp>
        <p:nvSpPr>
          <p:cNvPr id="53" name="Text 51"/>
          <p:cNvSpPr/>
          <p:nvPr/>
        </p:nvSpPr>
        <p:spPr>
          <a:xfrm>
            <a:off x="6720840" y="47183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Saved cases + similar parts</a:t>
            </a:r>
            <a:endParaRPr lang="en-US" sz="1000" dirty="0"/>
          </a:p>
        </p:txBody>
      </p:sp>
      <p:sp>
        <p:nvSpPr>
          <p:cNvPr id="54" name="Shape 52"/>
          <p:cNvSpPr/>
          <p:nvPr/>
        </p:nvSpPr>
        <p:spPr>
          <a:xfrm>
            <a:off x="9144000" y="4773168"/>
            <a:ext cx="91440" cy="91440"/>
          </a:xfrm>
          <a:prstGeom prst="ellipse">
            <a:avLst/>
          </a:prstGeom>
          <a:solidFill>
            <a:srgbClr val="0EA472"/>
          </a:solidFill>
          <a:ln/>
        </p:spPr>
        <p:txBody>
          <a:bodyPr/>
          <a:p/>
        </p:txBody>
      </p:sp>
      <p:sp>
        <p:nvSpPr>
          <p:cNvPr id="55" name="Text 53"/>
          <p:cNvSpPr/>
          <p:nvPr/>
        </p:nvSpPr>
        <p:spPr>
          <a:xfrm>
            <a:off x="9326880" y="47183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Band corrected by real prices</a:t>
            </a:r>
            <a:endParaRPr lang="en-US" sz="1000" dirty="0"/>
          </a:p>
        </p:txBody>
      </p:sp>
      <p:sp>
        <p:nvSpPr>
          <p:cNvPr id="56" name="Shape 54"/>
          <p:cNvSpPr/>
          <p:nvPr/>
        </p:nvSpPr>
        <p:spPr>
          <a:xfrm>
            <a:off x="6537960" y="5230368"/>
            <a:ext cx="91440" cy="91440"/>
          </a:xfrm>
          <a:prstGeom prst="ellipse">
            <a:avLst/>
          </a:prstGeom>
          <a:solidFill>
            <a:srgbClr val="0EA472"/>
          </a:solidFill>
          <a:ln/>
        </p:spPr>
        <p:txBody>
          <a:bodyPr/>
          <a:p/>
        </p:txBody>
      </p:sp>
      <p:sp>
        <p:nvSpPr>
          <p:cNvPr id="57" name="Text 55"/>
          <p:cNvSpPr/>
          <p:nvPr/>
        </p:nvSpPr>
        <p:spPr>
          <a:xfrm>
            <a:off x="6720840" y="51755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Flags prices above should-cost</a:t>
            </a:r>
            <a:endParaRPr lang="en-US" sz="1000" dirty="0"/>
          </a:p>
        </p:txBody>
      </p:sp>
      <p:sp>
        <p:nvSpPr>
          <p:cNvPr id="58" name="Shape 56"/>
          <p:cNvSpPr/>
          <p:nvPr/>
        </p:nvSpPr>
        <p:spPr>
          <a:xfrm>
            <a:off x="9144000" y="5230368"/>
            <a:ext cx="91440" cy="91440"/>
          </a:xfrm>
          <a:prstGeom prst="ellipse">
            <a:avLst/>
          </a:prstGeom>
          <a:solidFill>
            <a:srgbClr val="0EA472"/>
          </a:solidFill>
          <a:ln/>
        </p:spPr>
        <p:txBody>
          <a:bodyPr/>
          <a:p/>
        </p:txBody>
      </p:sp>
      <p:sp>
        <p:nvSpPr>
          <p:cNvPr id="59" name="Text 57"/>
          <p:cNvSpPr/>
          <p:nvPr/>
        </p:nvSpPr>
        <p:spPr>
          <a:xfrm>
            <a:off x="9326880" y="51755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Traceability sheet in Excel</a:t>
            </a:r>
            <a:endParaRPr lang="en-US" sz="1000" dirty="0"/>
          </a:p>
        </p:txBody>
      </p:sp>
      <p:sp>
        <p:nvSpPr>
          <p:cNvPr id="60" name="Shape 58"/>
          <p:cNvSpPr/>
          <p:nvPr/>
        </p:nvSpPr>
        <p:spPr>
          <a:xfrm>
            <a:off x="6537960" y="5632704"/>
            <a:ext cx="91440" cy="91440"/>
          </a:xfrm>
          <a:prstGeom prst="ellipse">
            <a:avLst/>
          </a:prstGeom>
          <a:solidFill>
            <a:srgbClr val="0EA472"/>
          </a:solidFill>
          <a:ln/>
        </p:spPr>
        <p:txBody>
          <a:bodyPr/>
          <a:p/>
        </p:txBody>
      </p:sp>
      <p:sp>
        <p:nvSpPr>
          <p:cNvPr id="61" name="Text 59"/>
          <p:cNvSpPr/>
          <p:nvPr/>
        </p:nvSpPr>
        <p:spPr>
          <a:xfrm>
            <a:off x="6720840" y="5577840"/>
            <a:ext cx="4663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Offline, signed-in, AI switched off</a:t>
            </a:r>
            <a:endParaRPr lang="en-US" sz="1000" dirty="0"/>
          </a:p>
        </p:txBody>
      </p:sp>
      <p:sp>
        <p:nvSpPr>
          <p:cNvPr id="62" name="Shape 60"/>
          <p:cNvSpPr/>
          <p:nvPr/>
        </p:nvSpPr>
        <p:spPr>
          <a:xfrm>
            <a:off x="548640" y="6400800"/>
            <a:ext cx="11094415" cy="12802"/>
          </a:xfrm>
          <a:prstGeom prst="rect">
            <a:avLst/>
          </a:prstGeom>
          <a:solidFill>
            <a:srgbClr val="E4EAF2"/>
          </a:solidFill>
          <a:ln/>
        </p:spPr>
        <p:txBody>
          <a:bodyPr/>
          <a:p/>
        </p:txBody>
      </p:sp>
      <p:sp>
        <p:nvSpPr>
          <p:cNvPr id="63" name="Text 61"/>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64" name="Text 62"/>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4 / 15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sp>
      <p:pic>
        <p:nvPicPr>
          <p:cNvPr id="3" name="Image 0" descr="/tmp/claude-0/-home-user-leamington-marathi/8bf32d1a-7485-5bd6-9947-7843ee6c5644/scratchpad/art/cad-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58000"/>
            </a:srgbClr>
          </a:solidFill>
          <a:ln/>
        </p:spPr>
      </p:sp>
      <p:sp>
        <p:nvSpPr>
          <p:cNvPr id="5" name="Shape 2"/>
          <p:cNvSpPr/>
          <p:nvPr/>
        </p:nvSpPr>
        <p:spPr>
          <a:xfrm>
            <a:off x="0" y="3931920"/>
            <a:ext cx="12191695" cy="2926080"/>
          </a:xfrm>
          <a:prstGeom prst="rect">
            <a:avLst/>
          </a:prstGeom>
          <a:solidFill>
            <a:srgbClr val="061024">
              <a:alpha val="80000"/>
            </a:srgbClr>
          </a:solidFill>
          <a:ln/>
        </p:spPr>
      </p:sp>
      <p:sp>
        <p:nvSpPr>
          <p:cNvPr id="6" name="Shape 3"/>
          <p:cNvSpPr/>
          <p:nvPr/>
        </p:nvSpPr>
        <p:spPr>
          <a:xfrm>
            <a:off x="0" y="0"/>
            <a:ext cx="146304" cy="6858000"/>
          </a:xfrm>
          <a:prstGeom prst="rect">
            <a:avLst/>
          </a:prstGeom>
          <a:solidFill>
            <a:srgbClr val="0DA5A0"/>
          </a:solidFill>
          <a:ln/>
        </p:spPr>
      </p:sp>
      <p:sp>
        <p:nvSpPr>
          <p:cNvPr id="7" name="Shape 4"/>
          <p:cNvSpPr/>
          <p:nvPr/>
        </p:nvSpPr>
        <p:spPr>
          <a:xfrm>
            <a:off x="0" y="6729984"/>
            <a:ext cx="12191695" cy="128016"/>
          </a:xfrm>
          <a:prstGeom prst="rect">
            <a:avLst/>
          </a:prstGeom>
          <a:solidFill>
            <a:srgbClr val="0DA5A0"/>
          </a:solidFill>
          <a:ln/>
        </p:spPr>
      </p:sp>
      <p:sp>
        <p:nvSpPr>
          <p:cNvPr id="8" name="Shape 5"/>
          <p:cNvSpPr/>
          <p:nvPr/>
        </p:nvSpPr>
        <p:spPr>
          <a:xfrm>
            <a:off x="548640" y="457200"/>
            <a:ext cx="402336" cy="402336"/>
          </a:xfrm>
          <a:prstGeom prst="roundRect">
            <a:avLst>
              <a:gd name="adj" fmla="val 22727"/>
            </a:avLst>
          </a:prstGeom>
          <a:solidFill>
            <a:srgbClr val="4F46E5"/>
          </a:solidFill>
          <a:ln/>
        </p:spPr>
      </p:sp>
      <p:sp>
        <p:nvSpPr>
          <p:cNvPr id="9" name="Text 6"/>
          <p:cNvSpPr/>
          <p:nvPr/>
        </p:nvSpPr>
        <p:spPr>
          <a:xfrm>
            <a:off x="548640" y="4572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cv</a:t>
            </a:r>
            <a:endParaRPr lang="en-US" sz="1600" dirty="0"/>
          </a:p>
        </p:txBody>
      </p:sp>
      <p:sp>
        <p:nvSpPr>
          <p:cNvPr id="10" name="Text 7"/>
          <p:cNvSpPr/>
          <p:nvPr/>
        </p:nvSpPr>
        <p:spPr>
          <a:xfrm>
            <a:off x="1097280" y="475488"/>
            <a:ext cx="36576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CostVision</a:t>
            </a:r>
            <a:endParaRPr lang="en-US" sz="1400" dirty="0"/>
          </a:p>
        </p:txBody>
      </p:sp>
      <p:sp>
        <p:nvSpPr>
          <p:cNvPr id="11" name="Shape 8"/>
          <p:cNvSpPr/>
          <p:nvPr/>
        </p:nvSpPr>
        <p:spPr>
          <a:xfrm>
            <a:off x="548640" y="4553712"/>
            <a:ext cx="658368" cy="82296"/>
          </a:xfrm>
          <a:prstGeom prst="rect">
            <a:avLst/>
          </a:prstGeom>
          <a:solidFill>
            <a:srgbClr val="0DA5A0"/>
          </a:solidFill>
          <a:ln/>
        </p:spPr>
      </p:sp>
      <p:sp>
        <p:nvSpPr>
          <p:cNvPr id="12" name="Text 9"/>
          <p:cNvSpPr/>
          <p:nvPr/>
        </p:nvSpPr>
        <p:spPr>
          <a:xfrm>
            <a:off x="548640" y="4187952"/>
            <a:ext cx="9144000" cy="274320"/>
          </a:xfrm>
          <a:prstGeom prst="rect">
            <a:avLst/>
          </a:prstGeom>
          <a:noFill/>
          <a:ln/>
        </p:spPr>
        <p:txBody>
          <a:bodyPr wrap="square" lIns="0" tIns="0" rIns="0" bIns="0" rtlCol="0" anchor="t"/>
          <a:lstStyle/>
          <a:p>
            <a:pPr indent="0" marL="0">
              <a:buNone/>
            </a:pPr>
            <a:r>
              <a:rPr lang="en-US" sz="1300" b="1" spc="200" kern="0" dirty="0">
                <a:solidFill>
                  <a:srgbClr val="CFE0F5"/>
                </a:solidFill>
                <a:latin typeface="Calibri" pitchFamily="34" charset="0"/>
                <a:ea typeface="Calibri" pitchFamily="34" charset="-122"/>
                <a:cs typeface="Calibri" pitchFamily="34" charset="-120"/>
              </a:rPr>
              <a:t>DEEP DIVE</a:t>
            </a:r>
            <a:endParaRPr lang="en-US" sz="1300" dirty="0"/>
          </a:p>
        </p:txBody>
      </p:sp>
      <p:sp>
        <p:nvSpPr>
          <p:cNvPr id="13" name="Text 10"/>
          <p:cNvSpPr/>
          <p:nvPr/>
        </p:nvSpPr>
        <p:spPr>
          <a:xfrm>
            <a:off x="548640" y="4736592"/>
            <a:ext cx="10607040" cy="1280160"/>
          </a:xfrm>
          <a:prstGeom prst="rect">
            <a:avLst/>
          </a:prstGeom>
          <a:noFill/>
          <a:ln/>
        </p:spPr>
        <p:txBody>
          <a:bodyPr wrap="square" lIns="0" tIns="0" rIns="0" bIns="0" rtlCol="0" anchor="t"/>
          <a:lstStyle/>
          <a:p>
            <a:pPr indent="0" marL="0">
              <a:lnSpc>
                <a:spcPct val="102000"/>
              </a:lnSpc>
              <a:buNone/>
            </a:pPr>
            <a:r>
              <a:rPr lang="en-US" sz="3800" b="1" dirty="0">
                <a:solidFill>
                  <a:srgbClr val="FFFFFF"/>
                </a:solidFill>
                <a:latin typeface="Calibri" pitchFamily="34" charset="0"/>
                <a:ea typeface="Calibri" pitchFamily="34" charset="-122"/>
                <a:cs typeface="Calibri" pitchFamily="34" charset="-120"/>
              </a:rPr>
              <a:t>CAD → Cost</a:t>
            </a:r>
            <a:endParaRPr lang="en-US" sz="3800" dirty="0"/>
          </a:p>
        </p:txBody>
      </p:sp>
      <p:sp>
        <p:nvSpPr>
          <p:cNvPr id="14" name="Text 1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AFC4E2"/>
                </a:solidFill>
                <a:latin typeface="Calibri" pitchFamily="34" charset="0"/>
                <a:ea typeface="Calibri" pitchFamily="34" charset="-122"/>
                <a:cs typeface="Calibri" pitchFamily="34" charset="-120"/>
              </a:rPr>
              <a:t>8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DA5A0"/>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DA5A0"/>
                </a:solidFill>
                <a:latin typeface="Calibri" pitchFamily="34" charset="0"/>
                <a:ea typeface="Calibri" pitchFamily="34" charset="-122"/>
                <a:cs typeface="Calibri" pitchFamily="34" charset="-120"/>
              </a:rPr>
              <a:t>DEEP DIVE · CAD TO COST</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CAD → Cost — from a 3D model to a should-cost</a:t>
            </a:r>
            <a:endParaRPr lang="en-US" sz="2400" dirty="0"/>
          </a:p>
        </p:txBody>
      </p:sp>
      <p:sp>
        <p:nvSpPr>
          <p:cNvPr id="9" name="Shape 7"/>
          <p:cNvSpPr/>
          <p:nvPr/>
        </p:nvSpPr>
        <p:spPr>
          <a:xfrm>
            <a:off x="548640" y="1371600"/>
            <a:ext cx="1051560" cy="45720"/>
          </a:xfrm>
          <a:prstGeom prst="rect">
            <a:avLst/>
          </a:prstGeom>
          <a:solidFill>
            <a:srgbClr val="0DA5A0"/>
          </a:solidFill>
          <a:ln/>
        </p:spPr>
      </p:sp>
      <p:sp>
        <p:nvSpPr>
          <p:cNvPr id="10" name="Text 8"/>
          <p:cNvSpPr/>
          <p:nvPr/>
        </p:nvSpPr>
        <p:spPr>
          <a:xfrm>
            <a:off x="548640" y="1554480"/>
            <a:ext cx="11064240" cy="457200"/>
          </a:xfrm>
          <a:prstGeom prst="rect">
            <a:avLst/>
          </a:prstGeom>
          <a:noFill/>
          <a:ln/>
        </p:spPr>
        <p:txBody>
          <a:bodyPr wrap="square" lIns="0" tIns="0" rIns="0" bIns="0" rtlCol="0" anchor="t"/>
          <a:lstStyle/>
          <a:p>
            <a:pPr indent="0" marL="0">
              <a:lnSpc>
                <a:spcPct val="110000"/>
              </a:lnSpc>
              <a:buNone/>
            </a:pPr>
            <a:r>
              <a:rPr lang="en-US" sz="1250" dirty="0">
                <a:solidFill>
                  <a:srgbClr val="3E4C63"/>
                </a:solidFill>
                <a:latin typeface="Calibri" pitchFamily="34" charset="0"/>
                <a:ea typeface="Calibri" pitchFamily="34" charset="-122"/>
                <a:cs typeface="Calibri" pitchFamily="34" charset="-120"/>
              </a:rPr>
              <a:t>Drop in a 3D model and CostVision reads the geometry, recognises the manufacturing features, and prices the part — with every number traced back to the model.</a:t>
            </a:r>
            <a:endParaRPr lang="en-US" sz="1250" dirty="0"/>
          </a:p>
        </p:txBody>
      </p:sp>
      <p:sp>
        <p:nvSpPr>
          <p:cNvPr id="11" name="Shape 9"/>
          <p:cNvSpPr/>
          <p:nvPr/>
        </p:nvSpPr>
        <p:spPr>
          <a:xfrm>
            <a:off x="548640" y="2286000"/>
            <a:ext cx="2542032" cy="2834640"/>
          </a:xfrm>
          <a:prstGeom prst="roundRect">
            <a:avLst>
              <a:gd name="adj" fmla="val 2518"/>
            </a:avLst>
          </a:prstGeom>
          <a:solidFill>
            <a:srgbClr val="FFFFFF"/>
          </a:solidFill>
          <a:ln w="12700">
            <a:solidFill>
              <a:srgbClr val="E4EAF2"/>
            </a:solidFill>
            <a:prstDash val="solid"/>
          </a:ln>
          <a:effectLst>
            <a:outerShdw sx="100000" sy="100000" kx="0" ky="0" algn="bl" rotWithShape="0" blurRad="5.170886643212067e+74" dist="1.477396183774876e+74" dir="9.14039610015744e+87">
              <a:srgbClr val="9DB0CC">
                <a:alpha val="2.2000000000000003e+89"/>
              </a:srgbClr>
            </a:outerShdw>
          </a:effectLst>
        </p:spPr>
      </p:sp>
      <p:sp>
        <p:nvSpPr>
          <p:cNvPr id="12" name="Shape 10"/>
          <p:cNvSpPr/>
          <p:nvPr/>
        </p:nvSpPr>
        <p:spPr>
          <a:xfrm>
            <a:off x="548640" y="2286000"/>
            <a:ext cx="82296" cy="2834640"/>
          </a:xfrm>
          <a:prstGeom prst="rect">
            <a:avLst/>
          </a:prstGeom>
          <a:solidFill>
            <a:srgbClr val="0DA5A0"/>
          </a:solidFill>
          <a:ln/>
        </p:spPr>
      </p:sp>
      <p:sp>
        <p:nvSpPr>
          <p:cNvPr id="13" name="Shape 11"/>
          <p:cNvSpPr/>
          <p:nvPr/>
        </p:nvSpPr>
        <p:spPr>
          <a:xfrm>
            <a:off x="1453896" y="2578608"/>
            <a:ext cx="731520" cy="731520"/>
          </a:xfrm>
          <a:prstGeom prst="ellipse">
            <a:avLst/>
          </a:prstGeom>
          <a:solidFill>
            <a:srgbClr val="E7F7F0"/>
          </a:solidFill>
          <a:ln/>
        </p:spPr>
      </p:sp>
      <p:sp>
        <p:nvSpPr>
          <p:cNvPr id="14" name="Text 12"/>
          <p:cNvSpPr/>
          <p:nvPr/>
        </p:nvSpPr>
        <p:spPr>
          <a:xfrm>
            <a:off x="1453896" y="2569464"/>
            <a:ext cx="731520" cy="731520"/>
          </a:xfrm>
          <a:prstGeom prst="rect">
            <a:avLst/>
          </a:prstGeom>
          <a:noFill/>
          <a:ln/>
        </p:spPr>
        <p:txBody>
          <a:bodyPr wrap="square" lIns="0" tIns="0" rIns="0" bIns="0" rtlCol="0" anchor="ctr"/>
          <a:lstStyle/>
          <a:p>
            <a:pPr algn="ctr" indent="0" marL="0">
              <a:buNone/>
            </a:pPr>
            <a:r>
              <a:rPr lang="en-US" sz="2500" b="1" dirty="0">
                <a:solidFill>
                  <a:srgbClr val="0DA5A0"/>
                </a:solidFill>
                <a:latin typeface="Calibri" pitchFamily="34" charset="0"/>
                <a:ea typeface="Calibri" pitchFamily="34" charset="-122"/>
                <a:cs typeface="Calibri" pitchFamily="34" charset="-120"/>
              </a:rPr>
              <a:t>◧</a:t>
            </a:r>
            <a:endParaRPr lang="en-US" sz="2500" dirty="0"/>
          </a:p>
        </p:txBody>
      </p:sp>
      <p:sp>
        <p:nvSpPr>
          <p:cNvPr id="15" name="Text 13"/>
          <p:cNvSpPr/>
          <p:nvPr/>
        </p:nvSpPr>
        <p:spPr>
          <a:xfrm>
            <a:off x="768096" y="3493008"/>
            <a:ext cx="2130552" cy="548640"/>
          </a:xfrm>
          <a:prstGeom prst="rect">
            <a:avLst/>
          </a:prstGeom>
          <a:noFill/>
          <a:ln/>
        </p:spPr>
        <p:txBody>
          <a:bodyPr wrap="square" lIns="0" tIns="0" rIns="0" bIns="0" rtlCol="0" anchor="t"/>
          <a:lstStyle/>
          <a:p>
            <a:pPr algn="ctr" indent="0" marL="0">
              <a:lnSpc>
                <a:spcPct val="100000"/>
              </a:lnSpc>
              <a:buNone/>
            </a:pPr>
            <a:r>
              <a:rPr lang="en-US" sz="1300" b="1" dirty="0">
                <a:solidFill>
                  <a:srgbClr val="0DA5A0"/>
                </a:solidFill>
                <a:latin typeface="Calibri" pitchFamily="34" charset="0"/>
                <a:ea typeface="Calibri" pitchFamily="34" charset="-122"/>
                <a:cs typeface="Calibri" pitchFamily="34" charset="-120"/>
              </a:rPr>
              <a:t>Reads the real geometry</a:t>
            </a:r>
            <a:endParaRPr lang="en-US" sz="1300" dirty="0"/>
          </a:p>
        </p:txBody>
      </p:sp>
      <p:sp>
        <p:nvSpPr>
          <p:cNvPr id="16" name="Text 14"/>
          <p:cNvSpPr/>
          <p:nvPr/>
        </p:nvSpPr>
        <p:spPr>
          <a:xfrm>
            <a:off x="786384" y="4114800"/>
            <a:ext cx="2084832" cy="91440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A true geometry engine (OCCT / STL) measures volume, bounding box and surface area — measured ground truth, not a guess.</a:t>
            </a:r>
            <a:endParaRPr lang="en-US" sz="1000" dirty="0"/>
          </a:p>
        </p:txBody>
      </p:sp>
      <p:sp>
        <p:nvSpPr>
          <p:cNvPr id="17" name="Shape 15"/>
          <p:cNvSpPr/>
          <p:nvPr/>
        </p:nvSpPr>
        <p:spPr>
          <a:xfrm>
            <a:off x="3419856" y="2286000"/>
            <a:ext cx="2542032" cy="2834640"/>
          </a:xfrm>
          <a:prstGeom prst="roundRect">
            <a:avLst>
              <a:gd name="adj" fmla="val 2518"/>
            </a:avLst>
          </a:prstGeom>
          <a:solidFill>
            <a:srgbClr val="FFFFFF"/>
          </a:solidFill>
          <a:ln w="12700">
            <a:solidFill>
              <a:srgbClr val="E4EAF2"/>
            </a:solidFill>
            <a:prstDash val="solid"/>
          </a:ln>
          <a:effectLst>
            <a:outerShdw sx="100000" sy="100000" kx="0" ky="0" algn="bl" rotWithShape="0" blurRad="6.567026036879325e+78" dist="1.8762931533940924e+78" dir="5.484237660094465e+92">
              <a:srgbClr val="9DB0CC">
                <a:alpha val="2.2e+94"/>
              </a:srgbClr>
            </a:outerShdw>
          </a:effectLst>
        </p:spPr>
      </p:sp>
      <p:sp>
        <p:nvSpPr>
          <p:cNvPr id="18" name="Shape 16"/>
          <p:cNvSpPr/>
          <p:nvPr/>
        </p:nvSpPr>
        <p:spPr>
          <a:xfrm>
            <a:off x="3419856" y="2286000"/>
            <a:ext cx="82296" cy="2834640"/>
          </a:xfrm>
          <a:prstGeom prst="rect">
            <a:avLst/>
          </a:prstGeom>
          <a:solidFill>
            <a:srgbClr val="2563EB"/>
          </a:solidFill>
          <a:ln/>
        </p:spPr>
      </p:sp>
      <p:sp>
        <p:nvSpPr>
          <p:cNvPr id="19" name="Shape 17"/>
          <p:cNvSpPr/>
          <p:nvPr/>
        </p:nvSpPr>
        <p:spPr>
          <a:xfrm>
            <a:off x="4325112" y="2578608"/>
            <a:ext cx="731520" cy="731520"/>
          </a:xfrm>
          <a:prstGeom prst="ellipse">
            <a:avLst/>
          </a:prstGeom>
          <a:solidFill>
            <a:srgbClr val="EAF1FE"/>
          </a:solidFill>
          <a:ln/>
        </p:spPr>
      </p:sp>
      <p:sp>
        <p:nvSpPr>
          <p:cNvPr id="20" name="Text 18"/>
          <p:cNvSpPr/>
          <p:nvPr/>
        </p:nvSpPr>
        <p:spPr>
          <a:xfrm>
            <a:off x="4325112" y="2569464"/>
            <a:ext cx="731520" cy="731520"/>
          </a:xfrm>
          <a:prstGeom prst="rect">
            <a:avLst/>
          </a:prstGeom>
          <a:noFill/>
          <a:ln/>
        </p:spPr>
        <p:txBody>
          <a:bodyPr wrap="square" lIns="0" tIns="0" rIns="0" bIns="0" rtlCol="0" anchor="ctr"/>
          <a:lstStyle/>
          <a:p>
            <a:pPr algn="ctr" indent="0" marL="0">
              <a:buNone/>
            </a:pPr>
            <a:r>
              <a:rPr lang="en-US" sz="2500" b="1" dirty="0">
                <a:solidFill>
                  <a:srgbClr val="2563EB"/>
                </a:solidFill>
                <a:latin typeface="Calibri" pitchFamily="34" charset="0"/>
                <a:ea typeface="Calibri" pitchFamily="34" charset="-122"/>
                <a:cs typeface="Calibri" pitchFamily="34" charset="-120"/>
              </a:rPr>
              <a:t>◈</a:t>
            </a:r>
            <a:endParaRPr lang="en-US" sz="2500" dirty="0"/>
          </a:p>
        </p:txBody>
      </p:sp>
      <p:sp>
        <p:nvSpPr>
          <p:cNvPr id="21" name="Text 19"/>
          <p:cNvSpPr/>
          <p:nvPr/>
        </p:nvSpPr>
        <p:spPr>
          <a:xfrm>
            <a:off x="3639312" y="3493008"/>
            <a:ext cx="2130552" cy="548640"/>
          </a:xfrm>
          <a:prstGeom prst="rect">
            <a:avLst/>
          </a:prstGeom>
          <a:noFill/>
          <a:ln/>
        </p:spPr>
        <p:txBody>
          <a:bodyPr wrap="square" lIns="0" tIns="0" rIns="0" bIns="0" rtlCol="0" anchor="t"/>
          <a:lstStyle/>
          <a:p>
            <a:pPr algn="ctr" indent="0" marL="0">
              <a:lnSpc>
                <a:spcPct val="100000"/>
              </a:lnSpc>
              <a:buNone/>
            </a:pPr>
            <a:r>
              <a:rPr lang="en-US" sz="1300" b="1" dirty="0">
                <a:solidFill>
                  <a:srgbClr val="2563EB"/>
                </a:solidFill>
                <a:latin typeface="Calibri" pitchFamily="34" charset="0"/>
                <a:ea typeface="Calibri" pitchFamily="34" charset="-122"/>
                <a:cs typeface="Calibri" pitchFamily="34" charset="-120"/>
              </a:rPr>
              <a:t>Recognises features</a:t>
            </a:r>
            <a:endParaRPr lang="en-US" sz="1300" dirty="0"/>
          </a:p>
        </p:txBody>
      </p:sp>
      <p:sp>
        <p:nvSpPr>
          <p:cNvPr id="22" name="Text 20"/>
          <p:cNvSpPr/>
          <p:nvPr/>
        </p:nvSpPr>
        <p:spPr>
          <a:xfrm>
            <a:off x="3657600" y="4114800"/>
            <a:ext cx="2084832" cy="91440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Holes, pockets, slots, bends and faces are detected and turned into machining operations automatically.</a:t>
            </a:r>
            <a:endParaRPr lang="en-US" sz="1000" dirty="0"/>
          </a:p>
        </p:txBody>
      </p:sp>
      <p:sp>
        <p:nvSpPr>
          <p:cNvPr id="23" name="Shape 21"/>
          <p:cNvSpPr/>
          <p:nvPr/>
        </p:nvSpPr>
        <p:spPr>
          <a:xfrm>
            <a:off x="6291072" y="2286000"/>
            <a:ext cx="2542032" cy="2834640"/>
          </a:xfrm>
          <a:prstGeom prst="roundRect">
            <a:avLst>
              <a:gd name="adj" fmla="val 2518"/>
            </a:avLst>
          </a:prstGeom>
          <a:solidFill>
            <a:srgbClr val="FFFFFF"/>
          </a:solidFill>
          <a:ln w="12700">
            <a:solidFill>
              <a:srgbClr val="E4EAF2"/>
            </a:solidFill>
            <a:prstDash val="solid"/>
          </a:ln>
          <a:effectLst>
            <a:outerShdw sx="100000" sy="100000" kx="0" ky="0" algn="bl" rotWithShape="0" blurRad="8.340123066836742e+82" dist="2.3828923048104974e+82" dir="3.2905425960566786e+97">
              <a:srgbClr val="9DB0CC">
                <a:alpha val="2.2000000000000003e+99"/>
              </a:srgbClr>
            </a:outerShdw>
          </a:effectLst>
        </p:spPr>
      </p:sp>
      <p:sp>
        <p:nvSpPr>
          <p:cNvPr id="24" name="Shape 22"/>
          <p:cNvSpPr/>
          <p:nvPr/>
        </p:nvSpPr>
        <p:spPr>
          <a:xfrm>
            <a:off x="6291072" y="2286000"/>
            <a:ext cx="82296" cy="2834640"/>
          </a:xfrm>
          <a:prstGeom prst="rect">
            <a:avLst/>
          </a:prstGeom>
          <a:solidFill>
            <a:srgbClr val="7C3AED"/>
          </a:solidFill>
          <a:ln/>
        </p:spPr>
      </p:sp>
      <p:sp>
        <p:nvSpPr>
          <p:cNvPr id="25" name="Shape 23"/>
          <p:cNvSpPr/>
          <p:nvPr/>
        </p:nvSpPr>
        <p:spPr>
          <a:xfrm>
            <a:off x="7196328" y="2578608"/>
            <a:ext cx="731520" cy="731520"/>
          </a:xfrm>
          <a:prstGeom prst="ellipse">
            <a:avLst/>
          </a:prstGeom>
          <a:solidFill>
            <a:srgbClr val="F3EEFE"/>
          </a:solidFill>
          <a:ln/>
        </p:spPr>
      </p:sp>
      <p:sp>
        <p:nvSpPr>
          <p:cNvPr id="26" name="Text 24"/>
          <p:cNvSpPr/>
          <p:nvPr/>
        </p:nvSpPr>
        <p:spPr>
          <a:xfrm>
            <a:off x="7196328" y="2569464"/>
            <a:ext cx="731520" cy="731520"/>
          </a:xfrm>
          <a:prstGeom prst="rect">
            <a:avLst/>
          </a:prstGeom>
          <a:noFill/>
          <a:ln/>
        </p:spPr>
        <p:txBody>
          <a:bodyPr wrap="square" lIns="0" tIns="0" rIns="0" bIns="0" rtlCol="0" anchor="ctr"/>
          <a:lstStyle/>
          <a:p>
            <a:pPr algn="ctr" indent="0" marL="0">
              <a:buNone/>
            </a:pPr>
            <a:r>
              <a:rPr lang="en-US" sz="2500" b="1" dirty="0">
                <a:solidFill>
                  <a:srgbClr val="7C3AED"/>
                </a:solidFill>
                <a:latin typeface="Calibri" pitchFamily="34" charset="0"/>
                <a:ea typeface="Calibri" pitchFamily="34" charset="-122"/>
                <a:cs typeface="Calibri" pitchFamily="34" charset="-120"/>
              </a:rPr>
              <a:t>✦</a:t>
            </a:r>
            <a:endParaRPr lang="en-US" sz="2500" dirty="0"/>
          </a:p>
        </p:txBody>
      </p:sp>
      <p:sp>
        <p:nvSpPr>
          <p:cNvPr id="27" name="Text 25"/>
          <p:cNvSpPr/>
          <p:nvPr/>
        </p:nvSpPr>
        <p:spPr>
          <a:xfrm>
            <a:off x="6510528" y="3493008"/>
            <a:ext cx="2130552" cy="548640"/>
          </a:xfrm>
          <a:prstGeom prst="rect">
            <a:avLst/>
          </a:prstGeom>
          <a:noFill/>
          <a:ln/>
        </p:spPr>
        <p:txBody>
          <a:bodyPr wrap="square" lIns="0" tIns="0" rIns="0" bIns="0" rtlCol="0" anchor="t"/>
          <a:lstStyle/>
          <a:p>
            <a:pPr algn="ctr" indent="0" marL="0">
              <a:lnSpc>
                <a:spcPct val="100000"/>
              </a:lnSpc>
              <a:buNone/>
            </a:pPr>
            <a:r>
              <a:rPr lang="en-US" sz="1300" b="1" dirty="0">
                <a:solidFill>
                  <a:srgbClr val="7C3AED"/>
                </a:solidFill>
                <a:latin typeface="Calibri" pitchFamily="34" charset="0"/>
                <a:ea typeface="Calibri" pitchFamily="34" charset="-122"/>
                <a:cs typeface="Calibri" pitchFamily="34" charset="-120"/>
              </a:rPr>
              <a:t>Suggests material &amp; process</a:t>
            </a:r>
            <a:endParaRPr lang="en-US" sz="1300" dirty="0"/>
          </a:p>
        </p:txBody>
      </p:sp>
      <p:sp>
        <p:nvSpPr>
          <p:cNvPr id="28" name="Text 26"/>
          <p:cNvSpPr/>
          <p:nvPr/>
        </p:nvSpPr>
        <p:spPr>
          <a:xfrm>
            <a:off x="6528816" y="4114800"/>
            <a:ext cx="2084832" cy="91440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AI proposes the material family and process route with a confidence score — we stay in control.</a:t>
            </a:r>
            <a:endParaRPr lang="en-US" sz="1000" dirty="0"/>
          </a:p>
        </p:txBody>
      </p:sp>
      <p:sp>
        <p:nvSpPr>
          <p:cNvPr id="29" name="Shape 27"/>
          <p:cNvSpPr/>
          <p:nvPr/>
        </p:nvSpPr>
        <p:spPr>
          <a:xfrm>
            <a:off x="9162288" y="2286000"/>
            <a:ext cx="2542032" cy="2834640"/>
          </a:xfrm>
          <a:prstGeom prst="roundRect">
            <a:avLst>
              <a:gd name="adj" fmla="val 2518"/>
            </a:avLst>
          </a:prstGeom>
          <a:solidFill>
            <a:srgbClr val="FFFFFF"/>
          </a:solidFill>
          <a:ln w="12700">
            <a:solidFill>
              <a:srgbClr val="E4EAF2"/>
            </a:solidFill>
            <a:prstDash val="solid"/>
          </a:ln>
          <a:effectLst>
            <a:outerShdw sx="100000" sy="100000" kx="0" ky="0" algn="bl" rotWithShape="0" blurRad="1.0591956294882662e+87" dist="3.0262732271093317e+86" dir="1.9743255576340073e+102">
              <a:srgbClr val="9DB0CC">
                <a:alpha val="2.2000000000000003e+104"/>
              </a:srgbClr>
            </a:outerShdw>
          </a:effectLst>
        </p:spPr>
      </p:sp>
      <p:sp>
        <p:nvSpPr>
          <p:cNvPr id="30" name="Shape 28"/>
          <p:cNvSpPr/>
          <p:nvPr/>
        </p:nvSpPr>
        <p:spPr>
          <a:xfrm>
            <a:off x="9162288" y="2286000"/>
            <a:ext cx="82296" cy="2834640"/>
          </a:xfrm>
          <a:prstGeom prst="rect">
            <a:avLst/>
          </a:prstGeom>
          <a:solidFill>
            <a:srgbClr val="0EA472"/>
          </a:solidFill>
          <a:ln/>
        </p:spPr>
      </p:sp>
      <p:sp>
        <p:nvSpPr>
          <p:cNvPr id="31" name="Shape 29"/>
          <p:cNvSpPr/>
          <p:nvPr/>
        </p:nvSpPr>
        <p:spPr>
          <a:xfrm>
            <a:off x="10067544" y="2578608"/>
            <a:ext cx="731520" cy="731520"/>
          </a:xfrm>
          <a:prstGeom prst="ellipse">
            <a:avLst/>
          </a:prstGeom>
          <a:solidFill>
            <a:srgbClr val="E7F7F0"/>
          </a:solidFill>
          <a:ln/>
        </p:spPr>
      </p:sp>
      <p:sp>
        <p:nvSpPr>
          <p:cNvPr id="32" name="Text 30"/>
          <p:cNvSpPr/>
          <p:nvPr/>
        </p:nvSpPr>
        <p:spPr>
          <a:xfrm>
            <a:off x="10067544" y="2569464"/>
            <a:ext cx="731520" cy="731520"/>
          </a:xfrm>
          <a:prstGeom prst="rect">
            <a:avLst/>
          </a:prstGeom>
          <a:noFill/>
          <a:ln/>
        </p:spPr>
        <p:txBody>
          <a:bodyPr wrap="square" lIns="0" tIns="0" rIns="0" bIns="0" rtlCol="0" anchor="ctr"/>
          <a:lstStyle/>
          <a:p>
            <a:pPr algn="ctr" indent="0" marL="0">
              <a:buNone/>
            </a:pPr>
            <a:r>
              <a:rPr lang="en-US" sz="2500" b="1" dirty="0">
                <a:solidFill>
                  <a:srgbClr val="0EA472"/>
                </a:solidFill>
                <a:latin typeface="Calibri" pitchFamily="34" charset="0"/>
                <a:ea typeface="Calibri" pitchFamily="34" charset="-122"/>
                <a:cs typeface="Calibri" pitchFamily="34" charset="-120"/>
              </a:rPr>
              <a:t>◆</a:t>
            </a:r>
            <a:endParaRPr lang="en-US" sz="2500" dirty="0"/>
          </a:p>
        </p:txBody>
      </p:sp>
      <p:sp>
        <p:nvSpPr>
          <p:cNvPr id="33" name="Text 31"/>
          <p:cNvSpPr/>
          <p:nvPr/>
        </p:nvSpPr>
        <p:spPr>
          <a:xfrm>
            <a:off x="9381744" y="3493008"/>
            <a:ext cx="2130552" cy="548640"/>
          </a:xfrm>
          <a:prstGeom prst="rect">
            <a:avLst/>
          </a:prstGeom>
          <a:noFill/>
          <a:ln/>
        </p:spPr>
        <p:txBody>
          <a:bodyPr wrap="square" lIns="0" tIns="0" rIns="0" bIns="0" rtlCol="0" anchor="t"/>
          <a:lstStyle/>
          <a:p>
            <a:pPr algn="ctr" indent="0" marL="0">
              <a:lnSpc>
                <a:spcPct val="100000"/>
              </a:lnSpc>
              <a:buNone/>
            </a:pPr>
            <a:r>
              <a:rPr lang="en-US" sz="1300" b="1" dirty="0">
                <a:solidFill>
                  <a:srgbClr val="0EA472"/>
                </a:solidFill>
                <a:latin typeface="Calibri" pitchFamily="34" charset="0"/>
                <a:ea typeface="Calibri" pitchFamily="34" charset="-122"/>
                <a:cs typeface="Calibri" pitchFamily="34" charset="-120"/>
              </a:rPr>
              <a:t>Prices it — and explains</a:t>
            </a:r>
            <a:endParaRPr lang="en-US" sz="1300" dirty="0"/>
          </a:p>
        </p:txBody>
      </p:sp>
      <p:sp>
        <p:nvSpPr>
          <p:cNvPr id="34" name="Text 32"/>
          <p:cNvSpPr/>
          <p:nvPr/>
        </p:nvSpPr>
        <p:spPr>
          <a:xfrm>
            <a:off x="9400032" y="4114800"/>
            <a:ext cx="2084832" cy="91440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A deterministic 8-bucket engine (material → margin) returns a full should-cost with a confidence band and DFM guidance.</a:t>
            </a:r>
            <a:endParaRPr lang="en-US" sz="1000" dirty="0"/>
          </a:p>
        </p:txBody>
      </p:sp>
      <p:sp>
        <p:nvSpPr>
          <p:cNvPr id="35" name="Shape 33"/>
          <p:cNvSpPr/>
          <p:nvPr/>
        </p:nvSpPr>
        <p:spPr>
          <a:xfrm>
            <a:off x="548640" y="5303520"/>
            <a:ext cx="11091672" cy="640080"/>
          </a:xfrm>
          <a:prstGeom prst="roundRect">
            <a:avLst>
              <a:gd name="adj" fmla="val 10000"/>
            </a:avLst>
          </a:prstGeom>
          <a:solidFill>
            <a:srgbClr val="FEF6E7"/>
          </a:solidFill>
          <a:ln w="12700">
            <a:solidFill>
              <a:srgbClr val="E4EAF2"/>
            </a:solidFill>
            <a:prstDash val="solid"/>
          </a:ln>
        </p:spPr>
      </p:sp>
      <p:sp>
        <p:nvSpPr>
          <p:cNvPr id="36" name="Shape 34"/>
          <p:cNvSpPr/>
          <p:nvPr/>
        </p:nvSpPr>
        <p:spPr>
          <a:xfrm>
            <a:off x="548640" y="5303520"/>
            <a:ext cx="82296" cy="640080"/>
          </a:xfrm>
          <a:prstGeom prst="rect">
            <a:avLst/>
          </a:prstGeom>
          <a:solidFill>
            <a:srgbClr val="E0900C"/>
          </a:solidFill>
          <a:ln/>
        </p:spPr>
      </p:sp>
      <p:sp>
        <p:nvSpPr>
          <p:cNvPr id="37" name="Text 35"/>
          <p:cNvSpPr/>
          <p:nvPr/>
        </p:nvSpPr>
        <p:spPr>
          <a:xfrm>
            <a:off x="914400" y="5303520"/>
            <a:ext cx="10332720" cy="640080"/>
          </a:xfrm>
          <a:prstGeom prst="rect">
            <a:avLst/>
          </a:prstGeom>
          <a:noFill/>
          <a:ln/>
        </p:spPr>
        <p:txBody>
          <a:bodyPr wrap="square" lIns="0" tIns="0" rIns="0" bIns="0" rtlCol="0" anchor="ctr"/>
          <a:lstStyle/>
          <a:p>
            <a:pPr indent="0" marL="0">
              <a:lnSpc>
                <a:spcPct val="110000"/>
              </a:lnSpc>
              <a:buNone/>
            </a:pPr>
            <a:r>
              <a:rPr lang="en-US" sz="1100" b="1" dirty="0">
                <a:solidFill>
                  <a:srgbClr val="E0900C"/>
                </a:solidFill>
                <a:latin typeface="Calibri" pitchFamily="34" charset="0"/>
                <a:ea typeface="Calibri" pitchFamily="34" charset="-122"/>
                <a:cs typeface="Calibri" pitchFamily="34" charset="-120"/>
              </a:rPr>
              <a:t>Add a 2D drawing to sharpen it:  </a:t>
            </a:r>
            <a:pPr indent="0" marL="0">
              <a:lnSpc>
                <a:spcPct val="110000"/>
              </a:lnSpc>
              <a:buNone/>
            </a:pPr>
            <a:r>
              <a:rPr lang="en-US" sz="1100" dirty="0">
                <a:solidFill>
                  <a:srgbClr val="3E4C63"/>
                </a:solidFill>
                <a:latin typeface="Calibri" pitchFamily="34" charset="0"/>
                <a:ea typeface="Calibri" pitchFamily="34" charset="-122"/>
                <a:cs typeface="Calibri" pitchFamily="34" charset="-120"/>
              </a:rPr>
              <a:t>attach the engineering-drawing PDF and the AI reads the tolerances &amp; GD&amp;T — tight tolerances pull in grinding/reaming and better surface finish, so the process route and the cost get more accurate. Formats: STEP · IGES · STL, plus an optional 2D drawing.</a:t>
            </a:r>
            <a:endParaRPr lang="en-US" sz="1100" dirty="0"/>
          </a:p>
        </p:txBody>
      </p:sp>
      <p:sp>
        <p:nvSpPr>
          <p:cNvPr id="38" name="Shape 36"/>
          <p:cNvSpPr/>
          <p:nvPr/>
        </p:nvSpPr>
        <p:spPr>
          <a:xfrm>
            <a:off x="548640" y="6400800"/>
            <a:ext cx="11094415" cy="12802"/>
          </a:xfrm>
          <a:prstGeom prst="rect">
            <a:avLst/>
          </a:prstGeom>
          <a:solidFill>
            <a:srgbClr val="E4EAF2"/>
          </a:solidFill>
          <a:ln/>
        </p:spPr>
      </p:sp>
      <p:sp>
        <p:nvSpPr>
          <p:cNvPr id="39" name="Text 37"/>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40" name="Text 38"/>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9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DA5A0"/>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DA5A0"/>
                </a:solidFill>
                <a:latin typeface="Calibri" pitchFamily="34" charset="0"/>
                <a:ea typeface="Calibri" pitchFamily="34" charset="-122"/>
                <a:cs typeface="Calibri" pitchFamily="34" charset="-120"/>
              </a:rPr>
              <a:t>DEEP DIVE · CAD TO COST</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CAD → Cost — the workflow, end to end</a:t>
            </a:r>
            <a:endParaRPr lang="en-US" sz="2400" dirty="0"/>
          </a:p>
        </p:txBody>
      </p:sp>
      <p:sp>
        <p:nvSpPr>
          <p:cNvPr id="9" name="Shape 7"/>
          <p:cNvSpPr/>
          <p:nvPr/>
        </p:nvSpPr>
        <p:spPr>
          <a:xfrm>
            <a:off x="548640" y="1371600"/>
            <a:ext cx="1051560" cy="45720"/>
          </a:xfrm>
          <a:prstGeom prst="rect">
            <a:avLst/>
          </a:prstGeom>
          <a:solidFill>
            <a:srgbClr val="0DA5A0"/>
          </a:solidFill>
          <a:ln/>
        </p:spPr>
        <p:txBody>
          <a:bodyPr/>
          <a:p/>
        </p:txBody>
      </p:sp>
      <p:sp>
        <p:nvSpPr>
          <p:cNvPr id="10" name="Shape 8"/>
          <p:cNvSpPr/>
          <p:nvPr/>
        </p:nvSpPr>
        <p:spPr>
          <a:xfrm>
            <a:off x="548640"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1.3451784494500981e+91" dist="3.8433669984288512e+90" dir="1.1845953345804043e+107">
              <a:srgbClr val="9DB0CC">
                <a:alpha val="2.2000000000000003e+109"/>
              </a:srgbClr>
            </a:outerShdw>
          </a:effectLst>
        </p:spPr>
        <p:txBody>
          <a:bodyPr/>
          <a:p/>
        </p:txBody>
      </p:sp>
      <p:sp>
        <p:nvSpPr>
          <p:cNvPr id="11" name="Shape 9"/>
          <p:cNvSpPr/>
          <p:nvPr/>
        </p:nvSpPr>
        <p:spPr>
          <a:xfrm>
            <a:off x="548640" y="1783080"/>
            <a:ext cx="1463040" cy="82296"/>
          </a:xfrm>
          <a:prstGeom prst="rect">
            <a:avLst/>
          </a:prstGeom>
          <a:solidFill>
            <a:srgbClr val="2E90FA"/>
          </a:solidFill>
          <a:ln/>
        </p:spPr>
        <p:txBody>
          <a:bodyPr/>
          <a:p/>
        </p:txBody>
      </p:sp>
      <p:sp>
        <p:nvSpPr>
          <p:cNvPr id="12" name="Shape 10"/>
          <p:cNvSpPr/>
          <p:nvPr/>
        </p:nvSpPr>
        <p:spPr>
          <a:xfrm>
            <a:off x="1024128" y="1984248"/>
            <a:ext cx="512064" cy="512064"/>
          </a:xfrm>
          <a:prstGeom prst="ellipse">
            <a:avLst/>
          </a:prstGeom>
          <a:solidFill>
            <a:srgbClr val="F4F7FB"/>
          </a:solidFill>
          <a:ln/>
        </p:spPr>
        <p:txBody>
          <a:bodyPr/>
          <a:p/>
        </p:txBody>
      </p:sp>
      <p:sp>
        <p:nvSpPr>
          <p:cNvPr id="13" name="Text 11"/>
          <p:cNvSpPr/>
          <p:nvPr/>
        </p:nvSpPr>
        <p:spPr>
          <a:xfrm>
            <a:off x="1024128" y="1975104"/>
            <a:ext cx="512064" cy="512064"/>
          </a:xfrm>
          <a:prstGeom prst="rect">
            <a:avLst/>
          </a:prstGeom>
          <a:noFill/>
          <a:ln/>
        </p:spPr>
        <p:txBody>
          <a:bodyPr wrap="square" lIns="0" tIns="0" rIns="0" bIns="0" rtlCol="0" anchor="ctr"/>
          <a:lstStyle/>
          <a:p>
            <a:pPr algn="ctr" indent="0" marL="0">
              <a:buNone/>
            </a:pPr>
            <a:r>
              <a:rPr lang="en-US" sz="1800" b="1" dirty="0">
                <a:solidFill>
                  <a:srgbClr val="2E90FA"/>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640080"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Upload</a:t>
            </a:r>
            <a:endParaRPr lang="en-US" sz="1200" dirty="0"/>
          </a:p>
        </p:txBody>
      </p:sp>
      <p:sp>
        <p:nvSpPr>
          <p:cNvPr id="15" name="Text 13"/>
          <p:cNvSpPr/>
          <p:nvPr/>
        </p:nvSpPr>
        <p:spPr>
          <a:xfrm>
            <a:off x="658368"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STEP · IGES · STL (+ DXF for sheet)</a:t>
            </a:r>
            <a:endParaRPr lang="en-US" sz="860" dirty="0"/>
          </a:p>
        </p:txBody>
      </p:sp>
      <p:sp>
        <p:nvSpPr>
          <p:cNvPr id="16" name="Shape 14"/>
          <p:cNvSpPr/>
          <p:nvPr/>
        </p:nvSpPr>
        <p:spPr>
          <a:xfrm>
            <a:off x="2016252" y="2583180"/>
            <a:ext cx="100584" cy="0"/>
          </a:xfrm>
          <a:prstGeom prst="line">
            <a:avLst/>
          </a:prstGeom>
          <a:noFill/>
          <a:ln w="22225">
            <a:solidFill>
              <a:srgbClr val="D4DEEC"/>
            </a:solidFill>
            <a:prstDash val="solid"/>
            <a:headEnd type="none"/>
            <a:tailEnd type="triangle"/>
          </a:ln>
        </p:spPr>
        <p:txBody>
          <a:bodyPr/>
          <a:p/>
        </p:txBody>
      </p:sp>
      <p:sp>
        <p:nvSpPr>
          <p:cNvPr id="17" name="Shape 15"/>
          <p:cNvSpPr/>
          <p:nvPr/>
        </p:nvSpPr>
        <p:spPr>
          <a:xfrm>
            <a:off x="2130552"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1.7083766308016246e+95" dist="4.8810760880046414e+94" dir="7.107572007482426e+111">
              <a:srgbClr val="9DB0CC">
                <a:alpha val="2.2000000000000003e+114"/>
              </a:srgbClr>
            </a:outerShdw>
          </a:effectLst>
        </p:spPr>
        <p:txBody>
          <a:bodyPr/>
          <a:p/>
        </p:txBody>
      </p:sp>
      <p:sp>
        <p:nvSpPr>
          <p:cNvPr id="18" name="Shape 16"/>
          <p:cNvSpPr/>
          <p:nvPr/>
        </p:nvSpPr>
        <p:spPr>
          <a:xfrm>
            <a:off x="2130552" y="1783080"/>
            <a:ext cx="1463040" cy="82296"/>
          </a:xfrm>
          <a:prstGeom prst="rect">
            <a:avLst/>
          </a:prstGeom>
          <a:solidFill>
            <a:srgbClr val="0DA5A0"/>
          </a:solidFill>
          <a:ln/>
        </p:spPr>
        <p:txBody>
          <a:bodyPr/>
          <a:p/>
        </p:txBody>
      </p:sp>
      <p:sp>
        <p:nvSpPr>
          <p:cNvPr id="19" name="Shape 17"/>
          <p:cNvSpPr/>
          <p:nvPr/>
        </p:nvSpPr>
        <p:spPr>
          <a:xfrm>
            <a:off x="2606040" y="1984248"/>
            <a:ext cx="512064" cy="512064"/>
          </a:xfrm>
          <a:prstGeom prst="ellipse">
            <a:avLst/>
          </a:prstGeom>
          <a:solidFill>
            <a:srgbClr val="E7F7F0"/>
          </a:solidFill>
          <a:ln/>
        </p:spPr>
        <p:txBody>
          <a:bodyPr/>
          <a:p/>
        </p:txBody>
      </p:sp>
      <p:sp>
        <p:nvSpPr>
          <p:cNvPr id="20" name="Text 18"/>
          <p:cNvSpPr/>
          <p:nvPr/>
        </p:nvSpPr>
        <p:spPr>
          <a:xfrm>
            <a:off x="2606040" y="1975104"/>
            <a:ext cx="512064" cy="512064"/>
          </a:xfrm>
          <a:prstGeom prst="rect">
            <a:avLst/>
          </a:prstGeom>
          <a:noFill/>
          <a:ln/>
        </p:spPr>
        <p:txBody>
          <a:bodyPr wrap="square" lIns="0" tIns="0" rIns="0" bIns="0" rtlCol="0" anchor="ctr"/>
          <a:lstStyle/>
          <a:p>
            <a:pPr algn="ctr" indent="0" marL="0">
              <a:buNone/>
            </a:pPr>
            <a:r>
              <a:rPr lang="en-US" sz="1800" b="1" dirty="0">
                <a:solidFill>
                  <a:srgbClr val="0DA5A0"/>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2221992"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Measure</a:t>
            </a:r>
            <a:endParaRPr lang="en-US" sz="1200" dirty="0"/>
          </a:p>
        </p:txBody>
      </p:sp>
      <p:sp>
        <p:nvSpPr>
          <p:cNvPr id="22" name="Text 20"/>
          <p:cNvSpPr/>
          <p:nvPr/>
        </p:nvSpPr>
        <p:spPr>
          <a:xfrm>
            <a:off x="2240280"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volume · weight · walls · faces</a:t>
            </a:r>
            <a:endParaRPr lang="en-US" sz="860" dirty="0"/>
          </a:p>
        </p:txBody>
      </p:sp>
      <p:sp>
        <p:nvSpPr>
          <p:cNvPr id="23" name="Shape 21"/>
          <p:cNvSpPr/>
          <p:nvPr/>
        </p:nvSpPr>
        <p:spPr>
          <a:xfrm>
            <a:off x="3598164" y="2583180"/>
            <a:ext cx="100584" cy="0"/>
          </a:xfrm>
          <a:prstGeom prst="line">
            <a:avLst/>
          </a:prstGeom>
          <a:noFill/>
          <a:ln w="22225">
            <a:solidFill>
              <a:srgbClr val="D4DEEC"/>
            </a:solidFill>
            <a:prstDash val="solid"/>
            <a:headEnd type="none"/>
            <a:tailEnd type="triangle"/>
          </a:ln>
        </p:spPr>
        <p:txBody>
          <a:bodyPr/>
          <a:p/>
        </p:txBody>
      </p:sp>
      <p:sp>
        <p:nvSpPr>
          <p:cNvPr id="24" name="Shape 22"/>
          <p:cNvSpPr/>
          <p:nvPr/>
        </p:nvSpPr>
        <p:spPr>
          <a:xfrm>
            <a:off x="3712464"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2.1696383211180632e+99" dist="6.198966631765894e+98" dir="4.2645432044894554e+116">
              <a:srgbClr val="9DB0CC">
                <a:alpha val="2.2000000000000005e+119"/>
              </a:srgbClr>
            </a:outerShdw>
          </a:effectLst>
        </p:spPr>
        <p:txBody>
          <a:bodyPr/>
          <a:p/>
        </p:txBody>
      </p:sp>
      <p:sp>
        <p:nvSpPr>
          <p:cNvPr id="25" name="Shape 23"/>
          <p:cNvSpPr/>
          <p:nvPr/>
        </p:nvSpPr>
        <p:spPr>
          <a:xfrm>
            <a:off x="3712464" y="1783080"/>
            <a:ext cx="1463040" cy="82296"/>
          </a:xfrm>
          <a:prstGeom prst="rect">
            <a:avLst/>
          </a:prstGeom>
          <a:solidFill>
            <a:srgbClr val="2563EB"/>
          </a:solidFill>
          <a:ln/>
        </p:spPr>
        <p:txBody>
          <a:bodyPr/>
          <a:p/>
        </p:txBody>
      </p:sp>
      <p:sp>
        <p:nvSpPr>
          <p:cNvPr id="26" name="Shape 24"/>
          <p:cNvSpPr/>
          <p:nvPr/>
        </p:nvSpPr>
        <p:spPr>
          <a:xfrm>
            <a:off x="4187952" y="1984248"/>
            <a:ext cx="512064" cy="512064"/>
          </a:xfrm>
          <a:prstGeom prst="ellipse">
            <a:avLst/>
          </a:prstGeom>
          <a:solidFill>
            <a:srgbClr val="EAF1FE"/>
          </a:solidFill>
          <a:ln/>
        </p:spPr>
        <p:txBody>
          <a:bodyPr/>
          <a:p/>
        </p:txBody>
      </p:sp>
      <p:sp>
        <p:nvSpPr>
          <p:cNvPr id="27" name="Text 25"/>
          <p:cNvSpPr/>
          <p:nvPr/>
        </p:nvSpPr>
        <p:spPr>
          <a:xfrm>
            <a:off x="4187952" y="1975104"/>
            <a:ext cx="512064" cy="512064"/>
          </a:xfrm>
          <a:prstGeom prst="rect">
            <a:avLst/>
          </a:prstGeom>
          <a:noFill/>
          <a:ln/>
        </p:spPr>
        <p:txBody>
          <a:bodyPr wrap="square" lIns="0" tIns="0" rIns="0" bIns="0" rtlCol="0" anchor="ctr"/>
          <a:lstStyle/>
          <a:p>
            <a:pPr algn="ct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28" name="Text 26"/>
          <p:cNvSpPr/>
          <p:nvPr/>
        </p:nvSpPr>
        <p:spPr>
          <a:xfrm>
            <a:off x="3803904"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Features</a:t>
            </a:r>
            <a:endParaRPr lang="en-US" sz="1200" dirty="0"/>
          </a:p>
        </p:txBody>
      </p:sp>
      <p:sp>
        <p:nvSpPr>
          <p:cNvPr id="29" name="Text 27"/>
          <p:cNvSpPr/>
          <p:nvPr/>
        </p:nvSpPr>
        <p:spPr>
          <a:xfrm>
            <a:off x="3822192"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holes · pockets · slots · bosses</a:t>
            </a:r>
            <a:endParaRPr lang="en-US" sz="860" dirty="0"/>
          </a:p>
        </p:txBody>
      </p:sp>
      <p:sp>
        <p:nvSpPr>
          <p:cNvPr id="30" name="Shape 28"/>
          <p:cNvSpPr/>
          <p:nvPr/>
        </p:nvSpPr>
        <p:spPr>
          <a:xfrm>
            <a:off x="5180076" y="2583180"/>
            <a:ext cx="100584" cy="0"/>
          </a:xfrm>
          <a:prstGeom prst="line">
            <a:avLst/>
          </a:prstGeom>
          <a:noFill/>
          <a:ln w="22225">
            <a:solidFill>
              <a:srgbClr val="D4DEEC"/>
            </a:solidFill>
            <a:prstDash val="solid"/>
            <a:headEnd type="none"/>
            <a:tailEnd type="triangle"/>
          </a:ln>
        </p:spPr>
        <p:txBody>
          <a:bodyPr/>
          <a:p/>
        </p:txBody>
      </p:sp>
      <p:sp>
        <p:nvSpPr>
          <p:cNvPr id="31" name="Shape 29"/>
          <p:cNvSpPr/>
          <p:nvPr/>
        </p:nvSpPr>
        <p:spPr>
          <a:xfrm>
            <a:off x="5294376"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2.7554406678199403e+103" dist="7.872687622342685e+102" dir="2.5587259226936733e+121">
              <a:srgbClr val="9DB0CC">
                <a:alpha val="2.2000000000000006e+124"/>
              </a:srgbClr>
            </a:outerShdw>
          </a:effectLst>
        </p:spPr>
        <p:txBody>
          <a:bodyPr/>
          <a:p/>
        </p:txBody>
      </p:sp>
      <p:sp>
        <p:nvSpPr>
          <p:cNvPr id="32" name="Shape 30"/>
          <p:cNvSpPr/>
          <p:nvPr/>
        </p:nvSpPr>
        <p:spPr>
          <a:xfrm>
            <a:off x="5294376" y="1783080"/>
            <a:ext cx="1463040" cy="82296"/>
          </a:xfrm>
          <a:prstGeom prst="rect">
            <a:avLst/>
          </a:prstGeom>
          <a:solidFill>
            <a:srgbClr val="7C3AED"/>
          </a:solidFill>
          <a:ln/>
        </p:spPr>
        <p:txBody>
          <a:bodyPr/>
          <a:p/>
        </p:txBody>
      </p:sp>
      <p:sp>
        <p:nvSpPr>
          <p:cNvPr id="33" name="Shape 31"/>
          <p:cNvSpPr/>
          <p:nvPr/>
        </p:nvSpPr>
        <p:spPr>
          <a:xfrm>
            <a:off x="5769864" y="1984248"/>
            <a:ext cx="512064" cy="512064"/>
          </a:xfrm>
          <a:prstGeom prst="ellipse">
            <a:avLst/>
          </a:prstGeom>
          <a:solidFill>
            <a:srgbClr val="F3EEFE"/>
          </a:solidFill>
          <a:ln/>
        </p:spPr>
        <p:txBody>
          <a:bodyPr/>
          <a:p/>
        </p:txBody>
      </p:sp>
      <p:sp>
        <p:nvSpPr>
          <p:cNvPr id="34" name="Text 32"/>
          <p:cNvSpPr/>
          <p:nvPr/>
        </p:nvSpPr>
        <p:spPr>
          <a:xfrm>
            <a:off x="5769864" y="1975104"/>
            <a:ext cx="512064" cy="512064"/>
          </a:xfrm>
          <a:prstGeom prst="rect">
            <a:avLst/>
          </a:prstGeom>
          <a:noFill/>
          <a:ln/>
        </p:spPr>
        <p:txBody>
          <a:bodyPr wrap="square" lIns="0" tIns="0" rIns="0" bIns="0" rtlCol="0" anchor="ctr"/>
          <a:lstStyle/>
          <a:p>
            <a:pPr algn="ctr" indent="0" marL="0">
              <a:buNone/>
            </a:pPr>
            <a:r>
              <a:rPr lang="en-US" sz="1800" b="1" dirty="0">
                <a:solidFill>
                  <a:srgbClr val="7C3AED"/>
                </a:solidFill>
                <a:latin typeface="Calibri" pitchFamily="34" charset="0"/>
                <a:ea typeface="Calibri" pitchFamily="34" charset="-122"/>
                <a:cs typeface="Calibri" pitchFamily="34" charset="-120"/>
              </a:rPr>
              <a:t>✦</a:t>
            </a:r>
            <a:endParaRPr lang="en-US" sz="1800" dirty="0"/>
          </a:p>
        </p:txBody>
      </p:sp>
      <p:sp>
        <p:nvSpPr>
          <p:cNvPr id="35" name="Text 33"/>
          <p:cNvSpPr/>
          <p:nvPr/>
        </p:nvSpPr>
        <p:spPr>
          <a:xfrm>
            <a:off x="5385816"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Ask</a:t>
            </a:r>
            <a:endParaRPr lang="en-US" sz="1200" dirty="0"/>
          </a:p>
        </p:txBody>
      </p:sp>
      <p:sp>
        <p:nvSpPr>
          <p:cNvPr id="36" name="Text 34"/>
          <p:cNvSpPr/>
          <p:nvPr/>
        </p:nvSpPr>
        <p:spPr>
          <a:xfrm>
            <a:off x="5404104"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route, material: where CAD can’t decide</a:t>
            </a:r>
            <a:endParaRPr lang="en-US" sz="860" dirty="0"/>
          </a:p>
        </p:txBody>
      </p:sp>
      <p:sp>
        <p:nvSpPr>
          <p:cNvPr id="37" name="Shape 35"/>
          <p:cNvSpPr/>
          <p:nvPr/>
        </p:nvSpPr>
        <p:spPr>
          <a:xfrm>
            <a:off x="6761988" y="2583180"/>
            <a:ext cx="100584" cy="0"/>
          </a:xfrm>
          <a:prstGeom prst="line">
            <a:avLst/>
          </a:prstGeom>
          <a:noFill/>
          <a:ln w="22225">
            <a:solidFill>
              <a:srgbClr val="D4DEEC"/>
            </a:solidFill>
            <a:prstDash val="solid"/>
            <a:headEnd type="none"/>
            <a:tailEnd type="triangle"/>
          </a:ln>
        </p:spPr>
        <p:txBody>
          <a:bodyPr/>
          <a:p/>
        </p:txBody>
      </p:sp>
      <p:sp>
        <p:nvSpPr>
          <p:cNvPr id="38" name="Shape 36"/>
          <p:cNvSpPr/>
          <p:nvPr/>
        </p:nvSpPr>
        <p:spPr>
          <a:xfrm>
            <a:off x="6876288"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3.499409648131324e+107" dist="9.998313280375211e+106" dir="1.535235553616204e+126">
              <a:srgbClr val="9DB0CC">
                <a:alpha val="2.2000000000000006e+129"/>
              </a:srgbClr>
            </a:outerShdw>
          </a:effectLst>
        </p:spPr>
        <p:txBody>
          <a:bodyPr/>
          <a:p/>
        </p:txBody>
      </p:sp>
      <p:sp>
        <p:nvSpPr>
          <p:cNvPr id="39" name="Shape 37"/>
          <p:cNvSpPr/>
          <p:nvPr/>
        </p:nvSpPr>
        <p:spPr>
          <a:xfrm>
            <a:off x="6876288" y="1783080"/>
            <a:ext cx="1463040" cy="82296"/>
          </a:xfrm>
          <a:prstGeom prst="rect">
            <a:avLst/>
          </a:prstGeom>
          <a:solidFill>
            <a:srgbClr val="0E93B0"/>
          </a:solidFill>
          <a:ln/>
        </p:spPr>
        <p:txBody>
          <a:bodyPr/>
          <a:p/>
        </p:txBody>
      </p:sp>
      <p:sp>
        <p:nvSpPr>
          <p:cNvPr id="40" name="Shape 38"/>
          <p:cNvSpPr/>
          <p:nvPr/>
        </p:nvSpPr>
        <p:spPr>
          <a:xfrm>
            <a:off x="7351776" y="1984248"/>
            <a:ext cx="512064" cy="512064"/>
          </a:xfrm>
          <a:prstGeom prst="ellipse">
            <a:avLst/>
          </a:prstGeom>
          <a:solidFill>
            <a:srgbClr val="E8F6FA"/>
          </a:solidFill>
          <a:ln/>
        </p:spPr>
        <p:txBody>
          <a:bodyPr/>
          <a:p/>
        </p:txBody>
      </p:sp>
      <p:sp>
        <p:nvSpPr>
          <p:cNvPr id="41" name="Text 39"/>
          <p:cNvSpPr/>
          <p:nvPr/>
        </p:nvSpPr>
        <p:spPr>
          <a:xfrm>
            <a:off x="7351776" y="1975104"/>
            <a:ext cx="512064" cy="512064"/>
          </a:xfrm>
          <a:prstGeom prst="rect">
            <a:avLst/>
          </a:prstGeom>
          <a:noFill/>
          <a:ln/>
        </p:spPr>
        <p:txBody>
          <a:bodyPr wrap="square" lIns="0" tIns="0" rIns="0" bIns="0" rtlCol="0" anchor="ctr"/>
          <a:lstStyle/>
          <a:p>
            <a:pPr algn="ctr" indent="0" marL="0">
              <a:buNone/>
            </a:pPr>
            <a:r>
              <a:rPr lang="en-US" sz="1800" b="1" dirty="0">
                <a:solidFill>
                  <a:srgbClr val="0E93B0"/>
                </a:solidFill>
                <a:latin typeface="Calibri" pitchFamily="34" charset="0"/>
                <a:ea typeface="Calibri" pitchFamily="34" charset="-122"/>
                <a:cs typeface="Calibri" pitchFamily="34" charset="-120"/>
              </a:rPr>
              <a:t>⚙</a:t>
            </a:r>
            <a:endParaRPr lang="en-US" sz="1800" dirty="0"/>
          </a:p>
        </p:txBody>
      </p:sp>
      <p:sp>
        <p:nvSpPr>
          <p:cNvPr id="42" name="Text 40"/>
          <p:cNvSpPr/>
          <p:nvPr/>
        </p:nvSpPr>
        <p:spPr>
          <a:xfrm>
            <a:off x="6967728"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Cost</a:t>
            </a:r>
            <a:endParaRPr lang="en-US" sz="1200" dirty="0"/>
          </a:p>
        </p:txBody>
      </p:sp>
      <p:sp>
        <p:nvSpPr>
          <p:cNvPr id="43" name="Text 41"/>
          <p:cNvSpPr/>
          <p:nvPr/>
        </p:nvSpPr>
        <p:spPr>
          <a:xfrm>
            <a:off x="6986016"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8-bucket stack + machining</a:t>
            </a:r>
            <a:endParaRPr lang="en-US" sz="860" dirty="0"/>
          </a:p>
        </p:txBody>
      </p:sp>
      <p:sp>
        <p:nvSpPr>
          <p:cNvPr id="44" name="Shape 42"/>
          <p:cNvSpPr/>
          <p:nvPr/>
        </p:nvSpPr>
        <p:spPr>
          <a:xfrm>
            <a:off x="8343900" y="2583180"/>
            <a:ext cx="100584" cy="0"/>
          </a:xfrm>
          <a:prstGeom prst="line">
            <a:avLst/>
          </a:prstGeom>
          <a:noFill/>
          <a:ln w="22225">
            <a:solidFill>
              <a:srgbClr val="D4DEEC"/>
            </a:solidFill>
            <a:prstDash val="solid"/>
            <a:headEnd type="none"/>
            <a:tailEnd type="triangle"/>
          </a:ln>
        </p:spPr>
        <p:txBody>
          <a:bodyPr/>
          <a:p/>
        </p:txBody>
      </p:sp>
      <p:sp>
        <p:nvSpPr>
          <p:cNvPr id="45" name="Shape 43"/>
          <p:cNvSpPr/>
          <p:nvPr/>
        </p:nvSpPr>
        <p:spPr>
          <a:xfrm>
            <a:off x="8458200"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4.4442502531267815e+111" dist="1.2697857866076517e+111" dir="9.211413321697224e+130">
              <a:srgbClr val="9DB0CC">
                <a:alpha val="2.2000000000000004e+134"/>
              </a:srgbClr>
            </a:outerShdw>
          </a:effectLst>
        </p:spPr>
        <p:txBody>
          <a:bodyPr/>
          <a:p/>
        </p:txBody>
      </p:sp>
      <p:sp>
        <p:nvSpPr>
          <p:cNvPr id="46" name="Shape 44"/>
          <p:cNvSpPr/>
          <p:nvPr/>
        </p:nvSpPr>
        <p:spPr>
          <a:xfrm>
            <a:off x="8458200" y="1783080"/>
            <a:ext cx="1463040" cy="82296"/>
          </a:xfrm>
          <a:prstGeom prst="rect">
            <a:avLst/>
          </a:prstGeom>
          <a:solidFill>
            <a:srgbClr val="E0900C"/>
          </a:solidFill>
          <a:ln/>
        </p:spPr>
        <p:txBody>
          <a:bodyPr/>
          <a:p/>
        </p:txBody>
      </p:sp>
      <p:sp>
        <p:nvSpPr>
          <p:cNvPr id="47" name="Shape 45"/>
          <p:cNvSpPr/>
          <p:nvPr/>
        </p:nvSpPr>
        <p:spPr>
          <a:xfrm>
            <a:off x="8933688" y="1984248"/>
            <a:ext cx="512064" cy="512064"/>
          </a:xfrm>
          <a:prstGeom prst="ellipse">
            <a:avLst/>
          </a:prstGeom>
          <a:solidFill>
            <a:srgbClr val="FEF6E7"/>
          </a:solidFill>
          <a:ln/>
        </p:spPr>
        <p:txBody>
          <a:bodyPr/>
          <a:p/>
        </p:txBody>
      </p:sp>
      <p:sp>
        <p:nvSpPr>
          <p:cNvPr id="48" name="Text 46"/>
          <p:cNvSpPr/>
          <p:nvPr/>
        </p:nvSpPr>
        <p:spPr>
          <a:xfrm>
            <a:off x="8933688" y="1975104"/>
            <a:ext cx="512064" cy="512064"/>
          </a:xfrm>
          <a:prstGeom prst="rect">
            <a:avLst/>
          </a:prstGeom>
          <a:noFill/>
          <a:ln/>
        </p:spPr>
        <p:txBody>
          <a:bodyPr wrap="square" lIns="0" tIns="0" rIns="0" bIns="0" rtlCol="0" anchor="ctr"/>
          <a:lstStyle/>
          <a:p>
            <a:pPr algn="ctr" indent="0" marL="0">
              <a:buNone/>
            </a:pPr>
            <a:r>
              <a:rPr lang="en-US" sz="1800" b="1" dirty="0">
                <a:solidFill>
                  <a:srgbClr val="E0900C"/>
                </a:solidFill>
                <a:latin typeface="Calibri" pitchFamily="34" charset="0"/>
                <a:ea typeface="Calibri" pitchFamily="34" charset="-122"/>
                <a:cs typeface="Calibri" pitchFamily="34" charset="-120"/>
              </a:rPr>
              <a:t>✓</a:t>
            </a:r>
            <a:endParaRPr lang="en-US" sz="1800" dirty="0"/>
          </a:p>
        </p:txBody>
      </p:sp>
      <p:sp>
        <p:nvSpPr>
          <p:cNvPr id="49" name="Text 47"/>
          <p:cNvSpPr/>
          <p:nvPr/>
        </p:nvSpPr>
        <p:spPr>
          <a:xfrm>
            <a:off x="8549640"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Check</a:t>
            </a:r>
            <a:endParaRPr lang="en-US" sz="1200" dirty="0"/>
          </a:p>
        </p:txBody>
      </p:sp>
      <p:sp>
        <p:nvSpPr>
          <p:cNvPr id="50" name="Text 48"/>
          <p:cNvSpPr/>
          <p:nvPr/>
        </p:nvSpPr>
        <p:spPr>
          <a:xfrm>
            <a:off x="8567928"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inputs vs measured geometry</a:t>
            </a:r>
            <a:endParaRPr lang="en-US" sz="860" dirty="0"/>
          </a:p>
        </p:txBody>
      </p:sp>
      <p:sp>
        <p:nvSpPr>
          <p:cNvPr id="51" name="Shape 49"/>
          <p:cNvSpPr/>
          <p:nvPr/>
        </p:nvSpPr>
        <p:spPr>
          <a:xfrm>
            <a:off x="9925812" y="2583180"/>
            <a:ext cx="100584" cy="0"/>
          </a:xfrm>
          <a:prstGeom prst="line">
            <a:avLst/>
          </a:prstGeom>
          <a:noFill/>
          <a:ln w="22225">
            <a:solidFill>
              <a:srgbClr val="D4DEEC"/>
            </a:solidFill>
            <a:prstDash val="solid"/>
            <a:headEnd type="none"/>
            <a:tailEnd type="triangle"/>
          </a:ln>
        </p:spPr>
        <p:txBody>
          <a:bodyPr/>
          <a:p/>
        </p:txBody>
      </p:sp>
      <p:sp>
        <p:nvSpPr>
          <p:cNvPr id="52" name="Shape 50"/>
          <p:cNvSpPr/>
          <p:nvPr/>
        </p:nvSpPr>
        <p:spPr>
          <a:xfrm>
            <a:off x="10040112"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5.644197821471012e+115" dist="1.6126279489917177e+115" dir="5.526847993018334e+135">
              <a:srgbClr val="9DB0CC">
                <a:alpha val="2.2000000000000005e+139"/>
              </a:srgbClr>
            </a:outerShdw>
          </a:effectLst>
        </p:spPr>
        <p:txBody>
          <a:bodyPr/>
          <a:p/>
        </p:txBody>
      </p:sp>
      <p:sp>
        <p:nvSpPr>
          <p:cNvPr id="53" name="Shape 51"/>
          <p:cNvSpPr/>
          <p:nvPr/>
        </p:nvSpPr>
        <p:spPr>
          <a:xfrm>
            <a:off x="10040112" y="1783080"/>
            <a:ext cx="1463040" cy="82296"/>
          </a:xfrm>
          <a:prstGeom prst="rect">
            <a:avLst/>
          </a:prstGeom>
          <a:solidFill>
            <a:srgbClr val="0EA472"/>
          </a:solidFill>
          <a:ln/>
        </p:spPr>
        <p:txBody>
          <a:bodyPr/>
          <a:p/>
        </p:txBody>
      </p:sp>
      <p:sp>
        <p:nvSpPr>
          <p:cNvPr id="54" name="Shape 52"/>
          <p:cNvSpPr/>
          <p:nvPr/>
        </p:nvSpPr>
        <p:spPr>
          <a:xfrm>
            <a:off x="10515600" y="1984248"/>
            <a:ext cx="512064" cy="512064"/>
          </a:xfrm>
          <a:prstGeom prst="ellipse">
            <a:avLst/>
          </a:prstGeom>
          <a:solidFill>
            <a:srgbClr val="E7F7F0"/>
          </a:solidFill>
          <a:ln/>
        </p:spPr>
        <p:txBody>
          <a:bodyPr/>
          <a:p/>
        </p:txBody>
      </p:sp>
      <p:sp>
        <p:nvSpPr>
          <p:cNvPr id="55" name="Text 53"/>
          <p:cNvSpPr/>
          <p:nvPr/>
        </p:nvSpPr>
        <p:spPr>
          <a:xfrm>
            <a:off x="10515600" y="1975104"/>
            <a:ext cx="512064" cy="512064"/>
          </a:xfrm>
          <a:prstGeom prst="rect">
            <a:avLst/>
          </a:prstGeom>
          <a:noFill/>
          <a:ln/>
        </p:spPr>
        <p:txBody>
          <a:bodyPr wrap="square" lIns="0" tIns="0" rIns="0" bIns="0" rtlCol="0" anchor="ctr"/>
          <a:lstStyle/>
          <a:p>
            <a:pPr algn="ctr" indent="0" marL="0">
              <a:buNone/>
            </a:pPr>
            <a:r>
              <a:rPr lang="en-US" sz="1800" b="1" dirty="0">
                <a:solidFill>
                  <a:srgbClr val="0EA472"/>
                </a:solidFill>
                <a:latin typeface="Calibri" pitchFamily="34" charset="0"/>
                <a:ea typeface="Calibri" pitchFamily="34" charset="-122"/>
                <a:cs typeface="Calibri" pitchFamily="34" charset="-120"/>
              </a:rPr>
              <a:t>◆</a:t>
            </a:r>
            <a:endParaRPr lang="en-US" sz="1800" dirty="0"/>
          </a:p>
        </p:txBody>
      </p:sp>
      <p:sp>
        <p:nvSpPr>
          <p:cNvPr id="56" name="Text 54"/>
          <p:cNvSpPr/>
          <p:nvPr/>
        </p:nvSpPr>
        <p:spPr>
          <a:xfrm>
            <a:off x="10131552"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Should-cost</a:t>
            </a:r>
            <a:endParaRPr lang="en-US" sz="1200" dirty="0"/>
          </a:p>
        </p:txBody>
      </p:sp>
      <p:sp>
        <p:nvSpPr>
          <p:cNvPr id="57" name="Text 55"/>
          <p:cNvSpPr/>
          <p:nvPr/>
        </p:nvSpPr>
        <p:spPr>
          <a:xfrm>
            <a:off x="10149840"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breakdown · band · traceability</a:t>
            </a:r>
            <a:endParaRPr lang="en-US" sz="860" dirty="0"/>
          </a:p>
        </p:txBody>
      </p:sp>
      <p:sp>
        <p:nvSpPr>
          <p:cNvPr id="58" name="Shape 56"/>
          <p:cNvSpPr/>
          <p:nvPr/>
        </p:nvSpPr>
        <p:spPr>
          <a:xfrm>
            <a:off x="548640" y="3657600"/>
            <a:ext cx="5074920" cy="457200"/>
          </a:xfrm>
          <a:prstGeom prst="roundRect">
            <a:avLst>
              <a:gd name="adj" fmla="val 20000"/>
            </a:avLst>
          </a:prstGeom>
          <a:solidFill>
            <a:srgbClr val="F3EEFE"/>
          </a:solidFill>
          <a:ln/>
        </p:spPr>
        <p:txBody>
          <a:bodyPr/>
          <a:p/>
        </p:txBody>
      </p:sp>
      <p:sp>
        <p:nvSpPr>
          <p:cNvPr id="59" name="Text 57"/>
          <p:cNvSpPr/>
          <p:nvPr/>
        </p:nvSpPr>
        <p:spPr>
          <a:xfrm>
            <a:off x="548640" y="3657600"/>
            <a:ext cx="5074920" cy="457200"/>
          </a:xfrm>
          <a:prstGeom prst="rect">
            <a:avLst/>
          </a:prstGeom>
          <a:noFill/>
          <a:ln/>
        </p:spPr>
        <p:txBody>
          <a:bodyPr wrap="square" lIns="0" tIns="0" rIns="0" bIns="0" rtlCol="0" anchor="ctr"/>
          <a:lstStyle/>
          <a:p>
            <a:pPr algn="ctr" indent="0" marL="0">
              <a:buNone/>
            </a:pPr>
            <a:r>
              <a:rPr lang="en-US" sz="1100" b="1" dirty="0">
                <a:solidFill>
                  <a:srgbClr val="7C3AED"/>
                </a:solidFill>
                <a:latin typeface="Calibri" pitchFamily="34" charset="0"/>
                <a:ea typeface="Calibri" pitchFamily="34" charset="-122"/>
                <a:cs typeface="Calibri" pitchFamily="34" charset="-120"/>
              </a:rPr>
              <a:t>✦  The tool measures, then asks you</a:t>
            </a:r>
            <a:endParaRPr lang="en-US" sz="1100" dirty="0"/>
          </a:p>
        </p:txBody>
      </p:sp>
      <p:sp>
        <p:nvSpPr>
          <p:cNvPr id="60" name="Shape 58"/>
          <p:cNvSpPr/>
          <p:nvPr/>
        </p:nvSpPr>
        <p:spPr>
          <a:xfrm>
            <a:off x="5943600" y="3657600"/>
            <a:ext cx="5696712" cy="457200"/>
          </a:xfrm>
          <a:prstGeom prst="roundRect">
            <a:avLst>
              <a:gd name="adj" fmla="val 20000"/>
            </a:avLst>
          </a:prstGeom>
          <a:solidFill>
            <a:srgbClr val="E7F7F0"/>
          </a:solidFill>
          <a:ln/>
        </p:spPr>
        <p:txBody>
          <a:bodyPr/>
          <a:p/>
        </p:txBody>
      </p:sp>
      <p:sp>
        <p:nvSpPr>
          <p:cNvPr id="61" name="Text 59"/>
          <p:cNvSpPr/>
          <p:nvPr/>
        </p:nvSpPr>
        <p:spPr>
          <a:xfrm>
            <a:off x="5943600" y="3657600"/>
            <a:ext cx="5696712" cy="457200"/>
          </a:xfrm>
          <a:prstGeom prst="rect">
            <a:avLst/>
          </a:prstGeom>
          <a:noFill/>
          <a:ln/>
        </p:spPr>
        <p:txBody>
          <a:bodyPr wrap="square" lIns="0" tIns="0" rIns="0" bIns="0" rtlCol="0" anchor="ctr"/>
          <a:lstStyle/>
          <a:p>
            <a:pPr algn="ctr" indent="0" marL="0">
              <a:buNone/>
            </a:pPr>
            <a:r>
              <a:rPr lang="en-US" sz="1100" b="1" dirty="0">
                <a:solidFill>
                  <a:srgbClr val="0EA472"/>
                </a:solidFill>
                <a:latin typeface="Calibri" pitchFamily="34" charset="0"/>
                <a:ea typeface="Calibri" pitchFamily="34" charset="-122"/>
                <a:cs typeface="Calibri" pitchFamily="34" charset="-120"/>
              </a:rPr>
              <a:t>⚙  Deterministic maths sets the price</a:t>
            </a:r>
            <a:endParaRPr lang="en-US" sz="1100" dirty="0"/>
          </a:p>
        </p:txBody>
      </p:sp>
      <p:sp>
        <p:nvSpPr>
          <p:cNvPr id="62" name="Shape 60"/>
          <p:cNvSpPr/>
          <p:nvPr/>
        </p:nvSpPr>
        <p:spPr>
          <a:xfrm>
            <a:off x="548640" y="4297680"/>
            <a:ext cx="11091672" cy="1051560"/>
          </a:xfrm>
          <a:prstGeom prst="roundRect">
            <a:avLst>
              <a:gd name="adj" fmla="val 6087"/>
            </a:avLst>
          </a:prstGeom>
          <a:solidFill>
            <a:srgbClr val="F4F7FB"/>
          </a:solidFill>
          <a:ln w="12700">
            <a:solidFill>
              <a:srgbClr val="E4EAF2"/>
            </a:solidFill>
            <a:prstDash val="solid"/>
          </a:ln>
        </p:spPr>
        <p:txBody>
          <a:bodyPr/>
          <a:p/>
        </p:txBody>
      </p:sp>
      <p:sp>
        <p:nvSpPr>
          <p:cNvPr id="63" name="Shape 61"/>
          <p:cNvSpPr/>
          <p:nvPr/>
        </p:nvSpPr>
        <p:spPr>
          <a:xfrm>
            <a:off x="548640" y="4297680"/>
            <a:ext cx="82296" cy="1051560"/>
          </a:xfrm>
          <a:prstGeom prst="rect">
            <a:avLst/>
          </a:prstGeom>
          <a:solidFill>
            <a:srgbClr val="0DA5A0"/>
          </a:solidFill>
          <a:ln/>
        </p:spPr>
        <p:txBody>
          <a:bodyPr/>
          <a:p/>
        </p:txBody>
      </p:sp>
      <p:sp>
        <p:nvSpPr>
          <p:cNvPr id="64" name="Text 62"/>
          <p:cNvSpPr/>
          <p:nvPr/>
        </p:nvSpPr>
        <p:spPr>
          <a:xfrm>
            <a:off x="914400" y="4434840"/>
            <a:ext cx="10378440" cy="868680"/>
          </a:xfrm>
          <a:prstGeom prst="rect">
            <a:avLst/>
          </a:prstGeom>
          <a:noFill/>
          <a:ln/>
        </p:spPr>
        <p:txBody>
          <a:bodyPr wrap="square" lIns="0" tIns="0" rIns="0" bIns="0" rtlCol="0" anchor="t"/>
          <a:lstStyle/>
          <a:p>
            <a:pPr indent="0" marL="0">
              <a:lnSpc>
                <a:spcPct val="118000"/>
              </a:lnSpc>
              <a:buNone/>
            </a:pPr>
            <a:r>
              <a:rPr lang="en-US" sz="1200" b="1" dirty="0">
                <a:solidFill>
                  <a:srgbClr val="0F1E3D"/>
                </a:solidFill>
                <a:latin typeface="Calibri" pitchFamily="34" charset="0"/>
                <a:ea typeface="Calibri" pitchFamily="34" charset="-122"/>
                <a:cs typeface="Calibri" pitchFamily="34" charset="-120"/>
              </a:rPr>
              <a:t>The safety net is the measured geometry.  </a:t>
            </a:r>
            <a:pPr indent="0" marL="0">
              <a:lnSpc>
                <a:spcPct val="118000"/>
              </a:lnSpc>
              <a:buNone/>
            </a:pPr>
            <a:r>
              <a:rPr lang="en-US" sz="1200" dirty="0">
                <a:solidFill>
                  <a:srgbClr val="3E4C63"/>
                </a:solidFill>
                <a:latin typeface="Calibri" pitchFamily="34" charset="0"/>
                <a:ea typeface="Calibri" pitchFamily="34" charset="-122"/>
                <a:cs typeface="Calibri" pitchFamily="34" charset="-120"/>
              </a:rPr>
              <a:t>Inputs are checked against the measured volume and weight before they reach the cost. A near-net casting or forging can’t carry a full machining cycle. A machined STL with no cycle time is blocked until the engineer types one.</a:t>
            </a:r>
            <a:endParaRPr lang="en-US" sz="1200" dirty="0"/>
          </a:p>
        </p:txBody>
      </p:sp>
      <p:sp>
        <p:nvSpPr>
          <p:cNvPr id="65" name="Shape 63"/>
          <p:cNvSpPr/>
          <p:nvPr/>
        </p:nvSpPr>
        <p:spPr>
          <a:xfrm>
            <a:off x="548640" y="6400800"/>
            <a:ext cx="11094415" cy="12802"/>
          </a:xfrm>
          <a:prstGeom prst="rect">
            <a:avLst/>
          </a:prstGeom>
          <a:solidFill>
            <a:srgbClr val="E4EAF2"/>
          </a:solidFill>
          <a:ln/>
        </p:spPr>
        <p:txBody>
          <a:bodyPr/>
          <a:p/>
        </p:txBody>
      </p:sp>
      <p:sp>
        <p:nvSpPr>
          <p:cNvPr id="66" name="Text 64"/>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67" name="Text 65"/>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6 / 15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7C3AED"/>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7C3AED"/>
                </a:solidFill>
                <a:latin typeface="Calibri" pitchFamily="34" charset="0"/>
                <a:ea typeface="Calibri" pitchFamily="34" charset="-122"/>
                <a:cs typeface="Calibri" pitchFamily="34" charset="-120"/>
              </a:rPr>
              <a:t>DEEP DIVE · CAD TO COST</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CAD → Cost — the AI capabilities</a:t>
            </a:r>
            <a:endParaRPr lang="en-US" sz="2400" dirty="0"/>
          </a:p>
        </p:txBody>
      </p:sp>
      <p:sp>
        <p:nvSpPr>
          <p:cNvPr id="9" name="Shape 7"/>
          <p:cNvSpPr/>
          <p:nvPr/>
        </p:nvSpPr>
        <p:spPr>
          <a:xfrm>
            <a:off x="548640" y="1371600"/>
            <a:ext cx="1051560" cy="45720"/>
          </a:xfrm>
          <a:prstGeom prst="rect">
            <a:avLst/>
          </a:prstGeom>
          <a:solidFill>
            <a:srgbClr val="7C3AED"/>
          </a:solidFill>
          <a:ln/>
        </p:spPr>
      </p:sp>
      <p:sp>
        <p:nvSpPr>
          <p:cNvPr id="10" name="Shape 8"/>
          <p:cNvSpPr/>
          <p:nvPr/>
        </p:nvSpPr>
        <p:spPr>
          <a:xfrm>
            <a:off x="548640" y="1645920"/>
            <a:ext cx="3520440" cy="1737360"/>
          </a:xfrm>
          <a:prstGeom prst="roundRect">
            <a:avLst>
              <a:gd name="adj" fmla="val 3684"/>
            </a:avLst>
          </a:prstGeom>
          <a:solidFill>
            <a:srgbClr val="FFFFFF"/>
          </a:solidFill>
          <a:ln w="12700">
            <a:solidFill>
              <a:srgbClr val="E4EAF2"/>
            </a:solidFill>
            <a:prstDash val="solid"/>
          </a:ln>
          <a:effectLst>
            <a:outerShdw sx="100000" sy="100000" kx="0" ky="0" algn="bl" rotWithShape="0" blurRad="7.168131233268186e+119" dist="2.0480374952194813e+119" dir="3.3161087958110005e+140">
              <a:srgbClr val="9DB0CC">
                <a:alpha val="2.2000000000000006e+144"/>
              </a:srgbClr>
            </a:outerShdw>
          </a:effectLst>
        </p:spPr>
      </p:sp>
      <p:sp>
        <p:nvSpPr>
          <p:cNvPr id="11" name="Shape 9"/>
          <p:cNvSpPr/>
          <p:nvPr/>
        </p:nvSpPr>
        <p:spPr>
          <a:xfrm>
            <a:off x="548640" y="1645920"/>
            <a:ext cx="82296" cy="1737360"/>
          </a:xfrm>
          <a:prstGeom prst="rect">
            <a:avLst/>
          </a:prstGeom>
          <a:solidFill>
            <a:srgbClr val="0DA5A0"/>
          </a:solidFill>
          <a:ln/>
        </p:spPr>
      </p:sp>
      <p:sp>
        <p:nvSpPr>
          <p:cNvPr id="12" name="Shape 10"/>
          <p:cNvSpPr/>
          <p:nvPr/>
        </p:nvSpPr>
        <p:spPr>
          <a:xfrm>
            <a:off x="786384" y="1865376"/>
            <a:ext cx="457200" cy="457200"/>
          </a:xfrm>
          <a:prstGeom prst="ellipse">
            <a:avLst/>
          </a:prstGeom>
          <a:solidFill>
            <a:srgbClr val="E7F7F0"/>
          </a:solidFill>
          <a:ln/>
        </p:spPr>
      </p:sp>
      <p:sp>
        <p:nvSpPr>
          <p:cNvPr id="13" name="Text 11"/>
          <p:cNvSpPr/>
          <p:nvPr/>
        </p:nvSpPr>
        <p:spPr>
          <a:xfrm>
            <a:off x="786384" y="1856232"/>
            <a:ext cx="457200" cy="457200"/>
          </a:xfrm>
          <a:prstGeom prst="rect">
            <a:avLst/>
          </a:prstGeom>
          <a:noFill/>
          <a:ln/>
        </p:spPr>
        <p:txBody>
          <a:bodyPr wrap="square" lIns="0" tIns="0" rIns="0" bIns="0" rtlCol="0" anchor="ctr"/>
          <a:lstStyle/>
          <a:p>
            <a:pPr algn="ctr" indent="0" marL="0">
              <a:buNone/>
            </a:pPr>
            <a:r>
              <a:rPr lang="en-US" sz="1700" b="1" dirty="0">
                <a:solidFill>
                  <a:srgbClr val="0DA5A0"/>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1335024" y="1901952"/>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0DA5A0"/>
                </a:solidFill>
                <a:latin typeface="Calibri" pitchFamily="34" charset="0"/>
                <a:ea typeface="Calibri" pitchFamily="34" charset="-122"/>
                <a:cs typeface="Calibri" pitchFamily="34" charset="-120"/>
              </a:rPr>
              <a:t>Interactive 3D CAD viewer</a:t>
            </a:r>
            <a:endParaRPr lang="en-US" sz="1250" dirty="0"/>
          </a:p>
        </p:txBody>
      </p:sp>
      <p:sp>
        <p:nvSpPr>
          <p:cNvPr id="15" name="Text 13"/>
          <p:cNvSpPr/>
          <p:nvPr/>
        </p:nvSpPr>
        <p:spPr>
          <a:xfrm>
            <a:off x="804672" y="2487168"/>
            <a:ext cx="3063240" cy="822960"/>
          </a:xfrm>
          <a:prstGeom prst="rect">
            <a:avLst/>
          </a:prstGeom>
          <a:noFill/>
          <a:ln/>
        </p:spPr>
        <p:txBody>
          <a:bodyPr wrap="square" lIns="0" tIns="0" rIns="0" bIns="0" rtlCol="0" anchor="t"/>
          <a:lstStyle/>
          <a:p>
            <a:pPr indent="0" marL="0">
              <a:lnSpc>
                <a:spcPct val="114000"/>
              </a:lnSpc>
              <a:buNone/>
            </a:pPr>
            <a:r>
              <a:rPr lang="en-US" sz="1000" dirty="0">
                <a:solidFill>
                  <a:srgbClr val="3E4C63"/>
                </a:solidFill>
                <a:latin typeface="Calibri" pitchFamily="34" charset="0"/>
                <a:ea typeface="Calibri" pitchFamily="34" charset="-122"/>
                <a:cs typeface="Calibri" pitchFamily="34" charset="-120"/>
              </a:rPr>
              <a:t>Rotate, section and measure the part in the browser — with on-model highlights that link geometry to cost.</a:t>
            </a:r>
            <a:endParaRPr lang="en-US" sz="1000" dirty="0"/>
          </a:p>
        </p:txBody>
      </p:sp>
      <p:sp>
        <p:nvSpPr>
          <p:cNvPr id="16" name="Shape 14"/>
          <p:cNvSpPr/>
          <p:nvPr/>
        </p:nvSpPr>
        <p:spPr>
          <a:xfrm>
            <a:off x="4325112" y="1645920"/>
            <a:ext cx="3520440" cy="1737360"/>
          </a:xfrm>
          <a:prstGeom prst="roundRect">
            <a:avLst>
              <a:gd name="adj" fmla="val 3684"/>
            </a:avLst>
          </a:prstGeom>
          <a:solidFill>
            <a:srgbClr val="FFFFFF"/>
          </a:solidFill>
          <a:ln w="12700">
            <a:solidFill>
              <a:srgbClr val="E4EAF2"/>
            </a:solidFill>
            <a:prstDash val="solid"/>
          </a:ln>
          <a:effectLst>
            <a:outerShdw sx="100000" sy="100000" kx="0" ky="0" algn="bl" rotWithShape="0" blurRad="9.103526666250596e+123" dist="2.6010076189287412e+123" dir="1.9896652774866004e+145">
              <a:srgbClr val="9DB0CC">
                <a:alpha val="2.2000000000000004e+149"/>
              </a:srgbClr>
            </a:outerShdw>
          </a:effectLst>
        </p:spPr>
      </p:sp>
      <p:sp>
        <p:nvSpPr>
          <p:cNvPr id="17" name="Shape 15"/>
          <p:cNvSpPr/>
          <p:nvPr/>
        </p:nvSpPr>
        <p:spPr>
          <a:xfrm>
            <a:off x="4325112" y="1645920"/>
            <a:ext cx="82296" cy="1737360"/>
          </a:xfrm>
          <a:prstGeom prst="rect">
            <a:avLst/>
          </a:prstGeom>
          <a:solidFill>
            <a:srgbClr val="2563EB"/>
          </a:solidFill>
          <a:ln/>
        </p:spPr>
      </p:sp>
      <p:sp>
        <p:nvSpPr>
          <p:cNvPr id="18" name="Shape 16"/>
          <p:cNvSpPr/>
          <p:nvPr/>
        </p:nvSpPr>
        <p:spPr>
          <a:xfrm>
            <a:off x="4562856" y="1865376"/>
            <a:ext cx="457200" cy="457200"/>
          </a:xfrm>
          <a:prstGeom prst="ellipse">
            <a:avLst/>
          </a:prstGeom>
          <a:solidFill>
            <a:srgbClr val="EAF1FE"/>
          </a:solidFill>
          <a:ln/>
        </p:spPr>
      </p:sp>
      <p:sp>
        <p:nvSpPr>
          <p:cNvPr id="19" name="Text 17"/>
          <p:cNvSpPr/>
          <p:nvPr/>
        </p:nvSpPr>
        <p:spPr>
          <a:xfrm>
            <a:off x="4562856" y="1856232"/>
            <a:ext cx="457200" cy="457200"/>
          </a:xfrm>
          <a:prstGeom prst="rect">
            <a:avLst/>
          </a:prstGeom>
          <a:noFill/>
          <a:ln/>
        </p:spPr>
        <p:txBody>
          <a:bodyPr wrap="square" lIns="0" tIns="0" rIns="0" bIns="0" rtlCol="0" anchor="ctr"/>
          <a:lstStyle/>
          <a:p>
            <a:pPr algn="ctr" indent="0" marL="0">
              <a:buNone/>
            </a:pPr>
            <a:r>
              <a:rPr lang="en-US" sz="1700" b="1" dirty="0">
                <a:solidFill>
                  <a:srgbClr val="2563EB"/>
                </a:solidFill>
                <a:latin typeface="Calibri" pitchFamily="34" charset="0"/>
                <a:ea typeface="Calibri" pitchFamily="34" charset="-122"/>
                <a:cs typeface="Calibri" pitchFamily="34" charset="-120"/>
              </a:rPr>
              <a:t>◈</a:t>
            </a:r>
            <a:endParaRPr lang="en-US" sz="1700" dirty="0"/>
          </a:p>
        </p:txBody>
      </p:sp>
      <p:sp>
        <p:nvSpPr>
          <p:cNvPr id="20" name="Text 18"/>
          <p:cNvSpPr/>
          <p:nvPr/>
        </p:nvSpPr>
        <p:spPr>
          <a:xfrm>
            <a:off x="5111496" y="1901952"/>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2563EB"/>
                </a:solidFill>
                <a:latin typeface="Calibri" pitchFamily="34" charset="0"/>
                <a:ea typeface="Calibri" pitchFamily="34" charset="-122"/>
                <a:cs typeface="Calibri" pitchFamily="34" charset="-120"/>
              </a:rPr>
              <a:t>B-rep face intelligence</a:t>
            </a:r>
            <a:endParaRPr lang="en-US" sz="1250" dirty="0"/>
          </a:p>
        </p:txBody>
      </p:sp>
      <p:sp>
        <p:nvSpPr>
          <p:cNvPr id="21" name="Text 19"/>
          <p:cNvSpPr/>
          <p:nvPr/>
        </p:nvSpPr>
        <p:spPr>
          <a:xfrm>
            <a:off x="4581144" y="2487168"/>
            <a:ext cx="3063240" cy="822960"/>
          </a:xfrm>
          <a:prstGeom prst="rect">
            <a:avLst/>
          </a:prstGeom>
          <a:noFill/>
          <a:ln/>
        </p:spPr>
        <p:txBody>
          <a:bodyPr wrap="square" lIns="0" tIns="0" rIns="0" bIns="0" rtlCol="0" anchor="t"/>
          <a:lstStyle/>
          <a:p>
            <a:pPr indent="0" marL="0">
              <a:lnSpc>
                <a:spcPct val="114000"/>
              </a:lnSpc>
              <a:buNone/>
            </a:pPr>
            <a:r>
              <a:rPr lang="en-US" sz="1000" dirty="0">
                <a:solidFill>
                  <a:srgbClr val="3E4C63"/>
                </a:solidFill>
                <a:latin typeface="Calibri" pitchFamily="34" charset="0"/>
                <a:ea typeface="Calibri" pitchFamily="34" charset="-122"/>
                <a:cs typeface="Calibri" pitchFamily="34" charset="-120"/>
              </a:rPr>
              <a:t>Understands the boundary representation — faces, edges and their relationships — not just a triangle soup.</a:t>
            </a:r>
            <a:endParaRPr lang="en-US" sz="1000" dirty="0"/>
          </a:p>
        </p:txBody>
      </p:sp>
      <p:sp>
        <p:nvSpPr>
          <p:cNvPr id="22" name="Shape 20"/>
          <p:cNvSpPr/>
          <p:nvPr/>
        </p:nvSpPr>
        <p:spPr>
          <a:xfrm>
            <a:off x="8101584" y="1645920"/>
            <a:ext cx="3520440" cy="1737360"/>
          </a:xfrm>
          <a:prstGeom prst="roundRect">
            <a:avLst>
              <a:gd name="adj" fmla="val 3684"/>
            </a:avLst>
          </a:prstGeom>
          <a:solidFill>
            <a:srgbClr val="FFFFFF"/>
          </a:solidFill>
          <a:ln w="12700">
            <a:solidFill>
              <a:srgbClr val="E4EAF2"/>
            </a:solidFill>
            <a:prstDash val="solid"/>
          </a:ln>
          <a:effectLst>
            <a:outerShdw sx="100000" sy="100000" kx="0" ky="0" algn="bl" rotWithShape="0" blurRad="1.1561478866138256e+128" dist="3.303279676039501e+127" dir="1.1937991664919603e+150">
              <a:srgbClr val="9DB0CC">
                <a:alpha val="2.2000000000000004e+154"/>
              </a:srgbClr>
            </a:outerShdw>
          </a:effectLst>
        </p:spPr>
      </p:sp>
      <p:sp>
        <p:nvSpPr>
          <p:cNvPr id="23" name="Shape 21"/>
          <p:cNvSpPr/>
          <p:nvPr/>
        </p:nvSpPr>
        <p:spPr>
          <a:xfrm>
            <a:off x="8101584" y="1645920"/>
            <a:ext cx="82296" cy="1737360"/>
          </a:xfrm>
          <a:prstGeom prst="rect">
            <a:avLst/>
          </a:prstGeom>
          <a:solidFill>
            <a:srgbClr val="7C3AED"/>
          </a:solidFill>
          <a:ln/>
        </p:spPr>
      </p:sp>
      <p:sp>
        <p:nvSpPr>
          <p:cNvPr id="24" name="Shape 22"/>
          <p:cNvSpPr/>
          <p:nvPr/>
        </p:nvSpPr>
        <p:spPr>
          <a:xfrm>
            <a:off x="8339328" y="1865376"/>
            <a:ext cx="457200" cy="457200"/>
          </a:xfrm>
          <a:prstGeom prst="ellipse">
            <a:avLst/>
          </a:prstGeom>
          <a:solidFill>
            <a:srgbClr val="F3EEFE"/>
          </a:solidFill>
          <a:ln/>
        </p:spPr>
      </p:sp>
      <p:sp>
        <p:nvSpPr>
          <p:cNvPr id="25" name="Text 23"/>
          <p:cNvSpPr/>
          <p:nvPr/>
        </p:nvSpPr>
        <p:spPr>
          <a:xfrm>
            <a:off x="8339328" y="1856232"/>
            <a:ext cx="457200" cy="457200"/>
          </a:xfrm>
          <a:prstGeom prst="rect">
            <a:avLst/>
          </a:prstGeom>
          <a:noFill/>
          <a:ln/>
        </p:spPr>
        <p:txBody>
          <a:bodyPr wrap="square" lIns="0" tIns="0" rIns="0" bIns="0" rtlCol="0" anchor="ctr"/>
          <a:lstStyle/>
          <a:p>
            <a:pPr algn="ctr" indent="0" marL="0">
              <a:buNone/>
            </a:pPr>
            <a:r>
              <a:rPr lang="en-US" sz="1700" b="1" dirty="0">
                <a:solidFill>
                  <a:srgbClr val="7C3AED"/>
                </a:solidFill>
                <a:latin typeface="Calibri" pitchFamily="34" charset="0"/>
                <a:ea typeface="Calibri" pitchFamily="34" charset="-122"/>
                <a:cs typeface="Calibri" pitchFamily="34" charset="-120"/>
              </a:rPr>
              <a:t>▦</a:t>
            </a:r>
            <a:endParaRPr lang="en-US" sz="1700" dirty="0"/>
          </a:p>
        </p:txBody>
      </p:sp>
      <p:sp>
        <p:nvSpPr>
          <p:cNvPr id="26" name="Text 24"/>
          <p:cNvSpPr/>
          <p:nvPr/>
        </p:nvSpPr>
        <p:spPr>
          <a:xfrm>
            <a:off x="8887968" y="1901952"/>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7C3AED"/>
                </a:solidFill>
                <a:latin typeface="Calibri" pitchFamily="34" charset="0"/>
                <a:ea typeface="Calibri" pitchFamily="34" charset="-122"/>
                <a:cs typeface="Calibri" pitchFamily="34" charset="-120"/>
              </a:rPr>
              <a:t>Geometry feature table</a:t>
            </a:r>
            <a:endParaRPr lang="en-US" sz="1250" dirty="0"/>
          </a:p>
        </p:txBody>
      </p:sp>
      <p:sp>
        <p:nvSpPr>
          <p:cNvPr id="27" name="Text 25"/>
          <p:cNvSpPr/>
          <p:nvPr/>
        </p:nvSpPr>
        <p:spPr>
          <a:xfrm>
            <a:off x="8357616" y="2487168"/>
            <a:ext cx="3063240" cy="822960"/>
          </a:xfrm>
          <a:prstGeom prst="rect">
            <a:avLst/>
          </a:prstGeom>
          <a:noFill/>
          <a:ln/>
        </p:spPr>
        <p:txBody>
          <a:bodyPr wrap="square" lIns="0" tIns="0" rIns="0" bIns="0" rtlCol="0" anchor="t"/>
          <a:lstStyle/>
          <a:p>
            <a:pPr indent="0" marL="0">
              <a:lnSpc>
                <a:spcPct val="114000"/>
              </a:lnSpc>
              <a:buNone/>
            </a:pPr>
            <a:r>
              <a:rPr lang="en-US" sz="1000" dirty="0">
                <a:solidFill>
                  <a:srgbClr val="3E4C63"/>
                </a:solidFill>
                <a:latin typeface="Calibri" pitchFamily="34" charset="0"/>
                <a:ea typeface="Calibri" pitchFamily="34" charset="-122"/>
                <a:cs typeface="Calibri" pitchFamily="34" charset="-120"/>
              </a:rPr>
              <a:t>Every detected feature (hole depths, pockets, slots) listed and auto-fed into the costing as real operations.</a:t>
            </a:r>
            <a:endParaRPr lang="en-US" sz="1000" dirty="0"/>
          </a:p>
        </p:txBody>
      </p:sp>
      <p:sp>
        <p:nvSpPr>
          <p:cNvPr id="28" name="Shape 26"/>
          <p:cNvSpPr/>
          <p:nvPr/>
        </p:nvSpPr>
        <p:spPr>
          <a:xfrm>
            <a:off x="548640" y="3602736"/>
            <a:ext cx="3520440" cy="1737360"/>
          </a:xfrm>
          <a:prstGeom prst="roundRect">
            <a:avLst>
              <a:gd name="adj" fmla="val 3684"/>
            </a:avLst>
          </a:prstGeom>
          <a:solidFill>
            <a:srgbClr val="FFFFFF"/>
          </a:solidFill>
          <a:ln w="12700">
            <a:solidFill>
              <a:srgbClr val="E4EAF2"/>
            </a:solidFill>
            <a:prstDash val="solid"/>
          </a:ln>
          <a:effectLst>
            <a:outerShdw sx="100000" sy="100000" kx="0" ky="0" algn="bl" rotWithShape="0" blurRad="1.4683078159995586e+132" dist="4.195165188570166e+131" dir="7.162794998951762e+154">
              <a:srgbClr val="9DB0CC">
                <a:alpha val="2.2000000000000003e+159"/>
              </a:srgbClr>
            </a:outerShdw>
          </a:effectLst>
        </p:spPr>
      </p:sp>
      <p:sp>
        <p:nvSpPr>
          <p:cNvPr id="29" name="Shape 27"/>
          <p:cNvSpPr/>
          <p:nvPr/>
        </p:nvSpPr>
        <p:spPr>
          <a:xfrm>
            <a:off x="548640" y="3602736"/>
            <a:ext cx="82296" cy="1737360"/>
          </a:xfrm>
          <a:prstGeom prst="rect">
            <a:avLst/>
          </a:prstGeom>
          <a:solidFill>
            <a:srgbClr val="0E93B0"/>
          </a:solidFill>
          <a:ln/>
        </p:spPr>
      </p:sp>
      <p:sp>
        <p:nvSpPr>
          <p:cNvPr id="30" name="Shape 28"/>
          <p:cNvSpPr/>
          <p:nvPr/>
        </p:nvSpPr>
        <p:spPr>
          <a:xfrm>
            <a:off x="786384" y="3822192"/>
            <a:ext cx="457200" cy="457200"/>
          </a:xfrm>
          <a:prstGeom prst="ellipse">
            <a:avLst/>
          </a:prstGeom>
          <a:solidFill>
            <a:srgbClr val="E8F6FA"/>
          </a:solidFill>
          <a:ln/>
        </p:spPr>
      </p:sp>
      <p:sp>
        <p:nvSpPr>
          <p:cNvPr id="31" name="Text 29"/>
          <p:cNvSpPr/>
          <p:nvPr/>
        </p:nvSpPr>
        <p:spPr>
          <a:xfrm>
            <a:off x="786384" y="3813048"/>
            <a:ext cx="457200" cy="457200"/>
          </a:xfrm>
          <a:prstGeom prst="rect">
            <a:avLst/>
          </a:prstGeom>
          <a:noFill/>
          <a:ln/>
        </p:spPr>
        <p:txBody>
          <a:bodyPr wrap="square" lIns="0" tIns="0" rIns="0" bIns="0" rtlCol="0" anchor="ctr"/>
          <a:lstStyle/>
          <a:p>
            <a:pPr algn="ctr" indent="0" marL="0">
              <a:buNone/>
            </a:pPr>
            <a:r>
              <a:rPr lang="en-US" sz="1700" b="1" dirty="0">
                <a:solidFill>
                  <a:srgbClr val="0E93B0"/>
                </a:solidFill>
                <a:latin typeface="Calibri" pitchFamily="34" charset="0"/>
                <a:ea typeface="Calibri" pitchFamily="34" charset="-122"/>
                <a:cs typeface="Calibri" pitchFamily="34" charset="-120"/>
              </a:rPr>
              <a:t>⚙</a:t>
            </a:r>
            <a:endParaRPr lang="en-US" sz="1700" dirty="0"/>
          </a:p>
        </p:txBody>
      </p:sp>
      <p:sp>
        <p:nvSpPr>
          <p:cNvPr id="32" name="Text 30"/>
          <p:cNvSpPr/>
          <p:nvPr/>
        </p:nvSpPr>
        <p:spPr>
          <a:xfrm>
            <a:off x="1335024" y="3858768"/>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0E93B0"/>
                </a:solidFill>
                <a:latin typeface="Calibri" pitchFamily="34" charset="0"/>
                <a:ea typeface="Calibri" pitchFamily="34" charset="-122"/>
                <a:cs typeface="Calibri" pitchFamily="34" charset="-120"/>
              </a:rPr>
              <a:t>Feature-based machining</a:t>
            </a:r>
            <a:endParaRPr lang="en-US" sz="1250" dirty="0"/>
          </a:p>
        </p:txBody>
      </p:sp>
      <p:sp>
        <p:nvSpPr>
          <p:cNvPr id="33" name="Text 31"/>
          <p:cNvSpPr/>
          <p:nvPr/>
        </p:nvSpPr>
        <p:spPr>
          <a:xfrm>
            <a:off x="804672" y="4443984"/>
            <a:ext cx="3063240" cy="822960"/>
          </a:xfrm>
          <a:prstGeom prst="rect">
            <a:avLst/>
          </a:prstGeom>
          <a:noFill/>
          <a:ln/>
        </p:spPr>
        <p:txBody>
          <a:bodyPr wrap="square" lIns="0" tIns="0" rIns="0" bIns="0" rtlCol="0" anchor="t"/>
          <a:lstStyle/>
          <a:p>
            <a:pPr indent="0" marL="0">
              <a:lnSpc>
                <a:spcPct val="114000"/>
              </a:lnSpc>
              <a:buNone/>
            </a:pPr>
            <a:r>
              <a:rPr lang="en-US" sz="1000" dirty="0">
                <a:solidFill>
                  <a:srgbClr val="3E4C63"/>
                </a:solidFill>
                <a:latin typeface="Calibri" pitchFamily="34" charset="0"/>
                <a:ea typeface="Calibri" pitchFamily="34" charset="-122"/>
                <a:cs typeface="Calibri" pitchFamily="34" charset="-120"/>
              </a:rPr>
              <a:t>Secondary operations are costed per feature and per commodity — facing, drilling, pockets, bends.</a:t>
            </a:r>
            <a:endParaRPr lang="en-US" sz="1000" dirty="0"/>
          </a:p>
        </p:txBody>
      </p:sp>
      <p:sp>
        <p:nvSpPr>
          <p:cNvPr id="34" name="Shape 32"/>
          <p:cNvSpPr/>
          <p:nvPr/>
        </p:nvSpPr>
        <p:spPr>
          <a:xfrm>
            <a:off x="4325112" y="3602736"/>
            <a:ext cx="3520440" cy="1737360"/>
          </a:xfrm>
          <a:prstGeom prst="roundRect">
            <a:avLst>
              <a:gd name="adj" fmla="val 3684"/>
            </a:avLst>
          </a:prstGeom>
          <a:solidFill>
            <a:srgbClr val="FFFFFF"/>
          </a:solidFill>
          <a:ln w="12700">
            <a:solidFill>
              <a:srgbClr val="E4EAF2"/>
            </a:solidFill>
            <a:prstDash val="solid"/>
          </a:ln>
          <a:effectLst>
            <a:outerShdw sx="100000" sy="100000" kx="0" ky="0" algn="bl" rotWithShape="0" blurRad="1.8647509263194394e+136" dist="5.327859789484111e+135" dir="4.297676999371057e+159">
              <a:srgbClr val="9DB0CC">
                <a:alpha val="2.2000000000000003e+164"/>
              </a:srgbClr>
            </a:outerShdw>
          </a:effectLst>
        </p:spPr>
      </p:sp>
      <p:sp>
        <p:nvSpPr>
          <p:cNvPr id="35" name="Shape 33"/>
          <p:cNvSpPr/>
          <p:nvPr/>
        </p:nvSpPr>
        <p:spPr>
          <a:xfrm>
            <a:off x="4325112" y="3602736"/>
            <a:ext cx="82296" cy="1737360"/>
          </a:xfrm>
          <a:prstGeom prst="rect">
            <a:avLst/>
          </a:prstGeom>
          <a:solidFill>
            <a:srgbClr val="E0900C"/>
          </a:solidFill>
          <a:ln/>
        </p:spPr>
      </p:sp>
      <p:sp>
        <p:nvSpPr>
          <p:cNvPr id="36" name="Shape 34"/>
          <p:cNvSpPr/>
          <p:nvPr/>
        </p:nvSpPr>
        <p:spPr>
          <a:xfrm>
            <a:off x="4562856" y="3822192"/>
            <a:ext cx="457200" cy="457200"/>
          </a:xfrm>
          <a:prstGeom prst="ellipse">
            <a:avLst/>
          </a:prstGeom>
          <a:solidFill>
            <a:srgbClr val="FEF6E7"/>
          </a:solidFill>
          <a:ln/>
        </p:spPr>
      </p:sp>
      <p:sp>
        <p:nvSpPr>
          <p:cNvPr id="37" name="Text 35"/>
          <p:cNvSpPr/>
          <p:nvPr/>
        </p:nvSpPr>
        <p:spPr>
          <a:xfrm>
            <a:off x="4562856" y="3813048"/>
            <a:ext cx="457200" cy="457200"/>
          </a:xfrm>
          <a:prstGeom prst="rect">
            <a:avLst/>
          </a:prstGeom>
          <a:noFill/>
          <a:ln/>
        </p:spPr>
        <p:txBody>
          <a:bodyPr wrap="square" lIns="0" tIns="0" rIns="0" bIns="0" rtlCol="0" anchor="ctr"/>
          <a:lstStyle/>
          <a:p>
            <a:pPr algn="ctr" indent="0" marL="0">
              <a:buNone/>
            </a:pPr>
            <a:r>
              <a:rPr lang="en-US" sz="1700" b="1" dirty="0">
                <a:solidFill>
                  <a:srgbClr val="E0900C"/>
                </a:solidFill>
                <a:latin typeface="Calibri" pitchFamily="34" charset="0"/>
                <a:ea typeface="Calibri" pitchFamily="34" charset="-122"/>
                <a:cs typeface="Calibri" pitchFamily="34" charset="-120"/>
              </a:rPr>
              <a:t>✦</a:t>
            </a:r>
            <a:endParaRPr lang="en-US" sz="1700" dirty="0"/>
          </a:p>
        </p:txBody>
      </p:sp>
      <p:sp>
        <p:nvSpPr>
          <p:cNvPr id="38" name="Text 36"/>
          <p:cNvSpPr/>
          <p:nvPr/>
        </p:nvSpPr>
        <p:spPr>
          <a:xfrm>
            <a:off x="5111496" y="3858768"/>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E0900C"/>
                </a:solidFill>
                <a:latin typeface="Calibri" pitchFamily="34" charset="0"/>
                <a:ea typeface="Calibri" pitchFamily="34" charset="-122"/>
                <a:cs typeface="Calibri" pitchFamily="34" charset="-120"/>
              </a:rPr>
              <a:t>AI material &amp; process advice</a:t>
            </a:r>
            <a:endParaRPr lang="en-US" sz="1250" dirty="0"/>
          </a:p>
        </p:txBody>
      </p:sp>
      <p:sp>
        <p:nvSpPr>
          <p:cNvPr id="39" name="Text 37"/>
          <p:cNvSpPr/>
          <p:nvPr/>
        </p:nvSpPr>
        <p:spPr>
          <a:xfrm>
            <a:off x="4581144" y="4443984"/>
            <a:ext cx="3063240" cy="822960"/>
          </a:xfrm>
          <a:prstGeom prst="rect">
            <a:avLst/>
          </a:prstGeom>
          <a:noFill/>
          <a:ln/>
        </p:spPr>
        <p:txBody>
          <a:bodyPr wrap="square" lIns="0" tIns="0" rIns="0" bIns="0" rtlCol="0" anchor="t"/>
          <a:lstStyle/>
          <a:p>
            <a:pPr indent="0" marL="0">
              <a:lnSpc>
                <a:spcPct val="114000"/>
              </a:lnSpc>
              <a:buNone/>
            </a:pPr>
            <a:r>
              <a:rPr lang="en-US" sz="1000" dirty="0">
                <a:solidFill>
                  <a:srgbClr val="3E4C63"/>
                </a:solidFill>
                <a:latin typeface="Calibri" pitchFamily="34" charset="0"/>
                <a:ea typeface="Calibri" pitchFamily="34" charset="-122"/>
                <a:cs typeface="Calibri" pitchFamily="34" charset="-120"/>
              </a:rPr>
              <a:t>Suggested material family and process route, each with an explicit confidence score we can accept or override.</a:t>
            </a:r>
            <a:endParaRPr lang="en-US" sz="1000" dirty="0"/>
          </a:p>
        </p:txBody>
      </p:sp>
      <p:sp>
        <p:nvSpPr>
          <p:cNvPr id="40" name="Shape 38"/>
          <p:cNvSpPr/>
          <p:nvPr/>
        </p:nvSpPr>
        <p:spPr>
          <a:xfrm>
            <a:off x="8101584" y="3602736"/>
            <a:ext cx="3520440" cy="1737360"/>
          </a:xfrm>
          <a:prstGeom prst="roundRect">
            <a:avLst>
              <a:gd name="adj" fmla="val 3684"/>
            </a:avLst>
          </a:prstGeom>
          <a:solidFill>
            <a:srgbClr val="FFFFFF"/>
          </a:solidFill>
          <a:ln w="12700">
            <a:solidFill>
              <a:srgbClr val="E4EAF2"/>
            </a:solidFill>
            <a:prstDash val="solid"/>
          </a:ln>
          <a:effectLst>
            <a:outerShdw sx="100000" sy="100000" kx="0" ky="0" algn="bl" rotWithShape="0" blurRad="2.368233676425688e+140" dist="6.766381932644821e+139" dir="2.5786061996226343e+164">
              <a:srgbClr val="9DB0CC">
                <a:alpha val="2.2000000000000004e+169"/>
              </a:srgbClr>
            </a:outerShdw>
          </a:effectLst>
        </p:spPr>
      </p:sp>
      <p:sp>
        <p:nvSpPr>
          <p:cNvPr id="41" name="Shape 39"/>
          <p:cNvSpPr/>
          <p:nvPr/>
        </p:nvSpPr>
        <p:spPr>
          <a:xfrm>
            <a:off x="8101584" y="3602736"/>
            <a:ext cx="82296" cy="1737360"/>
          </a:xfrm>
          <a:prstGeom prst="rect">
            <a:avLst/>
          </a:prstGeom>
          <a:solidFill>
            <a:srgbClr val="0EA472"/>
          </a:solidFill>
          <a:ln/>
        </p:spPr>
      </p:sp>
      <p:sp>
        <p:nvSpPr>
          <p:cNvPr id="42" name="Shape 40"/>
          <p:cNvSpPr/>
          <p:nvPr/>
        </p:nvSpPr>
        <p:spPr>
          <a:xfrm>
            <a:off x="8339328" y="3822192"/>
            <a:ext cx="457200" cy="457200"/>
          </a:xfrm>
          <a:prstGeom prst="ellipse">
            <a:avLst/>
          </a:prstGeom>
          <a:solidFill>
            <a:srgbClr val="E7F7F0"/>
          </a:solidFill>
          <a:ln/>
        </p:spPr>
      </p:sp>
      <p:sp>
        <p:nvSpPr>
          <p:cNvPr id="43" name="Text 41"/>
          <p:cNvSpPr/>
          <p:nvPr/>
        </p:nvSpPr>
        <p:spPr>
          <a:xfrm>
            <a:off x="8339328" y="3813048"/>
            <a:ext cx="457200" cy="457200"/>
          </a:xfrm>
          <a:prstGeom prst="rect">
            <a:avLst/>
          </a:prstGeom>
          <a:noFill/>
          <a:ln/>
        </p:spPr>
        <p:txBody>
          <a:bodyPr wrap="square" lIns="0" tIns="0" rIns="0" bIns="0" rtlCol="0" anchor="ctr"/>
          <a:lstStyle/>
          <a:p>
            <a:pPr algn="ctr" indent="0" marL="0">
              <a:buNone/>
            </a:pPr>
            <a:r>
              <a:rPr lang="en-US" sz="1700" b="1" dirty="0">
                <a:solidFill>
                  <a:srgbClr val="0EA472"/>
                </a:solidFill>
                <a:latin typeface="Calibri" pitchFamily="34" charset="0"/>
                <a:ea typeface="Calibri" pitchFamily="34" charset="-122"/>
                <a:cs typeface="Calibri" pitchFamily="34" charset="-120"/>
              </a:rPr>
              <a:t>◆</a:t>
            </a:r>
            <a:endParaRPr lang="en-US" sz="1700" dirty="0"/>
          </a:p>
        </p:txBody>
      </p:sp>
      <p:sp>
        <p:nvSpPr>
          <p:cNvPr id="44" name="Text 42"/>
          <p:cNvSpPr/>
          <p:nvPr/>
        </p:nvSpPr>
        <p:spPr>
          <a:xfrm>
            <a:off x="8887968" y="3858768"/>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0EA472"/>
                </a:solidFill>
                <a:latin typeface="Calibri" pitchFamily="34" charset="0"/>
                <a:ea typeface="Calibri" pitchFamily="34" charset="-122"/>
                <a:cs typeface="Calibri" pitchFamily="34" charset="-120"/>
              </a:rPr>
              <a:t>DFM &amp; manufacturability</a:t>
            </a:r>
            <a:endParaRPr lang="en-US" sz="1250" dirty="0"/>
          </a:p>
        </p:txBody>
      </p:sp>
      <p:sp>
        <p:nvSpPr>
          <p:cNvPr id="45" name="Text 43"/>
          <p:cNvSpPr/>
          <p:nvPr/>
        </p:nvSpPr>
        <p:spPr>
          <a:xfrm>
            <a:off x="8357616" y="4443984"/>
            <a:ext cx="3063240" cy="822960"/>
          </a:xfrm>
          <a:prstGeom prst="rect">
            <a:avLst/>
          </a:prstGeom>
          <a:noFill/>
          <a:ln/>
        </p:spPr>
        <p:txBody>
          <a:bodyPr wrap="square" lIns="0" tIns="0" rIns="0" bIns="0" rtlCol="0" anchor="t"/>
          <a:lstStyle/>
          <a:p>
            <a:pPr indent="0" marL="0">
              <a:lnSpc>
                <a:spcPct val="114000"/>
              </a:lnSpc>
              <a:buNone/>
            </a:pPr>
            <a:r>
              <a:rPr lang="en-US" sz="1000" dirty="0">
                <a:solidFill>
                  <a:srgbClr val="3E4C63"/>
                </a:solidFill>
                <a:latin typeface="Calibri" pitchFamily="34" charset="0"/>
                <a:ea typeface="Calibri" pitchFamily="34" charset="-122"/>
                <a:cs typeface="Calibri" pitchFamily="34" charset="-120"/>
              </a:rPr>
              <a:t>A manufacturability score plus design-for-manufacture flags that point at what is driving the cost.</a:t>
            </a:r>
            <a:endParaRPr lang="en-US" sz="1000" dirty="0"/>
          </a:p>
        </p:txBody>
      </p:sp>
      <p:sp>
        <p:nvSpPr>
          <p:cNvPr id="46" name="Shape 44"/>
          <p:cNvSpPr/>
          <p:nvPr/>
        </p:nvSpPr>
        <p:spPr>
          <a:xfrm>
            <a:off x="548640" y="5623560"/>
            <a:ext cx="11091672" cy="457200"/>
          </a:xfrm>
          <a:prstGeom prst="roundRect">
            <a:avLst>
              <a:gd name="adj" fmla="val 14000"/>
            </a:avLst>
          </a:prstGeom>
          <a:solidFill>
            <a:srgbClr val="F4F7FB"/>
          </a:solidFill>
          <a:ln w="12700">
            <a:solidFill>
              <a:srgbClr val="E4EAF2"/>
            </a:solidFill>
            <a:prstDash val="solid"/>
          </a:ln>
        </p:spPr>
      </p:sp>
      <p:sp>
        <p:nvSpPr>
          <p:cNvPr id="47" name="Text 45"/>
          <p:cNvSpPr/>
          <p:nvPr/>
        </p:nvSpPr>
        <p:spPr>
          <a:xfrm>
            <a:off x="868680" y="5623560"/>
            <a:ext cx="10424160" cy="457200"/>
          </a:xfrm>
          <a:prstGeom prst="rect">
            <a:avLst/>
          </a:prstGeom>
          <a:noFill/>
          <a:ln/>
        </p:spPr>
        <p:txBody>
          <a:bodyPr wrap="square" lIns="0" tIns="0" rIns="0" bIns="0" rtlCol="0" anchor="ctr"/>
          <a:lstStyle/>
          <a:p>
            <a:pPr indent="0" marL="0">
              <a:buNone/>
            </a:pPr>
            <a:r>
              <a:rPr lang="en-US" sz="1100" b="1" i="1" dirty="0">
                <a:solidFill>
                  <a:srgbClr val="0F1E3D"/>
                </a:solidFill>
                <a:latin typeface="Calibri" pitchFamily="34" charset="0"/>
                <a:ea typeface="Calibri" pitchFamily="34" charset="-122"/>
                <a:cs typeface="Calibri" pitchFamily="34" charset="-120"/>
              </a:rPr>
              <a:t>Model tiers:  </a:t>
            </a:r>
            <a:pPr indent="0" marL="0">
              <a:buNone/>
            </a:pPr>
            <a:r>
              <a:rPr lang="en-US" sz="1100" i="1" dirty="0">
                <a:solidFill>
                  <a:srgbClr val="3E4C63"/>
                </a:solidFill>
                <a:latin typeface="Calibri" pitchFamily="34" charset="0"/>
                <a:ea typeface="Calibri" pitchFamily="34" charset="-122"/>
                <a:cs typeface="Calibri" pitchFamily="34" charset="-120"/>
              </a:rPr>
              <a:t>Haiku classifies the commodity · Sonnet 5 runs the specialist analysis · Opus 4.8 on the "deep analysis" toggle for the hardest parts.</a:t>
            </a:r>
            <a:endParaRPr lang="en-US" sz="1100" dirty="0"/>
          </a:p>
        </p:txBody>
      </p:sp>
      <p:sp>
        <p:nvSpPr>
          <p:cNvPr id="48" name="Shape 46"/>
          <p:cNvSpPr/>
          <p:nvPr/>
        </p:nvSpPr>
        <p:spPr>
          <a:xfrm>
            <a:off x="548640" y="6400800"/>
            <a:ext cx="11094415" cy="12802"/>
          </a:xfrm>
          <a:prstGeom prst="rect">
            <a:avLst/>
          </a:prstGeom>
          <a:solidFill>
            <a:srgbClr val="E4EAF2"/>
          </a:solidFill>
          <a:ln/>
        </p:spPr>
      </p:sp>
      <p:sp>
        <p:nvSpPr>
          <p:cNvPr id="49" name="Text 47"/>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0" name="Text 48"/>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11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A472"/>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A472"/>
                </a:solidFill>
                <a:latin typeface="Calibri" pitchFamily="34" charset="0"/>
                <a:ea typeface="Calibri" pitchFamily="34" charset="-122"/>
                <a:cs typeface="Calibri" pitchFamily="34" charset="-120"/>
              </a:rPr>
              <a:t>DEEP DIVE · CAD TO COST · ACCURACY</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CAD → Cost — how we make it accurate</a:t>
            </a:r>
            <a:endParaRPr lang="en-US" sz="2400" dirty="0"/>
          </a:p>
        </p:txBody>
      </p:sp>
      <p:sp>
        <p:nvSpPr>
          <p:cNvPr id="9" name="Shape 7"/>
          <p:cNvSpPr/>
          <p:nvPr/>
        </p:nvSpPr>
        <p:spPr>
          <a:xfrm>
            <a:off x="548640" y="1371600"/>
            <a:ext cx="1051560" cy="45720"/>
          </a:xfrm>
          <a:prstGeom prst="rect">
            <a:avLst/>
          </a:prstGeom>
          <a:solidFill>
            <a:srgbClr val="0EA472"/>
          </a:solidFill>
          <a:ln/>
        </p:spPr>
      </p:sp>
      <p:sp>
        <p:nvSpPr>
          <p:cNvPr id="10" name="Text 8"/>
          <p:cNvSpPr/>
          <p:nvPr/>
        </p:nvSpPr>
        <p:spPr>
          <a:xfrm>
            <a:off x="548640" y="1554480"/>
            <a:ext cx="11064240" cy="457200"/>
          </a:xfrm>
          <a:prstGeom prst="rect">
            <a:avLst/>
          </a:prstGeom>
          <a:noFill/>
          <a:ln/>
        </p:spPr>
        <p:txBody>
          <a:bodyPr wrap="square" lIns="0" tIns="0" rIns="0" bIns="0" rtlCol="0" anchor="t"/>
          <a:lstStyle/>
          <a:p>
            <a:pPr indent="0" marL="0">
              <a:lnSpc>
                <a:spcPct val="110000"/>
              </a:lnSpc>
              <a:buNone/>
            </a:pPr>
            <a:r>
              <a:rPr lang="en-US" sz="1250" dirty="0">
                <a:solidFill>
                  <a:srgbClr val="3E4C63"/>
                </a:solidFill>
                <a:latin typeface="Calibri" pitchFamily="34" charset="0"/>
                <a:ea typeface="Calibri" pitchFamily="34" charset="-122"/>
                <a:cs typeface="Calibri" pitchFamily="34" charset="-120"/>
              </a:rPr>
              <a:t>Accuracy is engineered in layers — measured truth, deterministic maths, and a check on every AI claim before it can touch the price.</a:t>
            </a:r>
            <a:endParaRPr lang="en-US" sz="1250" dirty="0"/>
          </a:p>
        </p:txBody>
      </p:sp>
      <p:sp>
        <p:nvSpPr>
          <p:cNvPr id="11" name="Shape 9"/>
          <p:cNvSpPr/>
          <p:nvPr/>
        </p:nvSpPr>
        <p:spPr>
          <a:xfrm>
            <a:off x="548640" y="2148840"/>
            <a:ext cx="7040880" cy="548640"/>
          </a:xfrm>
          <a:prstGeom prst="roundRect">
            <a:avLst>
              <a:gd name="adj" fmla="val 8333"/>
            </a:avLst>
          </a:prstGeom>
          <a:solidFill>
            <a:srgbClr val="F4F7FB"/>
          </a:solidFill>
          <a:ln w="12700">
            <a:solidFill>
              <a:srgbClr val="E4EAF2"/>
            </a:solidFill>
            <a:prstDash val="solid"/>
          </a:ln>
        </p:spPr>
      </p:sp>
      <p:sp>
        <p:nvSpPr>
          <p:cNvPr id="12" name="Shape 10"/>
          <p:cNvSpPr/>
          <p:nvPr/>
        </p:nvSpPr>
        <p:spPr>
          <a:xfrm>
            <a:off x="694944" y="2249424"/>
            <a:ext cx="347472" cy="347472"/>
          </a:xfrm>
          <a:prstGeom prst="ellipse">
            <a:avLst/>
          </a:prstGeom>
          <a:solidFill>
            <a:srgbClr val="0EA472"/>
          </a:solidFill>
          <a:ln/>
          <a:effectLst>
            <a:outerShdw sx="100000" sy="100000" kx="0" ky="0" algn="bl" rotWithShape="0" blurRad="5.457669265366968e+41" dist="1.6373007796100902e+41" dir="5.44195584e+49">
              <a:srgbClr val="A7B6CE">
                <a:alpha val="1.8e+49"/>
              </a:srgbClr>
            </a:outerShdw>
          </a:effectLst>
        </p:spPr>
      </p:sp>
      <p:sp>
        <p:nvSpPr>
          <p:cNvPr id="13" name="Text 11"/>
          <p:cNvSpPr/>
          <p:nvPr/>
        </p:nvSpPr>
        <p:spPr>
          <a:xfrm>
            <a:off x="694944" y="224942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1</a:t>
            </a:r>
            <a:endParaRPr lang="en-US" sz="1292" dirty="0"/>
          </a:p>
        </p:txBody>
      </p:sp>
      <p:sp>
        <p:nvSpPr>
          <p:cNvPr id="14" name="Text 12"/>
          <p:cNvSpPr/>
          <p:nvPr/>
        </p:nvSpPr>
        <p:spPr>
          <a:xfrm>
            <a:off x="1188720" y="214884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Measured ground truth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A true geometry engine (OCCT) measures volume, weight and area — the AI is checked against physics, not trusted blindly.</a:t>
            </a:r>
            <a:endParaRPr lang="en-US" sz="1060" dirty="0"/>
          </a:p>
        </p:txBody>
      </p:sp>
      <p:sp>
        <p:nvSpPr>
          <p:cNvPr id="15" name="Shape 13"/>
          <p:cNvSpPr/>
          <p:nvPr/>
        </p:nvSpPr>
        <p:spPr>
          <a:xfrm>
            <a:off x="548640" y="2788920"/>
            <a:ext cx="7040880" cy="548640"/>
          </a:xfrm>
          <a:prstGeom prst="roundRect">
            <a:avLst>
              <a:gd name="adj" fmla="val 8333"/>
            </a:avLst>
          </a:prstGeom>
          <a:solidFill>
            <a:srgbClr val="FFFFFF"/>
          </a:solidFill>
          <a:ln w="12700">
            <a:solidFill>
              <a:srgbClr val="E4EAF2"/>
            </a:solidFill>
            <a:prstDash val="solid"/>
          </a:ln>
        </p:spPr>
      </p:sp>
      <p:sp>
        <p:nvSpPr>
          <p:cNvPr id="16" name="Shape 14"/>
          <p:cNvSpPr/>
          <p:nvPr/>
        </p:nvSpPr>
        <p:spPr>
          <a:xfrm>
            <a:off x="694944" y="2889504"/>
            <a:ext cx="347472" cy="347472"/>
          </a:xfrm>
          <a:prstGeom prst="ellipse">
            <a:avLst/>
          </a:prstGeom>
          <a:solidFill>
            <a:srgbClr val="0EA472"/>
          </a:solidFill>
          <a:ln/>
          <a:effectLst>
            <a:outerShdw sx="100000" sy="100000" kx="0" ky="0" algn="bl" rotWithShape="0" blurRad="6.93123996701605e+45" dist="2.0793719901048145e+45" dir="3.2651735040000005e+54">
              <a:srgbClr val="A7B6CE">
                <a:alpha val="1.8e+54"/>
              </a:srgbClr>
            </a:outerShdw>
          </a:effectLst>
        </p:spPr>
      </p:sp>
      <p:sp>
        <p:nvSpPr>
          <p:cNvPr id="17" name="Text 15"/>
          <p:cNvSpPr/>
          <p:nvPr/>
        </p:nvSpPr>
        <p:spPr>
          <a:xfrm>
            <a:off x="694944" y="288950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2</a:t>
            </a:r>
            <a:endParaRPr lang="en-US" sz="1292" dirty="0"/>
          </a:p>
        </p:txBody>
      </p:sp>
      <p:sp>
        <p:nvSpPr>
          <p:cNvPr id="18" name="Text 16"/>
          <p:cNvSpPr/>
          <p:nvPr/>
        </p:nvSpPr>
        <p:spPr>
          <a:xfrm>
            <a:off x="1188720" y="278892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Bounded sanity checks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Volume drift over 25% is flagged and over 50% rejected; weight is cross-checked against measured density — hallucinations never reach the cost.</a:t>
            </a:r>
            <a:endParaRPr lang="en-US" sz="1060" dirty="0"/>
          </a:p>
        </p:txBody>
      </p:sp>
      <p:sp>
        <p:nvSpPr>
          <p:cNvPr id="19" name="Shape 17"/>
          <p:cNvSpPr/>
          <p:nvPr/>
        </p:nvSpPr>
        <p:spPr>
          <a:xfrm>
            <a:off x="548640" y="3429000"/>
            <a:ext cx="7040880" cy="548640"/>
          </a:xfrm>
          <a:prstGeom prst="roundRect">
            <a:avLst>
              <a:gd name="adj" fmla="val 8333"/>
            </a:avLst>
          </a:prstGeom>
          <a:solidFill>
            <a:srgbClr val="F4F7FB"/>
          </a:solidFill>
          <a:ln w="12700">
            <a:solidFill>
              <a:srgbClr val="E4EAF2"/>
            </a:solidFill>
            <a:prstDash val="solid"/>
          </a:ln>
        </p:spPr>
      </p:sp>
      <p:sp>
        <p:nvSpPr>
          <p:cNvPr id="20" name="Shape 18"/>
          <p:cNvSpPr/>
          <p:nvPr/>
        </p:nvSpPr>
        <p:spPr>
          <a:xfrm>
            <a:off x="694944" y="3529584"/>
            <a:ext cx="347472" cy="347472"/>
          </a:xfrm>
          <a:prstGeom prst="ellipse">
            <a:avLst/>
          </a:prstGeom>
          <a:solidFill>
            <a:srgbClr val="0EA472"/>
          </a:solidFill>
          <a:ln/>
          <a:effectLst>
            <a:outerShdw sx="100000" sy="100000" kx="0" ky="0" algn="bl" rotWithShape="0" blurRad="8.802674758110384e+49" dist="2.640802427433114e+49" dir="1.9591041024000004e+59">
              <a:srgbClr val="A7B6CE">
                <a:alpha val="1.8000000000000001e+59"/>
              </a:srgbClr>
            </a:outerShdw>
          </a:effectLst>
        </p:spPr>
      </p:sp>
      <p:sp>
        <p:nvSpPr>
          <p:cNvPr id="21" name="Text 19"/>
          <p:cNvSpPr/>
          <p:nvPr/>
        </p:nvSpPr>
        <p:spPr>
          <a:xfrm>
            <a:off x="694944" y="352958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3</a:t>
            </a:r>
            <a:endParaRPr lang="en-US" sz="1292" dirty="0"/>
          </a:p>
        </p:txBody>
      </p:sp>
      <p:sp>
        <p:nvSpPr>
          <p:cNvPr id="22" name="Text 20"/>
          <p:cNvSpPr/>
          <p:nvPr/>
        </p:nvSpPr>
        <p:spPr>
          <a:xfrm>
            <a:off x="1188720" y="342900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Deterministic 8-bucket engine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No AI in the money maths — it reproduces a hand-calculated £23.27 benchmark part to within 0.01%, and returns the same cost every run.</a:t>
            </a:r>
            <a:endParaRPr lang="en-US" sz="1060" dirty="0"/>
          </a:p>
        </p:txBody>
      </p:sp>
      <p:sp>
        <p:nvSpPr>
          <p:cNvPr id="23" name="Shape 21"/>
          <p:cNvSpPr/>
          <p:nvPr/>
        </p:nvSpPr>
        <p:spPr>
          <a:xfrm>
            <a:off x="548640" y="4069080"/>
            <a:ext cx="7040880" cy="548640"/>
          </a:xfrm>
          <a:prstGeom prst="roundRect">
            <a:avLst>
              <a:gd name="adj" fmla="val 8333"/>
            </a:avLst>
          </a:prstGeom>
          <a:solidFill>
            <a:srgbClr val="FFFFFF"/>
          </a:solidFill>
          <a:ln w="12700">
            <a:solidFill>
              <a:srgbClr val="E4EAF2"/>
            </a:solidFill>
            <a:prstDash val="solid"/>
          </a:ln>
        </p:spPr>
      </p:sp>
      <p:sp>
        <p:nvSpPr>
          <p:cNvPr id="24" name="Shape 22"/>
          <p:cNvSpPr/>
          <p:nvPr/>
        </p:nvSpPr>
        <p:spPr>
          <a:xfrm>
            <a:off x="694944" y="4169664"/>
            <a:ext cx="347472" cy="347472"/>
          </a:xfrm>
          <a:prstGeom prst="ellipse">
            <a:avLst/>
          </a:prstGeom>
          <a:solidFill>
            <a:srgbClr val="0EA472"/>
          </a:solidFill>
          <a:ln/>
          <a:effectLst>
            <a:outerShdw sx="100000" sy="100000" kx="0" ky="0" algn="bl" rotWithShape="0" blurRad="1.1179396942800187e+54" dist="3.353819082840055e+53" dir="1.1754624614400003e+64">
              <a:srgbClr val="A7B6CE">
                <a:alpha val="1.8e+64"/>
              </a:srgbClr>
            </a:outerShdw>
          </a:effectLst>
        </p:spPr>
      </p:sp>
      <p:sp>
        <p:nvSpPr>
          <p:cNvPr id="25" name="Text 23"/>
          <p:cNvSpPr/>
          <p:nvPr/>
        </p:nvSpPr>
        <p:spPr>
          <a:xfrm>
            <a:off x="694944" y="416966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4</a:t>
            </a:r>
            <a:endParaRPr lang="en-US" sz="1292" dirty="0"/>
          </a:p>
        </p:txBody>
      </p:sp>
      <p:sp>
        <p:nvSpPr>
          <p:cNvPr id="26" name="Text 24"/>
          <p:cNvSpPr/>
          <p:nvPr/>
        </p:nvSpPr>
        <p:spPr>
          <a:xfrm>
            <a:off x="1188720" y="406908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Provenance on every number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Each figure traces to its source — geometry, rate table or AI suggestion — with a High/Medium/Low confidence, defensible line by line.</a:t>
            </a:r>
            <a:endParaRPr lang="en-US" sz="1060" dirty="0"/>
          </a:p>
        </p:txBody>
      </p:sp>
      <p:sp>
        <p:nvSpPr>
          <p:cNvPr id="27" name="Shape 25"/>
          <p:cNvSpPr/>
          <p:nvPr/>
        </p:nvSpPr>
        <p:spPr>
          <a:xfrm>
            <a:off x="548640" y="4709160"/>
            <a:ext cx="7040880" cy="548640"/>
          </a:xfrm>
          <a:prstGeom prst="roundRect">
            <a:avLst>
              <a:gd name="adj" fmla="val 8333"/>
            </a:avLst>
          </a:prstGeom>
          <a:solidFill>
            <a:srgbClr val="F4F7FB"/>
          </a:solidFill>
          <a:ln w="12700">
            <a:solidFill>
              <a:srgbClr val="E4EAF2"/>
            </a:solidFill>
            <a:prstDash val="solid"/>
          </a:ln>
        </p:spPr>
      </p:sp>
      <p:sp>
        <p:nvSpPr>
          <p:cNvPr id="28" name="Shape 26"/>
          <p:cNvSpPr/>
          <p:nvPr/>
        </p:nvSpPr>
        <p:spPr>
          <a:xfrm>
            <a:off x="694944" y="4809744"/>
            <a:ext cx="347472" cy="347472"/>
          </a:xfrm>
          <a:prstGeom prst="ellipse">
            <a:avLst/>
          </a:prstGeom>
          <a:solidFill>
            <a:srgbClr val="0EA472"/>
          </a:solidFill>
          <a:ln/>
          <a:effectLst>
            <a:outerShdw sx="100000" sy="100000" kx="0" ky="0" algn="bl" rotWithShape="0" blurRad="1.419783411735624e+58" dist="4.2593502352068695e+57" dir="7.052774768640002e+68">
              <a:srgbClr val="A7B6CE">
                <a:alpha val="1.8e+69"/>
              </a:srgbClr>
            </a:outerShdw>
          </a:effectLst>
        </p:spPr>
      </p:sp>
      <p:sp>
        <p:nvSpPr>
          <p:cNvPr id="29" name="Text 27"/>
          <p:cNvSpPr/>
          <p:nvPr/>
        </p:nvSpPr>
        <p:spPr>
          <a:xfrm>
            <a:off x="694944" y="480974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5</a:t>
            </a:r>
            <a:endParaRPr lang="en-US" sz="1292" dirty="0"/>
          </a:p>
        </p:txBody>
      </p:sp>
      <p:sp>
        <p:nvSpPr>
          <p:cNvPr id="30" name="Text 28"/>
          <p:cNvSpPr/>
          <p:nvPr/>
        </p:nvSpPr>
        <p:spPr>
          <a:xfrm>
            <a:off x="1188720" y="470916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Confidence, not false precision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Every estimate carries a low–mid–high band and a manufacturability score, never a fake single number.</a:t>
            </a:r>
            <a:endParaRPr lang="en-US" sz="1060" dirty="0"/>
          </a:p>
        </p:txBody>
      </p:sp>
      <p:sp>
        <p:nvSpPr>
          <p:cNvPr id="31" name="Shape 29"/>
          <p:cNvSpPr/>
          <p:nvPr/>
        </p:nvSpPr>
        <p:spPr>
          <a:xfrm>
            <a:off x="548640" y="5349240"/>
            <a:ext cx="7040880" cy="548640"/>
          </a:xfrm>
          <a:prstGeom prst="roundRect">
            <a:avLst>
              <a:gd name="adj" fmla="val 8333"/>
            </a:avLst>
          </a:prstGeom>
          <a:solidFill>
            <a:srgbClr val="FFFFFF"/>
          </a:solidFill>
          <a:ln w="12700">
            <a:solidFill>
              <a:srgbClr val="E4EAF2"/>
            </a:solidFill>
            <a:prstDash val="solid"/>
          </a:ln>
        </p:spPr>
      </p:sp>
      <p:sp>
        <p:nvSpPr>
          <p:cNvPr id="32" name="Shape 30"/>
          <p:cNvSpPr/>
          <p:nvPr/>
        </p:nvSpPr>
        <p:spPr>
          <a:xfrm>
            <a:off x="694944" y="5449824"/>
            <a:ext cx="347472" cy="347472"/>
          </a:xfrm>
          <a:prstGeom prst="ellipse">
            <a:avLst/>
          </a:prstGeom>
          <a:solidFill>
            <a:srgbClr val="0EA472"/>
          </a:solidFill>
          <a:ln/>
          <a:effectLst>
            <a:outerShdw sx="100000" sy="100000" kx="0" ky="0" algn="bl" rotWithShape="0" blurRad="1.8031249329042424e+62" dist="5.409374798712724e+61" dir="4.2316648611840007e+73">
              <a:srgbClr val="A7B6CE">
                <a:alpha val="1.8000000000000002e+74"/>
              </a:srgbClr>
            </a:outerShdw>
          </a:effectLst>
        </p:spPr>
      </p:sp>
      <p:sp>
        <p:nvSpPr>
          <p:cNvPr id="33" name="Text 31"/>
          <p:cNvSpPr/>
          <p:nvPr/>
        </p:nvSpPr>
        <p:spPr>
          <a:xfrm>
            <a:off x="694944" y="544982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6</a:t>
            </a:r>
            <a:endParaRPr lang="en-US" sz="1292" dirty="0"/>
          </a:p>
        </p:txBody>
      </p:sp>
      <p:sp>
        <p:nvSpPr>
          <p:cNvPr id="34" name="Text 32"/>
          <p:cNvSpPr/>
          <p:nvPr/>
        </p:nvSpPr>
        <p:spPr>
          <a:xfrm>
            <a:off x="1188720" y="534924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Proven on real parts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Demonstrated end-to-end on real automotive parts — from a Tata Altroz bumper to premium-SUV components — through the live system.</a:t>
            </a:r>
            <a:endParaRPr lang="en-US" sz="1060" dirty="0"/>
          </a:p>
        </p:txBody>
      </p:sp>
      <p:sp>
        <p:nvSpPr>
          <p:cNvPr id="35" name="Shape 33"/>
          <p:cNvSpPr/>
          <p:nvPr/>
        </p:nvSpPr>
        <p:spPr>
          <a:xfrm>
            <a:off x="7909560" y="2148840"/>
            <a:ext cx="3733495" cy="3749040"/>
          </a:xfrm>
          <a:prstGeom prst="roundRect">
            <a:avLst>
              <a:gd name="adj" fmla="val 1714"/>
            </a:avLst>
          </a:prstGeom>
          <a:solidFill>
            <a:srgbClr val="E7F7F0"/>
          </a:solidFill>
          <a:ln w="12700">
            <a:solidFill>
              <a:srgbClr val="E4EAF2"/>
            </a:solidFill>
            <a:prstDash val="solid"/>
          </a:ln>
        </p:spPr>
      </p:sp>
      <p:sp>
        <p:nvSpPr>
          <p:cNvPr id="36" name="Shape 34"/>
          <p:cNvSpPr/>
          <p:nvPr/>
        </p:nvSpPr>
        <p:spPr>
          <a:xfrm>
            <a:off x="7909560" y="2148840"/>
            <a:ext cx="82296" cy="3749040"/>
          </a:xfrm>
          <a:prstGeom prst="rect">
            <a:avLst/>
          </a:prstGeom>
          <a:solidFill>
            <a:srgbClr val="0EA472"/>
          </a:solidFill>
          <a:ln/>
        </p:spPr>
      </p:sp>
      <p:sp>
        <p:nvSpPr>
          <p:cNvPr id="37" name="Text 35"/>
          <p:cNvSpPr/>
          <p:nvPr/>
        </p:nvSpPr>
        <p:spPr>
          <a:xfrm>
            <a:off x="8183880" y="2350008"/>
            <a:ext cx="3276295" cy="320040"/>
          </a:xfrm>
          <a:prstGeom prst="rect">
            <a:avLst/>
          </a:prstGeom>
          <a:noFill/>
          <a:ln/>
        </p:spPr>
        <p:txBody>
          <a:bodyPr wrap="square" lIns="0" tIns="0" rIns="0" bIns="0" rtlCol="0" anchor="t"/>
          <a:lstStyle/>
          <a:p>
            <a:pPr indent="0" marL="0">
              <a:buNone/>
            </a:pPr>
            <a:r>
              <a:rPr lang="en-US" sz="1400" b="1" dirty="0">
                <a:solidFill>
                  <a:srgbClr val="0EA472"/>
                </a:solidFill>
                <a:latin typeface="Calibri" pitchFamily="34" charset="0"/>
                <a:ea typeface="Calibri" pitchFamily="34" charset="-122"/>
                <a:cs typeface="Calibri" pitchFamily="34" charset="-120"/>
              </a:rPr>
              <a:t>Why it earns trust</a:t>
            </a:r>
            <a:endParaRPr lang="en-US" sz="1400" dirty="0"/>
          </a:p>
        </p:txBody>
      </p:sp>
      <p:sp>
        <p:nvSpPr>
          <p:cNvPr id="38" name="Text 36"/>
          <p:cNvSpPr/>
          <p:nvPr/>
        </p:nvSpPr>
        <p:spPr>
          <a:xfrm>
            <a:off x="8183880" y="2834640"/>
            <a:ext cx="3230575" cy="731520"/>
          </a:xfrm>
          <a:prstGeom prst="rect">
            <a:avLst/>
          </a:prstGeom>
          <a:noFill/>
          <a:ln/>
        </p:spPr>
        <p:txBody>
          <a:bodyPr wrap="square" lIns="0" tIns="0" rIns="0" bIns="0" rtlCol="0" anchor="t"/>
          <a:lstStyle/>
          <a:p>
            <a:pPr indent="0" marL="0">
              <a:lnSpc>
                <a:spcPct val="115000"/>
              </a:lnSpc>
              <a:buNone/>
            </a:pPr>
            <a:r>
              <a:rPr lang="en-US" sz="1250" b="1" dirty="0">
                <a:solidFill>
                  <a:srgbClr val="0F1E3D"/>
                </a:solidFill>
                <a:latin typeface="Calibri" pitchFamily="34" charset="0"/>
                <a:ea typeface="Calibri" pitchFamily="34" charset="-122"/>
                <a:cs typeface="Calibri" pitchFamily="34" charset="-120"/>
              </a:rPr>
              <a:t>The AI can suggest — it can never quietly decide the number.</a:t>
            </a:r>
            <a:endParaRPr lang="en-US" sz="1250" dirty="0"/>
          </a:p>
        </p:txBody>
      </p:sp>
      <p:sp>
        <p:nvSpPr>
          <p:cNvPr id="39" name="Text 37"/>
          <p:cNvSpPr/>
          <p:nvPr/>
        </p:nvSpPr>
        <p:spPr>
          <a:xfrm>
            <a:off x="8183880" y="3749040"/>
            <a:ext cx="3230575" cy="1645920"/>
          </a:xfrm>
          <a:prstGeom prst="rect">
            <a:avLst/>
          </a:prstGeom>
          <a:noFill/>
          <a:ln/>
        </p:spPr>
        <p:txBody>
          <a:bodyPr wrap="square" lIns="0" tIns="0" rIns="0" bIns="0" rtlCol="0" anchor="t"/>
          <a:lstStyle/>
          <a:p>
            <a:pPr indent="0" marL="0">
              <a:lnSpc>
                <a:spcPct val="120000"/>
              </a:lnSpc>
              <a:buNone/>
            </a:pPr>
            <a:r>
              <a:rPr lang="en-US" sz="1150" dirty="0">
                <a:solidFill>
                  <a:srgbClr val="3E4C63"/>
                </a:solidFill>
                <a:latin typeface="Calibri" pitchFamily="34" charset="0"/>
                <a:ea typeface="Calibri" pitchFamily="34" charset="-122"/>
                <a:cs typeface="Calibri" pitchFamily="34" charset="-120"/>
              </a:rPr>
              <a:t>Because the geometry is measured and the maths is deterministic, a wrong guess gets caught and flagged, not baked into a quote. That is the difference between a demo and a number we can put in front of a supplier.</a:t>
            </a:r>
            <a:endParaRPr lang="en-US" sz="1150" dirty="0"/>
          </a:p>
        </p:txBody>
      </p:sp>
      <p:sp>
        <p:nvSpPr>
          <p:cNvPr id="40" name="Shape 38"/>
          <p:cNvSpPr/>
          <p:nvPr/>
        </p:nvSpPr>
        <p:spPr>
          <a:xfrm>
            <a:off x="548640" y="6400800"/>
            <a:ext cx="11094415" cy="12802"/>
          </a:xfrm>
          <a:prstGeom prst="rect">
            <a:avLst/>
          </a:prstGeom>
          <a:solidFill>
            <a:srgbClr val="E4EAF2"/>
          </a:solidFill>
          <a:ln/>
        </p:spPr>
      </p:sp>
      <p:sp>
        <p:nvSpPr>
          <p:cNvPr id="41" name="Text 39"/>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42" name="Text 40"/>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12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sp>
      <p:pic>
        <p:nvPicPr>
          <p:cNvPr id="3" name="Image 0" descr="/tmp/claude-0/-home-user-leamington-marathi/8bf32d1a-7485-5bd6-9947-7843ee6c5644/scratchpad/art/pcb-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58000"/>
            </a:srgbClr>
          </a:solidFill>
          <a:ln/>
        </p:spPr>
      </p:sp>
      <p:sp>
        <p:nvSpPr>
          <p:cNvPr id="5" name="Shape 2"/>
          <p:cNvSpPr/>
          <p:nvPr/>
        </p:nvSpPr>
        <p:spPr>
          <a:xfrm>
            <a:off x="0" y="3931920"/>
            <a:ext cx="12191695" cy="2926080"/>
          </a:xfrm>
          <a:prstGeom prst="rect">
            <a:avLst/>
          </a:prstGeom>
          <a:solidFill>
            <a:srgbClr val="061024">
              <a:alpha val="80000"/>
            </a:srgbClr>
          </a:solidFill>
          <a:ln/>
        </p:spPr>
      </p:sp>
      <p:sp>
        <p:nvSpPr>
          <p:cNvPr id="6" name="Shape 3"/>
          <p:cNvSpPr/>
          <p:nvPr/>
        </p:nvSpPr>
        <p:spPr>
          <a:xfrm>
            <a:off x="0" y="0"/>
            <a:ext cx="146304" cy="6858000"/>
          </a:xfrm>
          <a:prstGeom prst="rect">
            <a:avLst/>
          </a:prstGeom>
          <a:solidFill>
            <a:srgbClr val="0E93B0"/>
          </a:solidFill>
          <a:ln/>
        </p:spPr>
      </p:sp>
      <p:sp>
        <p:nvSpPr>
          <p:cNvPr id="7" name="Shape 4"/>
          <p:cNvSpPr/>
          <p:nvPr/>
        </p:nvSpPr>
        <p:spPr>
          <a:xfrm>
            <a:off x="0" y="6729984"/>
            <a:ext cx="12191695" cy="128016"/>
          </a:xfrm>
          <a:prstGeom prst="rect">
            <a:avLst/>
          </a:prstGeom>
          <a:solidFill>
            <a:srgbClr val="0E93B0"/>
          </a:solidFill>
          <a:ln/>
        </p:spPr>
      </p:sp>
      <p:sp>
        <p:nvSpPr>
          <p:cNvPr id="8" name="Shape 5"/>
          <p:cNvSpPr/>
          <p:nvPr/>
        </p:nvSpPr>
        <p:spPr>
          <a:xfrm>
            <a:off x="548640" y="457200"/>
            <a:ext cx="402336" cy="402336"/>
          </a:xfrm>
          <a:prstGeom prst="roundRect">
            <a:avLst>
              <a:gd name="adj" fmla="val 22727"/>
            </a:avLst>
          </a:prstGeom>
          <a:solidFill>
            <a:srgbClr val="4F46E5"/>
          </a:solidFill>
          <a:ln/>
        </p:spPr>
      </p:sp>
      <p:sp>
        <p:nvSpPr>
          <p:cNvPr id="9" name="Text 6"/>
          <p:cNvSpPr/>
          <p:nvPr/>
        </p:nvSpPr>
        <p:spPr>
          <a:xfrm>
            <a:off x="548640" y="4572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cv</a:t>
            </a:r>
            <a:endParaRPr lang="en-US" sz="1600" dirty="0"/>
          </a:p>
        </p:txBody>
      </p:sp>
      <p:sp>
        <p:nvSpPr>
          <p:cNvPr id="10" name="Text 7"/>
          <p:cNvSpPr/>
          <p:nvPr/>
        </p:nvSpPr>
        <p:spPr>
          <a:xfrm>
            <a:off x="1097280" y="475488"/>
            <a:ext cx="36576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CostVision</a:t>
            </a:r>
            <a:endParaRPr lang="en-US" sz="1400" dirty="0"/>
          </a:p>
        </p:txBody>
      </p:sp>
      <p:sp>
        <p:nvSpPr>
          <p:cNvPr id="11" name="Shape 8"/>
          <p:cNvSpPr/>
          <p:nvPr/>
        </p:nvSpPr>
        <p:spPr>
          <a:xfrm>
            <a:off x="548640" y="4553712"/>
            <a:ext cx="658368" cy="82296"/>
          </a:xfrm>
          <a:prstGeom prst="rect">
            <a:avLst/>
          </a:prstGeom>
          <a:solidFill>
            <a:srgbClr val="0E93B0"/>
          </a:solidFill>
          <a:ln/>
        </p:spPr>
      </p:sp>
      <p:sp>
        <p:nvSpPr>
          <p:cNvPr id="12" name="Text 9"/>
          <p:cNvSpPr/>
          <p:nvPr/>
        </p:nvSpPr>
        <p:spPr>
          <a:xfrm>
            <a:off x="548640" y="4187952"/>
            <a:ext cx="9144000" cy="274320"/>
          </a:xfrm>
          <a:prstGeom prst="rect">
            <a:avLst/>
          </a:prstGeom>
          <a:noFill/>
          <a:ln/>
        </p:spPr>
        <p:txBody>
          <a:bodyPr wrap="square" lIns="0" tIns="0" rIns="0" bIns="0" rtlCol="0" anchor="t"/>
          <a:lstStyle/>
          <a:p>
            <a:pPr indent="0" marL="0">
              <a:buNone/>
            </a:pPr>
            <a:r>
              <a:rPr lang="en-US" sz="1300" b="1" spc="200" kern="0" dirty="0">
                <a:solidFill>
                  <a:srgbClr val="CFE0F5"/>
                </a:solidFill>
                <a:latin typeface="Calibri" pitchFamily="34" charset="0"/>
                <a:ea typeface="Calibri" pitchFamily="34" charset="-122"/>
                <a:cs typeface="Calibri" pitchFamily="34" charset="-120"/>
              </a:rPr>
              <a:t>ONE MORE INPUT · ELECTRONICS</a:t>
            </a:r>
            <a:endParaRPr lang="en-US" sz="1300" dirty="0"/>
          </a:p>
        </p:txBody>
      </p:sp>
      <p:sp>
        <p:nvSpPr>
          <p:cNvPr id="13" name="Text 10"/>
          <p:cNvSpPr/>
          <p:nvPr/>
        </p:nvSpPr>
        <p:spPr>
          <a:xfrm>
            <a:off x="548640" y="4736592"/>
            <a:ext cx="10607040" cy="1280160"/>
          </a:xfrm>
          <a:prstGeom prst="rect">
            <a:avLst/>
          </a:prstGeom>
          <a:noFill/>
          <a:ln/>
        </p:spPr>
        <p:txBody>
          <a:bodyPr wrap="square" lIns="0" tIns="0" rIns="0" bIns="0" rtlCol="0" anchor="t"/>
          <a:lstStyle/>
          <a:p>
            <a:pPr indent="0" marL="0">
              <a:lnSpc>
                <a:spcPct val="102000"/>
              </a:lnSpc>
              <a:buNone/>
            </a:pPr>
            <a:r>
              <a:rPr lang="en-US" sz="3800" b="1" dirty="0">
                <a:solidFill>
                  <a:srgbClr val="FFFFFF"/>
                </a:solidFill>
                <a:latin typeface="Calibri" pitchFamily="34" charset="0"/>
                <a:ea typeface="Calibri" pitchFamily="34" charset="-122"/>
                <a:cs typeface="Calibri" pitchFamily="34" charset="-120"/>
              </a:rPr>
              <a:t>PCB photo → BOM</a:t>
            </a:r>
            <a:endParaRPr lang="en-US" sz="3800" dirty="0"/>
          </a:p>
        </p:txBody>
      </p:sp>
      <p:sp>
        <p:nvSpPr>
          <p:cNvPr id="14" name="Text 1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AFC4E2"/>
                </a:solidFill>
                <a:latin typeface="Calibri" pitchFamily="34" charset="0"/>
                <a:ea typeface="Calibri" pitchFamily="34" charset="-122"/>
                <a:cs typeface="Calibri" pitchFamily="34" charset="-120"/>
              </a:rPr>
              <a:t>13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93B0"/>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93B0"/>
                </a:solidFill>
                <a:latin typeface="Calibri" pitchFamily="34" charset="0"/>
                <a:ea typeface="Calibri" pitchFamily="34" charset="-122"/>
                <a:cs typeface="Calibri" pitchFamily="34" charset="-120"/>
              </a:rPr>
              <a:t>ELECTRONICS · PCB AND PCBA</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PCB and PCBA: board, parts and assembly</a:t>
            </a:r>
            <a:endParaRPr lang="en-US" sz="2400" dirty="0"/>
          </a:p>
        </p:txBody>
      </p:sp>
      <p:sp>
        <p:nvSpPr>
          <p:cNvPr id="9" name="Shape 7"/>
          <p:cNvSpPr/>
          <p:nvPr/>
        </p:nvSpPr>
        <p:spPr>
          <a:xfrm>
            <a:off x="548640" y="1371600"/>
            <a:ext cx="1051560" cy="45720"/>
          </a:xfrm>
          <a:prstGeom prst="rect">
            <a:avLst/>
          </a:prstGeom>
          <a:solidFill>
            <a:srgbClr val="0E93B0"/>
          </a:solidFill>
          <a:ln/>
        </p:spPr>
        <p:txBody>
          <a:bodyPr/>
          <a:p/>
        </p:txBody>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Electronics use the same engine. Type in the board spec and the BOM, and the tool prices the bare board, the parts and the assembly.</a:t>
            </a:r>
            <a:endParaRPr lang="en-US" sz="1250" dirty="0"/>
          </a:p>
        </p:txBody>
      </p:sp>
      <p:sp>
        <p:nvSpPr>
          <p:cNvPr id="11" name="Shape 9"/>
          <p:cNvSpPr/>
          <p:nvPr/>
        </p:nvSpPr>
        <p:spPr>
          <a:xfrm>
            <a:off x="548640" y="2011680"/>
            <a:ext cx="5623560" cy="3200400"/>
          </a:xfrm>
          <a:prstGeom prst="roundRect">
            <a:avLst>
              <a:gd name="adj" fmla="val 2000"/>
            </a:avLst>
          </a:prstGeom>
          <a:solidFill>
            <a:srgbClr val="FFFFFF"/>
          </a:solidFill>
          <a:ln w="12700">
            <a:solidFill>
              <a:srgbClr val="E4EAF2"/>
            </a:solidFill>
            <a:prstDash val="solid"/>
          </a:ln>
          <a:effectLst>
            <a:outerShdw sx="100000" sy="100000" kx="0" ky="0" algn="bl" rotWithShape="0" blurRad="3.0076567690606238e+144" dist="8.593305054458923e+143" dir="1.5471637197735807e+169">
              <a:srgbClr val="9DB0CC">
                <a:alpha val="2.2e+174"/>
              </a:srgbClr>
            </a:outerShdw>
          </a:effectLst>
        </p:spPr>
        <p:txBody>
          <a:bodyPr/>
          <a:p/>
        </p:txBody>
      </p:sp>
      <p:sp>
        <p:nvSpPr>
          <p:cNvPr id="15" name="Text 12"/>
          <p:cNvSpPr/>
          <p:nvPr/>
        </p:nvSpPr>
        <p:spPr>
          <a:xfrm>
            <a:off x="822960" y="2176272"/>
            <a:ext cx="4830775" cy="320040"/>
          </a:xfrm>
          <a:prstGeom prst="rect">
            <a:avLst/>
          </a:prstGeom>
          <a:noFill/>
          <a:ln/>
        </p:spPr>
        <p:txBody>
          <a:bodyPr wrap="square" lIns="0" tIns="0" rIns="0" bIns="0" rtlCol="0" anchor="t"/>
          <a:lstStyle/>
          <a:p>
            <a:pPr indent="0" marL="0">
              <a:buNone/>
            </a:pPr>
            <a:r>
              <a:rPr lang="en-US" sz="1350" b="1" dirty="0">
                <a:solidFill>
                  <a:srgbClr val="0F1E3D"/>
                </a:solidFill>
                <a:latin typeface="Calibri" pitchFamily="34" charset="0"/>
                <a:ea typeface="Calibri" pitchFamily="34" charset="-122"/>
                <a:cs typeface="Calibri" pitchFamily="34" charset="-120"/>
              </a:rPr>
              <a:t>How a board is costed</a:t>
            </a:r>
            <a:endParaRPr lang="en-US" sz="1350" dirty="0"/>
          </a:p>
        </p:txBody>
      </p:sp>
      <p:sp>
        <p:nvSpPr>
          <p:cNvPr id="16" name="Shape 13"/>
          <p:cNvSpPr/>
          <p:nvPr/>
        </p:nvSpPr>
        <p:spPr>
          <a:xfrm>
            <a:off x="804672" y="2578608"/>
            <a:ext cx="274320" cy="274320"/>
          </a:xfrm>
          <a:prstGeom prst="ellipse">
            <a:avLst/>
          </a:prstGeom>
          <a:solidFill>
            <a:srgbClr val="E8F6FA"/>
          </a:solidFill>
          <a:ln/>
        </p:spPr>
        <p:txBody>
          <a:bodyPr/>
          <a:p/>
        </p:txBody>
      </p:sp>
      <p:sp>
        <p:nvSpPr>
          <p:cNvPr id="17" name="Text 14"/>
          <p:cNvSpPr/>
          <p:nvPr/>
        </p:nvSpPr>
        <p:spPr>
          <a:xfrm>
            <a:off x="804672" y="2569464"/>
            <a:ext cx="274320" cy="274320"/>
          </a:xfrm>
          <a:prstGeom prst="rect">
            <a:avLst/>
          </a:prstGeom>
          <a:noFill/>
          <a:ln/>
        </p:spPr>
        <p:txBody>
          <a:bodyPr wrap="square" lIns="0" tIns="0" rIns="0" bIns="0" rtlCol="0" anchor="ctr"/>
          <a:lstStyle/>
          <a:p>
            <a:pPr algn="ctr" indent="0" marL="0">
              <a:buNone/>
            </a:pPr>
            <a:r>
              <a:rPr lang="en-US" sz="1000" b="1" dirty="0">
                <a:solidFill>
                  <a:srgbClr val="0E93B0"/>
                </a:solidFill>
                <a:latin typeface="Calibri" pitchFamily="34" charset="0"/>
                <a:ea typeface="Calibri" pitchFamily="34" charset="-122"/>
                <a:cs typeface="Calibri" pitchFamily="34" charset="-120"/>
              </a:rPr>
              <a:t>1</a:t>
            </a:r>
            <a:endParaRPr lang="en-US" sz="1000" dirty="0"/>
          </a:p>
        </p:txBody>
      </p:sp>
      <p:sp>
        <p:nvSpPr>
          <p:cNvPr id="18" name="Text 15"/>
          <p:cNvSpPr/>
          <p:nvPr/>
        </p:nvSpPr>
        <p:spPr>
          <a:xfrm>
            <a:off x="1170432" y="2560320"/>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Board spec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size, layers, copper, finish and vias, typed in</a:t>
            </a:r>
            <a:endParaRPr lang="en-US" sz="1030" dirty="0"/>
          </a:p>
        </p:txBody>
      </p:sp>
      <p:sp>
        <p:nvSpPr>
          <p:cNvPr id="19" name="Shape 16"/>
          <p:cNvSpPr/>
          <p:nvPr/>
        </p:nvSpPr>
        <p:spPr>
          <a:xfrm>
            <a:off x="804672" y="3090672"/>
            <a:ext cx="274320" cy="274320"/>
          </a:xfrm>
          <a:prstGeom prst="ellipse">
            <a:avLst/>
          </a:prstGeom>
          <a:solidFill>
            <a:srgbClr val="E7F7F0"/>
          </a:solidFill>
          <a:ln/>
        </p:spPr>
        <p:txBody>
          <a:bodyPr/>
          <a:p/>
        </p:txBody>
      </p:sp>
      <p:sp>
        <p:nvSpPr>
          <p:cNvPr id="20" name="Text 17"/>
          <p:cNvSpPr/>
          <p:nvPr/>
        </p:nvSpPr>
        <p:spPr>
          <a:xfrm>
            <a:off x="804672" y="3081528"/>
            <a:ext cx="274320" cy="274320"/>
          </a:xfrm>
          <a:prstGeom prst="rect">
            <a:avLst/>
          </a:prstGeom>
          <a:noFill/>
          <a:ln/>
        </p:spPr>
        <p:txBody>
          <a:bodyPr wrap="square" lIns="0" tIns="0" rIns="0" bIns="0" rtlCol="0" anchor="ctr"/>
          <a:lstStyle/>
          <a:p>
            <a:pPr algn="ctr" indent="0" marL="0">
              <a:buNone/>
            </a:pPr>
            <a:r>
              <a:rPr lang="en-US" sz="1000" b="1" dirty="0">
                <a:solidFill>
                  <a:srgbClr val="0EA472"/>
                </a:solidFill>
                <a:latin typeface="Calibri" pitchFamily="34" charset="0"/>
                <a:ea typeface="Calibri" pitchFamily="34" charset="-122"/>
                <a:cs typeface="Calibri" pitchFamily="34" charset="-120"/>
              </a:rPr>
              <a:t>2</a:t>
            </a:r>
            <a:endParaRPr lang="en-US" sz="1000" dirty="0"/>
          </a:p>
        </p:txBody>
      </p:sp>
      <p:sp>
        <p:nvSpPr>
          <p:cNvPr id="21" name="Text 18"/>
          <p:cNvSpPr/>
          <p:nvPr/>
        </p:nvSpPr>
        <p:spPr>
          <a:xfrm>
            <a:off x="1170432" y="3072384"/>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BOM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each part with its quantity and unit price</a:t>
            </a:r>
            <a:endParaRPr lang="en-US" sz="1030" dirty="0"/>
          </a:p>
        </p:txBody>
      </p:sp>
      <p:sp>
        <p:nvSpPr>
          <p:cNvPr id="22" name="Shape 19"/>
          <p:cNvSpPr/>
          <p:nvPr/>
        </p:nvSpPr>
        <p:spPr>
          <a:xfrm>
            <a:off x="804672" y="3602736"/>
            <a:ext cx="274320" cy="274320"/>
          </a:xfrm>
          <a:prstGeom prst="ellipse">
            <a:avLst/>
          </a:prstGeom>
          <a:solidFill>
            <a:srgbClr val="F3EEFE"/>
          </a:solidFill>
          <a:ln/>
        </p:spPr>
        <p:txBody>
          <a:bodyPr/>
          <a:p/>
        </p:txBody>
      </p:sp>
      <p:sp>
        <p:nvSpPr>
          <p:cNvPr id="23" name="Text 20"/>
          <p:cNvSpPr/>
          <p:nvPr/>
        </p:nvSpPr>
        <p:spPr>
          <a:xfrm>
            <a:off x="804672" y="3593592"/>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3</a:t>
            </a:r>
            <a:endParaRPr lang="en-US" sz="1000" dirty="0"/>
          </a:p>
        </p:txBody>
      </p:sp>
      <p:sp>
        <p:nvSpPr>
          <p:cNvPr id="24" name="Text 21"/>
          <p:cNvSpPr/>
          <p:nvPr/>
        </p:nvSpPr>
        <p:spPr>
          <a:xfrm>
            <a:off x="1170432" y="3584448"/>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Assembly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SMT placements, through-hole joints, test, yield</a:t>
            </a:r>
            <a:endParaRPr lang="en-US" sz="1030" dirty="0"/>
          </a:p>
        </p:txBody>
      </p:sp>
      <p:sp>
        <p:nvSpPr>
          <p:cNvPr id="25" name="Shape 22"/>
          <p:cNvSpPr/>
          <p:nvPr/>
        </p:nvSpPr>
        <p:spPr>
          <a:xfrm>
            <a:off x="804672" y="4114800"/>
            <a:ext cx="274320" cy="274320"/>
          </a:xfrm>
          <a:prstGeom prst="ellipse">
            <a:avLst/>
          </a:prstGeom>
          <a:solidFill>
            <a:srgbClr val="EAF1FE"/>
          </a:solidFill>
          <a:ln/>
        </p:spPr>
        <p:txBody>
          <a:bodyPr/>
          <a:p/>
        </p:txBody>
      </p:sp>
      <p:sp>
        <p:nvSpPr>
          <p:cNvPr id="26" name="Text 23"/>
          <p:cNvSpPr/>
          <p:nvPr/>
        </p:nvSpPr>
        <p:spPr>
          <a:xfrm>
            <a:off x="804672" y="4105656"/>
            <a:ext cx="274320" cy="27432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4</a:t>
            </a:r>
            <a:endParaRPr lang="en-US" sz="1000" dirty="0"/>
          </a:p>
        </p:txBody>
      </p:sp>
      <p:sp>
        <p:nvSpPr>
          <p:cNvPr id="27" name="Text 24"/>
          <p:cNvSpPr/>
          <p:nvPr/>
        </p:nvSpPr>
        <p:spPr>
          <a:xfrm>
            <a:off x="1170432" y="4096512"/>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Region and volume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fab and assembly rates by country</a:t>
            </a:r>
            <a:endParaRPr lang="en-US" sz="1030" dirty="0"/>
          </a:p>
        </p:txBody>
      </p:sp>
      <p:sp>
        <p:nvSpPr>
          <p:cNvPr id="28" name="Shape 25"/>
          <p:cNvSpPr/>
          <p:nvPr/>
        </p:nvSpPr>
        <p:spPr>
          <a:xfrm>
            <a:off x="804672" y="4626864"/>
            <a:ext cx="274320" cy="274320"/>
          </a:xfrm>
          <a:prstGeom prst="ellipse">
            <a:avLst/>
          </a:prstGeom>
          <a:solidFill>
            <a:srgbClr val="FEF6E7"/>
          </a:solidFill>
          <a:ln/>
        </p:spPr>
        <p:txBody>
          <a:bodyPr/>
          <a:p/>
        </p:txBody>
      </p:sp>
      <p:sp>
        <p:nvSpPr>
          <p:cNvPr id="29" name="Text 26"/>
          <p:cNvSpPr/>
          <p:nvPr/>
        </p:nvSpPr>
        <p:spPr>
          <a:xfrm>
            <a:off x="804672" y="4617720"/>
            <a:ext cx="274320" cy="274320"/>
          </a:xfrm>
          <a:prstGeom prst="rect">
            <a:avLst/>
          </a:prstGeom>
          <a:noFill/>
          <a:ln/>
        </p:spPr>
        <p:txBody>
          <a:bodyPr wrap="square" lIns="0" tIns="0" rIns="0" bIns="0" rtlCol="0" anchor="ctr"/>
          <a:lstStyle/>
          <a:p>
            <a:pPr algn="ctr" indent="0" marL="0">
              <a:buNone/>
            </a:pPr>
            <a:r>
              <a:rPr lang="en-US" sz="1000" b="1" dirty="0">
                <a:solidFill>
                  <a:srgbClr val="E0900C"/>
                </a:solidFill>
                <a:latin typeface="Calibri" pitchFamily="34" charset="0"/>
                <a:ea typeface="Calibri" pitchFamily="34" charset="-122"/>
                <a:cs typeface="Calibri" pitchFamily="34" charset="-120"/>
              </a:rPr>
              <a:t>5</a:t>
            </a:r>
            <a:endParaRPr lang="en-US" sz="1000" dirty="0"/>
          </a:p>
        </p:txBody>
      </p:sp>
      <p:sp>
        <p:nvSpPr>
          <p:cNvPr id="30" name="Text 27"/>
          <p:cNvSpPr/>
          <p:nvPr/>
        </p:nvSpPr>
        <p:spPr>
          <a:xfrm>
            <a:off x="1170432" y="4608576"/>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Result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board, parts and assembly in the 8 buckets</a:t>
            </a:r>
            <a:endParaRPr lang="en-US" sz="1030" dirty="0"/>
          </a:p>
        </p:txBody>
      </p:sp>
      <p:sp>
        <p:nvSpPr>
          <p:cNvPr id="14" name="Shape 11"/>
          <p:cNvSpPr/>
          <p:nvPr/>
        </p:nvSpPr>
        <p:spPr>
          <a:xfrm>
            <a:off x="6355080" y="2011680"/>
            <a:ext cx="5287975" cy="3200400"/>
          </a:xfrm>
          <a:prstGeom prst="roundRect">
            <a:avLst>
              <a:gd name="adj" fmla="val 2000"/>
            </a:avLst>
          </a:prstGeom>
          <a:solidFill>
            <a:srgbClr val="EAF1FE"/>
          </a:solidFill>
          <a:ln w="12700">
            <a:solidFill>
              <a:srgbClr val="E4EAF2"/>
            </a:solidFill>
            <a:prstDash val="solid"/>
          </a:ln>
        </p:spPr>
        <p:txBody>
          <a:bodyPr/>
          <a:p/>
        </p:txBody>
      </p:sp>
      <p:sp>
        <p:nvSpPr>
          <p:cNvPr id="500" name="Text 12"/>
          <p:cNvSpPr/>
          <p:nvPr/>
        </p:nvSpPr>
        <p:spPr>
          <a:xfrm>
            <a:off x="6629400" y="2176272"/>
            <a:ext cx="4830775" cy="320040"/>
          </a:xfrm>
          <a:prstGeom prst="rect">
            <a:avLst/>
          </a:prstGeom>
          <a:noFill/>
          <a:ln/>
        </p:spPr>
        <p:txBody>
          <a:bodyPr wrap="square" lIns="0" tIns="0" rIns="0" bIns="0" rtlCol="0" anchor="t"/>
          <a:lstStyle/>
          <a:p>
            <a:pPr indent="0" marL="0">
              <a:buNone/>
            </a:pPr>
            <a:r>
              <a:rPr lang="en-US" sz="1350" b="1" dirty="0">
                <a:solidFill>
                  <a:srgbClr val="0F1E3D"/>
                </a:solidFill>
                <a:latin typeface="Calibri" pitchFamily="34" charset="0"/>
                <a:ea typeface="Calibri" pitchFamily="34" charset="-122"/>
                <a:cs typeface="Calibri" pitchFamily="34" charset="-120"/>
              </a:rPr>
              <a:t>Worth knowing</a:t>
            </a:r>
            <a:endParaRPr lang="en-US" sz="1350" dirty="0"/>
          </a:p>
        </p:txBody>
      </p:sp>
      <p:sp>
        <p:nvSpPr>
          <p:cNvPr id="501" name="Shape 13"/>
          <p:cNvSpPr/>
          <p:nvPr/>
        </p:nvSpPr>
        <p:spPr>
          <a:xfrm>
            <a:off x="6611112" y="2578608"/>
            <a:ext cx="274320" cy="274320"/>
          </a:xfrm>
          <a:prstGeom prst="ellipse">
            <a:avLst/>
          </a:prstGeom>
          <a:solidFill>
            <a:srgbClr val="E8F6FA"/>
          </a:solidFill>
          <a:ln/>
        </p:spPr>
        <p:txBody>
          <a:bodyPr/>
          <a:p/>
        </p:txBody>
      </p:sp>
      <p:sp>
        <p:nvSpPr>
          <p:cNvPr id="502" name="Text 14"/>
          <p:cNvSpPr/>
          <p:nvPr/>
        </p:nvSpPr>
        <p:spPr>
          <a:xfrm>
            <a:off x="6611112" y="2569464"/>
            <a:ext cx="274320" cy="274320"/>
          </a:xfrm>
          <a:prstGeom prst="rect">
            <a:avLst/>
          </a:prstGeom>
          <a:noFill/>
          <a:ln/>
        </p:spPr>
        <p:txBody>
          <a:bodyPr wrap="square" lIns="0" tIns="0" rIns="0" bIns="0" rtlCol="0" anchor="ctr"/>
          <a:lstStyle/>
          <a:p>
            <a:pPr algn="ctr" indent="0" marL="0">
              <a:buNone/>
            </a:pPr>
            <a:r>
              <a:rPr lang="en-US" sz="1000" b="1" dirty="0">
                <a:solidFill>
                  <a:srgbClr val="0E93B0"/>
                </a:solidFill>
                <a:latin typeface="Calibri" pitchFamily="34" charset="0"/>
                <a:ea typeface="Calibri" pitchFamily="34" charset="-122"/>
                <a:cs typeface="Calibri" pitchFamily="34" charset="-120"/>
              </a:rPr>
              <a:t>✓</a:t>
            </a:r>
            <a:endParaRPr lang="en-US" sz="1000" dirty="0"/>
          </a:p>
        </p:txBody>
      </p:sp>
      <p:sp>
        <p:nvSpPr>
          <p:cNvPr id="503" name="Text 15"/>
          <p:cNvSpPr/>
          <p:nvPr/>
        </p:nvSpPr>
        <p:spPr>
          <a:xfrm>
            <a:off x="6976872" y="2560320"/>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Bought-in board price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the bare board comes from fabricators’ price tables</a:t>
            </a:r>
            <a:endParaRPr lang="en-US" sz="1030" dirty="0"/>
          </a:p>
        </p:txBody>
      </p:sp>
      <p:sp>
        <p:nvSpPr>
          <p:cNvPr id="504" name="Shape 16"/>
          <p:cNvSpPr/>
          <p:nvPr/>
        </p:nvSpPr>
        <p:spPr>
          <a:xfrm>
            <a:off x="6611112" y="3090672"/>
            <a:ext cx="274320" cy="274320"/>
          </a:xfrm>
          <a:prstGeom prst="ellipse">
            <a:avLst/>
          </a:prstGeom>
          <a:solidFill>
            <a:srgbClr val="E7F7F0"/>
          </a:solidFill>
          <a:ln/>
        </p:spPr>
        <p:txBody>
          <a:bodyPr/>
          <a:p/>
        </p:txBody>
      </p:sp>
      <p:sp>
        <p:nvSpPr>
          <p:cNvPr id="505" name="Text 17"/>
          <p:cNvSpPr/>
          <p:nvPr/>
        </p:nvSpPr>
        <p:spPr>
          <a:xfrm>
            <a:off x="6611112" y="3081528"/>
            <a:ext cx="274320" cy="274320"/>
          </a:xfrm>
          <a:prstGeom prst="rect">
            <a:avLst/>
          </a:prstGeom>
          <a:noFill/>
          <a:ln/>
        </p:spPr>
        <p:txBody>
          <a:bodyPr wrap="square" lIns="0" tIns="0" rIns="0" bIns="0" rtlCol="0" anchor="ctr"/>
          <a:lstStyle/>
          <a:p>
            <a:pPr algn="ctr" indent="0" marL="0">
              <a:buNone/>
            </a:pPr>
            <a:r>
              <a:rPr lang="en-US" sz="1000" b="1" dirty="0">
                <a:solidFill>
                  <a:srgbClr val="0EA472"/>
                </a:solidFill>
                <a:latin typeface="Calibri" pitchFamily="34" charset="0"/>
                <a:ea typeface="Calibri" pitchFamily="34" charset="-122"/>
                <a:cs typeface="Calibri" pitchFamily="34" charset="-120"/>
              </a:rPr>
              <a:t>✓</a:t>
            </a:r>
            <a:endParaRPr lang="en-US" sz="1000" dirty="0"/>
          </a:p>
        </p:txBody>
      </p:sp>
      <p:sp>
        <p:nvSpPr>
          <p:cNvPr id="506" name="Text 18"/>
          <p:cNvSpPr/>
          <p:nvPr/>
        </p:nvSpPr>
        <p:spPr>
          <a:xfrm>
            <a:off x="6976872" y="3072384"/>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No double mark-up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no overhead or margin is added on top of that price</a:t>
            </a:r>
            <a:endParaRPr lang="en-US" sz="1030" dirty="0"/>
          </a:p>
        </p:txBody>
      </p:sp>
      <p:sp>
        <p:nvSpPr>
          <p:cNvPr id="507" name="Shape 19"/>
          <p:cNvSpPr/>
          <p:nvPr/>
        </p:nvSpPr>
        <p:spPr>
          <a:xfrm>
            <a:off x="6611112" y="3602736"/>
            <a:ext cx="274320" cy="274320"/>
          </a:xfrm>
          <a:prstGeom prst="ellipse">
            <a:avLst/>
          </a:prstGeom>
          <a:solidFill>
            <a:srgbClr val="F3EEFE"/>
          </a:solidFill>
          <a:ln/>
        </p:spPr>
        <p:txBody>
          <a:bodyPr/>
          <a:p/>
        </p:txBody>
      </p:sp>
      <p:sp>
        <p:nvSpPr>
          <p:cNvPr id="508" name="Text 20"/>
          <p:cNvSpPr/>
          <p:nvPr/>
        </p:nvSpPr>
        <p:spPr>
          <a:xfrm>
            <a:off x="6611112" y="3593592"/>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509" name="Text 21"/>
          <p:cNvSpPr/>
          <p:nvPr/>
        </p:nvSpPr>
        <p:spPr>
          <a:xfrm>
            <a:off x="6976872" y="3584448"/>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Parts at your volume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each BOM line is priced for the build volume</a:t>
            </a:r>
            <a:endParaRPr lang="en-US" sz="1030" dirty="0"/>
          </a:p>
        </p:txBody>
      </p:sp>
      <p:sp>
        <p:nvSpPr>
          <p:cNvPr id="510" name="Shape 22"/>
          <p:cNvSpPr/>
          <p:nvPr/>
        </p:nvSpPr>
        <p:spPr>
          <a:xfrm>
            <a:off x="6611112" y="4114800"/>
            <a:ext cx="274320" cy="274320"/>
          </a:xfrm>
          <a:prstGeom prst="ellipse">
            <a:avLst/>
          </a:prstGeom>
          <a:solidFill>
            <a:srgbClr val="EAF1FE"/>
          </a:solidFill>
          <a:ln/>
        </p:spPr>
        <p:txBody>
          <a:bodyPr/>
          <a:p/>
        </p:txBody>
      </p:sp>
      <p:sp>
        <p:nvSpPr>
          <p:cNvPr id="511" name="Text 23"/>
          <p:cNvSpPr/>
          <p:nvPr/>
        </p:nvSpPr>
        <p:spPr>
          <a:xfrm>
            <a:off x="6611112" y="4105656"/>
            <a:ext cx="274320" cy="27432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512" name="Text 24"/>
          <p:cNvSpPr/>
          <p:nvPr/>
        </p:nvSpPr>
        <p:spPr>
          <a:xfrm>
            <a:off x="6976872" y="4096512"/>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Regional should-cost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fab and assembly priced across regions</a:t>
            </a:r>
            <a:endParaRPr lang="en-US" sz="1030" dirty="0"/>
          </a:p>
        </p:txBody>
      </p:sp>
      <p:sp>
        <p:nvSpPr>
          <p:cNvPr id="513" name="Shape 25"/>
          <p:cNvSpPr/>
          <p:nvPr/>
        </p:nvSpPr>
        <p:spPr>
          <a:xfrm>
            <a:off x="6611112" y="4626864"/>
            <a:ext cx="274320" cy="274320"/>
          </a:xfrm>
          <a:prstGeom prst="ellipse">
            <a:avLst/>
          </a:prstGeom>
          <a:solidFill>
            <a:srgbClr val="FEF6E7"/>
          </a:solidFill>
          <a:ln/>
        </p:spPr>
        <p:txBody>
          <a:bodyPr/>
          <a:p/>
        </p:txBody>
      </p:sp>
      <p:sp>
        <p:nvSpPr>
          <p:cNvPr id="514" name="Text 26"/>
          <p:cNvSpPr/>
          <p:nvPr/>
        </p:nvSpPr>
        <p:spPr>
          <a:xfrm>
            <a:off x="6611112" y="4617720"/>
            <a:ext cx="274320" cy="274320"/>
          </a:xfrm>
          <a:prstGeom prst="rect">
            <a:avLst/>
          </a:prstGeom>
          <a:noFill/>
          <a:ln/>
        </p:spPr>
        <p:txBody>
          <a:bodyPr wrap="square" lIns="0" tIns="0" rIns="0" bIns="0" rtlCol="0" anchor="ctr"/>
          <a:lstStyle/>
          <a:p>
            <a:pPr algn="ctr" indent="0" marL="0">
              <a:buNone/>
            </a:pPr>
            <a:r>
              <a:rPr lang="en-US" sz="1000" b="1" dirty="0">
                <a:solidFill>
                  <a:srgbClr val="E0900C"/>
                </a:solidFill>
                <a:latin typeface="Calibri" pitchFamily="34" charset="0"/>
                <a:ea typeface="Calibri" pitchFamily="34" charset="-122"/>
                <a:cs typeface="Calibri" pitchFamily="34" charset="-120"/>
              </a:rPr>
              <a:t>✓</a:t>
            </a:r>
            <a:endParaRPr lang="en-US" sz="1000" dirty="0"/>
          </a:p>
        </p:txBody>
      </p:sp>
      <p:sp>
        <p:nvSpPr>
          <p:cNvPr id="515" name="Text 27"/>
          <p:cNvSpPr/>
          <p:nvPr/>
        </p:nvSpPr>
        <p:spPr>
          <a:xfrm>
            <a:off x="6976872" y="4608576"/>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Photo → BOM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an optional AI screen; switched off at JLR</a:t>
            </a:r>
            <a:endParaRPr lang="en-US" sz="1030" dirty="0"/>
          </a:p>
        </p:txBody>
      </p:sp>
      <p:sp>
        <p:nvSpPr>
          <p:cNvPr id="31" name="Shape 28"/>
          <p:cNvSpPr/>
          <p:nvPr/>
        </p:nvSpPr>
        <p:spPr>
          <a:xfrm>
            <a:off x="548640" y="5394960"/>
            <a:ext cx="11091672" cy="640080"/>
          </a:xfrm>
          <a:prstGeom prst="roundRect">
            <a:avLst>
              <a:gd name="adj" fmla="val 10000"/>
            </a:avLst>
          </a:prstGeom>
          <a:solidFill>
            <a:srgbClr val="E7F7F0"/>
          </a:solidFill>
          <a:ln w="12700">
            <a:solidFill>
              <a:srgbClr val="E4EAF2"/>
            </a:solidFill>
            <a:prstDash val="solid"/>
          </a:ln>
        </p:spPr>
        <p:txBody>
          <a:bodyPr/>
          <a:p/>
        </p:txBody>
      </p:sp>
      <p:sp>
        <p:nvSpPr>
          <p:cNvPr id="32" name="Text 29"/>
          <p:cNvSpPr/>
          <p:nvPr/>
        </p:nvSpPr>
        <p:spPr>
          <a:xfrm>
            <a:off x="914400" y="5394960"/>
            <a:ext cx="10332720" cy="640080"/>
          </a:xfrm>
          <a:prstGeom prst="rect">
            <a:avLst/>
          </a:prstGeom>
          <a:noFill/>
          <a:ln/>
        </p:spPr>
        <p:txBody>
          <a:bodyPr wrap="square" lIns="0" tIns="0" rIns="0" bIns="0" rtlCol="0" anchor="ctr"/>
          <a:lstStyle/>
          <a:p>
            <a:pPr indent="0" marL="0">
              <a:lnSpc>
                <a:spcPct val="108000"/>
              </a:lnSpc>
              <a:buNone/>
            </a:pPr>
            <a:r>
              <a:rPr lang="en-US" sz="1150" b="1" dirty="0">
                <a:solidFill>
                  <a:srgbClr val="0EA472"/>
                </a:solidFill>
                <a:latin typeface="Calibri" pitchFamily="34" charset="0"/>
                <a:ea typeface="Calibri" pitchFamily="34" charset="-122"/>
                <a:cs typeface="Calibri" pitchFamily="34" charset="-120"/>
              </a:rPr>
              <a:t>A fix worth knowing:  </a:t>
            </a:r>
            <a:pPr indent="0" marL="0">
              <a:lnSpc>
                <a:spcPct val="108000"/>
              </a:lnSpc>
              <a:buNone/>
            </a:pPr>
            <a:r>
              <a:rPr lang="en-US" sz="1150" dirty="0">
                <a:solidFill>
                  <a:srgbClr val="3E4C63"/>
                </a:solidFill>
                <a:latin typeface="Calibri" pitchFamily="34" charset="0"/>
                <a:ea typeface="Calibri" pitchFamily="34" charset="-122"/>
                <a:cs typeface="Calibri" pitchFamily="34" charset="-120"/>
              </a:rPr>
              <a:t>a default board used to cost £100.44, because overhead and margin were added on top of a bought-in price. It now costs £83.08. The photo-to-BOM screen stays hidden while AI is off.</a:t>
            </a:r>
            <a:endParaRPr lang="en-US" sz="1150" dirty="0"/>
          </a:p>
        </p:txBody>
      </p:sp>
      <p:sp>
        <p:nvSpPr>
          <p:cNvPr id="33" name="Shape 30"/>
          <p:cNvSpPr/>
          <p:nvPr/>
        </p:nvSpPr>
        <p:spPr>
          <a:xfrm>
            <a:off x="548640" y="6400800"/>
            <a:ext cx="11094415" cy="12802"/>
          </a:xfrm>
          <a:prstGeom prst="rect">
            <a:avLst/>
          </a:prstGeom>
          <a:solidFill>
            <a:srgbClr val="E4EAF2"/>
          </a:solidFill>
          <a:ln/>
        </p:spPr>
        <p:txBody>
          <a:bodyPr/>
          <a:p/>
        </p:txBody>
      </p:sp>
      <p:sp>
        <p:nvSpPr>
          <p:cNvPr id="34" name="Text 31"/>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35" name="Text 32"/>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7 / 15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E0900C"/>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E0900C"/>
                </a:solidFill>
                <a:latin typeface="Calibri" pitchFamily="34" charset="0"/>
                <a:ea typeface="Calibri" pitchFamily="34" charset="-122"/>
                <a:cs typeface="Calibri" pitchFamily="34" charset="-120"/>
              </a:rPr>
              <a:t>BREADTH</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Estimate anything — 19 manufacturing processes</a:t>
            </a:r>
            <a:endParaRPr lang="en-US" sz="2400" dirty="0"/>
          </a:p>
        </p:txBody>
      </p:sp>
      <p:sp>
        <p:nvSpPr>
          <p:cNvPr id="9" name="Shape 7"/>
          <p:cNvSpPr/>
          <p:nvPr/>
        </p:nvSpPr>
        <p:spPr>
          <a:xfrm>
            <a:off x="548640" y="1371600"/>
            <a:ext cx="1051560" cy="45720"/>
          </a:xfrm>
          <a:prstGeom prst="rect">
            <a:avLst/>
          </a:prstGeom>
          <a:solidFill>
            <a:srgbClr val="E0900C"/>
          </a:solidFill>
          <a:ln/>
        </p:spPr>
        <p:txBody>
          <a:bodyPr/>
          <a:p/>
        </p:txBody>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A bottom-up model for each process, built for the job. Not one formula stretched over everything.</a:t>
            </a:r>
            <a:endParaRPr lang="en-US" sz="1250" dirty="0"/>
          </a:p>
        </p:txBody>
      </p:sp>
      <p:sp>
        <p:nvSpPr>
          <p:cNvPr id="11" name="Shape 9"/>
          <p:cNvSpPr/>
          <p:nvPr/>
        </p:nvSpPr>
        <p:spPr>
          <a:xfrm>
            <a:off x="548640" y="1874520"/>
            <a:ext cx="3520440" cy="502920"/>
          </a:xfrm>
          <a:prstGeom prst="roundRect">
            <a:avLst>
              <a:gd name="adj" fmla="val 14545"/>
            </a:avLst>
          </a:prstGeom>
          <a:solidFill>
            <a:srgbClr val="EAF1FE"/>
          </a:solidFill>
          <a:ln w="9525">
            <a:solidFill>
              <a:srgbClr val="E4EAF2"/>
            </a:solidFill>
            <a:prstDash val="solid"/>
          </a:ln>
        </p:spPr>
        <p:txBody>
          <a:bodyPr/>
          <a:p/>
        </p:txBody>
      </p:sp>
      <p:sp>
        <p:nvSpPr>
          <p:cNvPr id="12" name="Shape 10"/>
          <p:cNvSpPr/>
          <p:nvPr/>
        </p:nvSpPr>
        <p:spPr>
          <a:xfrm>
            <a:off x="768096" y="2066544"/>
            <a:ext cx="128016" cy="128016"/>
          </a:xfrm>
          <a:prstGeom prst="ellipse">
            <a:avLst/>
          </a:prstGeom>
          <a:solidFill>
            <a:srgbClr val="2563EB"/>
          </a:solidFill>
          <a:ln/>
        </p:spPr>
        <p:txBody>
          <a:bodyPr/>
          <a:p/>
        </p:txBody>
      </p:sp>
      <p:sp>
        <p:nvSpPr>
          <p:cNvPr id="13" name="Text 11"/>
          <p:cNvSpPr/>
          <p:nvPr/>
        </p:nvSpPr>
        <p:spPr>
          <a:xfrm>
            <a:off x="1005840" y="187452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Casting — HPDC · sand · investment</a:t>
            </a:r>
            <a:endParaRPr lang="en-US" sz="1050" dirty="0"/>
          </a:p>
        </p:txBody>
      </p:sp>
      <p:sp>
        <p:nvSpPr>
          <p:cNvPr id="14" name="Shape 12"/>
          <p:cNvSpPr/>
          <p:nvPr/>
        </p:nvSpPr>
        <p:spPr>
          <a:xfrm>
            <a:off x="4325112" y="1874520"/>
            <a:ext cx="3520440" cy="502920"/>
          </a:xfrm>
          <a:prstGeom prst="roundRect">
            <a:avLst>
              <a:gd name="adj" fmla="val 14545"/>
            </a:avLst>
          </a:prstGeom>
          <a:solidFill>
            <a:srgbClr val="E8F6FA"/>
          </a:solidFill>
          <a:ln w="9525">
            <a:solidFill>
              <a:srgbClr val="E4EAF2"/>
            </a:solidFill>
            <a:prstDash val="solid"/>
          </a:ln>
        </p:spPr>
        <p:txBody>
          <a:bodyPr/>
          <a:p/>
        </p:txBody>
      </p:sp>
      <p:sp>
        <p:nvSpPr>
          <p:cNvPr id="15" name="Shape 13"/>
          <p:cNvSpPr/>
          <p:nvPr/>
        </p:nvSpPr>
        <p:spPr>
          <a:xfrm>
            <a:off x="4544568" y="2066544"/>
            <a:ext cx="128016" cy="128016"/>
          </a:xfrm>
          <a:prstGeom prst="ellipse">
            <a:avLst/>
          </a:prstGeom>
          <a:solidFill>
            <a:srgbClr val="0E93B0"/>
          </a:solidFill>
          <a:ln/>
        </p:spPr>
        <p:txBody>
          <a:bodyPr/>
          <a:p/>
        </p:txBody>
      </p:sp>
      <p:sp>
        <p:nvSpPr>
          <p:cNvPr id="16" name="Text 14"/>
          <p:cNvSpPr/>
          <p:nvPr/>
        </p:nvSpPr>
        <p:spPr>
          <a:xfrm>
            <a:off x="4782312" y="187452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Cast + machine</a:t>
            </a:r>
            <a:endParaRPr lang="en-US" sz="1050" dirty="0"/>
          </a:p>
        </p:txBody>
      </p:sp>
      <p:sp>
        <p:nvSpPr>
          <p:cNvPr id="17" name="Shape 15"/>
          <p:cNvSpPr/>
          <p:nvPr/>
        </p:nvSpPr>
        <p:spPr>
          <a:xfrm>
            <a:off x="8101584" y="1874520"/>
            <a:ext cx="3520440" cy="502920"/>
          </a:xfrm>
          <a:prstGeom prst="roundRect">
            <a:avLst>
              <a:gd name="adj" fmla="val 14545"/>
            </a:avLst>
          </a:prstGeom>
          <a:solidFill>
            <a:srgbClr val="E7F7F0"/>
          </a:solidFill>
          <a:ln w="9525">
            <a:solidFill>
              <a:srgbClr val="E4EAF2"/>
            </a:solidFill>
            <a:prstDash val="solid"/>
          </a:ln>
        </p:spPr>
        <p:txBody>
          <a:bodyPr/>
          <a:p/>
        </p:txBody>
      </p:sp>
      <p:sp>
        <p:nvSpPr>
          <p:cNvPr id="18" name="Shape 16"/>
          <p:cNvSpPr/>
          <p:nvPr/>
        </p:nvSpPr>
        <p:spPr>
          <a:xfrm>
            <a:off x="8321040" y="2066544"/>
            <a:ext cx="128016" cy="128016"/>
          </a:xfrm>
          <a:prstGeom prst="ellipse">
            <a:avLst/>
          </a:prstGeom>
          <a:solidFill>
            <a:srgbClr val="0DA5A0"/>
          </a:solidFill>
          <a:ln/>
        </p:spPr>
        <p:txBody>
          <a:bodyPr/>
          <a:p/>
        </p:txBody>
      </p:sp>
      <p:sp>
        <p:nvSpPr>
          <p:cNvPr id="19" name="Text 17"/>
          <p:cNvSpPr/>
          <p:nvPr/>
        </p:nvSpPr>
        <p:spPr>
          <a:xfrm>
            <a:off x="8558784" y="187452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CNC machining</a:t>
            </a:r>
            <a:endParaRPr lang="en-US" sz="1050" dirty="0"/>
          </a:p>
        </p:txBody>
      </p:sp>
      <p:sp>
        <p:nvSpPr>
          <p:cNvPr id="20" name="Shape 18"/>
          <p:cNvSpPr/>
          <p:nvPr/>
        </p:nvSpPr>
        <p:spPr>
          <a:xfrm>
            <a:off x="4325112" y="2423160"/>
            <a:ext cx="3520440" cy="502920"/>
          </a:xfrm>
          <a:prstGeom prst="roundRect">
            <a:avLst>
              <a:gd name="adj" fmla="val 14545"/>
            </a:avLst>
          </a:prstGeom>
          <a:solidFill>
            <a:srgbClr val="EAF1FE"/>
          </a:solidFill>
          <a:ln w="9525">
            <a:solidFill>
              <a:srgbClr val="E4EAF2"/>
            </a:solidFill>
            <a:prstDash val="solid"/>
          </a:ln>
        </p:spPr>
        <p:txBody>
          <a:bodyPr/>
          <a:p/>
        </p:txBody>
      </p:sp>
      <p:sp>
        <p:nvSpPr>
          <p:cNvPr id="21" name="Shape 19"/>
          <p:cNvSpPr/>
          <p:nvPr/>
        </p:nvSpPr>
        <p:spPr>
          <a:xfrm>
            <a:off x="4544568" y="2615184"/>
            <a:ext cx="128016" cy="128016"/>
          </a:xfrm>
          <a:prstGeom prst="ellipse">
            <a:avLst/>
          </a:prstGeom>
          <a:solidFill>
            <a:srgbClr val="4F46E5"/>
          </a:solidFill>
          <a:ln/>
        </p:spPr>
        <p:txBody>
          <a:bodyPr/>
          <a:p/>
        </p:txBody>
      </p:sp>
      <p:sp>
        <p:nvSpPr>
          <p:cNvPr id="22" name="Text 20"/>
          <p:cNvSpPr/>
          <p:nvPr/>
        </p:nvSpPr>
        <p:spPr>
          <a:xfrm>
            <a:off x="4782312" y="242316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Forging</a:t>
            </a:r>
            <a:endParaRPr lang="en-US" sz="1050" dirty="0"/>
          </a:p>
        </p:txBody>
      </p:sp>
      <p:sp>
        <p:nvSpPr>
          <p:cNvPr id="23" name="Shape 21"/>
          <p:cNvSpPr/>
          <p:nvPr/>
        </p:nvSpPr>
        <p:spPr>
          <a:xfrm>
            <a:off x="8101584" y="2423160"/>
            <a:ext cx="3520440" cy="502920"/>
          </a:xfrm>
          <a:prstGeom prst="roundRect">
            <a:avLst>
              <a:gd name="adj" fmla="val 14545"/>
            </a:avLst>
          </a:prstGeom>
          <a:solidFill>
            <a:srgbClr val="F4F7FB"/>
          </a:solidFill>
          <a:ln w="9525">
            <a:solidFill>
              <a:srgbClr val="E4EAF2"/>
            </a:solidFill>
            <a:prstDash val="solid"/>
          </a:ln>
        </p:spPr>
        <p:txBody>
          <a:bodyPr/>
          <a:p/>
        </p:txBody>
      </p:sp>
      <p:sp>
        <p:nvSpPr>
          <p:cNvPr id="24" name="Shape 22"/>
          <p:cNvSpPr/>
          <p:nvPr/>
        </p:nvSpPr>
        <p:spPr>
          <a:xfrm>
            <a:off x="8321040" y="2615184"/>
            <a:ext cx="128016" cy="128016"/>
          </a:xfrm>
          <a:prstGeom prst="ellipse">
            <a:avLst/>
          </a:prstGeom>
          <a:solidFill>
            <a:srgbClr val="2E90FA"/>
          </a:solidFill>
          <a:ln/>
        </p:spPr>
        <p:txBody>
          <a:bodyPr/>
          <a:p/>
        </p:txBody>
      </p:sp>
      <p:sp>
        <p:nvSpPr>
          <p:cNvPr id="25" name="Text 23"/>
          <p:cNvSpPr/>
          <p:nvPr/>
        </p:nvSpPr>
        <p:spPr>
          <a:xfrm>
            <a:off x="8558784" y="242316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Sheet metal — pressed</a:t>
            </a:r>
            <a:endParaRPr lang="en-US" sz="1050" dirty="0"/>
          </a:p>
        </p:txBody>
      </p:sp>
      <p:sp>
        <p:nvSpPr>
          <p:cNvPr id="26" name="Shape 24"/>
          <p:cNvSpPr/>
          <p:nvPr/>
        </p:nvSpPr>
        <p:spPr>
          <a:xfrm>
            <a:off x="548640" y="2971800"/>
            <a:ext cx="3520440" cy="502920"/>
          </a:xfrm>
          <a:prstGeom prst="roundRect">
            <a:avLst>
              <a:gd name="adj" fmla="val 14545"/>
            </a:avLst>
          </a:prstGeom>
          <a:solidFill>
            <a:srgbClr val="F3EEFE"/>
          </a:solidFill>
          <a:ln w="9525">
            <a:solidFill>
              <a:srgbClr val="E4EAF2"/>
            </a:solidFill>
            <a:prstDash val="solid"/>
          </a:ln>
        </p:spPr>
        <p:txBody>
          <a:bodyPr/>
          <a:p/>
        </p:txBody>
      </p:sp>
      <p:sp>
        <p:nvSpPr>
          <p:cNvPr id="27" name="Shape 25"/>
          <p:cNvSpPr/>
          <p:nvPr/>
        </p:nvSpPr>
        <p:spPr>
          <a:xfrm>
            <a:off x="768096" y="3163824"/>
            <a:ext cx="128016" cy="128016"/>
          </a:xfrm>
          <a:prstGeom prst="ellipse">
            <a:avLst/>
          </a:prstGeom>
          <a:solidFill>
            <a:srgbClr val="7C3AED"/>
          </a:solidFill>
          <a:ln/>
        </p:spPr>
        <p:txBody>
          <a:bodyPr/>
          <a:p/>
        </p:txBody>
      </p:sp>
      <p:sp>
        <p:nvSpPr>
          <p:cNvPr id="28" name="Text 26"/>
          <p:cNvSpPr/>
          <p:nvPr/>
        </p:nvSpPr>
        <p:spPr>
          <a:xfrm>
            <a:off x="1005840" y="297180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Sheet-metal fabrication</a:t>
            </a:r>
            <a:endParaRPr lang="en-US" sz="1050" dirty="0"/>
          </a:p>
        </p:txBody>
      </p:sp>
      <p:sp>
        <p:nvSpPr>
          <p:cNvPr id="29" name="Shape 27"/>
          <p:cNvSpPr/>
          <p:nvPr/>
        </p:nvSpPr>
        <p:spPr>
          <a:xfrm>
            <a:off x="4325112" y="2971800"/>
            <a:ext cx="3520440" cy="502920"/>
          </a:xfrm>
          <a:prstGeom prst="roundRect">
            <a:avLst>
              <a:gd name="adj" fmla="val 14545"/>
            </a:avLst>
          </a:prstGeom>
          <a:solidFill>
            <a:srgbClr val="E7F7F0"/>
          </a:solidFill>
          <a:ln w="9525">
            <a:solidFill>
              <a:srgbClr val="E4EAF2"/>
            </a:solidFill>
            <a:prstDash val="solid"/>
          </a:ln>
        </p:spPr>
        <p:txBody>
          <a:bodyPr/>
          <a:p/>
        </p:txBody>
      </p:sp>
      <p:sp>
        <p:nvSpPr>
          <p:cNvPr id="30" name="Shape 28"/>
          <p:cNvSpPr/>
          <p:nvPr/>
        </p:nvSpPr>
        <p:spPr>
          <a:xfrm>
            <a:off x="4544568" y="3163824"/>
            <a:ext cx="128016" cy="128016"/>
          </a:xfrm>
          <a:prstGeom prst="ellipse">
            <a:avLst/>
          </a:prstGeom>
          <a:solidFill>
            <a:srgbClr val="0EA472"/>
          </a:solidFill>
          <a:ln/>
        </p:spPr>
        <p:txBody>
          <a:bodyPr/>
          <a:p/>
        </p:txBody>
      </p:sp>
      <p:sp>
        <p:nvSpPr>
          <p:cNvPr id="31" name="Text 29"/>
          <p:cNvSpPr/>
          <p:nvPr/>
        </p:nvSpPr>
        <p:spPr>
          <a:xfrm>
            <a:off x="4782312" y="297180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Injection moulding</a:t>
            </a:r>
            <a:endParaRPr lang="en-US" sz="1050" dirty="0"/>
          </a:p>
        </p:txBody>
      </p:sp>
      <p:sp>
        <p:nvSpPr>
          <p:cNvPr id="32" name="Shape 30"/>
          <p:cNvSpPr/>
          <p:nvPr/>
        </p:nvSpPr>
        <p:spPr>
          <a:xfrm>
            <a:off x="8101584" y="2971800"/>
            <a:ext cx="3520440" cy="502920"/>
          </a:xfrm>
          <a:prstGeom prst="roundRect">
            <a:avLst>
              <a:gd name="adj" fmla="val 14545"/>
            </a:avLst>
          </a:prstGeom>
          <a:solidFill>
            <a:srgbClr val="FEF6E7"/>
          </a:solidFill>
          <a:ln w="9525">
            <a:solidFill>
              <a:srgbClr val="E4EAF2"/>
            </a:solidFill>
            <a:prstDash val="solid"/>
          </a:ln>
        </p:spPr>
        <p:txBody>
          <a:bodyPr/>
          <a:p/>
        </p:txBody>
      </p:sp>
      <p:sp>
        <p:nvSpPr>
          <p:cNvPr id="33" name="Shape 31"/>
          <p:cNvSpPr/>
          <p:nvPr/>
        </p:nvSpPr>
        <p:spPr>
          <a:xfrm>
            <a:off x="8321040" y="3163824"/>
            <a:ext cx="128016" cy="128016"/>
          </a:xfrm>
          <a:prstGeom prst="ellipse">
            <a:avLst/>
          </a:prstGeom>
          <a:solidFill>
            <a:srgbClr val="E0900C"/>
          </a:solidFill>
          <a:ln/>
        </p:spPr>
        <p:txBody>
          <a:bodyPr/>
          <a:p/>
        </p:txBody>
      </p:sp>
      <p:sp>
        <p:nvSpPr>
          <p:cNvPr id="34" name="Text 32"/>
          <p:cNvSpPr/>
          <p:nvPr/>
        </p:nvSpPr>
        <p:spPr>
          <a:xfrm>
            <a:off x="8558784" y="297180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Blow moulding</a:t>
            </a:r>
            <a:endParaRPr lang="en-US" sz="1050" dirty="0"/>
          </a:p>
        </p:txBody>
      </p:sp>
      <p:sp>
        <p:nvSpPr>
          <p:cNvPr id="35" name="Shape 33"/>
          <p:cNvSpPr/>
          <p:nvPr/>
        </p:nvSpPr>
        <p:spPr>
          <a:xfrm>
            <a:off x="548640" y="3520440"/>
            <a:ext cx="3520440" cy="502920"/>
          </a:xfrm>
          <a:prstGeom prst="roundRect">
            <a:avLst>
              <a:gd name="adj" fmla="val 14545"/>
            </a:avLst>
          </a:prstGeom>
          <a:solidFill>
            <a:srgbClr val="FDECEC"/>
          </a:solidFill>
          <a:ln w="9525">
            <a:solidFill>
              <a:srgbClr val="E4EAF2"/>
            </a:solidFill>
            <a:prstDash val="solid"/>
          </a:ln>
        </p:spPr>
        <p:txBody>
          <a:bodyPr/>
          <a:p/>
        </p:txBody>
      </p:sp>
      <p:sp>
        <p:nvSpPr>
          <p:cNvPr id="36" name="Shape 34"/>
          <p:cNvSpPr/>
          <p:nvPr/>
        </p:nvSpPr>
        <p:spPr>
          <a:xfrm>
            <a:off x="768096" y="3712464"/>
            <a:ext cx="128016" cy="128016"/>
          </a:xfrm>
          <a:prstGeom prst="ellipse">
            <a:avLst/>
          </a:prstGeom>
          <a:solidFill>
            <a:srgbClr val="E5484D"/>
          </a:solidFill>
          <a:ln/>
        </p:spPr>
        <p:txBody>
          <a:bodyPr/>
          <a:p/>
        </p:txBody>
      </p:sp>
      <p:sp>
        <p:nvSpPr>
          <p:cNvPr id="37" name="Text 35"/>
          <p:cNvSpPr/>
          <p:nvPr/>
        </p:nvSpPr>
        <p:spPr>
          <a:xfrm>
            <a:off x="1005840" y="352044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Thermoforming</a:t>
            </a:r>
            <a:endParaRPr lang="en-US" sz="1050" dirty="0"/>
          </a:p>
        </p:txBody>
      </p:sp>
      <p:sp>
        <p:nvSpPr>
          <p:cNvPr id="38" name="Shape 36"/>
          <p:cNvSpPr/>
          <p:nvPr/>
        </p:nvSpPr>
        <p:spPr>
          <a:xfrm>
            <a:off x="4325112" y="3520440"/>
            <a:ext cx="3520440" cy="502920"/>
          </a:xfrm>
          <a:prstGeom prst="roundRect">
            <a:avLst>
              <a:gd name="adj" fmla="val 14545"/>
            </a:avLst>
          </a:prstGeom>
          <a:solidFill>
            <a:srgbClr val="EAF1FE"/>
          </a:solidFill>
          <a:ln w="9525">
            <a:solidFill>
              <a:srgbClr val="E4EAF2"/>
            </a:solidFill>
            <a:prstDash val="solid"/>
          </a:ln>
        </p:spPr>
        <p:txBody>
          <a:bodyPr/>
          <a:p/>
        </p:txBody>
      </p:sp>
      <p:sp>
        <p:nvSpPr>
          <p:cNvPr id="39" name="Shape 37"/>
          <p:cNvSpPr/>
          <p:nvPr/>
        </p:nvSpPr>
        <p:spPr>
          <a:xfrm>
            <a:off x="4544568" y="3712464"/>
            <a:ext cx="128016" cy="128016"/>
          </a:xfrm>
          <a:prstGeom prst="ellipse">
            <a:avLst/>
          </a:prstGeom>
          <a:solidFill>
            <a:srgbClr val="2563EB"/>
          </a:solidFill>
          <a:ln/>
        </p:spPr>
        <p:txBody>
          <a:bodyPr/>
          <a:p/>
        </p:txBody>
      </p:sp>
      <p:sp>
        <p:nvSpPr>
          <p:cNvPr id="40" name="Text 38"/>
          <p:cNvSpPr/>
          <p:nvPr/>
        </p:nvSpPr>
        <p:spPr>
          <a:xfrm>
            <a:off x="4782312" y="352044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Rotational moulding</a:t>
            </a:r>
            <a:endParaRPr lang="en-US" sz="1050" dirty="0"/>
          </a:p>
        </p:txBody>
      </p:sp>
      <p:sp>
        <p:nvSpPr>
          <p:cNvPr id="41" name="Shape 39"/>
          <p:cNvSpPr/>
          <p:nvPr/>
        </p:nvSpPr>
        <p:spPr>
          <a:xfrm>
            <a:off x="8101584" y="3520440"/>
            <a:ext cx="3520440" cy="502920"/>
          </a:xfrm>
          <a:prstGeom prst="roundRect">
            <a:avLst>
              <a:gd name="adj" fmla="val 14545"/>
            </a:avLst>
          </a:prstGeom>
          <a:solidFill>
            <a:srgbClr val="E8F6FA"/>
          </a:solidFill>
          <a:ln w="9525">
            <a:solidFill>
              <a:srgbClr val="E4EAF2"/>
            </a:solidFill>
            <a:prstDash val="solid"/>
          </a:ln>
        </p:spPr>
        <p:txBody>
          <a:bodyPr/>
          <a:p/>
        </p:txBody>
      </p:sp>
      <p:sp>
        <p:nvSpPr>
          <p:cNvPr id="42" name="Shape 40"/>
          <p:cNvSpPr/>
          <p:nvPr/>
        </p:nvSpPr>
        <p:spPr>
          <a:xfrm>
            <a:off x="8321040" y="3712464"/>
            <a:ext cx="128016" cy="128016"/>
          </a:xfrm>
          <a:prstGeom prst="ellipse">
            <a:avLst/>
          </a:prstGeom>
          <a:solidFill>
            <a:srgbClr val="0E93B0"/>
          </a:solidFill>
          <a:ln/>
        </p:spPr>
        <p:txBody>
          <a:bodyPr/>
          <a:p/>
        </p:txBody>
      </p:sp>
      <p:sp>
        <p:nvSpPr>
          <p:cNvPr id="43" name="Text 41"/>
          <p:cNvSpPr/>
          <p:nvPr/>
        </p:nvSpPr>
        <p:spPr>
          <a:xfrm>
            <a:off x="8558784" y="352044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Rubber &amp; elastomers</a:t>
            </a:r>
            <a:endParaRPr lang="en-US" sz="1050" dirty="0"/>
          </a:p>
        </p:txBody>
      </p:sp>
      <p:sp>
        <p:nvSpPr>
          <p:cNvPr id="44" name="Shape 42"/>
          <p:cNvSpPr/>
          <p:nvPr/>
        </p:nvSpPr>
        <p:spPr>
          <a:xfrm>
            <a:off x="548640" y="4069080"/>
            <a:ext cx="3520440" cy="502920"/>
          </a:xfrm>
          <a:prstGeom prst="roundRect">
            <a:avLst>
              <a:gd name="adj" fmla="val 14545"/>
            </a:avLst>
          </a:prstGeom>
          <a:solidFill>
            <a:srgbClr val="E7F7F0"/>
          </a:solidFill>
          <a:ln w="9525">
            <a:solidFill>
              <a:srgbClr val="E4EAF2"/>
            </a:solidFill>
            <a:prstDash val="solid"/>
          </a:ln>
        </p:spPr>
        <p:txBody>
          <a:bodyPr/>
          <a:p/>
        </p:txBody>
      </p:sp>
      <p:sp>
        <p:nvSpPr>
          <p:cNvPr id="45" name="Shape 43"/>
          <p:cNvSpPr/>
          <p:nvPr/>
        </p:nvSpPr>
        <p:spPr>
          <a:xfrm>
            <a:off x="768096" y="4261104"/>
            <a:ext cx="128016" cy="128016"/>
          </a:xfrm>
          <a:prstGeom prst="ellipse">
            <a:avLst/>
          </a:prstGeom>
          <a:solidFill>
            <a:srgbClr val="0DA5A0"/>
          </a:solidFill>
          <a:ln/>
        </p:spPr>
        <p:txBody>
          <a:bodyPr/>
          <a:p/>
        </p:txBody>
      </p:sp>
      <p:sp>
        <p:nvSpPr>
          <p:cNvPr id="46" name="Text 44"/>
          <p:cNvSpPr/>
          <p:nvPr/>
        </p:nvSpPr>
        <p:spPr>
          <a:xfrm>
            <a:off x="1005840" y="406908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Composites</a:t>
            </a:r>
            <a:endParaRPr lang="en-US" sz="1050" dirty="0"/>
          </a:p>
        </p:txBody>
      </p:sp>
      <p:sp>
        <p:nvSpPr>
          <p:cNvPr id="47" name="Shape 45"/>
          <p:cNvSpPr/>
          <p:nvPr/>
        </p:nvSpPr>
        <p:spPr>
          <a:xfrm>
            <a:off x="4325112" y="4069080"/>
            <a:ext cx="3520440" cy="502920"/>
          </a:xfrm>
          <a:prstGeom prst="roundRect">
            <a:avLst>
              <a:gd name="adj" fmla="val 14545"/>
            </a:avLst>
          </a:prstGeom>
          <a:solidFill>
            <a:srgbClr val="EAF1FE"/>
          </a:solidFill>
          <a:ln w="9525">
            <a:solidFill>
              <a:srgbClr val="E4EAF2"/>
            </a:solidFill>
            <a:prstDash val="solid"/>
          </a:ln>
        </p:spPr>
        <p:txBody>
          <a:bodyPr/>
          <a:p/>
        </p:txBody>
      </p:sp>
      <p:sp>
        <p:nvSpPr>
          <p:cNvPr id="48" name="Shape 46"/>
          <p:cNvSpPr/>
          <p:nvPr/>
        </p:nvSpPr>
        <p:spPr>
          <a:xfrm>
            <a:off x="4544568" y="4261104"/>
            <a:ext cx="128016" cy="128016"/>
          </a:xfrm>
          <a:prstGeom prst="ellipse">
            <a:avLst/>
          </a:prstGeom>
          <a:solidFill>
            <a:srgbClr val="4F46E5"/>
          </a:solidFill>
          <a:ln/>
        </p:spPr>
        <p:txBody>
          <a:bodyPr/>
          <a:p/>
        </p:txBody>
      </p:sp>
      <p:sp>
        <p:nvSpPr>
          <p:cNvPr id="49" name="Text 47"/>
          <p:cNvSpPr/>
          <p:nvPr/>
        </p:nvSpPr>
        <p:spPr>
          <a:xfrm>
            <a:off x="4782312" y="406908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Extrusion</a:t>
            </a:r>
            <a:endParaRPr lang="en-US" sz="1050" dirty="0"/>
          </a:p>
        </p:txBody>
      </p:sp>
      <p:sp>
        <p:nvSpPr>
          <p:cNvPr id="50" name="Shape 48"/>
          <p:cNvSpPr/>
          <p:nvPr/>
        </p:nvSpPr>
        <p:spPr>
          <a:xfrm>
            <a:off x="8101584" y="4069080"/>
            <a:ext cx="3520440" cy="502920"/>
          </a:xfrm>
          <a:prstGeom prst="roundRect">
            <a:avLst>
              <a:gd name="adj" fmla="val 14545"/>
            </a:avLst>
          </a:prstGeom>
          <a:solidFill>
            <a:srgbClr val="F4F7FB"/>
          </a:solidFill>
          <a:ln w="9525">
            <a:solidFill>
              <a:srgbClr val="E4EAF2"/>
            </a:solidFill>
            <a:prstDash val="solid"/>
          </a:ln>
        </p:spPr>
        <p:txBody>
          <a:bodyPr/>
          <a:p/>
        </p:txBody>
      </p:sp>
      <p:sp>
        <p:nvSpPr>
          <p:cNvPr id="51" name="Shape 49"/>
          <p:cNvSpPr/>
          <p:nvPr/>
        </p:nvSpPr>
        <p:spPr>
          <a:xfrm>
            <a:off x="8321040" y="4261104"/>
            <a:ext cx="128016" cy="128016"/>
          </a:xfrm>
          <a:prstGeom prst="ellipse">
            <a:avLst/>
          </a:prstGeom>
          <a:solidFill>
            <a:srgbClr val="2E90FA"/>
          </a:solidFill>
          <a:ln/>
        </p:spPr>
        <p:txBody>
          <a:bodyPr/>
          <a:p/>
        </p:txBody>
      </p:sp>
      <p:sp>
        <p:nvSpPr>
          <p:cNvPr id="52" name="Text 50"/>
          <p:cNvSpPr/>
          <p:nvPr/>
        </p:nvSpPr>
        <p:spPr>
          <a:xfrm>
            <a:off x="8558784" y="406908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Wiring harness</a:t>
            </a:r>
            <a:endParaRPr lang="en-US" sz="1050" dirty="0"/>
          </a:p>
        </p:txBody>
      </p:sp>
      <p:sp>
        <p:nvSpPr>
          <p:cNvPr id="53" name="Shape 51"/>
          <p:cNvSpPr/>
          <p:nvPr/>
        </p:nvSpPr>
        <p:spPr>
          <a:xfrm>
            <a:off x="548640" y="4617720"/>
            <a:ext cx="3520440" cy="502920"/>
          </a:xfrm>
          <a:prstGeom prst="roundRect">
            <a:avLst>
              <a:gd name="adj" fmla="val 14545"/>
            </a:avLst>
          </a:prstGeom>
          <a:solidFill>
            <a:srgbClr val="F3EEFE"/>
          </a:solidFill>
          <a:ln w="9525">
            <a:solidFill>
              <a:srgbClr val="E4EAF2"/>
            </a:solidFill>
            <a:prstDash val="solid"/>
          </a:ln>
        </p:spPr>
        <p:txBody>
          <a:bodyPr/>
          <a:p/>
        </p:txBody>
      </p:sp>
      <p:sp>
        <p:nvSpPr>
          <p:cNvPr id="54" name="Shape 52"/>
          <p:cNvSpPr/>
          <p:nvPr/>
        </p:nvSpPr>
        <p:spPr>
          <a:xfrm>
            <a:off x="768096" y="4809744"/>
            <a:ext cx="128016" cy="128016"/>
          </a:xfrm>
          <a:prstGeom prst="ellipse">
            <a:avLst/>
          </a:prstGeom>
          <a:solidFill>
            <a:srgbClr val="7C3AED"/>
          </a:solidFill>
          <a:ln/>
        </p:spPr>
        <p:txBody>
          <a:bodyPr/>
          <a:p/>
        </p:txBody>
      </p:sp>
      <p:sp>
        <p:nvSpPr>
          <p:cNvPr id="55" name="Text 53"/>
          <p:cNvSpPr/>
          <p:nvPr/>
        </p:nvSpPr>
        <p:spPr>
          <a:xfrm>
            <a:off x="1005840" y="461772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PCB fabrication</a:t>
            </a:r>
            <a:endParaRPr lang="en-US" sz="1050" dirty="0"/>
          </a:p>
        </p:txBody>
      </p:sp>
      <p:sp>
        <p:nvSpPr>
          <p:cNvPr id="56" name="Shape 54"/>
          <p:cNvSpPr/>
          <p:nvPr/>
        </p:nvSpPr>
        <p:spPr>
          <a:xfrm>
            <a:off x="4325112" y="4617720"/>
            <a:ext cx="3520440" cy="502920"/>
          </a:xfrm>
          <a:prstGeom prst="roundRect">
            <a:avLst>
              <a:gd name="adj" fmla="val 14545"/>
            </a:avLst>
          </a:prstGeom>
          <a:solidFill>
            <a:srgbClr val="E7F7F0"/>
          </a:solidFill>
          <a:ln w="9525">
            <a:solidFill>
              <a:srgbClr val="E4EAF2"/>
            </a:solidFill>
            <a:prstDash val="solid"/>
          </a:ln>
        </p:spPr>
        <p:txBody>
          <a:bodyPr/>
          <a:p/>
        </p:txBody>
      </p:sp>
      <p:sp>
        <p:nvSpPr>
          <p:cNvPr id="57" name="Shape 55"/>
          <p:cNvSpPr/>
          <p:nvPr/>
        </p:nvSpPr>
        <p:spPr>
          <a:xfrm>
            <a:off x="4544568" y="4809744"/>
            <a:ext cx="128016" cy="128016"/>
          </a:xfrm>
          <a:prstGeom prst="ellipse">
            <a:avLst/>
          </a:prstGeom>
          <a:solidFill>
            <a:srgbClr val="0EA472"/>
          </a:solidFill>
          <a:ln/>
        </p:spPr>
        <p:txBody>
          <a:bodyPr/>
          <a:p/>
        </p:txBody>
      </p:sp>
      <p:sp>
        <p:nvSpPr>
          <p:cNvPr id="58" name="Text 56"/>
          <p:cNvSpPr/>
          <p:nvPr/>
        </p:nvSpPr>
        <p:spPr>
          <a:xfrm>
            <a:off x="4782312" y="461772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PCBA — electronics assembly</a:t>
            </a:r>
            <a:endParaRPr lang="en-US" sz="1050" dirty="0"/>
          </a:p>
        </p:txBody>
      </p:sp>
      <p:sp>
        <p:nvSpPr>
          <p:cNvPr id="59" name="Shape 57"/>
          <p:cNvSpPr/>
          <p:nvPr/>
        </p:nvSpPr>
        <p:spPr>
          <a:xfrm>
            <a:off x="8101584" y="4617720"/>
            <a:ext cx="3520440" cy="502920"/>
          </a:xfrm>
          <a:prstGeom prst="roundRect">
            <a:avLst>
              <a:gd name="adj" fmla="val 14545"/>
            </a:avLst>
          </a:prstGeom>
          <a:solidFill>
            <a:srgbClr val="FEF6E7"/>
          </a:solidFill>
          <a:ln w="9525">
            <a:solidFill>
              <a:srgbClr val="E4EAF2"/>
            </a:solidFill>
            <a:prstDash val="solid"/>
          </a:ln>
        </p:spPr>
        <p:txBody>
          <a:bodyPr/>
          <a:p/>
        </p:txBody>
      </p:sp>
      <p:sp>
        <p:nvSpPr>
          <p:cNvPr id="60" name="Shape 58"/>
          <p:cNvSpPr/>
          <p:nvPr/>
        </p:nvSpPr>
        <p:spPr>
          <a:xfrm>
            <a:off x="8321040" y="4809744"/>
            <a:ext cx="128016" cy="128016"/>
          </a:xfrm>
          <a:prstGeom prst="ellipse">
            <a:avLst/>
          </a:prstGeom>
          <a:solidFill>
            <a:srgbClr val="E0900C"/>
          </a:solidFill>
          <a:ln/>
        </p:spPr>
        <p:txBody>
          <a:bodyPr/>
          <a:p/>
        </p:txBody>
      </p:sp>
      <p:sp>
        <p:nvSpPr>
          <p:cNvPr id="61" name="Text 59"/>
          <p:cNvSpPr/>
          <p:nvPr/>
        </p:nvSpPr>
        <p:spPr>
          <a:xfrm>
            <a:off x="8558784" y="461772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Painting &amp; surface finish</a:t>
            </a:r>
            <a:endParaRPr lang="en-US" sz="1050" dirty="0"/>
          </a:p>
        </p:txBody>
      </p:sp>
      <p:sp>
        <p:nvSpPr>
          <p:cNvPr id="62" name="Shape 60"/>
          <p:cNvSpPr/>
          <p:nvPr/>
        </p:nvSpPr>
        <p:spPr>
          <a:xfrm>
            <a:off x="548640" y="5166360"/>
            <a:ext cx="3520440" cy="502920"/>
          </a:xfrm>
          <a:prstGeom prst="roundRect">
            <a:avLst>
              <a:gd name="adj" fmla="val 14545"/>
            </a:avLst>
          </a:prstGeom>
          <a:solidFill>
            <a:srgbClr val="FDECEC"/>
          </a:solidFill>
          <a:ln w="9525">
            <a:solidFill>
              <a:srgbClr val="E4EAF2"/>
            </a:solidFill>
            <a:prstDash val="solid"/>
          </a:ln>
        </p:spPr>
        <p:txBody>
          <a:bodyPr/>
          <a:p/>
        </p:txBody>
      </p:sp>
      <p:sp>
        <p:nvSpPr>
          <p:cNvPr id="63" name="Shape 61"/>
          <p:cNvSpPr/>
          <p:nvPr/>
        </p:nvSpPr>
        <p:spPr>
          <a:xfrm>
            <a:off x="768096" y="5358384"/>
            <a:ext cx="128016" cy="128016"/>
          </a:xfrm>
          <a:prstGeom prst="ellipse">
            <a:avLst/>
          </a:prstGeom>
          <a:solidFill>
            <a:srgbClr val="E5484D"/>
          </a:solidFill>
          <a:ln/>
        </p:spPr>
        <p:txBody>
          <a:bodyPr/>
          <a:p/>
        </p:txBody>
      </p:sp>
      <p:sp>
        <p:nvSpPr>
          <p:cNvPr id="64" name="Text 62"/>
          <p:cNvSpPr/>
          <p:nvPr/>
        </p:nvSpPr>
        <p:spPr>
          <a:xfrm>
            <a:off x="1005840" y="516636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Body-in-white assembly</a:t>
            </a:r>
            <a:endParaRPr lang="en-US" sz="1050" dirty="0"/>
          </a:p>
        </p:txBody>
      </p:sp>
      <p:sp>
        <p:nvSpPr>
          <p:cNvPr id="65" name="Shape 63"/>
          <p:cNvSpPr/>
          <p:nvPr/>
        </p:nvSpPr>
        <p:spPr>
          <a:xfrm>
            <a:off x="548640" y="5742432"/>
            <a:ext cx="11091672" cy="548640"/>
          </a:xfrm>
          <a:prstGeom prst="roundRect">
            <a:avLst>
              <a:gd name="adj" fmla="val 11667"/>
            </a:avLst>
          </a:prstGeom>
          <a:solidFill>
            <a:srgbClr val="F4F7FB"/>
          </a:solidFill>
          <a:ln w="12700">
            <a:solidFill>
              <a:srgbClr val="E4EAF2"/>
            </a:solidFill>
            <a:prstDash val="solid"/>
          </a:ln>
        </p:spPr>
        <p:txBody>
          <a:bodyPr/>
          <a:p/>
        </p:txBody>
      </p:sp>
      <p:sp>
        <p:nvSpPr>
          <p:cNvPr id="66" name="Shape 64"/>
          <p:cNvSpPr/>
          <p:nvPr/>
        </p:nvSpPr>
        <p:spPr>
          <a:xfrm>
            <a:off x="548640" y="5742432"/>
            <a:ext cx="82296" cy="548640"/>
          </a:xfrm>
          <a:prstGeom prst="rect">
            <a:avLst/>
          </a:prstGeom>
          <a:solidFill>
            <a:srgbClr val="E0900C"/>
          </a:solidFill>
          <a:ln/>
        </p:spPr>
        <p:txBody>
          <a:bodyPr/>
          <a:p/>
        </p:txBody>
      </p:sp>
      <p:sp>
        <p:nvSpPr>
          <p:cNvPr id="67" name="Text 65"/>
          <p:cNvSpPr/>
          <p:nvPr/>
        </p:nvSpPr>
        <p:spPr>
          <a:xfrm>
            <a:off x="914400" y="5742432"/>
            <a:ext cx="10332720" cy="548640"/>
          </a:xfrm>
          <a:prstGeom prst="rect">
            <a:avLst/>
          </a:prstGeom>
          <a:noFill/>
          <a:ln/>
        </p:spPr>
        <p:txBody>
          <a:bodyPr wrap="square" lIns="0" tIns="0" rIns="0" bIns="0" rtlCol="0" anchor="ctr"/>
          <a:lstStyle/>
          <a:p>
            <a:pPr indent="0" marL="0">
              <a:lnSpc>
                <a:spcPct val="105000"/>
              </a:lnSpc>
              <a:buNone/>
            </a:pPr>
            <a:r>
              <a:rPr lang="en-US" sz="1150" b="1" dirty="0">
                <a:solidFill>
                  <a:srgbClr val="0F1E3D"/>
                </a:solidFill>
                <a:latin typeface="Calibri" pitchFamily="34" charset="0"/>
                <a:ea typeface="Calibri" pitchFamily="34" charset="-122"/>
                <a:cs typeface="Calibri" pitchFamily="34" charset="-120"/>
              </a:rPr>
              <a:t>One method under all of them:  </a:t>
            </a:r>
            <a:pPr indent="0" marL="0">
              <a:lnSpc>
                <a:spcPct val="105000"/>
              </a:lnSpc>
              <a:buNone/>
            </a:pPr>
            <a:r>
              <a:rPr lang="en-US" sz="1150" dirty="0">
                <a:solidFill>
                  <a:srgbClr val="3E4C63"/>
                </a:solidFill>
                <a:latin typeface="Calibri" pitchFamily="34" charset="0"/>
                <a:ea typeface="Calibri" pitchFamily="34" charset="-122"/>
                <a:cs typeface="Calibri" pitchFamily="34" charset="-120"/>
              </a:rPr>
              <a:t>the same 8-bucket cost stack, material to margin. Plus an assembly roll-up and a 49-module automotive software cost model. Every part prices in 20 regions.</a:t>
            </a:r>
            <a:endParaRPr lang="en-US" sz="1150" dirty="0"/>
          </a:p>
        </p:txBody>
      </p:sp>
      <p:sp>
        <p:nvSpPr>
          <p:cNvPr id="68" name="Shape 66"/>
          <p:cNvSpPr/>
          <p:nvPr/>
        </p:nvSpPr>
        <p:spPr>
          <a:xfrm>
            <a:off x="548640" y="6400800"/>
            <a:ext cx="11094415" cy="12802"/>
          </a:xfrm>
          <a:prstGeom prst="rect">
            <a:avLst/>
          </a:prstGeom>
          <a:solidFill>
            <a:srgbClr val="E4EAF2"/>
          </a:solidFill>
          <a:ln/>
        </p:spPr>
        <p:txBody>
          <a:bodyPr/>
          <a:p/>
        </p:txBody>
      </p:sp>
      <p:sp>
        <p:nvSpPr>
          <p:cNvPr id="69" name="Text 67"/>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70" name="Text 68"/>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8 / 15</a:t>
            </a:r>
            <a:endParaRPr lang="en-US" sz="850" dirty="0"/>
          </a:p>
        </p:txBody>
      </p:sp>
      <p:sp>
        <p:nvSpPr>
          <p:cNvPr id="71" name="GearChip71"/>
          <p:cNvSpPr/>
          <p:nvPr/>
        </p:nvSpPr>
        <p:spPr>
          <a:xfrm>
            <a:off x="548640" y="2423160"/>
            <a:ext cx="3520440" cy="502920"/>
          </a:xfrm>
          <a:prstGeom prst="roundRect">
            <a:avLst>
              <a:gd name="adj" fmla="val 14545"/>
            </a:avLst>
          </a:prstGeom>
          <a:solidFill>
            <a:srgbClr val="EAF1FE"/>
          </a:solidFill>
          <a:ln w="9525">
            <a:solidFill>
              <a:srgbClr val="E4EAF2"/>
            </a:solidFill>
            <a:prstDash val="solid"/>
          </a:ln>
        </p:spPr>
        <p:txBody>
          <a:bodyPr/>
          <a:p/>
        </p:txBody>
      </p:sp>
      <p:sp>
        <p:nvSpPr>
          <p:cNvPr id="72" name="GearChip72"/>
          <p:cNvSpPr/>
          <p:nvPr/>
        </p:nvSpPr>
        <p:spPr>
          <a:xfrm>
            <a:off x="768096" y="2615184"/>
            <a:ext cx="128016" cy="128016"/>
          </a:xfrm>
          <a:prstGeom prst="ellipse">
            <a:avLst/>
          </a:prstGeom>
          <a:solidFill>
            <a:srgbClr val="2563EB"/>
          </a:solidFill>
          <a:ln/>
        </p:spPr>
        <p:txBody>
          <a:bodyPr/>
          <a:p/>
        </p:txBody>
      </p:sp>
      <p:sp>
        <p:nvSpPr>
          <p:cNvPr id="73" name="GearChip73"/>
          <p:cNvSpPr/>
          <p:nvPr/>
        </p:nvSpPr>
        <p:spPr>
          <a:xfrm>
            <a:off x="1005840" y="242316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Gear cutting — hob · shape · grind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sp>
      <p:pic>
        <p:nvPicPr>
          <p:cNvPr id="3" name="Image 0" descr="/tmp/claude-0/-home-user-leamington-marathi/8bf32d1a-7485-5bd6-9947-7843ee6c5644/scratchpad/art/globe-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58000"/>
            </a:srgbClr>
          </a:solidFill>
          <a:ln/>
        </p:spPr>
      </p:sp>
      <p:sp>
        <p:nvSpPr>
          <p:cNvPr id="5" name="Shape 2"/>
          <p:cNvSpPr/>
          <p:nvPr/>
        </p:nvSpPr>
        <p:spPr>
          <a:xfrm>
            <a:off x="0" y="3931920"/>
            <a:ext cx="12191695" cy="2926080"/>
          </a:xfrm>
          <a:prstGeom prst="rect">
            <a:avLst/>
          </a:prstGeom>
          <a:solidFill>
            <a:srgbClr val="061024">
              <a:alpha val="80000"/>
            </a:srgbClr>
          </a:solidFill>
          <a:ln/>
        </p:spPr>
      </p:sp>
      <p:sp>
        <p:nvSpPr>
          <p:cNvPr id="6" name="Shape 3"/>
          <p:cNvSpPr/>
          <p:nvPr/>
        </p:nvSpPr>
        <p:spPr>
          <a:xfrm>
            <a:off x="0" y="0"/>
            <a:ext cx="146304" cy="6858000"/>
          </a:xfrm>
          <a:prstGeom prst="rect">
            <a:avLst/>
          </a:prstGeom>
          <a:solidFill>
            <a:srgbClr val="0DA5A0"/>
          </a:solidFill>
          <a:ln/>
        </p:spPr>
      </p:sp>
      <p:sp>
        <p:nvSpPr>
          <p:cNvPr id="7" name="Shape 4"/>
          <p:cNvSpPr/>
          <p:nvPr/>
        </p:nvSpPr>
        <p:spPr>
          <a:xfrm>
            <a:off x="0" y="6729984"/>
            <a:ext cx="12191695" cy="128016"/>
          </a:xfrm>
          <a:prstGeom prst="rect">
            <a:avLst/>
          </a:prstGeom>
          <a:solidFill>
            <a:srgbClr val="0DA5A0"/>
          </a:solidFill>
          <a:ln/>
        </p:spPr>
      </p:sp>
      <p:sp>
        <p:nvSpPr>
          <p:cNvPr id="8" name="Shape 5"/>
          <p:cNvSpPr/>
          <p:nvPr/>
        </p:nvSpPr>
        <p:spPr>
          <a:xfrm>
            <a:off x="548640" y="457200"/>
            <a:ext cx="402336" cy="402336"/>
          </a:xfrm>
          <a:prstGeom prst="roundRect">
            <a:avLst>
              <a:gd name="adj" fmla="val 22727"/>
            </a:avLst>
          </a:prstGeom>
          <a:solidFill>
            <a:srgbClr val="4F46E5"/>
          </a:solidFill>
          <a:ln/>
        </p:spPr>
      </p:sp>
      <p:sp>
        <p:nvSpPr>
          <p:cNvPr id="9" name="Text 6"/>
          <p:cNvSpPr/>
          <p:nvPr/>
        </p:nvSpPr>
        <p:spPr>
          <a:xfrm>
            <a:off x="548640" y="4572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cv</a:t>
            </a:r>
            <a:endParaRPr lang="en-US" sz="1600" dirty="0"/>
          </a:p>
        </p:txBody>
      </p:sp>
      <p:sp>
        <p:nvSpPr>
          <p:cNvPr id="10" name="Text 7"/>
          <p:cNvSpPr/>
          <p:nvPr/>
        </p:nvSpPr>
        <p:spPr>
          <a:xfrm>
            <a:off x="1097280" y="475488"/>
            <a:ext cx="36576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CostVision</a:t>
            </a:r>
            <a:endParaRPr lang="en-US" sz="1400" dirty="0"/>
          </a:p>
        </p:txBody>
      </p:sp>
      <p:sp>
        <p:nvSpPr>
          <p:cNvPr id="11" name="Shape 8"/>
          <p:cNvSpPr/>
          <p:nvPr/>
        </p:nvSpPr>
        <p:spPr>
          <a:xfrm>
            <a:off x="548640" y="4553712"/>
            <a:ext cx="658368" cy="82296"/>
          </a:xfrm>
          <a:prstGeom prst="rect">
            <a:avLst/>
          </a:prstGeom>
          <a:solidFill>
            <a:srgbClr val="0DA5A0"/>
          </a:solidFill>
          <a:ln/>
        </p:spPr>
      </p:sp>
      <p:sp>
        <p:nvSpPr>
          <p:cNvPr id="12" name="Text 9"/>
          <p:cNvSpPr/>
          <p:nvPr/>
        </p:nvSpPr>
        <p:spPr>
          <a:xfrm>
            <a:off x="548640" y="4187952"/>
            <a:ext cx="9144000" cy="274320"/>
          </a:xfrm>
          <a:prstGeom prst="rect">
            <a:avLst/>
          </a:prstGeom>
          <a:noFill/>
          <a:ln/>
        </p:spPr>
        <p:txBody>
          <a:bodyPr wrap="square" lIns="0" tIns="0" rIns="0" bIns="0" rtlCol="0" anchor="t"/>
          <a:lstStyle/>
          <a:p>
            <a:pPr indent="0" marL="0">
              <a:buNone/>
            </a:pPr>
            <a:r>
              <a:rPr lang="en-US" sz="1300" b="1" spc="200" kern="0" dirty="0">
                <a:solidFill>
                  <a:srgbClr val="CFE0F5"/>
                </a:solidFill>
                <a:latin typeface="Calibri" pitchFamily="34" charset="0"/>
                <a:ea typeface="Calibri" pitchFamily="34" charset="-122"/>
                <a:cs typeface="Calibri" pitchFamily="34" charset="-120"/>
              </a:rPr>
              <a:t>DEEP DIVE · SHOULD-COST MODEL</a:t>
            </a:r>
            <a:endParaRPr lang="en-US" sz="1300" dirty="0"/>
          </a:p>
        </p:txBody>
      </p:sp>
      <p:sp>
        <p:nvSpPr>
          <p:cNvPr id="13" name="Text 10"/>
          <p:cNvSpPr/>
          <p:nvPr/>
        </p:nvSpPr>
        <p:spPr>
          <a:xfrm>
            <a:off x="548640" y="4736592"/>
            <a:ext cx="10607040" cy="1280160"/>
          </a:xfrm>
          <a:prstGeom prst="rect">
            <a:avLst/>
          </a:prstGeom>
          <a:noFill/>
          <a:ln/>
        </p:spPr>
        <p:txBody>
          <a:bodyPr wrap="square" lIns="0" tIns="0" rIns="0" bIns="0" rtlCol="0" anchor="t"/>
          <a:lstStyle/>
          <a:p>
            <a:pPr indent="0" marL="0">
              <a:lnSpc>
                <a:spcPct val="102000"/>
              </a:lnSpc>
              <a:buNone/>
            </a:pPr>
            <a:r>
              <a:rPr lang="en-US" sz="3800" b="1" dirty="0">
                <a:solidFill>
                  <a:srgbClr val="FFFFFF"/>
                </a:solidFill>
                <a:latin typeface="Calibri" pitchFamily="34" charset="0"/>
                <a:ea typeface="Calibri" pitchFamily="34" charset="-122"/>
                <a:cs typeface="Calibri" pitchFamily="34" charset="-120"/>
              </a:rPr>
              <a:t>Global should-cost</a:t>
            </a:r>
            <a:endParaRPr lang="en-US" sz="3800" dirty="0"/>
          </a:p>
        </p:txBody>
      </p:sp>
      <p:sp>
        <p:nvSpPr>
          <p:cNvPr id="14" name="Text 1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AFC4E2"/>
                </a:solidFill>
                <a:latin typeface="Calibri" pitchFamily="34" charset="0"/>
                <a:ea typeface="Calibri" pitchFamily="34" charset="-122"/>
                <a:cs typeface="Calibri" pitchFamily="34" charset="-120"/>
              </a:rPr>
              <a:t>16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DA5A0"/>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DA5A0"/>
                </a:solidFill>
                <a:latin typeface="Calibri" pitchFamily="34" charset="0"/>
                <a:ea typeface="Calibri" pitchFamily="34" charset="-122"/>
                <a:cs typeface="Calibri" pitchFamily="34" charset="-120"/>
              </a:rPr>
              <a:t>DEEP DIVE · SHOULD-COST MODEL</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Global should-cost — how the country model works</a:t>
            </a:r>
            <a:endParaRPr lang="en-US" sz="2400" dirty="0"/>
          </a:p>
        </p:txBody>
      </p:sp>
      <p:sp>
        <p:nvSpPr>
          <p:cNvPr id="9" name="Shape 7"/>
          <p:cNvSpPr/>
          <p:nvPr/>
        </p:nvSpPr>
        <p:spPr>
          <a:xfrm>
            <a:off x="548640" y="1371600"/>
            <a:ext cx="1051560" cy="45720"/>
          </a:xfrm>
          <a:prstGeom prst="rect">
            <a:avLst/>
          </a:prstGeom>
          <a:solidFill>
            <a:srgbClr val="0DA5A0"/>
          </a:solidFill>
          <a:ln/>
        </p:spPr>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One base cost, re-priced with each region's real economics — deterministic, transparent and landed-cost aware. No AI in the money.</a:t>
            </a:r>
            <a:endParaRPr lang="en-US" sz="1250" dirty="0"/>
          </a:p>
        </p:txBody>
      </p:sp>
      <p:sp>
        <p:nvSpPr>
          <p:cNvPr id="11" name="Shape 9"/>
          <p:cNvSpPr/>
          <p:nvPr/>
        </p:nvSpPr>
        <p:spPr>
          <a:xfrm>
            <a:off x="548640" y="205740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3.819724096706992e+148" dist="1.0913497419162833e+148" dir="9.282982318641485e+173">
              <a:srgbClr val="9DB0CC">
                <a:alpha val="2.2000000000000003e+179"/>
              </a:srgbClr>
            </a:outerShdw>
          </a:effectLst>
        </p:spPr>
      </p:sp>
      <p:sp>
        <p:nvSpPr>
          <p:cNvPr id="12" name="Shape 10"/>
          <p:cNvSpPr/>
          <p:nvPr/>
        </p:nvSpPr>
        <p:spPr>
          <a:xfrm>
            <a:off x="548640" y="2057400"/>
            <a:ext cx="2487168" cy="82296"/>
          </a:xfrm>
          <a:prstGeom prst="rect">
            <a:avLst/>
          </a:prstGeom>
          <a:solidFill>
            <a:srgbClr val="2563EB"/>
          </a:solidFill>
          <a:ln/>
        </p:spPr>
      </p:sp>
      <p:sp>
        <p:nvSpPr>
          <p:cNvPr id="13" name="Shape 11"/>
          <p:cNvSpPr/>
          <p:nvPr/>
        </p:nvSpPr>
        <p:spPr>
          <a:xfrm>
            <a:off x="1536192" y="2258568"/>
            <a:ext cx="512064" cy="512064"/>
          </a:xfrm>
          <a:prstGeom prst="ellipse">
            <a:avLst/>
          </a:prstGeom>
          <a:solidFill>
            <a:srgbClr val="EAF1FE"/>
          </a:solidFill>
          <a:ln/>
        </p:spPr>
      </p:sp>
      <p:sp>
        <p:nvSpPr>
          <p:cNvPr id="14" name="Text 12"/>
          <p:cNvSpPr/>
          <p:nvPr/>
        </p:nvSpPr>
        <p:spPr>
          <a:xfrm>
            <a:off x="1536192" y="2249424"/>
            <a:ext cx="512064" cy="512064"/>
          </a:xfrm>
          <a:prstGeom prst="rect">
            <a:avLst/>
          </a:prstGeom>
          <a:noFill/>
          <a:ln/>
        </p:spPr>
        <p:txBody>
          <a:bodyPr wrap="square" lIns="0" tIns="0" rIns="0" bIns="0" rtlCol="0" anchor="ctr"/>
          <a:lstStyle/>
          <a:p>
            <a:pPr algn="ct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640080" y="284378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Base part cost</a:t>
            </a:r>
            <a:endParaRPr lang="en-US" sz="1200" dirty="0"/>
          </a:p>
        </p:txBody>
      </p:sp>
      <p:sp>
        <p:nvSpPr>
          <p:cNvPr id="16" name="Text 14"/>
          <p:cNvSpPr/>
          <p:nvPr/>
        </p:nvSpPr>
        <p:spPr>
          <a:xfrm>
            <a:off x="658368" y="311810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8-bucket, from CAD or a commodity engine</a:t>
            </a:r>
            <a:endParaRPr lang="en-US" sz="860" dirty="0"/>
          </a:p>
        </p:txBody>
      </p:sp>
      <p:sp>
        <p:nvSpPr>
          <p:cNvPr id="17" name="Shape 15"/>
          <p:cNvSpPr/>
          <p:nvPr/>
        </p:nvSpPr>
        <p:spPr>
          <a:xfrm>
            <a:off x="3063240" y="2743200"/>
            <a:ext cx="265176" cy="0"/>
          </a:xfrm>
          <a:prstGeom prst="line">
            <a:avLst/>
          </a:prstGeom>
          <a:noFill/>
          <a:ln w="22225">
            <a:solidFill>
              <a:srgbClr val="D4DEEC"/>
            </a:solidFill>
            <a:prstDash val="solid"/>
            <a:headEnd type="none"/>
            <a:tailEnd type="triangle"/>
          </a:ln>
        </p:spPr>
      </p:sp>
      <p:sp>
        <p:nvSpPr>
          <p:cNvPr id="18" name="Shape 16"/>
          <p:cNvSpPr/>
          <p:nvPr/>
        </p:nvSpPr>
        <p:spPr>
          <a:xfrm>
            <a:off x="3355848" y="205740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4.85104960281788e+152" dist="1.38601417223368e+152" dir="5.569789391184891e+178">
              <a:srgbClr val="9DB0CC">
                <a:alpha val="2.2000000000000004e+184"/>
              </a:srgbClr>
            </a:outerShdw>
          </a:effectLst>
        </p:spPr>
      </p:sp>
      <p:sp>
        <p:nvSpPr>
          <p:cNvPr id="19" name="Shape 17"/>
          <p:cNvSpPr/>
          <p:nvPr/>
        </p:nvSpPr>
        <p:spPr>
          <a:xfrm>
            <a:off x="3355848" y="2057400"/>
            <a:ext cx="2487168" cy="82296"/>
          </a:xfrm>
          <a:prstGeom prst="rect">
            <a:avLst/>
          </a:prstGeom>
          <a:solidFill>
            <a:srgbClr val="0DA5A0"/>
          </a:solidFill>
          <a:ln/>
        </p:spPr>
      </p:sp>
      <p:sp>
        <p:nvSpPr>
          <p:cNvPr id="20" name="Shape 18"/>
          <p:cNvSpPr/>
          <p:nvPr/>
        </p:nvSpPr>
        <p:spPr>
          <a:xfrm>
            <a:off x="4343400" y="2258568"/>
            <a:ext cx="512064" cy="512064"/>
          </a:xfrm>
          <a:prstGeom prst="ellipse">
            <a:avLst/>
          </a:prstGeom>
          <a:solidFill>
            <a:srgbClr val="E7F7F0"/>
          </a:solidFill>
          <a:ln/>
        </p:spPr>
      </p:sp>
      <p:sp>
        <p:nvSpPr>
          <p:cNvPr id="21" name="Text 19"/>
          <p:cNvSpPr/>
          <p:nvPr/>
        </p:nvSpPr>
        <p:spPr>
          <a:xfrm>
            <a:off x="4343400" y="2249424"/>
            <a:ext cx="512064" cy="512064"/>
          </a:xfrm>
          <a:prstGeom prst="rect">
            <a:avLst/>
          </a:prstGeom>
          <a:noFill/>
          <a:ln/>
        </p:spPr>
        <p:txBody>
          <a:bodyPr wrap="square" lIns="0" tIns="0" rIns="0" bIns="0" rtlCol="0" anchor="ctr"/>
          <a:lstStyle/>
          <a:p>
            <a:pPr algn="ctr" indent="0" marL="0">
              <a:buNone/>
            </a:pPr>
            <a:r>
              <a:rPr lang="en-US" sz="1800" b="1" dirty="0">
                <a:solidFill>
                  <a:srgbClr val="0DA5A0"/>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3447288" y="284378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 Regional rates</a:t>
            </a:r>
            <a:endParaRPr lang="en-US" sz="1200" dirty="0"/>
          </a:p>
        </p:txBody>
      </p:sp>
      <p:sp>
        <p:nvSpPr>
          <p:cNvPr id="23" name="Text 21"/>
          <p:cNvSpPr/>
          <p:nvPr/>
        </p:nvSpPr>
        <p:spPr>
          <a:xfrm>
            <a:off x="3465576" y="311810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labour · energy · material · machine · overhead · FX</a:t>
            </a:r>
            <a:endParaRPr lang="en-US" sz="860" dirty="0"/>
          </a:p>
        </p:txBody>
      </p:sp>
      <p:sp>
        <p:nvSpPr>
          <p:cNvPr id="24" name="Shape 22"/>
          <p:cNvSpPr/>
          <p:nvPr/>
        </p:nvSpPr>
        <p:spPr>
          <a:xfrm>
            <a:off x="5870448" y="2743200"/>
            <a:ext cx="265176" cy="0"/>
          </a:xfrm>
          <a:prstGeom prst="line">
            <a:avLst/>
          </a:prstGeom>
          <a:noFill/>
          <a:ln w="22225">
            <a:solidFill>
              <a:srgbClr val="D4DEEC"/>
            </a:solidFill>
            <a:prstDash val="solid"/>
            <a:headEnd type="none"/>
            <a:tailEnd type="triangle"/>
          </a:ln>
        </p:spPr>
      </p:sp>
      <p:sp>
        <p:nvSpPr>
          <p:cNvPr id="25" name="Shape 23"/>
          <p:cNvSpPr/>
          <p:nvPr/>
        </p:nvSpPr>
        <p:spPr>
          <a:xfrm>
            <a:off x="6163056" y="205740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6.160832995578707e+156" dist="1.7602379987367734e+156" dir="3.3418736347109347e+183">
              <a:srgbClr val="9DB0CC">
                <a:alpha val="2.2000000000000003e+189"/>
              </a:srgbClr>
            </a:outerShdw>
          </a:effectLst>
        </p:spPr>
      </p:sp>
      <p:sp>
        <p:nvSpPr>
          <p:cNvPr id="26" name="Shape 24"/>
          <p:cNvSpPr/>
          <p:nvPr/>
        </p:nvSpPr>
        <p:spPr>
          <a:xfrm>
            <a:off x="6163056" y="2057400"/>
            <a:ext cx="2487168" cy="82296"/>
          </a:xfrm>
          <a:prstGeom prst="rect">
            <a:avLst/>
          </a:prstGeom>
          <a:solidFill>
            <a:srgbClr val="E0900C"/>
          </a:solidFill>
          <a:ln/>
        </p:spPr>
      </p:sp>
      <p:sp>
        <p:nvSpPr>
          <p:cNvPr id="27" name="Shape 25"/>
          <p:cNvSpPr/>
          <p:nvPr/>
        </p:nvSpPr>
        <p:spPr>
          <a:xfrm>
            <a:off x="7150608" y="2258568"/>
            <a:ext cx="512064" cy="512064"/>
          </a:xfrm>
          <a:prstGeom prst="ellipse">
            <a:avLst/>
          </a:prstGeom>
          <a:solidFill>
            <a:srgbClr val="FEF6E7"/>
          </a:solidFill>
          <a:ln/>
        </p:spPr>
      </p:sp>
      <p:sp>
        <p:nvSpPr>
          <p:cNvPr id="28" name="Text 26"/>
          <p:cNvSpPr/>
          <p:nvPr/>
        </p:nvSpPr>
        <p:spPr>
          <a:xfrm>
            <a:off x="7150608" y="2249424"/>
            <a:ext cx="512064" cy="512064"/>
          </a:xfrm>
          <a:prstGeom prst="rect">
            <a:avLst/>
          </a:prstGeom>
          <a:noFill/>
          <a:ln/>
        </p:spPr>
        <p:txBody>
          <a:bodyPr wrap="square" lIns="0" tIns="0" rIns="0" bIns="0" rtlCol="0" anchor="ctr"/>
          <a:lstStyle/>
          <a:p>
            <a:pPr algn="ctr" indent="0" marL="0">
              <a:buNone/>
            </a:pPr>
            <a:r>
              <a:rPr lang="en-US" sz="1800" b="1" dirty="0">
                <a:solidFill>
                  <a:srgbClr val="E0900C"/>
                </a:solidFill>
                <a:latin typeface="Calibri" pitchFamily="34" charset="0"/>
                <a:ea typeface="Calibri" pitchFamily="34" charset="-122"/>
                <a:cs typeface="Calibri" pitchFamily="34" charset="-120"/>
              </a:rPr>
              <a:t>▲</a:t>
            </a:r>
            <a:endParaRPr lang="en-US" sz="1800" dirty="0"/>
          </a:p>
        </p:txBody>
      </p:sp>
      <p:sp>
        <p:nvSpPr>
          <p:cNvPr id="29" name="Text 27"/>
          <p:cNvSpPr/>
          <p:nvPr/>
        </p:nvSpPr>
        <p:spPr>
          <a:xfrm>
            <a:off x="6254496" y="284378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 Landed adders</a:t>
            </a:r>
            <a:endParaRPr lang="en-US" sz="1200" dirty="0"/>
          </a:p>
        </p:txBody>
      </p:sp>
      <p:sp>
        <p:nvSpPr>
          <p:cNvPr id="30" name="Text 28"/>
          <p:cNvSpPr/>
          <p:nvPr/>
        </p:nvSpPr>
        <p:spPr>
          <a:xfrm>
            <a:off x="6272784" y="311810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packaging · logistics · duty · shipping</a:t>
            </a:r>
            <a:endParaRPr lang="en-US" sz="860" dirty="0"/>
          </a:p>
        </p:txBody>
      </p:sp>
      <p:sp>
        <p:nvSpPr>
          <p:cNvPr id="31" name="Shape 29"/>
          <p:cNvSpPr/>
          <p:nvPr/>
        </p:nvSpPr>
        <p:spPr>
          <a:xfrm>
            <a:off x="8677656" y="2743200"/>
            <a:ext cx="265176" cy="0"/>
          </a:xfrm>
          <a:prstGeom prst="line">
            <a:avLst/>
          </a:prstGeom>
          <a:noFill/>
          <a:ln w="22225">
            <a:solidFill>
              <a:srgbClr val="D4DEEC"/>
            </a:solidFill>
            <a:prstDash val="solid"/>
            <a:headEnd type="none"/>
            <a:tailEnd type="triangle"/>
          </a:ln>
        </p:spPr>
      </p:sp>
      <p:sp>
        <p:nvSpPr>
          <p:cNvPr id="32" name="Shape 30"/>
          <p:cNvSpPr/>
          <p:nvPr/>
        </p:nvSpPr>
        <p:spPr>
          <a:xfrm>
            <a:off x="8970264" y="205740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7.824257904384958e+160" dist="2.235502258395702e+160" dir="2.0051241808265608e+188">
              <a:srgbClr val="9DB0CC">
                <a:alpha val="2.2000000000000004e+194"/>
              </a:srgbClr>
            </a:outerShdw>
          </a:effectLst>
        </p:spPr>
      </p:sp>
      <p:sp>
        <p:nvSpPr>
          <p:cNvPr id="33" name="Shape 31"/>
          <p:cNvSpPr/>
          <p:nvPr/>
        </p:nvSpPr>
        <p:spPr>
          <a:xfrm>
            <a:off x="8970264" y="2057400"/>
            <a:ext cx="2487168" cy="82296"/>
          </a:xfrm>
          <a:prstGeom prst="rect">
            <a:avLst/>
          </a:prstGeom>
          <a:solidFill>
            <a:srgbClr val="0EA472"/>
          </a:solidFill>
          <a:ln/>
        </p:spPr>
      </p:sp>
      <p:sp>
        <p:nvSpPr>
          <p:cNvPr id="34" name="Shape 32"/>
          <p:cNvSpPr/>
          <p:nvPr/>
        </p:nvSpPr>
        <p:spPr>
          <a:xfrm>
            <a:off x="9957816" y="2258568"/>
            <a:ext cx="512064" cy="512064"/>
          </a:xfrm>
          <a:prstGeom prst="ellipse">
            <a:avLst/>
          </a:prstGeom>
          <a:solidFill>
            <a:srgbClr val="E7F7F0"/>
          </a:solidFill>
          <a:ln/>
        </p:spPr>
      </p:sp>
      <p:sp>
        <p:nvSpPr>
          <p:cNvPr id="35" name="Text 33"/>
          <p:cNvSpPr/>
          <p:nvPr/>
        </p:nvSpPr>
        <p:spPr>
          <a:xfrm>
            <a:off x="9957816" y="2249424"/>
            <a:ext cx="512064" cy="512064"/>
          </a:xfrm>
          <a:prstGeom prst="rect">
            <a:avLst/>
          </a:prstGeom>
          <a:noFill/>
          <a:ln/>
        </p:spPr>
        <p:txBody>
          <a:bodyPr wrap="square" lIns="0" tIns="0" rIns="0" bIns="0" rtlCol="0" anchor="ctr"/>
          <a:lstStyle/>
          <a:p>
            <a:pPr algn="ctr" indent="0" marL="0">
              <a:buNone/>
            </a:pPr>
            <a:r>
              <a:rPr lang="en-US" sz="1800" b="1" dirty="0">
                <a:solidFill>
                  <a:srgbClr val="0EA472"/>
                </a:solidFill>
                <a:latin typeface="Calibri" pitchFamily="34" charset="0"/>
                <a:ea typeface="Calibri" pitchFamily="34" charset="-122"/>
                <a:cs typeface="Calibri" pitchFamily="34" charset="-120"/>
              </a:rPr>
              <a:t>◈</a:t>
            </a:r>
            <a:endParaRPr lang="en-US" sz="1800" dirty="0"/>
          </a:p>
        </p:txBody>
      </p:sp>
      <p:sp>
        <p:nvSpPr>
          <p:cNvPr id="36" name="Text 34"/>
          <p:cNvSpPr/>
          <p:nvPr/>
        </p:nvSpPr>
        <p:spPr>
          <a:xfrm>
            <a:off x="9061704" y="284378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Region should-cost</a:t>
            </a:r>
            <a:endParaRPr lang="en-US" sz="1200" dirty="0"/>
          </a:p>
        </p:txBody>
      </p:sp>
      <p:sp>
        <p:nvSpPr>
          <p:cNvPr id="37" name="Text 35"/>
          <p:cNvSpPr/>
          <p:nvPr/>
        </p:nvSpPr>
        <p:spPr>
          <a:xfrm>
            <a:off x="9079992" y="311810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ranked, ex-works &amp; landed, per country</a:t>
            </a:r>
            <a:endParaRPr lang="en-US" sz="860" dirty="0"/>
          </a:p>
        </p:txBody>
      </p:sp>
      <p:sp>
        <p:nvSpPr>
          <p:cNvPr id="38" name="Shape 36"/>
          <p:cNvSpPr/>
          <p:nvPr/>
        </p:nvSpPr>
        <p:spPr>
          <a:xfrm>
            <a:off x="548640" y="3749040"/>
            <a:ext cx="5394960" cy="2103120"/>
          </a:xfrm>
          <a:prstGeom prst="roundRect">
            <a:avLst>
              <a:gd name="adj" fmla="val 3043"/>
            </a:avLst>
          </a:prstGeom>
          <a:solidFill>
            <a:srgbClr val="FFFFFF"/>
          </a:solidFill>
          <a:ln w="12700">
            <a:solidFill>
              <a:srgbClr val="E4EAF2"/>
            </a:solidFill>
            <a:prstDash val="solid"/>
          </a:ln>
          <a:effectLst>
            <a:outerShdw sx="100000" sy="100000" kx="0" ky="0" algn="bl" rotWithShape="0" blurRad="9.936807538568897e+164" dist="2.8390878681625417e+164" dir="1.2030745084959364e+193">
              <a:srgbClr val="9DB0CC">
                <a:alpha val="2.2000000000000006e+199"/>
              </a:srgbClr>
            </a:outerShdw>
          </a:effectLst>
        </p:spPr>
      </p:sp>
      <p:sp>
        <p:nvSpPr>
          <p:cNvPr id="39" name="Shape 37"/>
          <p:cNvSpPr/>
          <p:nvPr/>
        </p:nvSpPr>
        <p:spPr>
          <a:xfrm>
            <a:off x="548640" y="3749040"/>
            <a:ext cx="82296" cy="2103120"/>
          </a:xfrm>
          <a:prstGeom prst="rect">
            <a:avLst/>
          </a:prstGeom>
          <a:solidFill>
            <a:srgbClr val="2563EB"/>
          </a:solidFill>
          <a:ln/>
        </p:spPr>
      </p:sp>
      <p:sp>
        <p:nvSpPr>
          <p:cNvPr id="40" name="Text 38"/>
          <p:cNvSpPr/>
          <p:nvPr/>
        </p:nvSpPr>
        <p:spPr>
          <a:xfrm>
            <a:off x="822960" y="3913632"/>
            <a:ext cx="4937760" cy="320040"/>
          </a:xfrm>
          <a:prstGeom prst="rect">
            <a:avLst/>
          </a:prstGeom>
          <a:noFill/>
          <a:ln/>
        </p:spPr>
        <p:txBody>
          <a:bodyPr wrap="square" lIns="0" tIns="0" rIns="0" bIns="0" rtlCol="0" anchor="t"/>
          <a:lstStyle/>
          <a:p>
            <a:pPr indent="0" marL="0">
              <a:buNone/>
            </a:pPr>
            <a:r>
              <a:rPr lang="en-US" sz="1350" b="1" dirty="0">
                <a:solidFill>
                  <a:srgbClr val="2563EB"/>
                </a:solidFill>
                <a:latin typeface="Calibri" pitchFamily="34" charset="0"/>
                <a:ea typeface="Calibri" pitchFamily="34" charset="-122"/>
                <a:cs typeface="Calibri" pitchFamily="34" charset="-120"/>
              </a:rPr>
              <a:t>What we give it</a:t>
            </a:r>
            <a:endParaRPr lang="en-US" sz="1350" dirty="0"/>
          </a:p>
        </p:txBody>
      </p:sp>
      <p:sp>
        <p:nvSpPr>
          <p:cNvPr id="41" name="Shape 39"/>
          <p:cNvSpPr/>
          <p:nvPr/>
        </p:nvSpPr>
        <p:spPr>
          <a:xfrm>
            <a:off x="822960" y="4315968"/>
            <a:ext cx="292608" cy="292608"/>
          </a:xfrm>
          <a:prstGeom prst="ellipse">
            <a:avLst/>
          </a:prstGeom>
          <a:solidFill>
            <a:srgbClr val="EAF1FE"/>
          </a:solidFill>
          <a:ln/>
        </p:spPr>
      </p:sp>
      <p:sp>
        <p:nvSpPr>
          <p:cNvPr id="42" name="Text 40"/>
          <p:cNvSpPr/>
          <p:nvPr/>
        </p:nvSpPr>
        <p:spPr>
          <a:xfrm>
            <a:off x="822960" y="4306824"/>
            <a:ext cx="292608" cy="292608"/>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a:t>
            </a:r>
            <a:endParaRPr lang="en-US" sz="1100" dirty="0"/>
          </a:p>
        </p:txBody>
      </p:sp>
      <p:sp>
        <p:nvSpPr>
          <p:cNvPr id="43" name="Text 41"/>
          <p:cNvSpPr/>
          <p:nvPr/>
        </p:nvSpPr>
        <p:spPr>
          <a:xfrm>
            <a:off x="1207008" y="4315968"/>
            <a:ext cx="4480560" cy="457200"/>
          </a:xfrm>
          <a:prstGeom prst="rect">
            <a:avLst/>
          </a:prstGeom>
          <a:noFill/>
          <a:ln/>
        </p:spPr>
        <p:txBody>
          <a:bodyPr wrap="square" lIns="0" tIns="0" rIns="0" bIns="0" rtlCol="0" anchor="ctr"/>
          <a:lstStyle/>
          <a:p>
            <a:pPr indent="0" marL="0">
              <a:buNone/>
            </a:pPr>
            <a:r>
              <a:rPr lang="en-US" sz="1080" b="1" dirty="0">
                <a:solidFill>
                  <a:srgbClr val="0F1E3D"/>
                </a:solidFill>
                <a:latin typeface="Calibri" pitchFamily="34" charset="0"/>
                <a:ea typeface="Calibri" pitchFamily="34" charset="-122"/>
                <a:cs typeface="Calibri" pitchFamily="34" charset="-120"/>
              </a:rPr>
              <a:t>The part — </a:t>
            </a:r>
            <a:pPr indent="0" marL="0">
              <a:buNone/>
            </a:pPr>
            <a:r>
              <a:rPr lang="en-US" sz="1080" dirty="0">
                <a:solidFill>
                  <a:srgbClr val="3E4C63"/>
                </a:solidFill>
                <a:latin typeface="Calibri" pitchFamily="34" charset="0"/>
                <a:ea typeface="Calibri" pitchFamily="34" charset="-122"/>
                <a:cs typeface="Calibri" pitchFamily="34" charset="-120"/>
              </a:rPr>
              <a:t>once — from a CAD model, a photo, or a commodity form</a:t>
            </a:r>
            <a:endParaRPr lang="en-US" sz="1080" dirty="0"/>
          </a:p>
        </p:txBody>
      </p:sp>
      <p:sp>
        <p:nvSpPr>
          <p:cNvPr id="44" name="Shape 42"/>
          <p:cNvSpPr/>
          <p:nvPr/>
        </p:nvSpPr>
        <p:spPr>
          <a:xfrm>
            <a:off x="822960" y="4818888"/>
            <a:ext cx="292608" cy="292608"/>
          </a:xfrm>
          <a:prstGeom prst="ellipse">
            <a:avLst/>
          </a:prstGeom>
          <a:solidFill>
            <a:srgbClr val="EAF1FE"/>
          </a:solidFill>
          <a:ln/>
        </p:spPr>
      </p:sp>
      <p:sp>
        <p:nvSpPr>
          <p:cNvPr id="45" name="Text 43"/>
          <p:cNvSpPr/>
          <p:nvPr/>
        </p:nvSpPr>
        <p:spPr>
          <a:xfrm>
            <a:off x="822960" y="4809744"/>
            <a:ext cx="292608" cy="292608"/>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a:t>
            </a:r>
            <a:endParaRPr lang="en-US" sz="1100" dirty="0"/>
          </a:p>
        </p:txBody>
      </p:sp>
      <p:sp>
        <p:nvSpPr>
          <p:cNvPr id="46" name="Text 44"/>
          <p:cNvSpPr/>
          <p:nvPr/>
        </p:nvSpPr>
        <p:spPr>
          <a:xfrm>
            <a:off x="1207008" y="4818888"/>
            <a:ext cx="4480560" cy="457200"/>
          </a:xfrm>
          <a:prstGeom prst="rect">
            <a:avLst/>
          </a:prstGeom>
          <a:noFill/>
          <a:ln/>
        </p:spPr>
        <p:txBody>
          <a:bodyPr wrap="square" lIns="0" tIns="0" rIns="0" bIns="0" rtlCol="0" anchor="ctr"/>
          <a:lstStyle/>
          <a:p>
            <a:pPr indent="0" marL="0">
              <a:buNone/>
            </a:pPr>
            <a:r>
              <a:rPr lang="en-US" sz="1080" b="1" dirty="0">
                <a:solidFill>
                  <a:srgbClr val="0F1E3D"/>
                </a:solidFill>
                <a:latin typeface="Calibri" pitchFamily="34" charset="0"/>
                <a:ea typeface="Calibri" pitchFamily="34" charset="-122"/>
                <a:cs typeface="Calibri" pitchFamily="34" charset="-120"/>
              </a:rPr>
              <a:t>The regions — </a:t>
            </a:r>
            <a:pPr indent="0" marL="0">
              <a:buNone/>
            </a:pPr>
            <a:r>
              <a:rPr lang="en-US" sz="1080" dirty="0">
                <a:solidFill>
                  <a:srgbClr val="3E4C63"/>
                </a:solidFill>
                <a:latin typeface="Calibri" pitchFamily="34" charset="0"/>
                <a:ea typeface="Calibri" pitchFamily="34" charset="-122"/>
                <a:cs typeface="Calibri" pitchFamily="34" charset="-120"/>
              </a:rPr>
              <a:t>pick any of the 20, or compare them all</a:t>
            </a:r>
            <a:endParaRPr lang="en-US" sz="1080" dirty="0"/>
          </a:p>
        </p:txBody>
      </p:sp>
      <p:sp>
        <p:nvSpPr>
          <p:cNvPr id="47" name="Shape 45"/>
          <p:cNvSpPr/>
          <p:nvPr/>
        </p:nvSpPr>
        <p:spPr>
          <a:xfrm>
            <a:off x="822960" y="5321808"/>
            <a:ext cx="292608" cy="292608"/>
          </a:xfrm>
          <a:prstGeom prst="ellipse">
            <a:avLst/>
          </a:prstGeom>
          <a:solidFill>
            <a:srgbClr val="EAF1FE"/>
          </a:solidFill>
          <a:ln/>
        </p:spPr>
      </p:sp>
      <p:sp>
        <p:nvSpPr>
          <p:cNvPr id="48" name="Text 46"/>
          <p:cNvSpPr/>
          <p:nvPr/>
        </p:nvSpPr>
        <p:spPr>
          <a:xfrm>
            <a:off x="822960" y="5312664"/>
            <a:ext cx="292608" cy="292608"/>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a:t>
            </a:r>
            <a:endParaRPr lang="en-US" sz="1100" dirty="0"/>
          </a:p>
        </p:txBody>
      </p:sp>
      <p:sp>
        <p:nvSpPr>
          <p:cNvPr id="49" name="Text 47"/>
          <p:cNvSpPr/>
          <p:nvPr/>
        </p:nvSpPr>
        <p:spPr>
          <a:xfrm>
            <a:off x="1207008" y="5321808"/>
            <a:ext cx="4480560" cy="457200"/>
          </a:xfrm>
          <a:prstGeom prst="rect">
            <a:avLst/>
          </a:prstGeom>
          <a:noFill/>
          <a:ln/>
        </p:spPr>
        <p:txBody>
          <a:bodyPr wrap="square" lIns="0" tIns="0" rIns="0" bIns="0" rtlCol="0" anchor="ctr"/>
          <a:lstStyle/>
          <a:p>
            <a:pPr indent="0" marL="0">
              <a:buNone/>
            </a:pPr>
            <a:r>
              <a:rPr lang="en-US" sz="1080" b="1" dirty="0">
                <a:solidFill>
                  <a:srgbClr val="0F1E3D"/>
                </a:solidFill>
                <a:latin typeface="Calibri" pitchFamily="34" charset="0"/>
                <a:ea typeface="Calibri" pitchFamily="34" charset="-122"/>
                <a:cs typeface="Calibri" pitchFamily="34" charset="-120"/>
              </a:rPr>
              <a:t>Volume &amp; Incoterm — </a:t>
            </a:r>
            <a:pPr indent="0" marL="0">
              <a:buNone/>
            </a:pPr>
            <a:r>
              <a:rPr lang="en-US" sz="1080" dirty="0">
                <a:solidFill>
                  <a:srgbClr val="3E4C63"/>
                </a:solidFill>
                <a:latin typeface="Calibri" pitchFamily="34" charset="0"/>
                <a:ea typeface="Calibri" pitchFamily="34" charset="-122"/>
                <a:cs typeface="Calibri" pitchFamily="34" charset="-120"/>
              </a:rPr>
              <a:t>drives volume curve and landed vs ex-works</a:t>
            </a:r>
            <a:endParaRPr lang="en-US" sz="1080" dirty="0"/>
          </a:p>
        </p:txBody>
      </p:sp>
      <p:sp>
        <p:nvSpPr>
          <p:cNvPr id="50" name="Shape 48"/>
          <p:cNvSpPr/>
          <p:nvPr/>
        </p:nvSpPr>
        <p:spPr>
          <a:xfrm>
            <a:off x="6245352" y="3749040"/>
            <a:ext cx="5394960" cy="2103120"/>
          </a:xfrm>
          <a:prstGeom prst="roundRect">
            <a:avLst>
              <a:gd name="adj" fmla="val 3043"/>
            </a:avLst>
          </a:prstGeom>
          <a:solidFill>
            <a:srgbClr val="E7F7F0"/>
          </a:solidFill>
          <a:ln w="12700">
            <a:solidFill>
              <a:srgbClr val="E4EAF2"/>
            </a:solidFill>
            <a:prstDash val="solid"/>
          </a:ln>
        </p:spPr>
      </p:sp>
      <p:sp>
        <p:nvSpPr>
          <p:cNvPr id="51" name="Shape 49"/>
          <p:cNvSpPr/>
          <p:nvPr/>
        </p:nvSpPr>
        <p:spPr>
          <a:xfrm>
            <a:off x="6245352" y="3749040"/>
            <a:ext cx="82296" cy="2103120"/>
          </a:xfrm>
          <a:prstGeom prst="rect">
            <a:avLst/>
          </a:prstGeom>
          <a:solidFill>
            <a:srgbClr val="0DA5A0"/>
          </a:solidFill>
          <a:ln/>
        </p:spPr>
      </p:sp>
      <p:sp>
        <p:nvSpPr>
          <p:cNvPr id="52" name="Text 50"/>
          <p:cNvSpPr/>
          <p:nvPr/>
        </p:nvSpPr>
        <p:spPr>
          <a:xfrm>
            <a:off x="6519672" y="3913632"/>
            <a:ext cx="4937760" cy="320040"/>
          </a:xfrm>
          <a:prstGeom prst="rect">
            <a:avLst/>
          </a:prstGeom>
          <a:noFill/>
          <a:ln/>
        </p:spPr>
        <p:txBody>
          <a:bodyPr wrap="square" lIns="0" tIns="0" rIns="0" bIns="0" rtlCol="0" anchor="t"/>
          <a:lstStyle/>
          <a:p>
            <a:pPr indent="0" marL="0">
              <a:buNone/>
            </a:pPr>
            <a:r>
              <a:rPr lang="en-US" sz="1350" b="1" dirty="0">
                <a:solidFill>
                  <a:srgbClr val="0DA5A0"/>
                </a:solidFill>
                <a:latin typeface="Calibri" pitchFamily="34" charset="0"/>
                <a:ea typeface="Calibri" pitchFamily="34" charset="-122"/>
                <a:cs typeface="Calibri" pitchFamily="34" charset="-120"/>
              </a:rPr>
              <a:t>What is factored in, per region</a:t>
            </a:r>
            <a:endParaRPr lang="en-US" sz="1350" dirty="0"/>
          </a:p>
        </p:txBody>
      </p:sp>
      <p:sp>
        <p:nvSpPr>
          <p:cNvPr id="53" name="Shape 51"/>
          <p:cNvSpPr/>
          <p:nvPr/>
        </p:nvSpPr>
        <p:spPr>
          <a:xfrm>
            <a:off x="6519672" y="4370832"/>
            <a:ext cx="91440" cy="91440"/>
          </a:xfrm>
          <a:prstGeom prst="ellipse">
            <a:avLst/>
          </a:prstGeom>
          <a:solidFill>
            <a:srgbClr val="0DA5A0"/>
          </a:solidFill>
          <a:ln/>
        </p:spPr>
      </p:sp>
      <p:sp>
        <p:nvSpPr>
          <p:cNvPr id="54" name="Text 52"/>
          <p:cNvSpPr/>
          <p:nvPr/>
        </p:nvSpPr>
        <p:spPr>
          <a:xfrm>
            <a:off x="6702552" y="4315968"/>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Labour by trade (£/hr)</a:t>
            </a:r>
            <a:endParaRPr lang="en-US" sz="1000" dirty="0"/>
          </a:p>
        </p:txBody>
      </p:sp>
      <p:sp>
        <p:nvSpPr>
          <p:cNvPr id="55" name="Shape 53"/>
          <p:cNvSpPr/>
          <p:nvPr/>
        </p:nvSpPr>
        <p:spPr>
          <a:xfrm>
            <a:off x="9125712" y="4370832"/>
            <a:ext cx="91440" cy="91440"/>
          </a:xfrm>
          <a:prstGeom prst="ellipse">
            <a:avLst/>
          </a:prstGeom>
          <a:solidFill>
            <a:srgbClr val="0DA5A0"/>
          </a:solidFill>
          <a:ln/>
        </p:spPr>
      </p:sp>
      <p:sp>
        <p:nvSpPr>
          <p:cNvPr id="56" name="Text 54"/>
          <p:cNvSpPr/>
          <p:nvPr/>
        </p:nvSpPr>
        <p:spPr>
          <a:xfrm>
            <a:off x="9308592" y="4315968"/>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Energy — elec &amp; gas (£/kWh)</a:t>
            </a:r>
            <a:endParaRPr lang="en-US" sz="1000" dirty="0"/>
          </a:p>
        </p:txBody>
      </p:sp>
      <p:sp>
        <p:nvSpPr>
          <p:cNvPr id="57" name="Shape 55"/>
          <p:cNvSpPr/>
          <p:nvPr/>
        </p:nvSpPr>
        <p:spPr>
          <a:xfrm>
            <a:off x="6519672" y="4754880"/>
            <a:ext cx="91440" cy="91440"/>
          </a:xfrm>
          <a:prstGeom prst="ellipse">
            <a:avLst/>
          </a:prstGeom>
          <a:solidFill>
            <a:srgbClr val="0DA5A0"/>
          </a:solidFill>
          <a:ln/>
        </p:spPr>
      </p:sp>
      <p:sp>
        <p:nvSpPr>
          <p:cNvPr id="58" name="Text 56"/>
          <p:cNvSpPr/>
          <p:nvPr/>
        </p:nvSpPr>
        <p:spPr>
          <a:xfrm>
            <a:off x="6702552" y="4700016"/>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Material factors (resin &amp; metal)</a:t>
            </a:r>
            <a:endParaRPr lang="en-US" sz="1000" dirty="0"/>
          </a:p>
        </p:txBody>
      </p:sp>
      <p:sp>
        <p:nvSpPr>
          <p:cNvPr id="59" name="Shape 57"/>
          <p:cNvSpPr/>
          <p:nvPr/>
        </p:nvSpPr>
        <p:spPr>
          <a:xfrm>
            <a:off x="9125712" y="4754880"/>
            <a:ext cx="91440" cy="91440"/>
          </a:xfrm>
          <a:prstGeom prst="ellipse">
            <a:avLst/>
          </a:prstGeom>
          <a:solidFill>
            <a:srgbClr val="0DA5A0"/>
          </a:solidFill>
          <a:ln/>
        </p:spPr>
      </p:sp>
      <p:sp>
        <p:nvSpPr>
          <p:cNvPr id="60" name="Text 58"/>
          <p:cNvSpPr/>
          <p:nvPr/>
        </p:nvSpPr>
        <p:spPr>
          <a:xfrm>
            <a:off x="9308592" y="4700016"/>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Machine-rate multiplier</a:t>
            </a:r>
            <a:endParaRPr lang="en-US" sz="1000" dirty="0"/>
          </a:p>
        </p:txBody>
      </p:sp>
      <p:sp>
        <p:nvSpPr>
          <p:cNvPr id="61" name="Shape 59"/>
          <p:cNvSpPr/>
          <p:nvPr/>
        </p:nvSpPr>
        <p:spPr>
          <a:xfrm>
            <a:off x="6519672" y="5138928"/>
            <a:ext cx="91440" cy="91440"/>
          </a:xfrm>
          <a:prstGeom prst="ellipse">
            <a:avLst/>
          </a:prstGeom>
          <a:solidFill>
            <a:srgbClr val="0DA5A0"/>
          </a:solidFill>
          <a:ln/>
        </p:spPr>
      </p:sp>
      <p:sp>
        <p:nvSpPr>
          <p:cNvPr id="62" name="Text 60"/>
          <p:cNvSpPr/>
          <p:nvPr/>
        </p:nvSpPr>
        <p:spPr>
          <a:xfrm>
            <a:off x="6702552" y="5084064"/>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Overhead multiplier</a:t>
            </a:r>
            <a:endParaRPr lang="en-US" sz="1000" dirty="0"/>
          </a:p>
        </p:txBody>
      </p:sp>
      <p:sp>
        <p:nvSpPr>
          <p:cNvPr id="63" name="Shape 61"/>
          <p:cNvSpPr/>
          <p:nvPr/>
        </p:nvSpPr>
        <p:spPr>
          <a:xfrm>
            <a:off x="9125712" y="5138928"/>
            <a:ext cx="91440" cy="91440"/>
          </a:xfrm>
          <a:prstGeom prst="ellipse">
            <a:avLst/>
          </a:prstGeom>
          <a:solidFill>
            <a:srgbClr val="0DA5A0"/>
          </a:solidFill>
          <a:ln/>
        </p:spPr>
      </p:sp>
      <p:sp>
        <p:nvSpPr>
          <p:cNvPr id="64" name="Text 62"/>
          <p:cNvSpPr/>
          <p:nvPr/>
        </p:nvSpPr>
        <p:spPr>
          <a:xfrm>
            <a:off x="9308592" y="5084064"/>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Packaging &amp; logistics</a:t>
            </a:r>
            <a:endParaRPr lang="en-US" sz="1000" dirty="0"/>
          </a:p>
        </p:txBody>
      </p:sp>
      <p:sp>
        <p:nvSpPr>
          <p:cNvPr id="65" name="Shape 63"/>
          <p:cNvSpPr/>
          <p:nvPr/>
        </p:nvSpPr>
        <p:spPr>
          <a:xfrm>
            <a:off x="6519672" y="5522976"/>
            <a:ext cx="91440" cy="91440"/>
          </a:xfrm>
          <a:prstGeom prst="ellipse">
            <a:avLst/>
          </a:prstGeom>
          <a:solidFill>
            <a:srgbClr val="0DA5A0"/>
          </a:solidFill>
          <a:ln/>
        </p:spPr>
      </p:sp>
      <p:sp>
        <p:nvSpPr>
          <p:cNvPr id="66" name="Text 64"/>
          <p:cNvSpPr/>
          <p:nvPr/>
        </p:nvSpPr>
        <p:spPr>
          <a:xfrm>
            <a:off x="6702552" y="5468112"/>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FX to GBP</a:t>
            </a:r>
            <a:endParaRPr lang="en-US" sz="1000" dirty="0"/>
          </a:p>
        </p:txBody>
      </p:sp>
      <p:sp>
        <p:nvSpPr>
          <p:cNvPr id="67" name="Shape 65"/>
          <p:cNvSpPr/>
          <p:nvPr/>
        </p:nvSpPr>
        <p:spPr>
          <a:xfrm>
            <a:off x="9125712" y="5522976"/>
            <a:ext cx="91440" cy="91440"/>
          </a:xfrm>
          <a:prstGeom prst="ellipse">
            <a:avLst/>
          </a:prstGeom>
          <a:solidFill>
            <a:srgbClr val="0DA5A0"/>
          </a:solidFill>
          <a:ln/>
        </p:spPr>
      </p:sp>
      <p:sp>
        <p:nvSpPr>
          <p:cNvPr id="68" name="Text 66"/>
          <p:cNvSpPr/>
          <p:nvPr/>
        </p:nvSpPr>
        <p:spPr>
          <a:xfrm>
            <a:off x="9308592" y="5468112"/>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Duty &amp; shipping adders</a:t>
            </a:r>
            <a:endParaRPr lang="en-US" sz="1000" dirty="0"/>
          </a:p>
        </p:txBody>
      </p:sp>
      <p:sp>
        <p:nvSpPr>
          <p:cNvPr id="69" name="Shape 67"/>
          <p:cNvSpPr/>
          <p:nvPr/>
        </p:nvSpPr>
        <p:spPr>
          <a:xfrm>
            <a:off x="548640" y="6400800"/>
            <a:ext cx="11094415" cy="12802"/>
          </a:xfrm>
          <a:prstGeom prst="rect">
            <a:avLst/>
          </a:prstGeom>
          <a:solidFill>
            <a:srgbClr val="E4EAF2"/>
          </a:solidFill>
          <a:ln/>
        </p:spPr>
      </p:sp>
      <p:sp>
        <p:nvSpPr>
          <p:cNvPr id="70" name="Text 68"/>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71" name="Text 69"/>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17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E0900C"/>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E0900C"/>
                </a:solidFill>
                <a:latin typeface="Calibri" pitchFamily="34" charset="0"/>
                <a:ea typeface="Calibri" pitchFamily="34" charset="-122"/>
                <a:cs typeface="Calibri" pitchFamily="34" charset="-120"/>
              </a:rPr>
              <a:t>DEEP DIVE · SHOULD-COST MODEL</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The actual rates — full transparency, no black box</a:t>
            </a:r>
            <a:endParaRPr lang="en-US" sz="2400" dirty="0"/>
          </a:p>
        </p:txBody>
      </p:sp>
      <p:sp>
        <p:nvSpPr>
          <p:cNvPr id="9" name="Shape 7"/>
          <p:cNvSpPr/>
          <p:nvPr/>
        </p:nvSpPr>
        <p:spPr>
          <a:xfrm>
            <a:off x="548640" y="1371600"/>
            <a:ext cx="1051560" cy="45720"/>
          </a:xfrm>
          <a:prstGeom prst="rect">
            <a:avLst/>
          </a:prstGeom>
          <a:solidFill>
            <a:srgbClr val="E0900C"/>
          </a:solidFill>
          <a:ln/>
        </p:spPr>
      </p:sp>
      <p:sp>
        <p:nvSpPr>
          <p:cNvPr id="10" name="Text 8"/>
          <p:cNvSpPr/>
          <p:nvPr/>
        </p:nvSpPr>
        <p:spPr>
          <a:xfrm>
            <a:off x="548640" y="1536192"/>
            <a:ext cx="11064240" cy="365760"/>
          </a:xfrm>
          <a:prstGeom prst="rect">
            <a:avLst/>
          </a:prstGeom>
          <a:noFill/>
          <a:ln/>
        </p:spPr>
        <p:txBody>
          <a:bodyPr wrap="square" lIns="0" tIns="0" rIns="0" bIns="0" rtlCol="0" anchor="t"/>
          <a:lstStyle/>
          <a:p>
            <a:pPr indent="0" marL="0">
              <a:buNone/>
            </a:pPr>
            <a:r>
              <a:rPr lang="en-US" sz="1200" dirty="0">
                <a:solidFill>
                  <a:srgbClr val="3E4C63"/>
                </a:solidFill>
                <a:latin typeface="Calibri" pitchFamily="34" charset="0"/>
                <a:ea typeface="Calibri" pitchFamily="34" charset="-122"/>
                <a:cs typeface="Calibri" pitchFamily="34" charset="-120"/>
              </a:rPr>
              <a:t>These are the real 2026-Q2 rates every costing uses — labour, energy and the regional multipliers. Nothing is hidden or hand-waved.</a:t>
            </a:r>
            <a:endParaRPr lang="en-US" sz="1200" dirty="0"/>
          </a:p>
        </p:txBody>
      </p:sp>
      <p:sp>
        <p:nvSpPr>
          <p:cNvPr id="11" name="Shape 9"/>
          <p:cNvSpPr/>
          <p:nvPr/>
        </p:nvSpPr>
        <p:spPr>
          <a:xfrm>
            <a:off x="548640" y="1965960"/>
            <a:ext cx="11091672" cy="329184"/>
          </a:xfrm>
          <a:prstGeom prst="roundRect">
            <a:avLst>
              <a:gd name="adj" fmla="val 11111"/>
            </a:avLst>
          </a:prstGeom>
          <a:solidFill>
            <a:srgbClr val="0F1E3D"/>
          </a:solidFill>
          <a:ln/>
        </p:spPr>
      </p:sp>
      <p:sp>
        <p:nvSpPr>
          <p:cNvPr id="12" name="Text 10"/>
          <p:cNvSpPr/>
          <p:nvPr/>
        </p:nvSpPr>
        <p:spPr>
          <a:xfrm>
            <a:off x="658368" y="1965960"/>
            <a:ext cx="2011680" cy="329184"/>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Region</a:t>
            </a:r>
            <a:endParaRPr lang="en-US" sz="950" dirty="0"/>
          </a:p>
        </p:txBody>
      </p:sp>
      <p:sp>
        <p:nvSpPr>
          <p:cNvPr id="13" name="Text 11"/>
          <p:cNvSpPr/>
          <p:nvPr/>
        </p:nvSpPr>
        <p:spPr>
          <a:xfrm>
            <a:off x="2807208" y="1965960"/>
            <a:ext cx="14630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Skilled £/hr</a:t>
            </a:r>
            <a:endParaRPr lang="en-US" sz="950" dirty="0"/>
          </a:p>
        </p:txBody>
      </p:sp>
      <p:sp>
        <p:nvSpPr>
          <p:cNvPr id="14" name="Text 12"/>
          <p:cNvSpPr/>
          <p:nvPr/>
        </p:nvSpPr>
        <p:spPr>
          <a:xfrm>
            <a:off x="4407408" y="1965960"/>
            <a:ext cx="141732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Foundry £/hr</a:t>
            </a:r>
            <a:endParaRPr lang="en-US" sz="950" dirty="0"/>
          </a:p>
        </p:txBody>
      </p:sp>
      <p:sp>
        <p:nvSpPr>
          <p:cNvPr id="15" name="Text 13"/>
          <p:cNvSpPr/>
          <p:nvPr/>
        </p:nvSpPr>
        <p:spPr>
          <a:xfrm>
            <a:off x="5961888" y="1965960"/>
            <a:ext cx="128016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Elec £/kWh</a:t>
            </a:r>
            <a:endParaRPr lang="en-US" sz="950" dirty="0"/>
          </a:p>
        </p:txBody>
      </p:sp>
      <p:sp>
        <p:nvSpPr>
          <p:cNvPr id="16" name="Text 14"/>
          <p:cNvSpPr/>
          <p:nvPr/>
        </p:nvSpPr>
        <p:spPr>
          <a:xfrm>
            <a:off x="7379208" y="1965960"/>
            <a:ext cx="12344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Machine ×</a:t>
            </a:r>
            <a:endParaRPr lang="en-US" sz="950" dirty="0"/>
          </a:p>
        </p:txBody>
      </p:sp>
      <p:sp>
        <p:nvSpPr>
          <p:cNvPr id="17" name="Text 15"/>
          <p:cNvSpPr/>
          <p:nvPr/>
        </p:nvSpPr>
        <p:spPr>
          <a:xfrm>
            <a:off x="8750808" y="1965960"/>
            <a:ext cx="132588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Overhead ×</a:t>
            </a:r>
            <a:endParaRPr lang="en-US" sz="950" dirty="0"/>
          </a:p>
        </p:txBody>
      </p:sp>
      <p:sp>
        <p:nvSpPr>
          <p:cNvPr id="18" name="Text 16"/>
          <p:cNvSpPr/>
          <p:nvPr/>
        </p:nvSpPr>
        <p:spPr>
          <a:xfrm>
            <a:off x="10213848" y="1965960"/>
            <a:ext cx="134416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Logistics ×</a:t>
            </a:r>
            <a:endParaRPr lang="en-US" sz="950" dirty="0"/>
          </a:p>
        </p:txBody>
      </p:sp>
      <p:sp>
        <p:nvSpPr>
          <p:cNvPr id="19" name="Shape 17"/>
          <p:cNvSpPr/>
          <p:nvPr/>
        </p:nvSpPr>
        <p:spPr>
          <a:xfrm>
            <a:off x="548640" y="2295144"/>
            <a:ext cx="11091672" cy="329184"/>
          </a:xfrm>
          <a:prstGeom prst="rect">
            <a:avLst/>
          </a:prstGeom>
          <a:solidFill>
            <a:srgbClr val="F4F7FB"/>
          </a:solidFill>
          <a:ln/>
        </p:spPr>
      </p:sp>
      <p:sp>
        <p:nvSpPr>
          <p:cNvPr id="20" name="Text 18"/>
          <p:cNvSpPr/>
          <p:nvPr/>
        </p:nvSpPr>
        <p:spPr>
          <a:xfrm>
            <a:off x="658368" y="2295144"/>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United Kingdom</a:t>
            </a:r>
            <a:endParaRPr lang="en-US" sz="930" dirty="0"/>
          </a:p>
        </p:txBody>
      </p:sp>
      <p:sp>
        <p:nvSpPr>
          <p:cNvPr id="21" name="Text 19"/>
          <p:cNvSpPr/>
          <p:nvPr/>
        </p:nvSpPr>
        <p:spPr>
          <a:xfrm>
            <a:off x="2807208" y="2295144"/>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26.00</a:t>
            </a:r>
            <a:endParaRPr lang="en-US" sz="930" dirty="0"/>
          </a:p>
        </p:txBody>
      </p:sp>
      <p:sp>
        <p:nvSpPr>
          <p:cNvPr id="22" name="Text 20"/>
          <p:cNvSpPr/>
          <p:nvPr/>
        </p:nvSpPr>
        <p:spPr>
          <a:xfrm>
            <a:off x="4407408" y="2295144"/>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18.50</a:t>
            </a:r>
            <a:endParaRPr lang="en-US" sz="930" dirty="0"/>
          </a:p>
        </p:txBody>
      </p:sp>
      <p:sp>
        <p:nvSpPr>
          <p:cNvPr id="23" name="Text 21"/>
          <p:cNvSpPr/>
          <p:nvPr/>
        </p:nvSpPr>
        <p:spPr>
          <a:xfrm>
            <a:off x="5961888" y="2295144"/>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0.23</a:t>
            </a:r>
            <a:endParaRPr lang="en-US" sz="930" dirty="0"/>
          </a:p>
        </p:txBody>
      </p:sp>
      <p:sp>
        <p:nvSpPr>
          <p:cNvPr id="24" name="Text 22"/>
          <p:cNvSpPr/>
          <p:nvPr/>
        </p:nvSpPr>
        <p:spPr>
          <a:xfrm>
            <a:off x="7379208" y="2295144"/>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1.00</a:t>
            </a:r>
            <a:endParaRPr lang="en-US" sz="930" dirty="0"/>
          </a:p>
        </p:txBody>
      </p:sp>
      <p:sp>
        <p:nvSpPr>
          <p:cNvPr id="25" name="Text 23"/>
          <p:cNvSpPr/>
          <p:nvPr/>
        </p:nvSpPr>
        <p:spPr>
          <a:xfrm>
            <a:off x="8750808" y="2295144"/>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1.00</a:t>
            </a:r>
            <a:endParaRPr lang="en-US" sz="930" dirty="0"/>
          </a:p>
        </p:txBody>
      </p:sp>
      <p:sp>
        <p:nvSpPr>
          <p:cNvPr id="26" name="Text 24"/>
          <p:cNvSpPr/>
          <p:nvPr/>
        </p:nvSpPr>
        <p:spPr>
          <a:xfrm>
            <a:off x="10213848" y="2295144"/>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1.00</a:t>
            </a:r>
            <a:endParaRPr lang="en-US" sz="930" dirty="0"/>
          </a:p>
        </p:txBody>
      </p:sp>
      <p:sp>
        <p:nvSpPr>
          <p:cNvPr id="27" name="Shape 25"/>
          <p:cNvSpPr/>
          <p:nvPr/>
        </p:nvSpPr>
        <p:spPr>
          <a:xfrm>
            <a:off x="548640" y="2624328"/>
            <a:ext cx="11091672" cy="329184"/>
          </a:xfrm>
          <a:prstGeom prst="rect">
            <a:avLst/>
          </a:prstGeom>
          <a:solidFill>
            <a:srgbClr val="FFFFFF"/>
          </a:solidFill>
          <a:ln/>
        </p:spPr>
      </p:sp>
      <p:sp>
        <p:nvSpPr>
          <p:cNvPr id="28" name="Text 26"/>
          <p:cNvSpPr/>
          <p:nvPr/>
        </p:nvSpPr>
        <p:spPr>
          <a:xfrm>
            <a:off x="658368" y="2624328"/>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Germany</a:t>
            </a:r>
            <a:endParaRPr lang="en-US" sz="930" dirty="0"/>
          </a:p>
        </p:txBody>
      </p:sp>
      <p:sp>
        <p:nvSpPr>
          <p:cNvPr id="29" name="Text 27"/>
          <p:cNvSpPr/>
          <p:nvPr/>
        </p:nvSpPr>
        <p:spPr>
          <a:xfrm>
            <a:off x="2807208" y="2624328"/>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40.50</a:t>
            </a:r>
            <a:endParaRPr lang="en-US" sz="930" dirty="0"/>
          </a:p>
        </p:txBody>
      </p:sp>
      <p:sp>
        <p:nvSpPr>
          <p:cNvPr id="30" name="Text 28"/>
          <p:cNvSpPr/>
          <p:nvPr/>
        </p:nvSpPr>
        <p:spPr>
          <a:xfrm>
            <a:off x="4407408" y="2624328"/>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28.00</a:t>
            </a:r>
            <a:endParaRPr lang="en-US" sz="930" dirty="0"/>
          </a:p>
        </p:txBody>
      </p:sp>
      <p:sp>
        <p:nvSpPr>
          <p:cNvPr id="31" name="Text 29"/>
          <p:cNvSpPr/>
          <p:nvPr/>
        </p:nvSpPr>
        <p:spPr>
          <a:xfrm>
            <a:off x="5961888" y="2624328"/>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0.20</a:t>
            </a:r>
            <a:endParaRPr lang="en-US" sz="930" dirty="0"/>
          </a:p>
        </p:txBody>
      </p:sp>
      <p:sp>
        <p:nvSpPr>
          <p:cNvPr id="32" name="Text 30"/>
          <p:cNvSpPr/>
          <p:nvPr/>
        </p:nvSpPr>
        <p:spPr>
          <a:xfrm>
            <a:off x="7379208" y="2624328"/>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1.05</a:t>
            </a:r>
            <a:endParaRPr lang="en-US" sz="930" dirty="0"/>
          </a:p>
        </p:txBody>
      </p:sp>
      <p:sp>
        <p:nvSpPr>
          <p:cNvPr id="33" name="Text 31"/>
          <p:cNvSpPr/>
          <p:nvPr/>
        </p:nvSpPr>
        <p:spPr>
          <a:xfrm>
            <a:off x="8750808" y="2624328"/>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1.10</a:t>
            </a:r>
            <a:endParaRPr lang="en-US" sz="930" dirty="0"/>
          </a:p>
        </p:txBody>
      </p:sp>
      <p:sp>
        <p:nvSpPr>
          <p:cNvPr id="34" name="Text 32"/>
          <p:cNvSpPr/>
          <p:nvPr/>
        </p:nvSpPr>
        <p:spPr>
          <a:xfrm>
            <a:off x="10213848" y="2624328"/>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1.15</a:t>
            </a:r>
            <a:endParaRPr lang="en-US" sz="930" dirty="0"/>
          </a:p>
        </p:txBody>
      </p:sp>
      <p:sp>
        <p:nvSpPr>
          <p:cNvPr id="35" name="Shape 33"/>
          <p:cNvSpPr/>
          <p:nvPr/>
        </p:nvSpPr>
        <p:spPr>
          <a:xfrm>
            <a:off x="548640" y="2953512"/>
            <a:ext cx="11091672" cy="329184"/>
          </a:xfrm>
          <a:prstGeom prst="rect">
            <a:avLst/>
          </a:prstGeom>
          <a:solidFill>
            <a:srgbClr val="F4F7FB"/>
          </a:solidFill>
          <a:ln/>
        </p:spPr>
      </p:sp>
      <p:sp>
        <p:nvSpPr>
          <p:cNvPr id="36" name="Text 34"/>
          <p:cNvSpPr/>
          <p:nvPr/>
        </p:nvSpPr>
        <p:spPr>
          <a:xfrm>
            <a:off x="658368" y="2953512"/>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United States</a:t>
            </a:r>
            <a:endParaRPr lang="en-US" sz="930" dirty="0"/>
          </a:p>
        </p:txBody>
      </p:sp>
      <p:sp>
        <p:nvSpPr>
          <p:cNvPr id="37" name="Text 35"/>
          <p:cNvSpPr/>
          <p:nvPr/>
        </p:nvSpPr>
        <p:spPr>
          <a:xfrm>
            <a:off x="2807208" y="2953512"/>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34.00</a:t>
            </a:r>
            <a:endParaRPr lang="en-US" sz="930" dirty="0"/>
          </a:p>
        </p:txBody>
      </p:sp>
      <p:sp>
        <p:nvSpPr>
          <p:cNvPr id="38" name="Text 36"/>
          <p:cNvSpPr/>
          <p:nvPr/>
        </p:nvSpPr>
        <p:spPr>
          <a:xfrm>
            <a:off x="4407408" y="2953512"/>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24.00</a:t>
            </a:r>
            <a:endParaRPr lang="en-US" sz="930" dirty="0"/>
          </a:p>
        </p:txBody>
      </p:sp>
      <p:sp>
        <p:nvSpPr>
          <p:cNvPr id="39" name="Text 37"/>
          <p:cNvSpPr/>
          <p:nvPr/>
        </p:nvSpPr>
        <p:spPr>
          <a:xfrm>
            <a:off x="5961888" y="2953512"/>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0.10</a:t>
            </a:r>
            <a:endParaRPr lang="en-US" sz="930" dirty="0"/>
          </a:p>
        </p:txBody>
      </p:sp>
      <p:sp>
        <p:nvSpPr>
          <p:cNvPr id="40" name="Text 38"/>
          <p:cNvSpPr/>
          <p:nvPr/>
        </p:nvSpPr>
        <p:spPr>
          <a:xfrm>
            <a:off x="7379208" y="2953512"/>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0.85</a:t>
            </a:r>
            <a:endParaRPr lang="en-US" sz="930" dirty="0"/>
          </a:p>
        </p:txBody>
      </p:sp>
      <p:sp>
        <p:nvSpPr>
          <p:cNvPr id="41" name="Text 39"/>
          <p:cNvSpPr/>
          <p:nvPr/>
        </p:nvSpPr>
        <p:spPr>
          <a:xfrm>
            <a:off x="8750808" y="2953512"/>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0.95</a:t>
            </a:r>
            <a:endParaRPr lang="en-US" sz="930" dirty="0"/>
          </a:p>
        </p:txBody>
      </p:sp>
      <p:sp>
        <p:nvSpPr>
          <p:cNvPr id="42" name="Text 40"/>
          <p:cNvSpPr/>
          <p:nvPr/>
        </p:nvSpPr>
        <p:spPr>
          <a:xfrm>
            <a:off x="10213848" y="2953512"/>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1.25</a:t>
            </a:r>
            <a:endParaRPr lang="en-US" sz="930" dirty="0"/>
          </a:p>
        </p:txBody>
      </p:sp>
      <p:sp>
        <p:nvSpPr>
          <p:cNvPr id="43" name="Shape 41"/>
          <p:cNvSpPr/>
          <p:nvPr/>
        </p:nvSpPr>
        <p:spPr>
          <a:xfrm>
            <a:off x="548640" y="3282696"/>
            <a:ext cx="11091672" cy="329184"/>
          </a:xfrm>
          <a:prstGeom prst="rect">
            <a:avLst/>
          </a:prstGeom>
          <a:solidFill>
            <a:srgbClr val="FFFFFF"/>
          </a:solidFill>
          <a:ln/>
        </p:spPr>
      </p:sp>
      <p:sp>
        <p:nvSpPr>
          <p:cNvPr id="44" name="Text 42"/>
          <p:cNvSpPr/>
          <p:nvPr/>
        </p:nvSpPr>
        <p:spPr>
          <a:xfrm>
            <a:off x="658368" y="3282696"/>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Poland</a:t>
            </a:r>
            <a:endParaRPr lang="en-US" sz="930" dirty="0"/>
          </a:p>
        </p:txBody>
      </p:sp>
      <p:sp>
        <p:nvSpPr>
          <p:cNvPr id="45" name="Text 43"/>
          <p:cNvSpPr/>
          <p:nvPr/>
        </p:nvSpPr>
        <p:spPr>
          <a:xfrm>
            <a:off x="2807208" y="3282696"/>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12.00</a:t>
            </a:r>
            <a:endParaRPr lang="en-US" sz="930" dirty="0"/>
          </a:p>
        </p:txBody>
      </p:sp>
      <p:sp>
        <p:nvSpPr>
          <p:cNvPr id="46" name="Text 44"/>
          <p:cNvSpPr/>
          <p:nvPr/>
        </p:nvSpPr>
        <p:spPr>
          <a:xfrm>
            <a:off x="4407408" y="3282696"/>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8.00</a:t>
            </a:r>
            <a:endParaRPr lang="en-US" sz="930" dirty="0"/>
          </a:p>
        </p:txBody>
      </p:sp>
      <p:sp>
        <p:nvSpPr>
          <p:cNvPr id="47" name="Text 45"/>
          <p:cNvSpPr/>
          <p:nvPr/>
        </p:nvSpPr>
        <p:spPr>
          <a:xfrm>
            <a:off x="5961888" y="3282696"/>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0.14</a:t>
            </a:r>
            <a:endParaRPr lang="en-US" sz="930" dirty="0"/>
          </a:p>
        </p:txBody>
      </p:sp>
      <p:sp>
        <p:nvSpPr>
          <p:cNvPr id="48" name="Text 46"/>
          <p:cNvSpPr/>
          <p:nvPr/>
        </p:nvSpPr>
        <p:spPr>
          <a:xfrm>
            <a:off x="7379208" y="3282696"/>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0.72</a:t>
            </a:r>
            <a:endParaRPr lang="en-US" sz="930" dirty="0"/>
          </a:p>
        </p:txBody>
      </p:sp>
      <p:sp>
        <p:nvSpPr>
          <p:cNvPr id="49" name="Text 47"/>
          <p:cNvSpPr/>
          <p:nvPr/>
        </p:nvSpPr>
        <p:spPr>
          <a:xfrm>
            <a:off x="8750808" y="3282696"/>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0.85</a:t>
            </a:r>
            <a:endParaRPr lang="en-US" sz="930" dirty="0"/>
          </a:p>
        </p:txBody>
      </p:sp>
      <p:sp>
        <p:nvSpPr>
          <p:cNvPr id="50" name="Text 48"/>
          <p:cNvSpPr/>
          <p:nvPr/>
        </p:nvSpPr>
        <p:spPr>
          <a:xfrm>
            <a:off x="10213848" y="3282696"/>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1.20</a:t>
            </a:r>
            <a:endParaRPr lang="en-US" sz="930" dirty="0"/>
          </a:p>
        </p:txBody>
      </p:sp>
      <p:sp>
        <p:nvSpPr>
          <p:cNvPr id="51" name="Shape 49"/>
          <p:cNvSpPr/>
          <p:nvPr/>
        </p:nvSpPr>
        <p:spPr>
          <a:xfrm>
            <a:off x="548640" y="3611880"/>
            <a:ext cx="11091672" cy="329184"/>
          </a:xfrm>
          <a:prstGeom prst="rect">
            <a:avLst/>
          </a:prstGeom>
          <a:solidFill>
            <a:srgbClr val="F4F7FB"/>
          </a:solidFill>
          <a:ln/>
        </p:spPr>
      </p:sp>
      <p:sp>
        <p:nvSpPr>
          <p:cNvPr id="52" name="Text 50"/>
          <p:cNvSpPr/>
          <p:nvPr/>
        </p:nvSpPr>
        <p:spPr>
          <a:xfrm>
            <a:off x="658368" y="3611880"/>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Czech Rep.</a:t>
            </a:r>
            <a:endParaRPr lang="en-US" sz="930" dirty="0"/>
          </a:p>
        </p:txBody>
      </p:sp>
      <p:sp>
        <p:nvSpPr>
          <p:cNvPr id="53" name="Text 51"/>
          <p:cNvSpPr/>
          <p:nvPr/>
        </p:nvSpPr>
        <p:spPr>
          <a:xfrm>
            <a:off x="2807208" y="3611880"/>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13.00</a:t>
            </a:r>
            <a:endParaRPr lang="en-US" sz="930" dirty="0"/>
          </a:p>
        </p:txBody>
      </p:sp>
      <p:sp>
        <p:nvSpPr>
          <p:cNvPr id="54" name="Text 52"/>
          <p:cNvSpPr/>
          <p:nvPr/>
        </p:nvSpPr>
        <p:spPr>
          <a:xfrm>
            <a:off x="4407408" y="3611880"/>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9.50</a:t>
            </a:r>
            <a:endParaRPr lang="en-US" sz="930" dirty="0"/>
          </a:p>
        </p:txBody>
      </p:sp>
      <p:sp>
        <p:nvSpPr>
          <p:cNvPr id="55" name="Text 53"/>
          <p:cNvSpPr/>
          <p:nvPr/>
        </p:nvSpPr>
        <p:spPr>
          <a:xfrm>
            <a:off x="5961888" y="3611880"/>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0.13</a:t>
            </a:r>
            <a:endParaRPr lang="en-US" sz="930" dirty="0"/>
          </a:p>
        </p:txBody>
      </p:sp>
      <p:sp>
        <p:nvSpPr>
          <p:cNvPr id="56" name="Text 54"/>
          <p:cNvSpPr/>
          <p:nvPr/>
        </p:nvSpPr>
        <p:spPr>
          <a:xfrm>
            <a:off x="7379208" y="3611880"/>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0.74</a:t>
            </a:r>
            <a:endParaRPr lang="en-US" sz="930" dirty="0"/>
          </a:p>
        </p:txBody>
      </p:sp>
      <p:sp>
        <p:nvSpPr>
          <p:cNvPr id="57" name="Text 55"/>
          <p:cNvSpPr/>
          <p:nvPr/>
        </p:nvSpPr>
        <p:spPr>
          <a:xfrm>
            <a:off x="8750808" y="3611880"/>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0.87</a:t>
            </a:r>
            <a:endParaRPr lang="en-US" sz="930" dirty="0"/>
          </a:p>
        </p:txBody>
      </p:sp>
      <p:sp>
        <p:nvSpPr>
          <p:cNvPr id="58" name="Text 56"/>
          <p:cNvSpPr/>
          <p:nvPr/>
        </p:nvSpPr>
        <p:spPr>
          <a:xfrm>
            <a:off x="10213848" y="3611880"/>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1.20</a:t>
            </a:r>
            <a:endParaRPr lang="en-US" sz="930" dirty="0"/>
          </a:p>
        </p:txBody>
      </p:sp>
      <p:sp>
        <p:nvSpPr>
          <p:cNvPr id="59" name="Shape 57"/>
          <p:cNvSpPr/>
          <p:nvPr/>
        </p:nvSpPr>
        <p:spPr>
          <a:xfrm>
            <a:off x="548640" y="3941064"/>
            <a:ext cx="11091672" cy="329184"/>
          </a:xfrm>
          <a:prstGeom prst="rect">
            <a:avLst/>
          </a:prstGeom>
          <a:solidFill>
            <a:srgbClr val="FFFFFF"/>
          </a:solidFill>
          <a:ln/>
        </p:spPr>
      </p:sp>
      <p:sp>
        <p:nvSpPr>
          <p:cNvPr id="60" name="Text 58"/>
          <p:cNvSpPr/>
          <p:nvPr/>
        </p:nvSpPr>
        <p:spPr>
          <a:xfrm>
            <a:off x="658368" y="3941064"/>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Mexico</a:t>
            </a:r>
            <a:endParaRPr lang="en-US" sz="930" dirty="0"/>
          </a:p>
        </p:txBody>
      </p:sp>
      <p:sp>
        <p:nvSpPr>
          <p:cNvPr id="61" name="Text 59"/>
          <p:cNvSpPr/>
          <p:nvPr/>
        </p:nvSpPr>
        <p:spPr>
          <a:xfrm>
            <a:off x="2807208" y="3941064"/>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7.50</a:t>
            </a:r>
            <a:endParaRPr lang="en-US" sz="930" dirty="0"/>
          </a:p>
        </p:txBody>
      </p:sp>
      <p:sp>
        <p:nvSpPr>
          <p:cNvPr id="62" name="Text 60"/>
          <p:cNvSpPr/>
          <p:nvPr/>
        </p:nvSpPr>
        <p:spPr>
          <a:xfrm>
            <a:off x="4407408" y="3941064"/>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4.80</a:t>
            </a:r>
            <a:endParaRPr lang="en-US" sz="930" dirty="0"/>
          </a:p>
        </p:txBody>
      </p:sp>
      <p:sp>
        <p:nvSpPr>
          <p:cNvPr id="63" name="Text 61"/>
          <p:cNvSpPr/>
          <p:nvPr/>
        </p:nvSpPr>
        <p:spPr>
          <a:xfrm>
            <a:off x="5961888" y="3941064"/>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0.08</a:t>
            </a:r>
            <a:endParaRPr lang="en-US" sz="930" dirty="0"/>
          </a:p>
        </p:txBody>
      </p:sp>
      <p:sp>
        <p:nvSpPr>
          <p:cNvPr id="64" name="Text 62"/>
          <p:cNvSpPr/>
          <p:nvPr/>
        </p:nvSpPr>
        <p:spPr>
          <a:xfrm>
            <a:off x="7379208" y="3941064"/>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0.60</a:t>
            </a:r>
            <a:endParaRPr lang="en-US" sz="930" dirty="0"/>
          </a:p>
        </p:txBody>
      </p:sp>
      <p:sp>
        <p:nvSpPr>
          <p:cNvPr id="65" name="Text 63"/>
          <p:cNvSpPr/>
          <p:nvPr/>
        </p:nvSpPr>
        <p:spPr>
          <a:xfrm>
            <a:off x="8750808" y="3941064"/>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0.78</a:t>
            </a:r>
            <a:endParaRPr lang="en-US" sz="930" dirty="0"/>
          </a:p>
        </p:txBody>
      </p:sp>
      <p:sp>
        <p:nvSpPr>
          <p:cNvPr id="66" name="Text 64"/>
          <p:cNvSpPr/>
          <p:nvPr/>
        </p:nvSpPr>
        <p:spPr>
          <a:xfrm>
            <a:off x="10213848" y="3941064"/>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1.35</a:t>
            </a:r>
            <a:endParaRPr lang="en-US" sz="930" dirty="0"/>
          </a:p>
        </p:txBody>
      </p:sp>
      <p:sp>
        <p:nvSpPr>
          <p:cNvPr id="67" name="Shape 65"/>
          <p:cNvSpPr/>
          <p:nvPr/>
        </p:nvSpPr>
        <p:spPr>
          <a:xfrm>
            <a:off x="548640" y="4270248"/>
            <a:ext cx="11091672" cy="329184"/>
          </a:xfrm>
          <a:prstGeom prst="rect">
            <a:avLst/>
          </a:prstGeom>
          <a:solidFill>
            <a:srgbClr val="F4F7FB"/>
          </a:solidFill>
          <a:ln/>
        </p:spPr>
      </p:sp>
      <p:sp>
        <p:nvSpPr>
          <p:cNvPr id="68" name="Text 66"/>
          <p:cNvSpPr/>
          <p:nvPr/>
        </p:nvSpPr>
        <p:spPr>
          <a:xfrm>
            <a:off x="658368" y="4270248"/>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Turkey</a:t>
            </a:r>
            <a:endParaRPr lang="en-US" sz="930" dirty="0"/>
          </a:p>
        </p:txBody>
      </p:sp>
      <p:sp>
        <p:nvSpPr>
          <p:cNvPr id="69" name="Text 67"/>
          <p:cNvSpPr/>
          <p:nvPr/>
        </p:nvSpPr>
        <p:spPr>
          <a:xfrm>
            <a:off x="2807208" y="4270248"/>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6.50</a:t>
            </a:r>
            <a:endParaRPr lang="en-US" sz="930" dirty="0"/>
          </a:p>
        </p:txBody>
      </p:sp>
      <p:sp>
        <p:nvSpPr>
          <p:cNvPr id="70" name="Text 68"/>
          <p:cNvSpPr/>
          <p:nvPr/>
        </p:nvSpPr>
        <p:spPr>
          <a:xfrm>
            <a:off x="4407408" y="4270248"/>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4.80</a:t>
            </a:r>
            <a:endParaRPr lang="en-US" sz="930" dirty="0"/>
          </a:p>
        </p:txBody>
      </p:sp>
      <p:sp>
        <p:nvSpPr>
          <p:cNvPr id="71" name="Text 69"/>
          <p:cNvSpPr/>
          <p:nvPr/>
        </p:nvSpPr>
        <p:spPr>
          <a:xfrm>
            <a:off x="5961888" y="4270248"/>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0.09</a:t>
            </a:r>
            <a:endParaRPr lang="en-US" sz="930" dirty="0"/>
          </a:p>
        </p:txBody>
      </p:sp>
      <p:sp>
        <p:nvSpPr>
          <p:cNvPr id="72" name="Text 70"/>
          <p:cNvSpPr/>
          <p:nvPr/>
        </p:nvSpPr>
        <p:spPr>
          <a:xfrm>
            <a:off x="7379208" y="4270248"/>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0.60</a:t>
            </a:r>
            <a:endParaRPr lang="en-US" sz="930" dirty="0"/>
          </a:p>
        </p:txBody>
      </p:sp>
      <p:sp>
        <p:nvSpPr>
          <p:cNvPr id="73" name="Text 71"/>
          <p:cNvSpPr/>
          <p:nvPr/>
        </p:nvSpPr>
        <p:spPr>
          <a:xfrm>
            <a:off x="8750808" y="4270248"/>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0.78</a:t>
            </a:r>
            <a:endParaRPr lang="en-US" sz="930" dirty="0"/>
          </a:p>
        </p:txBody>
      </p:sp>
      <p:sp>
        <p:nvSpPr>
          <p:cNvPr id="74" name="Text 72"/>
          <p:cNvSpPr/>
          <p:nvPr/>
        </p:nvSpPr>
        <p:spPr>
          <a:xfrm>
            <a:off x="10213848" y="4270248"/>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1.30</a:t>
            </a:r>
            <a:endParaRPr lang="en-US" sz="930" dirty="0"/>
          </a:p>
        </p:txBody>
      </p:sp>
      <p:sp>
        <p:nvSpPr>
          <p:cNvPr id="75" name="Shape 73"/>
          <p:cNvSpPr/>
          <p:nvPr/>
        </p:nvSpPr>
        <p:spPr>
          <a:xfrm>
            <a:off x="548640" y="4599432"/>
            <a:ext cx="11091672" cy="329184"/>
          </a:xfrm>
          <a:prstGeom prst="rect">
            <a:avLst/>
          </a:prstGeom>
          <a:solidFill>
            <a:srgbClr val="FFFFFF"/>
          </a:solidFill>
          <a:ln/>
        </p:spPr>
      </p:sp>
      <p:sp>
        <p:nvSpPr>
          <p:cNvPr id="76" name="Text 74"/>
          <p:cNvSpPr/>
          <p:nvPr/>
        </p:nvSpPr>
        <p:spPr>
          <a:xfrm>
            <a:off x="658368" y="4599432"/>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China</a:t>
            </a:r>
            <a:endParaRPr lang="en-US" sz="930" dirty="0"/>
          </a:p>
        </p:txBody>
      </p:sp>
      <p:sp>
        <p:nvSpPr>
          <p:cNvPr id="77" name="Text 75"/>
          <p:cNvSpPr/>
          <p:nvPr/>
        </p:nvSpPr>
        <p:spPr>
          <a:xfrm>
            <a:off x="2807208" y="4599432"/>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7.90</a:t>
            </a:r>
            <a:endParaRPr lang="en-US" sz="930" dirty="0"/>
          </a:p>
        </p:txBody>
      </p:sp>
      <p:sp>
        <p:nvSpPr>
          <p:cNvPr id="78" name="Text 76"/>
          <p:cNvSpPr/>
          <p:nvPr/>
        </p:nvSpPr>
        <p:spPr>
          <a:xfrm>
            <a:off x="4407408" y="4599432"/>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5.00</a:t>
            </a:r>
            <a:endParaRPr lang="en-US" sz="930" dirty="0"/>
          </a:p>
        </p:txBody>
      </p:sp>
      <p:sp>
        <p:nvSpPr>
          <p:cNvPr id="79" name="Text 77"/>
          <p:cNvSpPr/>
          <p:nvPr/>
        </p:nvSpPr>
        <p:spPr>
          <a:xfrm>
            <a:off x="5961888" y="4599432"/>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0.07</a:t>
            </a:r>
            <a:endParaRPr lang="en-US" sz="930" dirty="0"/>
          </a:p>
        </p:txBody>
      </p:sp>
      <p:sp>
        <p:nvSpPr>
          <p:cNvPr id="80" name="Text 78"/>
          <p:cNvSpPr/>
          <p:nvPr/>
        </p:nvSpPr>
        <p:spPr>
          <a:xfrm>
            <a:off x="7379208" y="4599432"/>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0.55</a:t>
            </a:r>
            <a:endParaRPr lang="en-US" sz="930" dirty="0"/>
          </a:p>
        </p:txBody>
      </p:sp>
      <p:sp>
        <p:nvSpPr>
          <p:cNvPr id="81" name="Text 79"/>
          <p:cNvSpPr/>
          <p:nvPr/>
        </p:nvSpPr>
        <p:spPr>
          <a:xfrm>
            <a:off x="8750808" y="4599432"/>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0.75</a:t>
            </a:r>
            <a:endParaRPr lang="en-US" sz="930" dirty="0"/>
          </a:p>
        </p:txBody>
      </p:sp>
      <p:sp>
        <p:nvSpPr>
          <p:cNvPr id="82" name="Text 80"/>
          <p:cNvSpPr/>
          <p:nvPr/>
        </p:nvSpPr>
        <p:spPr>
          <a:xfrm>
            <a:off x="10213848" y="4599432"/>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1.45</a:t>
            </a:r>
            <a:endParaRPr lang="en-US" sz="930" dirty="0"/>
          </a:p>
        </p:txBody>
      </p:sp>
      <p:sp>
        <p:nvSpPr>
          <p:cNvPr id="83" name="Shape 81"/>
          <p:cNvSpPr/>
          <p:nvPr/>
        </p:nvSpPr>
        <p:spPr>
          <a:xfrm>
            <a:off x="548640" y="4928616"/>
            <a:ext cx="11091672" cy="329184"/>
          </a:xfrm>
          <a:prstGeom prst="rect">
            <a:avLst/>
          </a:prstGeom>
          <a:solidFill>
            <a:srgbClr val="F4F7FB"/>
          </a:solidFill>
          <a:ln/>
        </p:spPr>
      </p:sp>
      <p:sp>
        <p:nvSpPr>
          <p:cNvPr id="84" name="Text 82"/>
          <p:cNvSpPr/>
          <p:nvPr/>
        </p:nvSpPr>
        <p:spPr>
          <a:xfrm>
            <a:off x="658368" y="4928616"/>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India</a:t>
            </a:r>
            <a:endParaRPr lang="en-US" sz="930" dirty="0"/>
          </a:p>
        </p:txBody>
      </p:sp>
      <p:sp>
        <p:nvSpPr>
          <p:cNvPr id="85" name="Text 83"/>
          <p:cNvSpPr/>
          <p:nvPr/>
        </p:nvSpPr>
        <p:spPr>
          <a:xfrm>
            <a:off x="2807208" y="4928616"/>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5.10</a:t>
            </a:r>
            <a:endParaRPr lang="en-US" sz="930" dirty="0"/>
          </a:p>
        </p:txBody>
      </p:sp>
      <p:sp>
        <p:nvSpPr>
          <p:cNvPr id="86" name="Text 84"/>
          <p:cNvSpPr/>
          <p:nvPr/>
        </p:nvSpPr>
        <p:spPr>
          <a:xfrm>
            <a:off x="4407408" y="4928616"/>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3.00</a:t>
            </a:r>
            <a:endParaRPr lang="en-US" sz="930" dirty="0"/>
          </a:p>
        </p:txBody>
      </p:sp>
      <p:sp>
        <p:nvSpPr>
          <p:cNvPr id="87" name="Text 85"/>
          <p:cNvSpPr/>
          <p:nvPr/>
        </p:nvSpPr>
        <p:spPr>
          <a:xfrm>
            <a:off x="5961888" y="4928616"/>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0.07</a:t>
            </a:r>
            <a:endParaRPr lang="en-US" sz="930" dirty="0"/>
          </a:p>
        </p:txBody>
      </p:sp>
      <p:sp>
        <p:nvSpPr>
          <p:cNvPr id="88" name="Text 86"/>
          <p:cNvSpPr/>
          <p:nvPr/>
        </p:nvSpPr>
        <p:spPr>
          <a:xfrm>
            <a:off x="7379208" y="4928616"/>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0.52</a:t>
            </a:r>
            <a:endParaRPr lang="en-US" sz="930" dirty="0"/>
          </a:p>
        </p:txBody>
      </p:sp>
      <p:sp>
        <p:nvSpPr>
          <p:cNvPr id="89" name="Text 87"/>
          <p:cNvSpPr/>
          <p:nvPr/>
        </p:nvSpPr>
        <p:spPr>
          <a:xfrm>
            <a:off x="8750808" y="4928616"/>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0.72</a:t>
            </a:r>
            <a:endParaRPr lang="en-US" sz="930" dirty="0"/>
          </a:p>
        </p:txBody>
      </p:sp>
      <p:sp>
        <p:nvSpPr>
          <p:cNvPr id="90" name="Text 88"/>
          <p:cNvSpPr/>
          <p:nvPr/>
        </p:nvSpPr>
        <p:spPr>
          <a:xfrm>
            <a:off x="10213848" y="4928616"/>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1.50</a:t>
            </a:r>
            <a:endParaRPr lang="en-US" sz="930" dirty="0"/>
          </a:p>
        </p:txBody>
      </p:sp>
      <p:sp>
        <p:nvSpPr>
          <p:cNvPr id="91" name="Shape 89"/>
          <p:cNvSpPr/>
          <p:nvPr/>
        </p:nvSpPr>
        <p:spPr>
          <a:xfrm>
            <a:off x="548640" y="5257800"/>
            <a:ext cx="11091672" cy="329184"/>
          </a:xfrm>
          <a:prstGeom prst="rect">
            <a:avLst/>
          </a:prstGeom>
          <a:solidFill>
            <a:srgbClr val="FFFFFF"/>
          </a:solidFill>
          <a:ln/>
        </p:spPr>
      </p:sp>
      <p:sp>
        <p:nvSpPr>
          <p:cNvPr id="92" name="Text 90"/>
          <p:cNvSpPr/>
          <p:nvPr/>
        </p:nvSpPr>
        <p:spPr>
          <a:xfrm>
            <a:off x="658368" y="5257800"/>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Vietnam</a:t>
            </a:r>
            <a:endParaRPr lang="en-US" sz="930" dirty="0"/>
          </a:p>
        </p:txBody>
      </p:sp>
      <p:sp>
        <p:nvSpPr>
          <p:cNvPr id="93" name="Text 91"/>
          <p:cNvSpPr/>
          <p:nvPr/>
        </p:nvSpPr>
        <p:spPr>
          <a:xfrm>
            <a:off x="2807208" y="5257800"/>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3.80</a:t>
            </a:r>
            <a:endParaRPr lang="en-US" sz="930" dirty="0"/>
          </a:p>
        </p:txBody>
      </p:sp>
      <p:sp>
        <p:nvSpPr>
          <p:cNvPr id="94" name="Text 92"/>
          <p:cNvSpPr/>
          <p:nvPr/>
        </p:nvSpPr>
        <p:spPr>
          <a:xfrm>
            <a:off x="4407408" y="5257800"/>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2.50</a:t>
            </a:r>
            <a:endParaRPr lang="en-US" sz="930" dirty="0"/>
          </a:p>
        </p:txBody>
      </p:sp>
      <p:sp>
        <p:nvSpPr>
          <p:cNvPr id="95" name="Text 93"/>
          <p:cNvSpPr/>
          <p:nvPr/>
        </p:nvSpPr>
        <p:spPr>
          <a:xfrm>
            <a:off x="5961888" y="5257800"/>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0.06</a:t>
            </a:r>
            <a:endParaRPr lang="en-US" sz="930" dirty="0"/>
          </a:p>
        </p:txBody>
      </p:sp>
      <p:sp>
        <p:nvSpPr>
          <p:cNvPr id="96" name="Text 94"/>
          <p:cNvSpPr/>
          <p:nvPr/>
        </p:nvSpPr>
        <p:spPr>
          <a:xfrm>
            <a:off x="7379208" y="5257800"/>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0.52</a:t>
            </a:r>
            <a:endParaRPr lang="en-US" sz="930" dirty="0"/>
          </a:p>
        </p:txBody>
      </p:sp>
      <p:sp>
        <p:nvSpPr>
          <p:cNvPr id="97" name="Text 95"/>
          <p:cNvSpPr/>
          <p:nvPr/>
        </p:nvSpPr>
        <p:spPr>
          <a:xfrm>
            <a:off x="8750808" y="5257800"/>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0.70</a:t>
            </a:r>
            <a:endParaRPr lang="en-US" sz="930" dirty="0"/>
          </a:p>
        </p:txBody>
      </p:sp>
      <p:sp>
        <p:nvSpPr>
          <p:cNvPr id="98" name="Text 96"/>
          <p:cNvSpPr/>
          <p:nvPr/>
        </p:nvSpPr>
        <p:spPr>
          <a:xfrm>
            <a:off x="10213848" y="5257800"/>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1.50</a:t>
            </a:r>
            <a:endParaRPr lang="en-US" sz="930" dirty="0"/>
          </a:p>
        </p:txBody>
      </p:sp>
      <p:sp>
        <p:nvSpPr>
          <p:cNvPr id="99" name="Shape 97"/>
          <p:cNvSpPr/>
          <p:nvPr/>
        </p:nvSpPr>
        <p:spPr>
          <a:xfrm>
            <a:off x="548640" y="5696712"/>
            <a:ext cx="11091672" cy="566928"/>
          </a:xfrm>
          <a:prstGeom prst="roundRect">
            <a:avLst>
              <a:gd name="adj" fmla="val 11290"/>
            </a:avLst>
          </a:prstGeom>
          <a:solidFill>
            <a:srgbClr val="FEF6E7"/>
          </a:solidFill>
          <a:ln w="12700">
            <a:solidFill>
              <a:srgbClr val="E4EAF2"/>
            </a:solidFill>
            <a:prstDash val="solid"/>
          </a:ln>
        </p:spPr>
      </p:sp>
      <p:sp>
        <p:nvSpPr>
          <p:cNvPr id="100" name="Shape 98"/>
          <p:cNvSpPr/>
          <p:nvPr/>
        </p:nvSpPr>
        <p:spPr>
          <a:xfrm>
            <a:off x="548640" y="5696712"/>
            <a:ext cx="82296" cy="566928"/>
          </a:xfrm>
          <a:prstGeom prst="rect">
            <a:avLst/>
          </a:prstGeom>
          <a:solidFill>
            <a:srgbClr val="E0900C"/>
          </a:solidFill>
          <a:ln/>
        </p:spPr>
      </p:sp>
      <p:sp>
        <p:nvSpPr>
          <p:cNvPr id="101" name="Text 99"/>
          <p:cNvSpPr/>
          <p:nvPr/>
        </p:nvSpPr>
        <p:spPr>
          <a:xfrm>
            <a:off x="914400" y="5696712"/>
            <a:ext cx="10332720" cy="566928"/>
          </a:xfrm>
          <a:prstGeom prst="rect">
            <a:avLst/>
          </a:prstGeom>
          <a:noFill/>
          <a:ln/>
        </p:spPr>
        <p:txBody>
          <a:bodyPr wrap="square" lIns="0" tIns="0" rIns="0" bIns="0" rtlCol="0" anchor="ctr"/>
          <a:lstStyle/>
          <a:p>
            <a:pPr indent="0" marL="0">
              <a:lnSpc>
                <a:spcPct val="105000"/>
              </a:lnSpc>
              <a:buNone/>
            </a:pPr>
            <a:r>
              <a:rPr lang="en-US" sz="1050" b="1" dirty="0">
                <a:solidFill>
                  <a:srgbClr val="0F1E3D"/>
                </a:solidFill>
                <a:latin typeface="Calibri" pitchFamily="34" charset="0"/>
                <a:ea typeface="Calibri" pitchFamily="34" charset="-122"/>
                <a:cs typeface="Calibri" pitchFamily="34" charset="-120"/>
              </a:rPr>
              <a:t>Showing 10 of 20 regions.  </a:t>
            </a:r>
            <a:pPr indent="0" marL="0">
              <a:lnSpc>
                <a:spcPct val="105000"/>
              </a:lnSpc>
              <a:buNone/>
            </a:pPr>
            <a:r>
              <a:rPr lang="en-US" sz="1050" dirty="0">
                <a:solidFill>
                  <a:srgbClr val="3E4C63"/>
                </a:solidFill>
                <a:latin typeface="Calibri" pitchFamily="34" charset="0"/>
                <a:ea typeface="Calibri" pitchFamily="34" charset="-122"/>
                <a:cs typeface="Calibri" pitchFamily="34" charset="-120"/>
              </a:rPr>
              <a:t>Sourced from IPC / industry rate data. Material factors, FX, energy-gas, packaging and duty adders sit behind these too — one versioned library, used by every single costing.</a:t>
            </a:r>
            <a:endParaRPr lang="en-US" sz="1050" dirty="0"/>
          </a:p>
        </p:txBody>
      </p:sp>
      <p:sp>
        <p:nvSpPr>
          <p:cNvPr id="102" name="Shape 100"/>
          <p:cNvSpPr/>
          <p:nvPr/>
        </p:nvSpPr>
        <p:spPr>
          <a:xfrm>
            <a:off x="548640" y="6400800"/>
            <a:ext cx="11094415" cy="12802"/>
          </a:xfrm>
          <a:prstGeom prst="rect">
            <a:avLst/>
          </a:prstGeom>
          <a:solidFill>
            <a:srgbClr val="E4EAF2"/>
          </a:solidFill>
          <a:ln/>
        </p:spPr>
      </p:sp>
      <p:sp>
        <p:nvSpPr>
          <p:cNvPr id="103" name="Text 101"/>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104" name="Text 102"/>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18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E0900C"/>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E0900C"/>
                </a:solidFill>
                <a:latin typeface="Calibri" pitchFamily="34" charset="0"/>
                <a:ea typeface="Calibri" pitchFamily="34" charset="-122"/>
                <a:cs typeface="Calibri" pitchFamily="34" charset="-120"/>
              </a:rPr>
              <a:t>DEEP DIVE · SHOULD-COST MODEL</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Bring our own rate database — our rates, our numbers</a:t>
            </a:r>
            <a:endParaRPr lang="en-US" sz="2400" dirty="0"/>
          </a:p>
        </p:txBody>
      </p:sp>
      <p:sp>
        <p:nvSpPr>
          <p:cNvPr id="9" name="Shape 7"/>
          <p:cNvSpPr/>
          <p:nvPr/>
        </p:nvSpPr>
        <p:spPr>
          <a:xfrm>
            <a:off x="548640" y="1371600"/>
            <a:ext cx="1051560" cy="45720"/>
          </a:xfrm>
          <a:prstGeom prst="rect">
            <a:avLst/>
          </a:prstGeom>
          <a:solidFill>
            <a:srgbClr val="E0900C"/>
          </a:solidFill>
          <a:ln/>
        </p:spPr>
        <p:txBody>
          <a:bodyPr/>
          <a:p/>
        </p:txBody>
      </p:sp>
      <p:sp>
        <p:nvSpPr>
          <p:cNvPr id="10" name="Text 8"/>
          <p:cNvSpPr/>
          <p:nvPr/>
        </p:nvSpPr>
        <p:spPr>
          <a:xfrm>
            <a:off x="548640" y="1481328"/>
            <a:ext cx="11091672" cy="384048"/>
          </a:xfrm>
          <a:prstGeom prst="rect">
            <a:avLst/>
          </a:prstGeom>
          <a:noFill/>
          <a:ln/>
        </p:spPr>
        <p:txBody>
          <a:bodyPr wrap="square" lIns="0" tIns="0" rIns="0" bIns="0" rtlCol="0" anchor="t"/>
          <a:lstStyle/>
          <a:p>
            <a:pPr indent="0" marL="0">
              <a:lnSpc>
                <a:spcPct val="105000"/>
              </a:lnSpc>
              <a:buNone/>
            </a:pPr>
            <a:r>
              <a:rPr lang="en-US" sz="1200" dirty="0">
                <a:solidFill>
                  <a:srgbClr val="3E4C63"/>
                </a:solidFill>
                <a:latin typeface="Calibri" pitchFamily="34" charset="0"/>
                <a:ea typeface="Calibri" pitchFamily="34" charset="-122"/>
                <a:cs typeface="Calibri" pitchFamily="34" charset="-120"/>
              </a:rPr>
              <a:t>Load our own cost rates as one Excel workbook. Every costing then runs on our numbers: checked on upload, versioned and traceable.</a:t>
            </a:r>
            <a:endParaRPr lang="en-US" sz="1200" dirty="0"/>
          </a:p>
        </p:txBody>
      </p:sp>
      <p:sp>
        <p:nvSpPr>
          <p:cNvPr id="11" name="Shape 9"/>
          <p:cNvSpPr/>
          <p:nvPr/>
        </p:nvSpPr>
        <p:spPr>
          <a:xfrm>
            <a:off x="548640" y="1938528"/>
            <a:ext cx="1787652"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26197455739825e+169" dist="3.605641592566428e+168" dir="7.218447050975619e+197">
              <a:srgbClr val="9DB0CC">
                <a:alpha val="2.2000000000000007e+204"/>
              </a:srgbClr>
            </a:outerShdw>
          </a:effectLst>
        </p:spPr>
        <p:txBody>
          <a:bodyPr/>
          <a:p/>
        </p:txBody>
      </p:sp>
      <p:sp>
        <p:nvSpPr>
          <p:cNvPr id="12" name="Shape 10"/>
          <p:cNvSpPr/>
          <p:nvPr/>
        </p:nvSpPr>
        <p:spPr>
          <a:xfrm>
            <a:off x="548640" y="1938528"/>
            <a:ext cx="82296" cy="1371600"/>
          </a:xfrm>
          <a:prstGeom prst="rect">
            <a:avLst/>
          </a:prstGeom>
          <a:solidFill>
            <a:srgbClr val="2563EB"/>
          </a:solidFill>
          <a:ln/>
        </p:spPr>
        <p:txBody>
          <a:bodyPr/>
          <a:p/>
        </p:txBody>
      </p:sp>
      <p:sp>
        <p:nvSpPr>
          <p:cNvPr id="13" name="Text 11"/>
          <p:cNvSpPr/>
          <p:nvPr/>
        </p:nvSpPr>
        <p:spPr>
          <a:xfrm>
            <a:off x="731520" y="2084832"/>
            <a:ext cx="1495044" cy="274320"/>
          </a:xfrm>
          <a:prstGeom prst="rect">
            <a:avLst/>
          </a:prstGeom>
          <a:noFill/>
          <a:ln/>
        </p:spPr>
        <p:txBody>
          <a:bodyPr wrap="square" lIns="0" tIns="0" rIns="0" bIns="0" rtlCol="0" anchor="t"/>
          <a:lstStyle/>
          <a:p>
            <a:pPr indent="0" marL="0">
              <a:buNone/>
            </a:pPr>
            <a:r>
              <a:rPr lang="en-US" sz="1250" b="1" dirty="0">
                <a:solidFill>
                  <a:srgbClr val="2563EB"/>
                </a:solidFill>
                <a:latin typeface="Calibri" pitchFamily="34" charset="0"/>
                <a:ea typeface="Calibri" pitchFamily="34" charset="-122"/>
                <a:cs typeface="Calibri" pitchFamily="34" charset="-120"/>
              </a:rPr>
              <a:t>Materials</a:t>
            </a:r>
            <a:endParaRPr lang="en-US" sz="1250" dirty="0"/>
          </a:p>
        </p:txBody>
      </p:sp>
      <p:sp>
        <p:nvSpPr>
          <p:cNvPr id="14" name="Text 12"/>
          <p:cNvSpPr/>
          <p:nvPr/>
        </p:nvSpPr>
        <p:spPr>
          <a:xfrm>
            <a:off x="731520" y="2414016"/>
            <a:ext cx="1476756" cy="822960"/>
          </a:xfrm>
          <a:prstGeom prst="rect">
            <a:avLst/>
          </a:prstGeom>
          <a:noFill/>
          <a:ln/>
        </p:spPr>
        <p:txBody>
          <a:bodyPr wrap="square" lIns="0" tIns="0" rIns="0" bIns="0" rtlCol="0" anchor="t"/>
          <a:lstStyle/>
          <a:p>
            <a:pPr indent="0" marL="0">
              <a:lnSpc>
                <a:spcPct val="105000"/>
              </a:lnSpc>
              <a:buNone/>
            </a:pPr>
            <a:r>
              <a:rPr lang="en-US" sz="830" dirty="0">
                <a:solidFill>
                  <a:srgbClr val="3E4C63"/>
                </a:solidFill>
                <a:latin typeface="Calibri" pitchFamily="34" charset="0"/>
                <a:ea typeface="Calibri" pitchFamily="34" charset="-122"/>
                <a:cs typeface="Calibri" pitchFamily="34" charset="-120"/>
              </a:rPr>
              <a:t>£/kg, scrap-recovery £/kg, density, region — with effective date</a:t>
            </a:r>
            <a:endParaRPr lang="en-US" sz="830" dirty="0"/>
          </a:p>
        </p:txBody>
      </p:sp>
      <p:sp>
        <p:nvSpPr>
          <p:cNvPr id="15" name="Shape 13"/>
          <p:cNvSpPr/>
          <p:nvPr/>
        </p:nvSpPr>
        <p:spPr>
          <a:xfrm>
            <a:off x="2409444" y="1938528"/>
            <a:ext cx="1787652"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6027076878957775e+173" dist="4.579164822559364e+172" dir="4.3310682305853715e+202">
              <a:srgbClr val="9DB0CC">
                <a:alpha val="2.2000000000000006e+209"/>
              </a:srgbClr>
            </a:outerShdw>
          </a:effectLst>
        </p:spPr>
        <p:txBody>
          <a:bodyPr/>
          <a:p/>
        </p:txBody>
      </p:sp>
      <p:sp>
        <p:nvSpPr>
          <p:cNvPr id="16" name="Shape 14"/>
          <p:cNvSpPr/>
          <p:nvPr/>
        </p:nvSpPr>
        <p:spPr>
          <a:xfrm>
            <a:off x="2409444" y="1938528"/>
            <a:ext cx="82296" cy="1371600"/>
          </a:xfrm>
          <a:prstGeom prst="rect">
            <a:avLst/>
          </a:prstGeom>
          <a:solidFill>
            <a:srgbClr val="4F46E5"/>
          </a:solidFill>
          <a:ln/>
        </p:spPr>
        <p:txBody>
          <a:bodyPr/>
          <a:p/>
        </p:txBody>
      </p:sp>
      <p:sp>
        <p:nvSpPr>
          <p:cNvPr id="17" name="Text 15"/>
          <p:cNvSpPr/>
          <p:nvPr/>
        </p:nvSpPr>
        <p:spPr>
          <a:xfrm>
            <a:off x="2592324" y="2084832"/>
            <a:ext cx="1495044" cy="274320"/>
          </a:xfrm>
          <a:prstGeom prst="rect">
            <a:avLst/>
          </a:prstGeom>
          <a:noFill/>
          <a:ln/>
        </p:spPr>
        <p:txBody>
          <a:bodyPr wrap="square" lIns="0" tIns="0" rIns="0" bIns="0" rtlCol="0" anchor="t"/>
          <a:lstStyle/>
          <a:p>
            <a:pPr indent="0" marL="0">
              <a:buNone/>
            </a:pPr>
            <a:r>
              <a:rPr lang="en-US" sz="1250" b="1" dirty="0">
                <a:solidFill>
                  <a:srgbClr val="4F46E5"/>
                </a:solidFill>
                <a:latin typeface="Calibri" pitchFamily="34" charset="0"/>
                <a:ea typeface="Calibri" pitchFamily="34" charset="-122"/>
                <a:cs typeface="Calibri" pitchFamily="34" charset="-120"/>
              </a:rPr>
              <a:t>Machines</a:t>
            </a:r>
            <a:endParaRPr lang="en-US" sz="1250" dirty="0"/>
          </a:p>
        </p:txBody>
      </p:sp>
      <p:sp>
        <p:nvSpPr>
          <p:cNvPr id="18" name="Text 16"/>
          <p:cNvSpPr/>
          <p:nvPr/>
        </p:nvSpPr>
        <p:spPr>
          <a:xfrm>
            <a:off x="2592324" y="2414016"/>
            <a:ext cx="1476756" cy="822960"/>
          </a:xfrm>
          <a:prstGeom prst="rect">
            <a:avLst/>
          </a:prstGeom>
          <a:noFill/>
          <a:ln/>
        </p:spPr>
        <p:txBody>
          <a:bodyPr wrap="square" lIns="0" tIns="0" rIns="0" bIns="0" rtlCol="0" anchor="t"/>
          <a:lstStyle/>
          <a:p>
            <a:pPr indent="0" marL="0">
              <a:lnSpc>
                <a:spcPct val="105000"/>
              </a:lnSpc>
              <a:buNone/>
            </a:pPr>
            <a:r>
              <a:rPr lang="en-US" sz="830" dirty="0">
                <a:solidFill>
                  <a:srgbClr val="3E4C63"/>
                </a:solidFill>
                <a:latin typeface="Calibri" pitchFamily="34" charset="0"/>
                <a:ea typeface="Calibri" pitchFamily="34" charset="-122"/>
                <a:cs typeface="Calibri" pitchFamily="34" charset="-120"/>
              </a:rPr>
              <a:t>Full rate build-up (deprec., maint., energy, floor, finance, hours, utilisation) → £/hr</a:t>
            </a:r>
            <a:endParaRPr lang="en-US" sz="830" dirty="0"/>
          </a:p>
        </p:txBody>
      </p:sp>
      <p:sp>
        <p:nvSpPr>
          <p:cNvPr id="19" name="Shape 17"/>
          <p:cNvSpPr/>
          <p:nvPr/>
        </p:nvSpPr>
        <p:spPr>
          <a:xfrm>
            <a:off x="4270248" y="1938528"/>
            <a:ext cx="1787652"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2.0354387636276376e+177" dist="5.815539324650392e+176" dir="2.598640938351223e+207">
              <a:srgbClr val="9DB0CC">
                <a:alpha val="2.2000000000000007e+214"/>
              </a:srgbClr>
            </a:outerShdw>
          </a:effectLst>
        </p:spPr>
        <p:txBody>
          <a:bodyPr/>
          <a:p/>
        </p:txBody>
      </p:sp>
      <p:sp>
        <p:nvSpPr>
          <p:cNvPr id="20" name="Shape 18"/>
          <p:cNvSpPr/>
          <p:nvPr/>
        </p:nvSpPr>
        <p:spPr>
          <a:xfrm>
            <a:off x="4270248" y="1938528"/>
            <a:ext cx="82296" cy="1371600"/>
          </a:xfrm>
          <a:prstGeom prst="rect">
            <a:avLst/>
          </a:prstGeom>
          <a:solidFill>
            <a:srgbClr val="0DA5A0"/>
          </a:solidFill>
          <a:ln/>
        </p:spPr>
        <p:txBody>
          <a:bodyPr/>
          <a:p/>
        </p:txBody>
      </p:sp>
      <p:sp>
        <p:nvSpPr>
          <p:cNvPr id="21" name="Text 19"/>
          <p:cNvSpPr/>
          <p:nvPr/>
        </p:nvSpPr>
        <p:spPr>
          <a:xfrm>
            <a:off x="4453128" y="2084832"/>
            <a:ext cx="1495044" cy="274320"/>
          </a:xfrm>
          <a:prstGeom prst="rect">
            <a:avLst/>
          </a:prstGeom>
          <a:noFill/>
          <a:ln/>
        </p:spPr>
        <p:txBody>
          <a:bodyPr wrap="square" lIns="0" tIns="0" rIns="0" bIns="0" rtlCol="0" anchor="t"/>
          <a:lstStyle/>
          <a:p>
            <a:pPr indent="0" marL="0">
              <a:buNone/>
            </a:pPr>
            <a:r>
              <a:rPr lang="en-US" sz="1250" b="1" dirty="0">
                <a:solidFill>
                  <a:srgbClr val="0DA5A0"/>
                </a:solidFill>
                <a:latin typeface="Calibri" pitchFamily="34" charset="0"/>
                <a:ea typeface="Calibri" pitchFamily="34" charset="-122"/>
                <a:cs typeface="Calibri" pitchFamily="34" charset="-120"/>
              </a:rPr>
              <a:t>Labour</a:t>
            </a:r>
            <a:endParaRPr lang="en-US" sz="1250" dirty="0"/>
          </a:p>
        </p:txBody>
      </p:sp>
      <p:sp>
        <p:nvSpPr>
          <p:cNvPr id="22" name="Text 20"/>
          <p:cNvSpPr/>
          <p:nvPr/>
        </p:nvSpPr>
        <p:spPr>
          <a:xfrm>
            <a:off x="4453128" y="2414016"/>
            <a:ext cx="1476756" cy="822960"/>
          </a:xfrm>
          <a:prstGeom prst="rect">
            <a:avLst/>
          </a:prstGeom>
          <a:noFill/>
          <a:ln/>
        </p:spPr>
        <p:txBody>
          <a:bodyPr wrap="square" lIns="0" tIns="0" rIns="0" bIns="0" rtlCol="0" anchor="t"/>
          <a:lstStyle/>
          <a:p>
            <a:pPr indent="0" marL="0">
              <a:lnSpc>
                <a:spcPct val="105000"/>
              </a:lnSpc>
              <a:buNone/>
            </a:pPr>
            <a:r>
              <a:rPr lang="en-US" sz="830" dirty="0">
                <a:solidFill>
                  <a:srgbClr val="3E4C63"/>
                </a:solidFill>
                <a:latin typeface="Calibri" pitchFamily="34" charset="0"/>
                <a:ea typeface="Calibri" pitchFamily="34" charset="-122"/>
                <a:cs typeface="Calibri" pitchFamily="34" charset="-120"/>
              </a:rPr>
              <a:t>Fully-loaded £/hr by region and skill level</a:t>
            </a:r>
            <a:endParaRPr lang="en-US" sz="830" dirty="0"/>
          </a:p>
        </p:txBody>
      </p:sp>
      <p:sp>
        <p:nvSpPr>
          <p:cNvPr id="23" name="Shape 21"/>
          <p:cNvSpPr/>
          <p:nvPr/>
        </p:nvSpPr>
        <p:spPr>
          <a:xfrm>
            <a:off x="6131052" y="1938528"/>
            <a:ext cx="1787652"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2.5850072298071e+181" dist="7.385734942305998e+180" dir="1.5591845630107338e+212">
              <a:srgbClr val="9DB0CC">
                <a:alpha val="2.2000000000000008e+219"/>
              </a:srgbClr>
            </a:outerShdw>
          </a:effectLst>
        </p:spPr>
        <p:txBody>
          <a:bodyPr/>
          <a:p/>
        </p:txBody>
      </p:sp>
      <p:sp>
        <p:nvSpPr>
          <p:cNvPr id="24" name="Shape 22"/>
          <p:cNvSpPr/>
          <p:nvPr/>
        </p:nvSpPr>
        <p:spPr>
          <a:xfrm>
            <a:off x="6131052" y="1938528"/>
            <a:ext cx="82296" cy="1371600"/>
          </a:xfrm>
          <a:prstGeom prst="rect">
            <a:avLst/>
          </a:prstGeom>
          <a:solidFill>
            <a:srgbClr val="E0900C"/>
          </a:solidFill>
          <a:ln/>
        </p:spPr>
        <p:txBody>
          <a:bodyPr/>
          <a:p/>
        </p:txBody>
      </p:sp>
      <p:sp>
        <p:nvSpPr>
          <p:cNvPr id="25" name="Text 23"/>
          <p:cNvSpPr/>
          <p:nvPr/>
        </p:nvSpPr>
        <p:spPr>
          <a:xfrm>
            <a:off x="6313932" y="2084832"/>
            <a:ext cx="1495044" cy="274320"/>
          </a:xfrm>
          <a:prstGeom prst="rect">
            <a:avLst/>
          </a:prstGeom>
          <a:noFill/>
          <a:ln/>
        </p:spPr>
        <p:txBody>
          <a:bodyPr wrap="square" lIns="0" tIns="0" rIns="0" bIns="0" rtlCol="0" anchor="t"/>
          <a:lstStyle/>
          <a:p>
            <a:pPr indent="0" marL="0">
              <a:buNone/>
            </a:pPr>
            <a:r>
              <a:rPr lang="en-US" sz="1250" b="1" dirty="0">
                <a:solidFill>
                  <a:srgbClr val="E0900C"/>
                </a:solidFill>
                <a:latin typeface="Calibri" pitchFamily="34" charset="0"/>
                <a:ea typeface="Calibri" pitchFamily="34" charset="-122"/>
                <a:cs typeface="Calibri" pitchFamily="34" charset="-120"/>
              </a:rPr>
              <a:t>Energy</a:t>
            </a:r>
            <a:endParaRPr lang="en-US" sz="1250" dirty="0"/>
          </a:p>
        </p:txBody>
      </p:sp>
      <p:sp>
        <p:nvSpPr>
          <p:cNvPr id="26" name="Text 24"/>
          <p:cNvSpPr/>
          <p:nvPr/>
        </p:nvSpPr>
        <p:spPr>
          <a:xfrm>
            <a:off x="6313932" y="2414016"/>
            <a:ext cx="1476756" cy="822960"/>
          </a:xfrm>
          <a:prstGeom prst="rect">
            <a:avLst/>
          </a:prstGeom>
          <a:noFill/>
          <a:ln/>
        </p:spPr>
        <p:txBody>
          <a:bodyPr wrap="square" lIns="0" tIns="0" rIns="0" bIns="0" rtlCol="0" anchor="t"/>
          <a:lstStyle/>
          <a:p>
            <a:pPr indent="0" marL="0">
              <a:lnSpc>
                <a:spcPct val="105000"/>
              </a:lnSpc>
              <a:buNone/>
            </a:pPr>
            <a:r>
              <a:rPr lang="en-US" sz="830" dirty="0">
                <a:solidFill>
                  <a:srgbClr val="3E4C63"/>
                </a:solidFill>
                <a:latin typeface="Calibri" pitchFamily="34" charset="0"/>
                <a:ea typeface="Calibri" pitchFamily="34" charset="-122"/>
                <a:cs typeface="Calibri" pitchFamily="34" charset="-120"/>
              </a:rPr>
              <a:t>Electricity &amp; gas £/kWh by region</a:t>
            </a:r>
            <a:endParaRPr lang="en-US" sz="830" dirty="0"/>
          </a:p>
        </p:txBody>
      </p:sp>
      <p:sp>
        <p:nvSpPr>
          <p:cNvPr id="27" name="Shape 25"/>
          <p:cNvSpPr/>
          <p:nvPr/>
        </p:nvSpPr>
        <p:spPr>
          <a:xfrm>
            <a:off x="7991856" y="1938528"/>
            <a:ext cx="1787652"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3.282959181855017e+185" dist="9.379883376728618e+184" dir="9.355107378064403e+216">
              <a:srgbClr val="9DB0CC">
                <a:alpha val="2.200000000000001e+224"/>
              </a:srgbClr>
            </a:outerShdw>
          </a:effectLst>
        </p:spPr>
        <p:txBody>
          <a:bodyPr/>
          <a:p/>
        </p:txBody>
      </p:sp>
      <p:sp>
        <p:nvSpPr>
          <p:cNvPr id="28" name="Shape 26"/>
          <p:cNvSpPr/>
          <p:nvPr/>
        </p:nvSpPr>
        <p:spPr>
          <a:xfrm>
            <a:off x="7991856" y="1938528"/>
            <a:ext cx="82296" cy="1371600"/>
          </a:xfrm>
          <a:prstGeom prst="rect">
            <a:avLst/>
          </a:prstGeom>
          <a:solidFill>
            <a:srgbClr val="0E93B0"/>
          </a:solidFill>
          <a:ln/>
        </p:spPr>
        <p:txBody>
          <a:bodyPr/>
          <a:p/>
        </p:txBody>
      </p:sp>
      <p:sp>
        <p:nvSpPr>
          <p:cNvPr id="29" name="Text 27"/>
          <p:cNvSpPr/>
          <p:nvPr/>
        </p:nvSpPr>
        <p:spPr>
          <a:xfrm>
            <a:off x="8174736" y="2084832"/>
            <a:ext cx="1495044" cy="274320"/>
          </a:xfrm>
          <a:prstGeom prst="rect">
            <a:avLst/>
          </a:prstGeom>
          <a:noFill/>
          <a:ln/>
        </p:spPr>
        <p:txBody>
          <a:bodyPr wrap="square" lIns="0" tIns="0" rIns="0" bIns="0" rtlCol="0" anchor="t"/>
          <a:lstStyle/>
          <a:p>
            <a:pPr indent="0" marL="0">
              <a:buNone/>
            </a:pPr>
            <a:r>
              <a:rPr lang="en-US" sz="1250" b="1" dirty="0">
                <a:solidFill>
                  <a:srgbClr val="0E93B0"/>
                </a:solidFill>
                <a:latin typeface="Calibri" pitchFamily="34" charset="0"/>
                <a:ea typeface="Calibri" pitchFamily="34" charset="-122"/>
                <a:cs typeface="Calibri" pitchFamily="34" charset="-120"/>
              </a:rPr>
              <a:t>FX</a:t>
            </a:r>
            <a:endParaRPr lang="en-US" sz="1250" dirty="0"/>
          </a:p>
        </p:txBody>
      </p:sp>
      <p:sp>
        <p:nvSpPr>
          <p:cNvPr id="30" name="Text 28"/>
          <p:cNvSpPr/>
          <p:nvPr/>
        </p:nvSpPr>
        <p:spPr>
          <a:xfrm>
            <a:off x="8174736" y="2414016"/>
            <a:ext cx="1476756" cy="822960"/>
          </a:xfrm>
          <a:prstGeom prst="rect">
            <a:avLst/>
          </a:prstGeom>
          <a:noFill/>
          <a:ln/>
        </p:spPr>
        <p:txBody>
          <a:bodyPr wrap="square" lIns="0" tIns="0" rIns="0" bIns="0" rtlCol="0" anchor="t"/>
          <a:lstStyle/>
          <a:p>
            <a:pPr indent="0" marL="0">
              <a:lnSpc>
                <a:spcPct val="105000"/>
              </a:lnSpc>
              <a:buNone/>
            </a:pPr>
            <a:r>
              <a:rPr lang="en-US" sz="830" dirty="0">
                <a:solidFill>
                  <a:srgbClr val="3E4C63"/>
                </a:solidFill>
                <a:latin typeface="Calibri" pitchFamily="34" charset="0"/>
                <a:ea typeface="Calibri" pitchFamily="34" charset="-122"/>
                <a:cs typeface="Calibri" pitchFamily="34" charset="-120"/>
              </a:rPr>
              <a:t>Currency pairs and exchange rates</a:t>
            </a:r>
            <a:endParaRPr lang="en-US" sz="830" dirty="0"/>
          </a:p>
        </p:txBody>
      </p:sp>
      <p:sp>
        <p:nvSpPr>
          <p:cNvPr id="31" name="Shape 29"/>
          <p:cNvSpPr/>
          <p:nvPr/>
        </p:nvSpPr>
        <p:spPr>
          <a:xfrm>
            <a:off x="9852660" y="1938528"/>
            <a:ext cx="1787652"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4.1693581609558713e+189" dist="1.1912451888445345e+189" dir="5.613064426838642e+221">
              <a:srgbClr val="9DB0CC">
                <a:alpha val="2.2000000000000008e+229"/>
              </a:srgbClr>
            </a:outerShdw>
          </a:effectLst>
        </p:spPr>
        <p:txBody>
          <a:bodyPr/>
          <a:p/>
        </p:txBody>
      </p:sp>
      <p:sp>
        <p:nvSpPr>
          <p:cNvPr id="32" name="Shape 30"/>
          <p:cNvSpPr/>
          <p:nvPr/>
        </p:nvSpPr>
        <p:spPr>
          <a:xfrm>
            <a:off x="9852660" y="1938528"/>
            <a:ext cx="82296" cy="1371600"/>
          </a:xfrm>
          <a:prstGeom prst="rect">
            <a:avLst/>
          </a:prstGeom>
          <a:solidFill>
            <a:srgbClr val="7C3AED"/>
          </a:solidFill>
          <a:ln/>
        </p:spPr>
        <p:txBody>
          <a:bodyPr/>
          <a:p/>
        </p:txBody>
      </p:sp>
      <p:sp>
        <p:nvSpPr>
          <p:cNvPr id="33" name="Text 31"/>
          <p:cNvSpPr/>
          <p:nvPr/>
        </p:nvSpPr>
        <p:spPr>
          <a:xfrm>
            <a:off x="10035540" y="2084832"/>
            <a:ext cx="1495044" cy="274320"/>
          </a:xfrm>
          <a:prstGeom prst="rect">
            <a:avLst/>
          </a:prstGeom>
          <a:noFill/>
          <a:ln/>
        </p:spPr>
        <p:txBody>
          <a:bodyPr wrap="square" lIns="0" tIns="0" rIns="0" bIns="0" rtlCol="0" anchor="t"/>
          <a:lstStyle/>
          <a:p>
            <a:pPr indent="0" marL="0">
              <a:buNone/>
            </a:pPr>
            <a:r>
              <a:rPr lang="en-US" sz="1250" b="1" dirty="0">
                <a:solidFill>
                  <a:srgbClr val="7C3AED"/>
                </a:solidFill>
                <a:latin typeface="Calibri" pitchFamily="34" charset="0"/>
                <a:ea typeface="Calibri" pitchFamily="34" charset="-122"/>
                <a:cs typeface="Calibri" pitchFamily="34" charset="-120"/>
              </a:rPr>
              <a:t>Overhead</a:t>
            </a:r>
            <a:endParaRPr lang="en-US" sz="1250" dirty="0"/>
          </a:p>
        </p:txBody>
      </p:sp>
      <p:sp>
        <p:nvSpPr>
          <p:cNvPr id="34" name="Text 32"/>
          <p:cNvSpPr/>
          <p:nvPr/>
        </p:nvSpPr>
        <p:spPr>
          <a:xfrm>
            <a:off x="10035540" y="2414016"/>
            <a:ext cx="1476756" cy="822960"/>
          </a:xfrm>
          <a:prstGeom prst="rect">
            <a:avLst/>
          </a:prstGeom>
          <a:noFill/>
          <a:ln/>
        </p:spPr>
        <p:txBody>
          <a:bodyPr wrap="square" lIns="0" tIns="0" rIns="0" bIns="0" rtlCol="0" anchor="t"/>
          <a:lstStyle/>
          <a:p>
            <a:pPr indent="0" marL="0">
              <a:lnSpc>
                <a:spcPct val="105000"/>
              </a:lnSpc>
              <a:buNone/>
            </a:pPr>
            <a:r>
              <a:rPr lang="en-US" sz="830" dirty="0">
                <a:solidFill>
                  <a:srgbClr val="3E4C63"/>
                </a:solidFill>
                <a:latin typeface="Calibri" pitchFamily="34" charset="0"/>
                <a:ea typeface="Calibri" pitchFamily="34" charset="-122"/>
                <a:cs typeface="Calibri" pitchFamily="34" charset="-120"/>
              </a:rPr>
              <a:t>Overhead % and margin % by commodity and supplier tier</a:t>
            </a:r>
            <a:endParaRPr lang="en-US" sz="830" dirty="0"/>
          </a:p>
        </p:txBody>
      </p:sp>
      <p:sp>
        <p:nvSpPr>
          <p:cNvPr id="35" name="Text 33"/>
          <p:cNvSpPr/>
          <p:nvPr/>
        </p:nvSpPr>
        <p:spPr>
          <a:xfrm>
            <a:off x="548640" y="3355848"/>
            <a:ext cx="11091672" cy="237744"/>
          </a:xfrm>
          <a:prstGeom prst="rect">
            <a:avLst/>
          </a:prstGeom>
          <a:noFill/>
          <a:ln/>
        </p:spPr>
        <p:txBody>
          <a:bodyPr wrap="square" lIns="0" tIns="0" rIns="0" bIns="0" rtlCol="0" anchor="t"/>
          <a:lstStyle/>
          <a:p>
            <a:pPr indent="0" marL="0">
              <a:buNone/>
            </a:pPr>
            <a:r>
              <a:rPr lang="en-US" sz="930" i="1" dirty="0">
                <a:solidFill>
                  <a:srgbClr val="8A97A8"/>
                </a:solidFill>
                <a:latin typeface="Calibri" pitchFamily="34" charset="0"/>
                <a:ea typeface="Calibri" pitchFamily="34" charset="-122"/>
                <a:cs typeface="Calibri" pitchFamily="34" charset="-120"/>
              </a:rPr>
              <a:t>Six rate tables — one tab each in the template.</a:t>
            </a:r>
            <a:endParaRPr lang="en-US" sz="930" dirty="0"/>
          </a:p>
        </p:txBody>
      </p:sp>
      <p:sp>
        <p:nvSpPr>
          <p:cNvPr id="36" name="Shape 34"/>
          <p:cNvSpPr/>
          <p:nvPr/>
        </p:nvSpPr>
        <p:spPr>
          <a:xfrm>
            <a:off x="548640" y="3474720"/>
            <a:ext cx="3617976" cy="1463040"/>
          </a:xfrm>
          <a:prstGeom prst="roundRect">
            <a:avLst>
              <a:gd name="adj" fmla="val 4375"/>
            </a:avLst>
          </a:prstGeom>
          <a:solidFill>
            <a:srgbClr val="FFFFFF"/>
          </a:solidFill>
          <a:ln w="12700">
            <a:solidFill>
              <a:srgbClr val="E4EAF2"/>
            </a:solidFill>
            <a:prstDash val="solid"/>
          </a:ln>
          <a:effectLst>
            <a:outerShdw sx="100000" sy="100000" kx="0" ky="0" algn="bl" rotWithShape="0" blurRad="5.295084864413956e+193" dist="1.5128813898325588e+193" dir="3.367838656103185e+226">
              <a:srgbClr val="9DB0CC">
                <a:alpha val="2.2000000000000008e+234"/>
              </a:srgbClr>
            </a:outerShdw>
          </a:effectLst>
        </p:spPr>
        <p:txBody>
          <a:bodyPr/>
          <a:p/>
        </p:txBody>
      </p:sp>
      <p:sp>
        <p:nvSpPr>
          <p:cNvPr id="37" name="Shape 35"/>
          <p:cNvSpPr/>
          <p:nvPr/>
        </p:nvSpPr>
        <p:spPr>
          <a:xfrm>
            <a:off x="548640" y="3474720"/>
            <a:ext cx="82296" cy="1463040"/>
          </a:xfrm>
          <a:prstGeom prst="rect">
            <a:avLst/>
          </a:prstGeom>
          <a:solidFill>
            <a:srgbClr val="7C3AED"/>
          </a:solidFill>
          <a:ln/>
        </p:spPr>
        <p:txBody>
          <a:bodyPr/>
          <a:p/>
        </p:txBody>
      </p:sp>
      <p:sp>
        <p:nvSpPr>
          <p:cNvPr id="38" name="Text 36"/>
          <p:cNvSpPr/>
          <p:nvPr/>
        </p:nvSpPr>
        <p:spPr>
          <a:xfrm>
            <a:off x="768096" y="3639312"/>
            <a:ext cx="3252216" cy="274320"/>
          </a:xfrm>
          <a:prstGeom prst="rect">
            <a:avLst/>
          </a:prstGeom>
          <a:noFill/>
          <a:ln/>
        </p:spPr>
        <p:txBody>
          <a:bodyPr wrap="square" lIns="0" tIns="0" rIns="0" bIns="0" rtlCol="0" anchor="t"/>
          <a:lstStyle/>
          <a:p>
            <a:pPr indent="0" marL="0">
              <a:buNone/>
            </a:pPr>
            <a:r>
              <a:rPr lang="en-US" sz="1200" b="1" spc="40" kern="0" dirty="0">
                <a:solidFill>
                  <a:srgbClr val="7C3AED"/>
                </a:solidFill>
                <a:latin typeface="Calibri" pitchFamily="34" charset="0"/>
                <a:ea typeface="Calibri" pitchFamily="34" charset="-122"/>
                <a:cs typeface="Calibri" pitchFamily="34" charset="-120"/>
              </a:rPr>
              <a:t>WHO CAN UPLOAD</a:t>
            </a:r>
            <a:endParaRPr lang="en-US" sz="1200" dirty="0"/>
          </a:p>
        </p:txBody>
      </p:sp>
      <p:sp>
        <p:nvSpPr>
          <p:cNvPr id="39" name="Text 37"/>
          <p:cNvSpPr/>
          <p:nvPr/>
        </p:nvSpPr>
        <p:spPr>
          <a:xfrm>
            <a:off x="768096" y="3986784"/>
            <a:ext cx="3215640" cy="859536"/>
          </a:xfrm>
          <a:prstGeom prst="rect">
            <a:avLst/>
          </a:prstGeom>
          <a:noFill/>
          <a:ln/>
        </p:spPr>
        <p:txBody>
          <a:bodyPr wrap="square" lIns="0" tIns="0" rIns="0" bIns="0" rtlCol="0" anchor="t"/>
          <a:lstStyle/>
          <a:p>
            <a:pPr indent="0" marL="0">
              <a:lnSpc>
                <a:spcPct val="112000"/>
              </a:lnSpc>
              <a:buNone/>
            </a:pPr>
            <a:r>
              <a:rPr lang="en-US" sz="960" b="1" dirty="0">
                <a:solidFill>
                  <a:srgbClr val="0F1E3D"/>
                </a:solidFill>
                <a:latin typeface="Calibri" pitchFamily="34" charset="0"/>
                <a:ea typeface="Calibri" pitchFamily="34" charset="-122"/>
                <a:cs typeface="Calibri" pitchFamily="34" charset="-120"/>
              </a:rPr>
              <a:t>Admins only. </a:t>
            </a:r>
            <a:pPr indent="0" marL="0">
              <a:lnSpc>
                <a:spcPct val="112000"/>
              </a:lnSpc>
              <a:buNone/>
            </a:pPr>
            <a:r>
              <a:rPr lang="en-US" sz="960" dirty="0">
                <a:solidFill>
                  <a:srgbClr val="3E4C63"/>
                </a:solidFill>
                <a:latin typeface="Calibri" pitchFamily="34" charset="0"/>
                <a:ea typeface="Calibri" pitchFamily="34" charset="-122"/>
                <a:cs typeface="Calibri" pitchFamily="34" charset="-120"/>
              </a:rPr>
              <a:t>Admins upload, switch company ↔ built-in, or reset. Everyone else costs on the active set, and a badge shows </a:t>
            </a:r>
            <a:pPr indent="0" marL="0">
              <a:lnSpc>
                <a:spcPct val="112000"/>
              </a:lnSpc>
              <a:buNone/>
            </a:pPr>
            <a:r>
              <a:rPr lang="en-US" sz="960" b="1" dirty="0">
                <a:solidFill>
                  <a:srgbClr val="0F1E3D"/>
                </a:solidFill>
                <a:latin typeface="Calibri" pitchFamily="34" charset="0"/>
                <a:ea typeface="Calibri" pitchFamily="34" charset="-122"/>
                <a:cs typeface="Calibri" pitchFamily="34" charset="-120"/>
              </a:rPr>
              <a:t>“Company rates active”</a:t>
            </a:r>
            <a:pPr indent="0" marL="0">
              <a:lnSpc>
                <a:spcPct val="112000"/>
              </a:lnSpc>
              <a:buNone/>
            </a:pPr>
            <a:r>
              <a:rPr lang="en-US" sz="960" dirty="0">
                <a:solidFill>
                  <a:srgbClr val="3E4C63"/>
                </a:solidFill>
                <a:latin typeface="Calibri" pitchFamily="34" charset="0"/>
                <a:ea typeface="Calibri" pitchFamily="34" charset="-122"/>
                <a:cs typeface="Calibri" pitchFamily="34" charset="-120"/>
              </a:rPr>
              <a:t>. One number across the team.</a:t>
            </a:r>
            <a:endParaRPr lang="en-US" sz="960" dirty="0"/>
          </a:p>
        </p:txBody>
      </p:sp>
      <p:sp>
        <p:nvSpPr>
          <p:cNvPr id="40" name="Shape 38"/>
          <p:cNvSpPr/>
          <p:nvPr/>
        </p:nvSpPr>
        <p:spPr>
          <a:xfrm>
            <a:off x="4285488" y="3474720"/>
            <a:ext cx="3617976" cy="1463040"/>
          </a:xfrm>
          <a:prstGeom prst="roundRect">
            <a:avLst>
              <a:gd name="adj" fmla="val 4375"/>
            </a:avLst>
          </a:prstGeom>
          <a:solidFill>
            <a:srgbClr val="FFFFFF"/>
          </a:solidFill>
          <a:ln w="12700">
            <a:solidFill>
              <a:srgbClr val="E4EAF2"/>
            </a:solidFill>
            <a:prstDash val="solid"/>
          </a:ln>
          <a:effectLst>
            <a:outerShdw sx="100000" sy="100000" kx="0" ky="0" algn="bl" rotWithShape="0" blurRad="6.724757777805725e+197" dist="1.9213593650873497e+197" dir="2.020703193661911e+231">
              <a:srgbClr val="9DB0CC">
                <a:alpha val="2.200000000000001e+239"/>
              </a:srgbClr>
            </a:outerShdw>
          </a:effectLst>
        </p:spPr>
        <p:txBody>
          <a:bodyPr/>
          <a:p/>
        </p:txBody>
      </p:sp>
      <p:sp>
        <p:nvSpPr>
          <p:cNvPr id="41" name="Shape 39"/>
          <p:cNvSpPr/>
          <p:nvPr/>
        </p:nvSpPr>
        <p:spPr>
          <a:xfrm>
            <a:off x="4285488" y="3474720"/>
            <a:ext cx="82296" cy="1463040"/>
          </a:xfrm>
          <a:prstGeom prst="rect">
            <a:avLst/>
          </a:prstGeom>
          <a:solidFill>
            <a:srgbClr val="2563EB"/>
          </a:solidFill>
          <a:ln/>
        </p:spPr>
        <p:txBody>
          <a:bodyPr/>
          <a:p/>
        </p:txBody>
      </p:sp>
      <p:sp>
        <p:nvSpPr>
          <p:cNvPr id="42" name="Text 40"/>
          <p:cNvSpPr/>
          <p:nvPr/>
        </p:nvSpPr>
        <p:spPr>
          <a:xfrm>
            <a:off x="4504944" y="3639312"/>
            <a:ext cx="3252216" cy="274320"/>
          </a:xfrm>
          <a:prstGeom prst="rect">
            <a:avLst/>
          </a:prstGeom>
          <a:noFill/>
          <a:ln/>
        </p:spPr>
        <p:txBody>
          <a:bodyPr wrap="square" lIns="0" tIns="0" rIns="0" bIns="0" rtlCol="0" anchor="t"/>
          <a:lstStyle/>
          <a:p>
            <a:pPr indent="0" marL="0">
              <a:buNone/>
            </a:pPr>
            <a:r>
              <a:rPr lang="en-US" sz="1200" b="1" spc="40" kern="0" dirty="0">
                <a:solidFill>
                  <a:srgbClr val="2563EB"/>
                </a:solidFill>
                <a:latin typeface="Calibri" pitchFamily="34" charset="0"/>
                <a:ea typeface="Calibri" pitchFamily="34" charset="-122"/>
                <a:cs typeface="Calibri" pitchFamily="34" charset="-120"/>
              </a:rPr>
              <a:t>THE EXCEL TEMPLATE</a:t>
            </a:r>
            <a:endParaRPr lang="en-US" sz="1200" dirty="0"/>
          </a:p>
        </p:txBody>
      </p:sp>
      <p:sp>
        <p:nvSpPr>
          <p:cNvPr id="43" name="Text 41"/>
          <p:cNvSpPr/>
          <p:nvPr/>
        </p:nvSpPr>
        <p:spPr>
          <a:xfrm>
            <a:off x="4504944" y="3986784"/>
            <a:ext cx="3215640" cy="859536"/>
          </a:xfrm>
          <a:prstGeom prst="rect">
            <a:avLst/>
          </a:prstGeom>
          <a:noFill/>
          <a:ln/>
        </p:spPr>
        <p:txBody>
          <a:bodyPr wrap="square" lIns="0" tIns="0" rIns="0" bIns="0" rtlCol="0" anchor="t"/>
          <a:lstStyle/>
          <a:p>
            <a:pPr indent="0" marL="0">
              <a:lnSpc>
                <a:spcPct val="112000"/>
              </a:lnSpc>
              <a:buNone/>
            </a:pPr>
            <a:r>
              <a:rPr lang="en-US" sz="960" b="1" dirty="0">
                <a:solidFill>
                  <a:srgbClr val="0F1E3D"/>
                </a:solidFill>
                <a:latin typeface="Calibri" pitchFamily="34" charset="0"/>
                <a:ea typeface="Calibri" pitchFamily="34" charset="-122"/>
                <a:cs typeface="Calibri" pitchFamily="34" charset="-120"/>
              </a:rPr>
              <a:t>One workbook, 6 tabs. </a:t>
            </a:r>
            <a:pPr indent="0" marL="0">
              <a:lnSpc>
                <a:spcPct val="112000"/>
              </a:lnSpc>
              <a:buNone/>
            </a:pPr>
            <a:r>
              <a:rPr lang="en-US" sz="960" dirty="0">
                <a:solidFill>
                  <a:srgbClr val="3E4C63"/>
                </a:solidFill>
                <a:latin typeface="Calibri" pitchFamily="34" charset="0"/>
                <a:ea typeface="Calibri" pitchFamily="34" charset="-122"/>
                <a:cs typeface="Calibri" pitchFamily="34" charset="-120"/>
              </a:rPr>
              <a:t>Download, fill, upload. The server checks every row and rejects bad cells with the row number. Each row carries an </a:t>
            </a:r>
            <a:pPr indent="0" marL="0">
              <a:lnSpc>
                <a:spcPct val="112000"/>
              </a:lnSpc>
              <a:buNone/>
            </a:pPr>
            <a:r>
              <a:rPr lang="en-US" sz="960" b="1" dirty="0">
                <a:solidFill>
                  <a:srgbClr val="0F1E3D"/>
                </a:solidFill>
                <a:latin typeface="Calibri" pitchFamily="34" charset="0"/>
                <a:ea typeface="Calibri" pitchFamily="34" charset="-122"/>
                <a:cs typeface="Calibri" pitchFamily="34" charset="-120"/>
              </a:rPr>
              <a:t>effective date and confidence.</a:t>
            </a:r>
            <a:endParaRPr lang="en-US" sz="960" dirty="0"/>
          </a:p>
        </p:txBody>
      </p:sp>
      <p:sp>
        <p:nvSpPr>
          <p:cNvPr id="44" name="Shape 42"/>
          <p:cNvSpPr/>
          <p:nvPr/>
        </p:nvSpPr>
        <p:spPr>
          <a:xfrm>
            <a:off x="8022336" y="3474720"/>
            <a:ext cx="3617976" cy="1463040"/>
          </a:xfrm>
          <a:prstGeom prst="roundRect">
            <a:avLst>
              <a:gd name="adj" fmla="val 4375"/>
            </a:avLst>
          </a:prstGeom>
          <a:solidFill>
            <a:srgbClr val="FFFFFF"/>
          </a:solidFill>
          <a:ln w="12700">
            <a:solidFill>
              <a:srgbClr val="E4EAF2"/>
            </a:solidFill>
            <a:prstDash val="solid"/>
          </a:ln>
          <a:effectLst>
            <a:outerShdw sx="100000" sy="100000" kx="0" ky="0" algn="bl" rotWithShape="0" blurRad="8.54044237781327e+201" dist="2.440126393660934e+201" dir="1.2124219161971466e+236">
              <a:srgbClr val="9DB0CC">
                <a:alpha val="2.200000000000001e+244"/>
              </a:srgbClr>
            </a:outerShdw>
          </a:effectLst>
        </p:spPr>
        <p:txBody>
          <a:bodyPr/>
          <a:p/>
        </p:txBody>
      </p:sp>
      <p:sp>
        <p:nvSpPr>
          <p:cNvPr id="45" name="Shape 43"/>
          <p:cNvSpPr/>
          <p:nvPr/>
        </p:nvSpPr>
        <p:spPr>
          <a:xfrm>
            <a:off x="8022336" y="3474720"/>
            <a:ext cx="82296" cy="1463040"/>
          </a:xfrm>
          <a:prstGeom prst="rect">
            <a:avLst/>
          </a:prstGeom>
          <a:solidFill>
            <a:srgbClr val="0EA472"/>
          </a:solidFill>
          <a:ln/>
        </p:spPr>
        <p:txBody>
          <a:bodyPr/>
          <a:p/>
        </p:txBody>
      </p:sp>
      <p:sp>
        <p:nvSpPr>
          <p:cNvPr id="46" name="Text 44"/>
          <p:cNvSpPr/>
          <p:nvPr/>
        </p:nvSpPr>
        <p:spPr>
          <a:xfrm>
            <a:off x="8241792" y="3639312"/>
            <a:ext cx="3252216" cy="274320"/>
          </a:xfrm>
          <a:prstGeom prst="rect">
            <a:avLst/>
          </a:prstGeom>
          <a:noFill/>
          <a:ln/>
        </p:spPr>
        <p:txBody>
          <a:bodyPr wrap="square" lIns="0" tIns="0" rIns="0" bIns="0" rtlCol="0" anchor="t"/>
          <a:lstStyle/>
          <a:p>
            <a:pPr indent="0" marL="0">
              <a:buNone/>
            </a:pPr>
            <a:r>
              <a:rPr lang="en-US" sz="1200" b="1" spc="40" kern="0" dirty="0">
                <a:solidFill>
                  <a:srgbClr val="0EA472"/>
                </a:solidFill>
                <a:latin typeface="Calibri" pitchFamily="34" charset="0"/>
                <a:ea typeface="Calibri" pitchFamily="34" charset="-122"/>
                <a:cs typeface="Calibri" pitchFamily="34" charset="-120"/>
              </a:rPr>
              <a:t>UPDATE WITH A NEW SET</a:t>
            </a:r>
            <a:endParaRPr lang="en-US" sz="1200" dirty="0"/>
          </a:p>
        </p:txBody>
      </p:sp>
      <p:sp>
        <p:nvSpPr>
          <p:cNvPr id="47" name="Text 45"/>
          <p:cNvSpPr/>
          <p:nvPr/>
        </p:nvSpPr>
        <p:spPr>
          <a:xfrm>
            <a:off x="8241792" y="3986784"/>
            <a:ext cx="3215640" cy="859536"/>
          </a:xfrm>
          <a:prstGeom prst="rect">
            <a:avLst/>
          </a:prstGeom>
          <a:noFill/>
          <a:ln/>
        </p:spPr>
        <p:txBody>
          <a:bodyPr wrap="square" lIns="0" tIns="0" rIns="0" bIns="0" rtlCol="0" anchor="t"/>
          <a:lstStyle/>
          <a:p>
            <a:pPr indent="0" marL="0">
              <a:lnSpc>
                <a:spcPct val="112000"/>
              </a:lnSpc>
              <a:buNone/>
            </a:pPr>
            <a:r>
              <a:rPr lang="en-US" sz="960" b="1" dirty="0">
                <a:solidFill>
                  <a:srgbClr val="0F1E3D"/>
                </a:solidFill>
                <a:latin typeface="Calibri" pitchFamily="34" charset="0"/>
                <a:ea typeface="Calibri" pitchFamily="34" charset="-122"/>
                <a:cs typeface="Calibri" pitchFamily="34" charset="-120"/>
              </a:rPr>
              <a:t>Load a new dated rate set</a:t>
            </a:r>
            <a:pPr indent="0" marL="0">
              <a:lnSpc>
                <a:spcPct val="112000"/>
              </a:lnSpc>
              <a:buNone/>
            </a:pPr>
            <a:r>
              <a:rPr lang="en-US" sz="960" dirty="0">
                <a:solidFill>
                  <a:srgbClr val="3E4C63"/>
                </a:solidFill>
                <a:latin typeface="Calibri" pitchFamily="34" charset="0"/>
                <a:ea typeface="Calibri" pitchFamily="34" charset="-122"/>
                <a:cs typeface="Calibri" pitchFamily="34" charset="-120"/>
              </a:rPr>
              <a:t> and activate it. Every new costing uses it. The library is </a:t>
            </a:r>
            <a:pPr indent="0" marL="0">
              <a:lnSpc>
                <a:spcPct val="112000"/>
              </a:lnSpc>
              <a:buNone/>
            </a:pPr>
            <a:r>
              <a:rPr lang="en-US" sz="960" b="1" dirty="0">
                <a:solidFill>
                  <a:srgbClr val="0F1E3D"/>
                </a:solidFill>
                <a:latin typeface="Calibri" pitchFamily="34" charset="0"/>
                <a:ea typeface="Calibri" pitchFamily="34" charset="-122"/>
                <a:cs typeface="Calibri" pitchFamily="34" charset="-120"/>
              </a:rPr>
              <a:t>versioned</a:t>
            </a:r>
            <a:pPr indent="0" marL="0">
              <a:lnSpc>
                <a:spcPct val="112000"/>
              </a:lnSpc>
              <a:buNone/>
            </a:pPr>
            <a:r>
              <a:rPr lang="en-US" sz="960" dirty="0">
                <a:solidFill>
                  <a:srgbClr val="3E4C63"/>
                </a:solidFill>
                <a:latin typeface="Calibri" pitchFamily="34" charset="0"/>
                <a:ea typeface="Calibri" pitchFamily="34" charset="-122"/>
                <a:cs typeface="Calibri" pitchFamily="34" charset="-120"/>
              </a:rPr>
              <a:t>, and each costing records which rate book it used, so a result can be reproduced.</a:t>
            </a:r>
            <a:endParaRPr lang="en-US" sz="960" dirty="0"/>
          </a:p>
        </p:txBody>
      </p:sp>
      <p:sp>
        <p:nvSpPr>
          <p:cNvPr id="48" name="Shape 46"/>
          <p:cNvSpPr/>
          <p:nvPr/>
        </p:nvSpPr>
        <p:spPr>
          <a:xfrm>
            <a:off x="548640" y="5138928"/>
            <a:ext cx="11091672" cy="841248"/>
          </a:xfrm>
          <a:prstGeom prst="roundRect">
            <a:avLst>
              <a:gd name="adj" fmla="val 7609"/>
            </a:avLst>
          </a:prstGeom>
          <a:solidFill>
            <a:srgbClr val="FEF6E7"/>
          </a:solidFill>
          <a:ln w="12700">
            <a:solidFill>
              <a:srgbClr val="E4EAF2"/>
            </a:solidFill>
            <a:prstDash val="solid"/>
          </a:ln>
        </p:spPr>
        <p:txBody>
          <a:bodyPr/>
          <a:p/>
        </p:txBody>
      </p:sp>
      <p:sp>
        <p:nvSpPr>
          <p:cNvPr id="49" name="Shape 47"/>
          <p:cNvSpPr/>
          <p:nvPr/>
        </p:nvSpPr>
        <p:spPr>
          <a:xfrm>
            <a:off x="548640" y="5138928"/>
            <a:ext cx="82296" cy="841248"/>
          </a:xfrm>
          <a:prstGeom prst="rect">
            <a:avLst/>
          </a:prstGeom>
          <a:solidFill>
            <a:srgbClr val="E0900C"/>
          </a:solidFill>
          <a:ln/>
        </p:spPr>
        <p:txBody>
          <a:bodyPr/>
          <a:p/>
        </p:txBody>
      </p:sp>
      <p:sp>
        <p:nvSpPr>
          <p:cNvPr id="50" name="Text 48"/>
          <p:cNvSpPr/>
          <p:nvPr/>
        </p:nvSpPr>
        <p:spPr>
          <a:xfrm>
            <a:off x="914400" y="5138928"/>
            <a:ext cx="10332720" cy="841248"/>
          </a:xfrm>
          <a:prstGeom prst="rect">
            <a:avLst/>
          </a:prstGeom>
          <a:noFill/>
          <a:ln/>
        </p:spPr>
        <p:txBody>
          <a:bodyPr wrap="square" lIns="0" tIns="0" rIns="0" bIns="0" rtlCol="0" anchor="ctr"/>
          <a:lstStyle/>
          <a:p>
            <a:pPr indent="0" marL="0">
              <a:lnSpc>
                <a:spcPct val="108000"/>
              </a:lnSpc>
              <a:buNone/>
            </a:pPr>
            <a:r>
              <a:rPr lang="en-US" sz="1120" b="1" dirty="0">
                <a:solidFill>
                  <a:srgbClr val="0F1E3D"/>
                </a:solidFill>
                <a:latin typeface="Calibri" pitchFamily="34" charset="0"/>
                <a:ea typeface="Calibri" pitchFamily="34" charset="-122"/>
                <a:cs typeface="Calibri" pitchFamily="34" charset="-120"/>
              </a:rPr>
              <a:t>Built-in library 2.1.0, dated 16 June 2026:  </a:t>
            </a:r>
            <a:pPr indent="0" marL="0">
              <a:lnSpc>
                <a:spcPct val="108000"/>
              </a:lnSpc>
              <a:buNone/>
            </a:pPr>
            <a:r>
              <a:rPr lang="en-US" sz="1120" dirty="0">
                <a:solidFill>
                  <a:srgbClr val="3E4C63"/>
                </a:solidFill>
                <a:latin typeface="Calibri" pitchFamily="34" charset="0"/>
                <a:ea typeface="Calibri" pitchFamily="34" charset="-122"/>
                <a:cs typeface="Calibri" pitchFamily="34" charset="-120"/>
              </a:rPr>
              <a:t>328 materials, 178 machines, 42 labour grades. The JLR Rate Converter workbook turns JLR’s own rate card into this format, with no macros.</a:t>
            </a:r>
            <a:endParaRPr lang="en-US" sz="1120" dirty="0"/>
          </a:p>
        </p:txBody>
      </p:sp>
      <p:sp>
        <p:nvSpPr>
          <p:cNvPr id="51" name="Shape 49"/>
          <p:cNvSpPr/>
          <p:nvPr/>
        </p:nvSpPr>
        <p:spPr>
          <a:xfrm>
            <a:off x="548640" y="6400800"/>
            <a:ext cx="11094415" cy="12802"/>
          </a:xfrm>
          <a:prstGeom prst="rect">
            <a:avLst/>
          </a:prstGeom>
          <a:solidFill>
            <a:srgbClr val="E4EAF2"/>
          </a:solidFill>
          <a:ln/>
        </p:spPr>
        <p:txBody>
          <a:bodyPr/>
          <a:p/>
        </p:txBody>
      </p:sp>
      <p:sp>
        <p:nvSpPr>
          <p:cNvPr id="52" name="Text 50"/>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3" name="Text 5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9 / 15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A472"/>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A472"/>
                </a:solidFill>
                <a:latin typeface="Calibri" pitchFamily="34" charset="0"/>
                <a:ea typeface="Calibri" pitchFamily="34" charset="-122"/>
                <a:cs typeface="Calibri" pitchFamily="34" charset="-120"/>
              </a:rPr>
              <a:t>DEEP DIVE · WORKED EXAMPLE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Worked example — aluminium HPDC casting, 8 regions</a:t>
            </a:r>
            <a:endParaRPr lang="en-US" sz="2400" dirty="0"/>
          </a:p>
        </p:txBody>
      </p:sp>
      <p:sp>
        <p:nvSpPr>
          <p:cNvPr id="9" name="Shape 7"/>
          <p:cNvSpPr/>
          <p:nvPr/>
        </p:nvSpPr>
        <p:spPr>
          <a:xfrm>
            <a:off x="548640" y="1371600"/>
            <a:ext cx="1051560" cy="45720"/>
          </a:xfrm>
          <a:prstGeom prst="rect">
            <a:avLst/>
          </a:prstGeom>
          <a:solidFill>
            <a:srgbClr val="0EA472"/>
          </a:solidFill>
          <a:ln/>
        </p:spPr>
        <p:txBody>
          <a:bodyPr/>
          <a:p/>
        </p:txBody>
      </p:sp>
      <p:sp>
        <p:nvSpPr>
          <p:cNvPr id="10" name="Text 8"/>
          <p:cNvSpPr/>
          <p:nvPr/>
        </p:nvSpPr>
        <p:spPr>
          <a:xfrm>
            <a:off x="548640" y="1536192"/>
            <a:ext cx="11064240" cy="365760"/>
          </a:xfrm>
          <a:prstGeom prst="rect">
            <a:avLst/>
          </a:prstGeom>
          <a:noFill/>
          <a:ln/>
        </p:spPr>
        <p:txBody>
          <a:bodyPr wrap="square" lIns="0" tIns="0" rIns="0" bIns="0" rtlCol="0" anchor="t"/>
          <a:lstStyle/>
          <a:p>
            <a:pPr indent="0" marL="0">
              <a:buNone/>
            </a:pPr>
            <a:r>
              <a:rPr lang="en-US" sz="1200" dirty="0">
                <a:solidFill>
                  <a:srgbClr val="3E4C63"/>
                </a:solidFill>
                <a:latin typeface="Calibri" pitchFamily="34" charset="0"/>
                <a:ea typeface="Calibri" pitchFamily="34" charset="-122"/>
                <a:cs typeface="Calibri" pitchFamily="34" charset="-120"/>
              </a:rPr>
              <a:t>A 1.2 kg ADC12 aluminium die-casting (2-cavity, 800 T press), run through the engine: the UK breakdown and the regional spread.</a:t>
            </a:r>
            <a:endParaRPr lang="en-US" sz="1200" dirty="0"/>
          </a:p>
        </p:txBody>
      </p:sp>
      <p:sp>
        <p:nvSpPr>
          <p:cNvPr id="11" name="Shape 9"/>
          <p:cNvSpPr/>
          <p:nvPr/>
        </p:nvSpPr>
        <p:spPr>
          <a:xfrm>
            <a:off x="548640" y="2011680"/>
            <a:ext cx="5394960" cy="2880360"/>
          </a:xfrm>
          <a:prstGeom prst="roundRect">
            <a:avLst>
              <a:gd name="adj" fmla="val 2222"/>
            </a:avLst>
          </a:prstGeom>
          <a:solidFill>
            <a:srgbClr val="FFFFFF"/>
          </a:solidFill>
          <a:ln w="12700">
            <a:solidFill>
              <a:srgbClr val="E4EAF2"/>
            </a:solidFill>
            <a:prstDash val="solid"/>
          </a:ln>
          <a:effectLst>
            <a:outerShdw sx="100000" sy="100000" kx="0" ky="0" algn="bl" rotWithShape="0" blurRad="1.0846361819822852e+206" dist="3.0989605199493864e+205" dir="7.27453149718288e+240">
              <a:srgbClr val="9DB0CC">
                <a:alpha val="2.200000000000001e+249"/>
              </a:srgbClr>
            </a:outerShdw>
          </a:effectLst>
        </p:spPr>
        <p:txBody>
          <a:bodyPr/>
          <a:p/>
        </p:txBody>
      </p:sp>
      <p:sp>
        <p:nvSpPr>
          <p:cNvPr id="12" name="Text 10"/>
          <p:cNvSpPr/>
          <p:nvPr/>
        </p:nvSpPr>
        <p:spPr>
          <a:xfrm>
            <a:off x="822960" y="2148840"/>
            <a:ext cx="5029200" cy="274320"/>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UK cost stack — £/part</a:t>
            </a:r>
            <a:endParaRPr lang="en-US" sz="1250" dirty="0"/>
          </a:p>
        </p:txBody>
      </p:sp>
      <p:graphicFrame>
        <p:nvGraphicFramePr>
          <p:cNvPr id="13" name="Chart 0" descr=""/>
          <p:cNvGraphicFramePr/>
          <p:nvPr/>
        </p:nvGraphicFramePr>
        <p:xfrm>
          <a:off x="731520" y="2468880"/>
          <a:ext cx="5029200" cy="21488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p:nvPr/>
        </p:nvSpPr>
        <p:spPr>
          <a:xfrm>
            <a:off x="822960" y="4617720"/>
            <a:ext cx="5029200" cy="274320"/>
          </a:xfrm>
          <a:prstGeom prst="rect">
            <a:avLst/>
          </a:prstGeom>
          <a:noFill/>
          <a:ln/>
        </p:spPr>
        <p:txBody>
          <a:bodyPr wrap="square" lIns="0" tIns="0" rIns="0" bIns="0" rtlCol="0" anchor="t"/>
          <a:lstStyle/>
          <a:p>
            <a:pPr indent="0" marL="0">
              <a:buNone/>
            </a:pPr>
            <a:r>
              <a:rPr lang="en-US" sz="950" i="1" dirty="0">
                <a:solidFill>
                  <a:srgbClr val="8A97A8"/>
                </a:solidFill>
                <a:latin typeface="Calibri" pitchFamily="34" charset="0"/>
                <a:ea typeface="Calibri" pitchFamily="34" charset="-122"/>
                <a:cs typeface="Calibri" pitchFamily="34" charset="-120"/>
              </a:rPr>
              <a:t>Total £6.96/part · material is 63%, the main driver.</a:t>
            </a:r>
            <a:endParaRPr lang="en-US" sz="950" dirty="0"/>
          </a:p>
        </p:txBody>
      </p:sp>
      <p:sp>
        <p:nvSpPr>
          <p:cNvPr id="15" name="Shape 12"/>
          <p:cNvSpPr/>
          <p:nvPr/>
        </p:nvSpPr>
        <p:spPr>
          <a:xfrm>
            <a:off x="6245352" y="2011680"/>
            <a:ext cx="5397703" cy="2880360"/>
          </a:xfrm>
          <a:prstGeom prst="roundRect">
            <a:avLst>
              <a:gd name="adj" fmla="val 2222"/>
            </a:avLst>
          </a:prstGeom>
          <a:solidFill>
            <a:srgbClr val="EAF1FE"/>
          </a:solidFill>
          <a:ln w="12700">
            <a:solidFill>
              <a:srgbClr val="E4EAF2"/>
            </a:solidFill>
            <a:prstDash val="solid"/>
          </a:ln>
        </p:spPr>
        <p:txBody>
          <a:bodyPr/>
          <a:p/>
        </p:txBody>
      </p:sp>
      <p:sp>
        <p:nvSpPr>
          <p:cNvPr id="16" name="Text 13"/>
          <p:cNvSpPr/>
          <p:nvPr/>
        </p:nvSpPr>
        <p:spPr>
          <a:xfrm>
            <a:off x="6519672" y="2148840"/>
            <a:ext cx="4940503" cy="274320"/>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Ex-works £/part by region</a:t>
            </a:r>
            <a:endParaRPr lang="en-US" sz="1250" dirty="0"/>
          </a:p>
        </p:txBody>
      </p:sp>
      <p:graphicFrame>
        <p:nvGraphicFramePr>
          <p:cNvPr id="17" name="Chart 1" descr=""/>
          <p:cNvGraphicFramePr/>
          <p:nvPr/>
        </p:nvGraphicFramePr>
        <p:xfrm>
          <a:off x="6428232" y="2468880"/>
          <a:ext cx="4986223" cy="2148840"/>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p:nvPr/>
        </p:nvSpPr>
        <p:spPr>
          <a:xfrm>
            <a:off x="6519672" y="4617720"/>
            <a:ext cx="4940503" cy="274320"/>
          </a:xfrm>
          <a:prstGeom prst="rect">
            <a:avLst/>
          </a:prstGeom>
          <a:noFill/>
          <a:ln/>
        </p:spPr>
        <p:txBody>
          <a:bodyPr wrap="square" lIns="0" tIns="0" rIns="0" bIns="0" rtlCol="0" anchor="t"/>
          <a:lstStyle/>
          <a:p>
            <a:pPr indent="0" marL="0">
              <a:buNone/>
            </a:pPr>
            <a:r>
              <a:rPr lang="en-US" sz="950" i="1" dirty="0">
                <a:solidFill>
                  <a:srgbClr val="8A97A8"/>
                </a:solidFill>
                <a:latin typeface="Calibri" pitchFamily="34" charset="0"/>
                <a:ea typeface="Calibri" pitchFamily="34" charset="-122"/>
                <a:cs typeface="Calibri" pitchFamily="34" charset="-120"/>
              </a:rPr>
              <a:t>China: 23% cheaper ex-works, about 12% once shipping and duty are added.</a:t>
            </a:r>
            <a:endParaRPr lang="en-US" sz="950" dirty="0"/>
          </a:p>
        </p:txBody>
      </p:sp>
      <p:sp>
        <p:nvSpPr>
          <p:cNvPr id="19" name="Shape 15"/>
          <p:cNvSpPr/>
          <p:nvPr/>
        </p:nvSpPr>
        <p:spPr>
          <a:xfrm>
            <a:off x="548640" y="5074920"/>
            <a:ext cx="11091672" cy="960120"/>
          </a:xfrm>
          <a:prstGeom prst="roundRect">
            <a:avLst>
              <a:gd name="adj" fmla="val 6667"/>
            </a:avLst>
          </a:prstGeom>
          <a:solidFill>
            <a:srgbClr val="E7F7F0"/>
          </a:solidFill>
          <a:ln w="12700">
            <a:solidFill>
              <a:srgbClr val="E4EAF2"/>
            </a:solidFill>
            <a:prstDash val="solid"/>
          </a:ln>
        </p:spPr>
        <p:txBody>
          <a:bodyPr/>
          <a:p/>
        </p:txBody>
      </p:sp>
      <p:sp>
        <p:nvSpPr>
          <p:cNvPr id="20" name="Shape 16"/>
          <p:cNvSpPr/>
          <p:nvPr/>
        </p:nvSpPr>
        <p:spPr>
          <a:xfrm>
            <a:off x="548640" y="5074920"/>
            <a:ext cx="82296" cy="960120"/>
          </a:xfrm>
          <a:prstGeom prst="rect">
            <a:avLst/>
          </a:prstGeom>
          <a:solidFill>
            <a:srgbClr val="0EA472"/>
          </a:solidFill>
          <a:ln/>
        </p:spPr>
        <p:txBody>
          <a:bodyPr/>
          <a:p/>
        </p:txBody>
      </p:sp>
      <p:sp>
        <p:nvSpPr>
          <p:cNvPr id="21" name="Text 17"/>
          <p:cNvSpPr/>
          <p:nvPr/>
        </p:nvSpPr>
        <p:spPr>
          <a:xfrm>
            <a:off x="914400" y="5193792"/>
            <a:ext cx="7315200" cy="274320"/>
          </a:xfrm>
          <a:prstGeom prst="rect">
            <a:avLst/>
          </a:prstGeom>
          <a:noFill/>
          <a:ln/>
        </p:spPr>
        <p:txBody>
          <a:bodyPr wrap="square" lIns="0" tIns="0" rIns="0" bIns="0" rtlCol="0" anchor="t"/>
          <a:lstStyle/>
          <a:p>
            <a:pPr indent="0" marL="0">
              <a:buNone/>
            </a:pPr>
            <a:r>
              <a:rPr lang="en-US" sz="1250" b="1" dirty="0">
                <a:solidFill>
                  <a:srgbClr val="0EA472"/>
                </a:solidFill>
                <a:latin typeface="Calibri" pitchFamily="34" charset="0"/>
                <a:ea typeface="Calibri" pitchFamily="34" charset="-122"/>
                <a:cs typeface="Calibri" pitchFamily="34" charset="-120"/>
              </a:rPr>
              <a:t>⟳  One versioned rate library</a:t>
            </a:r>
            <a:endParaRPr lang="en-US" sz="1250" dirty="0"/>
          </a:p>
        </p:txBody>
      </p:sp>
      <p:sp>
        <p:nvSpPr>
          <p:cNvPr id="22" name="Text 18"/>
          <p:cNvSpPr/>
          <p:nvPr/>
        </p:nvSpPr>
        <p:spPr>
          <a:xfrm>
            <a:off x="914400" y="5468112"/>
            <a:ext cx="10378440" cy="548640"/>
          </a:xfrm>
          <a:prstGeom prst="rect">
            <a:avLst/>
          </a:prstGeom>
          <a:noFill/>
          <a:ln/>
        </p:spPr>
        <p:txBody>
          <a:bodyPr wrap="square" lIns="0" tIns="0" rIns="0" bIns="0" rtlCol="0" anchor="t"/>
          <a:lstStyle/>
          <a:p>
            <a:pPr indent="0" marL="0">
              <a:lnSpc>
                <a:spcPct val="110000"/>
              </a:lnSpc>
              <a:buNone/>
            </a:pPr>
            <a:r>
              <a:rPr lang="en-US" sz="1080" dirty="0">
                <a:solidFill>
                  <a:srgbClr val="3E4C63"/>
                </a:solidFill>
                <a:latin typeface="Calibri" pitchFamily="34" charset="0"/>
                <a:ea typeface="Calibri" pitchFamily="34" charset="-122"/>
                <a:cs typeface="Calibri" pitchFamily="34" charset="-120"/>
              </a:rPr>
              <a:t>Material, labour, energy and overhead rates live in one versioned library, not in scattered spreadsheets. </a:t>
            </a:r>
            <a:pPr indent="0" marL="0">
              <a:lnSpc>
                <a:spcPct val="110000"/>
              </a:lnSpc>
              <a:buNone/>
            </a:pPr>
            <a:r>
              <a:rPr lang="en-US" sz="1080" b="1" dirty="0">
                <a:solidFill>
                  <a:srgbClr val="0F1E3D"/>
                </a:solidFill>
                <a:latin typeface="Calibri" pitchFamily="34" charset="0"/>
                <a:ea typeface="Calibri" pitchFamily="34" charset="-122"/>
                <a:cs typeface="Calibri" pitchFamily="34" charset="-120"/>
              </a:rPr>
              <a:t>Load a new dated rate set and every new costing uses it. </a:t>
            </a:r>
            <a:pPr indent="0" marL="0">
              <a:lnSpc>
                <a:spcPct val="110000"/>
              </a:lnSpc>
              <a:buNone/>
            </a:pPr>
            <a:r>
              <a:rPr lang="en-US" sz="1080" dirty="0">
                <a:solidFill>
                  <a:srgbClr val="3E4C63"/>
                </a:solidFill>
                <a:latin typeface="Calibri" pitchFamily="34" charset="0"/>
                <a:ea typeface="Calibri" pitchFamily="34" charset="-122"/>
                <a:cs typeface="Calibri" pitchFamily="34" charset="-120"/>
              </a:rPr>
              <a:t>Inputs: 45 s cycle, 75% yield, 3% reject, £120k die over 200k parts, 10% overhead, 7% margin.</a:t>
            </a:r>
            <a:endParaRPr lang="en-US" sz="1080" dirty="0"/>
          </a:p>
        </p:txBody>
      </p:sp>
      <p:sp>
        <p:nvSpPr>
          <p:cNvPr id="23" name="Shape 19"/>
          <p:cNvSpPr/>
          <p:nvPr/>
        </p:nvSpPr>
        <p:spPr>
          <a:xfrm>
            <a:off x="548640" y="6400800"/>
            <a:ext cx="11094415" cy="12802"/>
          </a:xfrm>
          <a:prstGeom prst="rect">
            <a:avLst/>
          </a:prstGeom>
          <a:solidFill>
            <a:srgbClr val="E4EAF2"/>
          </a:solidFill>
          <a:ln/>
        </p:spPr>
        <p:txBody>
          <a:bodyPr/>
          <a:p/>
        </p:txBody>
      </p:sp>
      <p:sp>
        <p:nvSpPr>
          <p:cNvPr id="24" name="Text 20"/>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25" name="Text 2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10 / 15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sp>
      <p:pic>
        <p:nvPicPr>
          <p:cNvPr id="3" name="Image 0" descr="/tmp/claude-0/-home-user-leamington-marathi/8bf32d1a-7485-5bd6-9947-7843ee6c5644/scratchpad/art/nego-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58000"/>
            </a:srgbClr>
          </a:solidFill>
          <a:ln/>
        </p:spPr>
      </p:sp>
      <p:sp>
        <p:nvSpPr>
          <p:cNvPr id="5" name="Shape 2"/>
          <p:cNvSpPr/>
          <p:nvPr/>
        </p:nvSpPr>
        <p:spPr>
          <a:xfrm>
            <a:off x="0" y="3931920"/>
            <a:ext cx="12191695" cy="2926080"/>
          </a:xfrm>
          <a:prstGeom prst="rect">
            <a:avLst/>
          </a:prstGeom>
          <a:solidFill>
            <a:srgbClr val="061024">
              <a:alpha val="80000"/>
            </a:srgbClr>
          </a:solidFill>
          <a:ln/>
        </p:spPr>
      </p:sp>
      <p:sp>
        <p:nvSpPr>
          <p:cNvPr id="6" name="Shape 3"/>
          <p:cNvSpPr/>
          <p:nvPr/>
        </p:nvSpPr>
        <p:spPr>
          <a:xfrm>
            <a:off x="0" y="0"/>
            <a:ext cx="146304" cy="6858000"/>
          </a:xfrm>
          <a:prstGeom prst="rect">
            <a:avLst/>
          </a:prstGeom>
          <a:solidFill>
            <a:srgbClr val="7C3AED"/>
          </a:solidFill>
          <a:ln/>
        </p:spPr>
      </p:sp>
      <p:sp>
        <p:nvSpPr>
          <p:cNvPr id="7" name="Shape 4"/>
          <p:cNvSpPr/>
          <p:nvPr/>
        </p:nvSpPr>
        <p:spPr>
          <a:xfrm>
            <a:off x="0" y="6729984"/>
            <a:ext cx="12191695" cy="128016"/>
          </a:xfrm>
          <a:prstGeom prst="rect">
            <a:avLst/>
          </a:prstGeom>
          <a:solidFill>
            <a:srgbClr val="7C3AED"/>
          </a:solidFill>
          <a:ln/>
        </p:spPr>
      </p:sp>
      <p:sp>
        <p:nvSpPr>
          <p:cNvPr id="8" name="Shape 5"/>
          <p:cNvSpPr/>
          <p:nvPr/>
        </p:nvSpPr>
        <p:spPr>
          <a:xfrm>
            <a:off x="548640" y="457200"/>
            <a:ext cx="402336" cy="402336"/>
          </a:xfrm>
          <a:prstGeom prst="roundRect">
            <a:avLst>
              <a:gd name="adj" fmla="val 22727"/>
            </a:avLst>
          </a:prstGeom>
          <a:solidFill>
            <a:srgbClr val="4F46E5"/>
          </a:solidFill>
          <a:ln/>
        </p:spPr>
      </p:sp>
      <p:sp>
        <p:nvSpPr>
          <p:cNvPr id="9" name="Text 6"/>
          <p:cNvSpPr/>
          <p:nvPr/>
        </p:nvSpPr>
        <p:spPr>
          <a:xfrm>
            <a:off x="548640" y="4572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cv</a:t>
            </a:r>
            <a:endParaRPr lang="en-US" sz="1600" dirty="0"/>
          </a:p>
        </p:txBody>
      </p:sp>
      <p:sp>
        <p:nvSpPr>
          <p:cNvPr id="10" name="Text 7"/>
          <p:cNvSpPr/>
          <p:nvPr/>
        </p:nvSpPr>
        <p:spPr>
          <a:xfrm>
            <a:off x="1097280" y="475488"/>
            <a:ext cx="36576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CostVision</a:t>
            </a:r>
            <a:endParaRPr lang="en-US" sz="1400" dirty="0"/>
          </a:p>
        </p:txBody>
      </p:sp>
      <p:sp>
        <p:nvSpPr>
          <p:cNvPr id="11" name="Shape 8"/>
          <p:cNvSpPr/>
          <p:nvPr/>
        </p:nvSpPr>
        <p:spPr>
          <a:xfrm>
            <a:off x="548640" y="4553712"/>
            <a:ext cx="658368" cy="82296"/>
          </a:xfrm>
          <a:prstGeom prst="rect">
            <a:avLst/>
          </a:prstGeom>
          <a:solidFill>
            <a:srgbClr val="7C3AED"/>
          </a:solidFill>
          <a:ln/>
        </p:spPr>
      </p:sp>
      <p:sp>
        <p:nvSpPr>
          <p:cNvPr id="12" name="Text 9"/>
          <p:cNvSpPr/>
          <p:nvPr/>
        </p:nvSpPr>
        <p:spPr>
          <a:xfrm>
            <a:off x="548640" y="4187952"/>
            <a:ext cx="9144000" cy="274320"/>
          </a:xfrm>
          <a:prstGeom prst="rect">
            <a:avLst/>
          </a:prstGeom>
          <a:noFill/>
          <a:ln/>
        </p:spPr>
        <p:txBody>
          <a:bodyPr wrap="square" lIns="0" tIns="0" rIns="0" bIns="0" rtlCol="0" anchor="t"/>
          <a:lstStyle/>
          <a:p>
            <a:pPr indent="0" marL="0">
              <a:buNone/>
            </a:pPr>
            <a:r>
              <a:rPr lang="en-US" sz="1300" b="1" spc="200" kern="0" dirty="0">
                <a:solidFill>
                  <a:srgbClr val="CFE0F5"/>
                </a:solidFill>
                <a:latin typeface="Calibri" pitchFamily="34" charset="0"/>
                <a:ea typeface="Calibri" pitchFamily="34" charset="-122"/>
                <a:cs typeface="Calibri" pitchFamily="34" charset="-120"/>
              </a:rPr>
              <a:t>DECIDE &amp; NEGOTIATE</a:t>
            </a:r>
            <a:endParaRPr lang="en-US" sz="1300" dirty="0"/>
          </a:p>
        </p:txBody>
      </p:sp>
      <p:sp>
        <p:nvSpPr>
          <p:cNvPr id="13" name="Text 10"/>
          <p:cNvSpPr/>
          <p:nvPr/>
        </p:nvSpPr>
        <p:spPr>
          <a:xfrm>
            <a:off x="548640" y="4736592"/>
            <a:ext cx="10607040" cy="1280160"/>
          </a:xfrm>
          <a:prstGeom prst="rect">
            <a:avLst/>
          </a:prstGeom>
          <a:noFill/>
          <a:ln/>
        </p:spPr>
        <p:txBody>
          <a:bodyPr wrap="square" lIns="0" tIns="0" rIns="0" bIns="0" rtlCol="0" anchor="t"/>
          <a:lstStyle/>
          <a:p>
            <a:pPr indent="0" marL="0">
              <a:lnSpc>
                <a:spcPct val="102000"/>
              </a:lnSpc>
              <a:buNone/>
            </a:pPr>
            <a:r>
              <a:rPr lang="en-US" sz="3800" b="1" dirty="0">
                <a:solidFill>
                  <a:srgbClr val="FFFFFF"/>
                </a:solidFill>
                <a:latin typeface="Calibri" pitchFamily="34" charset="0"/>
                <a:ea typeface="Calibri" pitchFamily="34" charset="-122"/>
                <a:cs typeface="Calibri" pitchFamily="34" charset="-120"/>
              </a:rPr>
              <a:t>Negotiation Intelligence</a:t>
            </a:r>
            <a:endParaRPr lang="en-US" sz="3800" dirty="0"/>
          </a:p>
        </p:txBody>
      </p:sp>
      <p:sp>
        <p:nvSpPr>
          <p:cNvPr id="14" name="Text 1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AFC4E2"/>
                </a:solidFill>
                <a:latin typeface="Calibri" pitchFamily="34" charset="0"/>
                <a:ea typeface="Calibri" pitchFamily="34" charset="-122"/>
                <a:cs typeface="Calibri" pitchFamily="34" charset="-120"/>
              </a:rPr>
              <a:t>21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7C3AED"/>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7C3AED"/>
                </a:solidFill>
                <a:latin typeface="Calibri" pitchFamily="34" charset="0"/>
                <a:ea typeface="Calibri" pitchFamily="34" charset="-122"/>
                <a:cs typeface="Calibri" pitchFamily="34" charset="-120"/>
              </a:rPr>
              <a:t>DECIDE &amp; NEGOTIATE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Negotiation — the quote against the should-cost</a:t>
            </a:r>
            <a:endParaRPr lang="en-US" sz="2400" dirty="0"/>
          </a:p>
        </p:txBody>
      </p:sp>
      <p:sp>
        <p:nvSpPr>
          <p:cNvPr id="9" name="Shape 7"/>
          <p:cNvSpPr/>
          <p:nvPr/>
        </p:nvSpPr>
        <p:spPr>
          <a:xfrm>
            <a:off x="548640" y="1371600"/>
            <a:ext cx="1051560" cy="45720"/>
          </a:xfrm>
          <a:prstGeom prst="rect">
            <a:avLst/>
          </a:prstGeom>
          <a:solidFill>
            <a:srgbClr val="7C3AED"/>
          </a:solidFill>
          <a:ln/>
        </p:spPr>
        <p:txBody>
          <a:bodyPr/>
          <a:p/>
        </p:txBody>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A should-cost is most useful when it goes into the supplier meeting. This is how it gets there.</a:t>
            </a:r>
            <a:endParaRPr lang="en-US" sz="1250" dirty="0"/>
          </a:p>
        </p:txBody>
      </p:sp>
      <p:sp>
        <p:nvSpPr>
          <p:cNvPr id="11" name="Shape 9"/>
          <p:cNvSpPr/>
          <p:nvPr/>
        </p:nvSpPr>
        <p:spPr>
          <a:xfrm>
            <a:off x="548640" y="210312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3774879511175023e+210" dist="3.9356798603357206e+209" dir="4.364718898309728e+245">
              <a:srgbClr val="9DB0CC">
                <a:alpha val="2.200000000000001e+254"/>
              </a:srgbClr>
            </a:outerShdw>
          </a:effectLst>
        </p:spPr>
        <p:txBody>
          <a:bodyPr/>
          <a:p/>
        </p:txBody>
      </p:sp>
      <p:sp>
        <p:nvSpPr>
          <p:cNvPr id="12" name="Shape 10"/>
          <p:cNvSpPr/>
          <p:nvPr/>
        </p:nvSpPr>
        <p:spPr>
          <a:xfrm>
            <a:off x="548640" y="2103120"/>
            <a:ext cx="2487168" cy="82296"/>
          </a:xfrm>
          <a:prstGeom prst="rect">
            <a:avLst/>
          </a:prstGeom>
          <a:solidFill>
            <a:srgbClr val="2563EB"/>
          </a:solidFill>
          <a:ln/>
        </p:spPr>
        <p:txBody>
          <a:bodyPr/>
          <a:p/>
        </p:txBody>
      </p:sp>
      <p:sp>
        <p:nvSpPr>
          <p:cNvPr id="13" name="Shape 11"/>
          <p:cNvSpPr/>
          <p:nvPr/>
        </p:nvSpPr>
        <p:spPr>
          <a:xfrm>
            <a:off x="1536192" y="2304288"/>
            <a:ext cx="512064" cy="512064"/>
          </a:xfrm>
          <a:prstGeom prst="ellipse">
            <a:avLst/>
          </a:prstGeom>
          <a:solidFill>
            <a:srgbClr val="EAF1FE"/>
          </a:solidFill>
          <a:ln/>
        </p:spPr>
        <p:txBody>
          <a:bodyPr/>
          <a:p/>
        </p:txBody>
      </p:sp>
      <p:sp>
        <p:nvSpPr>
          <p:cNvPr id="14" name="Text 12"/>
          <p:cNvSpPr/>
          <p:nvPr/>
        </p:nvSpPr>
        <p:spPr>
          <a:xfrm>
            <a:off x="1536192" y="2295144"/>
            <a:ext cx="512064" cy="512064"/>
          </a:xfrm>
          <a:prstGeom prst="rect">
            <a:avLst/>
          </a:prstGeom>
          <a:noFill/>
          <a:ln/>
        </p:spPr>
        <p:txBody>
          <a:bodyPr wrap="square" lIns="0" tIns="0" rIns="0" bIns="0" rtlCol="0" anchor="ctr"/>
          <a:lstStyle/>
          <a:p>
            <a:pPr algn="ct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640080" y="288950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Should-cost</a:t>
            </a:r>
            <a:endParaRPr lang="en-US" sz="1200" dirty="0"/>
          </a:p>
        </p:txBody>
      </p:sp>
      <p:sp>
        <p:nvSpPr>
          <p:cNvPr id="16" name="Text 14"/>
          <p:cNvSpPr/>
          <p:nvPr/>
        </p:nvSpPr>
        <p:spPr>
          <a:xfrm>
            <a:off x="658368" y="316382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our costed breakdown</a:t>
            </a:r>
            <a:endParaRPr lang="en-US" sz="860" dirty="0"/>
          </a:p>
        </p:txBody>
      </p:sp>
      <p:sp>
        <p:nvSpPr>
          <p:cNvPr id="17" name="Shape 15"/>
          <p:cNvSpPr/>
          <p:nvPr/>
        </p:nvSpPr>
        <p:spPr>
          <a:xfrm>
            <a:off x="3063240" y="2788920"/>
            <a:ext cx="265176" cy="0"/>
          </a:xfrm>
          <a:prstGeom prst="line">
            <a:avLst/>
          </a:prstGeom>
          <a:noFill/>
          <a:ln w="22225">
            <a:solidFill>
              <a:srgbClr val="D4DEEC"/>
            </a:solidFill>
            <a:prstDash val="solid"/>
            <a:headEnd type="none"/>
            <a:tailEnd type="triangle"/>
          </a:ln>
        </p:spPr>
        <p:txBody>
          <a:bodyPr/>
          <a:p/>
        </p:txBody>
      </p:sp>
      <p:sp>
        <p:nvSpPr>
          <p:cNvPr id="18" name="Shape 16"/>
          <p:cNvSpPr/>
          <p:nvPr/>
        </p:nvSpPr>
        <p:spPr>
          <a:xfrm>
            <a:off x="3355848" y="210312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7494096979192279e+214" dist="4.9983134226263654e+213" dir="2.6188313389858368e+250">
              <a:srgbClr val="9DB0CC">
                <a:alpha val="2.200000000000001e+259"/>
              </a:srgbClr>
            </a:outerShdw>
          </a:effectLst>
        </p:spPr>
        <p:txBody>
          <a:bodyPr/>
          <a:p/>
        </p:txBody>
      </p:sp>
      <p:sp>
        <p:nvSpPr>
          <p:cNvPr id="19" name="Shape 17"/>
          <p:cNvSpPr/>
          <p:nvPr/>
        </p:nvSpPr>
        <p:spPr>
          <a:xfrm>
            <a:off x="3355848" y="2103120"/>
            <a:ext cx="2487168" cy="82296"/>
          </a:xfrm>
          <a:prstGeom prst="rect">
            <a:avLst/>
          </a:prstGeom>
          <a:solidFill>
            <a:srgbClr val="0E93B0"/>
          </a:solidFill>
          <a:ln/>
        </p:spPr>
        <p:txBody>
          <a:bodyPr/>
          <a:p/>
        </p:txBody>
      </p:sp>
      <p:sp>
        <p:nvSpPr>
          <p:cNvPr id="20" name="Shape 18"/>
          <p:cNvSpPr/>
          <p:nvPr/>
        </p:nvSpPr>
        <p:spPr>
          <a:xfrm>
            <a:off x="4343400" y="2304288"/>
            <a:ext cx="512064" cy="512064"/>
          </a:xfrm>
          <a:prstGeom prst="ellipse">
            <a:avLst/>
          </a:prstGeom>
          <a:solidFill>
            <a:srgbClr val="E8F6FA"/>
          </a:solidFill>
          <a:ln/>
        </p:spPr>
        <p:txBody>
          <a:bodyPr/>
          <a:p/>
        </p:txBody>
      </p:sp>
      <p:sp>
        <p:nvSpPr>
          <p:cNvPr id="21" name="Text 19"/>
          <p:cNvSpPr/>
          <p:nvPr/>
        </p:nvSpPr>
        <p:spPr>
          <a:xfrm>
            <a:off x="4343400" y="2295144"/>
            <a:ext cx="512064" cy="512064"/>
          </a:xfrm>
          <a:prstGeom prst="rect">
            <a:avLst/>
          </a:prstGeom>
          <a:noFill/>
          <a:ln/>
        </p:spPr>
        <p:txBody>
          <a:bodyPr wrap="square" lIns="0" tIns="0" rIns="0" bIns="0" rtlCol="0" anchor="ctr"/>
          <a:lstStyle/>
          <a:p>
            <a:pPr algn="ctr" indent="0" marL="0">
              <a:buNone/>
            </a:pPr>
            <a:r>
              <a:rPr lang="en-US" sz="1800" b="1" dirty="0">
                <a:solidFill>
                  <a:srgbClr val="0E93B0"/>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3447288" y="288950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Supplier quote in</a:t>
            </a:r>
            <a:endParaRPr lang="en-US" sz="1200" dirty="0"/>
          </a:p>
        </p:txBody>
      </p:sp>
      <p:sp>
        <p:nvSpPr>
          <p:cNvPr id="23" name="Text 21"/>
          <p:cNvSpPr/>
          <p:nvPr/>
        </p:nvSpPr>
        <p:spPr>
          <a:xfrm>
            <a:off x="3465576" y="316382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Excel or line-by-line</a:t>
            </a:r>
            <a:endParaRPr lang="en-US" sz="860" dirty="0"/>
          </a:p>
        </p:txBody>
      </p:sp>
      <p:sp>
        <p:nvSpPr>
          <p:cNvPr id="24" name="Shape 22"/>
          <p:cNvSpPr/>
          <p:nvPr/>
        </p:nvSpPr>
        <p:spPr>
          <a:xfrm>
            <a:off x="5870448" y="2788920"/>
            <a:ext cx="265176" cy="0"/>
          </a:xfrm>
          <a:prstGeom prst="line">
            <a:avLst/>
          </a:prstGeom>
          <a:noFill/>
          <a:ln w="22225">
            <a:solidFill>
              <a:srgbClr val="D4DEEC"/>
            </a:solidFill>
            <a:prstDash val="solid"/>
            <a:headEnd type="none"/>
            <a:tailEnd type="triangle"/>
          </a:ln>
        </p:spPr>
        <p:txBody>
          <a:bodyPr/>
          <a:p/>
        </p:txBody>
      </p:sp>
      <p:sp>
        <p:nvSpPr>
          <p:cNvPr id="25" name="Shape 23"/>
          <p:cNvSpPr/>
          <p:nvPr/>
        </p:nvSpPr>
        <p:spPr>
          <a:xfrm>
            <a:off x="6163056" y="210312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2.2217503163574194e+218" dist="6.347858046735484e+217" dir="1.571298803391502e+255">
              <a:srgbClr val="9DB0CC">
                <a:alpha val="2.200000000000001e+264"/>
              </a:srgbClr>
            </a:outerShdw>
          </a:effectLst>
        </p:spPr>
        <p:txBody>
          <a:bodyPr/>
          <a:p/>
        </p:txBody>
      </p:sp>
      <p:sp>
        <p:nvSpPr>
          <p:cNvPr id="26" name="Shape 24"/>
          <p:cNvSpPr/>
          <p:nvPr/>
        </p:nvSpPr>
        <p:spPr>
          <a:xfrm>
            <a:off x="6163056" y="2103120"/>
            <a:ext cx="2487168" cy="82296"/>
          </a:xfrm>
          <a:prstGeom prst="rect">
            <a:avLst/>
          </a:prstGeom>
          <a:solidFill>
            <a:srgbClr val="E0900C"/>
          </a:solidFill>
          <a:ln/>
        </p:spPr>
        <p:txBody>
          <a:bodyPr/>
          <a:p/>
        </p:txBody>
      </p:sp>
      <p:sp>
        <p:nvSpPr>
          <p:cNvPr id="27" name="Shape 25"/>
          <p:cNvSpPr/>
          <p:nvPr/>
        </p:nvSpPr>
        <p:spPr>
          <a:xfrm>
            <a:off x="7150608" y="2304288"/>
            <a:ext cx="512064" cy="512064"/>
          </a:xfrm>
          <a:prstGeom prst="ellipse">
            <a:avLst/>
          </a:prstGeom>
          <a:solidFill>
            <a:srgbClr val="FEF6E7"/>
          </a:solidFill>
          <a:ln/>
        </p:spPr>
        <p:txBody>
          <a:bodyPr/>
          <a:p/>
        </p:txBody>
      </p:sp>
      <p:sp>
        <p:nvSpPr>
          <p:cNvPr id="28" name="Text 26"/>
          <p:cNvSpPr/>
          <p:nvPr/>
        </p:nvSpPr>
        <p:spPr>
          <a:xfrm>
            <a:off x="7150608" y="2295144"/>
            <a:ext cx="512064" cy="512064"/>
          </a:xfrm>
          <a:prstGeom prst="rect">
            <a:avLst/>
          </a:prstGeom>
          <a:noFill/>
          <a:ln/>
        </p:spPr>
        <p:txBody>
          <a:bodyPr wrap="square" lIns="0" tIns="0" rIns="0" bIns="0" rtlCol="0" anchor="ctr"/>
          <a:lstStyle/>
          <a:p>
            <a:pPr algn="ctr" indent="0" marL="0">
              <a:buNone/>
            </a:pPr>
            <a:r>
              <a:rPr lang="en-US" sz="1800" b="1" dirty="0">
                <a:solidFill>
                  <a:srgbClr val="E0900C"/>
                </a:solidFill>
                <a:latin typeface="Calibri" pitchFamily="34" charset="0"/>
                <a:ea typeface="Calibri" pitchFamily="34" charset="-122"/>
                <a:cs typeface="Calibri" pitchFamily="34" charset="-120"/>
              </a:rPr>
              <a:t>⚙</a:t>
            </a:r>
            <a:endParaRPr lang="en-US" sz="1800" dirty="0"/>
          </a:p>
        </p:txBody>
      </p:sp>
      <p:sp>
        <p:nvSpPr>
          <p:cNvPr id="29" name="Text 27"/>
          <p:cNvSpPr/>
          <p:nvPr/>
        </p:nvSpPr>
        <p:spPr>
          <a:xfrm>
            <a:off x="6254496" y="288950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Gap teardown</a:t>
            </a:r>
            <a:endParaRPr lang="en-US" sz="1200" dirty="0"/>
          </a:p>
        </p:txBody>
      </p:sp>
      <p:sp>
        <p:nvSpPr>
          <p:cNvPr id="30" name="Text 28"/>
          <p:cNvSpPr/>
          <p:nvPr/>
        </p:nvSpPr>
        <p:spPr>
          <a:xfrm>
            <a:off x="6272784" y="316382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by bucket and driver: material, cycle, rate, margin</a:t>
            </a:r>
            <a:endParaRPr lang="en-US" sz="860" dirty="0"/>
          </a:p>
        </p:txBody>
      </p:sp>
      <p:sp>
        <p:nvSpPr>
          <p:cNvPr id="31" name="Shape 29"/>
          <p:cNvSpPr/>
          <p:nvPr/>
        </p:nvSpPr>
        <p:spPr>
          <a:xfrm>
            <a:off x="8677656" y="2788920"/>
            <a:ext cx="265176" cy="0"/>
          </a:xfrm>
          <a:prstGeom prst="line">
            <a:avLst/>
          </a:prstGeom>
          <a:noFill/>
          <a:ln w="22225">
            <a:solidFill>
              <a:srgbClr val="D4DEEC"/>
            </a:solidFill>
            <a:prstDash val="solid"/>
            <a:headEnd type="none"/>
            <a:tailEnd type="triangle"/>
          </a:ln>
        </p:spPr>
        <p:txBody>
          <a:bodyPr/>
          <a:p/>
        </p:txBody>
      </p:sp>
      <p:sp>
        <p:nvSpPr>
          <p:cNvPr id="32" name="Shape 30"/>
          <p:cNvSpPr/>
          <p:nvPr/>
        </p:nvSpPr>
        <p:spPr>
          <a:xfrm>
            <a:off x="8970264" y="210312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2.8216229017739227e+222" dist="8.061779719354066e+221" dir="9.427792820349012e+259">
              <a:srgbClr val="9DB0CC">
                <a:alpha val="2.2000000000000007e+269"/>
              </a:srgbClr>
            </a:outerShdw>
          </a:effectLst>
        </p:spPr>
        <p:txBody>
          <a:bodyPr/>
          <a:p/>
        </p:txBody>
      </p:sp>
      <p:sp>
        <p:nvSpPr>
          <p:cNvPr id="33" name="Shape 31"/>
          <p:cNvSpPr/>
          <p:nvPr/>
        </p:nvSpPr>
        <p:spPr>
          <a:xfrm>
            <a:off x="8970264" y="2103120"/>
            <a:ext cx="2487168" cy="82296"/>
          </a:xfrm>
          <a:prstGeom prst="rect">
            <a:avLst/>
          </a:prstGeom>
          <a:solidFill>
            <a:srgbClr val="0EA472"/>
          </a:solidFill>
          <a:ln/>
        </p:spPr>
        <p:txBody>
          <a:bodyPr/>
          <a:p/>
        </p:txBody>
      </p:sp>
      <p:sp>
        <p:nvSpPr>
          <p:cNvPr id="34" name="Shape 32"/>
          <p:cNvSpPr/>
          <p:nvPr/>
        </p:nvSpPr>
        <p:spPr>
          <a:xfrm>
            <a:off x="9957816" y="2304288"/>
            <a:ext cx="512064" cy="512064"/>
          </a:xfrm>
          <a:prstGeom prst="ellipse">
            <a:avLst/>
          </a:prstGeom>
          <a:solidFill>
            <a:srgbClr val="E7F7F0"/>
          </a:solidFill>
          <a:ln/>
        </p:spPr>
        <p:txBody>
          <a:bodyPr/>
          <a:p/>
        </p:txBody>
      </p:sp>
      <p:sp>
        <p:nvSpPr>
          <p:cNvPr id="35" name="Text 33"/>
          <p:cNvSpPr/>
          <p:nvPr/>
        </p:nvSpPr>
        <p:spPr>
          <a:xfrm>
            <a:off x="9957816" y="2295144"/>
            <a:ext cx="512064" cy="512064"/>
          </a:xfrm>
          <a:prstGeom prst="rect">
            <a:avLst/>
          </a:prstGeom>
          <a:noFill/>
          <a:ln/>
        </p:spPr>
        <p:txBody>
          <a:bodyPr wrap="square" lIns="0" tIns="0" rIns="0" bIns="0" rtlCol="0" anchor="ctr"/>
          <a:lstStyle/>
          <a:p>
            <a:pPr algn="ctr" indent="0" marL="0">
              <a:buNone/>
            </a:pPr>
            <a:r>
              <a:rPr lang="en-US" sz="1800" b="1" dirty="0">
                <a:solidFill>
                  <a:srgbClr val="0EA472"/>
                </a:solidFill>
                <a:latin typeface="Calibri" pitchFamily="34" charset="0"/>
                <a:ea typeface="Calibri" pitchFamily="34" charset="-122"/>
                <a:cs typeface="Calibri" pitchFamily="34" charset="-120"/>
              </a:rPr>
              <a:t>◈</a:t>
            </a:r>
            <a:endParaRPr lang="en-US" sz="1800" dirty="0"/>
          </a:p>
        </p:txBody>
      </p:sp>
      <p:sp>
        <p:nvSpPr>
          <p:cNvPr id="36" name="Text 34"/>
          <p:cNvSpPr/>
          <p:nvPr/>
        </p:nvSpPr>
        <p:spPr>
          <a:xfrm>
            <a:off x="9061704" y="288950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Negotiation pack</a:t>
            </a:r>
            <a:endParaRPr lang="en-US" sz="1200" dirty="0"/>
          </a:p>
        </p:txBody>
      </p:sp>
      <p:sp>
        <p:nvSpPr>
          <p:cNvPr id="37" name="Text 35"/>
          <p:cNvSpPr/>
          <p:nvPr/>
        </p:nvSpPr>
        <p:spPr>
          <a:xfrm>
            <a:off x="9079992" y="316382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gap table, ranked levers, supplier questions</a:t>
            </a:r>
            <a:endParaRPr lang="en-US" sz="860" dirty="0"/>
          </a:p>
        </p:txBody>
      </p:sp>
      <p:sp>
        <p:nvSpPr>
          <p:cNvPr id="38" name="Shape 36"/>
          <p:cNvSpPr/>
          <p:nvPr/>
        </p:nvSpPr>
        <p:spPr>
          <a:xfrm>
            <a:off x="548640" y="3794760"/>
            <a:ext cx="2724912" cy="960120"/>
          </a:xfrm>
          <a:prstGeom prst="roundRect">
            <a:avLst>
              <a:gd name="adj" fmla="val 5714"/>
            </a:avLst>
          </a:prstGeom>
          <a:solidFill>
            <a:srgbClr val="F4F7FB"/>
          </a:solidFill>
          <a:ln w="12700">
            <a:solidFill>
              <a:srgbClr val="E4EAF2"/>
            </a:solidFill>
            <a:prstDash val="solid"/>
          </a:ln>
        </p:spPr>
        <p:txBody>
          <a:bodyPr/>
          <a:p/>
        </p:txBody>
      </p:sp>
      <p:sp>
        <p:nvSpPr>
          <p:cNvPr id="39" name="Shape 37"/>
          <p:cNvSpPr/>
          <p:nvPr/>
        </p:nvSpPr>
        <p:spPr>
          <a:xfrm>
            <a:off x="548640" y="3794760"/>
            <a:ext cx="73152" cy="960120"/>
          </a:xfrm>
          <a:prstGeom prst="rect">
            <a:avLst/>
          </a:prstGeom>
          <a:solidFill>
            <a:srgbClr val="E5484D"/>
          </a:solidFill>
          <a:ln/>
        </p:spPr>
        <p:txBody>
          <a:bodyPr/>
          <a:p/>
        </p:txBody>
      </p:sp>
      <p:sp>
        <p:nvSpPr>
          <p:cNvPr id="40" name="Text 38"/>
          <p:cNvSpPr/>
          <p:nvPr/>
        </p:nvSpPr>
        <p:spPr>
          <a:xfrm>
            <a:off x="768096" y="3922776"/>
            <a:ext cx="2377440" cy="457200"/>
          </a:xfrm>
          <a:prstGeom prst="rect">
            <a:avLst/>
          </a:prstGeom>
          <a:noFill/>
          <a:ln/>
        </p:spPr>
        <p:txBody>
          <a:bodyPr wrap="square" lIns="0" tIns="0" rIns="0" bIns="0" rtlCol="0" anchor="t"/>
          <a:lstStyle/>
          <a:p>
            <a:pPr indent="0" marL="0">
              <a:buNone/>
            </a:pPr>
            <a:r>
              <a:rPr lang="en-US" sz="2000" b="1" dirty="0">
                <a:solidFill>
                  <a:srgbClr val="E5484D"/>
                </a:solidFill>
                <a:latin typeface="Calibri" pitchFamily="34" charset="0"/>
                <a:ea typeface="Calibri" pitchFamily="34" charset="-122"/>
                <a:cs typeface="Calibri" pitchFamily="34" charset="-120"/>
              </a:rPr>
              <a:t>8</a:t>
            </a:r>
            <a:endParaRPr lang="en-US" sz="2000" dirty="0"/>
          </a:p>
        </p:txBody>
      </p:sp>
      <p:sp>
        <p:nvSpPr>
          <p:cNvPr id="41" name="Text 39"/>
          <p:cNvSpPr/>
          <p:nvPr/>
        </p:nvSpPr>
        <p:spPr>
          <a:xfrm>
            <a:off x="768096" y="4343400"/>
            <a:ext cx="2377440" cy="365760"/>
          </a:xfrm>
          <a:prstGeom prst="rect">
            <a:avLst/>
          </a:prstGeom>
          <a:noFill/>
          <a:ln/>
        </p:spPr>
        <p:txBody>
          <a:bodyPr wrap="square" lIns="0" tIns="0" rIns="0" bIns="0" rtlCol="0" anchor="t"/>
          <a:lstStyle/>
          <a:p>
            <a:pPr indent="0" marL="0">
              <a:lnSpc>
                <a:spcPct val="100000"/>
              </a:lnSpc>
              <a:buNone/>
            </a:pPr>
            <a:r>
              <a:rPr lang="en-US" sz="900" dirty="0">
                <a:solidFill>
                  <a:srgbClr val="8A97A8"/>
                </a:solidFill>
                <a:latin typeface="Calibri" pitchFamily="34" charset="0"/>
                <a:ea typeface="Calibri" pitchFamily="34" charset="-122"/>
                <a:cs typeface="Calibri" pitchFamily="34" charset="-120"/>
              </a:rPr>
              <a:t>cost buckets compared line by line</a:t>
            </a:r>
            <a:endParaRPr lang="en-US" sz="900" dirty="0"/>
          </a:p>
        </p:txBody>
      </p:sp>
      <p:sp>
        <p:nvSpPr>
          <p:cNvPr id="42" name="Shape 40"/>
          <p:cNvSpPr/>
          <p:nvPr/>
        </p:nvSpPr>
        <p:spPr>
          <a:xfrm>
            <a:off x="3319272" y="3794760"/>
            <a:ext cx="2724912" cy="960120"/>
          </a:xfrm>
          <a:prstGeom prst="roundRect">
            <a:avLst>
              <a:gd name="adj" fmla="val 5714"/>
            </a:avLst>
          </a:prstGeom>
          <a:solidFill>
            <a:srgbClr val="F4F7FB"/>
          </a:solidFill>
          <a:ln w="12700">
            <a:solidFill>
              <a:srgbClr val="E4EAF2"/>
            </a:solidFill>
            <a:prstDash val="solid"/>
          </a:ln>
        </p:spPr>
        <p:txBody>
          <a:bodyPr/>
          <a:p/>
        </p:txBody>
      </p:sp>
      <p:sp>
        <p:nvSpPr>
          <p:cNvPr id="43" name="Shape 41"/>
          <p:cNvSpPr/>
          <p:nvPr/>
        </p:nvSpPr>
        <p:spPr>
          <a:xfrm>
            <a:off x="3319272" y="3794760"/>
            <a:ext cx="73152" cy="960120"/>
          </a:xfrm>
          <a:prstGeom prst="rect">
            <a:avLst/>
          </a:prstGeom>
          <a:solidFill>
            <a:srgbClr val="E0900C"/>
          </a:solidFill>
          <a:ln/>
        </p:spPr>
        <p:txBody>
          <a:bodyPr/>
          <a:p/>
        </p:txBody>
      </p:sp>
      <p:sp>
        <p:nvSpPr>
          <p:cNvPr id="44" name="Text 42"/>
          <p:cNvSpPr/>
          <p:nvPr/>
        </p:nvSpPr>
        <p:spPr>
          <a:xfrm>
            <a:off x="3538728" y="3922776"/>
            <a:ext cx="2377440" cy="457200"/>
          </a:xfrm>
          <a:prstGeom prst="rect">
            <a:avLst/>
          </a:prstGeom>
          <a:noFill/>
          <a:ln/>
        </p:spPr>
        <p:txBody>
          <a:bodyPr wrap="square" lIns="0" tIns="0" rIns="0" bIns="0" rtlCol="0" anchor="t"/>
          <a:lstStyle/>
          <a:p>
            <a:pPr indent="0" marL="0">
              <a:buNone/>
            </a:pPr>
            <a:r>
              <a:rPr lang="en-US" sz="2000" b="1" dirty="0">
                <a:solidFill>
                  <a:srgbClr val="E0900C"/>
                </a:solidFill>
                <a:latin typeface="Calibri" pitchFamily="34" charset="0"/>
                <a:ea typeface="Calibri" pitchFamily="34" charset="-122"/>
                <a:cs typeface="Calibri" pitchFamily="34" charset="-120"/>
              </a:rPr>
              <a:t>Excel</a:t>
            </a:r>
            <a:endParaRPr lang="en-US" sz="2000" dirty="0"/>
          </a:p>
        </p:txBody>
      </p:sp>
      <p:sp>
        <p:nvSpPr>
          <p:cNvPr id="45" name="Text 43"/>
          <p:cNvSpPr/>
          <p:nvPr/>
        </p:nvSpPr>
        <p:spPr>
          <a:xfrm>
            <a:off x="3538728" y="4343400"/>
            <a:ext cx="2377440" cy="365760"/>
          </a:xfrm>
          <a:prstGeom prst="rect">
            <a:avLst/>
          </a:prstGeom>
          <a:noFill/>
          <a:ln/>
        </p:spPr>
        <p:txBody>
          <a:bodyPr wrap="square" lIns="0" tIns="0" rIns="0" bIns="0" rtlCol="0" anchor="t"/>
          <a:lstStyle/>
          <a:p>
            <a:pPr indent="0" marL="0">
              <a:lnSpc>
                <a:spcPct val="100000"/>
              </a:lnSpc>
              <a:buNone/>
            </a:pPr>
            <a:r>
              <a:rPr lang="en-US" sz="900" dirty="0">
                <a:solidFill>
                  <a:srgbClr val="8A97A8"/>
                </a:solidFill>
                <a:latin typeface="Calibri" pitchFamily="34" charset="0"/>
                <a:ea typeface="Calibri" pitchFamily="34" charset="-122"/>
                <a:cs typeface="Calibri" pitchFamily="34" charset="-120"/>
              </a:rPr>
              <a:t>quote template, built for each part</a:t>
            </a:r>
            <a:endParaRPr lang="en-US" sz="900" dirty="0"/>
          </a:p>
        </p:txBody>
      </p:sp>
      <p:sp>
        <p:nvSpPr>
          <p:cNvPr id="46" name="Shape 44"/>
          <p:cNvSpPr/>
          <p:nvPr/>
        </p:nvSpPr>
        <p:spPr>
          <a:xfrm>
            <a:off x="6089904" y="3794760"/>
            <a:ext cx="2724912" cy="960120"/>
          </a:xfrm>
          <a:prstGeom prst="roundRect">
            <a:avLst>
              <a:gd name="adj" fmla="val 5714"/>
            </a:avLst>
          </a:prstGeom>
          <a:solidFill>
            <a:srgbClr val="F4F7FB"/>
          </a:solidFill>
          <a:ln w="12700">
            <a:solidFill>
              <a:srgbClr val="E4EAF2"/>
            </a:solidFill>
            <a:prstDash val="solid"/>
          </a:ln>
        </p:spPr>
        <p:txBody>
          <a:bodyPr/>
          <a:p/>
        </p:txBody>
      </p:sp>
      <p:sp>
        <p:nvSpPr>
          <p:cNvPr id="47" name="Shape 45"/>
          <p:cNvSpPr/>
          <p:nvPr/>
        </p:nvSpPr>
        <p:spPr>
          <a:xfrm>
            <a:off x="6089904" y="3794760"/>
            <a:ext cx="73152" cy="960120"/>
          </a:xfrm>
          <a:prstGeom prst="rect">
            <a:avLst/>
          </a:prstGeom>
          <a:solidFill>
            <a:srgbClr val="0EA472"/>
          </a:solidFill>
          <a:ln/>
        </p:spPr>
        <p:txBody>
          <a:bodyPr/>
          <a:p/>
        </p:txBody>
      </p:sp>
      <p:sp>
        <p:nvSpPr>
          <p:cNvPr id="48" name="Text 46"/>
          <p:cNvSpPr/>
          <p:nvPr/>
        </p:nvSpPr>
        <p:spPr>
          <a:xfrm>
            <a:off x="6309360" y="3922776"/>
            <a:ext cx="2377440" cy="457200"/>
          </a:xfrm>
          <a:prstGeom prst="rect">
            <a:avLst/>
          </a:prstGeom>
          <a:noFill/>
          <a:ln/>
        </p:spPr>
        <p:txBody>
          <a:bodyPr wrap="square" lIns="0" tIns="0" rIns="0" bIns="0" rtlCol="0" anchor="t"/>
          <a:lstStyle/>
          <a:p>
            <a:pPr indent="0" marL="0">
              <a:buNone/>
            </a:pPr>
            <a:r>
              <a:rPr lang="en-US" sz="2000" b="1" dirty="0">
                <a:solidFill>
                  <a:srgbClr val="0EA472"/>
                </a:solidFill>
                <a:latin typeface="Calibri" pitchFamily="34" charset="0"/>
                <a:ea typeface="Calibri" pitchFamily="34" charset="-122"/>
                <a:cs typeface="Calibri" pitchFamily="34" charset="-120"/>
              </a:rPr>
              <a:t>PDF + PPT</a:t>
            </a:r>
            <a:endParaRPr lang="en-US" sz="2000" dirty="0"/>
          </a:p>
        </p:txBody>
      </p:sp>
      <p:sp>
        <p:nvSpPr>
          <p:cNvPr id="49" name="Text 47"/>
          <p:cNvSpPr/>
          <p:nvPr/>
        </p:nvSpPr>
        <p:spPr>
          <a:xfrm>
            <a:off x="6309360" y="4343400"/>
            <a:ext cx="2377440" cy="365760"/>
          </a:xfrm>
          <a:prstGeom prst="rect">
            <a:avLst/>
          </a:prstGeom>
          <a:noFill/>
          <a:ln/>
        </p:spPr>
        <p:txBody>
          <a:bodyPr wrap="square" lIns="0" tIns="0" rIns="0" bIns="0" rtlCol="0" anchor="t"/>
          <a:lstStyle/>
          <a:p>
            <a:pPr indent="0" marL="0">
              <a:lnSpc>
                <a:spcPct val="100000"/>
              </a:lnSpc>
              <a:buNone/>
            </a:pPr>
            <a:r>
              <a:rPr lang="en-US" sz="900" dirty="0">
                <a:solidFill>
                  <a:srgbClr val="8A97A8"/>
                </a:solidFill>
                <a:latin typeface="Calibri" pitchFamily="34" charset="0"/>
                <a:ea typeface="Calibri" pitchFamily="34" charset="-122"/>
                <a:cs typeface="Calibri" pitchFamily="34" charset="-120"/>
              </a:rPr>
              <a:t>one-click negotiation pack</a:t>
            </a:r>
            <a:endParaRPr lang="en-US" sz="900" dirty="0"/>
          </a:p>
        </p:txBody>
      </p:sp>
      <p:sp>
        <p:nvSpPr>
          <p:cNvPr id="50" name="Shape 48"/>
          <p:cNvSpPr/>
          <p:nvPr/>
        </p:nvSpPr>
        <p:spPr>
          <a:xfrm>
            <a:off x="8860536" y="3794760"/>
            <a:ext cx="2724912" cy="960120"/>
          </a:xfrm>
          <a:prstGeom prst="roundRect">
            <a:avLst>
              <a:gd name="adj" fmla="val 5714"/>
            </a:avLst>
          </a:prstGeom>
          <a:solidFill>
            <a:srgbClr val="F4F7FB"/>
          </a:solidFill>
          <a:ln w="12700">
            <a:solidFill>
              <a:srgbClr val="E4EAF2"/>
            </a:solidFill>
            <a:prstDash val="solid"/>
          </a:ln>
        </p:spPr>
        <p:txBody>
          <a:bodyPr/>
          <a:p/>
        </p:txBody>
      </p:sp>
      <p:sp>
        <p:nvSpPr>
          <p:cNvPr id="51" name="Shape 49"/>
          <p:cNvSpPr/>
          <p:nvPr/>
        </p:nvSpPr>
        <p:spPr>
          <a:xfrm>
            <a:off x="8860536" y="3794760"/>
            <a:ext cx="73152" cy="960120"/>
          </a:xfrm>
          <a:prstGeom prst="rect">
            <a:avLst/>
          </a:prstGeom>
          <a:solidFill>
            <a:srgbClr val="7C3AED"/>
          </a:solidFill>
          <a:ln/>
        </p:spPr>
        <p:txBody>
          <a:bodyPr/>
          <a:p/>
        </p:txBody>
      </p:sp>
      <p:sp>
        <p:nvSpPr>
          <p:cNvPr id="52" name="Text 50"/>
          <p:cNvSpPr/>
          <p:nvPr/>
        </p:nvSpPr>
        <p:spPr>
          <a:xfrm>
            <a:off x="9079992" y="3922776"/>
            <a:ext cx="2377440" cy="457200"/>
          </a:xfrm>
          <a:prstGeom prst="rect">
            <a:avLst/>
          </a:prstGeom>
          <a:noFill/>
          <a:ln/>
        </p:spPr>
        <p:txBody>
          <a:bodyPr wrap="square" lIns="0" tIns="0" rIns="0" bIns="0" rtlCol="0" anchor="t"/>
          <a:lstStyle/>
          <a:p>
            <a:pPr indent="0" marL="0">
              <a:buNone/>
            </a:pPr>
            <a:r>
              <a:rPr lang="en-US" sz="2000" b="1" dirty="0">
                <a:solidFill>
                  <a:srgbClr val="7C3AED"/>
                </a:solidFill>
                <a:latin typeface="Calibri" pitchFamily="34" charset="0"/>
                <a:ea typeface="Calibri" pitchFamily="34" charset="-122"/>
                <a:cs typeface="Calibri" pitchFamily="34" charset="-120"/>
              </a:rPr>
              <a:t>3</a:t>
            </a:r>
            <a:endParaRPr lang="en-US" sz="2000" dirty="0"/>
          </a:p>
        </p:txBody>
      </p:sp>
      <p:sp>
        <p:nvSpPr>
          <p:cNvPr id="53" name="Text 51"/>
          <p:cNvSpPr/>
          <p:nvPr/>
        </p:nvSpPr>
        <p:spPr>
          <a:xfrm>
            <a:off x="9079992" y="4343400"/>
            <a:ext cx="2377440" cy="365760"/>
          </a:xfrm>
          <a:prstGeom prst="rect">
            <a:avLst/>
          </a:prstGeom>
          <a:noFill/>
          <a:ln/>
        </p:spPr>
        <p:txBody>
          <a:bodyPr wrap="square" lIns="0" tIns="0" rIns="0" bIns="0" rtlCol="0" anchor="t"/>
          <a:lstStyle/>
          <a:p>
            <a:pPr indent="0" marL="0">
              <a:lnSpc>
                <a:spcPct val="100000"/>
              </a:lnSpc>
              <a:buNone/>
            </a:pPr>
            <a:r>
              <a:rPr lang="en-US" sz="900" dirty="0">
                <a:solidFill>
                  <a:srgbClr val="8A97A8"/>
                </a:solidFill>
                <a:latin typeface="Calibri" pitchFamily="34" charset="0"/>
                <a:ea typeface="Calibri" pitchFamily="34" charset="-122"/>
                <a:cs typeface="Calibri" pitchFamily="34" charset="-120"/>
              </a:rPr>
              <a:t>logged actuals correct the band</a:t>
            </a:r>
            <a:endParaRPr lang="en-US" sz="900" dirty="0"/>
          </a:p>
        </p:txBody>
      </p:sp>
      <p:sp>
        <p:nvSpPr>
          <p:cNvPr id="54" name="Text 52"/>
          <p:cNvSpPr/>
          <p:nvPr/>
        </p:nvSpPr>
        <p:spPr>
          <a:xfrm>
            <a:off x="566928" y="4782312"/>
            <a:ext cx="10972800" cy="182880"/>
          </a:xfrm>
          <a:prstGeom prst="rect">
            <a:avLst/>
          </a:prstGeom>
          <a:noFill/>
          <a:ln/>
        </p:spPr>
        <p:txBody>
          <a:bodyPr wrap="square" lIns="0" tIns="0" rIns="0" bIns="0" rtlCol="0" anchor="t"/>
          <a:lstStyle/>
          <a:p>
            <a:pPr indent="0" marL="0">
              <a:buNone/>
            </a:pPr>
            <a:r>
              <a:rPr lang="en-US" sz="850" i="1" dirty="0">
                <a:solidFill>
                  <a:srgbClr val="8A97A8"/>
                </a:solidFill>
                <a:latin typeface="Calibri" pitchFamily="34" charset="0"/>
                <a:ea typeface="Calibri" pitchFamily="34" charset="-122"/>
                <a:cs typeface="Calibri" pitchFamily="34" charset="-120"/>
              </a:rPr>
              <a:t>No savings figure is claimed here. Savings will be measured on real JLR quotes.</a:t>
            </a:r>
            <a:endParaRPr lang="en-US" sz="850" dirty="0"/>
          </a:p>
        </p:txBody>
      </p:sp>
      <p:sp>
        <p:nvSpPr>
          <p:cNvPr id="55" name="Shape 53"/>
          <p:cNvSpPr/>
          <p:nvPr/>
        </p:nvSpPr>
        <p:spPr>
          <a:xfrm>
            <a:off x="548640" y="5010912"/>
            <a:ext cx="11091672" cy="914400"/>
          </a:xfrm>
          <a:prstGeom prst="roundRect">
            <a:avLst>
              <a:gd name="adj" fmla="val 7000"/>
            </a:avLst>
          </a:prstGeom>
          <a:solidFill>
            <a:srgbClr val="F3EEFE"/>
          </a:solidFill>
          <a:ln w="12700">
            <a:solidFill>
              <a:srgbClr val="E4EAF2"/>
            </a:solidFill>
            <a:prstDash val="solid"/>
          </a:ln>
        </p:spPr>
        <p:txBody>
          <a:bodyPr/>
          <a:p/>
        </p:txBody>
      </p:sp>
      <p:sp>
        <p:nvSpPr>
          <p:cNvPr id="56" name="Shape 54"/>
          <p:cNvSpPr/>
          <p:nvPr/>
        </p:nvSpPr>
        <p:spPr>
          <a:xfrm>
            <a:off x="548640" y="5010912"/>
            <a:ext cx="82296" cy="914400"/>
          </a:xfrm>
          <a:prstGeom prst="rect">
            <a:avLst/>
          </a:prstGeom>
          <a:solidFill>
            <a:srgbClr val="7C3AED"/>
          </a:solidFill>
          <a:ln/>
        </p:spPr>
        <p:txBody>
          <a:bodyPr/>
          <a:p/>
        </p:txBody>
      </p:sp>
      <p:sp>
        <p:nvSpPr>
          <p:cNvPr id="57" name="Text 55"/>
          <p:cNvSpPr/>
          <p:nvPr/>
        </p:nvSpPr>
        <p:spPr>
          <a:xfrm>
            <a:off x="914400" y="5120640"/>
            <a:ext cx="10378440" cy="731520"/>
          </a:xfrm>
          <a:prstGeom prst="rect">
            <a:avLst/>
          </a:prstGeom>
          <a:noFill/>
          <a:ln/>
        </p:spPr>
        <p:txBody>
          <a:bodyPr wrap="square" lIns="0" tIns="0" rIns="0" bIns="0" rtlCol="0" anchor="t"/>
          <a:lstStyle/>
          <a:p>
            <a:pPr indent="0" marL="0">
              <a:lnSpc>
                <a:spcPct val="115000"/>
              </a:lnSpc>
              <a:buNone/>
            </a:pPr>
            <a:r>
              <a:rPr lang="en-US" sz="1150" b="1" dirty="0">
                <a:solidFill>
                  <a:srgbClr val="0F1E3D"/>
                </a:solidFill>
                <a:latin typeface="Calibri" pitchFamily="34" charset="0"/>
                <a:ea typeface="Calibri" pitchFamily="34" charset="-122"/>
                <a:cs typeface="Calibri" pitchFamily="34" charset="-120"/>
              </a:rPr>
              <a:t>The pack contains:  </a:t>
            </a:r>
            <a:pPr indent="0" marL="0">
              <a:lnSpc>
                <a:spcPct val="115000"/>
              </a:lnSpc>
              <a:buNone/>
            </a:pPr>
            <a:r>
              <a:rPr lang="en-US" sz="1150" dirty="0">
                <a:solidFill>
                  <a:srgbClr val="3E4C63"/>
                </a:solidFill>
                <a:latin typeface="Calibri" pitchFamily="34" charset="0"/>
                <a:ea typeface="Calibri" pitchFamily="34" charset="-122"/>
                <a:cs typeface="Calibri" pitchFamily="34" charset="-120"/>
              </a:rPr>
              <a:t>a line-by-line gap table, which driver causes each gap, levers ranked by £ a year, and questions to send the supplier. We stop arguing about the total and start talking about the drivers.</a:t>
            </a:r>
            <a:endParaRPr lang="en-US" sz="1150" dirty="0"/>
          </a:p>
        </p:txBody>
      </p:sp>
      <p:sp>
        <p:nvSpPr>
          <p:cNvPr id="58" name="Shape 56"/>
          <p:cNvSpPr/>
          <p:nvPr/>
        </p:nvSpPr>
        <p:spPr>
          <a:xfrm>
            <a:off x="548640" y="6400800"/>
            <a:ext cx="11094415" cy="12802"/>
          </a:xfrm>
          <a:prstGeom prst="rect">
            <a:avLst/>
          </a:prstGeom>
          <a:solidFill>
            <a:srgbClr val="E4EAF2"/>
          </a:solidFill>
          <a:ln/>
        </p:spPr>
        <p:txBody>
          <a:bodyPr/>
          <a:p/>
        </p:txBody>
      </p:sp>
      <p:sp>
        <p:nvSpPr>
          <p:cNvPr id="59" name="Text 57"/>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60" name="Text 58"/>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11 / 15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sp>
      <p:pic>
        <p:nvPicPr>
          <p:cNvPr id="3" name="Image 0" descr="/tmp/claude-0/-home-user-leamington-marathi/8bf32d1a-7485-5bd6-9947-7843ee6c5644/scratchpad/art/agent-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58000"/>
            </a:srgbClr>
          </a:solidFill>
          <a:ln/>
        </p:spPr>
      </p:sp>
      <p:sp>
        <p:nvSpPr>
          <p:cNvPr id="5" name="Shape 2"/>
          <p:cNvSpPr/>
          <p:nvPr/>
        </p:nvSpPr>
        <p:spPr>
          <a:xfrm>
            <a:off x="0" y="3931920"/>
            <a:ext cx="12191695" cy="2926080"/>
          </a:xfrm>
          <a:prstGeom prst="rect">
            <a:avLst/>
          </a:prstGeom>
          <a:solidFill>
            <a:srgbClr val="061024">
              <a:alpha val="80000"/>
            </a:srgbClr>
          </a:solidFill>
          <a:ln/>
        </p:spPr>
      </p:sp>
      <p:sp>
        <p:nvSpPr>
          <p:cNvPr id="6" name="Shape 3"/>
          <p:cNvSpPr/>
          <p:nvPr/>
        </p:nvSpPr>
        <p:spPr>
          <a:xfrm>
            <a:off x="0" y="0"/>
            <a:ext cx="146304" cy="6858000"/>
          </a:xfrm>
          <a:prstGeom prst="rect">
            <a:avLst/>
          </a:prstGeom>
          <a:solidFill>
            <a:srgbClr val="4F46E5"/>
          </a:solidFill>
          <a:ln/>
        </p:spPr>
      </p:sp>
      <p:sp>
        <p:nvSpPr>
          <p:cNvPr id="7" name="Shape 4"/>
          <p:cNvSpPr/>
          <p:nvPr/>
        </p:nvSpPr>
        <p:spPr>
          <a:xfrm>
            <a:off x="0" y="6729984"/>
            <a:ext cx="12191695" cy="128016"/>
          </a:xfrm>
          <a:prstGeom prst="rect">
            <a:avLst/>
          </a:prstGeom>
          <a:solidFill>
            <a:srgbClr val="4F46E5"/>
          </a:solidFill>
          <a:ln/>
        </p:spPr>
      </p:sp>
      <p:sp>
        <p:nvSpPr>
          <p:cNvPr id="8" name="Shape 5"/>
          <p:cNvSpPr/>
          <p:nvPr/>
        </p:nvSpPr>
        <p:spPr>
          <a:xfrm>
            <a:off x="548640" y="457200"/>
            <a:ext cx="402336" cy="402336"/>
          </a:xfrm>
          <a:prstGeom prst="roundRect">
            <a:avLst>
              <a:gd name="adj" fmla="val 22727"/>
            </a:avLst>
          </a:prstGeom>
          <a:solidFill>
            <a:srgbClr val="4F46E5"/>
          </a:solidFill>
          <a:ln/>
        </p:spPr>
      </p:sp>
      <p:sp>
        <p:nvSpPr>
          <p:cNvPr id="9" name="Text 6"/>
          <p:cNvSpPr/>
          <p:nvPr/>
        </p:nvSpPr>
        <p:spPr>
          <a:xfrm>
            <a:off x="548640" y="4572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cv</a:t>
            </a:r>
            <a:endParaRPr lang="en-US" sz="1600" dirty="0"/>
          </a:p>
        </p:txBody>
      </p:sp>
      <p:sp>
        <p:nvSpPr>
          <p:cNvPr id="10" name="Text 7"/>
          <p:cNvSpPr/>
          <p:nvPr/>
        </p:nvSpPr>
        <p:spPr>
          <a:xfrm>
            <a:off x="1097280" y="475488"/>
            <a:ext cx="36576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CostVision</a:t>
            </a:r>
            <a:endParaRPr lang="en-US" sz="1400" dirty="0"/>
          </a:p>
        </p:txBody>
      </p:sp>
      <p:sp>
        <p:nvSpPr>
          <p:cNvPr id="11" name="Shape 8"/>
          <p:cNvSpPr/>
          <p:nvPr/>
        </p:nvSpPr>
        <p:spPr>
          <a:xfrm>
            <a:off x="548640" y="4553712"/>
            <a:ext cx="658368" cy="82296"/>
          </a:xfrm>
          <a:prstGeom prst="rect">
            <a:avLst/>
          </a:prstGeom>
          <a:solidFill>
            <a:srgbClr val="4F46E5"/>
          </a:solidFill>
          <a:ln/>
        </p:spPr>
      </p:sp>
      <p:sp>
        <p:nvSpPr>
          <p:cNvPr id="12" name="Text 9"/>
          <p:cNvSpPr/>
          <p:nvPr/>
        </p:nvSpPr>
        <p:spPr>
          <a:xfrm>
            <a:off x="548640" y="4187952"/>
            <a:ext cx="9144000" cy="274320"/>
          </a:xfrm>
          <a:prstGeom prst="rect">
            <a:avLst/>
          </a:prstGeom>
          <a:noFill/>
          <a:ln/>
        </p:spPr>
        <p:txBody>
          <a:bodyPr wrap="square" lIns="0" tIns="0" rIns="0" bIns="0" rtlCol="0" anchor="t"/>
          <a:lstStyle/>
          <a:p>
            <a:pPr indent="0" marL="0">
              <a:buNone/>
            </a:pPr>
            <a:r>
              <a:rPr lang="en-US" sz="1300" b="1" spc="200" kern="0" dirty="0">
                <a:solidFill>
                  <a:srgbClr val="CFE0F5"/>
                </a:solidFill>
                <a:latin typeface="Calibri" pitchFamily="34" charset="0"/>
                <a:ea typeface="Calibri" pitchFamily="34" charset="-122"/>
                <a:cs typeface="Calibri" pitchFamily="34" charset="-120"/>
              </a:rPr>
              <a:t>LEARN &amp; GOVERN</a:t>
            </a:r>
            <a:endParaRPr lang="en-US" sz="1300" dirty="0"/>
          </a:p>
        </p:txBody>
      </p:sp>
      <p:sp>
        <p:nvSpPr>
          <p:cNvPr id="13" name="Text 10"/>
          <p:cNvSpPr/>
          <p:nvPr/>
        </p:nvSpPr>
        <p:spPr>
          <a:xfrm>
            <a:off x="548640" y="4736592"/>
            <a:ext cx="10607040" cy="1280160"/>
          </a:xfrm>
          <a:prstGeom prst="rect">
            <a:avLst/>
          </a:prstGeom>
          <a:noFill/>
          <a:ln/>
        </p:spPr>
        <p:txBody>
          <a:bodyPr wrap="square" lIns="0" tIns="0" rIns="0" bIns="0" rtlCol="0" anchor="t"/>
          <a:lstStyle/>
          <a:p>
            <a:pPr indent="0" marL="0">
              <a:lnSpc>
                <a:spcPct val="102000"/>
              </a:lnSpc>
              <a:buNone/>
            </a:pPr>
            <a:r>
              <a:rPr lang="en-US" sz="3800" b="1" dirty="0">
                <a:solidFill>
                  <a:srgbClr val="FFFFFF"/>
                </a:solidFill>
                <a:latin typeface="Calibri" pitchFamily="34" charset="0"/>
                <a:ea typeface="Calibri" pitchFamily="34" charset="-122"/>
                <a:cs typeface="Calibri" pitchFamily="34" charset="-120"/>
              </a:rPr>
              <a:t>Agentic AI</a:t>
            </a:r>
            <a:endParaRPr lang="en-US" sz="3800" dirty="0"/>
          </a:p>
        </p:txBody>
      </p:sp>
      <p:sp>
        <p:nvSpPr>
          <p:cNvPr id="14" name="Text 1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AFC4E2"/>
                </a:solidFill>
                <a:latin typeface="Calibri" pitchFamily="34" charset="0"/>
                <a:ea typeface="Calibri" pitchFamily="34" charset="-122"/>
                <a:cs typeface="Calibri" pitchFamily="34" charset="-120"/>
              </a:rPr>
              <a:t>23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4F46E5"/>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4F46E5"/>
                </a:solidFill>
                <a:latin typeface="Calibri" pitchFamily="34" charset="0"/>
                <a:ea typeface="Calibri" pitchFamily="34" charset="-122"/>
                <a:cs typeface="Calibri" pitchFamily="34" charset="-120"/>
              </a:rPr>
              <a:t>LEARN &amp; GOVERN</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Learning — it remembers, compares and checks</a:t>
            </a:r>
            <a:endParaRPr lang="en-US" sz="2400" dirty="0"/>
          </a:p>
        </p:txBody>
      </p:sp>
      <p:sp>
        <p:nvSpPr>
          <p:cNvPr id="9" name="Shape 7"/>
          <p:cNvSpPr/>
          <p:nvPr/>
        </p:nvSpPr>
        <p:spPr>
          <a:xfrm>
            <a:off x="548640" y="1371600"/>
            <a:ext cx="1051560" cy="45720"/>
          </a:xfrm>
          <a:prstGeom prst="rect">
            <a:avLst/>
          </a:prstGeom>
          <a:solidFill>
            <a:srgbClr val="4F46E5"/>
          </a:solidFill>
          <a:ln/>
        </p:spPr>
        <p:txBody>
          <a:bodyPr/>
          <a:p/>
        </p:txBody>
      </p:sp>
      <p:sp>
        <p:nvSpPr>
          <p:cNvPr id="10" name="Shape 8"/>
          <p:cNvSpPr/>
          <p:nvPr/>
        </p:nvSpPr>
        <p:spPr>
          <a:xfrm>
            <a:off x="548640" y="1691640"/>
            <a:ext cx="2542032" cy="2423160"/>
          </a:xfrm>
          <a:prstGeom prst="roundRect">
            <a:avLst>
              <a:gd name="adj" fmla="val 2642"/>
            </a:avLst>
          </a:prstGeom>
          <a:solidFill>
            <a:srgbClr val="FFFFFF"/>
          </a:solidFill>
          <a:ln w="12700">
            <a:solidFill>
              <a:srgbClr val="E4EAF2"/>
            </a:solidFill>
            <a:prstDash val="solid"/>
          </a:ln>
          <a:effectLst>
            <a:outerShdw sx="100000" sy="100000" kx="0" ky="0" algn="bl" rotWithShape="0" blurRad="3.5834610852528816e+226" dist="1.0238460243579663e+226" dir="5.656675692209407e+264">
              <a:srgbClr val="9DB0CC">
                <a:alpha val="2.200000000000001e+274"/>
              </a:srgbClr>
            </a:outerShdw>
          </a:effectLst>
        </p:spPr>
        <p:txBody>
          <a:bodyPr/>
          <a:p/>
        </p:txBody>
      </p:sp>
      <p:sp>
        <p:nvSpPr>
          <p:cNvPr id="11" name="Shape 9"/>
          <p:cNvSpPr/>
          <p:nvPr/>
        </p:nvSpPr>
        <p:spPr>
          <a:xfrm>
            <a:off x="548640" y="1691640"/>
            <a:ext cx="82296" cy="2423160"/>
          </a:xfrm>
          <a:prstGeom prst="rect">
            <a:avLst/>
          </a:prstGeom>
          <a:solidFill>
            <a:srgbClr val="2563EB"/>
          </a:solidFill>
          <a:ln/>
        </p:spPr>
        <p:txBody>
          <a:bodyPr/>
          <a:p/>
        </p:txBody>
      </p:sp>
      <p:sp>
        <p:nvSpPr>
          <p:cNvPr id="12" name="Shape 10"/>
          <p:cNvSpPr/>
          <p:nvPr/>
        </p:nvSpPr>
        <p:spPr>
          <a:xfrm>
            <a:off x="1472184" y="1947672"/>
            <a:ext cx="694944" cy="694944"/>
          </a:xfrm>
          <a:prstGeom prst="ellipse">
            <a:avLst/>
          </a:prstGeom>
          <a:solidFill>
            <a:srgbClr val="EAF1FE"/>
          </a:solidFill>
          <a:ln/>
        </p:spPr>
        <p:txBody>
          <a:bodyPr/>
          <a:p/>
        </p:txBody>
      </p:sp>
      <p:sp>
        <p:nvSpPr>
          <p:cNvPr id="13" name="Text 11"/>
          <p:cNvSpPr/>
          <p:nvPr/>
        </p:nvSpPr>
        <p:spPr>
          <a:xfrm>
            <a:off x="1472184" y="1938528"/>
            <a:ext cx="694944" cy="694944"/>
          </a:xfrm>
          <a:prstGeom prst="rect">
            <a:avLst/>
          </a:prstGeom>
          <a:noFill/>
          <a:ln/>
        </p:spPr>
        <p:txBody>
          <a:bodyPr wrap="square" lIns="0" tIns="0" rIns="0" bIns="0" rtlCol="0" anchor="ctr"/>
          <a:lstStyle/>
          <a:p>
            <a:pPr algn="ctr" indent="0" marL="0">
              <a:buNone/>
            </a:pPr>
            <a:r>
              <a:rPr lang="en-US" sz="2400" b="1" dirty="0">
                <a:solidFill>
                  <a:srgbClr val="2563EB"/>
                </a:solidFill>
                <a:latin typeface="Calibri" pitchFamily="34" charset="0"/>
                <a:ea typeface="Calibri" pitchFamily="34" charset="-122"/>
                <a:cs typeface="Calibri" pitchFamily="34" charset="-120"/>
              </a:rPr>
              <a:t>▤</a:t>
            </a:r>
            <a:endParaRPr lang="en-US" sz="2400" dirty="0"/>
          </a:p>
        </p:txBody>
      </p:sp>
      <p:sp>
        <p:nvSpPr>
          <p:cNvPr id="14" name="Text 12"/>
          <p:cNvSpPr/>
          <p:nvPr/>
        </p:nvSpPr>
        <p:spPr>
          <a:xfrm>
            <a:off x="768096" y="2788920"/>
            <a:ext cx="2130552" cy="320040"/>
          </a:xfrm>
          <a:prstGeom prst="rect">
            <a:avLst/>
          </a:prstGeom>
          <a:noFill/>
          <a:ln/>
        </p:spPr>
        <p:txBody>
          <a:bodyPr wrap="square" lIns="0" tIns="0" rIns="0" bIns="0" rtlCol="0" anchor="t"/>
          <a:lstStyle/>
          <a:p>
            <a:pPr algn="ctr" indent="0" marL="0">
              <a:buNone/>
            </a:pPr>
            <a:r>
              <a:rPr lang="en-US" sz="1500" b="1" dirty="0">
                <a:solidFill>
                  <a:srgbClr val="2563EB"/>
                </a:solidFill>
                <a:latin typeface="Calibri" pitchFamily="34" charset="0"/>
                <a:ea typeface="Calibri" pitchFamily="34" charset="-122"/>
                <a:cs typeface="Calibri" pitchFamily="34" charset="-120"/>
              </a:rPr>
              <a:t>Remembers</a:t>
            </a:r>
            <a:endParaRPr lang="en-US" sz="1500" dirty="0"/>
          </a:p>
        </p:txBody>
      </p:sp>
      <p:sp>
        <p:nvSpPr>
          <p:cNvPr id="15" name="Text 13"/>
          <p:cNvSpPr/>
          <p:nvPr/>
        </p:nvSpPr>
        <p:spPr>
          <a:xfrm>
            <a:off x="786384" y="3172968"/>
            <a:ext cx="2084832" cy="86868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Each saved analysis becomes a case the tool can compare against later.</a:t>
            </a:r>
            <a:endParaRPr lang="en-US" sz="1000" dirty="0"/>
          </a:p>
        </p:txBody>
      </p:sp>
      <p:sp>
        <p:nvSpPr>
          <p:cNvPr id="16" name="Text 14"/>
          <p:cNvSpPr/>
          <p:nvPr/>
        </p:nvSpPr>
        <p:spPr>
          <a:xfrm>
            <a:off x="3108960" y="2560320"/>
            <a:ext cx="329184" cy="548640"/>
          </a:xfrm>
          <a:prstGeom prst="rect">
            <a:avLst/>
          </a:prstGeom>
          <a:noFill/>
          <a:ln/>
        </p:spPr>
        <p:txBody>
          <a:bodyPr wrap="square" lIns="0" tIns="0" rIns="0" bIns="0" rtlCol="0" anchor="ctr"/>
          <a:lstStyle/>
          <a:p>
            <a:pPr algn="ctr" indent="0" marL="0">
              <a:buNone/>
            </a:pPr>
            <a:r>
              <a:rPr lang="en-US" sz="2000" b="1" dirty="0">
                <a:solidFill>
                  <a:srgbClr val="4F46E5"/>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3419856" y="1691640"/>
            <a:ext cx="2542032" cy="2423160"/>
          </a:xfrm>
          <a:prstGeom prst="roundRect">
            <a:avLst>
              <a:gd name="adj" fmla="val 2642"/>
            </a:avLst>
          </a:prstGeom>
          <a:solidFill>
            <a:srgbClr val="FFFFFF"/>
          </a:solidFill>
          <a:ln w="12700">
            <a:solidFill>
              <a:srgbClr val="E4EAF2"/>
            </a:solidFill>
            <a:prstDash val="solid"/>
          </a:ln>
          <a:effectLst>
            <a:outerShdw sx="100000" sy="100000" kx="0" ky="0" algn="bl" rotWithShape="0" blurRad="4.550995578271159e+230" dist="1.3002844509346172e+230" dir="3.3940054153256444e+269">
              <a:srgbClr val="9DB0CC">
                <a:alpha val="2.200000000000001e+279"/>
              </a:srgbClr>
            </a:outerShdw>
          </a:effectLst>
        </p:spPr>
        <p:txBody>
          <a:bodyPr/>
          <a:p/>
        </p:txBody>
      </p:sp>
      <p:sp>
        <p:nvSpPr>
          <p:cNvPr id="18" name="Shape 16"/>
          <p:cNvSpPr/>
          <p:nvPr/>
        </p:nvSpPr>
        <p:spPr>
          <a:xfrm>
            <a:off x="3419856" y="1691640"/>
            <a:ext cx="82296" cy="2423160"/>
          </a:xfrm>
          <a:prstGeom prst="rect">
            <a:avLst/>
          </a:prstGeom>
          <a:solidFill>
            <a:srgbClr val="0E93B0"/>
          </a:solidFill>
          <a:ln/>
        </p:spPr>
        <p:txBody>
          <a:bodyPr/>
          <a:p/>
        </p:txBody>
      </p:sp>
      <p:sp>
        <p:nvSpPr>
          <p:cNvPr id="19" name="Shape 17"/>
          <p:cNvSpPr/>
          <p:nvPr/>
        </p:nvSpPr>
        <p:spPr>
          <a:xfrm>
            <a:off x="4343400" y="1947672"/>
            <a:ext cx="694944" cy="694944"/>
          </a:xfrm>
          <a:prstGeom prst="ellipse">
            <a:avLst/>
          </a:prstGeom>
          <a:solidFill>
            <a:srgbClr val="E8F6FA"/>
          </a:solidFill>
          <a:ln/>
        </p:spPr>
        <p:txBody>
          <a:bodyPr/>
          <a:p/>
        </p:txBody>
      </p:sp>
      <p:sp>
        <p:nvSpPr>
          <p:cNvPr id="20" name="Text 18"/>
          <p:cNvSpPr/>
          <p:nvPr/>
        </p:nvSpPr>
        <p:spPr>
          <a:xfrm>
            <a:off x="4343400" y="1938528"/>
            <a:ext cx="694944" cy="694944"/>
          </a:xfrm>
          <a:prstGeom prst="rect">
            <a:avLst/>
          </a:prstGeom>
          <a:noFill/>
          <a:ln/>
        </p:spPr>
        <p:txBody>
          <a:bodyPr wrap="square" lIns="0" tIns="0" rIns="0" bIns="0" rtlCol="0" anchor="ctr"/>
          <a:lstStyle/>
          <a:p>
            <a:pPr algn="ctr" indent="0" marL="0">
              <a:buNone/>
            </a:pPr>
            <a:r>
              <a:rPr lang="en-US" sz="2400" b="1" dirty="0">
                <a:solidFill>
                  <a:srgbClr val="0E93B0"/>
                </a:solidFill>
                <a:latin typeface="Calibri" pitchFamily="34" charset="0"/>
                <a:ea typeface="Calibri" pitchFamily="34" charset="-122"/>
                <a:cs typeface="Calibri" pitchFamily="34" charset="-120"/>
              </a:rPr>
              <a:t>◎</a:t>
            </a:r>
            <a:endParaRPr lang="en-US" sz="2400" dirty="0"/>
          </a:p>
        </p:txBody>
      </p:sp>
      <p:sp>
        <p:nvSpPr>
          <p:cNvPr id="21" name="Text 19"/>
          <p:cNvSpPr/>
          <p:nvPr/>
        </p:nvSpPr>
        <p:spPr>
          <a:xfrm>
            <a:off x="3639312" y="2788920"/>
            <a:ext cx="2130552" cy="320040"/>
          </a:xfrm>
          <a:prstGeom prst="rect">
            <a:avLst/>
          </a:prstGeom>
          <a:noFill/>
          <a:ln/>
        </p:spPr>
        <p:txBody>
          <a:bodyPr wrap="square" lIns="0" tIns="0" rIns="0" bIns="0" rtlCol="0" anchor="t"/>
          <a:lstStyle/>
          <a:p>
            <a:pPr algn="ctr" indent="0" marL="0">
              <a:buNone/>
            </a:pPr>
            <a:r>
              <a:rPr lang="en-US" sz="1500" b="1" dirty="0">
                <a:solidFill>
                  <a:srgbClr val="0E93B0"/>
                </a:solidFill>
                <a:latin typeface="Calibri" pitchFamily="34" charset="0"/>
                <a:ea typeface="Calibri" pitchFamily="34" charset="-122"/>
                <a:cs typeface="Calibri" pitchFamily="34" charset="-120"/>
              </a:rPr>
              <a:t>Recognises</a:t>
            </a:r>
            <a:endParaRPr lang="en-US" sz="1500" dirty="0"/>
          </a:p>
        </p:txBody>
      </p:sp>
      <p:sp>
        <p:nvSpPr>
          <p:cNvPr id="22" name="Text 20"/>
          <p:cNvSpPr/>
          <p:nvPr/>
        </p:nvSpPr>
        <p:spPr>
          <a:xfrm>
            <a:off x="3657600" y="3172968"/>
            <a:ext cx="2084832" cy="86868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A new part is matched to similar past parts, with the reasons shown.</a:t>
            </a:r>
            <a:endParaRPr lang="en-US" sz="1000" dirty="0"/>
          </a:p>
        </p:txBody>
      </p:sp>
      <p:sp>
        <p:nvSpPr>
          <p:cNvPr id="23" name="Text 21"/>
          <p:cNvSpPr/>
          <p:nvPr/>
        </p:nvSpPr>
        <p:spPr>
          <a:xfrm>
            <a:off x="5980176" y="2560320"/>
            <a:ext cx="329184" cy="548640"/>
          </a:xfrm>
          <a:prstGeom prst="rect">
            <a:avLst/>
          </a:prstGeom>
          <a:noFill/>
          <a:ln/>
        </p:spPr>
        <p:txBody>
          <a:bodyPr wrap="square" lIns="0" tIns="0" rIns="0" bIns="0" rtlCol="0" anchor="ctr"/>
          <a:lstStyle/>
          <a:p>
            <a:pPr algn="ctr" indent="0" marL="0">
              <a:buNone/>
            </a:pPr>
            <a:r>
              <a:rPr lang="en-US" sz="2000" b="1" dirty="0">
                <a:solidFill>
                  <a:srgbClr val="4F46E5"/>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6291072" y="1691640"/>
            <a:ext cx="2542032" cy="2423160"/>
          </a:xfrm>
          <a:prstGeom prst="roundRect">
            <a:avLst>
              <a:gd name="adj" fmla="val 2642"/>
            </a:avLst>
          </a:prstGeom>
          <a:solidFill>
            <a:srgbClr val="FFFFFF"/>
          </a:solidFill>
          <a:ln w="12700">
            <a:solidFill>
              <a:srgbClr val="E4EAF2"/>
            </a:solidFill>
            <a:prstDash val="solid"/>
          </a:ln>
          <a:effectLst>
            <a:outerShdw sx="100000" sy="100000" kx="0" ky="0" algn="bl" rotWithShape="0" blurRad="5.7797643844043726e+234" dist="1.6513612526869638e+234" dir="2.0364032491953868e+274">
              <a:srgbClr val="9DB0CC">
                <a:alpha val="2.200000000000001e+284"/>
              </a:srgbClr>
            </a:outerShdw>
          </a:effectLst>
        </p:spPr>
        <p:txBody>
          <a:bodyPr/>
          <a:p/>
        </p:txBody>
      </p:sp>
      <p:sp>
        <p:nvSpPr>
          <p:cNvPr id="25" name="Shape 23"/>
          <p:cNvSpPr/>
          <p:nvPr/>
        </p:nvSpPr>
        <p:spPr>
          <a:xfrm>
            <a:off x="6291072" y="1691640"/>
            <a:ext cx="82296" cy="2423160"/>
          </a:xfrm>
          <a:prstGeom prst="rect">
            <a:avLst/>
          </a:prstGeom>
          <a:solidFill>
            <a:srgbClr val="7C3AED"/>
          </a:solidFill>
          <a:ln/>
        </p:spPr>
        <p:txBody>
          <a:bodyPr/>
          <a:p/>
        </p:txBody>
      </p:sp>
      <p:sp>
        <p:nvSpPr>
          <p:cNvPr id="26" name="Shape 24"/>
          <p:cNvSpPr/>
          <p:nvPr/>
        </p:nvSpPr>
        <p:spPr>
          <a:xfrm>
            <a:off x="7214616" y="1947672"/>
            <a:ext cx="694944" cy="694944"/>
          </a:xfrm>
          <a:prstGeom prst="ellipse">
            <a:avLst/>
          </a:prstGeom>
          <a:solidFill>
            <a:srgbClr val="F3EEFE"/>
          </a:solidFill>
          <a:ln/>
        </p:spPr>
        <p:txBody>
          <a:bodyPr/>
          <a:p/>
        </p:txBody>
      </p:sp>
      <p:sp>
        <p:nvSpPr>
          <p:cNvPr id="27" name="Text 25"/>
          <p:cNvSpPr/>
          <p:nvPr/>
        </p:nvSpPr>
        <p:spPr>
          <a:xfrm>
            <a:off x="7214616" y="1938528"/>
            <a:ext cx="694944" cy="694944"/>
          </a:xfrm>
          <a:prstGeom prst="rect">
            <a:avLst/>
          </a:prstGeom>
          <a:noFill/>
          <a:ln/>
        </p:spPr>
        <p:txBody>
          <a:bodyPr wrap="square" lIns="0" tIns="0" rIns="0" bIns="0" rtlCol="0" anchor="ctr"/>
          <a:lstStyle/>
          <a:p>
            <a:pPr algn="ctr" indent="0" marL="0">
              <a:buNone/>
            </a:pPr>
            <a:r>
              <a:rPr lang="en-US" sz="2400" b="1" dirty="0">
                <a:solidFill>
                  <a:srgbClr val="7C3AED"/>
                </a:solidFill>
                <a:latin typeface="Calibri" pitchFamily="34" charset="0"/>
                <a:ea typeface="Calibri" pitchFamily="34" charset="-122"/>
                <a:cs typeface="Calibri" pitchFamily="34" charset="-120"/>
              </a:rPr>
              <a:t>⟳</a:t>
            </a:r>
            <a:endParaRPr lang="en-US" sz="2400" dirty="0"/>
          </a:p>
        </p:txBody>
      </p:sp>
      <p:sp>
        <p:nvSpPr>
          <p:cNvPr id="28" name="Text 26"/>
          <p:cNvSpPr/>
          <p:nvPr/>
        </p:nvSpPr>
        <p:spPr>
          <a:xfrm>
            <a:off x="6510528" y="2788920"/>
            <a:ext cx="2130552" cy="320040"/>
          </a:xfrm>
          <a:prstGeom prst="rect">
            <a:avLst/>
          </a:prstGeom>
          <a:noFill/>
          <a:ln/>
        </p:spPr>
        <p:txBody>
          <a:bodyPr wrap="square" lIns="0" tIns="0" rIns="0" bIns="0" rtlCol="0" anchor="t"/>
          <a:lstStyle/>
          <a:p>
            <a:pPr algn="ctr" indent="0" marL="0">
              <a:buNone/>
            </a:pPr>
            <a:r>
              <a:rPr lang="en-US" sz="1500" b="1" dirty="0">
                <a:solidFill>
                  <a:srgbClr val="7C3AED"/>
                </a:solidFill>
                <a:latin typeface="Calibri" pitchFamily="34" charset="0"/>
                <a:ea typeface="Calibri" pitchFamily="34" charset="-122"/>
                <a:cs typeface="Calibri" pitchFamily="34" charset="-120"/>
              </a:rPr>
              <a:t>Self-corrects</a:t>
            </a:r>
            <a:endParaRPr lang="en-US" sz="1500" dirty="0"/>
          </a:p>
        </p:txBody>
      </p:sp>
      <p:sp>
        <p:nvSpPr>
          <p:cNvPr id="29" name="Text 27"/>
          <p:cNvSpPr/>
          <p:nvPr/>
        </p:nvSpPr>
        <p:spPr>
          <a:xfrm>
            <a:off x="6528816" y="3172968"/>
            <a:ext cx="2084832" cy="86868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Log a real quote or PO price. After 3 for a process, its band is corrected by real data.</a:t>
            </a:r>
            <a:endParaRPr lang="en-US" sz="1000" dirty="0"/>
          </a:p>
        </p:txBody>
      </p:sp>
      <p:sp>
        <p:nvSpPr>
          <p:cNvPr id="30" name="Text 28"/>
          <p:cNvSpPr/>
          <p:nvPr/>
        </p:nvSpPr>
        <p:spPr>
          <a:xfrm>
            <a:off x="8851392" y="2560320"/>
            <a:ext cx="329184" cy="548640"/>
          </a:xfrm>
          <a:prstGeom prst="rect">
            <a:avLst/>
          </a:prstGeom>
          <a:noFill/>
          <a:ln/>
        </p:spPr>
        <p:txBody>
          <a:bodyPr wrap="square" lIns="0" tIns="0" rIns="0" bIns="0" rtlCol="0" anchor="ctr"/>
          <a:lstStyle/>
          <a:p>
            <a:pPr algn="ctr" indent="0" marL="0">
              <a:buNone/>
            </a:pPr>
            <a:r>
              <a:rPr lang="en-US" sz="2000" b="1" dirty="0">
                <a:solidFill>
                  <a:srgbClr val="4F46E5"/>
                </a:solidFill>
                <a:latin typeface="Calibri" pitchFamily="34" charset="0"/>
                <a:ea typeface="Calibri" pitchFamily="34" charset="-122"/>
                <a:cs typeface="Calibri" pitchFamily="34" charset="-120"/>
              </a:rPr>
              <a:t>→</a:t>
            </a:r>
            <a:endParaRPr lang="en-US" sz="2000" dirty="0"/>
          </a:p>
        </p:txBody>
      </p:sp>
      <p:sp>
        <p:nvSpPr>
          <p:cNvPr id="31" name="Shape 29"/>
          <p:cNvSpPr/>
          <p:nvPr/>
        </p:nvSpPr>
        <p:spPr>
          <a:xfrm>
            <a:off x="9162288" y="1691640"/>
            <a:ext cx="2542032" cy="2423160"/>
          </a:xfrm>
          <a:prstGeom prst="roundRect">
            <a:avLst>
              <a:gd name="adj" fmla="val 2642"/>
            </a:avLst>
          </a:prstGeom>
          <a:solidFill>
            <a:srgbClr val="FFFFFF"/>
          </a:solidFill>
          <a:ln w="12700">
            <a:solidFill>
              <a:srgbClr val="E4EAF2"/>
            </a:solidFill>
            <a:prstDash val="solid"/>
          </a:ln>
          <a:effectLst>
            <a:outerShdw sx="100000" sy="100000" kx="0" ky="0" algn="bl" rotWithShape="0" blurRad="7.340300768193554e+238" dist="2.097228790912444e+238" dir="1.221841949517232e+279">
              <a:srgbClr val="9DB0CC">
                <a:alpha val="2.200000000000001e+289"/>
              </a:srgbClr>
            </a:outerShdw>
          </a:effectLst>
        </p:spPr>
        <p:txBody>
          <a:bodyPr/>
          <a:p/>
        </p:txBody>
      </p:sp>
      <p:sp>
        <p:nvSpPr>
          <p:cNvPr id="32" name="Shape 30"/>
          <p:cNvSpPr/>
          <p:nvPr/>
        </p:nvSpPr>
        <p:spPr>
          <a:xfrm>
            <a:off x="9162288" y="1691640"/>
            <a:ext cx="82296" cy="2423160"/>
          </a:xfrm>
          <a:prstGeom prst="rect">
            <a:avLst/>
          </a:prstGeom>
          <a:solidFill>
            <a:srgbClr val="0EA472"/>
          </a:solidFill>
          <a:ln/>
        </p:spPr>
        <p:txBody>
          <a:bodyPr/>
          <a:p/>
        </p:txBody>
      </p:sp>
      <p:sp>
        <p:nvSpPr>
          <p:cNvPr id="33" name="Shape 31"/>
          <p:cNvSpPr/>
          <p:nvPr/>
        </p:nvSpPr>
        <p:spPr>
          <a:xfrm>
            <a:off x="10085832" y="1947672"/>
            <a:ext cx="694944" cy="694944"/>
          </a:xfrm>
          <a:prstGeom prst="ellipse">
            <a:avLst/>
          </a:prstGeom>
          <a:solidFill>
            <a:srgbClr val="E7F7F0"/>
          </a:solidFill>
          <a:ln/>
        </p:spPr>
        <p:txBody>
          <a:bodyPr/>
          <a:p/>
        </p:txBody>
      </p:sp>
      <p:sp>
        <p:nvSpPr>
          <p:cNvPr id="34" name="Text 32"/>
          <p:cNvSpPr/>
          <p:nvPr/>
        </p:nvSpPr>
        <p:spPr>
          <a:xfrm>
            <a:off x="10085832" y="1938528"/>
            <a:ext cx="694944" cy="694944"/>
          </a:xfrm>
          <a:prstGeom prst="rect">
            <a:avLst/>
          </a:prstGeom>
          <a:noFill/>
          <a:ln/>
        </p:spPr>
        <p:txBody>
          <a:bodyPr wrap="square" lIns="0" tIns="0" rIns="0" bIns="0" rtlCol="0" anchor="ctr"/>
          <a:lstStyle/>
          <a:p>
            <a:pPr algn="ctr" indent="0" marL="0">
              <a:buNone/>
            </a:pPr>
            <a:r>
              <a:rPr lang="en-US" sz="2400" b="1" dirty="0">
                <a:solidFill>
                  <a:srgbClr val="0EA472"/>
                </a:solidFill>
                <a:latin typeface="Calibri" pitchFamily="34" charset="0"/>
                <a:ea typeface="Calibri" pitchFamily="34" charset="-122"/>
                <a:cs typeface="Calibri" pitchFamily="34" charset="-120"/>
              </a:rPr>
              <a:t>➤</a:t>
            </a:r>
            <a:endParaRPr lang="en-US" sz="2400" dirty="0"/>
          </a:p>
        </p:txBody>
      </p:sp>
      <p:sp>
        <p:nvSpPr>
          <p:cNvPr id="35" name="Text 33"/>
          <p:cNvSpPr/>
          <p:nvPr/>
        </p:nvSpPr>
        <p:spPr>
          <a:xfrm>
            <a:off x="9381744" y="2788920"/>
            <a:ext cx="2130552" cy="320040"/>
          </a:xfrm>
          <a:prstGeom prst="rect">
            <a:avLst/>
          </a:prstGeom>
          <a:noFill/>
          <a:ln/>
        </p:spPr>
        <p:txBody>
          <a:bodyPr wrap="square" lIns="0" tIns="0" rIns="0" bIns="0" rtlCol="0" anchor="t"/>
          <a:lstStyle/>
          <a:p>
            <a:pPr algn="ctr" indent="0" marL="0">
              <a:buNone/>
            </a:pPr>
            <a:r>
              <a:rPr lang="en-US" sz="1500" b="1" dirty="0">
                <a:solidFill>
                  <a:srgbClr val="0EA472"/>
                </a:solidFill>
                <a:latin typeface="Calibri" pitchFamily="34" charset="0"/>
                <a:ea typeface="Calibri" pitchFamily="34" charset="-122"/>
                <a:cs typeface="Calibri" pitchFamily="34" charset="-120"/>
              </a:rPr>
              <a:t>Checks</a:t>
            </a:r>
            <a:endParaRPr lang="en-US" sz="1500" dirty="0"/>
          </a:p>
        </p:txBody>
      </p:sp>
      <p:sp>
        <p:nvSpPr>
          <p:cNvPr id="36" name="Text 34"/>
          <p:cNvSpPr/>
          <p:nvPr/>
        </p:nvSpPr>
        <p:spPr>
          <a:xfrm>
            <a:off x="9400032" y="3172968"/>
            <a:ext cx="2084832" cy="86868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A background check compares logged prices with should-cost and flags big gaps.</a:t>
            </a:r>
            <a:endParaRPr lang="en-US" sz="1000" dirty="0"/>
          </a:p>
        </p:txBody>
      </p:sp>
      <p:sp>
        <p:nvSpPr>
          <p:cNvPr id="37" name="Shape 35"/>
          <p:cNvSpPr/>
          <p:nvPr/>
        </p:nvSpPr>
        <p:spPr>
          <a:xfrm>
            <a:off x="548640" y="4343400"/>
            <a:ext cx="3657600" cy="1051560"/>
          </a:xfrm>
          <a:prstGeom prst="roundRect">
            <a:avLst>
              <a:gd name="adj" fmla="val 5217"/>
            </a:avLst>
          </a:prstGeom>
          <a:solidFill>
            <a:srgbClr val="F4F7FB"/>
          </a:solidFill>
          <a:ln w="12700">
            <a:solidFill>
              <a:srgbClr val="E4EAF2"/>
            </a:solidFill>
            <a:prstDash val="solid"/>
          </a:ln>
        </p:spPr>
        <p:txBody>
          <a:bodyPr/>
          <a:p/>
        </p:txBody>
      </p:sp>
      <p:sp>
        <p:nvSpPr>
          <p:cNvPr id="38" name="Shape 36"/>
          <p:cNvSpPr/>
          <p:nvPr/>
        </p:nvSpPr>
        <p:spPr>
          <a:xfrm>
            <a:off x="548640" y="4343400"/>
            <a:ext cx="73152" cy="1051560"/>
          </a:xfrm>
          <a:prstGeom prst="rect">
            <a:avLst/>
          </a:prstGeom>
          <a:solidFill>
            <a:srgbClr val="0EA472"/>
          </a:solidFill>
          <a:ln/>
        </p:spPr>
        <p:txBody>
          <a:bodyPr/>
          <a:p/>
        </p:txBody>
      </p:sp>
      <p:sp>
        <p:nvSpPr>
          <p:cNvPr id="39" name="Text 37"/>
          <p:cNvSpPr/>
          <p:nvPr/>
        </p:nvSpPr>
        <p:spPr>
          <a:xfrm>
            <a:off x="786384" y="4489704"/>
            <a:ext cx="3291840" cy="457200"/>
          </a:xfrm>
          <a:prstGeom prst="rect">
            <a:avLst/>
          </a:prstGeom>
          <a:noFill/>
          <a:ln/>
        </p:spPr>
        <p:txBody>
          <a:bodyPr wrap="square" lIns="0" tIns="0" rIns="0" bIns="0" rtlCol="0" anchor="t"/>
          <a:lstStyle/>
          <a:p>
            <a:pPr indent="0" marL="0">
              <a:buNone/>
            </a:pPr>
            <a:r>
              <a:rPr lang="en-US" sz="2200" b="1" dirty="0">
                <a:solidFill>
                  <a:srgbClr val="0EA472"/>
                </a:solidFill>
                <a:latin typeface="Calibri" pitchFamily="34" charset="0"/>
                <a:ea typeface="Calibri" pitchFamily="34" charset="-122"/>
                <a:cs typeface="Calibri" pitchFamily="34" charset="-120"/>
              </a:rPr>
              <a:t>3</a:t>
            </a:r>
            <a:endParaRPr lang="en-US" sz="2200" dirty="0"/>
          </a:p>
        </p:txBody>
      </p:sp>
      <p:sp>
        <p:nvSpPr>
          <p:cNvPr id="40" name="Text 38"/>
          <p:cNvSpPr/>
          <p:nvPr/>
        </p:nvSpPr>
        <p:spPr>
          <a:xfrm>
            <a:off x="786384" y="4928616"/>
            <a:ext cx="3200400" cy="365760"/>
          </a:xfrm>
          <a:prstGeom prst="rect">
            <a:avLst/>
          </a:prstGeom>
          <a:noFill/>
          <a:ln/>
        </p:spPr>
        <p:txBody>
          <a:bodyPr wrap="square" lIns="0" tIns="0" rIns="0" bIns="0" rtlCol="0" anchor="t"/>
          <a:lstStyle/>
          <a:p>
            <a:pPr indent="0" marL="0">
              <a:lnSpc>
                <a:spcPct val="100000"/>
              </a:lnSpc>
              <a:buNone/>
            </a:pPr>
            <a:r>
              <a:rPr lang="en-US" sz="950" dirty="0">
                <a:solidFill>
                  <a:srgbClr val="8A97A8"/>
                </a:solidFill>
                <a:latin typeface="Calibri" pitchFamily="34" charset="0"/>
                <a:ea typeface="Calibri" pitchFamily="34" charset="-122"/>
                <a:cs typeface="Calibri" pitchFamily="34" charset="-120"/>
              </a:rPr>
              <a:t>logged actuals before a band is corrected</a:t>
            </a:r>
            <a:endParaRPr lang="en-US" sz="950" dirty="0"/>
          </a:p>
        </p:txBody>
      </p:sp>
      <p:sp>
        <p:nvSpPr>
          <p:cNvPr id="41" name="Shape 39"/>
          <p:cNvSpPr/>
          <p:nvPr/>
        </p:nvSpPr>
        <p:spPr>
          <a:xfrm>
            <a:off x="4261104" y="4343400"/>
            <a:ext cx="3657600" cy="1051560"/>
          </a:xfrm>
          <a:prstGeom prst="roundRect">
            <a:avLst>
              <a:gd name="adj" fmla="val 5217"/>
            </a:avLst>
          </a:prstGeom>
          <a:solidFill>
            <a:srgbClr val="F4F7FB"/>
          </a:solidFill>
          <a:ln w="12700">
            <a:solidFill>
              <a:srgbClr val="E4EAF2"/>
            </a:solidFill>
            <a:prstDash val="solid"/>
          </a:ln>
        </p:spPr>
        <p:txBody>
          <a:bodyPr/>
          <a:p/>
        </p:txBody>
      </p:sp>
      <p:sp>
        <p:nvSpPr>
          <p:cNvPr id="42" name="Shape 40"/>
          <p:cNvSpPr/>
          <p:nvPr/>
        </p:nvSpPr>
        <p:spPr>
          <a:xfrm>
            <a:off x="4261104" y="4343400"/>
            <a:ext cx="73152" cy="1051560"/>
          </a:xfrm>
          <a:prstGeom prst="rect">
            <a:avLst/>
          </a:prstGeom>
          <a:solidFill>
            <a:srgbClr val="E5484D"/>
          </a:solidFill>
          <a:ln/>
        </p:spPr>
        <p:txBody>
          <a:bodyPr/>
          <a:p/>
        </p:txBody>
      </p:sp>
      <p:sp>
        <p:nvSpPr>
          <p:cNvPr id="43" name="Text 41"/>
          <p:cNvSpPr/>
          <p:nvPr/>
        </p:nvSpPr>
        <p:spPr>
          <a:xfrm>
            <a:off x="4498848" y="4489704"/>
            <a:ext cx="3291840" cy="457200"/>
          </a:xfrm>
          <a:prstGeom prst="rect">
            <a:avLst/>
          </a:prstGeom>
          <a:noFill/>
          <a:ln/>
        </p:spPr>
        <p:txBody>
          <a:bodyPr wrap="square" lIns="0" tIns="0" rIns="0" bIns="0" rtlCol="0" anchor="t"/>
          <a:lstStyle/>
          <a:p>
            <a:pPr indent="0" marL="0">
              <a:buNone/>
            </a:pPr>
            <a:r>
              <a:rPr lang="en-US" sz="2200" b="1" dirty="0">
                <a:solidFill>
                  <a:srgbClr val="E5484D"/>
                </a:solidFill>
                <a:latin typeface="Calibri" pitchFamily="34" charset="0"/>
                <a:ea typeface="Calibri" pitchFamily="34" charset="-122"/>
                <a:cs typeface="Calibri" pitchFamily="34" charset="-120"/>
              </a:rPr>
              <a:t>None yet</a:t>
            </a:r>
            <a:endParaRPr lang="en-US" sz="2200" dirty="0"/>
          </a:p>
        </p:txBody>
      </p:sp>
      <p:sp>
        <p:nvSpPr>
          <p:cNvPr id="44" name="Text 42"/>
          <p:cNvSpPr/>
          <p:nvPr/>
        </p:nvSpPr>
        <p:spPr>
          <a:xfrm>
            <a:off x="4498848" y="4928616"/>
            <a:ext cx="3200400" cy="365760"/>
          </a:xfrm>
          <a:prstGeom prst="rect">
            <a:avLst/>
          </a:prstGeom>
          <a:noFill/>
          <a:ln/>
        </p:spPr>
        <p:txBody>
          <a:bodyPr wrap="square" lIns="0" tIns="0" rIns="0" bIns="0" rtlCol="0" anchor="t"/>
          <a:lstStyle/>
          <a:p>
            <a:pPr indent="0" marL="0">
              <a:lnSpc>
                <a:spcPct val="100000"/>
              </a:lnSpc>
              <a:buNone/>
            </a:pPr>
            <a:r>
              <a:rPr lang="en-US" sz="950" dirty="0">
                <a:solidFill>
                  <a:srgbClr val="8A97A8"/>
                </a:solidFill>
                <a:latin typeface="Calibri" pitchFamily="34" charset="0"/>
                <a:ea typeface="Calibri" pitchFamily="34" charset="-122"/>
                <a:cs typeface="Calibri" pitchFamily="34" charset="-120"/>
              </a:rPr>
              <a:t>estimates compared with a price JLR paid</a:t>
            </a:r>
            <a:endParaRPr lang="en-US" sz="950" dirty="0"/>
          </a:p>
        </p:txBody>
      </p:sp>
      <p:sp>
        <p:nvSpPr>
          <p:cNvPr id="45" name="Shape 43"/>
          <p:cNvSpPr/>
          <p:nvPr/>
        </p:nvSpPr>
        <p:spPr>
          <a:xfrm>
            <a:off x="7973568" y="4343400"/>
            <a:ext cx="3657600" cy="1051560"/>
          </a:xfrm>
          <a:prstGeom prst="roundRect">
            <a:avLst>
              <a:gd name="adj" fmla="val 5217"/>
            </a:avLst>
          </a:prstGeom>
          <a:solidFill>
            <a:srgbClr val="F4F7FB"/>
          </a:solidFill>
          <a:ln w="12700">
            <a:solidFill>
              <a:srgbClr val="E4EAF2"/>
            </a:solidFill>
            <a:prstDash val="solid"/>
          </a:ln>
        </p:spPr>
        <p:txBody>
          <a:bodyPr/>
          <a:p/>
        </p:txBody>
      </p:sp>
      <p:sp>
        <p:nvSpPr>
          <p:cNvPr id="46" name="Shape 44"/>
          <p:cNvSpPr/>
          <p:nvPr/>
        </p:nvSpPr>
        <p:spPr>
          <a:xfrm>
            <a:off x="7973568" y="4343400"/>
            <a:ext cx="73152" cy="1051560"/>
          </a:xfrm>
          <a:prstGeom prst="rect">
            <a:avLst/>
          </a:prstGeom>
          <a:solidFill>
            <a:srgbClr val="0E93B0"/>
          </a:solidFill>
          <a:ln/>
        </p:spPr>
        <p:txBody>
          <a:bodyPr/>
          <a:p/>
        </p:txBody>
      </p:sp>
      <p:sp>
        <p:nvSpPr>
          <p:cNvPr id="47" name="Text 45"/>
          <p:cNvSpPr/>
          <p:nvPr/>
        </p:nvSpPr>
        <p:spPr>
          <a:xfrm>
            <a:off x="8211312" y="4489704"/>
            <a:ext cx="3291840" cy="457200"/>
          </a:xfrm>
          <a:prstGeom prst="rect">
            <a:avLst/>
          </a:prstGeom>
          <a:noFill/>
          <a:ln/>
        </p:spPr>
        <p:txBody>
          <a:bodyPr wrap="square" lIns="0" tIns="0" rIns="0" bIns="0" rtlCol="0" anchor="t"/>
          <a:lstStyle/>
          <a:p>
            <a:pPr indent="0" marL="0">
              <a:buNone/>
            </a:pPr>
            <a:r>
              <a:rPr lang="en-US" sz="2200" b="1" dirty="0">
                <a:solidFill>
                  <a:srgbClr val="0E93B0"/>
                </a:solidFill>
                <a:latin typeface="Calibri" pitchFamily="34" charset="0"/>
                <a:ea typeface="Calibri" pitchFamily="34" charset="-122"/>
                <a:cs typeface="Calibri" pitchFamily="34" charset="-120"/>
              </a:rPr>
              <a:t>No AI</a:t>
            </a:r>
            <a:endParaRPr lang="en-US" sz="2200" dirty="0"/>
          </a:p>
        </p:txBody>
      </p:sp>
      <p:sp>
        <p:nvSpPr>
          <p:cNvPr id="48" name="Text 46"/>
          <p:cNvSpPr/>
          <p:nvPr/>
        </p:nvSpPr>
        <p:spPr>
          <a:xfrm>
            <a:off x="8211312" y="4928616"/>
            <a:ext cx="3200400" cy="365760"/>
          </a:xfrm>
          <a:prstGeom prst="rect">
            <a:avLst/>
          </a:prstGeom>
          <a:noFill/>
          <a:ln/>
        </p:spPr>
        <p:txBody>
          <a:bodyPr wrap="square" lIns="0" tIns="0" rIns="0" bIns="0" rtlCol="0" anchor="t"/>
          <a:lstStyle/>
          <a:p>
            <a:pPr indent="0" marL="0">
              <a:lnSpc>
                <a:spcPct val="100000"/>
              </a:lnSpc>
              <a:buNone/>
            </a:pPr>
            <a:r>
              <a:rPr lang="en-US" sz="950" dirty="0">
                <a:solidFill>
                  <a:srgbClr val="8A97A8"/>
                </a:solidFill>
                <a:latin typeface="Calibri" pitchFamily="34" charset="0"/>
                <a:ea typeface="Calibri" pitchFamily="34" charset="-122"/>
                <a:cs typeface="Calibri" pitchFamily="34" charset="-120"/>
              </a:rPr>
              <a:t>all of this is rules and arithmetic</a:t>
            </a:r>
            <a:endParaRPr lang="en-US" sz="950" dirty="0"/>
          </a:p>
        </p:txBody>
      </p:sp>
      <p:sp>
        <p:nvSpPr>
          <p:cNvPr id="49" name="Shape 47"/>
          <p:cNvSpPr/>
          <p:nvPr/>
        </p:nvSpPr>
        <p:spPr>
          <a:xfrm>
            <a:off x="548640" y="6400800"/>
            <a:ext cx="11094415" cy="12802"/>
          </a:xfrm>
          <a:prstGeom prst="rect">
            <a:avLst/>
          </a:prstGeom>
          <a:solidFill>
            <a:srgbClr val="E4EAF2"/>
          </a:solidFill>
          <a:ln/>
        </p:spPr>
        <p:txBody>
          <a:bodyPr/>
          <a:p/>
        </p:txBody>
      </p:sp>
      <p:sp>
        <p:nvSpPr>
          <p:cNvPr id="50" name="Text 48"/>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1" name="Text 49"/>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12 / 15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93B0"/>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93B0"/>
                </a:solidFill>
                <a:latin typeface="Calibri" pitchFamily="34" charset="0"/>
                <a:ea typeface="Calibri" pitchFamily="34" charset="-122"/>
                <a:cs typeface="Calibri" pitchFamily="34" charset="-120"/>
              </a:rPr>
              <a:t>NEW IN 2026</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Advanced intelligence — beyond the estimate</a:t>
            </a:r>
            <a:endParaRPr lang="en-US" sz="2400" dirty="0"/>
          </a:p>
        </p:txBody>
      </p:sp>
      <p:sp>
        <p:nvSpPr>
          <p:cNvPr id="9" name="Shape 7"/>
          <p:cNvSpPr/>
          <p:nvPr/>
        </p:nvSpPr>
        <p:spPr>
          <a:xfrm>
            <a:off x="548640" y="1371600"/>
            <a:ext cx="1051560" cy="45720"/>
          </a:xfrm>
          <a:prstGeom prst="rect">
            <a:avLst/>
          </a:prstGeom>
          <a:solidFill>
            <a:srgbClr val="0E93B0"/>
          </a:solidFill>
          <a:ln/>
        </p:spPr>
      </p:sp>
      <p:sp>
        <p:nvSpPr>
          <p:cNvPr id="10" name="Shape 8"/>
          <p:cNvSpPr/>
          <p:nvPr/>
        </p:nvSpPr>
        <p:spPr>
          <a:xfrm>
            <a:off x="548640" y="1691640"/>
            <a:ext cx="5422392" cy="1874520"/>
          </a:xfrm>
          <a:prstGeom prst="roundRect">
            <a:avLst>
              <a:gd name="adj" fmla="val 3415"/>
            </a:avLst>
          </a:prstGeom>
          <a:solidFill>
            <a:srgbClr val="FFFFFF"/>
          </a:solidFill>
          <a:ln w="12700">
            <a:solidFill>
              <a:srgbClr val="E4EAF2"/>
            </a:solidFill>
            <a:prstDash val="solid"/>
          </a:ln>
          <a:effectLst>
            <a:outerShdw sx="100000" sy="100000" kx="0" ky="0" algn="bl" rotWithShape="0" blurRad="9.322181975605814e+242" dist="2.663480564458804e+242" dir="7.331051697103393e+283">
              <a:srgbClr val="9DB0CC">
                <a:alpha val="2.200000000000001e+294"/>
              </a:srgbClr>
            </a:outerShdw>
          </a:effectLst>
        </p:spPr>
      </p:sp>
      <p:sp>
        <p:nvSpPr>
          <p:cNvPr id="11" name="Shape 9"/>
          <p:cNvSpPr/>
          <p:nvPr/>
        </p:nvSpPr>
        <p:spPr>
          <a:xfrm>
            <a:off x="548640" y="1691640"/>
            <a:ext cx="82296" cy="1874520"/>
          </a:xfrm>
          <a:prstGeom prst="rect">
            <a:avLst/>
          </a:prstGeom>
          <a:solidFill>
            <a:srgbClr val="2563EB"/>
          </a:solidFill>
          <a:ln/>
        </p:spPr>
      </p:sp>
      <p:sp>
        <p:nvSpPr>
          <p:cNvPr id="12" name="Shape 10"/>
          <p:cNvSpPr/>
          <p:nvPr/>
        </p:nvSpPr>
        <p:spPr>
          <a:xfrm>
            <a:off x="822960" y="1965960"/>
            <a:ext cx="548640" cy="548640"/>
          </a:xfrm>
          <a:prstGeom prst="ellipse">
            <a:avLst/>
          </a:prstGeom>
          <a:solidFill>
            <a:srgbClr val="EAF1FE"/>
          </a:solidFill>
          <a:ln/>
        </p:spPr>
      </p:sp>
      <p:sp>
        <p:nvSpPr>
          <p:cNvPr id="13" name="Text 11"/>
          <p:cNvSpPr/>
          <p:nvPr/>
        </p:nvSpPr>
        <p:spPr>
          <a:xfrm>
            <a:off x="822960" y="1956816"/>
            <a:ext cx="548640" cy="548640"/>
          </a:xfrm>
          <a:prstGeom prst="rect">
            <a:avLst/>
          </a:prstGeom>
          <a:noFill/>
          <a:ln/>
        </p:spPr>
        <p:txBody>
          <a:bodyPr wrap="square" lIns="0" tIns="0" rIns="0" bIns="0" rtlCol="0" anchor="ctr"/>
          <a:lstStyle/>
          <a:p>
            <a:pPr algn="ctr" indent="0" marL="0">
              <a:buNone/>
            </a:pPr>
            <a:r>
              <a:rPr lang="en-US" sz="2000" b="1" dirty="0">
                <a:solidFill>
                  <a:srgbClr val="2563EB"/>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1517904" y="2002536"/>
            <a:ext cx="4297680" cy="411480"/>
          </a:xfrm>
          <a:prstGeom prst="rect">
            <a:avLst/>
          </a:prstGeom>
          <a:noFill/>
          <a:ln/>
        </p:spPr>
        <p:txBody>
          <a:bodyPr wrap="square" lIns="0" tIns="0" rIns="0" bIns="0" rtlCol="0" anchor="ctr"/>
          <a:lstStyle/>
          <a:p>
            <a:pPr indent="0" marL="0">
              <a:lnSpc>
                <a:spcPct val="95000"/>
              </a:lnSpc>
              <a:buNone/>
            </a:pPr>
            <a:r>
              <a:rPr lang="en-US" sz="1450" b="1" dirty="0">
                <a:solidFill>
                  <a:srgbClr val="2563EB"/>
                </a:solidFill>
                <a:latin typeface="Calibri" pitchFamily="34" charset="0"/>
                <a:ea typeface="Calibri" pitchFamily="34" charset="-122"/>
                <a:cs typeface="Calibri" pitchFamily="34" charset="-120"/>
              </a:rPr>
              <a:t>Conformal confidence bands</a:t>
            </a:r>
            <a:endParaRPr lang="en-US" sz="1450" dirty="0"/>
          </a:p>
        </p:txBody>
      </p:sp>
      <p:sp>
        <p:nvSpPr>
          <p:cNvPr id="15" name="Text 13"/>
          <p:cNvSpPr/>
          <p:nvPr/>
        </p:nvSpPr>
        <p:spPr>
          <a:xfrm>
            <a:off x="841248" y="2651760"/>
            <a:ext cx="5029200" cy="822960"/>
          </a:xfrm>
          <a:prstGeom prst="rect">
            <a:avLst/>
          </a:prstGeom>
          <a:noFill/>
          <a:ln/>
        </p:spPr>
        <p:txBody>
          <a:bodyPr wrap="square" lIns="0" tIns="0" rIns="0" bIns="0" rtlCol="0" anchor="t"/>
          <a:lstStyle/>
          <a:p>
            <a:pPr indent="0" marL="0">
              <a:lnSpc>
                <a:spcPct val="116000"/>
              </a:lnSpc>
              <a:buNone/>
            </a:pPr>
            <a:r>
              <a:rPr lang="en-US" sz="1100" dirty="0">
                <a:solidFill>
                  <a:srgbClr val="3E4C63"/>
                </a:solidFill>
                <a:latin typeface="Calibri" pitchFamily="34" charset="0"/>
                <a:ea typeface="Calibri" pitchFamily="34" charset="-122"/>
                <a:cs typeface="Calibri" pitchFamily="34" charset="-120"/>
              </a:rPr>
              <a:t>A statistically-guaranteed range proven against our own logged quotes — "90% land within ±6.5%", evidence not assertion.</a:t>
            </a:r>
            <a:endParaRPr lang="en-US" sz="1100" dirty="0"/>
          </a:p>
        </p:txBody>
      </p:sp>
      <p:sp>
        <p:nvSpPr>
          <p:cNvPr id="16" name="Shape 14"/>
          <p:cNvSpPr/>
          <p:nvPr/>
        </p:nvSpPr>
        <p:spPr>
          <a:xfrm>
            <a:off x="6217920" y="1691640"/>
            <a:ext cx="5422392" cy="1874520"/>
          </a:xfrm>
          <a:prstGeom prst="roundRect">
            <a:avLst>
              <a:gd name="adj" fmla="val 3415"/>
            </a:avLst>
          </a:prstGeom>
          <a:solidFill>
            <a:srgbClr val="FFFFFF"/>
          </a:solidFill>
          <a:ln w="12700">
            <a:solidFill>
              <a:srgbClr val="E4EAF2"/>
            </a:solidFill>
            <a:prstDash val="solid"/>
          </a:ln>
          <a:effectLst>
            <a:outerShdw sx="100000" sy="100000" kx="0" ky="0" algn="bl" rotWithShape="0" blurRad="1.1839171109019383e+247" dist="3.3826203168626813e+246" dir="4.3986310182620354e+288">
              <a:srgbClr val="9DB0CC">
                <a:alpha val="2.200000000000001e+299"/>
              </a:srgbClr>
            </a:outerShdw>
          </a:effectLst>
        </p:spPr>
      </p:sp>
      <p:sp>
        <p:nvSpPr>
          <p:cNvPr id="17" name="Shape 15"/>
          <p:cNvSpPr/>
          <p:nvPr/>
        </p:nvSpPr>
        <p:spPr>
          <a:xfrm>
            <a:off x="6217920" y="1691640"/>
            <a:ext cx="82296" cy="1874520"/>
          </a:xfrm>
          <a:prstGeom prst="rect">
            <a:avLst/>
          </a:prstGeom>
          <a:solidFill>
            <a:srgbClr val="7C3AED"/>
          </a:solidFill>
          <a:ln/>
        </p:spPr>
      </p:sp>
      <p:sp>
        <p:nvSpPr>
          <p:cNvPr id="18" name="Shape 16"/>
          <p:cNvSpPr/>
          <p:nvPr/>
        </p:nvSpPr>
        <p:spPr>
          <a:xfrm>
            <a:off x="6492240" y="1965960"/>
            <a:ext cx="548640" cy="548640"/>
          </a:xfrm>
          <a:prstGeom prst="ellipse">
            <a:avLst/>
          </a:prstGeom>
          <a:solidFill>
            <a:srgbClr val="F3EEFE"/>
          </a:solidFill>
          <a:ln/>
        </p:spPr>
      </p:sp>
      <p:sp>
        <p:nvSpPr>
          <p:cNvPr id="19" name="Text 17"/>
          <p:cNvSpPr/>
          <p:nvPr/>
        </p:nvSpPr>
        <p:spPr>
          <a:xfrm>
            <a:off x="6492240" y="1956816"/>
            <a:ext cx="548640" cy="548640"/>
          </a:xfrm>
          <a:prstGeom prst="rect">
            <a:avLst/>
          </a:prstGeom>
          <a:noFill/>
          <a:ln/>
        </p:spPr>
        <p:txBody>
          <a:bodyPr wrap="square" lIns="0" tIns="0" rIns="0" bIns="0" rtlCol="0" anchor="ctr"/>
          <a:lstStyle/>
          <a:p>
            <a:pPr algn="ctr" indent="0" marL="0">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7187184" y="2002536"/>
            <a:ext cx="4297680" cy="411480"/>
          </a:xfrm>
          <a:prstGeom prst="rect">
            <a:avLst/>
          </a:prstGeom>
          <a:noFill/>
          <a:ln/>
        </p:spPr>
        <p:txBody>
          <a:bodyPr wrap="square" lIns="0" tIns="0" rIns="0" bIns="0" rtlCol="0" anchor="ctr"/>
          <a:lstStyle/>
          <a:p>
            <a:pPr indent="0" marL="0">
              <a:lnSpc>
                <a:spcPct val="95000"/>
              </a:lnSpc>
              <a:buNone/>
            </a:pPr>
            <a:r>
              <a:rPr lang="en-US" sz="1450" b="1" dirty="0">
                <a:solidFill>
                  <a:srgbClr val="7C3AED"/>
                </a:solidFill>
                <a:latin typeface="Calibri" pitchFamily="34" charset="0"/>
                <a:ea typeface="Calibri" pitchFamily="34" charset="-122"/>
                <a:cs typeface="Calibri" pitchFamily="34" charset="-120"/>
              </a:rPr>
              <a:t>Causal negotiation coach</a:t>
            </a:r>
            <a:endParaRPr lang="en-US" sz="1450" dirty="0"/>
          </a:p>
        </p:txBody>
      </p:sp>
      <p:sp>
        <p:nvSpPr>
          <p:cNvPr id="21" name="Text 19"/>
          <p:cNvSpPr/>
          <p:nvPr/>
        </p:nvSpPr>
        <p:spPr>
          <a:xfrm>
            <a:off x="6510528" y="2651760"/>
            <a:ext cx="5029200" cy="822960"/>
          </a:xfrm>
          <a:prstGeom prst="rect">
            <a:avLst/>
          </a:prstGeom>
          <a:noFill/>
          <a:ln/>
        </p:spPr>
        <p:txBody>
          <a:bodyPr wrap="square" lIns="0" tIns="0" rIns="0" bIns="0" rtlCol="0" anchor="t"/>
          <a:lstStyle/>
          <a:p>
            <a:pPr indent="0" marL="0">
              <a:lnSpc>
                <a:spcPct val="116000"/>
              </a:lnSpc>
              <a:buNone/>
            </a:pPr>
            <a:r>
              <a:rPr lang="en-US" sz="1100" dirty="0">
                <a:solidFill>
                  <a:srgbClr val="3E4C63"/>
                </a:solidFill>
                <a:latin typeface="Calibri" pitchFamily="34" charset="0"/>
                <a:ea typeface="Calibri" pitchFamily="34" charset="-122"/>
                <a:cs typeface="Calibri" pitchFamily="34" charset="-120"/>
              </a:rPr>
              <a:t>Knows why a part costs what it does and writes the argument: "every 1% move in aluminium shifts price by £0.11".</a:t>
            </a:r>
            <a:endParaRPr lang="en-US" sz="1100" dirty="0"/>
          </a:p>
        </p:txBody>
      </p:sp>
      <p:sp>
        <p:nvSpPr>
          <p:cNvPr id="22" name="Shape 20"/>
          <p:cNvSpPr/>
          <p:nvPr/>
        </p:nvSpPr>
        <p:spPr>
          <a:xfrm>
            <a:off x="548640" y="3749040"/>
            <a:ext cx="5422392" cy="1874520"/>
          </a:xfrm>
          <a:prstGeom prst="roundRect">
            <a:avLst>
              <a:gd name="adj" fmla="val 3415"/>
            </a:avLst>
          </a:prstGeom>
          <a:solidFill>
            <a:srgbClr val="FFFFFF"/>
          </a:solidFill>
          <a:ln w="12700">
            <a:solidFill>
              <a:srgbClr val="E4EAF2"/>
            </a:solidFill>
            <a:prstDash val="solid"/>
          </a:ln>
          <a:effectLst>
            <a:outerShdw sx="100000" sy="100000" kx="0" ky="0" algn="bl" rotWithShape="0" blurRad="1.5035747308454617e+251" dist="4.295927802415605e+250" dir="2.6391786109572213e+293">
              <a:srgbClr val="9DB0CC">
                <a:alpha val="2.200000000000001e+304"/>
              </a:srgbClr>
            </a:outerShdw>
          </a:effectLst>
        </p:spPr>
      </p:sp>
      <p:sp>
        <p:nvSpPr>
          <p:cNvPr id="23" name="Shape 21"/>
          <p:cNvSpPr/>
          <p:nvPr/>
        </p:nvSpPr>
        <p:spPr>
          <a:xfrm>
            <a:off x="548640" y="3749040"/>
            <a:ext cx="82296" cy="1874520"/>
          </a:xfrm>
          <a:prstGeom prst="rect">
            <a:avLst/>
          </a:prstGeom>
          <a:solidFill>
            <a:srgbClr val="E0900C"/>
          </a:solidFill>
          <a:ln/>
        </p:spPr>
      </p:sp>
      <p:sp>
        <p:nvSpPr>
          <p:cNvPr id="24" name="Shape 22"/>
          <p:cNvSpPr/>
          <p:nvPr/>
        </p:nvSpPr>
        <p:spPr>
          <a:xfrm>
            <a:off x="822960" y="4023360"/>
            <a:ext cx="548640" cy="548640"/>
          </a:xfrm>
          <a:prstGeom prst="ellipse">
            <a:avLst/>
          </a:prstGeom>
          <a:solidFill>
            <a:srgbClr val="FEF6E7"/>
          </a:solidFill>
          <a:ln/>
        </p:spPr>
      </p:sp>
      <p:sp>
        <p:nvSpPr>
          <p:cNvPr id="25" name="Text 23"/>
          <p:cNvSpPr/>
          <p:nvPr/>
        </p:nvSpPr>
        <p:spPr>
          <a:xfrm>
            <a:off x="822960" y="4014216"/>
            <a:ext cx="548640" cy="548640"/>
          </a:xfrm>
          <a:prstGeom prst="rect">
            <a:avLst/>
          </a:prstGeom>
          <a:noFill/>
          <a:ln/>
        </p:spPr>
        <p:txBody>
          <a:bodyPr wrap="square" lIns="0" tIns="0" rIns="0" bIns="0" rtlCol="0" anchor="ctr"/>
          <a:lstStyle/>
          <a:p>
            <a:pPr algn="ctr" indent="0" marL="0">
              <a:buNone/>
            </a:pPr>
            <a:r>
              <a:rPr lang="en-US" sz="2000" b="1" dirty="0">
                <a:solidFill>
                  <a:srgbClr val="E0900C"/>
                </a:solidFill>
                <a:latin typeface="Calibri" pitchFamily="34" charset="0"/>
                <a:ea typeface="Calibri" pitchFamily="34" charset="-122"/>
                <a:cs typeface="Calibri" pitchFamily="34" charset="-120"/>
              </a:rPr>
              <a:t>◧</a:t>
            </a:r>
            <a:endParaRPr lang="en-US" sz="2000" dirty="0"/>
          </a:p>
        </p:txBody>
      </p:sp>
      <p:sp>
        <p:nvSpPr>
          <p:cNvPr id="26" name="Text 24"/>
          <p:cNvSpPr/>
          <p:nvPr/>
        </p:nvSpPr>
        <p:spPr>
          <a:xfrm>
            <a:off x="1517904" y="4059936"/>
            <a:ext cx="4297680" cy="411480"/>
          </a:xfrm>
          <a:prstGeom prst="rect">
            <a:avLst/>
          </a:prstGeom>
          <a:noFill/>
          <a:ln/>
        </p:spPr>
        <p:txBody>
          <a:bodyPr wrap="square" lIns="0" tIns="0" rIns="0" bIns="0" rtlCol="0" anchor="ctr"/>
          <a:lstStyle/>
          <a:p>
            <a:pPr indent="0" marL="0">
              <a:lnSpc>
                <a:spcPct val="95000"/>
              </a:lnSpc>
              <a:buNone/>
            </a:pPr>
            <a:r>
              <a:rPr lang="en-US" sz="1450" b="1" dirty="0">
                <a:solidFill>
                  <a:srgbClr val="E0900C"/>
                </a:solidFill>
                <a:latin typeface="Calibri" pitchFamily="34" charset="0"/>
                <a:ea typeface="Calibri" pitchFamily="34" charset="-122"/>
                <a:cs typeface="Calibri" pitchFamily="34" charset="-120"/>
              </a:rPr>
              <a:t>What-if scenario engine</a:t>
            </a:r>
            <a:endParaRPr lang="en-US" sz="1450" dirty="0"/>
          </a:p>
        </p:txBody>
      </p:sp>
      <p:sp>
        <p:nvSpPr>
          <p:cNvPr id="27" name="Text 25"/>
          <p:cNvSpPr/>
          <p:nvPr/>
        </p:nvSpPr>
        <p:spPr>
          <a:xfrm>
            <a:off x="841248" y="4709160"/>
            <a:ext cx="5029200" cy="822960"/>
          </a:xfrm>
          <a:prstGeom prst="rect">
            <a:avLst/>
          </a:prstGeom>
          <a:noFill/>
          <a:ln/>
        </p:spPr>
        <p:txBody>
          <a:bodyPr wrap="square" lIns="0" tIns="0" rIns="0" bIns="0" rtlCol="0" anchor="t"/>
          <a:lstStyle/>
          <a:p>
            <a:pPr indent="0" marL="0">
              <a:lnSpc>
                <a:spcPct val="116000"/>
              </a:lnSpc>
              <a:buNone/>
            </a:pPr>
            <a:r>
              <a:rPr lang="en-US" sz="1100" dirty="0">
                <a:solidFill>
                  <a:srgbClr val="3E4C63"/>
                </a:solidFill>
                <a:latin typeface="Calibri" pitchFamily="34" charset="0"/>
                <a:ea typeface="Calibri" pitchFamily="34" charset="-122"/>
                <a:cs typeface="Calibri" pitchFamily="34" charset="-120"/>
              </a:rPr>
              <a:t>Move a commodity ±20% and see the price recompute — for one part or the whole portfolio, instantly.</a:t>
            </a:r>
            <a:endParaRPr lang="en-US" sz="1100" dirty="0"/>
          </a:p>
        </p:txBody>
      </p:sp>
      <p:sp>
        <p:nvSpPr>
          <p:cNvPr id="28" name="Shape 26"/>
          <p:cNvSpPr/>
          <p:nvPr/>
        </p:nvSpPr>
        <p:spPr>
          <a:xfrm>
            <a:off x="6217920" y="3749040"/>
            <a:ext cx="5422392" cy="1874520"/>
          </a:xfrm>
          <a:prstGeom prst="roundRect">
            <a:avLst>
              <a:gd name="adj" fmla="val 3415"/>
            </a:avLst>
          </a:prstGeom>
          <a:solidFill>
            <a:srgbClr val="FFFFFF"/>
          </a:solidFill>
          <a:ln w="12700">
            <a:solidFill>
              <a:srgbClr val="E4EAF2"/>
            </a:solidFill>
            <a:prstDash val="solid"/>
          </a:ln>
          <a:effectLst>
            <a:outerShdw sx="100000" sy="100000" kx="0" ky="0" algn="bl" rotWithShape="0" blurRad="1.9095399081737364e+255" dist="5.455828309067819e+254" dir="1.5835071665743328e+298">
              <a:srgbClr val="9DB0CC">
                <a:alpha val="Infinity"/>
              </a:srgbClr>
            </a:outerShdw>
          </a:effectLst>
        </p:spPr>
      </p:sp>
      <p:sp>
        <p:nvSpPr>
          <p:cNvPr id="29" name="Shape 27"/>
          <p:cNvSpPr/>
          <p:nvPr/>
        </p:nvSpPr>
        <p:spPr>
          <a:xfrm>
            <a:off x="6217920" y="3749040"/>
            <a:ext cx="82296" cy="1874520"/>
          </a:xfrm>
          <a:prstGeom prst="rect">
            <a:avLst/>
          </a:prstGeom>
          <a:solidFill>
            <a:srgbClr val="0EA472"/>
          </a:solidFill>
          <a:ln/>
        </p:spPr>
      </p:sp>
      <p:sp>
        <p:nvSpPr>
          <p:cNvPr id="30" name="Shape 28"/>
          <p:cNvSpPr/>
          <p:nvPr/>
        </p:nvSpPr>
        <p:spPr>
          <a:xfrm>
            <a:off x="6492240" y="4023360"/>
            <a:ext cx="548640" cy="548640"/>
          </a:xfrm>
          <a:prstGeom prst="ellipse">
            <a:avLst/>
          </a:prstGeom>
          <a:solidFill>
            <a:srgbClr val="E7F7F0"/>
          </a:solidFill>
          <a:ln/>
        </p:spPr>
      </p:sp>
      <p:sp>
        <p:nvSpPr>
          <p:cNvPr id="31" name="Text 29"/>
          <p:cNvSpPr/>
          <p:nvPr/>
        </p:nvSpPr>
        <p:spPr>
          <a:xfrm>
            <a:off x="6492240" y="4014216"/>
            <a:ext cx="548640" cy="548640"/>
          </a:xfrm>
          <a:prstGeom prst="rect">
            <a:avLst/>
          </a:prstGeom>
          <a:noFill/>
          <a:ln/>
        </p:spPr>
        <p:txBody>
          <a:bodyPr wrap="square" lIns="0" tIns="0" rIns="0" bIns="0" rtlCol="0" anchor="ctr"/>
          <a:lstStyle/>
          <a:p>
            <a:pPr algn="ctr" indent="0" marL="0">
              <a:buNone/>
            </a:pPr>
            <a:r>
              <a:rPr lang="en-US" sz="2000" b="1" dirty="0">
                <a:solidFill>
                  <a:srgbClr val="0EA472"/>
                </a:solidFill>
                <a:latin typeface="Calibri" pitchFamily="34" charset="0"/>
                <a:ea typeface="Calibri" pitchFamily="34" charset="-122"/>
                <a:cs typeface="Calibri" pitchFamily="34" charset="-120"/>
              </a:rPr>
              <a:t>♢</a:t>
            </a:r>
            <a:endParaRPr lang="en-US" sz="2000" dirty="0"/>
          </a:p>
        </p:txBody>
      </p:sp>
      <p:sp>
        <p:nvSpPr>
          <p:cNvPr id="32" name="Text 30"/>
          <p:cNvSpPr/>
          <p:nvPr/>
        </p:nvSpPr>
        <p:spPr>
          <a:xfrm>
            <a:off x="7187184" y="4059936"/>
            <a:ext cx="4297680" cy="411480"/>
          </a:xfrm>
          <a:prstGeom prst="rect">
            <a:avLst/>
          </a:prstGeom>
          <a:noFill/>
          <a:ln/>
        </p:spPr>
        <p:txBody>
          <a:bodyPr wrap="square" lIns="0" tIns="0" rIns="0" bIns="0" rtlCol="0" anchor="ctr"/>
          <a:lstStyle/>
          <a:p>
            <a:pPr indent="0" marL="0">
              <a:lnSpc>
                <a:spcPct val="95000"/>
              </a:lnSpc>
              <a:buNone/>
            </a:pPr>
            <a:r>
              <a:rPr lang="en-US" sz="1450" b="1" dirty="0">
                <a:solidFill>
                  <a:srgbClr val="0EA472"/>
                </a:solidFill>
                <a:latin typeface="Calibri" pitchFamily="34" charset="0"/>
                <a:ea typeface="Calibri" pitchFamily="34" charset="-122"/>
                <a:cs typeface="Calibri" pitchFamily="34" charset="-120"/>
              </a:rPr>
              <a:t>Carbon co-costing</a:t>
            </a:r>
            <a:endParaRPr lang="en-US" sz="1450" dirty="0"/>
          </a:p>
        </p:txBody>
      </p:sp>
      <p:sp>
        <p:nvSpPr>
          <p:cNvPr id="33" name="Text 31"/>
          <p:cNvSpPr/>
          <p:nvPr/>
        </p:nvSpPr>
        <p:spPr>
          <a:xfrm>
            <a:off x="6510528" y="4709160"/>
            <a:ext cx="5029200" cy="822960"/>
          </a:xfrm>
          <a:prstGeom prst="rect">
            <a:avLst/>
          </a:prstGeom>
          <a:noFill/>
          <a:ln/>
        </p:spPr>
        <p:txBody>
          <a:bodyPr wrap="square" lIns="0" tIns="0" rIns="0" bIns="0" rtlCol="0" anchor="t"/>
          <a:lstStyle/>
          <a:p>
            <a:pPr indent="0" marL="0">
              <a:lnSpc>
                <a:spcPct val="116000"/>
              </a:lnSpc>
              <a:buNone/>
            </a:pPr>
            <a:r>
              <a:rPr lang="en-US" sz="1100" dirty="0">
                <a:solidFill>
                  <a:srgbClr val="3E4C63"/>
                </a:solidFill>
                <a:latin typeface="Calibri" pitchFamily="34" charset="0"/>
                <a:ea typeface="Calibri" pitchFamily="34" charset="-122"/>
                <a:cs typeface="Calibri" pitchFamily="34" charset="-120"/>
              </a:rPr>
              <a:t>Every part gets a CO₂e figure alongside the £ — increasingly required in automotive &amp; aerospace RFQs.</a:t>
            </a:r>
            <a:endParaRPr lang="en-US" sz="1100" dirty="0"/>
          </a:p>
        </p:txBody>
      </p:sp>
      <p:sp>
        <p:nvSpPr>
          <p:cNvPr id="34" name="Shape 32"/>
          <p:cNvSpPr/>
          <p:nvPr/>
        </p:nvSpPr>
        <p:spPr>
          <a:xfrm>
            <a:off x="548640" y="5669280"/>
            <a:ext cx="11091672" cy="457200"/>
          </a:xfrm>
          <a:prstGeom prst="roundRect">
            <a:avLst>
              <a:gd name="adj" fmla="val 14000"/>
            </a:avLst>
          </a:prstGeom>
          <a:solidFill>
            <a:srgbClr val="F4F7FB"/>
          </a:solidFill>
          <a:ln w="12700">
            <a:solidFill>
              <a:srgbClr val="E4EAF2"/>
            </a:solidFill>
            <a:prstDash val="solid"/>
          </a:ln>
        </p:spPr>
      </p:sp>
      <p:sp>
        <p:nvSpPr>
          <p:cNvPr id="35" name="Text 33"/>
          <p:cNvSpPr/>
          <p:nvPr/>
        </p:nvSpPr>
        <p:spPr>
          <a:xfrm>
            <a:off x="868680" y="5669280"/>
            <a:ext cx="10424160" cy="457200"/>
          </a:xfrm>
          <a:prstGeom prst="rect">
            <a:avLst/>
          </a:prstGeom>
          <a:noFill/>
          <a:ln/>
        </p:spPr>
        <p:txBody>
          <a:bodyPr wrap="square" lIns="0" tIns="0" rIns="0" bIns="0" rtlCol="0" anchor="ctr"/>
          <a:lstStyle/>
          <a:p>
            <a:pPr indent="0" marL="0">
              <a:buNone/>
            </a:pPr>
            <a:r>
              <a:rPr lang="en-US" sz="1150" i="1" dirty="0">
                <a:solidFill>
                  <a:srgbClr val="8A97A8"/>
                </a:solidFill>
                <a:latin typeface="Calibri" pitchFamily="34" charset="0"/>
                <a:ea typeface="Calibri" pitchFamily="34" charset="-122"/>
                <a:cs typeface="Calibri" pitchFamily="34" charset="-120"/>
              </a:rPr>
              <a:t>Each of these turns a number into a decision — a defensible range, a negotiating sentence, a risk pre-empted, a carbon figure.</a:t>
            </a:r>
            <a:endParaRPr lang="en-US" sz="1150" dirty="0"/>
          </a:p>
        </p:txBody>
      </p:sp>
      <p:sp>
        <p:nvSpPr>
          <p:cNvPr id="36" name="Shape 34"/>
          <p:cNvSpPr/>
          <p:nvPr/>
        </p:nvSpPr>
        <p:spPr>
          <a:xfrm>
            <a:off x="548640" y="6400800"/>
            <a:ext cx="11094415" cy="12802"/>
          </a:xfrm>
          <a:prstGeom prst="rect">
            <a:avLst/>
          </a:prstGeom>
          <a:solidFill>
            <a:srgbClr val="E4EAF2"/>
          </a:solidFill>
          <a:ln/>
        </p:spPr>
      </p:sp>
      <p:sp>
        <p:nvSpPr>
          <p:cNvPr id="37" name="Text 35"/>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38" name="Text 36"/>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25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A472"/>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A472"/>
                </a:solidFill>
                <a:latin typeface="Calibri" pitchFamily="34" charset="0"/>
                <a:ea typeface="Calibri" pitchFamily="34" charset="-122"/>
                <a:cs typeface="Calibri" pitchFamily="34" charset="-120"/>
              </a:rPr>
              <a:t>ACCURACY &amp; TRUST</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Trust — what is proven, and what is not</a:t>
            </a:r>
            <a:endParaRPr lang="en-US" sz="2400" dirty="0"/>
          </a:p>
        </p:txBody>
      </p:sp>
      <p:sp>
        <p:nvSpPr>
          <p:cNvPr id="9" name="Shape 7"/>
          <p:cNvSpPr/>
          <p:nvPr/>
        </p:nvSpPr>
        <p:spPr>
          <a:xfrm>
            <a:off x="548640" y="1371600"/>
            <a:ext cx="1051560" cy="45720"/>
          </a:xfrm>
          <a:prstGeom prst="rect">
            <a:avLst/>
          </a:prstGeom>
          <a:solidFill>
            <a:srgbClr val="0EA472"/>
          </a:solidFill>
          <a:ln/>
        </p:spPr>
        <p:txBody>
          <a:bodyPr/>
          <a:p/>
        </p:txBody>
      </p:sp>
      <p:sp>
        <p:nvSpPr>
          <p:cNvPr id="10" name="Shape 8"/>
          <p:cNvSpPr/>
          <p:nvPr/>
        </p:nvSpPr>
        <p:spPr>
          <a:xfrm>
            <a:off x="548640" y="1691640"/>
            <a:ext cx="5422392" cy="1417320"/>
          </a:xfrm>
          <a:prstGeom prst="roundRect">
            <a:avLst>
              <a:gd name="adj" fmla="val 4516"/>
            </a:avLst>
          </a:prstGeom>
          <a:solidFill>
            <a:srgbClr val="FFFFFF"/>
          </a:solidFill>
          <a:ln w="12700">
            <a:solidFill>
              <a:srgbClr val="E4EAF2"/>
            </a:solidFill>
            <a:prstDash val="solid"/>
          </a:ln>
          <a:effectLst>
            <a:outerShdw sx="100000" sy="100000" kx="0" ky="0" algn="bl" rotWithShape="0" blurRad="2.425115683380645e+259" dist="6.928901952516129e+258" dir="9.501042999445996e+302">
              <a:srgbClr val="9DB0CC">
                <a:alpha val="Infinity"/>
              </a:srgbClr>
            </a:outerShdw>
          </a:effectLst>
        </p:spPr>
        <p:txBody>
          <a:bodyPr/>
          <a:p/>
        </p:txBody>
      </p:sp>
      <p:sp>
        <p:nvSpPr>
          <p:cNvPr id="11" name="Shape 9"/>
          <p:cNvSpPr/>
          <p:nvPr/>
        </p:nvSpPr>
        <p:spPr>
          <a:xfrm>
            <a:off x="548640" y="1691640"/>
            <a:ext cx="82296" cy="1417320"/>
          </a:xfrm>
          <a:prstGeom prst="rect">
            <a:avLst/>
          </a:prstGeom>
          <a:solidFill>
            <a:srgbClr val="2563EB"/>
          </a:solidFill>
          <a:ln/>
        </p:spPr>
        <p:txBody>
          <a:bodyPr/>
          <a:p/>
        </p:txBody>
      </p:sp>
      <p:sp>
        <p:nvSpPr>
          <p:cNvPr id="12" name="Shape 10"/>
          <p:cNvSpPr/>
          <p:nvPr/>
        </p:nvSpPr>
        <p:spPr>
          <a:xfrm>
            <a:off x="804672" y="1911096"/>
            <a:ext cx="457200" cy="457200"/>
          </a:xfrm>
          <a:prstGeom prst="ellipse">
            <a:avLst/>
          </a:prstGeom>
          <a:solidFill>
            <a:srgbClr val="EAF1FE"/>
          </a:solidFill>
          <a:ln/>
        </p:spPr>
        <p:txBody>
          <a:bodyPr/>
          <a:p/>
        </p:txBody>
      </p:sp>
      <p:sp>
        <p:nvSpPr>
          <p:cNvPr id="13" name="Text 11"/>
          <p:cNvSpPr/>
          <p:nvPr/>
        </p:nvSpPr>
        <p:spPr>
          <a:xfrm>
            <a:off x="804672" y="1901952"/>
            <a:ext cx="457200" cy="457200"/>
          </a:xfrm>
          <a:prstGeom prst="rect">
            <a:avLst/>
          </a:prstGeom>
          <a:noFill/>
          <a:ln/>
        </p:spPr>
        <p:txBody>
          <a:bodyPr wrap="square" lIns="0" tIns="0" rIns="0" bIns="0" rtlCol="0" anchor="ctr"/>
          <a:lstStyle/>
          <a:p>
            <a:pPr algn="ctr" indent="0" marL="0">
              <a:buNone/>
            </a:pPr>
            <a:r>
              <a:rPr lang="en-US" sz="1700" b="1" dirty="0">
                <a:solidFill>
                  <a:srgbClr val="2563EB"/>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1335024" y="1947672"/>
            <a:ext cx="4389120" cy="457200"/>
          </a:xfrm>
          <a:prstGeom prst="rect">
            <a:avLst/>
          </a:prstGeom>
          <a:noFill/>
          <a:ln/>
        </p:spPr>
        <p:txBody>
          <a:bodyPr wrap="square" lIns="0" tIns="0" rIns="0" bIns="0" rtlCol="0" anchor="ctr"/>
          <a:lstStyle/>
          <a:p>
            <a:pPr indent="0" marL="0">
              <a:buNone/>
            </a:pPr>
            <a:r>
              <a:rPr lang="en-US" sz="1350" b="1" dirty="0">
                <a:solidFill>
                  <a:srgbClr val="2563EB"/>
                </a:solidFill>
                <a:latin typeface="Calibri" pitchFamily="34" charset="0"/>
                <a:ea typeface="Calibri" pitchFamily="34" charset="-122"/>
                <a:cs typeface="Calibri" pitchFamily="34" charset="-120"/>
              </a:rPr>
              <a:t>Traceable, not a black box</a:t>
            </a:r>
            <a:endParaRPr lang="en-US" sz="1350" dirty="0"/>
          </a:p>
        </p:txBody>
      </p:sp>
      <p:sp>
        <p:nvSpPr>
          <p:cNvPr id="15" name="Text 13"/>
          <p:cNvSpPr/>
          <p:nvPr/>
        </p:nvSpPr>
        <p:spPr>
          <a:xfrm>
            <a:off x="822960" y="2441448"/>
            <a:ext cx="4983480" cy="594360"/>
          </a:xfrm>
          <a:prstGeom prst="rect">
            <a:avLst/>
          </a:prstGeom>
          <a:noFill/>
          <a:ln/>
        </p:spPr>
        <p:txBody>
          <a:bodyPr wrap="square" lIns="0" tIns="0" rIns="0" bIns="0" rtlCol="0" anchor="t"/>
          <a:lstStyle/>
          <a:p>
            <a:pPr indent="0" marL="0">
              <a:lnSpc>
                <a:spcPct val="112000"/>
              </a:lnSpc>
              <a:buNone/>
            </a:pPr>
            <a:r>
              <a:rPr lang="en-US" sz="1050" dirty="0">
                <a:solidFill>
                  <a:srgbClr val="3E4C63"/>
                </a:solidFill>
                <a:latin typeface="Calibri" pitchFamily="34" charset="0"/>
                <a:ea typeface="Calibri" pitchFamily="34" charset="-122"/>
                <a:cs typeface="Calibri" pitchFamily="34" charset="-120"/>
              </a:rPr>
              <a:t>Every number is plain arithmetic you can trace to a rate. AI never sets a price, and at JLR it is switched off.</a:t>
            </a:r>
            <a:endParaRPr lang="en-US" sz="1050" dirty="0"/>
          </a:p>
        </p:txBody>
      </p:sp>
      <p:sp>
        <p:nvSpPr>
          <p:cNvPr id="16" name="Shape 14"/>
          <p:cNvSpPr/>
          <p:nvPr/>
        </p:nvSpPr>
        <p:spPr>
          <a:xfrm>
            <a:off x="6217920" y="1691640"/>
            <a:ext cx="5422392" cy="1417320"/>
          </a:xfrm>
          <a:prstGeom prst="roundRect">
            <a:avLst>
              <a:gd name="adj" fmla="val 4516"/>
            </a:avLst>
          </a:prstGeom>
          <a:solidFill>
            <a:srgbClr val="FFFFFF"/>
          </a:solidFill>
          <a:ln w="12700">
            <a:solidFill>
              <a:srgbClr val="E4EAF2"/>
            </a:solidFill>
            <a:prstDash val="solid"/>
          </a:ln>
          <a:effectLst>
            <a:outerShdw sx="100000" sy="100000" kx="0" ky="0" algn="bl" rotWithShape="0" blurRad="3.079896917893419e+263" dist="8.799705479695485e+262" dir="5.700625799667598e+307">
              <a:srgbClr val="9DB0CC">
                <a:alpha val="Infinity"/>
              </a:srgbClr>
            </a:outerShdw>
          </a:effectLst>
        </p:spPr>
        <p:txBody>
          <a:bodyPr/>
          <a:p/>
        </p:txBody>
      </p:sp>
      <p:sp>
        <p:nvSpPr>
          <p:cNvPr id="17" name="Shape 15"/>
          <p:cNvSpPr/>
          <p:nvPr/>
        </p:nvSpPr>
        <p:spPr>
          <a:xfrm>
            <a:off x="6217920" y="1691640"/>
            <a:ext cx="82296" cy="1417320"/>
          </a:xfrm>
          <a:prstGeom prst="rect">
            <a:avLst/>
          </a:prstGeom>
          <a:solidFill>
            <a:srgbClr val="0DA5A0"/>
          </a:solidFill>
          <a:ln/>
        </p:spPr>
        <p:txBody>
          <a:bodyPr/>
          <a:p/>
        </p:txBody>
      </p:sp>
      <p:sp>
        <p:nvSpPr>
          <p:cNvPr id="18" name="Shape 16"/>
          <p:cNvSpPr/>
          <p:nvPr/>
        </p:nvSpPr>
        <p:spPr>
          <a:xfrm>
            <a:off x="6473952" y="1911096"/>
            <a:ext cx="457200" cy="457200"/>
          </a:xfrm>
          <a:prstGeom prst="ellipse">
            <a:avLst/>
          </a:prstGeom>
          <a:solidFill>
            <a:srgbClr val="E7F7F0"/>
          </a:solidFill>
          <a:ln/>
        </p:spPr>
        <p:txBody>
          <a:bodyPr/>
          <a:p/>
        </p:txBody>
      </p:sp>
      <p:sp>
        <p:nvSpPr>
          <p:cNvPr id="19" name="Text 17"/>
          <p:cNvSpPr/>
          <p:nvPr/>
        </p:nvSpPr>
        <p:spPr>
          <a:xfrm>
            <a:off x="6473952" y="1901952"/>
            <a:ext cx="457200" cy="457200"/>
          </a:xfrm>
          <a:prstGeom prst="rect">
            <a:avLst/>
          </a:prstGeom>
          <a:noFill/>
          <a:ln/>
        </p:spPr>
        <p:txBody>
          <a:bodyPr wrap="square" lIns="0" tIns="0" rIns="0" bIns="0" rtlCol="0" anchor="ctr"/>
          <a:lstStyle/>
          <a:p>
            <a:pPr algn="ctr" indent="0" marL="0">
              <a:buNone/>
            </a:pPr>
            <a:r>
              <a:rPr lang="en-US" sz="1700" b="1" dirty="0">
                <a:solidFill>
                  <a:srgbClr val="0DA5A0"/>
                </a:solidFill>
                <a:latin typeface="Calibri" pitchFamily="34" charset="0"/>
                <a:ea typeface="Calibri" pitchFamily="34" charset="-122"/>
                <a:cs typeface="Calibri" pitchFamily="34" charset="-120"/>
              </a:rPr>
              <a:t>◎</a:t>
            </a:r>
            <a:endParaRPr lang="en-US" sz="1700" dirty="0"/>
          </a:p>
        </p:txBody>
      </p:sp>
      <p:sp>
        <p:nvSpPr>
          <p:cNvPr id="20" name="Text 18"/>
          <p:cNvSpPr/>
          <p:nvPr/>
        </p:nvSpPr>
        <p:spPr>
          <a:xfrm>
            <a:off x="7004304" y="1947672"/>
            <a:ext cx="4389120" cy="457200"/>
          </a:xfrm>
          <a:prstGeom prst="rect">
            <a:avLst/>
          </a:prstGeom>
          <a:noFill/>
          <a:ln/>
        </p:spPr>
        <p:txBody>
          <a:bodyPr wrap="square" lIns="0" tIns="0" rIns="0" bIns="0" rtlCol="0" anchor="ctr"/>
          <a:lstStyle/>
          <a:p>
            <a:pPr indent="0" marL="0">
              <a:buNone/>
            </a:pPr>
            <a:r>
              <a:rPr lang="en-US" sz="1350" b="1" dirty="0">
                <a:solidFill>
                  <a:srgbClr val="0DA5A0"/>
                </a:solidFill>
                <a:latin typeface="Calibri" pitchFamily="34" charset="0"/>
                <a:ea typeface="Calibri" pitchFamily="34" charset="-122"/>
                <a:cs typeface="Calibri" pitchFamily="34" charset="-120"/>
              </a:rPr>
              <a:t>Proven so far</a:t>
            </a:r>
            <a:endParaRPr lang="en-US" sz="1350" dirty="0"/>
          </a:p>
        </p:txBody>
      </p:sp>
      <p:sp>
        <p:nvSpPr>
          <p:cNvPr id="21" name="Text 19"/>
          <p:cNvSpPr/>
          <p:nvPr/>
        </p:nvSpPr>
        <p:spPr>
          <a:xfrm>
            <a:off x="6492240" y="2441448"/>
            <a:ext cx="4983480" cy="594360"/>
          </a:xfrm>
          <a:prstGeom prst="rect">
            <a:avLst/>
          </a:prstGeom>
          <a:noFill/>
          <a:ln/>
        </p:spPr>
        <p:txBody>
          <a:bodyPr wrap="square" lIns="0" tIns="0" rIns="0" bIns="0" rtlCol="0" anchor="t"/>
          <a:lstStyle/>
          <a:p>
            <a:pPr indent="0" marL="0">
              <a:lnSpc>
                <a:spcPct val="112000"/>
              </a:lnSpc>
              <a:buNone/>
            </a:pPr>
            <a:r>
              <a:rPr lang="en-US" sz="1050" dirty="0">
                <a:solidFill>
                  <a:srgbClr val="3E4C63"/>
                </a:solidFill>
                <a:latin typeface="Calibri" pitchFamily="34" charset="0"/>
                <a:ea typeface="Calibri" pitchFamily="34" charset="-122"/>
                <a:cs typeface="Calibri" pitchFamily="34" charset="-120"/>
              </a:rPr>
              <a:t>The engine matches a hand calculation to under 0.01% (a £23.27 bracket). 6 real production parts are pinned; a change that moves one fails the build.</a:t>
            </a:r>
            <a:endParaRPr lang="en-US" sz="1050" dirty="0"/>
          </a:p>
        </p:txBody>
      </p:sp>
      <p:sp>
        <p:nvSpPr>
          <p:cNvPr id="22" name="Shape 20"/>
          <p:cNvSpPr/>
          <p:nvPr/>
        </p:nvSpPr>
        <p:spPr>
          <a:xfrm>
            <a:off x="548640" y="3291840"/>
            <a:ext cx="5422392" cy="1417320"/>
          </a:xfrm>
          <a:prstGeom prst="roundRect">
            <a:avLst>
              <a:gd name="adj" fmla="val 4516"/>
            </a:avLst>
          </a:prstGeom>
          <a:solidFill>
            <a:srgbClr val="FFFFFF"/>
          </a:solidFill>
          <a:ln w="12700">
            <a:solidFill>
              <a:srgbClr val="E4EAF2"/>
            </a:solidFill>
            <a:prstDash val="solid"/>
          </a:ln>
          <a:effectLst>
            <a:outerShdw sx="100000" sy="100000" kx="0" ky="0" algn="bl" rotWithShape="0" blurRad="3.9114690857246423e+267" dist="1.1175625959213265e+267" dir="Infinity">
              <a:srgbClr val="9DB0CC">
                <a:alpha val="Infinity"/>
              </a:srgbClr>
            </a:outerShdw>
          </a:effectLst>
        </p:spPr>
        <p:txBody>
          <a:bodyPr/>
          <a:p/>
        </p:txBody>
      </p:sp>
      <p:sp>
        <p:nvSpPr>
          <p:cNvPr id="23" name="Shape 21"/>
          <p:cNvSpPr/>
          <p:nvPr/>
        </p:nvSpPr>
        <p:spPr>
          <a:xfrm>
            <a:off x="548640" y="3291840"/>
            <a:ext cx="82296" cy="1417320"/>
          </a:xfrm>
          <a:prstGeom prst="rect">
            <a:avLst/>
          </a:prstGeom>
          <a:solidFill>
            <a:srgbClr val="7C3AED"/>
          </a:solidFill>
          <a:ln/>
        </p:spPr>
        <p:txBody>
          <a:bodyPr/>
          <a:p/>
        </p:txBody>
      </p:sp>
      <p:sp>
        <p:nvSpPr>
          <p:cNvPr id="24" name="Shape 22"/>
          <p:cNvSpPr/>
          <p:nvPr/>
        </p:nvSpPr>
        <p:spPr>
          <a:xfrm>
            <a:off x="804672" y="3511296"/>
            <a:ext cx="457200" cy="457200"/>
          </a:xfrm>
          <a:prstGeom prst="ellipse">
            <a:avLst/>
          </a:prstGeom>
          <a:solidFill>
            <a:srgbClr val="F3EEFE"/>
          </a:solidFill>
          <a:ln/>
        </p:spPr>
        <p:txBody>
          <a:bodyPr/>
          <a:p/>
        </p:txBody>
      </p:sp>
      <p:sp>
        <p:nvSpPr>
          <p:cNvPr id="25" name="Text 23"/>
          <p:cNvSpPr/>
          <p:nvPr/>
        </p:nvSpPr>
        <p:spPr>
          <a:xfrm>
            <a:off x="804672" y="3502152"/>
            <a:ext cx="457200" cy="457200"/>
          </a:xfrm>
          <a:prstGeom prst="rect">
            <a:avLst/>
          </a:prstGeom>
          <a:noFill/>
          <a:ln/>
        </p:spPr>
        <p:txBody>
          <a:bodyPr wrap="square" lIns="0" tIns="0" rIns="0" bIns="0" rtlCol="0" anchor="ctr"/>
          <a:lstStyle/>
          <a:p>
            <a:pPr algn="ctr" indent="0" marL="0">
              <a:buNone/>
            </a:pPr>
            <a:r>
              <a:rPr lang="en-US" sz="1700" b="1" dirty="0">
                <a:solidFill>
                  <a:srgbClr val="7C3AED"/>
                </a:solidFill>
                <a:latin typeface="Calibri" pitchFamily="34" charset="0"/>
                <a:ea typeface="Calibri" pitchFamily="34" charset="-122"/>
                <a:cs typeface="Calibri" pitchFamily="34" charset="-120"/>
              </a:rPr>
              <a:t>◈</a:t>
            </a:r>
            <a:endParaRPr lang="en-US" sz="1700" dirty="0"/>
          </a:p>
        </p:txBody>
      </p:sp>
      <p:sp>
        <p:nvSpPr>
          <p:cNvPr id="26" name="Text 24"/>
          <p:cNvSpPr/>
          <p:nvPr/>
        </p:nvSpPr>
        <p:spPr>
          <a:xfrm>
            <a:off x="1335024" y="3547872"/>
            <a:ext cx="4389120" cy="457200"/>
          </a:xfrm>
          <a:prstGeom prst="rect">
            <a:avLst/>
          </a:prstGeom>
          <a:noFill/>
          <a:ln/>
        </p:spPr>
        <p:txBody>
          <a:bodyPr wrap="square" lIns="0" tIns="0" rIns="0" bIns="0" rtlCol="0" anchor="ctr"/>
          <a:lstStyle/>
          <a:p>
            <a:pPr indent="0" marL="0">
              <a:buNone/>
            </a:pPr>
            <a:r>
              <a:rPr lang="en-US" sz="1350" b="1" dirty="0">
                <a:solidFill>
                  <a:srgbClr val="7C3AED"/>
                </a:solidFill>
                <a:latin typeface="Calibri" pitchFamily="34" charset="0"/>
                <a:ea typeface="Calibri" pitchFamily="34" charset="-122"/>
                <a:cs typeface="Calibri" pitchFamily="34" charset="-120"/>
              </a:rPr>
              <a:t>Not proven yet</a:t>
            </a:r>
            <a:endParaRPr lang="en-US" sz="1350" dirty="0"/>
          </a:p>
        </p:txBody>
      </p:sp>
      <p:sp>
        <p:nvSpPr>
          <p:cNvPr id="27" name="Text 25"/>
          <p:cNvSpPr/>
          <p:nvPr/>
        </p:nvSpPr>
        <p:spPr>
          <a:xfrm>
            <a:off x="822960" y="4041648"/>
            <a:ext cx="4983480" cy="594360"/>
          </a:xfrm>
          <a:prstGeom prst="rect">
            <a:avLst/>
          </a:prstGeom>
          <a:noFill/>
          <a:ln/>
        </p:spPr>
        <p:txBody>
          <a:bodyPr wrap="square" lIns="0" tIns="0" rIns="0" bIns="0" rtlCol="0" anchor="t"/>
          <a:lstStyle/>
          <a:p>
            <a:pPr indent="0" marL="0">
              <a:lnSpc>
                <a:spcPct val="112000"/>
              </a:lnSpc>
              <a:buNone/>
            </a:pPr>
            <a:r>
              <a:rPr lang="en-US" sz="1050" dirty="0">
                <a:solidFill>
                  <a:srgbClr val="3E4C63"/>
                </a:solidFill>
                <a:latin typeface="Calibri" pitchFamily="34" charset="0"/>
                <a:ea typeface="Calibri" pitchFamily="34" charset="-122"/>
                <a:cs typeface="Calibri" pitchFamily="34" charset="-120"/>
              </a:rPr>
              <a:t>No estimate has been compared with a price JLR paid. Every result carries a P10–P90 band until it is.</a:t>
            </a:r>
            <a:endParaRPr lang="en-US" sz="1050" dirty="0"/>
          </a:p>
        </p:txBody>
      </p:sp>
      <p:sp>
        <p:nvSpPr>
          <p:cNvPr id="28" name="Shape 26"/>
          <p:cNvSpPr/>
          <p:nvPr/>
        </p:nvSpPr>
        <p:spPr>
          <a:xfrm>
            <a:off x="6217920" y="3291840"/>
            <a:ext cx="5422392" cy="1417320"/>
          </a:xfrm>
          <a:prstGeom prst="roundRect">
            <a:avLst>
              <a:gd name="adj" fmla="val 4516"/>
            </a:avLst>
          </a:prstGeom>
          <a:solidFill>
            <a:srgbClr val="FFFFFF"/>
          </a:solidFill>
          <a:ln w="12700">
            <a:solidFill>
              <a:srgbClr val="E4EAF2"/>
            </a:solidFill>
            <a:prstDash val="solid"/>
          </a:ln>
          <a:effectLst>
            <a:outerShdw sx="100000" sy="100000" kx="0" ky="0" algn="bl" rotWithShape="0" blurRad="4.9675657388702955e+271" dist="1.4193044968200846e+271" dir="Infinity">
              <a:srgbClr val="9DB0CC">
                <a:alpha val="Infinity"/>
              </a:srgbClr>
            </a:outerShdw>
          </a:effectLst>
        </p:spPr>
        <p:txBody>
          <a:bodyPr/>
          <a:p/>
        </p:txBody>
      </p:sp>
      <p:sp>
        <p:nvSpPr>
          <p:cNvPr id="29" name="Shape 27"/>
          <p:cNvSpPr/>
          <p:nvPr/>
        </p:nvSpPr>
        <p:spPr>
          <a:xfrm>
            <a:off x="6217920" y="3291840"/>
            <a:ext cx="82296" cy="1417320"/>
          </a:xfrm>
          <a:prstGeom prst="rect">
            <a:avLst/>
          </a:prstGeom>
          <a:solidFill>
            <a:srgbClr val="0EA472"/>
          </a:solidFill>
          <a:ln/>
        </p:spPr>
        <p:txBody>
          <a:bodyPr/>
          <a:p/>
        </p:txBody>
      </p:sp>
      <p:sp>
        <p:nvSpPr>
          <p:cNvPr id="30" name="Shape 28"/>
          <p:cNvSpPr/>
          <p:nvPr/>
        </p:nvSpPr>
        <p:spPr>
          <a:xfrm>
            <a:off x="6473952" y="3511296"/>
            <a:ext cx="457200" cy="457200"/>
          </a:xfrm>
          <a:prstGeom prst="ellipse">
            <a:avLst/>
          </a:prstGeom>
          <a:solidFill>
            <a:srgbClr val="E7F7F0"/>
          </a:solidFill>
          <a:ln/>
        </p:spPr>
        <p:txBody>
          <a:bodyPr/>
          <a:p/>
        </p:txBody>
      </p:sp>
      <p:sp>
        <p:nvSpPr>
          <p:cNvPr id="31" name="Text 29"/>
          <p:cNvSpPr/>
          <p:nvPr/>
        </p:nvSpPr>
        <p:spPr>
          <a:xfrm>
            <a:off x="6473952" y="3502152"/>
            <a:ext cx="457200" cy="457200"/>
          </a:xfrm>
          <a:prstGeom prst="rect">
            <a:avLst/>
          </a:prstGeom>
          <a:noFill/>
          <a:ln/>
        </p:spPr>
        <p:txBody>
          <a:bodyPr wrap="square" lIns="0" tIns="0" rIns="0" bIns="0" rtlCol="0" anchor="ctr"/>
          <a:lstStyle/>
          <a:p>
            <a:pPr algn="ctr" indent="0" marL="0">
              <a:buNone/>
            </a:pPr>
            <a:r>
              <a:rPr lang="en-US" sz="1700" b="1" dirty="0">
                <a:solidFill>
                  <a:srgbClr val="0EA472"/>
                </a:solidFill>
                <a:latin typeface="Calibri" pitchFamily="34" charset="0"/>
                <a:ea typeface="Calibri" pitchFamily="34" charset="-122"/>
                <a:cs typeface="Calibri" pitchFamily="34" charset="-120"/>
              </a:rPr>
              <a:t>✓</a:t>
            </a:r>
            <a:endParaRPr lang="en-US" sz="1700" dirty="0"/>
          </a:p>
        </p:txBody>
      </p:sp>
      <p:sp>
        <p:nvSpPr>
          <p:cNvPr id="32" name="Text 30"/>
          <p:cNvSpPr/>
          <p:nvPr/>
        </p:nvSpPr>
        <p:spPr>
          <a:xfrm>
            <a:off x="7004304" y="3547872"/>
            <a:ext cx="4389120" cy="457200"/>
          </a:xfrm>
          <a:prstGeom prst="rect">
            <a:avLst/>
          </a:prstGeom>
          <a:noFill/>
          <a:ln/>
        </p:spPr>
        <p:txBody>
          <a:bodyPr wrap="square" lIns="0" tIns="0" rIns="0" bIns="0" rtlCol="0" anchor="ctr"/>
          <a:lstStyle/>
          <a:p>
            <a:pPr indent="0" marL="0">
              <a:buNone/>
            </a:pPr>
            <a:r>
              <a:rPr lang="en-US" sz="1350" b="1" dirty="0">
                <a:solidFill>
                  <a:srgbClr val="0EA472"/>
                </a:solidFill>
                <a:latin typeface="Calibri" pitchFamily="34" charset="0"/>
                <a:ea typeface="Calibri" pitchFamily="34" charset="-122"/>
                <a:cs typeface="Calibri" pitchFamily="34" charset="-120"/>
              </a:rPr>
              <a:t>Tested on every build</a:t>
            </a:r>
            <a:endParaRPr lang="en-US" sz="1350" dirty="0"/>
          </a:p>
        </p:txBody>
      </p:sp>
      <p:sp>
        <p:nvSpPr>
          <p:cNvPr id="33" name="Text 31"/>
          <p:cNvSpPr/>
          <p:nvPr/>
        </p:nvSpPr>
        <p:spPr>
          <a:xfrm>
            <a:off x="6492240" y="4041648"/>
            <a:ext cx="4983480" cy="594360"/>
          </a:xfrm>
          <a:prstGeom prst="rect">
            <a:avLst/>
          </a:prstGeom>
          <a:noFill/>
          <a:ln/>
        </p:spPr>
        <p:txBody>
          <a:bodyPr wrap="square" lIns="0" tIns="0" rIns="0" bIns="0" rtlCol="0" anchor="t"/>
          <a:lstStyle/>
          <a:p>
            <a:pPr indent="0" marL="0">
              <a:lnSpc>
                <a:spcPct val="112000"/>
              </a:lnSpc>
              <a:buNone/>
            </a:pPr>
            <a:r>
              <a:rPr lang="en-US" sz="1050" dirty="0">
                <a:solidFill>
                  <a:srgbClr val="3E4C63"/>
                </a:solidFill>
                <a:latin typeface="Calibri" pitchFamily="34" charset="0"/>
                <a:ea typeface="Calibri" pitchFamily="34" charset="-122"/>
                <a:cs typeface="Calibri" pitchFamily="34" charset="-120"/>
              </a:rPr>
              <a:t>2,438 automated tests, plus browser tests that cost every process, export Excel and PDF, upload an STL and check accessibility.</a:t>
            </a:r>
            <a:endParaRPr lang="en-US" sz="1050" dirty="0"/>
          </a:p>
        </p:txBody>
      </p:sp>
      <p:sp>
        <p:nvSpPr>
          <p:cNvPr id="34" name="Shape 32"/>
          <p:cNvSpPr/>
          <p:nvPr/>
        </p:nvSpPr>
        <p:spPr>
          <a:xfrm>
            <a:off x="548640" y="5029200"/>
            <a:ext cx="11091672" cy="914400"/>
          </a:xfrm>
          <a:prstGeom prst="roundRect">
            <a:avLst>
              <a:gd name="adj" fmla="val 7000"/>
            </a:avLst>
          </a:prstGeom>
          <a:solidFill>
            <a:srgbClr val="E7F7F0"/>
          </a:solidFill>
          <a:ln w="12700">
            <a:solidFill>
              <a:srgbClr val="E4EAF2"/>
            </a:solidFill>
            <a:prstDash val="solid"/>
          </a:ln>
        </p:spPr>
        <p:txBody>
          <a:bodyPr/>
          <a:p/>
        </p:txBody>
      </p:sp>
      <p:sp>
        <p:nvSpPr>
          <p:cNvPr id="35" name="Shape 33"/>
          <p:cNvSpPr/>
          <p:nvPr/>
        </p:nvSpPr>
        <p:spPr>
          <a:xfrm>
            <a:off x="548640" y="5029200"/>
            <a:ext cx="82296" cy="914400"/>
          </a:xfrm>
          <a:prstGeom prst="rect">
            <a:avLst/>
          </a:prstGeom>
          <a:solidFill>
            <a:srgbClr val="0EA472"/>
          </a:solidFill>
          <a:ln/>
        </p:spPr>
        <p:txBody>
          <a:bodyPr/>
          <a:p/>
        </p:txBody>
      </p:sp>
      <p:sp>
        <p:nvSpPr>
          <p:cNvPr id="36" name="Text 34"/>
          <p:cNvSpPr/>
          <p:nvPr/>
        </p:nvSpPr>
        <p:spPr>
          <a:xfrm>
            <a:off x="914400" y="5166360"/>
            <a:ext cx="10378440" cy="685800"/>
          </a:xfrm>
          <a:prstGeom prst="rect">
            <a:avLst/>
          </a:prstGeom>
          <a:noFill/>
          <a:ln/>
        </p:spPr>
        <p:txBody>
          <a:bodyPr wrap="square" lIns="0" tIns="0" rIns="0" bIns="0" rtlCol="0" anchor="t"/>
          <a:lstStyle/>
          <a:p>
            <a:pPr indent="0" marL="0">
              <a:lnSpc>
                <a:spcPct val="118000"/>
              </a:lnSpc>
              <a:buNone/>
            </a:pPr>
            <a:r>
              <a:rPr lang="en-US" sz="1200" b="1" dirty="0">
                <a:solidFill>
                  <a:srgbClr val="0F1E3D"/>
                </a:solidFill>
                <a:latin typeface="Calibri" pitchFamily="34" charset="0"/>
                <a:ea typeface="Calibri" pitchFamily="34" charset="-122"/>
                <a:cs typeface="Calibri" pitchFamily="34" charset="-120"/>
              </a:rPr>
              <a:t>The through-line:  </a:t>
            </a:r>
            <a:pPr indent="0" marL="0">
              <a:lnSpc>
                <a:spcPct val="118000"/>
              </a:lnSpc>
              <a:buNone/>
            </a:pPr>
            <a:r>
              <a:rPr lang="en-US" sz="1200" dirty="0">
                <a:solidFill>
                  <a:srgbClr val="3E4C63"/>
                </a:solidFill>
                <a:latin typeface="Calibri" pitchFamily="34" charset="0"/>
                <a:ea typeface="Calibri" pitchFamily="34" charset="-122"/>
                <a:cs typeface="Calibri" pitchFamily="34" charset="-120"/>
              </a:rPr>
              <a:t>rules and rates do the money, and every number is traceable and tested. Accuracy against real prices will be measured as actuals are logged. It is not claimed up front.</a:t>
            </a:r>
            <a:endParaRPr lang="en-US" sz="1200" dirty="0"/>
          </a:p>
        </p:txBody>
      </p:sp>
      <p:sp>
        <p:nvSpPr>
          <p:cNvPr id="37" name="Shape 35"/>
          <p:cNvSpPr/>
          <p:nvPr/>
        </p:nvSpPr>
        <p:spPr>
          <a:xfrm>
            <a:off x="548640" y="6400800"/>
            <a:ext cx="11094415" cy="12802"/>
          </a:xfrm>
          <a:prstGeom prst="rect">
            <a:avLst/>
          </a:prstGeom>
          <a:solidFill>
            <a:srgbClr val="E4EAF2"/>
          </a:solidFill>
          <a:ln/>
        </p:spPr>
        <p:txBody>
          <a:bodyPr/>
          <a:p/>
        </p:txBody>
      </p:sp>
      <p:sp>
        <p:nvSpPr>
          <p:cNvPr id="38" name="Text 36"/>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39" name="Text 37"/>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13 / 15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A472"/>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A472"/>
                </a:solidFill>
                <a:latin typeface="Calibri" pitchFamily="34" charset="0"/>
                <a:ea typeface="Calibri" pitchFamily="34" charset="-122"/>
                <a:cs typeface="Calibri" pitchFamily="34" charset="-120"/>
              </a:rPr>
              <a:t>ACCURACY &amp; TRUST · CONTINUOUS</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Built to stay right — quality that’s enforced, not promised</a:t>
            </a:r>
            <a:endParaRPr lang="en-US" sz="2400" dirty="0"/>
          </a:p>
        </p:txBody>
      </p:sp>
      <p:sp>
        <p:nvSpPr>
          <p:cNvPr id="9" name="Shape 7"/>
          <p:cNvSpPr/>
          <p:nvPr/>
        </p:nvSpPr>
        <p:spPr>
          <a:xfrm>
            <a:off x="548640" y="1371600"/>
            <a:ext cx="1051560" cy="45720"/>
          </a:xfrm>
          <a:prstGeom prst="rect">
            <a:avLst/>
          </a:prstGeom>
          <a:solidFill>
            <a:srgbClr val="0EA472"/>
          </a:solidFill>
          <a:ln/>
        </p:spPr>
      </p:sp>
      <p:sp>
        <p:nvSpPr>
          <p:cNvPr id="10" name="Text 8"/>
          <p:cNvSpPr/>
          <p:nvPr/>
        </p:nvSpPr>
        <p:spPr>
          <a:xfrm>
            <a:off x="548640" y="1536192"/>
            <a:ext cx="11064240" cy="384048"/>
          </a:xfrm>
          <a:prstGeom prst="rect">
            <a:avLst/>
          </a:prstGeom>
          <a:noFill/>
          <a:ln/>
        </p:spPr>
        <p:txBody>
          <a:bodyPr wrap="square" lIns="0" tIns="0" rIns="0" bIns="0" rtlCol="0" anchor="t"/>
          <a:lstStyle/>
          <a:p>
            <a:pPr indent="0" marL="0">
              <a:lnSpc>
                <a:spcPct val="105000"/>
              </a:lnSpc>
              <a:buNone/>
            </a:pPr>
            <a:r>
              <a:rPr lang="en-US" sz="1200" dirty="0">
                <a:solidFill>
                  <a:srgbClr val="3E4C63"/>
                </a:solidFill>
                <a:latin typeface="Calibri" pitchFamily="34" charset="0"/>
                <a:ea typeface="Calibri" pitchFamily="34" charset="-122"/>
                <a:cs typeface="Calibri" pitchFamily="34" charset="-120"/>
              </a:rPr>
              <a:t>It isn’t enough to be right once. These guardrails run on every change, so the tool stays defensible as it evolves — quality is enforced by the build, not by memory.</a:t>
            </a:r>
            <a:endParaRPr lang="en-US" sz="1200" dirty="0"/>
          </a:p>
        </p:txBody>
      </p:sp>
      <p:sp>
        <p:nvSpPr>
          <p:cNvPr id="11" name="Shape 9"/>
          <p:cNvSpPr/>
          <p:nvPr/>
        </p:nvSpPr>
        <p:spPr>
          <a:xfrm>
            <a:off x="548640" y="2084832"/>
            <a:ext cx="5422392" cy="1335024"/>
          </a:xfrm>
          <a:prstGeom prst="roundRect">
            <a:avLst>
              <a:gd name="adj" fmla="val 4795"/>
            </a:avLst>
          </a:prstGeom>
          <a:solidFill>
            <a:srgbClr val="FFFFFF"/>
          </a:solidFill>
          <a:ln w="12700">
            <a:solidFill>
              <a:srgbClr val="E4EAF2"/>
            </a:solidFill>
            <a:prstDash val="solid"/>
          </a:ln>
          <a:effectLst>
            <a:outerShdw sx="100000" sy="100000" kx="0" ky="0" algn="bl" rotWithShape="0" blurRad="6.308808488365275e+275" dist="1.8025167109615074e+275" dir="Infinity">
              <a:srgbClr val="9DB0CC">
                <a:alpha val="Infinity"/>
              </a:srgbClr>
            </a:outerShdw>
          </a:effectLst>
        </p:spPr>
      </p:sp>
      <p:sp>
        <p:nvSpPr>
          <p:cNvPr id="12" name="Shape 10"/>
          <p:cNvSpPr/>
          <p:nvPr/>
        </p:nvSpPr>
        <p:spPr>
          <a:xfrm>
            <a:off x="548640" y="2084832"/>
            <a:ext cx="82296" cy="1335024"/>
          </a:xfrm>
          <a:prstGeom prst="rect">
            <a:avLst/>
          </a:prstGeom>
          <a:solidFill>
            <a:srgbClr val="2563EB"/>
          </a:solidFill>
          <a:ln/>
        </p:spPr>
      </p:sp>
      <p:sp>
        <p:nvSpPr>
          <p:cNvPr id="13" name="Shape 11"/>
          <p:cNvSpPr/>
          <p:nvPr/>
        </p:nvSpPr>
        <p:spPr>
          <a:xfrm>
            <a:off x="804672" y="2286000"/>
            <a:ext cx="457200" cy="457200"/>
          </a:xfrm>
          <a:prstGeom prst="ellipse">
            <a:avLst/>
          </a:prstGeom>
          <a:solidFill>
            <a:srgbClr val="EAF1FE"/>
          </a:solidFill>
          <a:ln/>
        </p:spPr>
      </p:sp>
      <p:sp>
        <p:nvSpPr>
          <p:cNvPr id="14" name="Text 12"/>
          <p:cNvSpPr/>
          <p:nvPr/>
        </p:nvSpPr>
        <p:spPr>
          <a:xfrm>
            <a:off x="804672" y="2276856"/>
            <a:ext cx="457200" cy="457200"/>
          </a:xfrm>
          <a:prstGeom prst="rect">
            <a:avLst/>
          </a:prstGeom>
          <a:noFill/>
          <a:ln/>
        </p:spPr>
        <p:txBody>
          <a:bodyPr wrap="square" lIns="0" tIns="0" rIns="0" bIns="0" rtlCol="0" anchor="ctr"/>
          <a:lstStyle/>
          <a:p>
            <a:pPr algn="ctr" indent="0" marL="0">
              <a:buNone/>
            </a:pPr>
            <a:r>
              <a:rPr lang="en-US" sz="1700" b="1" dirty="0">
                <a:solidFill>
                  <a:srgbClr val="2563EB"/>
                </a:solidFill>
                <a:latin typeface="Calibri" pitchFamily="34" charset="0"/>
                <a:ea typeface="Calibri" pitchFamily="34" charset="-122"/>
                <a:cs typeface="Calibri" pitchFamily="34" charset="-120"/>
              </a:rPr>
              <a:t>◆</a:t>
            </a:r>
            <a:endParaRPr lang="en-US" sz="1700" dirty="0"/>
          </a:p>
        </p:txBody>
      </p:sp>
      <p:sp>
        <p:nvSpPr>
          <p:cNvPr id="15" name="Text 13"/>
          <p:cNvSpPr/>
          <p:nvPr/>
        </p:nvSpPr>
        <p:spPr>
          <a:xfrm>
            <a:off x="1335024" y="2322576"/>
            <a:ext cx="4434840" cy="457200"/>
          </a:xfrm>
          <a:prstGeom prst="rect">
            <a:avLst/>
          </a:prstGeom>
          <a:noFill/>
          <a:ln/>
        </p:spPr>
        <p:txBody>
          <a:bodyPr wrap="square" lIns="0" tIns="0" rIns="0" bIns="0"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The golden rule, machine-enforced</a:t>
            </a:r>
            <a:endParaRPr lang="en-US" sz="1300" dirty="0"/>
          </a:p>
        </p:txBody>
      </p:sp>
      <p:sp>
        <p:nvSpPr>
          <p:cNvPr id="16" name="Text 14"/>
          <p:cNvSpPr/>
          <p:nvPr/>
        </p:nvSpPr>
        <p:spPr>
          <a:xfrm>
            <a:off x="822960" y="2798064"/>
            <a:ext cx="4983480" cy="548640"/>
          </a:xfrm>
          <a:prstGeom prst="rect">
            <a:avLst/>
          </a:prstGeom>
          <a:noFill/>
          <a:ln/>
        </p:spPr>
        <p:txBody>
          <a:bodyPr wrap="square" lIns="0" tIns="0" rIns="0" bIns="0" rtlCol="0" anchor="t"/>
          <a:lstStyle/>
          <a:p>
            <a:pPr indent="0" marL="0">
              <a:lnSpc>
                <a:spcPct val="110000"/>
              </a:lnSpc>
              <a:buNone/>
            </a:pPr>
            <a:r>
              <a:rPr lang="en-US" sz="1000" dirty="0">
                <a:solidFill>
                  <a:srgbClr val="3E4C63"/>
                </a:solidFill>
                <a:latin typeface="Calibri" pitchFamily="34" charset="0"/>
                <a:ea typeface="Calibri" pitchFamily="34" charset="-122"/>
                <a:cs typeface="Calibri" pitchFamily="34" charset="-120"/>
              </a:rPr>
              <a:t>“AI never sets a price” is now a build-time check: if any AI dependency ever reaches the deterministic cost engine, the build fails. It cannot be bypassed.</a:t>
            </a:r>
            <a:endParaRPr lang="en-US" sz="1000" dirty="0"/>
          </a:p>
        </p:txBody>
      </p:sp>
      <p:sp>
        <p:nvSpPr>
          <p:cNvPr id="17" name="Shape 15"/>
          <p:cNvSpPr/>
          <p:nvPr/>
        </p:nvSpPr>
        <p:spPr>
          <a:xfrm>
            <a:off x="6217920" y="2084832"/>
            <a:ext cx="5422392" cy="1335024"/>
          </a:xfrm>
          <a:prstGeom prst="roundRect">
            <a:avLst>
              <a:gd name="adj" fmla="val 4795"/>
            </a:avLst>
          </a:prstGeom>
          <a:solidFill>
            <a:srgbClr val="FFFFFF"/>
          </a:solidFill>
          <a:ln w="12700">
            <a:solidFill>
              <a:srgbClr val="E4EAF2"/>
            </a:solidFill>
            <a:prstDash val="solid"/>
          </a:ln>
          <a:effectLst>
            <a:outerShdw sx="100000" sy="100000" kx="0" ky="0" algn="bl" rotWithShape="0" blurRad="8.012186780223899e+279" dist="2.2891962229211143e+279" dir="Infinity">
              <a:srgbClr val="9DB0CC">
                <a:alpha val="Infinity"/>
              </a:srgbClr>
            </a:outerShdw>
          </a:effectLst>
        </p:spPr>
      </p:sp>
      <p:sp>
        <p:nvSpPr>
          <p:cNvPr id="18" name="Shape 16"/>
          <p:cNvSpPr/>
          <p:nvPr/>
        </p:nvSpPr>
        <p:spPr>
          <a:xfrm>
            <a:off x="6217920" y="2084832"/>
            <a:ext cx="82296" cy="1335024"/>
          </a:xfrm>
          <a:prstGeom prst="rect">
            <a:avLst/>
          </a:prstGeom>
          <a:solidFill>
            <a:srgbClr val="0DA5A0"/>
          </a:solidFill>
          <a:ln/>
        </p:spPr>
      </p:sp>
      <p:sp>
        <p:nvSpPr>
          <p:cNvPr id="19" name="Shape 17"/>
          <p:cNvSpPr/>
          <p:nvPr/>
        </p:nvSpPr>
        <p:spPr>
          <a:xfrm>
            <a:off x="6473952" y="2286000"/>
            <a:ext cx="457200" cy="457200"/>
          </a:xfrm>
          <a:prstGeom prst="ellipse">
            <a:avLst/>
          </a:prstGeom>
          <a:solidFill>
            <a:srgbClr val="E7F7F0"/>
          </a:solidFill>
          <a:ln/>
        </p:spPr>
      </p:sp>
      <p:sp>
        <p:nvSpPr>
          <p:cNvPr id="20" name="Text 18"/>
          <p:cNvSpPr/>
          <p:nvPr/>
        </p:nvSpPr>
        <p:spPr>
          <a:xfrm>
            <a:off x="6473952" y="2276856"/>
            <a:ext cx="457200" cy="457200"/>
          </a:xfrm>
          <a:prstGeom prst="rect">
            <a:avLst/>
          </a:prstGeom>
          <a:noFill/>
          <a:ln/>
        </p:spPr>
        <p:txBody>
          <a:bodyPr wrap="square" lIns="0" tIns="0" rIns="0" bIns="0" rtlCol="0" anchor="ctr"/>
          <a:lstStyle/>
          <a:p>
            <a:pPr algn="ctr" indent="0" marL="0">
              <a:buNone/>
            </a:pPr>
            <a:r>
              <a:rPr lang="en-US" sz="1700" b="1" dirty="0">
                <a:solidFill>
                  <a:srgbClr val="0DA5A0"/>
                </a:solidFill>
                <a:latin typeface="Calibri" pitchFamily="34" charset="0"/>
                <a:ea typeface="Calibri" pitchFamily="34" charset="-122"/>
                <a:cs typeface="Calibri" pitchFamily="34" charset="-120"/>
              </a:rPr>
              <a:t>◎</a:t>
            </a:r>
            <a:endParaRPr lang="en-US" sz="1700" dirty="0"/>
          </a:p>
        </p:txBody>
      </p:sp>
      <p:sp>
        <p:nvSpPr>
          <p:cNvPr id="21" name="Text 19"/>
          <p:cNvSpPr/>
          <p:nvPr/>
        </p:nvSpPr>
        <p:spPr>
          <a:xfrm>
            <a:off x="7004304" y="2322576"/>
            <a:ext cx="4434840" cy="457200"/>
          </a:xfrm>
          <a:prstGeom prst="rect">
            <a:avLst/>
          </a:prstGeom>
          <a:noFill/>
          <a:ln/>
        </p:spPr>
        <p:txBody>
          <a:bodyPr wrap="square" lIns="0" tIns="0" rIns="0" bIns="0" rtlCol="0" anchor="ctr"/>
          <a:lstStyle/>
          <a:p>
            <a:pPr indent="0" marL="0">
              <a:buNone/>
            </a:pPr>
            <a:r>
              <a:rPr lang="en-US" sz="1300" b="1" dirty="0">
                <a:solidFill>
                  <a:srgbClr val="0DA5A0"/>
                </a:solidFill>
                <a:latin typeface="Calibri" pitchFamily="34" charset="0"/>
                <a:ea typeface="Calibri" pitchFamily="34" charset="-122"/>
                <a:cs typeface="Calibri" pitchFamily="34" charset="-120"/>
              </a:rPr>
              <a:t>Accuracy measured every build</a:t>
            </a:r>
            <a:endParaRPr lang="en-US" sz="1300" dirty="0"/>
          </a:p>
        </p:txBody>
      </p:sp>
      <p:sp>
        <p:nvSpPr>
          <p:cNvPr id="22" name="Text 20"/>
          <p:cNvSpPr/>
          <p:nvPr/>
        </p:nvSpPr>
        <p:spPr>
          <a:xfrm>
            <a:off x="6492240" y="2798064"/>
            <a:ext cx="4983480" cy="548640"/>
          </a:xfrm>
          <a:prstGeom prst="rect">
            <a:avLst/>
          </a:prstGeom>
          <a:noFill/>
          <a:ln/>
        </p:spPr>
        <p:txBody>
          <a:bodyPr wrap="square" lIns="0" tIns="0" rIns="0" bIns="0" rtlCol="0" anchor="t"/>
          <a:lstStyle/>
          <a:p>
            <a:pPr indent="0" marL="0">
              <a:lnSpc>
                <a:spcPct val="110000"/>
              </a:lnSpc>
              <a:buNone/>
            </a:pPr>
            <a:r>
              <a:rPr lang="en-US" sz="1000" dirty="0">
                <a:solidFill>
                  <a:srgbClr val="3E4C63"/>
                </a:solidFill>
                <a:latin typeface="Calibri" pitchFamily="34" charset="0"/>
                <a:ea typeface="Calibri" pitchFamily="34" charset="-122"/>
                <a:cs typeface="Calibri" pitchFamily="34" charset="-120"/>
              </a:rPr>
              <a:t>CAD feature detection is scored against hand-verified golden parts — precision, recall, F1 (≈0.96 today). A floor gate catches any drop before it ships.</a:t>
            </a:r>
            <a:endParaRPr lang="en-US" sz="1000" dirty="0"/>
          </a:p>
        </p:txBody>
      </p:sp>
      <p:sp>
        <p:nvSpPr>
          <p:cNvPr id="23" name="Shape 21"/>
          <p:cNvSpPr/>
          <p:nvPr/>
        </p:nvSpPr>
        <p:spPr>
          <a:xfrm>
            <a:off x="548640" y="3566160"/>
            <a:ext cx="5422392" cy="1335024"/>
          </a:xfrm>
          <a:prstGeom prst="roundRect">
            <a:avLst>
              <a:gd name="adj" fmla="val 4795"/>
            </a:avLst>
          </a:prstGeom>
          <a:solidFill>
            <a:srgbClr val="FFFFFF"/>
          </a:solidFill>
          <a:ln w="12700">
            <a:solidFill>
              <a:srgbClr val="E4EAF2"/>
            </a:solidFill>
            <a:prstDash val="solid"/>
          </a:ln>
          <a:effectLst>
            <a:outerShdw sx="100000" sy="100000" kx="0" ky="0" algn="bl" rotWithShape="0" blurRad="1.0175477210884352e+284" dist="2.9072792031098153e+283" dir="Infinity">
              <a:srgbClr val="9DB0CC">
                <a:alpha val="Infinity"/>
              </a:srgbClr>
            </a:outerShdw>
          </a:effectLst>
        </p:spPr>
      </p:sp>
      <p:sp>
        <p:nvSpPr>
          <p:cNvPr id="24" name="Shape 22"/>
          <p:cNvSpPr/>
          <p:nvPr/>
        </p:nvSpPr>
        <p:spPr>
          <a:xfrm>
            <a:off x="548640" y="3566160"/>
            <a:ext cx="82296" cy="1335024"/>
          </a:xfrm>
          <a:prstGeom prst="rect">
            <a:avLst/>
          </a:prstGeom>
          <a:solidFill>
            <a:srgbClr val="0EA472"/>
          </a:solidFill>
          <a:ln/>
        </p:spPr>
      </p:sp>
      <p:sp>
        <p:nvSpPr>
          <p:cNvPr id="25" name="Shape 23"/>
          <p:cNvSpPr/>
          <p:nvPr/>
        </p:nvSpPr>
        <p:spPr>
          <a:xfrm>
            <a:off x="804672" y="3767328"/>
            <a:ext cx="457200" cy="457200"/>
          </a:xfrm>
          <a:prstGeom prst="ellipse">
            <a:avLst/>
          </a:prstGeom>
          <a:solidFill>
            <a:srgbClr val="E7F7F0"/>
          </a:solidFill>
          <a:ln/>
        </p:spPr>
      </p:sp>
      <p:sp>
        <p:nvSpPr>
          <p:cNvPr id="26" name="Text 24"/>
          <p:cNvSpPr/>
          <p:nvPr/>
        </p:nvSpPr>
        <p:spPr>
          <a:xfrm>
            <a:off x="804672" y="3758184"/>
            <a:ext cx="457200" cy="457200"/>
          </a:xfrm>
          <a:prstGeom prst="rect">
            <a:avLst/>
          </a:prstGeom>
          <a:noFill/>
          <a:ln/>
        </p:spPr>
        <p:txBody>
          <a:bodyPr wrap="square" lIns="0" tIns="0" rIns="0" bIns="0" rtlCol="0" anchor="ctr"/>
          <a:lstStyle/>
          <a:p>
            <a:pPr algn="ctr" indent="0" marL="0">
              <a:buNone/>
            </a:pPr>
            <a:r>
              <a:rPr lang="en-US" sz="1700" b="1" dirty="0">
                <a:solidFill>
                  <a:srgbClr val="0EA472"/>
                </a:solidFill>
                <a:latin typeface="Calibri" pitchFamily="34" charset="0"/>
                <a:ea typeface="Calibri" pitchFamily="34" charset="-122"/>
                <a:cs typeface="Calibri" pitchFamily="34" charset="-120"/>
              </a:rPr>
              <a:t>✓</a:t>
            </a:r>
            <a:endParaRPr lang="en-US" sz="1700" dirty="0"/>
          </a:p>
        </p:txBody>
      </p:sp>
      <p:sp>
        <p:nvSpPr>
          <p:cNvPr id="27" name="Text 25"/>
          <p:cNvSpPr/>
          <p:nvPr/>
        </p:nvSpPr>
        <p:spPr>
          <a:xfrm>
            <a:off x="1335024" y="3803904"/>
            <a:ext cx="4434840" cy="457200"/>
          </a:xfrm>
          <a:prstGeom prst="rect">
            <a:avLst/>
          </a:prstGeom>
          <a:noFill/>
          <a:ln/>
        </p:spPr>
        <p:txBody>
          <a:bodyPr wrap="square" lIns="0" tIns="0" rIns="0" bIns="0" rtlCol="0" anchor="ctr"/>
          <a:lstStyle/>
          <a:p>
            <a:pPr indent="0" marL="0">
              <a:buNone/>
            </a:pPr>
            <a:r>
              <a:rPr lang="en-US" sz="1300" b="1" dirty="0">
                <a:solidFill>
                  <a:srgbClr val="0EA472"/>
                </a:solidFill>
                <a:latin typeface="Calibri" pitchFamily="34" charset="0"/>
                <a:ea typeface="Calibri" pitchFamily="34" charset="-122"/>
                <a:cs typeface="Calibri" pitchFamily="34" charset="-120"/>
              </a:rPr>
              <a:t>Every change guarded</a:t>
            </a:r>
            <a:endParaRPr lang="en-US" sz="1300" dirty="0"/>
          </a:p>
        </p:txBody>
      </p:sp>
      <p:sp>
        <p:nvSpPr>
          <p:cNvPr id="28" name="Text 26"/>
          <p:cNvSpPr/>
          <p:nvPr/>
        </p:nvSpPr>
        <p:spPr>
          <a:xfrm>
            <a:off x="822960" y="4279392"/>
            <a:ext cx="4983480" cy="548640"/>
          </a:xfrm>
          <a:prstGeom prst="rect">
            <a:avLst/>
          </a:prstGeom>
          <a:noFill/>
          <a:ln/>
        </p:spPr>
        <p:txBody>
          <a:bodyPr wrap="square" lIns="0" tIns="0" rIns="0" bIns="0" rtlCol="0" anchor="t"/>
          <a:lstStyle/>
          <a:p>
            <a:pPr indent="0" marL="0">
              <a:lnSpc>
                <a:spcPct val="110000"/>
              </a:lnSpc>
              <a:buNone/>
            </a:pPr>
            <a:r>
              <a:rPr lang="en-US" sz="1000" dirty="0">
                <a:solidFill>
                  <a:srgbClr val="3E4C63"/>
                </a:solidFill>
                <a:latin typeface="Calibri" pitchFamily="34" charset="0"/>
                <a:ea typeface="Calibri" pitchFamily="34" charset="-122"/>
                <a:cs typeface="Calibri" pitchFamily="34" charset="-120"/>
              </a:rPr>
              <a:t>1,005 automated tests, a self-audit re-checking every estimate, plus visual-regression screenshots — a regression fails the build, not the demo.</a:t>
            </a:r>
            <a:endParaRPr lang="en-US" sz="1000" dirty="0"/>
          </a:p>
        </p:txBody>
      </p:sp>
      <p:sp>
        <p:nvSpPr>
          <p:cNvPr id="29" name="Shape 27"/>
          <p:cNvSpPr/>
          <p:nvPr/>
        </p:nvSpPr>
        <p:spPr>
          <a:xfrm>
            <a:off x="6217920" y="3566160"/>
            <a:ext cx="5422392" cy="1335024"/>
          </a:xfrm>
          <a:prstGeom prst="roundRect">
            <a:avLst>
              <a:gd name="adj" fmla="val 4795"/>
            </a:avLst>
          </a:prstGeom>
          <a:solidFill>
            <a:srgbClr val="FFFFFF"/>
          </a:solidFill>
          <a:ln w="12700">
            <a:solidFill>
              <a:srgbClr val="E4EAF2"/>
            </a:solidFill>
            <a:prstDash val="solid"/>
          </a:ln>
          <a:effectLst>
            <a:outerShdw sx="100000" sy="100000" kx="0" ky="0" algn="bl" rotWithShape="0" blurRad="1.2922856057823127e+288" dist="3.6922445879494656e+287" dir="Infinity">
              <a:srgbClr val="9DB0CC">
                <a:alpha val="Infinity"/>
              </a:srgbClr>
            </a:outerShdw>
          </a:effectLst>
        </p:spPr>
      </p:sp>
      <p:sp>
        <p:nvSpPr>
          <p:cNvPr id="30" name="Shape 28"/>
          <p:cNvSpPr/>
          <p:nvPr/>
        </p:nvSpPr>
        <p:spPr>
          <a:xfrm>
            <a:off x="6217920" y="3566160"/>
            <a:ext cx="82296" cy="1335024"/>
          </a:xfrm>
          <a:prstGeom prst="rect">
            <a:avLst/>
          </a:prstGeom>
          <a:solidFill>
            <a:srgbClr val="7C3AED"/>
          </a:solidFill>
          <a:ln/>
        </p:spPr>
      </p:sp>
      <p:sp>
        <p:nvSpPr>
          <p:cNvPr id="31" name="Shape 29"/>
          <p:cNvSpPr/>
          <p:nvPr/>
        </p:nvSpPr>
        <p:spPr>
          <a:xfrm>
            <a:off x="6473952" y="3767328"/>
            <a:ext cx="457200" cy="457200"/>
          </a:xfrm>
          <a:prstGeom prst="ellipse">
            <a:avLst/>
          </a:prstGeom>
          <a:solidFill>
            <a:srgbClr val="F3EEFE"/>
          </a:solidFill>
          <a:ln/>
        </p:spPr>
      </p:sp>
      <p:sp>
        <p:nvSpPr>
          <p:cNvPr id="32" name="Text 30"/>
          <p:cNvSpPr/>
          <p:nvPr/>
        </p:nvSpPr>
        <p:spPr>
          <a:xfrm>
            <a:off x="6473952" y="3758184"/>
            <a:ext cx="457200" cy="457200"/>
          </a:xfrm>
          <a:prstGeom prst="rect">
            <a:avLst/>
          </a:prstGeom>
          <a:noFill/>
          <a:ln/>
        </p:spPr>
        <p:txBody>
          <a:bodyPr wrap="square" lIns="0" tIns="0" rIns="0" bIns="0" rtlCol="0" anchor="ctr"/>
          <a:lstStyle/>
          <a:p>
            <a:pPr algn="ctr" indent="0" marL="0">
              <a:buNone/>
            </a:pPr>
            <a:r>
              <a:rPr lang="en-US" sz="1700" b="1" dirty="0">
                <a:solidFill>
                  <a:srgbClr val="7C3AED"/>
                </a:solidFill>
                <a:latin typeface="Calibri" pitchFamily="34" charset="0"/>
                <a:ea typeface="Calibri" pitchFamily="34" charset="-122"/>
                <a:cs typeface="Calibri" pitchFamily="34" charset="-120"/>
              </a:rPr>
              <a:t>◈</a:t>
            </a:r>
            <a:endParaRPr lang="en-US" sz="1700" dirty="0"/>
          </a:p>
        </p:txBody>
      </p:sp>
      <p:sp>
        <p:nvSpPr>
          <p:cNvPr id="33" name="Text 31"/>
          <p:cNvSpPr/>
          <p:nvPr/>
        </p:nvSpPr>
        <p:spPr>
          <a:xfrm>
            <a:off x="7004304" y="3803904"/>
            <a:ext cx="4434840" cy="45720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Confidence on every number</a:t>
            </a:r>
            <a:endParaRPr lang="en-US" sz="1300" dirty="0"/>
          </a:p>
        </p:txBody>
      </p:sp>
      <p:sp>
        <p:nvSpPr>
          <p:cNvPr id="34" name="Text 32"/>
          <p:cNvSpPr/>
          <p:nvPr/>
        </p:nvSpPr>
        <p:spPr>
          <a:xfrm>
            <a:off x="6492240" y="4279392"/>
            <a:ext cx="4983480" cy="548640"/>
          </a:xfrm>
          <a:prstGeom prst="rect">
            <a:avLst/>
          </a:prstGeom>
          <a:noFill/>
          <a:ln/>
        </p:spPr>
        <p:txBody>
          <a:bodyPr wrap="square" lIns="0" tIns="0" rIns="0" bIns="0" rtlCol="0" anchor="t"/>
          <a:lstStyle/>
          <a:p>
            <a:pPr indent="0" marL="0">
              <a:lnSpc>
                <a:spcPct val="110000"/>
              </a:lnSpc>
              <a:buNone/>
            </a:pPr>
            <a:r>
              <a:rPr lang="en-US" sz="1000" dirty="0">
                <a:solidFill>
                  <a:srgbClr val="3E4C63"/>
                </a:solidFill>
                <a:latin typeface="Calibri" pitchFamily="34" charset="0"/>
                <a:ea typeface="Calibri" pitchFamily="34" charset="-122"/>
                <a:cs typeface="Calibri" pitchFamily="34" charset="-120"/>
              </a:rPr>
              <a:t>Each should-cost shows a P10–P50–P90 band, colour-graded by width — an honest range a buyer can defend, never a false single figure.</a:t>
            </a:r>
            <a:endParaRPr lang="en-US" sz="1000" dirty="0"/>
          </a:p>
        </p:txBody>
      </p:sp>
      <p:sp>
        <p:nvSpPr>
          <p:cNvPr id="35" name="Shape 33"/>
          <p:cNvSpPr/>
          <p:nvPr/>
        </p:nvSpPr>
        <p:spPr>
          <a:xfrm>
            <a:off x="548640" y="5138928"/>
            <a:ext cx="11091672" cy="841248"/>
          </a:xfrm>
          <a:prstGeom prst="roundRect">
            <a:avLst>
              <a:gd name="adj" fmla="val 7609"/>
            </a:avLst>
          </a:prstGeom>
          <a:solidFill>
            <a:srgbClr val="E7F7F0"/>
          </a:solidFill>
          <a:ln w="12700">
            <a:solidFill>
              <a:srgbClr val="E4EAF2"/>
            </a:solidFill>
            <a:prstDash val="solid"/>
          </a:ln>
        </p:spPr>
      </p:sp>
      <p:sp>
        <p:nvSpPr>
          <p:cNvPr id="36" name="Shape 34"/>
          <p:cNvSpPr/>
          <p:nvPr/>
        </p:nvSpPr>
        <p:spPr>
          <a:xfrm>
            <a:off x="548640" y="5138928"/>
            <a:ext cx="82296" cy="841248"/>
          </a:xfrm>
          <a:prstGeom prst="rect">
            <a:avLst/>
          </a:prstGeom>
          <a:solidFill>
            <a:srgbClr val="0EA472"/>
          </a:solidFill>
          <a:ln/>
        </p:spPr>
      </p:sp>
      <p:sp>
        <p:nvSpPr>
          <p:cNvPr id="37" name="Text 35"/>
          <p:cNvSpPr/>
          <p:nvPr/>
        </p:nvSpPr>
        <p:spPr>
          <a:xfrm>
            <a:off x="914400" y="5138928"/>
            <a:ext cx="10332720" cy="841248"/>
          </a:xfrm>
          <a:prstGeom prst="rect">
            <a:avLst/>
          </a:prstGeom>
          <a:noFill/>
          <a:ln/>
        </p:spPr>
        <p:txBody>
          <a:bodyPr wrap="square" lIns="0" tIns="0" rIns="0" bIns="0" rtlCol="0" anchor="ctr"/>
          <a:lstStyle/>
          <a:p>
            <a:pPr indent="0" marL="0">
              <a:lnSpc>
                <a:spcPct val="108000"/>
              </a:lnSpc>
              <a:buNone/>
            </a:pPr>
            <a:r>
              <a:rPr lang="en-US" sz="1150" b="1" dirty="0">
                <a:solidFill>
                  <a:srgbClr val="0F1E3D"/>
                </a:solidFill>
                <a:latin typeface="Calibri" pitchFamily="34" charset="0"/>
                <a:ea typeface="Calibri" pitchFamily="34" charset="-122"/>
                <a:cs typeface="Calibri" pitchFamily="34" charset="-120"/>
              </a:rPr>
              <a:t>Bottom line:  </a:t>
            </a:r>
            <a:pPr indent="0" marL="0">
              <a:lnSpc>
                <a:spcPct val="108000"/>
              </a:lnSpc>
              <a:buNone/>
            </a:pPr>
            <a:r>
              <a:rPr lang="en-US" sz="1150" dirty="0">
                <a:solidFill>
                  <a:srgbClr val="3E4C63"/>
                </a:solidFill>
                <a:latin typeface="Calibri" pitchFamily="34" charset="0"/>
                <a:ea typeface="Calibri" pitchFamily="34" charset="-122"/>
                <a:cs typeface="Calibri" pitchFamily="34" charset="-120"/>
              </a:rPr>
              <a:t>the number we put in front of a supplier is defensible by construction — and stays that way. Quality isn’t reviewed in after the fact; it’s enforced on every commit.</a:t>
            </a:r>
            <a:endParaRPr lang="en-US" sz="1150" dirty="0"/>
          </a:p>
        </p:txBody>
      </p:sp>
      <p:sp>
        <p:nvSpPr>
          <p:cNvPr id="38" name="Shape 36"/>
          <p:cNvSpPr/>
          <p:nvPr/>
        </p:nvSpPr>
        <p:spPr>
          <a:xfrm>
            <a:off x="548640" y="6400800"/>
            <a:ext cx="11094415" cy="12802"/>
          </a:xfrm>
          <a:prstGeom prst="rect">
            <a:avLst/>
          </a:prstGeom>
          <a:solidFill>
            <a:srgbClr val="E4EAF2"/>
          </a:solidFill>
          <a:ln/>
        </p:spPr>
      </p:sp>
      <p:sp>
        <p:nvSpPr>
          <p:cNvPr id="39" name="Text 37"/>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40" name="Text 38"/>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27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4F46E5"/>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4F46E5"/>
                </a:solidFill>
                <a:latin typeface="Calibri" pitchFamily="34" charset="0"/>
                <a:ea typeface="Calibri" pitchFamily="34" charset="-122"/>
                <a:cs typeface="Calibri" pitchFamily="34" charset="-120"/>
              </a:rPr>
              <a:t>EFFORT &amp; CRAFTSMANSHIP</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The engineering behind it — a real, in-house asset</a:t>
            </a:r>
            <a:endParaRPr lang="en-US" sz="2400" dirty="0"/>
          </a:p>
        </p:txBody>
      </p:sp>
      <p:sp>
        <p:nvSpPr>
          <p:cNvPr id="9" name="Shape 7"/>
          <p:cNvSpPr/>
          <p:nvPr/>
        </p:nvSpPr>
        <p:spPr>
          <a:xfrm>
            <a:off x="548640" y="1371600"/>
            <a:ext cx="1051560" cy="45720"/>
          </a:xfrm>
          <a:prstGeom prst="rect">
            <a:avLst/>
          </a:prstGeom>
          <a:solidFill>
            <a:srgbClr val="4F46E5"/>
          </a:solidFill>
          <a:ln/>
        </p:spPr>
      </p:sp>
      <p:sp>
        <p:nvSpPr>
          <p:cNvPr id="10" name="Text 8"/>
          <p:cNvSpPr/>
          <p:nvPr/>
        </p:nvSpPr>
        <p:spPr>
          <a:xfrm>
            <a:off x="548640" y="1554480"/>
            <a:ext cx="11064240" cy="320040"/>
          </a:xfrm>
          <a:prstGeom prst="rect">
            <a:avLst/>
          </a:prstGeom>
          <a:noFill/>
          <a:ln/>
        </p:spPr>
        <p:txBody>
          <a:bodyPr wrap="square" lIns="0" tIns="0" rIns="0" bIns="0" rtlCol="0" anchor="t"/>
          <a:lstStyle/>
          <a:p>
            <a:pPr indent="0" marL="0">
              <a:buNone/>
            </a:pPr>
            <a:r>
              <a:rPr lang="en-US" sz="1150" dirty="0">
                <a:solidFill>
                  <a:srgbClr val="3E4C63"/>
                </a:solidFill>
                <a:latin typeface="Calibri" pitchFamily="34" charset="0"/>
                <a:ea typeface="Calibri" pitchFamily="34" charset="-122"/>
                <a:cs typeface="Calibri" pitchFamily="34" charset="-120"/>
              </a:rPr>
              <a:t>Not a prototype or a thin wrapper around a chatbot — a substantial, tested, full-stack platform, custom-built in-house (AI-accelerated).</a:t>
            </a:r>
            <a:endParaRPr lang="en-US" sz="1150" dirty="0"/>
          </a:p>
        </p:txBody>
      </p:sp>
      <p:sp>
        <p:nvSpPr>
          <p:cNvPr id="11" name="Shape 9"/>
          <p:cNvSpPr/>
          <p:nvPr/>
        </p:nvSpPr>
        <p:spPr>
          <a:xfrm>
            <a:off x="548640" y="1874520"/>
            <a:ext cx="2724912" cy="1143000"/>
          </a:xfrm>
          <a:prstGeom prst="roundRect">
            <a:avLst>
              <a:gd name="adj" fmla="val 5600"/>
            </a:avLst>
          </a:prstGeom>
          <a:solidFill>
            <a:srgbClr val="FFFFFF"/>
          </a:solidFill>
          <a:ln w="12700">
            <a:solidFill>
              <a:srgbClr val="E4EAF2"/>
            </a:solidFill>
            <a:prstDash val="solid"/>
          </a:ln>
          <a:effectLst>
            <a:outerShdw sx="100000" sy="100000" kx="0" ky="0" algn="bl" rotWithShape="0" blurRad="1.6412027193435371e+292" dist="4.6891506266958215e+291" dir="Infinity">
              <a:srgbClr val="9DB0CC">
                <a:alpha val="Infinity"/>
              </a:srgbClr>
            </a:outerShdw>
          </a:effectLst>
        </p:spPr>
      </p:sp>
      <p:sp>
        <p:nvSpPr>
          <p:cNvPr id="12" name="Shape 10"/>
          <p:cNvSpPr/>
          <p:nvPr/>
        </p:nvSpPr>
        <p:spPr>
          <a:xfrm>
            <a:off x="548640" y="1874520"/>
            <a:ext cx="82296" cy="1143000"/>
          </a:xfrm>
          <a:prstGeom prst="rect">
            <a:avLst/>
          </a:prstGeom>
          <a:solidFill>
            <a:srgbClr val="4F46E5"/>
          </a:solidFill>
          <a:ln/>
        </p:spPr>
      </p:sp>
      <p:sp>
        <p:nvSpPr>
          <p:cNvPr id="13" name="Text 11"/>
          <p:cNvSpPr/>
          <p:nvPr/>
        </p:nvSpPr>
        <p:spPr>
          <a:xfrm>
            <a:off x="768096" y="2011680"/>
            <a:ext cx="2359152" cy="502920"/>
          </a:xfrm>
          <a:prstGeom prst="rect">
            <a:avLst/>
          </a:prstGeom>
          <a:noFill/>
          <a:ln/>
        </p:spPr>
        <p:txBody>
          <a:bodyPr wrap="square" lIns="0" tIns="0" rIns="0" bIns="0" rtlCol="0" anchor="t"/>
          <a:lstStyle/>
          <a:p>
            <a:pPr indent="0" marL="0">
              <a:buNone/>
            </a:pPr>
            <a:r>
              <a:rPr lang="en-US" sz="2300" b="1" dirty="0">
                <a:solidFill>
                  <a:srgbClr val="4F46E5"/>
                </a:solidFill>
                <a:latin typeface="Calibri" pitchFamily="34" charset="0"/>
                <a:ea typeface="Calibri" pitchFamily="34" charset="-122"/>
                <a:cs typeface="Calibri" pitchFamily="34" charset="-120"/>
              </a:rPr>
              <a:t>~75,000</a:t>
            </a:r>
            <a:endParaRPr lang="en-US" sz="2300" dirty="0"/>
          </a:p>
        </p:txBody>
      </p:sp>
      <p:sp>
        <p:nvSpPr>
          <p:cNvPr id="14" name="Text 12"/>
          <p:cNvSpPr/>
          <p:nvPr/>
        </p:nvSpPr>
        <p:spPr>
          <a:xfrm>
            <a:off x="768096" y="2505456"/>
            <a:ext cx="2359152" cy="411480"/>
          </a:xfrm>
          <a:prstGeom prst="rect">
            <a:avLst/>
          </a:prstGeom>
          <a:noFill/>
          <a:ln/>
        </p:spPr>
        <p:txBody>
          <a:bodyPr wrap="square" lIns="0" tIns="0" rIns="0" bIns="0" rtlCol="0" anchor="t"/>
          <a:lstStyle/>
          <a:p>
            <a:pPr indent="0" marL="0">
              <a:lnSpc>
                <a:spcPct val="105000"/>
              </a:lnSpc>
              <a:buNone/>
            </a:pPr>
            <a:r>
              <a:rPr lang="en-US" sz="1000" dirty="0">
                <a:solidFill>
                  <a:srgbClr val="8A97A8"/>
                </a:solidFill>
                <a:latin typeface="Calibri" pitchFamily="34" charset="0"/>
                <a:ea typeface="Calibri" pitchFamily="34" charset="-122"/>
                <a:cs typeface="Calibri" pitchFamily="34" charset="-120"/>
              </a:rPr>
              <a:t>lines of custom code, built in-house</a:t>
            </a:r>
            <a:endParaRPr lang="en-US" sz="1000" dirty="0"/>
          </a:p>
        </p:txBody>
      </p:sp>
      <p:sp>
        <p:nvSpPr>
          <p:cNvPr id="15" name="Shape 13"/>
          <p:cNvSpPr/>
          <p:nvPr/>
        </p:nvSpPr>
        <p:spPr>
          <a:xfrm>
            <a:off x="3319272" y="1874520"/>
            <a:ext cx="2724912" cy="1143000"/>
          </a:xfrm>
          <a:prstGeom prst="roundRect">
            <a:avLst>
              <a:gd name="adj" fmla="val 5600"/>
            </a:avLst>
          </a:prstGeom>
          <a:solidFill>
            <a:srgbClr val="FFFFFF"/>
          </a:solidFill>
          <a:ln w="12700">
            <a:solidFill>
              <a:srgbClr val="E4EAF2"/>
            </a:solidFill>
            <a:prstDash val="solid"/>
          </a:ln>
          <a:effectLst>
            <a:outerShdw sx="100000" sy="100000" kx="0" ky="0" algn="bl" rotWithShape="0" blurRad="2.0843274535662923e+296" dist="5.955221295903693e+295" dir="Infinity">
              <a:srgbClr val="9DB0CC">
                <a:alpha val="Infinity"/>
              </a:srgbClr>
            </a:outerShdw>
          </a:effectLst>
        </p:spPr>
      </p:sp>
      <p:sp>
        <p:nvSpPr>
          <p:cNvPr id="16" name="Shape 14"/>
          <p:cNvSpPr/>
          <p:nvPr/>
        </p:nvSpPr>
        <p:spPr>
          <a:xfrm>
            <a:off x="3319272" y="1874520"/>
            <a:ext cx="82296" cy="1143000"/>
          </a:xfrm>
          <a:prstGeom prst="rect">
            <a:avLst/>
          </a:prstGeom>
          <a:solidFill>
            <a:srgbClr val="0EA472"/>
          </a:solidFill>
          <a:ln/>
        </p:spPr>
      </p:sp>
      <p:sp>
        <p:nvSpPr>
          <p:cNvPr id="17" name="Text 15"/>
          <p:cNvSpPr/>
          <p:nvPr/>
        </p:nvSpPr>
        <p:spPr>
          <a:xfrm>
            <a:off x="3538728" y="2011680"/>
            <a:ext cx="2359152" cy="502920"/>
          </a:xfrm>
          <a:prstGeom prst="rect">
            <a:avLst/>
          </a:prstGeom>
          <a:noFill/>
          <a:ln/>
        </p:spPr>
        <p:txBody>
          <a:bodyPr wrap="square" lIns="0" tIns="0" rIns="0" bIns="0" rtlCol="0" anchor="t"/>
          <a:lstStyle/>
          <a:p>
            <a:pPr indent="0" marL="0">
              <a:buNone/>
            </a:pPr>
            <a:r>
              <a:rPr lang="en-US" sz="2300" b="1" dirty="0">
                <a:solidFill>
                  <a:srgbClr val="0EA472"/>
                </a:solidFill>
                <a:latin typeface="Calibri" pitchFamily="34" charset="0"/>
                <a:ea typeface="Calibri" pitchFamily="34" charset="-122"/>
                <a:cs typeface="Calibri" pitchFamily="34" charset="-120"/>
              </a:rPr>
              <a:t>1,005</a:t>
            </a:r>
            <a:endParaRPr lang="en-US" sz="2300" dirty="0"/>
          </a:p>
        </p:txBody>
      </p:sp>
      <p:sp>
        <p:nvSpPr>
          <p:cNvPr id="18" name="Text 16"/>
          <p:cNvSpPr/>
          <p:nvPr/>
        </p:nvSpPr>
        <p:spPr>
          <a:xfrm>
            <a:off x="3538728" y="2505456"/>
            <a:ext cx="2359152" cy="411480"/>
          </a:xfrm>
          <a:prstGeom prst="rect">
            <a:avLst/>
          </a:prstGeom>
          <a:noFill/>
          <a:ln/>
        </p:spPr>
        <p:txBody>
          <a:bodyPr wrap="square" lIns="0" tIns="0" rIns="0" bIns="0" rtlCol="0" anchor="t"/>
          <a:lstStyle/>
          <a:p>
            <a:pPr indent="0" marL="0">
              <a:lnSpc>
                <a:spcPct val="105000"/>
              </a:lnSpc>
              <a:buNone/>
            </a:pPr>
            <a:r>
              <a:rPr lang="en-US" sz="1000" dirty="0">
                <a:solidFill>
                  <a:srgbClr val="8A97A8"/>
                </a:solidFill>
                <a:latin typeface="Calibri" pitchFamily="34" charset="0"/>
                <a:ea typeface="Calibri" pitchFamily="34" charset="-122"/>
                <a:cs typeface="Calibri" pitchFamily="34" charset="-120"/>
              </a:rPr>
              <a:t>automated tests · 86 suites</a:t>
            </a:r>
            <a:endParaRPr lang="en-US" sz="1000" dirty="0"/>
          </a:p>
        </p:txBody>
      </p:sp>
      <p:sp>
        <p:nvSpPr>
          <p:cNvPr id="19" name="Shape 17"/>
          <p:cNvSpPr/>
          <p:nvPr/>
        </p:nvSpPr>
        <p:spPr>
          <a:xfrm>
            <a:off x="6089904" y="1874520"/>
            <a:ext cx="2724912" cy="1143000"/>
          </a:xfrm>
          <a:prstGeom prst="roundRect">
            <a:avLst>
              <a:gd name="adj" fmla="val 5600"/>
            </a:avLst>
          </a:prstGeom>
          <a:solidFill>
            <a:srgbClr val="FFFFFF"/>
          </a:solidFill>
          <a:ln w="12700">
            <a:solidFill>
              <a:srgbClr val="E4EAF2"/>
            </a:solidFill>
            <a:prstDash val="solid"/>
          </a:ln>
          <a:effectLst>
            <a:outerShdw sx="100000" sy="100000" kx="0" ky="0" algn="bl" rotWithShape="0" blurRad="2.647095866029191e+300" dist="7.56313104579769e+299" dir="Infinity">
              <a:srgbClr val="9DB0CC">
                <a:alpha val="Infinity"/>
              </a:srgbClr>
            </a:outerShdw>
          </a:effectLst>
        </p:spPr>
      </p:sp>
      <p:sp>
        <p:nvSpPr>
          <p:cNvPr id="20" name="Shape 18"/>
          <p:cNvSpPr/>
          <p:nvPr/>
        </p:nvSpPr>
        <p:spPr>
          <a:xfrm>
            <a:off x="6089904" y="1874520"/>
            <a:ext cx="82296" cy="1143000"/>
          </a:xfrm>
          <a:prstGeom prst="rect">
            <a:avLst/>
          </a:prstGeom>
          <a:solidFill>
            <a:srgbClr val="E0900C"/>
          </a:solidFill>
          <a:ln/>
        </p:spPr>
      </p:sp>
      <p:sp>
        <p:nvSpPr>
          <p:cNvPr id="21" name="Text 19"/>
          <p:cNvSpPr/>
          <p:nvPr/>
        </p:nvSpPr>
        <p:spPr>
          <a:xfrm>
            <a:off x="6309360" y="2011680"/>
            <a:ext cx="2359152" cy="502920"/>
          </a:xfrm>
          <a:prstGeom prst="rect">
            <a:avLst/>
          </a:prstGeom>
          <a:noFill/>
          <a:ln/>
        </p:spPr>
        <p:txBody>
          <a:bodyPr wrap="square" lIns="0" tIns="0" rIns="0" bIns="0" rtlCol="0" anchor="t"/>
          <a:lstStyle/>
          <a:p>
            <a:pPr indent="0" marL="0">
              <a:buNone/>
            </a:pPr>
            <a:r>
              <a:rPr lang="en-US" sz="2300" b="1" dirty="0">
                <a:solidFill>
                  <a:srgbClr val="E0900C"/>
                </a:solidFill>
                <a:latin typeface="Calibri" pitchFamily="34" charset="0"/>
                <a:ea typeface="Calibri" pitchFamily="34" charset="-122"/>
                <a:cs typeface="Calibri" pitchFamily="34" charset="-120"/>
              </a:rPr>
              <a:t>19</a:t>
            </a:r>
            <a:endParaRPr lang="en-US" sz="2300" dirty="0"/>
          </a:p>
        </p:txBody>
      </p:sp>
      <p:sp>
        <p:nvSpPr>
          <p:cNvPr id="22" name="Text 20"/>
          <p:cNvSpPr/>
          <p:nvPr/>
        </p:nvSpPr>
        <p:spPr>
          <a:xfrm>
            <a:off x="6309360" y="2505456"/>
            <a:ext cx="2359152" cy="411480"/>
          </a:xfrm>
          <a:prstGeom prst="rect">
            <a:avLst/>
          </a:prstGeom>
          <a:noFill/>
          <a:ln/>
        </p:spPr>
        <p:txBody>
          <a:bodyPr wrap="square" lIns="0" tIns="0" rIns="0" bIns="0" rtlCol="0" anchor="t"/>
          <a:lstStyle/>
          <a:p>
            <a:pPr indent="0" marL="0">
              <a:lnSpc>
                <a:spcPct val="105000"/>
              </a:lnSpc>
              <a:buNone/>
            </a:pPr>
            <a:r>
              <a:rPr lang="en-US" sz="1000" dirty="0">
                <a:solidFill>
                  <a:srgbClr val="8A97A8"/>
                </a:solidFill>
                <a:latin typeface="Calibri" pitchFamily="34" charset="0"/>
                <a:ea typeface="Calibri" pitchFamily="34" charset="-122"/>
                <a:cs typeface="Calibri" pitchFamily="34" charset="-120"/>
              </a:rPr>
              <a:t>purpose-built cost engines</a:t>
            </a:r>
            <a:endParaRPr lang="en-US" sz="1000" dirty="0"/>
          </a:p>
        </p:txBody>
      </p:sp>
      <p:sp>
        <p:nvSpPr>
          <p:cNvPr id="23" name="Shape 21"/>
          <p:cNvSpPr/>
          <p:nvPr/>
        </p:nvSpPr>
        <p:spPr>
          <a:xfrm>
            <a:off x="8860536" y="1874520"/>
            <a:ext cx="2724912" cy="1143000"/>
          </a:xfrm>
          <a:prstGeom prst="roundRect">
            <a:avLst>
              <a:gd name="adj" fmla="val 5600"/>
            </a:avLst>
          </a:prstGeom>
          <a:solidFill>
            <a:srgbClr val="FFFFFF"/>
          </a:solidFill>
          <a:ln w="12700">
            <a:solidFill>
              <a:srgbClr val="E4EAF2"/>
            </a:solidFill>
            <a:prstDash val="solid"/>
          </a:ln>
          <a:effectLst>
            <a:outerShdw sx="100000" sy="100000" kx="0" ky="0" algn="bl" rotWithShape="0" blurRad="3.3618117498570727e+304" dist="9.605176428163068e+303" dir="Infinity">
              <a:srgbClr val="9DB0CC">
                <a:alpha val="Infinity"/>
              </a:srgbClr>
            </a:outerShdw>
          </a:effectLst>
        </p:spPr>
      </p:sp>
      <p:sp>
        <p:nvSpPr>
          <p:cNvPr id="24" name="Shape 22"/>
          <p:cNvSpPr/>
          <p:nvPr/>
        </p:nvSpPr>
        <p:spPr>
          <a:xfrm>
            <a:off x="8860536" y="1874520"/>
            <a:ext cx="82296" cy="1143000"/>
          </a:xfrm>
          <a:prstGeom prst="rect">
            <a:avLst/>
          </a:prstGeom>
          <a:solidFill>
            <a:srgbClr val="0E93B0"/>
          </a:solidFill>
          <a:ln/>
        </p:spPr>
      </p:sp>
      <p:sp>
        <p:nvSpPr>
          <p:cNvPr id="25" name="Text 23"/>
          <p:cNvSpPr/>
          <p:nvPr/>
        </p:nvSpPr>
        <p:spPr>
          <a:xfrm>
            <a:off x="9079992" y="2011680"/>
            <a:ext cx="2359152" cy="502920"/>
          </a:xfrm>
          <a:prstGeom prst="rect">
            <a:avLst/>
          </a:prstGeom>
          <a:noFill/>
          <a:ln/>
        </p:spPr>
        <p:txBody>
          <a:bodyPr wrap="square" lIns="0" tIns="0" rIns="0" bIns="0" rtlCol="0" anchor="t"/>
          <a:lstStyle/>
          <a:p>
            <a:pPr indent="0" marL="0">
              <a:buNone/>
            </a:pPr>
            <a:r>
              <a:rPr lang="en-US" sz="2300" b="1" dirty="0">
                <a:solidFill>
                  <a:srgbClr val="0E93B0"/>
                </a:solidFill>
                <a:latin typeface="Calibri" pitchFamily="34" charset="0"/>
                <a:ea typeface="Calibri" pitchFamily="34" charset="-122"/>
                <a:cs typeface="Calibri" pitchFamily="34" charset="-120"/>
              </a:rPr>
              <a:t>5</a:t>
            </a:r>
            <a:endParaRPr lang="en-US" sz="2300" dirty="0"/>
          </a:p>
        </p:txBody>
      </p:sp>
      <p:sp>
        <p:nvSpPr>
          <p:cNvPr id="26" name="Text 24"/>
          <p:cNvSpPr/>
          <p:nvPr/>
        </p:nvSpPr>
        <p:spPr>
          <a:xfrm>
            <a:off x="9079992" y="2505456"/>
            <a:ext cx="2359152" cy="411480"/>
          </a:xfrm>
          <a:prstGeom prst="rect">
            <a:avLst/>
          </a:prstGeom>
          <a:noFill/>
          <a:ln/>
        </p:spPr>
        <p:txBody>
          <a:bodyPr wrap="square" lIns="0" tIns="0" rIns="0" bIns="0" rtlCol="0" anchor="t"/>
          <a:lstStyle/>
          <a:p>
            <a:pPr indent="0" marL="0">
              <a:lnSpc>
                <a:spcPct val="105000"/>
              </a:lnSpc>
              <a:buNone/>
            </a:pPr>
            <a:r>
              <a:rPr lang="en-US" sz="1000" dirty="0">
                <a:solidFill>
                  <a:srgbClr val="8A97A8"/>
                </a:solidFill>
                <a:latin typeface="Calibri" pitchFamily="34" charset="0"/>
                <a:ea typeface="Calibri" pitchFamily="34" charset="-122"/>
                <a:cs typeface="Calibri" pitchFamily="34" charset="-120"/>
              </a:rPr>
              <a:t>languages &amp; runtimes in the stack</a:t>
            </a:r>
            <a:endParaRPr lang="en-US" sz="1000" dirty="0"/>
          </a:p>
        </p:txBody>
      </p:sp>
      <p:sp>
        <p:nvSpPr>
          <p:cNvPr id="27" name="Shape 25"/>
          <p:cNvSpPr/>
          <p:nvPr/>
        </p:nvSpPr>
        <p:spPr>
          <a:xfrm>
            <a:off x="548640" y="3200400"/>
            <a:ext cx="6035040" cy="2395728"/>
          </a:xfrm>
          <a:prstGeom prst="roundRect">
            <a:avLst>
              <a:gd name="adj" fmla="val 2672"/>
            </a:avLst>
          </a:prstGeom>
          <a:solidFill>
            <a:srgbClr val="FFFFFF"/>
          </a:solidFill>
          <a:ln w="12700">
            <a:solidFill>
              <a:srgbClr val="E4EAF2"/>
            </a:solidFill>
            <a:prstDash val="solid"/>
          </a:ln>
          <a:effectLst>
            <a:outerShdw sx="100000" sy="100000" kx="0" ky="0" algn="bl" rotWithShape="0" blurRad="Infinity" dist="1.2198574063767096e+308" dir="Infinity">
              <a:srgbClr val="9DB0CC">
                <a:alpha val="Infinity"/>
              </a:srgbClr>
            </a:outerShdw>
          </a:effectLst>
        </p:spPr>
      </p:sp>
      <p:sp>
        <p:nvSpPr>
          <p:cNvPr id="28" name="Text 26"/>
          <p:cNvSpPr/>
          <p:nvPr/>
        </p:nvSpPr>
        <p:spPr>
          <a:xfrm>
            <a:off x="822960" y="3319272"/>
            <a:ext cx="5669280" cy="274320"/>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Where the code lives — thousands of lines</a:t>
            </a:r>
            <a:endParaRPr lang="en-US" sz="1250" dirty="0"/>
          </a:p>
        </p:txBody>
      </p:sp>
      <p:graphicFrame>
        <p:nvGraphicFramePr>
          <p:cNvPr id="29" name="Chart 0" descr=""/>
          <p:cNvGraphicFramePr/>
          <p:nvPr/>
        </p:nvGraphicFramePr>
        <p:xfrm>
          <a:off x="685800" y="3639312"/>
          <a:ext cx="5760720" cy="1847088"/>
        </p:xfrm>
        <a:graphic xmlns:a="http://schemas.openxmlformats.org/drawingml/2006/main">
          <a:graphicData uri="http://schemas.openxmlformats.org/drawingml/2006/chart">
            <c:chart xmlns:c="http://schemas.openxmlformats.org/drawingml/2006/chart" r:id="rId1"/>
          </a:graphicData>
        </a:graphic>
      </p:graphicFrame>
      <p:sp>
        <p:nvSpPr>
          <p:cNvPr id="30" name="Shape 27"/>
          <p:cNvSpPr/>
          <p:nvPr/>
        </p:nvSpPr>
        <p:spPr>
          <a:xfrm>
            <a:off x="6858000" y="3200400"/>
            <a:ext cx="4785055" cy="2395728"/>
          </a:xfrm>
          <a:prstGeom prst="roundRect">
            <a:avLst>
              <a:gd name="adj" fmla="val 2672"/>
            </a:avLst>
          </a:prstGeom>
          <a:solidFill>
            <a:srgbClr val="EAF1FE"/>
          </a:solidFill>
          <a:ln w="12700">
            <a:solidFill>
              <a:srgbClr val="E4EAF2"/>
            </a:solidFill>
            <a:prstDash val="solid"/>
          </a:ln>
        </p:spPr>
      </p:sp>
      <p:sp>
        <p:nvSpPr>
          <p:cNvPr id="31" name="Text 28"/>
          <p:cNvSpPr/>
          <p:nvPr/>
        </p:nvSpPr>
        <p:spPr>
          <a:xfrm>
            <a:off x="7132320" y="3319272"/>
            <a:ext cx="4327855" cy="274320"/>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What that represents</a:t>
            </a:r>
            <a:endParaRPr lang="en-US" sz="1250" dirty="0"/>
          </a:p>
        </p:txBody>
      </p:sp>
      <p:sp>
        <p:nvSpPr>
          <p:cNvPr id="32" name="Shape 29"/>
          <p:cNvSpPr/>
          <p:nvPr/>
        </p:nvSpPr>
        <p:spPr>
          <a:xfrm>
            <a:off x="7114032" y="3721608"/>
            <a:ext cx="274320" cy="274320"/>
          </a:xfrm>
          <a:prstGeom prst="ellipse">
            <a:avLst/>
          </a:prstGeom>
          <a:solidFill>
            <a:srgbClr val="FEF6E7"/>
          </a:solidFill>
          <a:ln/>
        </p:spPr>
      </p:sp>
      <p:sp>
        <p:nvSpPr>
          <p:cNvPr id="33" name="Text 30"/>
          <p:cNvSpPr/>
          <p:nvPr/>
        </p:nvSpPr>
        <p:spPr>
          <a:xfrm>
            <a:off x="7114032" y="3712464"/>
            <a:ext cx="274320" cy="274320"/>
          </a:xfrm>
          <a:prstGeom prst="rect">
            <a:avLst/>
          </a:prstGeom>
          <a:noFill/>
          <a:ln/>
        </p:spPr>
        <p:txBody>
          <a:bodyPr wrap="square" lIns="0" tIns="0" rIns="0" bIns="0" rtlCol="0" anchor="ctr"/>
          <a:lstStyle/>
          <a:p>
            <a:pPr algn="ctr" indent="0" marL="0">
              <a:buNone/>
            </a:pPr>
            <a:r>
              <a:rPr lang="en-US" sz="1000" b="1" dirty="0">
                <a:solidFill>
                  <a:srgbClr val="E0900C"/>
                </a:solidFill>
                <a:latin typeface="Calibri" pitchFamily="34" charset="0"/>
                <a:ea typeface="Calibri" pitchFamily="34" charset="-122"/>
                <a:cs typeface="Calibri" pitchFamily="34" charset="-120"/>
              </a:rPr>
              <a:t>◆</a:t>
            </a:r>
            <a:endParaRPr lang="en-US" sz="1000" dirty="0"/>
          </a:p>
        </p:txBody>
      </p:sp>
      <p:sp>
        <p:nvSpPr>
          <p:cNvPr id="34" name="Text 31"/>
          <p:cNvSpPr/>
          <p:nvPr/>
        </p:nvSpPr>
        <p:spPr>
          <a:xfrm>
            <a:off x="7479792" y="3703320"/>
            <a:ext cx="3916375" cy="457200"/>
          </a:xfrm>
          <a:prstGeom prst="rect">
            <a:avLst/>
          </a:prstGeom>
          <a:noFill/>
          <a:ln/>
        </p:spPr>
        <p:txBody>
          <a:bodyPr wrap="square" lIns="0" tIns="0" rIns="0" bIns="0" rtlCol="0" anchor="t"/>
          <a:lstStyle/>
          <a:p>
            <a:pPr indent="0" marL="0">
              <a:lnSpc>
                <a:spcPct val="100000"/>
              </a:lnSpc>
              <a:buNone/>
            </a:pPr>
            <a:r>
              <a:rPr lang="en-US" sz="960" b="1" dirty="0">
                <a:solidFill>
                  <a:srgbClr val="0F1E3D"/>
                </a:solidFill>
                <a:latin typeface="Calibri" pitchFamily="34" charset="0"/>
                <a:ea typeface="Calibri" pitchFamily="34" charset="-122"/>
                <a:cs typeface="Calibri" pitchFamily="34" charset="-120"/>
              </a:rPr>
              <a:t>A 16,000-line deterministic cost engine — </a:t>
            </a:r>
            <a:pPr indent="0" marL="0">
              <a:lnSpc>
                <a:spcPct val="100000"/>
              </a:lnSpc>
              <a:buNone/>
            </a:pPr>
            <a:r>
              <a:rPr lang="en-US" sz="960" dirty="0">
                <a:solidFill>
                  <a:srgbClr val="3E4C63"/>
                </a:solidFill>
                <a:latin typeface="Calibri" pitchFamily="34" charset="0"/>
                <a:ea typeface="Calibri" pitchFamily="34" charset="-122"/>
                <a:cs typeface="Calibri" pitchFamily="34" charset="-120"/>
              </a:rPr>
              <a:t>the auditable "money maths" — 19 commodities, 20 regions</a:t>
            </a:r>
            <a:endParaRPr lang="en-US" sz="960" dirty="0"/>
          </a:p>
        </p:txBody>
      </p:sp>
      <p:sp>
        <p:nvSpPr>
          <p:cNvPr id="35" name="Shape 32"/>
          <p:cNvSpPr/>
          <p:nvPr/>
        </p:nvSpPr>
        <p:spPr>
          <a:xfrm>
            <a:off x="7114032" y="4178808"/>
            <a:ext cx="274320" cy="274320"/>
          </a:xfrm>
          <a:prstGeom prst="ellipse">
            <a:avLst/>
          </a:prstGeom>
          <a:solidFill>
            <a:srgbClr val="E7F7F0"/>
          </a:solidFill>
          <a:ln/>
        </p:spPr>
      </p:sp>
      <p:sp>
        <p:nvSpPr>
          <p:cNvPr id="36" name="Text 33"/>
          <p:cNvSpPr/>
          <p:nvPr/>
        </p:nvSpPr>
        <p:spPr>
          <a:xfrm>
            <a:off x="7114032" y="4169664"/>
            <a:ext cx="274320" cy="274320"/>
          </a:xfrm>
          <a:prstGeom prst="rect">
            <a:avLst/>
          </a:prstGeom>
          <a:noFill/>
          <a:ln/>
        </p:spPr>
        <p:txBody>
          <a:bodyPr wrap="square" lIns="0" tIns="0" rIns="0" bIns="0" rtlCol="0" anchor="ctr"/>
          <a:lstStyle/>
          <a:p>
            <a:pPr algn="ctr" indent="0" marL="0">
              <a:buNone/>
            </a:pPr>
            <a:r>
              <a:rPr lang="en-US" sz="1000" b="1" dirty="0">
                <a:solidFill>
                  <a:srgbClr val="0DA5A0"/>
                </a:solidFill>
                <a:latin typeface="Calibri" pitchFamily="34" charset="0"/>
                <a:ea typeface="Calibri" pitchFamily="34" charset="-122"/>
                <a:cs typeface="Calibri" pitchFamily="34" charset="-120"/>
              </a:rPr>
              <a:t>◆</a:t>
            </a:r>
            <a:endParaRPr lang="en-US" sz="1000" dirty="0"/>
          </a:p>
        </p:txBody>
      </p:sp>
      <p:sp>
        <p:nvSpPr>
          <p:cNvPr id="37" name="Text 34"/>
          <p:cNvSpPr/>
          <p:nvPr/>
        </p:nvSpPr>
        <p:spPr>
          <a:xfrm>
            <a:off x="7479792" y="4160520"/>
            <a:ext cx="3916375" cy="457200"/>
          </a:xfrm>
          <a:prstGeom prst="rect">
            <a:avLst/>
          </a:prstGeom>
          <a:noFill/>
          <a:ln/>
        </p:spPr>
        <p:txBody>
          <a:bodyPr wrap="square" lIns="0" tIns="0" rIns="0" bIns="0" rtlCol="0" anchor="t"/>
          <a:lstStyle/>
          <a:p>
            <a:pPr indent="0" marL="0">
              <a:lnSpc>
                <a:spcPct val="100000"/>
              </a:lnSpc>
              <a:buNone/>
            </a:pPr>
            <a:r>
              <a:rPr lang="en-US" sz="960" b="1" dirty="0">
                <a:solidFill>
                  <a:srgbClr val="0F1E3D"/>
                </a:solidFill>
                <a:latin typeface="Calibri" pitchFamily="34" charset="0"/>
                <a:ea typeface="Calibri" pitchFamily="34" charset="-122"/>
                <a:cs typeface="Calibri" pitchFamily="34" charset="-120"/>
              </a:rPr>
              <a:t>A real Python geometry kernel — </a:t>
            </a:r>
            <a:pPr indent="0" marL="0">
              <a:lnSpc>
                <a:spcPct val="100000"/>
              </a:lnSpc>
              <a:buNone/>
            </a:pPr>
            <a:r>
              <a:rPr lang="en-US" sz="960" dirty="0">
                <a:solidFill>
                  <a:srgbClr val="3E4C63"/>
                </a:solidFill>
                <a:latin typeface="Calibri" pitchFamily="34" charset="0"/>
                <a:ea typeface="Calibri" pitchFamily="34" charset="-122"/>
                <a:cs typeface="Calibri" pitchFamily="34" charset="-120"/>
              </a:rPr>
              <a:t>OCCT/CadQuery reads STEP, IGES &amp; STL — genuine CAD engineering</a:t>
            </a:r>
            <a:endParaRPr lang="en-US" sz="960" dirty="0"/>
          </a:p>
        </p:txBody>
      </p:sp>
      <p:sp>
        <p:nvSpPr>
          <p:cNvPr id="38" name="Shape 35"/>
          <p:cNvSpPr/>
          <p:nvPr/>
        </p:nvSpPr>
        <p:spPr>
          <a:xfrm>
            <a:off x="7114032" y="4636008"/>
            <a:ext cx="274320" cy="274320"/>
          </a:xfrm>
          <a:prstGeom prst="ellipse">
            <a:avLst/>
          </a:prstGeom>
          <a:solidFill>
            <a:srgbClr val="EAF1FE"/>
          </a:solidFill>
          <a:ln/>
        </p:spPr>
      </p:sp>
      <p:sp>
        <p:nvSpPr>
          <p:cNvPr id="39" name="Text 36"/>
          <p:cNvSpPr/>
          <p:nvPr/>
        </p:nvSpPr>
        <p:spPr>
          <a:xfrm>
            <a:off x="7114032" y="4626864"/>
            <a:ext cx="274320" cy="27432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40" name="Text 37"/>
          <p:cNvSpPr/>
          <p:nvPr/>
        </p:nvSpPr>
        <p:spPr>
          <a:xfrm>
            <a:off x="7479792" y="4617720"/>
            <a:ext cx="3916375" cy="457200"/>
          </a:xfrm>
          <a:prstGeom prst="rect">
            <a:avLst/>
          </a:prstGeom>
          <a:noFill/>
          <a:ln/>
        </p:spPr>
        <p:txBody>
          <a:bodyPr wrap="square" lIns="0" tIns="0" rIns="0" bIns="0" rtlCol="0" anchor="t"/>
          <a:lstStyle/>
          <a:p>
            <a:pPr indent="0" marL="0">
              <a:lnSpc>
                <a:spcPct val="100000"/>
              </a:lnSpc>
              <a:buNone/>
            </a:pPr>
            <a:r>
              <a:rPr lang="en-US" sz="960" b="1" dirty="0">
                <a:solidFill>
                  <a:srgbClr val="0F1E3D"/>
                </a:solidFill>
                <a:latin typeface="Calibri" pitchFamily="34" charset="0"/>
                <a:ea typeface="Calibri" pitchFamily="34" charset="-122"/>
                <a:cs typeface="Calibri" pitchFamily="34" charset="-120"/>
              </a:rPr>
              <a:t>Full-stack, end to end — </a:t>
            </a:r>
            <a:pPr indent="0" marL="0">
              <a:lnSpc>
                <a:spcPct val="100000"/>
              </a:lnSpc>
              <a:buNone/>
            </a:pPr>
            <a:r>
              <a:rPr lang="en-US" sz="960" dirty="0">
                <a:solidFill>
                  <a:srgbClr val="3E4C63"/>
                </a:solidFill>
                <a:latin typeface="Calibri" pitchFamily="34" charset="0"/>
                <a:ea typeface="Calibri" pitchFamily="34" charset="-122"/>
                <a:cs typeface="Calibri" pitchFamily="34" charset="-120"/>
              </a:rPr>
              <a:t>TypeScript backend &amp; UI, Three.js 3D, SQLite, Python — one system</a:t>
            </a:r>
            <a:endParaRPr lang="en-US" sz="960" dirty="0"/>
          </a:p>
        </p:txBody>
      </p:sp>
      <p:sp>
        <p:nvSpPr>
          <p:cNvPr id="41" name="Shape 38"/>
          <p:cNvSpPr/>
          <p:nvPr/>
        </p:nvSpPr>
        <p:spPr>
          <a:xfrm>
            <a:off x="7114032" y="5093208"/>
            <a:ext cx="274320" cy="274320"/>
          </a:xfrm>
          <a:prstGeom prst="ellipse">
            <a:avLst/>
          </a:prstGeom>
          <a:solidFill>
            <a:srgbClr val="E7F7F0"/>
          </a:solidFill>
          <a:ln/>
        </p:spPr>
      </p:sp>
      <p:sp>
        <p:nvSpPr>
          <p:cNvPr id="42" name="Text 39"/>
          <p:cNvSpPr/>
          <p:nvPr/>
        </p:nvSpPr>
        <p:spPr>
          <a:xfrm>
            <a:off x="7114032" y="5084064"/>
            <a:ext cx="274320" cy="274320"/>
          </a:xfrm>
          <a:prstGeom prst="rect">
            <a:avLst/>
          </a:prstGeom>
          <a:noFill/>
          <a:ln/>
        </p:spPr>
        <p:txBody>
          <a:bodyPr wrap="square" lIns="0" tIns="0" rIns="0" bIns="0" rtlCol="0" anchor="ctr"/>
          <a:lstStyle/>
          <a:p>
            <a:pPr algn="ctr" indent="0" marL="0">
              <a:buNone/>
            </a:pPr>
            <a:r>
              <a:rPr lang="en-US" sz="1000" b="1" dirty="0">
                <a:solidFill>
                  <a:srgbClr val="0EA472"/>
                </a:solidFill>
                <a:latin typeface="Calibri" pitchFamily="34" charset="0"/>
                <a:ea typeface="Calibri" pitchFamily="34" charset="-122"/>
                <a:cs typeface="Calibri" pitchFamily="34" charset="-120"/>
              </a:rPr>
              <a:t>◆</a:t>
            </a:r>
            <a:endParaRPr lang="en-US" sz="1000" dirty="0"/>
          </a:p>
        </p:txBody>
      </p:sp>
      <p:sp>
        <p:nvSpPr>
          <p:cNvPr id="43" name="Text 40"/>
          <p:cNvSpPr/>
          <p:nvPr/>
        </p:nvSpPr>
        <p:spPr>
          <a:xfrm>
            <a:off x="7479792" y="5074920"/>
            <a:ext cx="3916375" cy="457200"/>
          </a:xfrm>
          <a:prstGeom prst="rect">
            <a:avLst/>
          </a:prstGeom>
          <a:noFill/>
          <a:ln/>
        </p:spPr>
        <p:txBody>
          <a:bodyPr wrap="square" lIns="0" tIns="0" rIns="0" bIns="0" rtlCol="0" anchor="t"/>
          <a:lstStyle/>
          <a:p>
            <a:pPr indent="0" marL="0">
              <a:lnSpc>
                <a:spcPct val="100000"/>
              </a:lnSpc>
              <a:buNone/>
            </a:pPr>
            <a:r>
              <a:rPr lang="en-US" sz="960" b="1" dirty="0">
                <a:solidFill>
                  <a:srgbClr val="0F1E3D"/>
                </a:solidFill>
                <a:latin typeface="Calibri" pitchFamily="34" charset="0"/>
                <a:ea typeface="Calibri" pitchFamily="34" charset="-122"/>
                <a:cs typeface="Calibri" pitchFamily="34" charset="-120"/>
              </a:rPr>
              <a:t>Quality built in — </a:t>
            </a:r>
            <a:pPr indent="0" marL="0">
              <a:lnSpc>
                <a:spcPct val="100000"/>
              </a:lnSpc>
              <a:buNone/>
            </a:pPr>
            <a:r>
              <a:rPr lang="en-US" sz="960" dirty="0">
                <a:solidFill>
                  <a:srgbClr val="3E4C63"/>
                </a:solidFill>
                <a:latin typeface="Calibri" pitchFamily="34" charset="0"/>
                <a:ea typeface="Calibri" pitchFamily="34" charset="-122"/>
                <a:cs typeface="Calibri" pitchFamily="34" charset="-120"/>
              </a:rPr>
              <a:t>~10,400 lines of tests, 1,005 passing — it does not silently regress</a:t>
            </a:r>
            <a:endParaRPr lang="en-US" sz="960" dirty="0"/>
          </a:p>
        </p:txBody>
      </p:sp>
      <p:sp>
        <p:nvSpPr>
          <p:cNvPr id="44" name="Shape 41"/>
          <p:cNvSpPr/>
          <p:nvPr/>
        </p:nvSpPr>
        <p:spPr>
          <a:xfrm>
            <a:off x="548640" y="5742432"/>
            <a:ext cx="11091672" cy="457200"/>
          </a:xfrm>
          <a:prstGeom prst="roundRect">
            <a:avLst>
              <a:gd name="adj" fmla="val 14000"/>
            </a:avLst>
          </a:prstGeom>
          <a:solidFill>
            <a:srgbClr val="E7F7F0"/>
          </a:solidFill>
          <a:ln w="12700">
            <a:solidFill>
              <a:srgbClr val="E4EAF2"/>
            </a:solidFill>
            <a:prstDash val="solid"/>
          </a:ln>
        </p:spPr>
      </p:sp>
      <p:sp>
        <p:nvSpPr>
          <p:cNvPr id="45" name="Shape 42"/>
          <p:cNvSpPr/>
          <p:nvPr/>
        </p:nvSpPr>
        <p:spPr>
          <a:xfrm>
            <a:off x="548640" y="5742432"/>
            <a:ext cx="82296" cy="457200"/>
          </a:xfrm>
          <a:prstGeom prst="rect">
            <a:avLst/>
          </a:prstGeom>
          <a:solidFill>
            <a:srgbClr val="4F46E5"/>
          </a:solidFill>
          <a:ln/>
        </p:spPr>
      </p:sp>
      <p:sp>
        <p:nvSpPr>
          <p:cNvPr id="46" name="Text 43"/>
          <p:cNvSpPr/>
          <p:nvPr/>
        </p:nvSpPr>
        <p:spPr>
          <a:xfrm>
            <a:off x="914400" y="5742432"/>
            <a:ext cx="10332720" cy="457200"/>
          </a:xfrm>
          <a:prstGeom prst="rect">
            <a:avLst/>
          </a:prstGeom>
          <a:noFill/>
          <a:ln/>
        </p:spPr>
        <p:txBody>
          <a:bodyPr wrap="square" lIns="0" tIns="0" rIns="0" bIns="0" rtlCol="0" anchor="ctr"/>
          <a:lstStyle/>
          <a:p>
            <a:pPr indent="0" marL="0">
              <a:buNone/>
            </a:pPr>
            <a:r>
              <a:rPr lang="en-US" sz="1100" b="1" dirty="0">
                <a:solidFill>
                  <a:srgbClr val="0F1E3D"/>
                </a:solidFill>
                <a:latin typeface="Calibri" pitchFamily="34" charset="0"/>
                <a:ea typeface="Calibri" pitchFamily="34" charset="-122"/>
                <a:cs typeface="Calibri" pitchFamily="34" charset="-120"/>
              </a:rPr>
              <a:t>The point:  </a:t>
            </a:r>
            <a:pPr indent="0" marL="0">
              <a:buNone/>
            </a:pPr>
            <a:r>
              <a:rPr lang="en-US" sz="1100" dirty="0">
                <a:solidFill>
                  <a:srgbClr val="3E4C63"/>
                </a:solidFill>
                <a:latin typeface="Calibri" pitchFamily="34" charset="0"/>
                <a:ea typeface="Calibri" pitchFamily="34" charset="-122"/>
                <a:cs typeface="Calibri" pitchFamily="34" charset="-120"/>
              </a:rPr>
              <a:t>this depth of engineering is exactly why the intelligence is a durable, proprietary company asset — not a subscription that can be switched off.</a:t>
            </a:r>
            <a:endParaRPr lang="en-US" sz="1100" dirty="0"/>
          </a:p>
        </p:txBody>
      </p:sp>
      <p:sp>
        <p:nvSpPr>
          <p:cNvPr id="47" name="Shape 44"/>
          <p:cNvSpPr/>
          <p:nvPr/>
        </p:nvSpPr>
        <p:spPr>
          <a:xfrm>
            <a:off x="548640" y="6400800"/>
            <a:ext cx="11094415" cy="12802"/>
          </a:xfrm>
          <a:prstGeom prst="rect">
            <a:avLst/>
          </a:prstGeom>
          <a:solidFill>
            <a:srgbClr val="E4EAF2"/>
          </a:solidFill>
          <a:ln/>
        </p:spPr>
      </p:sp>
      <p:sp>
        <p:nvSpPr>
          <p:cNvPr id="48" name="Text 45"/>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49" name="Text 46"/>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28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2563EB"/>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2563EB"/>
                </a:solidFill>
                <a:latin typeface="Calibri" pitchFamily="34" charset="0"/>
                <a:ea typeface="Calibri" pitchFamily="34" charset="-122"/>
                <a:cs typeface="Calibri" pitchFamily="34" charset="-120"/>
              </a:rPr>
              <a:t>VALUE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What this means for the business</a:t>
            </a:r>
            <a:endParaRPr lang="en-US" sz="2400" dirty="0"/>
          </a:p>
        </p:txBody>
      </p:sp>
      <p:sp>
        <p:nvSpPr>
          <p:cNvPr id="9" name="Shape 7"/>
          <p:cNvSpPr/>
          <p:nvPr/>
        </p:nvSpPr>
        <p:spPr>
          <a:xfrm>
            <a:off x="548640" y="1371600"/>
            <a:ext cx="1051560" cy="45720"/>
          </a:xfrm>
          <a:prstGeom prst="rect">
            <a:avLst/>
          </a:prstGeom>
          <a:solidFill>
            <a:srgbClr val="2563EB"/>
          </a:solidFill>
          <a:ln/>
        </p:spPr>
        <p:txBody>
          <a:bodyPr/>
          <a:p/>
        </p:txBody>
      </p:sp>
      <p:sp>
        <p:nvSpPr>
          <p:cNvPr id="10" name="Shape 8"/>
          <p:cNvSpPr/>
          <p:nvPr/>
        </p:nvSpPr>
        <p:spPr>
          <a:xfrm>
            <a:off x="548640" y="1691640"/>
            <a:ext cx="5422392" cy="1783080"/>
          </a:xfrm>
          <a:prstGeom prst="roundRect">
            <a:avLst>
              <a:gd name="adj" fmla="val 35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11" name="Shape 9"/>
          <p:cNvSpPr/>
          <p:nvPr/>
        </p:nvSpPr>
        <p:spPr>
          <a:xfrm>
            <a:off x="548640" y="1691640"/>
            <a:ext cx="82296" cy="1783080"/>
          </a:xfrm>
          <a:prstGeom prst="rect">
            <a:avLst/>
          </a:prstGeom>
          <a:solidFill>
            <a:srgbClr val="2563EB"/>
          </a:solidFill>
          <a:ln/>
        </p:spPr>
        <p:txBody>
          <a:bodyPr/>
          <a:p/>
        </p:txBody>
      </p:sp>
      <p:sp>
        <p:nvSpPr>
          <p:cNvPr id="12" name="Shape 10"/>
          <p:cNvSpPr/>
          <p:nvPr/>
        </p:nvSpPr>
        <p:spPr>
          <a:xfrm>
            <a:off x="822960" y="1965960"/>
            <a:ext cx="548640" cy="548640"/>
          </a:xfrm>
          <a:prstGeom prst="ellipse">
            <a:avLst/>
          </a:prstGeom>
          <a:solidFill>
            <a:srgbClr val="EAF1FE"/>
          </a:solidFill>
          <a:ln/>
        </p:spPr>
        <p:txBody>
          <a:bodyPr/>
          <a:p/>
        </p:txBody>
      </p:sp>
      <p:sp>
        <p:nvSpPr>
          <p:cNvPr id="13" name="Text 11"/>
          <p:cNvSpPr/>
          <p:nvPr/>
        </p:nvSpPr>
        <p:spPr>
          <a:xfrm>
            <a:off x="822960" y="1956816"/>
            <a:ext cx="548640" cy="548640"/>
          </a:xfrm>
          <a:prstGeom prst="rect">
            <a:avLst/>
          </a:prstGeom>
          <a:noFill/>
          <a:ln/>
        </p:spPr>
        <p:txBody>
          <a:bodyPr wrap="square" lIns="0" tIns="0" rIns="0" bIns="0" rtlCol="0" anchor="ctr"/>
          <a:lstStyle/>
          <a:p>
            <a:pPr algn="ctr" indent="0" marL="0">
              <a:buNone/>
            </a:pPr>
            <a:r>
              <a:rPr lang="en-US" sz="2000" b="1" dirty="0">
                <a:solidFill>
                  <a:srgbClr val="2563EB"/>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1517904" y="2002536"/>
            <a:ext cx="4297680" cy="365760"/>
          </a:xfrm>
          <a:prstGeom prst="rect">
            <a:avLst/>
          </a:prstGeom>
          <a:noFill/>
          <a:ln/>
        </p:spPr>
        <p:txBody>
          <a:bodyPr wrap="square" lIns="0" tIns="0" rIns="0" bIns="0" rtlCol="0" anchor="ctr"/>
          <a:lstStyle/>
          <a:p>
            <a:pPr indent="0" marL="0">
              <a:buNone/>
            </a:pPr>
            <a:r>
              <a:rPr lang="en-US" sz="1550" b="1" dirty="0">
                <a:solidFill>
                  <a:srgbClr val="2563EB"/>
                </a:solidFill>
                <a:latin typeface="Calibri" pitchFamily="34" charset="0"/>
                <a:ea typeface="Calibri" pitchFamily="34" charset="-122"/>
                <a:cs typeface="Calibri" pitchFamily="34" charset="-120"/>
              </a:rPr>
              <a:t>A first number, sooner</a:t>
            </a:r>
            <a:endParaRPr lang="en-US" sz="1550" dirty="0"/>
          </a:p>
        </p:txBody>
      </p:sp>
      <p:sp>
        <p:nvSpPr>
          <p:cNvPr id="15" name="Text 13"/>
          <p:cNvSpPr/>
          <p:nvPr/>
        </p:nvSpPr>
        <p:spPr>
          <a:xfrm>
            <a:off x="841248" y="2606040"/>
            <a:ext cx="5029200" cy="777240"/>
          </a:xfrm>
          <a:prstGeom prst="rect">
            <a:avLst/>
          </a:prstGeom>
          <a:noFill/>
          <a:ln/>
        </p:spPr>
        <p:txBody>
          <a:bodyPr wrap="square" lIns="0" tIns="0" rIns="0" bIns="0" rtlCol="0" anchor="t"/>
          <a:lstStyle/>
          <a:p>
            <a:pPr indent="0" marL="0">
              <a:lnSpc>
                <a:spcPct val="116000"/>
              </a:lnSpc>
              <a:buNone/>
            </a:pPr>
            <a:r>
              <a:rPr lang="en-US" sz="1150" dirty="0">
                <a:solidFill>
                  <a:srgbClr val="3E4C63"/>
                </a:solidFill>
                <a:latin typeface="Calibri" pitchFamily="34" charset="0"/>
                <a:ea typeface="Calibri" pitchFamily="34" charset="-122"/>
                <a:cs typeface="Calibri" pitchFamily="34" charset="-120"/>
              </a:rPr>
              <a:t>A should-cost from a CAD file or typed inputs, without building a spreadsheet. We will time it against today’s process in the pilot.</a:t>
            </a:r>
            <a:endParaRPr lang="en-US" sz="1150" dirty="0"/>
          </a:p>
        </p:txBody>
      </p:sp>
      <p:sp>
        <p:nvSpPr>
          <p:cNvPr id="16" name="Shape 14"/>
          <p:cNvSpPr/>
          <p:nvPr/>
        </p:nvSpPr>
        <p:spPr>
          <a:xfrm>
            <a:off x="6217920" y="1691640"/>
            <a:ext cx="5422392" cy="1783080"/>
          </a:xfrm>
          <a:prstGeom prst="roundRect">
            <a:avLst>
              <a:gd name="adj" fmla="val 35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17" name="Shape 15"/>
          <p:cNvSpPr/>
          <p:nvPr/>
        </p:nvSpPr>
        <p:spPr>
          <a:xfrm>
            <a:off x="6217920" y="1691640"/>
            <a:ext cx="82296" cy="1783080"/>
          </a:xfrm>
          <a:prstGeom prst="rect">
            <a:avLst/>
          </a:prstGeom>
          <a:solidFill>
            <a:srgbClr val="0EA472"/>
          </a:solidFill>
          <a:ln/>
        </p:spPr>
        <p:txBody>
          <a:bodyPr/>
          <a:p/>
        </p:txBody>
      </p:sp>
      <p:sp>
        <p:nvSpPr>
          <p:cNvPr id="18" name="Shape 16"/>
          <p:cNvSpPr/>
          <p:nvPr/>
        </p:nvSpPr>
        <p:spPr>
          <a:xfrm>
            <a:off x="6492240" y="1965960"/>
            <a:ext cx="548640" cy="548640"/>
          </a:xfrm>
          <a:prstGeom prst="ellipse">
            <a:avLst/>
          </a:prstGeom>
          <a:solidFill>
            <a:srgbClr val="E7F7F0"/>
          </a:solidFill>
          <a:ln/>
        </p:spPr>
        <p:txBody>
          <a:bodyPr/>
          <a:p/>
        </p:txBody>
      </p:sp>
      <p:sp>
        <p:nvSpPr>
          <p:cNvPr id="19" name="Text 17"/>
          <p:cNvSpPr/>
          <p:nvPr/>
        </p:nvSpPr>
        <p:spPr>
          <a:xfrm>
            <a:off x="6492240" y="1956816"/>
            <a:ext cx="548640" cy="548640"/>
          </a:xfrm>
          <a:prstGeom prst="rect">
            <a:avLst/>
          </a:prstGeom>
          <a:noFill/>
          <a:ln/>
        </p:spPr>
        <p:txBody>
          <a:bodyPr wrap="square" lIns="0" tIns="0" rIns="0" bIns="0" rtlCol="0" anchor="ctr"/>
          <a:lstStyle/>
          <a:p>
            <a:pPr algn="ctr" indent="0" marL="0">
              <a:buNone/>
            </a:pPr>
            <a:r>
              <a:rPr lang="en-US" sz="2000" b="1" dirty="0">
                <a:solidFill>
                  <a:srgbClr val="0EA472"/>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7187184" y="2002536"/>
            <a:ext cx="4297680" cy="365760"/>
          </a:xfrm>
          <a:prstGeom prst="rect">
            <a:avLst/>
          </a:prstGeom>
          <a:noFill/>
          <a:ln/>
        </p:spPr>
        <p:txBody>
          <a:bodyPr wrap="square" lIns="0" tIns="0" rIns="0" bIns="0" rtlCol="0" anchor="ctr"/>
          <a:lstStyle/>
          <a:p>
            <a:pPr indent="0" marL="0">
              <a:buNone/>
            </a:pPr>
            <a:r>
              <a:rPr lang="en-US" sz="1550" b="1" dirty="0">
                <a:solidFill>
                  <a:srgbClr val="0EA472"/>
                </a:solidFill>
                <a:latin typeface="Calibri" pitchFamily="34" charset="0"/>
                <a:ea typeface="Calibri" pitchFamily="34" charset="-122"/>
                <a:cs typeface="Calibri" pitchFamily="34" charset="-120"/>
              </a:rPr>
              <a:t>Better negotiations</a:t>
            </a:r>
            <a:endParaRPr lang="en-US" sz="1550" dirty="0"/>
          </a:p>
        </p:txBody>
      </p:sp>
      <p:sp>
        <p:nvSpPr>
          <p:cNvPr id="21" name="Text 19"/>
          <p:cNvSpPr/>
          <p:nvPr/>
        </p:nvSpPr>
        <p:spPr>
          <a:xfrm>
            <a:off x="6510528" y="2606040"/>
            <a:ext cx="5029200" cy="777240"/>
          </a:xfrm>
          <a:prstGeom prst="rect">
            <a:avLst/>
          </a:prstGeom>
          <a:noFill/>
          <a:ln/>
        </p:spPr>
        <p:txBody>
          <a:bodyPr wrap="square" lIns="0" tIns="0" rIns="0" bIns="0" rtlCol="0" anchor="t"/>
          <a:lstStyle/>
          <a:p>
            <a:pPr indent="0" marL="0">
              <a:lnSpc>
                <a:spcPct val="116000"/>
              </a:lnSpc>
              <a:buNone/>
            </a:pPr>
            <a:r>
              <a:rPr lang="en-US" sz="1150" dirty="0">
                <a:solidFill>
                  <a:srgbClr val="3E4C63"/>
                </a:solidFill>
                <a:latin typeface="Calibri" pitchFamily="34" charset="0"/>
                <a:ea typeface="Calibri" pitchFamily="34" charset="-122"/>
                <a:cs typeface="Calibri" pitchFamily="34" charset="-120"/>
              </a:rPr>
              <a:t>A line-by-line should-cost lets us challenge a quote by bucket and driver, not just the total.</a:t>
            </a:r>
            <a:endParaRPr lang="en-US" sz="1150" dirty="0"/>
          </a:p>
        </p:txBody>
      </p:sp>
      <p:sp>
        <p:nvSpPr>
          <p:cNvPr id="22" name="Shape 20"/>
          <p:cNvSpPr/>
          <p:nvPr/>
        </p:nvSpPr>
        <p:spPr>
          <a:xfrm>
            <a:off x="548640" y="3657600"/>
            <a:ext cx="5422392" cy="1783080"/>
          </a:xfrm>
          <a:prstGeom prst="roundRect">
            <a:avLst>
              <a:gd name="adj" fmla="val 35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23" name="Shape 21"/>
          <p:cNvSpPr/>
          <p:nvPr/>
        </p:nvSpPr>
        <p:spPr>
          <a:xfrm>
            <a:off x="548640" y="3657600"/>
            <a:ext cx="82296" cy="1783080"/>
          </a:xfrm>
          <a:prstGeom prst="rect">
            <a:avLst/>
          </a:prstGeom>
          <a:solidFill>
            <a:srgbClr val="7C3AED"/>
          </a:solidFill>
          <a:ln/>
        </p:spPr>
        <p:txBody>
          <a:bodyPr/>
          <a:p/>
        </p:txBody>
      </p:sp>
      <p:sp>
        <p:nvSpPr>
          <p:cNvPr id="24" name="Shape 22"/>
          <p:cNvSpPr/>
          <p:nvPr/>
        </p:nvSpPr>
        <p:spPr>
          <a:xfrm>
            <a:off x="822960" y="3931920"/>
            <a:ext cx="548640" cy="548640"/>
          </a:xfrm>
          <a:prstGeom prst="ellipse">
            <a:avLst/>
          </a:prstGeom>
          <a:solidFill>
            <a:srgbClr val="F3EEFE"/>
          </a:solidFill>
          <a:ln/>
        </p:spPr>
        <p:txBody>
          <a:bodyPr/>
          <a:p/>
        </p:txBody>
      </p:sp>
      <p:sp>
        <p:nvSpPr>
          <p:cNvPr id="25" name="Text 23"/>
          <p:cNvSpPr/>
          <p:nvPr/>
        </p:nvSpPr>
        <p:spPr>
          <a:xfrm>
            <a:off x="822960" y="3922776"/>
            <a:ext cx="548640" cy="548640"/>
          </a:xfrm>
          <a:prstGeom prst="rect">
            <a:avLst/>
          </a:prstGeom>
          <a:noFill/>
          <a:ln/>
        </p:spPr>
        <p:txBody>
          <a:bodyPr wrap="square" lIns="0" tIns="0" rIns="0" bIns="0" rtlCol="0" anchor="ctr"/>
          <a:lstStyle/>
          <a:p>
            <a:pPr algn="ctr" indent="0" marL="0">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26" name="Text 24"/>
          <p:cNvSpPr/>
          <p:nvPr/>
        </p:nvSpPr>
        <p:spPr>
          <a:xfrm>
            <a:off x="1517904" y="3968496"/>
            <a:ext cx="4297680" cy="365760"/>
          </a:xfrm>
          <a:prstGeom prst="rect">
            <a:avLst/>
          </a:prstGeom>
          <a:noFill/>
          <a:ln/>
        </p:spPr>
        <p:txBody>
          <a:bodyPr wrap="square" lIns="0" tIns="0" rIns="0" bIns="0" rtlCol="0" anchor="ctr"/>
          <a:lstStyle/>
          <a:p>
            <a:pPr indent="0" marL="0">
              <a:buNone/>
            </a:pPr>
            <a:r>
              <a:rPr lang="en-US" sz="1550" b="1" dirty="0">
                <a:solidFill>
                  <a:srgbClr val="7C3AED"/>
                </a:solidFill>
                <a:latin typeface="Calibri" pitchFamily="34" charset="0"/>
                <a:ea typeface="Calibri" pitchFamily="34" charset="-122"/>
                <a:cs typeface="Calibri" pitchFamily="34" charset="-120"/>
              </a:rPr>
              <a:t>Consistency</a:t>
            </a:r>
            <a:endParaRPr lang="en-US" sz="1550" dirty="0"/>
          </a:p>
        </p:txBody>
      </p:sp>
      <p:sp>
        <p:nvSpPr>
          <p:cNvPr id="27" name="Text 25"/>
          <p:cNvSpPr/>
          <p:nvPr/>
        </p:nvSpPr>
        <p:spPr>
          <a:xfrm>
            <a:off x="841248" y="4572000"/>
            <a:ext cx="5029200" cy="777240"/>
          </a:xfrm>
          <a:prstGeom prst="rect">
            <a:avLst/>
          </a:prstGeom>
          <a:noFill/>
          <a:ln/>
        </p:spPr>
        <p:txBody>
          <a:bodyPr wrap="square" lIns="0" tIns="0" rIns="0" bIns="0" rtlCol="0" anchor="t"/>
          <a:lstStyle/>
          <a:p>
            <a:pPr indent="0" marL="0">
              <a:lnSpc>
                <a:spcPct val="116000"/>
              </a:lnSpc>
              <a:buNone/>
            </a:pPr>
            <a:r>
              <a:rPr lang="en-US" sz="1150" dirty="0">
                <a:solidFill>
                  <a:srgbClr val="3E4C63"/>
                </a:solidFill>
                <a:latin typeface="Calibri" pitchFamily="34" charset="0"/>
                <a:ea typeface="Calibri" pitchFamily="34" charset="-122"/>
                <a:cs typeface="Calibri" pitchFamily="34" charset="-120"/>
              </a:rPr>
              <a:t>One method and one rate library for everyone, so two engineers get the same answer for the same inputs.</a:t>
            </a:r>
            <a:endParaRPr lang="en-US" sz="1150" dirty="0"/>
          </a:p>
        </p:txBody>
      </p:sp>
      <p:sp>
        <p:nvSpPr>
          <p:cNvPr id="28" name="Shape 26"/>
          <p:cNvSpPr/>
          <p:nvPr/>
        </p:nvSpPr>
        <p:spPr>
          <a:xfrm>
            <a:off x="6217920" y="3657600"/>
            <a:ext cx="5422392" cy="1783080"/>
          </a:xfrm>
          <a:prstGeom prst="roundRect">
            <a:avLst>
              <a:gd name="adj" fmla="val 35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29" name="Shape 27"/>
          <p:cNvSpPr/>
          <p:nvPr/>
        </p:nvSpPr>
        <p:spPr>
          <a:xfrm>
            <a:off x="6217920" y="3657600"/>
            <a:ext cx="82296" cy="1783080"/>
          </a:xfrm>
          <a:prstGeom prst="rect">
            <a:avLst/>
          </a:prstGeom>
          <a:solidFill>
            <a:srgbClr val="E0900C"/>
          </a:solidFill>
          <a:ln/>
        </p:spPr>
        <p:txBody>
          <a:bodyPr/>
          <a:p/>
        </p:txBody>
      </p:sp>
      <p:sp>
        <p:nvSpPr>
          <p:cNvPr id="30" name="Shape 28"/>
          <p:cNvSpPr/>
          <p:nvPr/>
        </p:nvSpPr>
        <p:spPr>
          <a:xfrm>
            <a:off x="6492240" y="3931920"/>
            <a:ext cx="548640" cy="548640"/>
          </a:xfrm>
          <a:prstGeom prst="ellipse">
            <a:avLst/>
          </a:prstGeom>
          <a:solidFill>
            <a:srgbClr val="FEF6E7"/>
          </a:solidFill>
          <a:ln/>
        </p:spPr>
        <p:txBody>
          <a:bodyPr/>
          <a:p/>
        </p:txBody>
      </p:sp>
      <p:sp>
        <p:nvSpPr>
          <p:cNvPr id="31" name="Text 29"/>
          <p:cNvSpPr/>
          <p:nvPr/>
        </p:nvSpPr>
        <p:spPr>
          <a:xfrm>
            <a:off x="6492240" y="3922776"/>
            <a:ext cx="548640" cy="548640"/>
          </a:xfrm>
          <a:prstGeom prst="rect">
            <a:avLst/>
          </a:prstGeom>
          <a:noFill/>
          <a:ln/>
        </p:spPr>
        <p:txBody>
          <a:bodyPr wrap="square" lIns="0" tIns="0" rIns="0" bIns="0" rtlCol="0" anchor="ctr"/>
          <a:lstStyle/>
          <a:p>
            <a:pPr algn="ctr" indent="0" marL="0">
              <a:buNone/>
            </a:pPr>
            <a:r>
              <a:rPr lang="en-US" sz="2000" b="1" dirty="0">
                <a:solidFill>
                  <a:srgbClr val="E0900C"/>
                </a:solidFill>
                <a:latin typeface="Calibri" pitchFamily="34" charset="0"/>
                <a:ea typeface="Calibri" pitchFamily="34" charset="-122"/>
                <a:cs typeface="Calibri" pitchFamily="34" charset="-120"/>
              </a:rPr>
              <a:t>▤</a:t>
            </a:r>
            <a:endParaRPr lang="en-US" sz="2000" dirty="0"/>
          </a:p>
        </p:txBody>
      </p:sp>
      <p:sp>
        <p:nvSpPr>
          <p:cNvPr id="32" name="Text 30"/>
          <p:cNvSpPr/>
          <p:nvPr/>
        </p:nvSpPr>
        <p:spPr>
          <a:xfrm>
            <a:off x="7187184" y="3968496"/>
            <a:ext cx="4297680" cy="365760"/>
          </a:xfrm>
          <a:prstGeom prst="rect">
            <a:avLst/>
          </a:prstGeom>
          <a:noFill/>
          <a:ln/>
        </p:spPr>
        <p:txBody>
          <a:bodyPr wrap="square" lIns="0" tIns="0" rIns="0" bIns="0" rtlCol="0" anchor="ctr"/>
          <a:lstStyle/>
          <a:p>
            <a:pPr indent="0" marL="0">
              <a:buNone/>
            </a:pPr>
            <a:r>
              <a:rPr lang="en-US" sz="1550" b="1" dirty="0">
                <a:solidFill>
                  <a:srgbClr val="E0900C"/>
                </a:solidFill>
                <a:latin typeface="Calibri" pitchFamily="34" charset="0"/>
                <a:ea typeface="Calibri" pitchFamily="34" charset="-122"/>
                <a:cs typeface="Calibri" pitchFamily="34" charset="-120"/>
              </a:rPr>
              <a:t>Our own data, kept here</a:t>
            </a:r>
            <a:endParaRPr lang="en-US" sz="1550" dirty="0"/>
          </a:p>
        </p:txBody>
      </p:sp>
      <p:sp>
        <p:nvSpPr>
          <p:cNvPr id="33" name="Text 31"/>
          <p:cNvSpPr/>
          <p:nvPr/>
        </p:nvSpPr>
        <p:spPr>
          <a:xfrm>
            <a:off x="6510528" y="4572000"/>
            <a:ext cx="5029200" cy="777240"/>
          </a:xfrm>
          <a:prstGeom prst="rect">
            <a:avLst/>
          </a:prstGeom>
          <a:noFill/>
          <a:ln/>
        </p:spPr>
        <p:txBody>
          <a:bodyPr wrap="square" lIns="0" tIns="0" rIns="0" bIns="0" rtlCol="0" anchor="t"/>
          <a:lstStyle/>
          <a:p>
            <a:pPr indent="0" marL="0">
              <a:lnSpc>
                <a:spcPct val="116000"/>
              </a:lnSpc>
              <a:buNone/>
            </a:pPr>
            <a:r>
              <a:rPr lang="en-US" sz="1150" dirty="0">
                <a:solidFill>
                  <a:srgbClr val="3E4C63"/>
                </a:solidFill>
                <a:latin typeface="Calibri" pitchFamily="34" charset="0"/>
                <a:ea typeface="Calibri" pitchFamily="34" charset="-122"/>
                <a:cs typeface="Calibri" pitchFamily="34" charset="-120"/>
              </a:rPr>
              <a:t>Saved cases and logged prices stay on our laptops. The more real prices we log, the better the bands get.</a:t>
            </a:r>
            <a:endParaRPr lang="en-US" sz="1150" dirty="0"/>
          </a:p>
        </p:txBody>
      </p:sp>
      <p:sp>
        <p:nvSpPr>
          <p:cNvPr id="34" name="Shape 32"/>
          <p:cNvSpPr/>
          <p:nvPr/>
        </p:nvSpPr>
        <p:spPr>
          <a:xfrm>
            <a:off x="548640" y="5669280"/>
            <a:ext cx="11091672" cy="457200"/>
          </a:xfrm>
          <a:prstGeom prst="roundRect">
            <a:avLst>
              <a:gd name="adj" fmla="val 14000"/>
            </a:avLst>
          </a:prstGeom>
          <a:solidFill>
            <a:srgbClr val="EAF1FE"/>
          </a:solidFill>
          <a:ln w="12700">
            <a:solidFill>
              <a:srgbClr val="E4EAF2"/>
            </a:solidFill>
            <a:prstDash val="solid"/>
          </a:ln>
        </p:spPr>
        <p:txBody>
          <a:bodyPr/>
          <a:p/>
        </p:txBody>
      </p:sp>
      <p:sp>
        <p:nvSpPr>
          <p:cNvPr id="35" name="Text 33"/>
          <p:cNvSpPr/>
          <p:nvPr/>
        </p:nvSpPr>
        <p:spPr>
          <a:xfrm>
            <a:off x="914400" y="5669280"/>
            <a:ext cx="10332720" cy="457200"/>
          </a:xfrm>
          <a:prstGeom prst="rect">
            <a:avLst/>
          </a:prstGeom>
          <a:noFill/>
          <a:ln/>
        </p:spPr>
        <p:txBody>
          <a:bodyPr wrap="square" lIns="0" tIns="0" rIns="0" bIns="0" rtlCol="0" anchor="ctr"/>
          <a:lstStyle/>
          <a:p>
            <a:pPr indent="0" marL="0">
              <a:buNone/>
            </a:pPr>
            <a:r>
              <a:rPr lang="en-US" sz="1200" b="1" dirty="0">
                <a:solidFill>
                  <a:srgbClr val="0F1E3D"/>
                </a:solidFill>
                <a:latin typeface="Calibri" pitchFamily="34" charset="0"/>
                <a:ea typeface="Calibri" pitchFamily="34" charset="-122"/>
                <a:cs typeface="Calibri" pitchFamily="34" charset="-120"/>
              </a:rPr>
              <a:t>Net:  </a:t>
            </a:r>
            <a:pPr indent="0" marL="0">
              <a:buNone/>
            </a:pPr>
            <a:r>
              <a:rPr lang="en-US" sz="1200" dirty="0">
                <a:solidFill>
                  <a:srgbClr val="3E4C63"/>
                </a:solidFill>
                <a:latin typeface="Calibri" pitchFamily="34" charset="0"/>
                <a:ea typeface="Calibri" pitchFamily="34" charset="-122"/>
                <a:cs typeface="Calibri" pitchFamily="34" charset="-120"/>
              </a:rPr>
              <a:t>consistent, traceable should-costs, run offline on our own laptops. The savings are still to be proven on real JLR quotes.</a:t>
            </a:r>
            <a:endParaRPr lang="en-US" sz="1200" dirty="0"/>
          </a:p>
        </p:txBody>
      </p:sp>
      <p:sp>
        <p:nvSpPr>
          <p:cNvPr id="36" name="Shape 34"/>
          <p:cNvSpPr/>
          <p:nvPr/>
        </p:nvSpPr>
        <p:spPr>
          <a:xfrm>
            <a:off x="548640" y="6400800"/>
            <a:ext cx="11094415" cy="12802"/>
          </a:xfrm>
          <a:prstGeom prst="rect">
            <a:avLst/>
          </a:prstGeom>
          <a:solidFill>
            <a:srgbClr val="E4EAF2"/>
          </a:solidFill>
          <a:ln/>
        </p:spPr>
        <p:txBody>
          <a:bodyPr/>
          <a:p/>
        </p:txBody>
      </p:sp>
      <p:sp>
        <p:nvSpPr>
          <p:cNvPr id="37" name="Text 35"/>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38" name="Text 36"/>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14 / 15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DA5A0"/>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DA5A0"/>
                </a:solidFill>
                <a:latin typeface="Calibri" pitchFamily="34" charset="0"/>
                <a:ea typeface="Calibri" pitchFamily="34" charset="-122"/>
                <a:cs typeface="Calibri" pitchFamily="34" charset="-120"/>
              </a:rPr>
              <a:t>ROADMAP</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Way forward — the implementation blueprint</a:t>
            </a:r>
            <a:endParaRPr lang="en-US" sz="2400" dirty="0"/>
          </a:p>
        </p:txBody>
      </p:sp>
      <p:sp>
        <p:nvSpPr>
          <p:cNvPr id="9" name="Shape 7"/>
          <p:cNvSpPr/>
          <p:nvPr/>
        </p:nvSpPr>
        <p:spPr>
          <a:xfrm>
            <a:off x="548640" y="1371600"/>
            <a:ext cx="1051560" cy="45720"/>
          </a:xfrm>
          <a:prstGeom prst="rect">
            <a:avLst/>
          </a:prstGeom>
          <a:solidFill>
            <a:srgbClr val="0DA5A0"/>
          </a:solidFill>
          <a:ln/>
        </p:spPr>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A low-risk, staged rollout — prove it on a pilot, scale to the team, then embed it in how we quote and negotiate.</a:t>
            </a:r>
            <a:endParaRPr lang="en-US" sz="1250" dirty="0"/>
          </a:p>
        </p:txBody>
      </p:sp>
      <p:sp>
        <p:nvSpPr>
          <p:cNvPr id="11" name="Shape 9"/>
          <p:cNvSpPr/>
          <p:nvPr/>
        </p:nvSpPr>
        <p:spPr>
          <a:xfrm>
            <a:off x="548640" y="2103120"/>
            <a:ext cx="3520440" cy="3063240"/>
          </a:xfrm>
          <a:prstGeom prst="roundRect">
            <a:avLst>
              <a:gd name="adj" fmla="val 20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sp>
      <p:sp>
        <p:nvSpPr>
          <p:cNvPr id="12" name="Shape 10"/>
          <p:cNvSpPr/>
          <p:nvPr/>
        </p:nvSpPr>
        <p:spPr>
          <a:xfrm>
            <a:off x="548640" y="2103120"/>
            <a:ext cx="82296" cy="3063240"/>
          </a:xfrm>
          <a:prstGeom prst="rect">
            <a:avLst/>
          </a:prstGeom>
          <a:solidFill>
            <a:srgbClr val="2563EB"/>
          </a:solidFill>
          <a:ln/>
        </p:spPr>
      </p:sp>
      <p:sp>
        <p:nvSpPr>
          <p:cNvPr id="13" name="Text 11"/>
          <p:cNvSpPr/>
          <p:nvPr/>
        </p:nvSpPr>
        <p:spPr>
          <a:xfrm>
            <a:off x="804672" y="2322576"/>
            <a:ext cx="3063240" cy="365760"/>
          </a:xfrm>
          <a:prstGeom prst="rect">
            <a:avLst/>
          </a:prstGeom>
          <a:noFill/>
          <a:ln/>
        </p:spPr>
        <p:txBody>
          <a:bodyPr wrap="square" lIns="0" tIns="0" rIns="0" bIns="0" rtlCol="0" anchor="t"/>
          <a:lstStyle/>
          <a:p>
            <a:pPr indent="0" marL="0">
              <a:buNone/>
            </a:pPr>
            <a:r>
              <a:rPr lang="en-US" sz="1450" b="1" dirty="0">
                <a:solidFill>
                  <a:srgbClr val="2563EB"/>
                </a:solidFill>
                <a:latin typeface="Calibri" pitchFamily="34" charset="0"/>
                <a:ea typeface="Calibri" pitchFamily="34" charset="-122"/>
                <a:cs typeface="Calibri" pitchFamily="34" charset="-120"/>
              </a:rPr>
              <a:t>Phase 1 — Pilot</a:t>
            </a:r>
            <a:endParaRPr lang="en-US" sz="1450" dirty="0"/>
          </a:p>
        </p:txBody>
      </p:sp>
      <p:sp>
        <p:nvSpPr>
          <p:cNvPr id="14" name="Shape 12"/>
          <p:cNvSpPr/>
          <p:nvPr/>
        </p:nvSpPr>
        <p:spPr>
          <a:xfrm>
            <a:off x="804672" y="2761488"/>
            <a:ext cx="1463040" cy="310896"/>
          </a:xfrm>
          <a:prstGeom prst="roundRect">
            <a:avLst>
              <a:gd name="adj" fmla="val 47059"/>
            </a:avLst>
          </a:prstGeom>
          <a:solidFill>
            <a:srgbClr val="EAF1FE"/>
          </a:solidFill>
          <a:ln/>
        </p:spPr>
      </p:sp>
      <p:sp>
        <p:nvSpPr>
          <p:cNvPr id="15" name="Text 13"/>
          <p:cNvSpPr/>
          <p:nvPr/>
        </p:nvSpPr>
        <p:spPr>
          <a:xfrm>
            <a:off x="804672" y="2761488"/>
            <a:ext cx="1463040" cy="310896"/>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Weeks 0–6</a:t>
            </a:r>
            <a:endParaRPr lang="en-US" sz="950" dirty="0"/>
          </a:p>
        </p:txBody>
      </p:sp>
      <p:sp>
        <p:nvSpPr>
          <p:cNvPr id="16" name="Shape 14"/>
          <p:cNvSpPr/>
          <p:nvPr/>
        </p:nvSpPr>
        <p:spPr>
          <a:xfrm>
            <a:off x="822960" y="3291840"/>
            <a:ext cx="256032" cy="256032"/>
          </a:xfrm>
          <a:prstGeom prst="ellipse">
            <a:avLst/>
          </a:prstGeom>
          <a:solidFill>
            <a:srgbClr val="EAF1FE"/>
          </a:solidFill>
          <a:ln/>
        </p:spPr>
      </p:sp>
      <p:sp>
        <p:nvSpPr>
          <p:cNvPr id="17" name="Text 15"/>
          <p:cNvSpPr/>
          <p:nvPr/>
        </p:nvSpPr>
        <p:spPr>
          <a:xfrm>
            <a:off x="822960" y="3282696"/>
            <a:ext cx="256032" cy="256032"/>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a:t>
            </a:r>
            <a:endParaRPr lang="en-US" sz="900" dirty="0"/>
          </a:p>
        </p:txBody>
      </p:sp>
      <p:sp>
        <p:nvSpPr>
          <p:cNvPr id="18" name="Text 16"/>
          <p:cNvSpPr/>
          <p:nvPr/>
        </p:nvSpPr>
        <p:spPr>
          <a:xfrm>
            <a:off x="1170432" y="32735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Stand up on-premise</a:t>
            </a:r>
            <a:endParaRPr lang="en-US" sz="1030" dirty="0"/>
          </a:p>
        </p:txBody>
      </p:sp>
      <p:sp>
        <p:nvSpPr>
          <p:cNvPr id="19" name="Shape 17"/>
          <p:cNvSpPr/>
          <p:nvPr/>
        </p:nvSpPr>
        <p:spPr>
          <a:xfrm>
            <a:off x="822960" y="3749040"/>
            <a:ext cx="256032" cy="256032"/>
          </a:xfrm>
          <a:prstGeom prst="ellipse">
            <a:avLst/>
          </a:prstGeom>
          <a:solidFill>
            <a:srgbClr val="EAF1FE"/>
          </a:solidFill>
          <a:ln/>
        </p:spPr>
      </p:sp>
      <p:sp>
        <p:nvSpPr>
          <p:cNvPr id="20" name="Text 18"/>
          <p:cNvSpPr/>
          <p:nvPr/>
        </p:nvSpPr>
        <p:spPr>
          <a:xfrm>
            <a:off x="822960" y="3739896"/>
            <a:ext cx="256032" cy="256032"/>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a:t>
            </a:r>
            <a:endParaRPr lang="en-US" sz="900" dirty="0"/>
          </a:p>
        </p:txBody>
      </p:sp>
      <p:sp>
        <p:nvSpPr>
          <p:cNvPr id="21" name="Text 19"/>
          <p:cNvSpPr/>
          <p:nvPr/>
        </p:nvSpPr>
        <p:spPr>
          <a:xfrm>
            <a:off x="1170432" y="37307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Seed memory with historic quotes</a:t>
            </a:r>
            <a:endParaRPr lang="en-US" sz="1030" dirty="0"/>
          </a:p>
        </p:txBody>
      </p:sp>
      <p:sp>
        <p:nvSpPr>
          <p:cNvPr id="22" name="Shape 20"/>
          <p:cNvSpPr/>
          <p:nvPr/>
        </p:nvSpPr>
        <p:spPr>
          <a:xfrm>
            <a:off x="822960" y="4206240"/>
            <a:ext cx="256032" cy="256032"/>
          </a:xfrm>
          <a:prstGeom prst="ellipse">
            <a:avLst/>
          </a:prstGeom>
          <a:solidFill>
            <a:srgbClr val="EAF1FE"/>
          </a:solidFill>
          <a:ln/>
        </p:spPr>
      </p:sp>
      <p:sp>
        <p:nvSpPr>
          <p:cNvPr id="23" name="Text 21"/>
          <p:cNvSpPr/>
          <p:nvPr/>
        </p:nvSpPr>
        <p:spPr>
          <a:xfrm>
            <a:off x="822960" y="4197096"/>
            <a:ext cx="256032" cy="256032"/>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a:t>
            </a:r>
            <a:endParaRPr lang="en-US" sz="900" dirty="0"/>
          </a:p>
        </p:txBody>
      </p:sp>
      <p:sp>
        <p:nvSpPr>
          <p:cNvPr id="24" name="Text 22"/>
          <p:cNvSpPr/>
          <p:nvPr/>
        </p:nvSpPr>
        <p:spPr>
          <a:xfrm>
            <a:off x="1170432" y="41879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Cost 20–30 live parts</a:t>
            </a:r>
            <a:endParaRPr lang="en-US" sz="1030" dirty="0"/>
          </a:p>
        </p:txBody>
      </p:sp>
      <p:sp>
        <p:nvSpPr>
          <p:cNvPr id="25" name="Shape 23"/>
          <p:cNvSpPr/>
          <p:nvPr/>
        </p:nvSpPr>
        <p:spPr>
          <a:xfrm>
            <a:off x="822960" y="4663440"/>
            <a:ext cx="256032" cy="256032"/>
          </a:xfrm>
          <a:prstGeom prst="ellipse">
            <a:avLst/>
          </a:prstGeom>
          <a:solidFill>
            <a:srgbClr val="EAF1FE"/>
          </a:solidFill>
          <a:ln/>
        </p:spPr>
      </p:sp>
      <p:sp>
        <p:nvSpPr>
          <p:cNvPr id="26" name="Text 24"/>
          <p:cNvSpPr/>
          <p:nvPr/>
        </p:nvSpPr>
        <p:spPr>
          <a:xfrm>
            <a:off x="822960" y="4654296"/>
            <a:ext cx="256032" cy="256032"/>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a:t>
            </a:r>
            <a:endParaRPr lang="en-US" sz="900" dirty="0"/>
          </a:p>
        </p:txBody>
      </p:sp>
      <p:sp>
        <p:nvSpPr>
          <p:cNvPr id="27" name="Text 25"/>
          <p:cNvSpPr/>
          <p:nvPr/>
        </p:nvSpPr>
        <p:spPr>
          <a:xfrm>
            <a:off x="1170432" y="46451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Baseline accuracy vs actuals</a:t>
            </a:r>
            <a:endParaRPr lang="en-US" sz="1030" dirty="0"/>
          </a:p>
        </p:txBody>
      </p:sp>
      <p:sp>
        <p:nvSpPr>
          <p:cNvPr id="28" name="Text 26"/>
          <p:cNvSpPr/>
          <p:nvPr/>
        </p:nvSpPr>
        <p:spPr>
          <a:xfrm>
            <a:off x="4078224" y="3383280"/>
            <a:ext cx="256032" cy="548640"/>
          </a:xfrm>
          <a:prstGeom prst="rect">
            <a:avLst/>
          </a:prstGeom>
          <a:noFill/>
          <a:ln/>
        </p:spPr>
        <p:txBody>
          <a:bodyPr wrap="square" lIns="0" tIns="0" rIns="0" bIns="0" rtlCol="0" anchor="ctr"/>
          <a:lstStyle/>
          <a:p>
            <a:pPr algn="ctr" indent="0" marL="0">
              <a:buNone/>
            </a:pPr>
            <a:r>
              <a:rPr lang="en-US" sz="2000" b="1" dirty="0">
                <a:solidFill>
                  <a:srgbClr val="8A97A8"/>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4325112" y="2103120"/>
            <a:ext cx="3520440" cy="3063240"/>
          </a:xfrm>
          <a:prstGeom prst="roundRect">
            <a:avLst>
              <a:gd name="adj" fmla="val 20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sp>
      <p:sp>
        <p:nvSpPr>
          <p:cNvPr id="30" name="Shape 28"/>
          <p:cNvSpPr/>
          <p:nvPr/>
        </p:nvSpPr>
        <p:spPr>
          <a:xfrm>
            <a:off x="4325112" y="2103120"/>
            <a:ext cx="82296" cy="3063240"/>
          </a:xfrm>
          <a:prstGeom prst="rect">
            <a:avLst/>
          </a:prstGeom>
          <a:solidFill>
            <a:srgbClr val="7C3AED"/>
          </a:solidFill>
          <a:ln/>
        </p:spPr>
      </p:sp>
      <p:sp>
        <p:nvSpPr>
          <p:cNvPr id="31" name="Text 29"/>
          <p:cNvSpPr/>
          <p:nvPr/>
        </p:nvSpPr>
        <p:spPr>
          <a:xfrm>
            <a:off x="4581144" y="2322576"/>
            <a:ext cx="3063240" cy="365760"/>
          </a:xfrm>
          <a:prstGeom prst="rect">
            <a:avLst/>
          </a:prstGeom>
          <a:noFill/>
          <a:ln/>
        </p:spPr>
        <p:txBody>
          <a:bodyPr wrap="square" lIns="0" tIns="0" rIns="0" bIns="0" rtlCol="0" anchor="t"/>
          <a:lstStyle/>
          <a:p>
            <a:pPr indent="0" marL="0">
              <a:buNone/>
            </a:pPr>
            <a:r>
              <a:rPr lang="en-US" sz="1450" b="1" dirty="0">
                <a:solidFill>
                  <a:srgbClr val="7C3AED"/>
                </a:solidFill>
                <a:latin typeface="Calibri" pitchFamily="34" charset="0"/>
                <a:ea typeface="Calibri" pitchFamily="34" charset="-122"/>
                <a:cs typeface="Calibri" pitchFamily="34" charset="-120"/>
              </a:rPr>
              <a:t>Phase 2 — Scale</a:t>
            </a:r>
            <a:endParaRPr lang="en-US" sz="1450" dirty="0"/>
          </a:p>
        </p:txBody>
      </p:sp>
      <p:sp>
        <p:nvSpPr>
          <p:cNvPr id="32" name="Shape 30"/>
          <p:cNvSpPr/>
          <p:nvPr/>
        </p:nvSpPr>
        <p:spPr>
          <a:xfrm>
            <a:off x="4581144" y="2761488"/>
            <a:ext cx="1463040" cy="310896"/>
          </a:xfrm>
          <a:prstGeom prst="roundRect">
            <a:avLst>
              <a:gd name="adj" fmla="val 47059"/>
            </a:avLst>
          </a:prstGeom>
          <a:solidFill>
            <a:srgbClr val="F3EEFE"/>
          </a:solidFill>
          <a:ln/>
        </p:spPr>
      </p:sp>
      <p:sp>
        <p:nvSpPr>
          <p:cNvPr id="33" name="Text 31"/>
          <p:cNvSpPr/>
          <p:nvPr/>
        </p:nvSpPr>
        <p:spPr>
          <a:xfrm>
            <a:off x="4581144" y="2761488"/>
            <a:ext cx="1463040" cy="310896"/>
          </a:xfrm>
          <a:prstGeom prst="rect">
            <a:avLst/>
          </a:prstGeom>
          <a:noFill/>
          <a:ln/>
        </p:spPr>
        <p:txBody>
          <a:bodyPr wrap="square" lIns="0" tIns="0" rIns="0" bIns="0" rtlCol="0" anchor="ctr"/>
          <a:lstStyle/>
          <a:p>
            <a:pPr algn="ctr" indent="0" marL="0">
              <a:buNone/>
            </a:pPr>
            <a:r>
              <a:rPr lang="en-US" sz="950" b="1" dirty="0">
                <a:solidFill>
                  <a:srgbClr val="7C3AED"/>
                </a:solidFill>
                <a:latin typeface="Calibri" pitchFamily="34" charset="0"/>
                <a:ea typeface="Calibri" pitchFamily="34" charset="-122"/>
                <a:cs typeface="Calibri" pitchFamily="34" charset="-120"/>
              </a:rPr>
              <a:t>Weeks 6–16</a:t>
            </a:r>
            <a:endParaRPr lang="en-US" sz="950" dirty="0"/>
          </a:p>
        </p:txBody>
      </p:sp>
      <p:sp>
        <p:nvSpPr>
          <p:cNvPr id="34" name="Shape 32"/>
          <p:cNvSpPr/>
          <p:nvPr/>
        </p:nvSpPr>
        <p:spPr>
          <a:xfrm>
            <a:off x="4599432" y="3291840"/>
            <a:ext cx="256032" cy="256032"/>
          </a:xfrm>
          <a:prstGeom prst="ellipse">
            <a:avLst/>
          </a:prstGeom>
          <a:solidFill>
            <a:srgbClr val="F3EEFE"/>
          </a:solidFill>
          <a:ln/>
        </p:spPr>
      </p:sp>
      <p:sp>
        <p:nvSpPr>
          <p:cNvPr id="35" name="Text 33"/>
          <p:cNvSpPr/>
          <p:nvPr/>
        </p:nvSpPr>
        <p:spPr>
          <a:xfrm>
            <a:off x="4599432" y="3282696"/>
            <a:ext cx="256032" cy="256032"/>
          </a:xfrm>
          <a:prstGeom prst="rect">
            <a:avLst/>
          </a:prstGeom>
          <a:noFill/>
          <a:ln/>
        </p:spPr>
        <p:txBody>
          <a:bodyPr wrap="square" lIns="0" tIns="0" rIns="0" bIns="0"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a:t>
            </a:r>
            <a:endParaRPr lang="en-US" sz="900" dirty="0"/>
          </a:p>
        </p:txBody>
      </p:sp>
      <p:sp>
        <p:nvSpPr>
          <p:cNvPr id="36" name="Text 34"/>
          <p:cNvSpPr/>
          <p:nvPr/>
        </p:nvSpPr>
        <p:spPr>
          <a:xfrm>
            <a:off x="4946904" y="32735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Roll out to costing &amp; sourcing</a:t>
            </a:r>
            <a:endParaRPr lang="en-US" sz="1030" dirty="0"/>
          </a:p>
        </p:txBody>
      </p:sp>
      <p:sp>
        <p:nvSpPr>
          <p:cNvPr id="37" name="Shape 35"/>
          <p:cNvSpPr/>
          <p:nvPr/>
        </p:nvSpPr>
        <p:spPr>
          <a:xfrm>
            <a:off x="4599432" y="3749040"/>
            <a:ext cx="256032" cy="256032"/>
          </a:xfrm>
          <a:prstGeom prst="ellipse">
            <a:avLst/>
          </a:prstGeom>
          <a:solidFill>
            <a:srgbClr val="F3EEFE"/>
          </a:solidFill>
          <a:ln/>
        </p:spPr>
      </p:sp>
      <p:sp>
        <p:nvSpPr>
          <p:cNvPr id="38" name="Text 36"/>
          <p:cNvSpPr/>
          <p:nvPr/>
        </p:nvSpPr>
        <p:spPr>
          <a:xfrm>
            <a:off x="4599432" y="3739896"/>
            <a:ext cx="256032" cy="256032"/>
          </a:xfrm>
          <a:prstGeom prst="rect">
            <a:avLst/>
          </a:prstGeom>
          <a:noFill/>
          <a:ln/>
        </p:spPr>
        <p:txBody>
          <a:bodyPr wrap="square" lIns="0" tIns="0" rIns="0" bIns="0"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a:t>
            </a:r>
            <a:endParaRPr lang="en-US" sz="900" dirty="0"/>
          </a:p>
        </p:txBody>
      </p:sp>
      <p:sp>
        <p:nvSpPr>
          <p:cNvPr id="39" name="Text 37"/>
          <p:cNvSpPr/>
          <p:nvPr/>
        </p:nvSpPr>
        <p:spPr>
          <a:xfrm>
            <a:off x="4946904" y="37307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"Log Actual £" as routine</a:t>
            </a:r>
            <a:endParaRPr lang="en-US" sz="1030" dirty="0"/>
          </a:p>
        </p:txBody>
      </p:sp>
      <p:sp>
        <p:nvSpPr>
          <p:cNvPr id="40" name="Shape 38"/>
          <p:cNvSpPr/>
          <p:nvPr/>
        </p:nvSpPr>
        <p:spPr>
          <a:xfrm>
            <a:off x="4599432" y="4206240"/>
            <a:ext cx="256032" cy="256032"/>
          </a:xfrm>
          <a:prstGeom prst="ellipse">
            <a:avLst/>
          </a:prstGeom>
          <a:solidFill>
            <a:srgbClr val="F3EEFE"/>
          </a:solidFill>
          <a:ln/>
        </p:spPr>
      </p:sp>
      <p:sp>
        <p:nvSpPr>
          <p:cNvPr id="41" name="Text 39"/>
          <p:cNvSpPr/>
          <p:nvPr/>
        </p:nvSpPr>
        <p:spPr>
          <a:xfrm>
            <a:off x="4599432" y="4197096"/>
            <a:ext cx="256032" cy="256032"/>
          </a:xfrm>
          <a:prstGeom prst="rect">
            <a:avLst/>
          </a:prstGeom>
          <a:noFill/>
          <a:ln/>
        </p:spPr>
        <p:txBody>
          <a:bodyPr wrap="square" lIns="0" tIns="0" rIns="0" bIns="0"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a:t>
            </a:r>
            <a:endParaRPr lang="en-US" sz="900" dirty="0"/>
          </a:p>
        </p:txBody>
      </p:sp>
      <p:sp>
        <p:nvSpPr>
          <p:cNvPr id="42" name="Text 40"/>
          <p:cNvSpPr/>
          <p:nvPr/>
        </p:nvSpPr>
        <p:spPr>
          <a:xfrm>
            <a:off x="4946904" y="41879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Wire into RFQ workflow</a:t>
            </a:r>
            <a:endParaRPr lang="en-US" sz="1030" dirty="0"/>
          </a:p>
        </p:txBody>
      </p:sp>
      <p:sp>
        <p:nvSpPr>
          <p:cNvPr id="43" name="Shape 41"/>
          <p:cNvSpPr/>
          <p:nvPr/>
        </p:nvSpPr>
        <p:spPr>
          <a:xfrm>
            <a:off x="4599432" y="4663440"/>
            <a:ext cx="256032" cy="256032"/>
          </a:xfrm>
          <a:prstGeom prst="ellipse">
            <a:avLst/>
          </a:prstGeom>
          <a:solidFill>
            <a:srgbClr val="F3EEFE"/>
          </a:solidFill>
          <a:ln/>
        </p:spPr>
      </p:sp>
      <p:sp>
        <p:nvSpPr>
          <p:cNvPr id="44" name="Text 42"/>
          <p:cNvSpPr/>
          <p:nvPr/>
        </p:nvSpPr>
        <p:spPr>
          <a:xfrm>
            <a:off x="4599432" y="4654296"/>
            <a:ext cx="256032" cy="256032"/>
          </a:xfrm>
          <a:prstGeom prst="rect">
            <a:avLst/>
          </a:prstGeom>
          <a:noFill/>
          <a:ln/>
        </p:spPr>
        <p:txBody>
          <a:bodyPr wrap="square" lIns="0" tIns="0" rIns="0" bIns="0"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a:t>
            </a:r>
            <a:endParaRPr lang="en-US" sz="900" dirty="0"/>
          </a:p>
        </p:txBody>
      </p:sp>
      <p:sp>
        <p:nvSpPr>
          <p:cNvPr id="45" name="Text 43"/>
          <p:cNvSpPr/>
          <p:nvPr/>
        </p:nvSpPr>
        <p:spPr>
          <a:xfrm>
            <a:off x="4946904" y="46451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Monthly agent findings review</a:t>
            </a:r>
            <a:endParaRPr lang="en-US" sz="1030" dirty="0"/>
          </a:p>
        </p:txBody>
      </p:sp>
      <p:sp>
        <p:nvSpPr>
          <p:cNvPr id="46" name="Text 44"/>
          <p:cNvSpPr/>
          <p:nvPr/>
        </p:nvSpPr>
        <p:spPr>
          <a:xfrm>
            <a:off x="7854696" y="3383280"/>
            <a:ext cx="256032" cy="548640"/>
          </a:xfrm>
          <a:prstGeom prst="rect">
            <a:avLst/>
          </a:prstGeom>
          <a:noFill/>
          <a:ln/>
        </p:spPr>
        <p:txBody>
          <a:bodyPr wrap="square" lIns="0" tIns="0" rIns="0" bIns="0" rtlCol="0" anchor="ctr"/>
          <a:lstStyle/>
          <a:p>
            <a:pPr algn="ctr" indent="0" marL="0">
              <a:buNone/>
            </a:pPr>
            <a:r>
              <a:rPr lang="en-US" sz="2000" b="1" dirty="0">
                <a:solidFill>
                  <a:srgbClr val="8A97A8"/>
                </a:solidFill>
                <a:latin typeface="Calibri" pitchFamily="34" charset="0"/>
                <a:ea typeface="Calibri" pitchFamily="34" charset="-122"/>
                <a:cs typeface="Calibri" pitchFamily="34" charset="-120"/>
              </a:rPr>
              <a:t>→</a:t>
            </a:r>
            <a:endParaRPr lang="en-US" sz="2000" dirty="0"/>
          </a:p>
        </p:txBody>
      </p:sp>
      <p:sp>
        <p:nvSpPr>
          <p:cNvPr id="47" name="Shape 45"/>
          <p:cNvSpPr/>
          <p:nvPr/>
        </p:nvSpPr>
        <p:spPr>
          <a:xfrm>
            <a:off x="8101584" y="2103120"/>
            <a:ext cx="3520440" cy="3063240"/>
          </a:xfrm>
          <a:prstGeom prst="roundRect">
            <a:avLst>
              <a:gd name="adj" fmla="val 20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sp>
      <p:sp>
        <p:nvSpPr>
          <p:cNvPr id="48" name="Shape 46"/>
          <p:cNvSpPr/>
          <p:nvPr/>
        </p:nvSpPr>
        <p:spPr>
          <a:xfrm>
            <a:off x="8101584" y="2103120"/>
            <a:ext cx="82296" cy="3063240"/>
          </a:xfrm>
          <a:prstGeom prst="rect">
            <a:avLst/>
          </a:prstGeom>
          <a:solidFill>
            <a:srgbClr val="0EA472"/>
          </a:solidFill>
          <a:ln/>
        </p:spPr>
      </p:sp>
      <p:sp>
        <p:nvSpPr>
          <p:cNvPr id="49" name="Text 47"/>
          <p:cNvSpPr/>
          <p:nvPr/>
        </p:nvSpPr>
        <p:spPr>
          <a:xfrm>
            <a:off x="8357616" y="2322576"/>
            <a:ext cx="3063240" cy="365760"/>
          </a:xfrm>
          <a:prstGeom prst="rect">
            <a:avLst/>
          </a:prstGeom>
          <a:noFill/>
          <a:ln/>
        </p:spPr>
        <p:txBody>
          <a:bodyPr wrap="square" lIns="0" tIns="0" rIns="0" bIns="0" rtlCol="0" anchor="t"/>
          <a:lstStyle/>
          <a:p>
            <a:pPr indent="0" marL="0">
              <a:buNone/>
            </a:pPr>
            <a:r>
              <a:rPr lang="en-US" sz="1450" b="1" dirty="0">
                <a:solidFill>
                  <a:srgbClr val="0EA472"/>
                </a:solidFill>
                <a:latin typeface="Calibri" pitchFamily="34" charset="0"/>
                <a:ea typeface="Calibri" pitchFamily="34" charset="-122"/>
                <a:cs typeface="Calibri" pitchFamily="34" charset="-120"/>
              </a:rPr>
              <a:t>Phase 3 — Embed</a:t>
            </a:r>
            <a:endParaRPr lang="en-US" sz="1450" dirty="0"/>
          </a:p>
        </p:txBody>
      </p:sp>
      <p:sp>
        <p:nvSpPr>
          <p:cNvPr id="50" name="Shape 48"/>
          <p:cNvSpPr/>
          <p:nvPr/>
        </p:nvSpPr>
        <p:spPr>
          <a:xfrm>
            <a:off x="8357616" y="2761488"/>
            <a:ext cx="1463040" cy="310896"/>
          </a:xfrm>
          <a:prstGeom prst="roundRect">
            <a:avLst>
              <a:gd name="adj" fmla="val 47059"/>
            </a:avLst>
          </a:prstGeom>
          <a:solidFill>
            <a:srgbClr val="E7F7F0"/>
          </a:solidFill>
          <a:ln/>
        </p:spPr>
      </p:sp>
      <p:sp>
        <p:nvSpPr>
          <p:cNvPr id="51" name="Text 49"/>
          <p:cNvSpPr/>
          <p:nvPr/>
        </p:nvSpPr>
        <p:spPr>
          <a:xfrm>
            <a:off x="8357616" y="2761488"/>
            <a:ext cx="1463040" cy="310896"/>
          </a:xfrm>
          <a:prstGeom prst="rect">
            <a:avLst/>
          </a:prstGeom>
          <a:noFill/>
          <a:ln/>
        </p:spPr>
        <p:txBody>
          <a:bodyPr wrap="square" lIns="0" tIns="0" rIns="0" bIns="0" rtlCol="0" anchor="ctr"/>
          <a:lstStyle/>
          <a:p>
            <a:pPr algn="ctr" indent="0" marL="0">
              <a:buNone/>
            </a:pPr>
            <a:r>
              <a:rPr lang="en-US" sz="950" b="1" dirty="0">
                <a:solidFill>
                  <a:srgbClr val="0EA472"/>
                </a:solidFill>
                <a:latin typeface="Calibri" pitchFamily="34" charset="0"/>
                <a:ea typeface="Calibri" pitchFamily="34" charset="-122"/>
                <a:cs typeface="Calibri" pitchFamily="34" charset="-120"/>
              </a:rPr>
              <a:t>Quarter 2+</a:t>
            </a:r>
            <a:endParaRPr lang="en-US" sz="950" dirty="0"/>
          </a:p>
        </p:txBody>
      </p:sp>
      <p:sp>
        <p:nvSpPr>
          <p:cNvPr id="52" name="Shape 50"/>
          <p:cNvSpPr/>
          <p:nvPr/>
        </p:nvSpPr>
        <p:spPr>
          <a:xfrm>
            <a:off x="8375904" y="3291840"/>
            <a:ext cx="256032" cy="256032"/>
          </a:xfrm>
          <a:prstGeom prst="ellipse">
            <a:avLst/>
          </a:prstGeom>
          <a:solidFill>
            <a:srgbClr val="E7F7F0"/>
          </a:solidFill>
          <a:ln/>
        </p:spPr>
      </p:sp>
      <p:sp>
        <p:nvSpPr>
          <p:cNvPr id="53" name="Text 51"/>
          <p:cNvSpPr/>
          <p:nvPr/>
        </p:nvSpPr>
        <p:spPr>
          <a:xfrm>
            <a:off x="8375904" y="3282696"/>
            <a:ext cx="256032" cy="256032"/>
          </a:xfrm>
          <a:prstGeom prst="rect">
            <a:avLst/>
          </a:prstGeom>
          <a:noFill/>
          <a:ln/>
        </p:spPr>
        <p:txBody>
          <a:bodyPr wrap="square" lIns="0" tIns="0" rIns="0" bIns="0" rtlCol="0" anchor="ctr"/>
          <a:lstStyle/>
          <a:p>
            <a:pPr algn="ctr" indent="0" marL="0">
              <a:buNone/>
            </a:pPr>
            <a:r>
              <a:rPr lang="en-US" sz="900" b="1" dirty="0">
                <a:solidFill>
                  <a:srgbClr val="0EA472"/>
                </a:solidFill>
                <a:latin typeface="Calibri" pitchFamily="34" charset="0"/>
                <a:ea typeface="Calibri" pitchFamily="34" charset="-122"/>
                <a:cs typeface="Calibri" pitchFamily="34" charset="-120"/>
              </a:rPr>
              <a:t>✓</a:t>
            </a:r>
            <a:endParaRPr lang="en-US" sz="900" dirty="0"/>
          </a:p>
        </p:txBody>
      </p:sp>
      <p:sp>
        <p:nvSpPr>
          <p:cNvPr id="54" name="Text 52"/>
          <p:cNvSpPr/>
          <p:nvPr/>
        </p:nvSpPr>
        <p:spPr>
          <a:xfrm>
            <a:off x="8723376" y="32735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Negotiation packs as standard</a:t>
            </a:r>
            <a:endParaRPr lang="en-US" sz="1030" dirty="0"/>
          </a:p>
        </p:txBody>
      </p:sp>
      <p:sp>
        <p:nvSpPr>
          <p:cNvPr id="55" name="Shape 53"/>
          <p:cNvSpPr/>
          <p:nvPr/>
        </p:nvSpPr>
        <p:spPr>
          <a:xfrm>
            <a:off x="8375904" y="3749040"/>
            <a:ext cx="256032" cy="256032"/>
          </a:xfrm>
          <a:prstGeom prst="ellipse">
            <a:avLst/>
          </a:prstGeom>
          <a:solidFill>
            <a:srgbClr val="E7F7F0"/>
          </a:solidFill>
          <a:ln/>
        </p:spPr>
      </p:sp>
      <p:sp>
        <p:nvSpPr>
          <p:cNvPr id="56" name="Text 54"/>
          <p:cNvSpPr/>
          <p:nvPr/>
        </p:nvSpPr>
        <p:spPr>
          <a:xfrm>
            <a:off x="8375904" y="3739896"/>
            <a:ext cx="256032" cy="256032"/>
          </a:xfrm>
          <a:prstGeom prst="rect">
            <a:avLst/>
          </a:prstGeom>
          <a:noFill/>
          <a:ln/>
        </p:spPr>
        <p:txBody>
          <a:bodyPr wrap="square" lIns="0" tIns="0" rIns="0" bIns="0" rtlCol="0" anchor="ctr"/>
          <a:lstStyle/>
          <a:p>
            <a:pPr algn="ctr" indent="0" marL="0">
              <a:buNone/>
            </a:pPr>
            <a:r>
              <a:rPr lang="en-US" sz="900" b="1" dirty="0">
                <a:solidFill>
                  <a:srgbClr val="0EA472"/>
                </a:solidFill>
                <a:latin typeface="Calibri" pitchFamily="34" charset="0"/>
                <a:ea typeface="Calibri" pitchFamily="34" charset="-122"/>
                <a:cs typeface="Calibri" pitchFamily="34" charset="-120"/>
              </a:rPr>
              <a:t>✓</a:t>
            </a:r>
            <a:endParaRPr lang="en-US" sz="900" dirty="0"/>
          </a:p>
        </p:txBody>
      </p:sp>
      <p:sp>
        <p:nvSpPr>
          <p:cNvPr id="57" name="Text 55"/>
          <p:cNvSpPr/>
          <p:nvPr/>
        </p:nvSpPr>
        <p:spPr>
          <a:xfrm>
            <a:off x="8723376" y="37307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Portfolio what-if &amp; risk</a:t>
            </a:r>
            <a:endParaRPr lang="en-US" sz="1030" dirty="0"/>
          </a:p>
        </p:txBody>
      </p:sp>
      <p:sp>
        <p:nvSpPr>
          <p:cNvPr id="58" name="Shape 56"/>
          <p:cNvSpPr/>
          <p:nvPr/>
        </p:nvSpPr>
        <p:spPr>
          <a:xfrm>
            <a:off x="8375904" y="4206240"/>
            <a:ext cx="256032" cy="256032"/>
          </a:xfrm>
          <a:prstGeom prst="ellipse">
            <a:avLst/>
          </a:prstGeom>
          <a:solidFill>
            <a:srgbClr val="E7F7F0"/>
          </a:solidFill>
          <a:ln/>
        </p:spPr>
      </p:sp>
      <p:sp>
        <p:nvSpPr>
          <p:cNvPr id="59" name="Text 57"/>
          <p:cNvSpPr/>
          <p:nvPr/>
        </p:nvSpPr>
        <p:spPr>
          <a:xfrm>
            <a:off x="8375904" y="4197096"/>
            <a:ext cx="256032" cy="256032"/>
          </a:xfrm>
          <a:prstGeom prst="rect">
            <a:avLst/>
          </a:prstGeom>
          <a:noFill/>
          <a:ln/>
        </p:spPr>
        <p:txBody>
          <a:bodyPr wrap="square" lIns="0" tIns="0" rIns="0" bIns="0" rtlCol="0" anchor="ctr"/>
          <a:lstStyle/>
          <a:p>
            <a:pPr algn="ctr" indent="0" marL="0">
              <a:buNone/>
            </a:pPr>
            <a:r>
              <a:rPr lang="en-US" sz="900" b="1" dirty="0">
                <a:solidFill>
                  <a:srgbClr val="0EA472"/>
                </a:solidFill>
                <a:latin typeface="Calibri" pitchFamily="34" charset="0"/>
                <a:ea typeface="Calibri" pitchFamily="34" charset="-122"/>
                <a:cs typeface="Calibri" pitchFamily="34" charset="-120"/>
              </a:rPr>
              <a:t>✓</a:t>
            </a:r>
            <a:endParaRPr lang="en-US" sz="900" dirty="0"/>
          </a:p>
        </p:txBody>
      </p:sp>
      <p:sp>
        <p:nvSpPr>
          <p:cNvPr id="60" name="Text 58"/>
          <p:cNvSpPr/>
          <p:nvPr/>
        </p:nvSpPr>
        <p:spPr>
          <a:xfrm>
            <a:off x="8723376" y="41879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Live distributor / market feeds</a:t>
            </a:r>
            <a:endParaRPr lang="en-US" sz="1030" dirty="0"/>
          </a:p>
        </p:txBody>
      </p:sp>
      <p:sp>
        <p:nvSpPr>
          <p:cNvPr id="61" name="Shape 59"/>
          <p:cNvSpPr/>
          <p:nvPr/>
        </p:nvSpPr>
        <p:spPr>
          <a:xfrm>
            <a:off x="8375904" y="4663440"/>
            <a:ext cx="256032" cy="256032"/>
          </a:xfrm>
          <a:prstGeom prst="ellipse">
            <a:avLst/>
          </a:prstGeom>
          <a:solidFill>
            <a:srgbClr val="E7F7F0"/>
          </a:solidFill>
          <a:ln/>
        </p:spPr>
      </p:sp>
      <p:sp>
        <p:nvSpPr>
          <p:cNvPr id="62" name="Text 60"/>
          <p:cNvSpPr/>
          <p:nvPr/>
        </p:nvSpPr>
        <p:spPr>
          <a:xfrm>
            <a:off x="8375904" y="4654296"/>
            <a:ext cx="256032" cy="256032"/>
          </a:xfrm>
          <a:prstGeom prst="rect">
            <a:avLst/>
          </a:prstGeom>
          <a:noFill/>
          <a:ln/>
        </p:spPr>
        <p:txBody>
          <a:bodyPr wrap="square" lIns="0" tIns="0" rIns="0" bIns="0" rtlCol="0" anchor="ctr"/>
          <a:lstStyle/>
          <a:p>
            <a:pPr algn="ctr" indent="0" marL="0">
              <a:buNone/>
            </a:pPr>
            <a:r>
              <a:rPr lang="en-US" sz="900" b="1" dirty="0">
                <a:solidFill>
                  <a:srgbClr val="0EA472"/>
                </a:solidFill>
                <a:latin typeface="Calibri" pitchFamily="34" charset="0"/>
                <a:ea typeface="Calibri" pitchFamily="34" charset="-122"/>
                <a:cs typeface="Calibri" pitchFamily="34" charset="-120"/>
              </a:rPr>
              <a:t>✓</a:t>
            </a:r>
            <a:endParaRPr lang="en-US" sz="900" dirty="0"/>
          </a:p>
        </p:txBody>
      </p:sp>
      <p:sp>
        <p:nvSpPr>
          <p:cNvPr id="63" name="Text 61"/>
          <p:cNvSpPr/>
          <p:nvPr/>
        </p:nvSpPr>
        <p:spPr>
          <a:xfrm>
            <a:off x="8723376" y="46451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KPI: £ saved &amp; cycle-time</a:t>
            </a:r>
            <a:endParaRPr lang="en-US" sz="1030" dirty="0"/>
          </a:p>
        </p:txBody>
      </p:sp>
      <p:sp>
        <p:nvSpPr>
          <p:cNvPr id="64" name="Shape 62"/>
          <p:cNvSpPr/>
          <p:nvPr/>
        </p:nvSpPr>
        <p:spPr>
          <a:xfrm>
            <a:off x="548640" y="5349240"/>
            <a:ext cx="11091672" cy="548640"/>
          </a:xfrm>
          <a:prstGeom prst="roundRect">
            <a:avLst>
              <a:gd name="adj" fmla="val 11667"/>
            </a:avLst>
          </a:prstGeom>
          <a:solidFill>
            <a:srgbClr val="E7F7F0"/>
          </a:solidFill>
          <a:ln w="12700">
            <a:solidFill>
              <a:srgbClr val="E4EAF2"/>
            </a:solidFill>
            <a:prstDash val="solid"/>
          </a:ln>
        </p:spPr>
      </p:sp>
      <p:sp>
        <p:nvSpPr>
          <p:cNvPr id="65" name="Text 63"/>
          <p:cNvSpPr/>
          <p:nvPr/>
        </p:nvSpPr>
        <p:spPr>
          <a:xfrm>
            <a:off x="914400" y="5349240"/>
            <a:ext cx="10332720" cy="548640"/>
          </a:xfrm>
          <a:prstGeom prst="rect">
            <a:avLst/>
          </a:prstGeom>
          <a:noFill/>
          <a:ln/>
        </p:spPr>
        <p:txBody>
          <a:bodyPr wrap="square" lIns="0" tIns="0" rIns="0" bIns="0" rtlCol="0" anchor="ctr"/>
          <a:lstStyle/>
          <a:p>
            <a:pPr indent="0" marL="0">
              <a:buNone/>
            </a:pPr>
            <a:r>
              <a:rPr lang="en-US" sz="1150" b="1" dirty="0">
                <a:solidFill>
                  <a:srgbClr val="0F1E3D"/>
                </a:solidFill>
                <a:latin typeface="Calibri" pitchFamily="34" charset="0"/>
                <a:ea typeface="Calibri" pitchFamily="34" charset="-122"/>
                <a:cs typeface="Calibri" pitchFamily="34" charset="-120"/>
              </a:rPr>
              <a:t>The one dependency, stated honestly:  </a:t>
            </a:r>
            <a:pPr indent="0" marL="0">
              <a:buNone/>
            </a:pPr>
            <a:r>
              <a:rPr lang="en-US" sz="1150" dirty="0">
                <a:solidFill>
                  <a:srgbClr val="3E4C63"/>
                </a:solidFill>
                <a:latin typeface="Calibri" pitchFamily="34" charset="0"/>
                <a:ea typeface="Calibri" pitchFamily="34" charset="-122"/>
                <a:cs typeface="Calibri" pitchFamily="34" charset="-120"/>
              </a:rPr>
              <a:t>the intelligence starts empty and grows with use. Seeding it with our historic quotes in Phase 1 means it starts smart, not from zero.</a:t>
            </a:r>
            <a:endParaRPr lang="en-US" sz="1150" dirty="0"/>
          </a:p>
        </p:txBody>
      </p:sp>
      <p:sp>
        <p:nvSpPr>
          <p:cNvPr id="66" name="Shape 64"/>
          <p:cNvSpPr/>
          <p:nvPr/>
        </p:nvSpPr>
        <p:spPr>
          <a:xfrm>
            <a:off x="548640" y="6400800"/>
            <a:ext cx="11094415" cy="12802"/>
          </a:xfrm>
          <a:prstGeom prst="rect">
            <a:avLst/>
          </a:prstGeom>
          <a:solidFill>
            <a:srgbClr val="E4EAF2"/>
          </a:solidFill>
          <a:ln/>
        </p:spPr>
      </p:sp>
      <p:sp>
        <p:nvSpPr>
          <p:cNvPr id="67" name="Text 65"/>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68" name="Text 66"/>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30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A472"/>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A472"/>
                </a:solidFill>
                <a:latin typeface="Calibri" pitchFamily="34" charset="0"/>
                <a:ea typeface="Calibri" pitchFamily="34" charset="-122"/>
                <a:cs typeface="Calibri" pitchFamily="34" charset="-120"/>
              </a:rPr>
              <a:t>GOVERNANCE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Data security &amp; deployment</a:t>
            </a:r>
            <a:endParaRPr lang="en-US" sz="2400" dirty="0"/>
          </a:p>
        </p:txBody>
      </p:sp>
      <p:sp>
        <p:nvSpPr>
          <p:cNvPr id="9" name="Shape 7"/>
          <p:cNvSpPr/>
          <p:nvPr/>
        </p:nvSpPr>
        <p:spPr>
          <a:xfrm>
            <a:off x="548640" y="1371600"/>
            <a:ext cx="1051560" cy="45720"/>
          </a:xfrm>
          <a:prstGeom prst="rect">
            <a:avLst/>
          </a:prstGeom>
          <a:solidFill>
            <a:srgbClr val="0EA472"/>
          </a:solidFill>
          <a:ln/>
        </p:spPr>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Built for enterprise from the ground up — our data, our infrastructure, our IP.</a:t>
            </a:r>
            <a:endParaRPr lang="en-US" sz="1250" dirty="0"/>
          </a:p>
        </p:txBody>
      </p:sp>
      <p:sp>
        <p:nvSpPr>
          <p:cNvPr id="11" name="Shape 9"/>
          <p:cNvSpPr/>
          <p:nvPr/>
        </p:nvSpPr>
        <p:spPr>
          <a:xfrm>
            <a:off x="548640" y="1874520"/>
            <a:ext cx="3520440" cy="1600200"/>
          </a:xfrm>
          <a:prstGeom prst="roundRect">
            <a:avLst>
              <a:gd name="adj" fmla="val 400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sp>
      <p:sp>
        <p:nvSpPr>
          <p:cNvPr id="12" name="Shape 10"/>
          <p:cNvSpPr/>
          <p:nvPr/>
        </p:nvSpPr>
        <p:spPr>
          <a:xfrm>
            <a:off x="548640" y="1874520"/>
            <a:ext cx="82296" cy="1600200"/>
          </a:xfrm>
          <a:prstGeom prst="rect">
            <a:avLst/>
          </a:prstGeom>
          <a:solidFill>
            <a:srgbClr val="0EA472"/>
          </a:solidFill>
          <a:ln/>
        </p:spPr>
      </p:sp>
      <p:sp>
        <p:nvSpPr>
          <p:cNvPr id="13" name="Shape 11"/>
          <p:cNvSpPr/>
          <p:nvPr/>
        </p:nvSpPr>
        <p:spPr>
          <a:xfrm>
            <a:off x="786384" y="2075688"/>
            <a:ext cx="457200" cy="457200"/>
          </a:xfrm>
          <a:prstGeom prst="ellipse">
            <a:avLst/>
          </a:prstGeom>
          <a:solidFill>
            <a:srgbClr val="E7F7F0"/>
          </a:solidFill>
          <a:ln/>
        </p:spPr>
      </p:sp>
      <p:sp>
        <p:nvSpPr>
          <p:cNvPr id="14" name="Text 12"/>
          <p:cNvSpPr/>
          <p:nvPr/>
        </p:nvSpPr>
        <p:spPr>
          <a:xfrm>
            <a:off x="786384" y="2066544"/>
            <a:ext cx="457200" cy="457200"/>
          </a:xfrm>
          <a:prstGeom prst="rect">
            <a:avLst/>
          </a:prstGeom>
          <a:noFill/>
          <a:ln/>
        </p:spPr>
        <p:txBody>
          <a:bodyPr wrap="square" lIns="0" tIns="0" rIns="0" bIns="0" rtlCol="0" anchor="ctr"/>
          <a:lstStyle/>
          <a:p>
            <a:pPr algn="ctr" indent="0" marL="0">
              <a:buNone/>
            </a:pPr>
            <a:r>
              <a:rPr lang="en-US" sz="1600" b="1" dirty="0">
                <a:solidFill>
                  <a:srgbClr val="0EA472"/>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1335024" y="2112264"/>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0EA472"/>
                </a:solidFill>
                <a:latin typeface="Calibri" pitchFamily="34" charset="0"/>
                <a:ea typeface="Calibri" pitchFamily="34" charset="-122"/>
                <a:cs typeface="Calibri" pitchFamily="34" charset="-120"/>
              </a:rPr>
              <a:t>On-premise deployment</a:t>
            </a:r>
            <a:endParaRPr lang="en-US" sz="1250" dirty="0"/>
          </a:p>
        </p:txBody>
      </p:sp>
      <p:sp>
        <p:nvSpPr>
          <p:cNvPr id="16" name="Text 14"/>
          <p:cNvSpPr/>
          <p:nvPr/>
        </p:nvSpPr>
        <p:spPr>
          <a:xfrm>
            <a:off x="804672" y="2651760"/>
            <a:ext cx="3063240" cy="777240"/>
          </a:xfrm>
          <a:prstGeom prst="rect">
            <a:avLst/>
          </a:prstGeom>
          <a:noFill/>
          <a:ln/>
        </p:spPr>
        <p:txBody>
          <a:bodyPr wrap="square" lIns="0" tIns="0" rIns="0" bIns="0" rtlCol="0" anchor="t"/>
          <a:lstStyle/>
          <a:p>
            <a:pPr indent="0" marL="0">
              <a:lnSpc>
                <a:spcPct val="112000"/>
              </a:lnSpc>
              <a:buNone/>
            </a:pPr>
            <a:r>
              <a:rPr lang="en-US" sz="950" dirty="0">
                <a:solidFill>
                  <a:srgbClr val="3E4C63"/>
                </a:solidFill>
                <a:latin typeface="Calibri" pitchFamily="34" charset="0"/>
                <a:ea typeface="Calibri" pitchFamily="34" charset="-122"/>
                <a:cs typeface="Calibri" pitchFamily="34" charset="-120"/>
              </a:rPr>
              <a:t>Runs inside our own walls — the knowledge base and every analysis are stored on our servers and never retained by any vendor.</a:t>
            </a:r>
            <a:endParaRPr lang="en-US" sz="950" dirty="0"/>
          </a:p>
        </p:txBody>
      </p:sp>
      <p:sp>
        <p:nvSpPr>
          <p:cNvPr id="17" name="Shape 15"/>
          <p:cNvSpPr/>
          <p:nvPr/>
        </p:nvSpPr>
        <p:spPr>
          <a:xfrm>
            <a:off x="4325112" y="1874520"/>
            <a:ext cx="3520440" cy="1600200"/>
          </a:xfrm>
          <a:prstGeom prst="roundRect">
            <a:avLst>
              <a:gd name="adj" fmla="val 400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sp>
      <p:sp>
        <p:nvSpPr>
          <p:cNvPr id="18" name="Shape 16"/>
          <p:cNvSpPr/>
          <p:nvPr/>
        </p:nvSpPr>
        <p:spPr>
          <a:xfrm>
            <a:off x="4325112" y="1874520"/>
            <a:ext cx="82296" cy="1600200"/>
          </a:xfrm>
          <a:prstGeom prst="rect">
            <a:avLst/>
          </a:prstGeom>
          <a:solidFill>
            <a:srgbClr val="2563EB"/>
          </a:solidFill>
          <a:ln/>
        </p:spPr>
      </p:sp>
      <p:sp>
        <p:nvSpPr>
          <p:cNvPr id="19" name="Shape 17"/>
          <p:cNvSpPr/>
          <p:nvPr/>
        </p:nvSpPr>
        <p:spPr>
          <a:xfrm>
            <a:off x="4562856" y="2075688"/>
            <a:ext cx="457200" cy="457200"/>
          </a:xfrm>
          <a:prstGeom prst="ellipse">
            <a:avLst/>
          </a:prstGeom>
          <a:solidFill>
            <a:srgbClr val="EAF1FE"/>
          </a:solidFill>
          <a:ln/>
        </p:spPr>
      </p:sp>
      <p:sp>
        <p:nvSpPr>
          <p:cNvPr id="20" name="Text 18"/>
          <p:cNvSpPr/>
          <p:nvPr/>
        </p:nvSpPr>
        <p:spPr>
          <a:xfrm>
            <a:off x="4562856" y="2066544"/>
            <a:ext cx="457200" cy="45720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5111496" y="2112264"/>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2563EB"/>
                </a:solidFill>
                <a:latin typeface="Calibri" pitchFamily="34" charset="0"/>
                <a:ea typeface="Calibri" pitchFamily="34" charset="-122"/>
                <a:cs typeface="Calibri" pitchFamily="34" charset="-120"/>
              </a:rPr>
              <a:t>Keys server-side only</a:t>
            </a:r>
            <a:endParaRPr lang="en-US" sz="1250" dirty="0"/>
          </a:p>
        </p:txBody>
      </p:sp>
      <p:sp>
        <p:nvSpPr>
          <p:cNvPr id="22" name="Text 20"/>
          <p:cNvSpPr/>
          <p:nvPr/>
        </p:nvSpPr>
        <p:spPr>
          <a:xfrm>
            <a:off x="4581144" y="2651760"/>
            <a:ext cx="3063240" cy="777240"/>
          </a:xfrm>
          <a:prstGeom prst="rect">
            <a:avLst/>
          </a:prstGeom>
          <a:noFill/>
          <a:ln/>
        </p:spPr>
        <p:txBody>
          <a:bodyPr wrap="square" lIns="0" tIns="0" rIns="0" bIns="0" rtlCol="0" anchor="t"/>
          <a:lstStyle/>
          <a:p>
            <a:pPr indent="0" marL="0">
              <a:lnSpc>
                <a:spcPct val="112000"/>
              </a:lnSpc>
              <a:buNone/>
            </a:pPr>
            <a:r>
              <a:rPr lang="en-US" sz="950" dirty="0">
                <a:solidFill>
                  <a:srgbClr val="3E4C63"/>
                </a:solidFill>
                <a:latin typeface="Calibri" pitchFamily="34" charset="0"/>
                <a:ea typeface="Calibri" pitchFamily="34" charset="-122"/>
                <a:cs typeface="Calibri" pitchFamily="34" charset="-120"/>
              </a:rPr>
              <a:t>The AI key lives server-side (.env) — the browser never sees it. AI calls proxy through our server to the model endpoint.</a:t>
            </a:r>
            <a:endParaRPr lang="en-US" sz="950" dirty="0"/>
          </a:p>
        </p:txBody>
      </p:sp>
      <p:sp>
        <p:nvSpPr>
          <p:cNvPr id="23" name="Shape 21"/>
          <p:cNvSpPr/>
          <p:nvPr/>
        </p:nvSpPr>
        <p:spPr>
          <a:xfrm>
            <a:off x="8101584" y="1874520"/>
            <a:ext cx="3520440" cy="1600200"/>
          </a:xfrm>
          <a:prstGeom prst="roundRect">
            <a:avLst>
              <a:gd name="adj" fmla="val 400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sp>
      <p:sp>
        <p:nvSpPr>
          <p:cNvPr id="24" name="Shape 22"/>
          <p:cNvSpPr/>
          <p:nvPr/>
        </p:nvSpPr>
        <p:spPr>
          <a:xfrm>
            <a:off x="8101584" y="1874520"/>
            <a:ext cx="82296" cy="1600200"/>
          </a:xfrm>
          <a:prstGeom prst="rect">
            <a:avLst/>
          </a:prstGeom>
          <a:solidFill>
            <a:srgbClr val="7C3AED"/>
          </a:solidFill>
          <a:ln/>
        </p:spPr>
      </p:sp>
      <p:sp>
        <p:nvSpPr>
          <p:cNvPr id="25" name="Shape 23"/>
          <p:cNvSpPr/>
          <p:nvPr/>
        </p:nvSpPr>
        <p:spPr>
          <a:xfrm>
            <a:off x="8339328" y="2075688"/>
            <a:ext cx="457200" cy="457200"/>
          </a:xfrm>
          <a:prstGeom prst="ellipse">
            <a:avLst/>
          </a:prstGeom>
          <a:solidFill>
            <a:srgbClr val="F3EEFE"/>
          </a:solidFill>
          <a:ln/>
        </p:spPr>
      </p:sp>
      <p:sp>
        <p:nvSpPr>
          <p:cNvPr id="26" name="Text 24"/>
          <p:cNvSpPr/>
          <p:nvPr/>
        </p:nvSpPr>
        <p:spPr>
          <a:xfrm>
            <a:off x="8339328" y="2066544"/>
            <a:ext cx="457200" cy="457200"/>
          </a:xfrm>
          <a:prstGeom prst="rect">
            <a:avLst/>
          </a:prstGeom>
          <a:noFill/>
          <a:ln/>
        </p:spPr>
        <p:txBody>
          <a:bodyPr wrap="square" lIns="0" tIns="0" rIns="0" bIns="0" rtlCol="0" anchor="ctr"/>
          <a:lstStyle/>
          <a:p>
            <a:pPr algn="ctr" indent="0" marL="0">
              <a:buNone/>
            </a:pPr>
            <a:r>
              <a:rPr lang="en-US" sz="1600" b="1" dirty="0">
                <a:solidFill>
                  <a:srgbClr val="7C3AED"/>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8887968" y="2112264"/>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7C3AED"/>
                </a:solidFill>
                <a:latin typeface="Calibri" pitchFamily="34" charset="0"/>
                <a:ea typeface="Calibri" pitchFamily="34" charset="-122"/>
                <a:cs typeface="Calibri" pitchFamily="34" charset="-120"/>
              </a:rPr>
              <a:t>Private &amp; air-gapped ready</a:t>
            </a:r>
            <a:endParaRPr lang="en-US" sz="1250" dirty="0"/>
          </a:p>
        </p:txBody>
      </p:sp>
      <p:sp>
        <p:nvSpPr>
          <p:cNvPr id="28" name="Text 26"/>
          <p:cNvSpPr/>
          <p:nvPr/>
        </p:nvSpPr>
        <p:spPr>
          <a:xfrm>
            <a:off x="8357616" y="2651760"/>
            <a:ext cx="3063240" cy="777240"/>
          </a:xfrm>
          <a:prstGeom prst="rect">
            <a:avLst/>
          </a:prstGeom>
          <a:noFill/>
          <a:ln/>
        </p:spPr>
        <p:txBody>
          <a:bodyPr wrap="square" lIns="0" tIns="0" rIns="0" bIns="0" rtlCol="0" anchor="t"/>
          <a:lstStyle/>
          <a:p>
            <a:pPr indent="0" marL="0">
              <a:lnSpc>
                <a:spcPct val="112000"/>
              </a:lnSpc>
              <a:buNone/>
            </a:pPr>
            <a:r>
              <a:rPr lang="en-US" sz="950" dirty="0">
                <a:solidFill>
                  <a:srgbClr val="3E4C63"/>
                </a:solidFill>
                <a:latin typeface="Calibri" pitchFamily="34" charset="0"/>
                <a:ea typeface="Calibri" pitchFamily="34" charset="-122"/>
                <a:cs typeface="Calibri" pitchFamily="34" charset="-120"/>
              </a:rPr>
              <a:t>Private routing (ANTHROPIC_BASE_URL) or air-gapped mode keeps even the AI request in-network for the most sensitive programmes.</a:t>
            </a:r>
            <a:endParaRPr lang="en-US" sz="950" dirty="0"/>
          </a:p>
        </p:txBody>
      </p:sp>
      <p:sp>
        <p:nvSpPr>
          <p:cNvPr id="29" name="Shape 27"/>
          <p:cNvSpPr/>
          <p:nvPr/>
        </p:nvSpPr>
        <p:spPr>
          <a:xfrm>
            <a:off x="548640" y="3657600"/>
            <a:ext cx="3520440" cy="1600200"/>
          </a:xfrm>
          <a:prstGeom prst="roundRect">
            <a:avLst>
              <a:gd name="adj" fmla="val 400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sp>
      <p:sp>
        <p:nvSpPr>
          <p:cNvPr id="30" name="Shape 28"/>
          <p:cNvSpPr/>
          <p:nvPr/>
        </p:nvSpPr>
        <p:spPr>
          <a:xfrm>
            <a:off x="548640" y="3657600"/>
            <a:ext cx="82296" cy="1600200"/>
          </a:xfrm>
          <a:prstGeom prst="rect">
            <a:avLst/>
          </a:prstGeom>
          <a:solidFill>
            <a:srgbClr val="0E93B0"/>
          </a:solidFill>
          <a:ln/>
        </p:spPr>
      </p:sp>
      <p:sp>
        <p:nvSpPr>
          <p:cNvPr id="31" name="Shape 29"/>
          <p:cNvSpPr/>
          <p:nvPr/>
        </p:nvSpPr>
        <p:spPr>
          <a:xfrm>
            <a:off x="786384" y="3858768"/>
            <a:ext cx="457200" cy="457200"/>
          </a:xfrm>
          <a:prstGeom prst="ellipse">
            <a:avLst/>
          </a:prstGeom>
          <a:solidFill>
            <a:srgbClr val="E8F6FA"/>
          </a:solidFill>
          <a:ln/>
        </p:spPr>
      </p:sp>
      <p:sp>
        <p:nvSpPr>
          <p:cNvPr id="32" name="Text 30"/>
          <p:cNvSpPr/>
          <p:nvPr/>
        </p:nvSpPr>
        <p:spPr>
          <a:xfrm>
            <a:off x="786384" y="3849624"/>
            <a:ext cx="457200" cy="457200"/>
          </a:xfrm>
          <a:prstGeom prst="rect">
            <a:avLst/>
          </a:prstGeom>
          <a:noFill/>
          <a:ln/>
        </p:spPr>
        <p:txBody>
          <a:bodyPr wrap="square" lIns="0" tIns="0" rIns="0" bIns="0" rtlCol="0" anchor="ctr"/>
          <a:lstStyle/>
          <a:p>
            <a:pPr algn="ctr" indent="0" marL="0">
              <a:buNone/>
            </a:pPr>
            <a:r>
              <a:rPr lang="en-US" sz="1600" b="1" dirty="0">
                <a:solidFill>
                  <a:srgbClr val="0E93B0"/>
                </a:solidFill>
                <a:latin typeface="Calibri" pitchFamily="34" charset="0"/>
                <a:ea typeface="Calibri" pitchFamily="34" charset="-122"/>
                <a:cs typeface="Calibri" pitchFamily="34" charset="-120"/>
              </a:rPr>
              <a:t>▤</a:t>
            </a:r>
            <a:endParaRPr lang="en-US" sz="1600" dirty="0"/>
          </a:p>
        </p:txBody>
      </p:sp>
      <p:sp>
        <p:nvSpPr>
          <p:cNvPr id="33" name="Text 31"/>
          <p:cNvSpPr/>
          <p:nvPr/>
        </p:nvSpPr>
        <p:spPr>
          <a:xfrm>
            <a:off x="1335024" y="3895344"/>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0E93B0"/>
                </a:solidFill>
                <a:latin typeface="Calibri" pitchFamily="34" charset="0"/>
                <a:ea typeface="Calibri" pitchFamily="34" charset="-122"/>
                <a:cs typeface="Calibri" pitchFamily="34" charset="-120"/>
              </a:rPr>
              <a:t>Full audit trail</a:t>
            </a:r>
            <a:endParaRPr lang="en-US" sz="1250" dirty="0"/>
          </a:p>
        </p:txBody>
      </p:sp>
      <p:sp>
        <p:nvSpPr>
          <p:cNvPr id="34" name="Text 32"/>
          <p:cNvSpPr/>
          <p:nvPr/>
        </p:nvSpPr>
        <p:spPr>
          <a:xfrm>
            <a:off x="804672" y="4434840"/>
            <a:ext cx="3063240" cy="777240"/>
          </a:xfrm>
          <a:prstGeom prst="rect">
            <a:avLst/>
          </a:prstGeom>
          <a:noFill/>
          <a:ln/>
        </p:spPr>
        <p:txBody>
          <a:bodyPr wrap="square" lIns="0" tIns="0" rIns="0" bIns="0" rtlCol="0" anchor="t"/>
          <a:lstStyle/>
          <a:p>
            <a:pPr indent="0" marL="0">
              <a:lnSpc>
                <a:spcPct val="112000"/>
              </a:lnSpc>
              <a:buNone/>
            </a:pPr>
            <a:r>
              <a:rPr lang="en-US" sz="950" dirty="0">
                <a:solidFill>
                  <a:srgbClr val="3E4C63"/>
                </a:solidFill>
                <a:latin typeface="Calibri" pitchFamily="34" charset="0"/>
                <a:ea typeface="Calibri" pitchFamily="34" charset="-122"/>
                <a:cs typeface="Calibri" pitchFamily="34" charset="-120"/>
              </a:rPr>
              <a:t>Every number carries provenance; every analysis and correction is logged — defensible and traceable.</a:t>
            </a:r>
            <a:endParaRPr lang="en-US" sz="950" dirty="0"/>
          </a:p>
        </p:txBody>
      </p:sp>
      <p:sp>
        <p:nvSpPr>
          <p:cNvPr id="35" name="Shape 33"/>
          <p:cNvSpPr/>
          <p:nvPr/>
        </p:nvSpPr>
        <p:spPr>
          <a:xfrm>
            <a:off x="4325112" y="3657600"/>
            <a:ext cx="3520440" cy="1600200"/>
          </a:xfrm>
          <a:prstGeom prst="roundRect">
            <a:avLst>
              <a:gd name="adj" fmla="val 400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sp>
      <p:sp>
        <p:nvSpPr>
          <p:cNvPr id="36" name="Shape 34"/>
          <p:cNvSpPr/>
          <p:nvPr/>
        </p:nvSpPr>
        <p:spPr>
          <a:xfrm>
            <a:off x="4325112" y="3657600"/>
            <a:ext cx="82296" cy="1600200"/>
          </a:xfrm>
          <a:prstGeom prst="rect">
            <a:avLst/>
          </a:prstGeom>
          <a:solidFill>
            <a:srgbClr val="E0900C"/>
          </a:solidFill>
          <a:ln/>
        </p:spPr>
      </p:sp>
      <p:sp>
        <p:nvSpPr>
          <p:cNvPr id="37" name="Shape 35"/>
          <p:cNvSpPr/>
          <p:nvPr/>
        </p:nvSpPr>
        <p:spPr>
          <a:xfrm>
            <a:off x="4562856" y="3858768"/>
            <a:ext cx="457200" cy="457200"/>
          </a:xfrm>
          <a:prstGeom prst="ellipse">
            <a:avLst/>
          </a:prstGeom>
          <a:solidFill>
            <a:srgbClr val="FEF6E7"/>
          </a:solidFill>
          <a:ln/>
        </p:spPr>
      </p:sp>
      <p:sp>
        <p:nvSpPr>
          <p:cNvPr id="38" name="Text 36"/>
          <p:cNvSpPr/>
          <p:nvPr/>
        </p:nvSpPr>
        <p:spPr>
          <a:xfrm>
            <a:off x="4562856" y="3849624"/>
            <a:ext cx="457200" cy="457200"/>
          </a:xfrm>
          <a:prstGeom prst="rect">
            <a:avLst/>
          </a:prstGeom>
          <a:noFill/>
          <a:ln/>
        </p:spPr>
        <p:txBody>
          <a:bodyPr wrap="square" lIns="0" tIns="0" rIns="0" bIns="0" rtlCol="0" anchor="ctr"/>
          <a:lstStyle/>
          <a:p>
            <a:pPr algn="ctr" indent="0" marL="0">
              <a:buNone/>
            </a:pPr>
            <a:r>
              <a:rPr lang="en-US" sz="1600" b="1" dirty="0">
                <a:solidFill>
                  <a:srgbClr val="E0900C"/>
                </a:solidFill>
                <a:latin typeface="Calibri" pitchFamily="34" charset="0"/>
                <a:ea typeface="Calibri" pitchFamily="34" charset="-122"/>
                <a:cs typeface="Calibri" pitchFamily="34" charset="-120"/>
              </a:rPr>
              <a:t>◎</a:t>
            </a:r>
            <a:endParaRPr lang="en-US" sz="1600" dirty="0"/>
          </a:p>
        </p:txBody>
      </p:sp>
      <p:sp>
        <p:nvSpPr>
          <p:cNvPr id="39" name="Text 37"/>
          <p:cNvSpPr/>
          <p:nvPr/>
        </p:nvSpPr>
        <p:spPr>
          <a:xfrm>
            <a:off x="5111496" y="3895344"/>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E0900C"/>
                </a:solidFill>
                <a:latin typeface="Calibri" pitchFamily="34" charset="0"/>
                <a:ea typeface="Calibri" pitchFamily="34" charset="-122"/>
                <a:cs typeface="Calibri" pitchFamily="34" charset="-120"/>
              </a:rPr>
              <a:t>Our IP, not a vendor's</a:t>
            </a:r>
            <a:endParaRPr lang="en-US" sz="1250" dirty="0"/>
          </a:p>
        </p:txBody>
      </p:sp>
      <p:sp>
        <p:nvSpPr>
          <p:cNvPr id="40" name="Text 38"/>
          <p:cNvSpPr/>
          <p:nvPr/>
        </p:nvSpPr>
        <p:spPr>
          <a:xfrm>
            <a:off x="4581144" y="4434840"/>
            <a:ext cx="3063240" cy="777240"/>
          </a:xfrm>
          <a:prstGeom prst="rect">
            <a:avLst/>
          </a:prstGeom>
          <a:noFill/>
          <a:ln/>
        </p:spPr>
        <p:txBody>
          <a:bodyPr wrap="square" lIns="0" tIns="0" rIns="0" bIns="0" rtlCol="0" anchor="t"/>
          <a:lstStyle/>
          <a:p>
            <a:pPr indent="0" marL="0">
              <a:lnSpc>
                <a:spcPct val="112000"/>
              </a:lnSpc>
              <a:buNone/>
            </a:pPr>
            <a:r>
              <a:rPr lang="en-US" sz="950" dirty="0">
                <a:solidFill>
                  <a:srgbClr val="3E4C63"/>
                </a:solidFill>
                <a:latin typeface="Calibri" pitchFamily="34" charset="0"/>
                <a:ea typeface="Calibri" pitchFamily="34" charset="-122"/>
                <a:cs typeface="Calibri" pitchFamily="34" charset="-120"/>
              </a:rPr>
              <a:t>The accumulated costing intelligence is a proprietary company asset — it does not walk out with a subscription.</a:t>
            </a:r>
            <a:endParaRPr lang="en-US" sz="950" dirty="0"/>
          </a:p>
        </p:txBody>
      </p:sp>
      <p:sp>
        <p:nvSpPr>
          <p:cNvPr id="41" name="Shape 39"/>
          <p:cNvSpPr/>
          <p:nvPr/>
        </p:nvSpPr>
        <p:spPr>
          <a:xfrm>
            <a:off x="8101584" y="3657600"/>
            <a:ext cx="3520440" cy="1600200"/>
          </a:xfrm>
          <a:prstGeom prst="roundRect">
            <a:avLst>
              <a:gd name="adj" fmla="val 400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sp>
      <p:sp>
        <p:nvSpPr>
          <p:cNvPr id="42" name="Shape 40"/>
          <p:cNvSpPr/>
          <p:nvPr/>
        </p:nvSpPr>
        <p:spPr>
          <a:xfrm>
            <a:off x="8101584" y="3657600"/>
            <a:ext cx="82296" cy="1600200"/>
          </a:xfrm>
          <a:prstGeom prst="rect">
            <a:avLst/>
          </a:prstGeom>
          <a:solidFill>
            <a:srgbClr val="0DA5A0"/>
          </a:solidFill>
          <a:ln/>
        </p:spPr>
      </p:sp>
      <p:sp>
        <p:nvSpPr>
          <p:cNvPr id="43" name="Shape 41"/>
          <p:cNvSpPr/>
          <p:nvPr/>
        </p:nvSpPr>
        <p:spPr>
          <a:xfrm>
            <a:off x="8339328" y="3858768"/>
            <a:ext cx="457200" cy="457200"/>
          </a:xfrm>
          <a:prstGeom prst="ellipse">
            <a:avLst/>
          </a:prstGeom>
          <a:solidFill>
            <a:srgbClr val="E7F7F0"/>
          </a:solidFill>
          <a:ln/>
        </p:spPr>
      </p:sp>
      <p:sp>
        <p:nvSpPr>
          <p:cNvPr id="44" name="Text 42"/>
          <p:cNvSpPr/>
          <p:nvPr/>
        </p:nvSpPr>
        <p:spPr>
          <a:xfrm>
            <a:off x="8339328" y="3849624"/>
            <a:ext cx="457200" cy="457200"/>
          </a:xfrm>
          <a:prstGeom prst="rect">
            <a:avLst/>
          </a:prstGeom>
          <a:noFill/>
          <a:ln/>
        </p:spPr>
        <p:txBody>
          <a:bodyPr wrap="square" lIns="0" tIns="0" rIns="0" bIns="0" rtlCol="0" anchor="ctr"/>
          <a:lstStyle/>
          <a:p>
            <a:pPr algn="ctr" indent="0" marL="0">
              <a:buNone/>
            </a:pPr>
            <a:r>
              <a:rPr lang="en-US" sz="1600" b="1" dirty="0">
                <a:solidFill>
                  <a:srgbClr val="0DA5A0"/>
                </a:solidFill>
                <a:latin typeface="Calibri" pitchFamily="34" charset="0"/>
                <a:ea typeface="Calibri" pitchFamily="34" charset="-122"/>
                <a:cs typeface="Calibri" pitchFamily="34" charset="-120"/>
              </a:rPr>
              <a:t>✓</a:t>
            </a:r>
            <a:endParaRPr lang="en-US" sz="1600" dirty="0"/>
          </a:p>
        </p:txBody>
      </p:sp>
      <p:sp>
        <p:nvSpPr>
          <p:cNvPr id="45" name="Text 43"/>
          <p:cNvSpPr/>
          <p:nvPr/>
        </p:nvSpPr>
        <p:spPr>
          <a:xfrm>
            <a:off x="8887968" y="3895344"/>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0DA5A0"/>
                </a:solidFill>
                <a:latin typeface="Calibri" pitchFamily="34" charset="0"/>
                <a:ea typeface="Calibri" pitchFamily="34" charset="-122"/>
                <a:cs typeface="Calibri" pitchFamily="34" charset="-120"/>
              </a:rPr>
              <a:t>Access &amp; governance</a:t>
            </a:r>
            <a:endParaRPr lang="en-US" sz="1250" dirty="0"/>
          </a:p>
        </p:txBody>
      </p:sp>
      <p:sp>
        <p:nvSpPr>
          <p:cNvPr id="46" name="Text 44"/>
          <p:cNvSpPr/>
          <p:nvPr/>
        </p:nvSpPr>
        <p:spPr>
          <a:xfrm>
            <a:off x="8357616" y="4434840"/>
            <a:ext cx="3063240" cy="777240"/>
          </a:xfrm>
          <a:prstGeom prst="rect">
            <a:avLst/>
          </a:prstGeom>
          <a:noFill/>
          <a:ln/>
        </p:spPr>
        <p:txBody>
          <a:bodyPr wrap="square" lIns="0" tIns="0" rIns="0" bIns="0" rtlCol="0" anchor="t"/>
          <a:lstStyle/>
          <a:p>
            <a:pPr indent="0" marL="0">
              <a:lnSpc>
                <a:spcPct val="112000"/>
              </a:lnSpc>
              <a:buNone/>
            </a:pPr>
            <a:r>
              <a:rPr lang="en-US" sz="950" dirty="0">
                <a:solidFill>
                  <a:srgbClr val="3E4C63"/>
                </a:solidFill>
                <a:latin typeface="Calibri" pitchFamily="34" charset="0"/>
                <a:ea typeface="Calibri" pitchFamily="34" charset="-122"/>
                <a:cs typeface="Calibri" pitchFamily="34" charset="-120"/>
              </a:rPr>
              <a:t>Role-based access, on our identity and infrastructure, under our data-governance policy.</a:t>
            </a:r>
            <a:endParaRPr lang="en-US" sz="950" dirty="0"/>
          </a:p>
        </p:txBody>
      </p:sp>
      <p:sp>
        <p:nvSpPr>
          <p:cNvPr id="47" name="Shape 45"/>
          <p:cNvSpPr/>
          <p:nvPr/>
        </p:nvSpPr>
        <p:spPr>
          <a:xfrm>
            <a:off x="548640" y="5367528"/>
            <a:ext cx="11091672" cy="502920"/>
          </a:xfrm>
          <a:prstGeom prst="roundRect">
            <a:avLst>
              <a:gd name="adj" fmla="val 12727"/>
            </a:avLst>
          </a:prstGeom>
          <a:solidFill>
            <a:srgbClr val="E7F7F0"/>
          </a:solidFill>
          <a:ln w="12700">
            <a:solidFill>
              <a:srgbClr val="E4EAF2"/>
            </a:solidFill>
            <a:prstDash val="solid"/>
          </a:ln>
        </p:spPr>
      </p:sp>
      <p:sp>
        <p:nvSpPr>
          <p:cNvPr id="48" name="Shape 46"/>
          <p:cNvSpPr/>
          <p:nvPr/>
        </p:nvSpPr>
        <p:spPr>
          <a:xfrm>
            <a:off x="548640" y="5367528"/>
            <a:ext cx="82296" cy="502920"/>
          </a:xfrm>
          <a:prstGeom prst="rect">
            <a:avLst/>
          </a:prstGeom>
          <a:solidFill>
            <a:srgbClr val="0EA472"/>
          </a:solidFill>
          <a:ln/>
        </p:spPr>
      </p:sp>
      <p:sp>
        <p:nvSpPr>
          <p:cNvPr id="49" name="Text 47"/>
          <p:cNvSpPr/>
          <p:nvPr/>
        </p:nvSpPr>
        <p:spPr>
          <a:xfrm>
            <a:off x="914400" y="5367528"/>
            <a:ext cx="10332720" cy="502920"/>
          </a:xfrm>
          <a:prstGeom prst="rect">
            <a:avLst/>
          </a:prstGeom>
          <a:noFill/>
          <a:ln/>
        </p:spPr>
        <p:txBody>
          <a:bodyPr wrap="square" lIns="0" tIns="0" rIns="0" bIns="0" rtlCol="0" anchor="ctr"/>
          <a:lstStyle/>
          <a:p>
            <a:pPr indent="0" marL="0">
              <a:lnSpc>
                <a:spcPct val="105000"/>
              </a:lnSpc>
              <a:buNone/>
            </a:pPr>
            <a:r>
              <a:rPr lang="en-US" sz="1050" b="1" dirty="0">
                <a:solidFill>
                  <a:srgbClr val="0F1E3D"/>
                </a:solidFill>
                <a:latin typeface="Calibri" pitchFamily="34" charset="0"/>
                <a:ea typeface="Calibri" pitchFamily="34" charset="-122"/>
                <a:cs typeface="Calibri" pitchFamily="34" charset="-120"/>
              </a:rPr>
              <a:t>What actually leaves the building:  </a:t>
            </a:r>
            <a:pPr indent="0" marL="0">
              <a:lnSpc>
                <a:spcPct val="105000"/>
              </a:lnSpc>
              <a:buNone/>
            </a:pPr>
            <a:r>
              <a:rPr lang="en-US" sz="1050" dirty="0">
                <a:solidFill>
                  <a:srgbClr val="3E4C63"/>
                </a:solidFill>
                <a:latin typeface="Calibri" pitchFamily="34" charset="0"/>
                <a:ea typeface="Calibri" pitchFamily="34" charset="-122"/>
                <a:cs typeface="Calibri" pitchFamily="34" charset="-120"/>
              </a:rPr>
              <a:t>only the AI inference request, sent via our own server and not retained by the model provider — and in air-gapped / private-routing mode, not even that. Our data, our infrastructure, our IP.</a:t>
            </a:r>
            <a:endParaRPr lang="en-US" sz="1050" dirty="0"/>
          </a:p>
        </p:txBody>
      </p:sp>
      <p:sp>
        <p:nvSpPr>
          <p:cNvPr id="50" name="Shape 48"/>
          <p:cNvSpPr/>
          <p:nvPr/>
        </p:nvSpPr>
        <p:spPr>
          <a:xfrm>
            <a:off x="548640" y="6400800"/>
            <a:ext cx="11094415" cy="12802"/>
          </a:xfrm>
          <a:prstGeom prst="rect">
            <a:avLst/>
          </a:prstGeom>
          <a:solidFill>
            <a:srgbClr val="E4EAF2"/>
          </a:solidFill>
          <a:ln/>
        </p:spPr>
      </p:sp>
      <p:sp>
        <p:nvSpPr>
          <p:cNvPr id="51" name="Text 49"/>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2" name="Text 50"/>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31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sp>
      <p:sp>
        <p:nvSpPr>
          <p:cNvPr id="3" name="Shape 1"/>
          <p:cNvSpPr/>
          <p:nvPr/>
        </p:nvSpPr>
        <p:spPr>
          <a:xfrm>
            <a:off x="10088575" y="384048"/>
            <a:ext cx="310896" cy="310896"/>
          </a:xfrm>
          <a:prstGeom prst="roundRect">
            <a:avLst>
              <a:gd name="adj" fmla="val 29412"/>
            </a:avLst>
          </a:prstGeom>
          <a:solidFill>
            <a:srgbClr val="4F46E5"/>
          </a:solidFill>
          <a:ln/>
        </p:spPr>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7C3AED"/>
          </a:solidFill>
          <a:ln/>
        </p:spPr>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7C3AED"/>
                </a:solidFill>
                <a:latin typeface="Calibri" pitchFamily="34" charset="0"/>
                <a:ea typeface="Calibri" pitchFamily="34" charset="-122"/>
                <a:cs typeface="Calibri" pitchFamily="34" charset="-120"/>
              </a:rPr>
              <a:t>DEMO · PRESENTER CUE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Live demo — the 5-minute flow</a:t>
            </a:r>
            <a:endParaRPr lang="en-US" sz="2400" dirty="0"/>
          </a:p>
        </p:txBody>
      </p:sp>
      <p:sp>
        <p:nvSpPr>
          <p:cNvPr id="9" name="Shape 7"/>
          <p:cNvSpPr/>
          <p:nvPr/>
        </p:nvSpPr>
        <p:spPr>
          <a:xfrm>
            <a:off x="548640" y="1371600"/>
            <a:ext cx="1051560" cy="45720"/>
          </a:xfrm>
          <a:prstGeom prst="rect">
            <a:avLst/>
          </a:prstGeom>
          <a:solidFill>
            <a:srgbClr val="7C3AED"/>
          </a:solidFill>
          <a:ln/>
        </p:spPr>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A tight, high-impact path through the live system — click order, what to show, and the moment that lands.</a:t>
            </a:r>
            <a:endParaRPr lang="en-US" sz="1250" dirty="0"/>
          </a:p>
        </p:txBody>
      </p:sp>
      <p:sp>
        <p:nvSpPr>
          <p:cNvPr id="11" name="Shape 9"/>
          <p:cNvSpPr/>
          <p:nvPr/>
        </p:nvSpPr>
        <p:spPr>
          <a:xfrm>
            <a:off x="548640" y="2057400"/>
            <a:ext cx="7315200" cy="512064"/>
          </a:xfrm>
          <a:prstGeom prst="roundRect">
            <a:avLst>
              <a:gd name="adj" fmla="val 8929"/>
            </a:avLst>
          </a:prstGeom>
          <a:solidFill>
            <a:srgbClr val="F4F7FB"/>
          </a:solidFill>
          <a:ln w="12700">
            <a:solidFill>
              <a:srgbClr val="E4EAF2"/>
            </a:solidFill>
            <a:prstDash val="solid"/>
          </a:ln>
        </p:spPr>
      </p:sp>
      <p:sp>
        <p:nvSpPr>
          <p:cNvPr id="12" name="Shape 10"/>
          <p:cNvSpPr/>
          <p:nvPr/>
        </p:nvSpPr>
        <p:spPr>
          <a:xfrm>
            <a:off x="548640" y="2057400"/>
            <a:ext cx="73152" cy="512064"/>
          </a:xfrm>
          <a:prstGeom prst="rect">
            <a:avLst/>
          </a:prstGeom>
          <a:solidFill>
            <a:srgbClr val="0DA5A0"/>
          </a:solidFill>
          <a:ln/>
        </p:spPr>
      </p:sp>
      <p:sp>
        <p:nvSpPr>
          <p:cNvPr id="13" name="Shape 11"/>
          <p:cNvSpPr/>
          <p:nvPr/>
        </p:nvSpPr>
        <p:spPr>
          <a:xfrm>
            <a:off x="694944" y="2148840"/>
            <a:ext cx="329184" cy="329184"/>
          </a:xfrm>
          <a:prstGeom prst="ellipse">
            <a:avLst/>
          </a:prstGeom>
          <a:solidFill>
            <a:srgbClr val="0DA5A0"/>
          </a:solidFill>
          <a:ln/>
          <a:effectLst>
            <a:outerShdw sx="100000" sy="100000" kx="0" ky="0" algn="bl" rotWithShape="0" blurRad="2.289968664788388e+66" dist="6.86990599436516e+65" dir="2.5389989167104004e+78">
              <a:srgbClr val="A7B6CE">
                <a:alpha val="1.8000000000000003e+79"/>
              </a:srgbClr>
            </a:outerShdw>
          </a:effectLst>
        </p:spPr>
      </p:sp>
      <p:sp>
        <p:nvSpPr>
          <p:cNvPr id="14" name="Text 12"/>
          <p:cNvSpPr/>
          <p:nvPr/>
        </p:nvSpPr>
        <p:spPr>
          <a:xfrm>
            <a:off x="694944" y="2148840"/>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1</a:t>
            </a:r>
            <a:endParaRPr lang="en-US" sz="1224" dirty="0"/>
          </a:p>
        </p:txBody>
      </p:sp>
      <p:sp>
        <p:nvSpPr>
          <p:cNvPr id="15" name="Text 13"/>
          <p:cNvSpPr/>
          <p:nvPr/>
        </p:nvSpPr>
        <p:spPr>
          <a:xfrm>
            <a:off x="1152144" y="2057400"/>
            <a:ext cx="1645920" cy="512064"/>
          </a:xfrm>
          <a:prstGeom prst="rect">
            <a:avLst/>
          </a:prstGeom>
          <a:noFill/>
          <a:ln/>
        </p:spPr>
        <p:txBody>
          <a:bodyPr wrap="square" lIns="0" tIns="0" rIns="0" bIns="0" rtlCol="0" anchor="ctr"/>
          <a:lstStyle/>
          <a:p>
            <a:pPr indent="0" marL="0">
              <a:buNone/>
            </a:pPr>
            <a:r>
              <a:rPr lang="en-US" sz="1150" b="1" dirty="0">
                <a:solidFill>
                  <a:srgbClr val="0DA5A0"/>
                </a:solidFill>
                <a:latin typeface="Calibri" pitchFamily="34" charset="0"/>
                <a:ea typeface="Calibri" pitchFamily="34" charset="-122"/>
                <a:cs typeface="Calibri" pitchFamily="34" charset="-120"/>
              </a:rPr>
              <a:t>CAD → Cost</a:t>
            </a:r>
            <a:endParaRPr lang="en-US" sz="1150" dirty="0"/>
          </a:p>
        </p:txBody>
      </p:sp>
      <p:sp>
        <p:nvSpPr>
          <p:cNvPr id="16" name="Text 14"/>
          <p:cNvSpPr/>
          <p:nvPr/>
        </p:nvSpPr>
        <p:spPr>
          <a:xfrm>
            <a:off x="2834640" y="2084832"/>
            <a:ext cx="3200400" cy="475488"/>
          </a:xfrm>
          <a:prstGeom prst="rect">
            <a:avLst/>
          </a:prstGeom>
          <a:noFill/>
          <a:ln/>
        </p:spPr>
        <p:txBody>
          <a:bodyPr wrap="square" lIns="0" tIns="0" rIns="0" bIns="0" rtlCol="0" anchor="ctr"/>
          <a:lstStyle/>
          <a:p>
            <a:pPr indent="0" marL="0">
              <a:lnSpc>
                <a:spcPct val="98000"/>
              </a:lnSpc>
              <a:buNone/>
            </a:pPr>
            <a:r>
              <a:rPr lang="en-US" sz="900" dirty="0">
                <a:solidFill>
                  <a:srgbClr val="3E4C63"/>
                </a:solidFill>
                <a:latin typeface="Calibri" pitchFamily="34" charset="0"/>
                <a:ea typeface="Calibri" pitchFamily="34" charset="-122"/>
                <a:cs typeface="Calibri" pitchFamily="34" charset="-120"/>
              </a:rPr>
              <a:t>Upload a STEP model → show the 3D viewer, geometry &amp; feature table → Calculate</a:t>
            </a:r>
            <a:endParaRPr lang="en-US" sz="900" dirty="0"/>
          </a:p>
        </p:txBody>
      </p:sp>
      <p:sp>
        <p:nvSpPr>
          <p:cNvPr id="17" name="Text 15"/>
          <p:cNvSpPr/>
          <p:nvPr/>
        </p:nvSpPr>
        <p:spPr>
          <a:xfrm>
            <a:off x="6080760" y="2084832"/>
            <a:ext cx="1737360" cy="475488"/>
          </a:xfrm>
          <a:prstGeom prst="rect">
            <a:avLst/>
          </a:prstGeom>
          <a:noFill/>
          <a:ln/>
        </p:spPr>
        <p:txBody>
          <a:bodyPr wrap="square" lIns="0" tIns="0" rIns="0" bIns="0" rtlCol="0" anchor="ctr"/>
          <a:lstStyle/>
          <a:p>
            <a:pPr indent="0" marL="0">
              <a:lnSpc>
                <a:spcPct val="98000"/>
              </a:lnSpc>
              <a:buNone/>
            </a:pPr>
            <a:r>
              <a:rPr lang="en-US" sz="850" i="1" dirty="0">
                <a:solidFill>
                  <a:srgbClr val="8A97A8"/>
                </a:solidFill>
                <a:latin typeface="Calibri" pitchFamily="34" charset="0"/>
                <a:ea typeface="Calibri" pitchFamily="34" charset="-122"/>
                <a:cs typeface="Calibri" pitchFamily="34" charset="-120"/>
              </a:rPr>
              <a:t>→ the should-cost + confidence band appear in ~30–60 s</a:t>
            </a:r>
            <a:endParaRPr lang="en-US" sz="850" dirty="0"/>
          </a:p>
        </p:txBody>
      </p:sp>
      <p:sp>
        <p:nvSpPr>
          <p:cNvPr id="18" name="Shape 16"/>
          <p:cNvSpPr/>
          <p:nvPr/>
        </p:nvSpPr>
        <p:spPr>
          <a:xfrm>
            <a:off x="548640" y="2660904"/>
            <a:ext cx="7315200" cy="512064"/>
          </a:xfrm>
          <a:prstGeom prst="roundRect">
            <a:avLst>
              <a:gd name="adj" fmla="val 8929"/>
            </a:avLst>
          </a:prstGeom>
          <a:solidFill>
            <a:srgbClr val="FFFFFF"/>
          </a:solidFill>
          <a:ln w="12700">
            <a:solidFill>
              <a:srgbClr val="E4EAF2"/>
            </a:solidFill>
            <a:prstDash val="solid"/>
          </a:ln>
        </p:spPr>
      </p:sp>
      <p:sp>
        <p:nvSpPr>
          <p:cNvPr id="19" name="Shape 17"/>
          <p:cNvSpPr/>
          <p:nvPr/>
        </p:nvSpPr>
        <p:spPr>
          <a:xfrm>
            <a:off x="548640" y="2660904"/>
            <a:ext cx="73152" cy="512064"/>
          </a:xfrm>
          <a:prstGeom prst="rect">
            <a:avLst/>
          </a:prstGeom>
          <a:solidFill>
            <a:srgbClr val="2563EB"/>
          </a:solidFill>
          <a:ln/>
        </p:spPr>
      </p:sp>
      <p:sp>
        <p:nvSpPr>
          <p:cNvPr id="20" name="Shape 18"/>
          <p:cNvSpPr/>
          <p:nvPr/>
        </p:nvSpPr>
        <p:spPr>
          <a:xfrm>
            <a:off x="694944" y="2752344"/>
            <a:ext cx="329184" cy="329184"/>
          </a:xfrm>
          <a:prstGeom prst="ellipse">
            <a:avLst/>
          </a:prstGeom>
          <a:solidFill>
            <a:srgbClr val="2563EB"/>
          </a:solidFill>
          <a:ln/>
          <a:effectLst>
            <a:outerShdw sx="100000" sy="100000" kx="0" ky="0" algn="bl" rotWithShape="0" blurRad="2.908260204281253e+70" dist="8.724780612843754e+69" dir="1.5233993500262402e+83">
              <a:srgbClr val="A7B6CE">
                <a:alpha val="1.8000000000000004e+84"/>
              </a:srgbClr>
            </a:outerShdw>
          </a:effectLst>
        </p:spPr>
      </p:sp>
      <p:sp>
        <p:nvSpPr>
          <p:cNvPr id="21" name="Text 19"/>
          <p:cNvSpPr/>
          <p:nvPr/>
        </p:nvSpPr>
        <p:spPr>
          <a:xfrm>
            <a:off x="694944" y="2752344"/>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2</a:t>
            </a:r>
            <a:endParaRPr lang="en-US" sz="1224" dirty="0"/>
          </a:p>
        </p:txBody>
      </p:sp>
      <p:sp>
        <p:nvSpPr>
          <p:cNvPr id="22" name="Text 20"/>
          <p:cNvSpPr/>
          <p:nvPr/>
        </p:nvSpPr>
        <p:spPr>
          <a:xfrm>
            <a:off x="1152144" y="2660904"/>
            <a:ext cx="1645920" cy="512064"/>
          </a:xfrm>
          <a:prstGeom prst="rect">
            <a:avLst/>
          </a:prstGeom>
          <a:noFill/>
          <a:ln/>
        </p:spPr>
        <p:txBody>
          <a:bodyPr wrap="square" lIns="0" tIns="0" rIns="0" bIns="0" rtlCol="0" anchor="ctr"/>
          <a:lstStyle/>
          <a:p>
            <a:pPr indent="0" marL="0">
              <a:buNone/>
            </a:pPr>
            <a:r>
              <a:rPr lang="en-US" sz="1150" b="1" dirty="0">
                <a:solidFill>
                  <a:srgbClr val="2563EB"/>
                </a:solidFill>
                <a:latin typeface="Calibri" pitchFamily="34" charset="0"/>
                <a:ea typeface="Calibri" pitchFamily="34" charset="-122"/>
                <a:cs typeface="Calibri" pitchFamily="34" charset="-120"/>
              </a:rPr>
              <a:t>Add a 2D drawing</a:t>
            </a:r>
            <a:endParaRPr lang="en-US" sz="1150" dirty="0"/>
          </a:p>
        </p:txBody>
      </p:sp>
      <p:sp>
        <p:nvSpPr>
          <p:cNvPr id="23" name="Text 21"/>
          <p:cNvSpPr/>
          <p:nvPr/>
        </p:nvSpPr>
        <p:spPr>
          <a:xfrm>
            <a:off x="2834640" y="2688336"/>
            <a:ext cx="3200400" cy="475488"/>
          </a:xfrm>
          <a:prstGeom prst="rect">
            <a:avLst/>
          </a:prstGeom>
          <a:noFill/>
          <a:ln/>
        </p:spPr>
        <p:txBody>
          <a:bodyPr wrap="square" lIns="0" tIns="0" rIns="0" bIns="0" rtlCol="0" anchor="ctr"/>
          <a:lstStyle/>
          <a:p>
            <a:pPr indent="0" marL="0">
              <a:lnSpc>
                <a:spcPct val="98000"/>
              </a:lnSpc>
              <a:buNone/>
            </a:pPr>
            <a:r>
              <a:rPr lang="en-US" sz="900" dirty="0">
                <a:solidFill>
                  <a:srgbClr val="3E4C63"/>
                </a:solidFill>
                <a:latin typeface="Calibri" pitchFamily="34" charset="0"/>
                <a:ea typeface="Calibri" pitchFamily="34" charset="-122"/>
                <a:cs typeface="Calibri" pitchFamily="34" charset="-120"/>
              </a:rPr>
              <a:t>Attach the engineering-drawing PDF → re-analyse</a:t>
            </a:r>
            <a:endParaRPr lang="en-US" sz="900" dirty="0"/>
          </a:p>
        </p:txBody>
      </p:sp>
      <p:sp>
        <p:nvSpPr>
          <p:cNvPr id="24" name="Text 22"/>
          <p:cNvSpPr/>
          <p:nvPr/>
        </p:nvSpPr>
        <p:spPr>
          <a:xfrm>
            <a:off x="6080760" y="2688336"/>
            <a:ext cx="1737360" cy="475488"/>
          </a:xfrm>
          <a:prstGeom prst="rect">
            <a:avLst/>
          </a:prstGeom>
          <a:noFill/>
          <a:ln/>
        </p:spPr>
        <p:txBody>
          <a:bodyPr wrap="square" lIns="0" tIns="0" rIns="0" bIns="0" rtlCol="0" anchor="ctr"/>
          <a:lstStyle/>
          <a:p>
            <a:pPr indent="0" marL="0">
              <a:lnSpc>
                <a:spcPct val="98000"/>
              </a:lnSpc>
              <a:buNone/>
            </a:pPr>
            <a:r>
              <a:rPr lang="en-US" sz="850" i="1" dirty="0">
                <a:solidFill>
                  <a:srgbClr val="8A97A8"/>
                </a:solidFill>
                <a:latin typeface="Calibri" pitchFamily="34" charset="0"/>
                <a:ea typeface="Calibri" pitchFamily="34" charset="-122"/>
                <a:cs typeface="Calibri" pitchFamily="34" charset="-120"/>
              </a:rPr>
              <a:t>→ tolerances tighten the process route — accuracy improves live</a:t>
            </a:r>
            <a:endParaRPr lang="en-US" sz="850" dirty="0"/>
          </a:p>
        </p:txBody>
      </p:sp>
      <p:sp>
        <p:nvSpPr>
          <p:cNvPr id="25" name="Shape 23"/>
          <p:cNvSpPr/>
          <p:nvPr/>
        </p:nvSpPr>
        <p:spPr>
          <a:xfrm>
            <a:off x="548640" y="3264408"/>
            <a:ext cx="7315200" cy="512064"/>
          </a:xfrm>
          <a:prstGeom prst="roundRect">
            <a:avLst>
              <a:gd name="adj" fmla="val 8929"/>
            </a:avLst>
          </a:prstGeom>
          <a:solidFill>
            <a:srgbClr val="F4F7FB"/>
          </a:solidFill>
          <a:ln w="12700">
            <a:solidFill>
              <a:srgbClr val="E4EAF2"/>
            </a:solidFill>
            <a:prstDash val="solid"/>
          </a:ln>
        </p:spPr>
      </p:sp>
      <p:sp>
        <p:nvSpPr>
          <p:cNvPr id="26" name="Shape 24"/>
          <p:cNvSpPr/>
          <p:nvPr/>
        </p:nvSpPr>
        <p:spPr>
          <a:xfrm>
            <a:off x="548640" y="3264408"/>
            <a:ext cx="73152" cy="512064"/>
          </a:xfrm>
          <a:prstGeom prst="rect">
            <a:avLst/>
          </a:prstGeom>
          <a:solidFill>
            <a:srgbClr val="E0900C"/>
          </a:solidFill>
          <a:ln/>
        </p:spPr>
      </p:sp>
      <p:sp>
        <p:nvSpPr>
          <p:cNvPr id="27" name="Shape 25"/>
          <p:cNvSpPr/>
          <p:nvPr/>
        </p:nvSpPr>
        <p:spPr>
          <a:xfrm>
            <a:off x="694944" y="3355848"/>
            <a:ext cx="329184" cy="329184"/>
          </a:xfrm>
          <a:prstGeom prst="ellipse">
            <a:avLst/>
          </a:prstGeom>
          <a:solidFill>
            <a:srgbClr val="E0900C"/>
          </a:solidFill>
          <a:ln/>
          <a:effectLst>
            <a:outerShdw sx="100000" sy="100000" kx="0" ky="0" algn="bl" rotWithShape="0" blurRad="3.693490459437191e+74" dist="1.1080471378311567e+74" dir="9.14039610015744e+87">
              <a:srgbClr val="A7B6CE">
                <a:alpha val="1.8000000000000005e+89"/>
              </a:srgbClr>
            </a:outerShdw>
          </a:effectLst>
        </p:spPr>
      </p:sp>
      <p:sp>
        <p:nvSpPr>
          <p:cNvPr id="28" name="Text 26"/>
          <p:cNvSpPr/>
          <p:nvPr/>
        </p:nvSpPr>
        <p:spPr>
          <a:xfrm>
            <a:off x="694944" y="3355848"/>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3</a:t>
            </a:r>
            <a:endParaRPr lang="en-US" sz="1224" dirty="0"/>
          </a:p>
        </p:txBody>
      </p:sp>
      <p:sp>
        <p:nvSpPr>
          <p:cNvPr id="29" name="Text 27"/>
          <p:cNvSpPr/>
          <p:nvPr/>
        </p:nvSpPr>
        <p:spPr>
          <a:xfrm>
            <a:off x="1152144" y="3264408"/>
            <a:ext cx="1645920" cy="512064"/>
          </a:xfrm>
          <a:prstGeom prst="rect">
            <a:avLst/>
          </a:prstGeom>
          <a:noFill/>
          <a:ln/>
        </p:spPr>
        <p:txBody>
          <a:bodyPr wrap="square" lIns="0" tIns="0" rIns="0" bIns="0" rtlCol="0" anchor="ctr"/>
          <a:lstStyle/>
          <a:p>
            <a:pPr indent="0" marL="0">
              <a:buNone/>
            </a:pPr>
            <a:r>
              <a:rPr lang="en-US" sz="1150" b="1" dirty="0">
                <a:solidFill>
                  <a:srgbClr val="E0900C"/>
                </a:solidFill>
                <a:latin typeface="Calibri" pitchFamily="34" charset="0"/>
                <a:ea typeface="Calibri" pitchFamily="34" charset="-122"/>
                <a:cs typeface="Calibri" pitchFamily="34" charset="-120"/>
              </a:rPr>
              <a:t>Compare countries</a:t>
            </a:r>
            <a:endParaRPr lang="en-US" sz="1150" dirty="0"/>
          </a:p>
        </p:txBody>
      </p:sp>
      <p:sp>
        <p:nvSpPr>
          <p:cNvPr id="30" name="Text 28"/>
          <p:cNvSpPr/>
          <p:nvPr/>
        </p:nvSpPr>
        <p:spPr>
          <a:xfrm>
            <a:off x="2834640" y="3291840"/>
            <a:ext cx="3200400" cy="475488"/>
          </a:xfrm>
          <a:prstGeom prst="rect">
            <a:avLst/>
          </a:prstGeom>
          <a:noFill/>
          <a:ln/>
        </p:spPr>
        <p:txBody>
          <a:bodyPr wrap="square" lIns="0" tIns="0" rIns="0" bIns="0" rtlCol="0" anchor="ctr"/>
          <a:lstStyle/>
          <a:p>
            <a:pPr indent="0" marL="0">
              <a:lnSpc>
                <a:spcPct val="98000"/>
              </a:lnSpc>
              <a:buNone/>
            </a:pPr>
            <a:r>
              <a:rPr lang="en-US" sz="900" dirty="0">
                <a:solidFill>
                  <a:srgbClr val="3E4C63"/>
                </a:solidFill>
                <a:latin typeface="Calibri" pitchFamily="34" charset="0"/>
                <a:ea typeface="Calibri" pitchFamily="34" charset="-122"/>
                <a:cs typeface="Calibri" pitchFamily="34" charset="-120"/>
              </a:rPr>
              <a:t>Switch the region selector / open the comparison</a:t>
            </a:r>
            <a:endParaRPr lang="en-US" sz="900" dirty="0"/>
          </a:p>
        </p:txBody>
      </p:sp>
      <p:sp>
        <p:nvSpPr>
          <p:cNvPr id="31" name="Text 29"/>
          <p:cNvSpPr/>
          <p:nvPr/>
        </p:nvSpPr>
        <p:spPr>
          <a:xfrm>
            <a:off x="6080760" y="3291840"/>
            <a:ext cx="1737360" cy="475488"/>
          </a:xfrm>
          <a:prstGeom prst="rect">
            <a:avLst/>
          </a:prstGeom>
          <a:noFill/>
          <a:ln/>
        </p:spPr>
        <p:txBody>
          <a:bodyPr wrap="square" lIns="0" tIns="0" rIns="0" bIns="0" rtlCol="0" anchor="ctr"/>
          <a:lstStyle/>
          <a:p>
            <a:pPr indent="0" marL="0">
              <a:lnSpc>
                <a:spcPct val="98000"/>
              </a:lnSpc>
              <a:buNone/>
            </a:pPr>
            <a:r>
              <a:rPr lang="en-US" sz="850" i="1" dirty="0">
                <a:solidFill>
                  <a:srgbClr val="8A97A8"/>
                </a:solidFill>
                <a:latin typeface="Calibri" pitchFamily="34" charset="0"/>
                <a:ea typeface="Calibri" pitchFamily="34" charset="-122"/>
                <a:cs typeface="Calibri" pitchFamily="34" charset="-120"/>
              </a:rPr>
              <a:t>→ the 20-region spread — China vs Germany — in one click</a:t>
            </a:r>
            <a:endParaRPr lang="en-US" sz="850" dirty="0"/>
          </a:p>
        </p:txBody>
      </p:sp>
      <p:sp>
        <p:nvSpPr>
          <p:cNvPr id="32" name="Shape 30"/>
          <p:cNvSpPr/>
          <p:nvPr/>
        </p:nvSpPr>
        <p:spPr>
          <a:xfrm>
            <a:off x="548640" y="3867912"/>
            <a:ext cx="7315200" cy="512064"/>
          </a:xfrm>
          <a:prstGeom prst="roundRect">
            <a:avLst>
              <a:gd name="adj" fmla="val 8929"/>
            </a:avLst>
          </a:prstGeom>
          <a:solidFill>
            <a:srgbClr val="FFFFFF"/>
          </a:solidFill>
          <a:ln w="12700">
            <a:solidFill>
              <a:srgbClr val="E4EAF2"/>
            </a:solidFill>
            <a:prstDash val="solid"/>
          </a:ln>
        </p:spPr>
      </p:sp>
      <p:sp>
        <p:nvSpPr>
          <p:cNvPr id="33" name="Shape 31"/>
          <p:cNvSpPr/>
          <p:nvPr/>
        </p:nvSpPr>
        <p:spPr>
          <a:xfrm>
            <a:off x="548640" y="3867912"/>
            <a:ext cx="73152" cy="512064"/>
          </a:xfrm>
          <a:prstGeom prst="rect">
            <a:avLst/>
          </a:prstGeom>
          <a:solidFill>
            <a:srgbClr val="0E93B0"/>
          </a:solidFill>
          <a:ln/>
        </p:spPr>
      </p:sp>
      <p:sp>
        <p:nvSpPr>
          <p:cNvPr id="34" name="Shape 32"/>
          <p:cNvSpPr/>
          <p:nvPr/>
        </p:nvSpPr>
        <p:spPr>
          <a:xfrm>
            <a:off x="694944" y="3959352"/>
            <a:ext cx="329184" cy="329184"/>
          </a:xfrm>
          <a:prstGeom prst="ellipse">
            <a:avLst/>
          </a:prstGeom>
          <a:solidFill>
            <a:srgbClr val="0E93B0"/>
          </a:solidFill>
          <a:ln/>
          <a:effectLst>
            <a:outerShdw sx="100000" sy="100000" kx="0" ky="0" algn="bl" rotWithShape="0" blurRad="4.690732883485232e+78" dist="1.407219865045569e+78" dir="5.484237660094465e+92">
              <a:srgbClr val="A7B6CE">
                <a:alpha val="1.8000000000000007e+94"/>
              </a:srgbClr>
            </a:outerShdw>
          </a:effectLst>
        </p:spPr>
      </p:sp>
      <p:sp>
        <p:nvSpPr>
          <p:cNvPr id="35" name="Text 33"/>
          <p:cNvSpPr/>
          <p:nvPr/>
        </p:nvSpPr>
        <p:spPr>
          <a:xfrm>
            <a:off x="694944" y="3959352"/>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4</a:t>
            </a:r>
            <a:endParaRPr lang="en-US" sz="1224" dirty="0"/>
          </a:p>
        </p:txBody>
      </p:sp>
      <p:sp>
        <p:nvSpPr>
          <p:cNvPr id="36" name="Text 34"/>
          <p:cNvSpPr/>
          <p:nvPr/>
        </p:nvSpPr>
        <p:spPr>
          <a:xfrm>
            <a:off x="1152144" y="3867912"/>
            <a:ext cx="1645920" cy="512064"/>
          </a:xfrm>
          <a:prstGeom prst="rect">
            <a:avLst/>
          </a:prstGeom>
          <a:noFill/>
          <a:ln/>
        </p:spPr>
        <p:txBody>
          <a:bodyPr wrap="square" lIns="0" tIns="0" rIns="0" bIns="0" rtlCol="0" anchor="ctr"/>
          <a:lstStyle/>
          <a:p>
            <a:pPr indent="0" marL="0">
              <a:buNone/>
            </a:pPr>
            <a:r>
              <a:rPr lang="en-US" sz="1150" b="1" dirty="0">
                <a:solidFill>
                  <a:srgbClr val="0E93B0"/>
                </a:solidFill>
                <a:latin typeface="Calibri" pitchFamily="34" charset="0"/>
                <a:ea typeface="Calibri" pitchFamily="34" charset="-122"/>
                <a:cs typeface="Calibri" pitchFamily="34" charset="-120"/>
              </a:rPr>
              <a:t>PCB photo → BOM</a:t>
            </a:r>
            <a:endParaRPr lang="en-US" sz="1150" dirty="0"/>
          </a:p>
        </p:txBody>
      </p:sp>
      <p:sp>
        <p:nvSpPr>
          <p:cNvPr id="37" name="Text 35"/>
          <p:cNvSpPr/>
          <p:nvPr/>
        </p:nvSpPr>
        <p:spPr>
          <a:xfrm>
            <a:off x="2834640" y="3895344"/>
            <a:ext cx="3200400" cy="475488"/>
          </a:xfrm>
          <a:prstGeom prst="rect">
            <a:avLst/>
          </a:prstGeom>
          <a:noFill/>
          <a:ln/>
        </p:spPr>
        <p:txBody>
          <a:bodyPr wrap="square" lIns="0" tIns="0" rIns="0" bIns="0" rtlCol="0" anchor="ctr"/>
          <a:lstStyle/>
          <a:p>
            <a:pPr indent="0" marL="0">
              <a:lnSpc>
                <a:spcPct val="98000"/>
              </a:lnSpc>
              <a:buNone/>
            </a:pPr>
            <a:r>
              <a:rPr lang="en-US" sz="900" dirty="0">
                <a:solidFill>
                  <a:srgbClr val="3E4C63"/>
                </a:solidFill>
                <a:latin typeface="Calibri" pitchFamily="34" charset="0"/>
                <a:ea typeface="Calibri" pitchFamily="34" charset="-122"/>
                <a:cs typeface="Calibri" pitchFamily="34" charset="-120"/>
              </a:rPr>
              <a:t>Drop a board photo → run analysis</a:t>
            </a:r>
            <a:endParaRPr lang="en-US" sz="900" dirty="0"/>
          </a:p>
        </p:txBody>
      </p:sp>
      <p:sp>
        <p:nvSpPr>
          <p:cNvPr id="38" name="Text 36"/>
          <p:cNvSpPr/>
          <p:nvPr/>
        </p:nvSpPr>
        <p:spPr>
          <a:xfrm>
            <a:off x="6080760" y="3895344"/>
            <a:ext cx="1737360" cy="475488"/>
          </a:xfrm>
          <a:prstGeom prst="rect">
            <a:avLst/>
          </a:prstGeom>
          <a:noFill/>
          <a:ln/>
        </p:spPr>
        <p:txBody>
          <a:bodyPr wrap="square" lIns="0" tIns="0" rIns="0" bIns="0" rtlCol="0" anchor="ctr"/>
          <a:lstStyle/>
          <a:p>
            <a:pPr indent="0" marL="0">
              <a:lnSpc>
                <a:spcPct val="98000"/>
              </a:lnSpc>
              <a:buNone/>
            </a:pPr>
            <a:r>
              <a:rPr lang="en-US" sz="850" i="1" dirty="0">
                <a:solidFill>
                  <a:srgbClr val="8A97A8"/>
                </a:solidFill>
                <a:latin typeface="Calibri" pitchFamily="34" charset="0"/>
                <a:ea typeface="Calibri" pitchFamily="34" charset="-122"/>
                <a:cs typeface="Calibri" pitchFamily="34" charset="-120"/>
              </a:rPr>
              <a:t>→ a full costed BOM builds from a single picture</a:t>
            </a:r>
            <a:endParaRPr lang="en-US" sz="850" dirty="0"/>
          </a:p>
        </p:txBody>
      </p:sp>
      <p:sp>
        <p:nvSpPr>
          <p:cNvPr id="39" name="Shape 37"/>
          <p:cNvSpPr/>
          <p:nvPr/>
        </p:nvSpPr>
        <p:spPr>
          <a:xfrm>
            <a:off x="548640" y="4471416"/>
            <a:ext cx="7315200" cy="512064"/>
          </a:xfrm>
          <a:prstGeom prst="roundRect">
            <a:avLst>
              <a:gd name="adj" fmla="val 8929"/>
            </a:avLst>
          </a:prstGeom>
          <a:solidFill>
            <a:srgbClr val="F4F7FB"/>
          </a:solidFill>
          <a:ln w="12700">
            <a:solidFill>
              <a:srgbClr val="E4EAF2"/>
            </a:solidFill>
            <a:prstDash val="solid"/>
          </a:ln>
        </p:spPr>
      </p:sp>
      <p:sp>
        <p:nvSpPr>
          <p:cNvPr id="40" name="Shape 38"/>
          <p:cNvSpPr/>
          <p:nvPr/>
        </p:nvSpPr>
        <p:spPr>
          <a:xfrm>
            <a:off x="548640" y="4471416"/>
            <a:ext cx="73152" cy="512064"/>
          </a:xfrm>
          <a:prstGeom prst="rect">
            <a:avLst/>
          </a:prstGeom>
          <a:solidFill>
            <a:srgbClr val="7C3AED"/>
          </a:solidFill>
          <a:ln/>
        </p:spPr>
      </p:sp>
      <p:sp>
        <p:nvSpPr>
          <p:cNvPr id="41" name="Shape 39"/>
          <p:cNvSpPr/>
          <p:nvPr/>
        </p:nvSpPr>
        <p:spPr>
          <a:xfrm>
            <a:off x="694944" y="4562856"/>
            <a:ext cx="329184" cy="329184"/>
          </a:xfrm>
          <a:prstGeom prst="ellipse">
            <a:avLst/>
          </a:prstGeom>
          <a:solidFill>
            <a:srgbClr val="7C3AED"/>
          </a:solidFill>
          <a:ln/>
          <a:effectLst>
            <a:outerShdw sx="100000" sy="100000" kx="0" ky="0" algn="bl" rotWithShape="0" blurRad="5.957230762026245e+82" dist="1.7871692286078725e+82" dir="3.2905425960566786e+97">
              <a:srgbClr val="A7B6CE">
                <a:alpha val="1.8000000000000008e+99"/>
              </a:srgbClr>
            </a:outerShdw>
          </a:effectLst>
        </p:spPr>
      </p:sp>
      <p:sp>
        <p:nvSpPr>
          <p:cNvPr id="42" name="Text 40"/>
          <p:cNvSpPr/>
          <p:nvPr/>
        </p:nvSpPr>
        <p:spPr>
          <a:xfrm>
            <a:off x="694944" y="4562856"/>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5</a:t>
            </a:r>
            <a:endParaRPr lang="en-US" sz="1224" dirty="0"/>
          </a:p>
        </p:txBody>
      </p:sp>
      <p:sp>
        <p:nvSpPr>
          <p:cNvPr id="43" name="Text 41"/>
          <p:cNvSpPr/>
          <p:nvPr/>
        </p:nvSpPr>
        <p:spPr>
          <a:xfrm>
            <a:off x="1152144" y="4471416"/>
            <a:ext cx="1645920" cy="512064"/>
          </a:xfrm>
          <a:prstGeom prst="rect">
            <a:avLst/>
          </a:prstGeom>
          <a:noFill/>
          <a:ln/>
        </p:spPr>
        <p:txBody>
          <a:bodyPr wrap="square" lIns="0" tIns="0" rIns="0" bIns="0" rtlCol="0" anchor="ctr"/>
          <a:lstStyle/>
          <a:p>
            <a:pPr indent="0" marL="0">
              <a:buNone/>
            </a:pPr>
            <a:r>
              <a:rPr lang="en-US" sz="1150" b="1" dirty="0">
                <a:solidFill>
                  <a:srgbClr val="7C3AED"/>
                </a:solidFill>
                <a:latin typeface="Calibri" pitchFamily="34" charset="0"/>
                <a:ea typeface="Calibri" pitchFamily="34" charset="-122"/>
                <a:cs typeface="Calibri" pitchFamily="34" charset="-120"/>
              </a:rPr>
              <a:t>Negotiation</a:t>
            </a:r>
            <a:endParaRPr lang="en-US" sz="1150" dirty="0"/>
          </a:p>
        </p:txBody>
      </p:sp>
      <p:sp>
        <p:nvSpPr>
          <p:cNvPr id="44" name="Text 42"/>
          <p:cNvSpPr/>
          <p:nvPr/>
        </p:nvSpPr>
        <p:spPr>
          <a:xfrm>
            <a:off x="2834640" y="4498848"/>
            <a:ext cx="3200400" cy="475488"/>
          </a:xfrm>
          <a:prstGeom prst="rect">
            <a:avLst/>
          </a:prstGeom>
          <a:noFill/>
          <a:ln/>
        </p:spPr>
        <p:txBody>
          <a:bodyPr wrap="square" lIns="0" tIns="0" rIns="0" bIns="0" rtlCol="0" anchor="ctr"/>
          <a:lstStyle/>
          <a:p>
            <a:pPr indent="0" marL="0">
              <a:lnSpc>
                <a:spcPct val="98000"/>
              </a:lnSpc>
              <a:buNone/>
            </a:pPr>
            <a:r>
              <a:rPr lang="en-US" sz="900" dirty="0">
                <a:solidFill>
                  <a:srgbClr val="3E4C63"/>
                </a:solidFill>
                <a:latin typeface="Calibri" pitchFamily="34" charset="0"/>
                <a:ea typeface="Calibri" pitchFamily="34" charset="-122"/>
                <a:cs typeface="Calibri" pitchFamily="34" charset="-120"/>
              </a:rPr>
              <a:t>Paste a supplier quote → generate pack</a:t>
            </a:r>
            <a:endParaRPr lang="en-US" sz="900" dirty="0"/>
          </a:p>
        </p:txBody>
      </p:sp>
      <p:sp>
        <p:nvSpPr>
          <p:cNvPr id="45" name="Text 43"/>
          <p:cNvSpPr/>
          <p:nvPr/>
        </p:nvSpPr>
        <p:spPr>
          <a:xfrm>
            <a:off x="6080760" y="4498848"/>
            <a:ext cx="1737360" cy="475488"/>
          </a:xfrm>
          <a:prstGeom prst="rect">
            <a:avLst/>
          </a:prstGeom>
          <a:noFill/>
          <a:ln/>
        </p:spPr>
        <p:txBody>
          <a:bodyPr wrap="square" lIns="0" tIns="0" rIns="0" bIns="0" rtlCol="0" anchor="ctr"/>
          <a:lstStyle/>
          <a:p>
            <a:pPr indent="0" marL="0">
              <a:lnSpc>
                <a:spcPct val="98000"/>
              </a:lnSpc>
              <a:buNone/>
            </a:pPr>
            <a:r>
              <a:rPr lang="en-US" sz="850" i="1" dirty="0">
                <a:solidFill>
                  <a:srgbClr val="8A97A8"/>
                </a:solidFill>
                <a:latin typeface="Calibri" pitchFamily="34" charset="0"/>
                <a:ea typeface="Calibri" pitchFamily="34" charset="-122"/>
                <a:cs typeface="Calibri" pitchFamily="34" charset="-120"/>
              </a:rPr>
              <a:t>→ the gap teardown by driver + ready-to-send questions</a:t>
            </a:r>
            <a:endParaRPr lang="en-US" sz="850" dirty="0"/>
          </a:p>
        </p:txBody>
      </p:sp>
      <p:sp>
        <p:nvSpPr>
          <p:cNvPr id="46" name="Shape 44"/>
          <p:cNvSpPr/>
          <p:nvPr/>
        </p:nvSpPr>
        <p:spPr>
          <a:xfrm>
            <a:off x="548640" y="5074920"/>
            <a:ext cx="7315200" cy="512064"/>
          </a:xfrm>
          <a:prstGeom prst="roundRect">
            <a:avLst>
              <a:gd name="adj" fmla="val 8929"/>
            </a:avLst>
          </a:prstGeom>
          <a:solidFill>
            <a:srgbClr val="FFFFFF"/>
          </a:solidFill>
          <a:ln w="12700">
            <a:solidFill>
              <a:srgbClr val="E4EAF2"/>
            </a:solidFill>
            <a:prstDash val="solid"/>
          </a:ln>
        </p:spPr>
      </p:sp>
      <p:sp>
        <p:nvSpPr>
          <p:cNvPr id="47" name="Shape 45"/>
          <p:cNvSpPr/>
          <p:nvPr/>
        </p:nvSpPr>
        <p:spPr>
          <a:xfrm>
            <a:off x="548640" y="5074920"/>
            <a:ext cx="73152" cy="512064"/>
          </a:xfrm>
          <a:prstGeom prst="rect">
            <a:avLst/>
          </a:prstGeom>
          <a:solidFill>
            <a:srgbClr val="E5484D"/>
          </a:solidFill>
          <a:ln/>
        </p:spPr>
      </p:sp>
      <p:sp>
        <p:nvSpPr>
          <p:cNvPr id="48" name="Shape 46"/>
          <p:cNvSpPr/>
          <p:nvPr/>
        </p:nvSpPr>
        <p:spPr>
          <a:xfrm>
            <a:off x="694944" y="5166360"/>
            <a:ext cx="329184" cy="329184"/>
          </a:xfrm>
          <a:prstGeom prst="ellipse">
            <a:avLst/>
          </a:prstGeom>
          <a:solidFill>
            <a:srgbClr val="E5484D"/>
          </a:solidFill>
          <a:ln/>
          <a:effectLst>
            <a:outerShdw sx="100000" sy="100000" kx="0" ky="0" algn="bl" rotWithShape="0" blurRad="7.565683067773332e+86" dist="2.269704920331998e+86" dir="1.9743255576340073e+102">
              <a:srgbClr val="A7B6CE">
                <a:alpha val="1.800000000000001e+104"/>
              </a:srgbClr>
            </a:outerShdw>
          </a:effectLst>
        </p:spPr>
      </p:sp>
      <p:sp>
        <p:nvSpPr>
          <p:cNvPr id="49" name="Text 47"/>
          <p:cNvSpPr/>
          <p:nvPr/>
        </p:nvSpPr>
        <p:spPr>
          <a:xfrm>
            <a:off x="694944" y="5166360"/>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6</a:t>
            </a:r>
            <a:endParaRPr lang="en-US" sz="1224" dirty="0"/>
          </a:p>
        </p:txBody>
      </p:sp>
      <p:sp>
        <p:nvSpPr>
          <p:cNvPr id="50" name="Text 48"/>
          <p:cNvSpPr/>
          <p:nvPr/>
        </p:nvSpPr>
        <p:spPr>
          <a:xfrm>
            <a:off x="1152144" y="5074920"/>
            <a:ext cx="1645920" cy="512064"/>
          </a:xfrm>
          <a:prstGeom prst="rect">
            <a:avLst/>
          </a:prstGeom>
          <a:noFill/>
          <a:ln/>
        </p:spPr>
        <p:txBody>
          <a:bodyPr wrap="square" lIns="0" tIns="0" rIns="0" bIns="0" rtlCol="0" anchor="ctr"/>
          <a:lstStyle/>
          <a:p>
            <a:pPr indent="0" marL="0">
              <a:buNone/>
            </a:pPr>
            <a:r>
              <a:rPr lang="en-US" sz="1150" b="1" dirty="0">
                <a:solidFill>
                  <a:srgbClr val="E5484D"/>
                </a:solidFill>
                <a:latin typeface="Calibri" pitchFamily="34" charset="0"/>
                <a:ea typeface="Calibri" pitchFamily="34" charset="-122"/>
                <a:cs typeface="Calibri" pitchFamily="34" charset="-120"/>
              </a:rPr>
              <a:t>Autonomous agent</a:t>
            </a:r>
            <a:endParaRPr lang="en-US" sz="1150" dirty="0"/>
          </a:p>
        </p:txBody>
      </p:sp>
      <p:sp>
        <p:nvSpPr>
          <p:cNvPr id="51" name="Text 49"/>
          <p:cNvSpPr/>
          <p:nvPr/>
        </p:nvSpPr>
        <p:spPr>
          <a:xfrm>
            <a:off x="2834640" y="5102352"/>
            <a:ext cx="3200400" cy="475488"/>
          </a:xfrm>
          <a:prstGeom prst="rect">
            <a:avLst/>
          </a:prstGeom>
          <a:noFill/>
          <a:ln/>
        </p:spPr>
        <p:txBody>
          <a:bodyPr wrap="square" lIns="0" tIns="0" rIns="0" bIns="0" rtlCol="0" anchor="ctr"/>
          <a:lstStyle/>
          <a:p>
            <a:pPr indent="0" marL="0">
              <a:lnSpc>
                <a:spcPct val="98000"/>
              </a:lnSpc>
              <a:buNone/>
            </a:pPr>
            <a:r>
              <a:rPr lang="en-US" sz="900" dirty="0">
                <a:solidFill>
                  <a:srgbClr val="3E4C63"/>
                </a:solidFill>
                <a:latin typeface="Calibri" pitchFamily="34" charset="0"/>
                <a:ea typeface="Calibri" pitchFamily="34" charset="-122"/>
                <a:cs typeface="Calibri" pitchFamily="34" charset="-120"/>
              </a:rPr>
              <a:t>Open the findings panel</a:t>
            </a:r>
            <a:endParaRPr lang="en-US" sz="900" dirty="0"/>
          </a:p>
        </p:txBody>
      </p:sp>
      <p:sp>
        <p:nvSpPr>
          <p:cNvPr id="52" name="Text 50"/>
          <p:cNvSpPr/>
          <p:nvPr/>
        </p:nvSpPr>
        <p:spPr>
          <a:xfrm>
            <a:off x="6080760" y="5102352"/>
            <a:ext cx="1737360" cy="475488"/>
          </a:xfrm>
          <a:prstGeom prst="rect">
            <a:avLst/>
          </a:prstGeom>
          <a:noFill/>
          <a:ln/>
        </p:spPr>
        <p:txBody>
          <a:bodyPr wrap="square" lIns="0" tIns="0" rIns="0" bIns="0" rtlCol="0" anchor="ctr"/>
          <a:lstStyle/>
          <a:p>
            <a:pPr indent="0" marL="0">
              <a:lnSpc>
                <a:spcPct val="98000"/>
              </a:lnSpc>
              <a:buNone/>
            </a:pPr>
            <a:r>
              <a:rPr lang="en-US" sz="850" i="1" dirty="0">
                <a:solidFill>
                  <a:srgbClr val="8A97A8"/>
                </a:solidFill>
                <a:latin typeface="Calibri" pitchFamily="34" charset="0"/>
                <a:ea typeface="Calibri" pitchFamily="34" charset="-122"/>
                <a:cs typeface="Calibri" pitchFamily="34" charset="-120"/>
              </a:rPr>
              <a:t>→ ~£512k/yr surfaced by itself — the "wow" close</a:t>
            </a:r>
            <a:endParaRPr lang="en-US" sz="850" dirty="0"/>
          </a:p>
        </p:txBody>
      </p:sp>
      <p:sp>
        <p:nvSpPr>
          <p:cNvPr id="53" name="Shape 51"/>
          <p:cNvSpPr/>
          <p:nvPr/>
        </p:nvSpPr>
        <p:spPr>
          <a:xfrm>
            <a:off x="8165592" y="2057400"/>
            <a:ext cx="3477463" cy="3529584"/>
          </a:xfrm>
          <a:prstGeom prst="roundRect">
            <a:avLst>
              <a:gd name="adj" fmla="val 1841"/>
            </a:avLst>
          </a:prstGeom>
          <a:solidFill>
            <a:srgbClr val="F3EEFE"/>
          </a:solidFill>
          <a:ln w="12700">
            <a:solidFill>
              <a:srgbClr val="E4EAF2"/>
            </a:solidFill>
            <a:prstDash val="solid"/>
          </a:ln>
        </p:spPr>
      </p:sp>
      <p:sp>
        <p:nvSpPr>
          <p:cNvPr id="54" name="Shape 52"/>
          <p:cNvSpPr/>
          <p:nvPr/>
        </p:nvSpPr>
        <p:spPr>
          <a:xfrm>
            <a:off x="8165592" y="2057400"/>
            <a:ext cx="82296" cy="3529584"/>
          </a:xfrm>
          <a:prstGeom prst="rect">
            <a:avLst/>
          </a:prstGeom>
          <a:solidFill>
            <a:srgbClr val="7C3AED"/>
          </a:solidFill>
          <a:ln/>
        </p:spPr>
      </p:sp>
      <p:sp>
        <p:nvSpPr>
          <p:cNvPr id="55" name="Text 53"/>
          <p:cNvSpPr/>
          <p:nvPr/>
        </p:nvSpPr>
        <p:spPr>
          <a:xfrm>
            <a:off x="8421624" y="2221992"/>
            <a:ext cx="3020263" cy="320040"/>
          </a:xfrm>
          <a:prstGeom prst="rect">
            <a:avLst/>
          </a:prstGeom>
          <a:noFill/>
          <a:ln/>
        </p:spPr>
        <p:txBody>
          <a:bodyPr wrap="square" lIns="0" tIns="0" rIns="0" bIns="0" rtlCol="0" anchor="t"/>
          <a:lstStyle/>
          <a:p>
            <a:pPr indent="0" marL="0">
              <a:buNone/>
            </a:pPr>
            <a:r>
              <a:rPr lang="en-US" sz="1300" b="1" dirty="0">
                <a:solidFill>
                  <a:srgbClr val="7C3AED"/>
                </a:solidFill>
                <a:latin typeface="Calibri" pitchFamily="34" charset="0"/>
                <a:ea typeface="Calibri" pitchFamily="34" charset="-122"/>
                <a:cs typeface="Calibri" pitchFamily="34" charset="-120"/>
              </a:rPr>
              <a:t>Before we start</a:t>
            </a:r>
            <a:endParaRPr lang="en-US" sz="1300" dirty="0"/>
          </a:p>
        </p:txBody>
      </p:sp>
      <p:sp>
        <p:nvSpPr>
          <p:cNvPr id="56" name="Shape 54"/>
          <p:cNvSpPr/>
          <p:nvPr/>
        </p:nvSpPr>
        <p:spPr>
          <a:xfrm>
            <a:off x="8403336" y="2624328"/>
            <a:ext cx="274320" cy="274320"/>
          </a:xfrm>
          <a:prstGeom prst="ellipse">
            <a:avLst/>
          </a:prstGeom>
          <a:solidFill>
            <a:srgbClr val="F3EEFE"/>
          </a:solidFill>
          <a:ln/>
        </p:spPr>
      </p:sp>
      <p:sp>
        <p:nvSpPr>
          <p:cNvPr id="57" name="Text 55"/>
          <p:cNvSpPr/>
          <p:nvPr/>
        </p:nvSpPr>
        <p:spPr>
          <a:xfrm>
            <a:off x="8403336" y="2615184"/>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58" name="Text 56"/>
          <p:cNvSpPr/>
          <p:nvPr/>
        </p:nvSpPr>
        <p:spPr>
          <a:xfrm>
            <a:off x="8750808" y="2606040"/>
            <a:ext cx="2654503"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A sample STEP part loaded</a:t>
            </a:r>
            <a:endParaRPr lang="en-US" sz="980" dirty="0"/>
          </a:p>
        </p:txBody>
      </p:sp>
      <p:sp>
        <p:nvSpPr>
          <p:cNvPr id="59" name="Shape 57"/>
          <p:cNvSpPr/>
          <p:nvPr/>
        </p:nvSpPr>
        <p:spPr>
          <a:xfrm>
            <a:off x="8403336" y="3081528"/>
            <a:ext cx="274320" cy="274320"/>
          </a:xfrm>
          <a:prstGeom prst="ellipse">
            <a:avLst/>
          </a:prstGeom>
          <a:solidFill>
            <a:srgbClr val="F3EEFE"/>
          </a:solidFill>
          <a:ln/>
        </p:spPr>
      </p:sp>
      <p:sp>
        <p:nvSpPr>
          <p:cNvPr id="60" name="Text 58"/>
          <p:cNvSpPr/>
          <p:nvPr/>
        </p:nvSpPr>
        <p:spPr>
          <a:xfrm>
            <a:off x="8403336" y="3072384"/>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61" name="Text 59"/>
          <p:cNvSpPr/>
          <p:nvPr/>
        </p:nvSpPr>
        <p:spPr>
          <a:xfrm>
            <a:off x="8750808" y="3063240"/>
            <a:ext cx="2654503"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A 2D drawing PDF to hand</a:t>
            </a:r>
            <a:endParaRPr lang="en-US" sz="980" dirty="0"/>
          </a:p>
        </p:txBody>
      </p:sp>
      <p:sp>
        <p:nvSpPr>
          <p:cNvPr id="62" name="Shape 60"/>
          <p:cNvSpPr/>
          <p:nvPr/>
        </p:nvSpPr>
        <p:spPr>
          <a:xfrm>
            <a:off x="8403336" y="3538728"/>
            <a:ext cx="274320" cy="274320"/>
          </a:xfrm>
          <a:prstGeom prst="ellipse">
            <a:avLst/>
          </a:prstGeom>
          <a:solidFill>
            <a:srgbClr val="F3EEFE"/>
          </a:solidFill>
          <a:ln/>
        </p:spPr>
      </p:sp>
      <p:sp>
        <p:nvSpPr>
          <p:cNvPr id="63" name="Text 61"/>
          <p:cNvSpPr/>
          <p:nvPr/>
        </p:nvSpPr>
        <p:spPr>
          <a:xfrm>
            <a:off x="8403336" y="3529584"/>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64" name="Text 62"/>
          <p:cNvSpPr/>
          <p:nvPr/>
        </p:nvSpPr>
        <p:spPr>
          <a:xfrm>
            <a:off x="8750808" y="3520440"/>
            <a:ext cx="2654503"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A board photo ready</a:t>
            </a:r>
            <a:endParaRPr lang="en-US" sz="980" dirty="0"/>
          </a:p>
        </p:txBody>
      </p:sp>
      <p:sp>
        <p:nvSpPr>
          <p:cNvPr id="65" name="Shape 63"/>
          <p:cNvSpPr/>
          <p:nvPr/>
        </p:nvSpPr>
        <p:spPr>
          <a:xfrm>
            <a:off x="8403336" y="3995928"/>
            <a:ext cx="274320" cy="274320"/>
          </a:xfrm>
          <a:prstGeom prst="ellipse">
            <a:avLst/>
          </a:prstGeom>
          <a:solidFill>
            <a:srgbClr val="F3EEFE"/>
          </a:solidFill>
          <a:ln/>
        </p:spPr>
      </p:sp>
      <p:sp>
        <p:nvSpPr>
          <p:cNvPr id="66" name="Text 64"/>
          <p:cNvSpPr/>
          <p:nvPr/>
        </p:nvSpPr>
        <p:spPr>
          <a:xfrm>
            <a:off x="8403336" y="3986784"/>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67" name="Text 65"/>
          <p:cNvSpPr/>
          <p:nvPr/>
        </p:nvSpPr>
        <p:spPr>
          <a:xfrm>
            <a:off x="8750808" y="3977640"/>
            <a:ext cx="2654503"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A supplier quote to paste</a:t>
            </a:r>
            <a:endParaRPr lang="en-US" sz="980" dirty="0"/>
          </a:p>
        </p:txBody>
      </p:sp>
      <p:sp>
        <p:nvSpPr>
          <p:cNvPr id="68" name="Shape 66"/>
          <p:cNvSpPr/>
          <p:nvPr/>
        </p:nvSpPr>
        <p:spPr>
          <a:xfrm>
            <a:off x="8403336" y="4453128"/>
            <a:ext cx="274320" cy="274320"/>
          </a:xfrm>
          <a:prstGeom prst="ellipse">
            <a:avLst/>
          </a:prstGeom>
          <a:solidFill>
            <a:srgbClr val="F3EEFE"/>
          </a:solidFill>
          <a:ln/>
        </p:spPr>
      </p:sp>
      <p:sp>
        <p:nvSpPr>
          <p:cNvPr id="69" name="Text 67"/>
          <p:cNvSpPr/>
          <p:nvPr/>
        </p:nvSpPr>
        <p:spPr>
          <a:xfrm>
            <a:off x="8403336" y="4443984"/>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70" name="Text 68"/>
          <p:cNvSpPr/>
          <p:nvPr/>
        </p:nvSpPr>
        <p:spPr>
          <a:xfrm>
            <a:off x="8750808" y="4434840"/>
            <a:ext cx="2654503"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Seeded memory for the agent</a:t>
            </a:r>
            <a:endParaRPr lang="en-US" sz="980" dirty="0"/>
          </a:p>
        </p:txBody>
      </p:sp>
      <p:sp>
        <p:nvSpPr>
          <p:cNvPr id="71" name="Shape 69"/>
          <p:cNvSpPr/>
          <p:nvPr/>
        </p:nvSpPr>
        <p:spPr>
          <a:xfrm>
            <a:off x="8403336" y="4910328"/>
            <a:ext cx="274320" cy="274320"/>
          </a:xfrm>
          <a:prstGeom prst="ellipse">
            <a:avLst/>
          </a:prstGeom>
          <a:solidFill>
            <a:srgbClr val="F3EEFE"/>
          </a:solidFill>
          <a:ln/>
        </p:spPr>
      </p:sp>
      <p:sp>
        <p:nvSpPr>
          <p:cNvPr id="72" name="Text 70"/>
          <p:cNvSpPr/>
          <p:nvPr/>
        </p:nvSpPr>
        <p:spPr>
          <a:xfrm>
            <a:off x="8403336" y="4901184"/>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73" name="Text 71"/>
          <p:cNvSpPr/>
          <p:nvPr/>
        </p:nvSpPr>
        <p:spPr>
          <a:xfrm>
            <a:off x="8750808" y="4892040"/>
            <a:ext cx="2654503"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Cached runs as a fallback</a:t>
            </a:r>
            <a:endParaRPr lang="en-US" sz="980" dirty="0"/>
          </a:p>
        </p:txBody>
      </p:sp>
      <p:sp>
        <p:nvSpPr>
          <p:cNvPr id="74" name="Text 72"/>
          <p:cNvSpPr/>
          <p:nvPr/>
        </p:nvSpPr>
        <p:spPr>
          <a:xfrm>
            <a:off x="8421624" y="5221224"/>
            <a:ext cx="3020263" cy="320040"/>
          </a:xfrm>
          <a:prstGeom prst="rect">
            <a:avLst/>
          </a:prstGeom>
          <a:noFill/>
          <a:ln/>
        </p:spPr>
        <p:txBody>
          <a:bodyPr wrap="square" lIns="0" tIns="0" rIns="0" bIns="0" rtlCol="0" anchor="t"/>
          <a:lstStyle/>
          <a:p>
            <a:pPr indent="0" marL="0">
              <a:buNone/>
            </a:pPr>
            <a:r>
              <a:rPr lang="en-US" sz="950" b="1" i="1" dirty="0">
                <a:solidFill>
                  <a:srgbClr val="0F1E3D"/>
                </a:solidFill>
                <a:latin typeface="Calibri" pitchFamily="34" charset="0"/>
                <a:ea typeface="Calibri" pitchFamily="34" charset="-122"/>
                <a:cs typeface="Calibri" pitchFamily="34" charset="-120"/>
              </a:rPr>
              <a:t>Short on time? Do steps 1, 3 and 6.</a:t>
            </a:r>
            <a:endParaRPr lang="en-US" sz="950" dirty="0"/>
          </a:p>
        </p:txBody>
      </p:sp>
      <p:sp>
        <p:nvSpPr>
          <p:cNvPr id="75" name="Shape 73"/>
          <p:cNvSpPr/>
          <p:nvPr/>
        </p:nvSpPr>
        <p:spPr>
          <a:xfrm>
            <a:off x="548640" y="6400800"/>
            <a:ext cx="11094415" cy="12802"/>
          </a:xfrm>
          <a:prstGeom prst="rect">
            <a:avLst/>
          </a:prstGeom>
          <a:solidFill>
            <a:srgbClr val="E4EAF2"/>
          </a:solidFill>
          <a:ln/>
        </p:spPr>
      </p:sp>
      <p:sp>
        <p:nvSpPr>
          <p:cNvPr id="76" name="Text 74"/>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77" name="Text 75"/>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32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txBody>
          <a:bodyPr/>
          <a:p/>
        </p:txBody>
      </p:sp>
      <p:pic>
        <p:nvPicPr>
          <p:cNvPr id="3" name="Image 0" descr="/tmp/claude-0/-home-user-leamington-marathi/8bf32d1a-7485-5bd6-9947-7843ee6c5644/scratchpad/art/hero-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74000"/>
            </a:srgbClr>
          </a:solidFill>
          <a:ln/>
        </p:spPr>
        <p:txBody>
          <a:bodyPr/>
          <a:p/>
        </p:txBody>
      </p:sp>
      <p:sp>
        <p:nvSpPr>
          <p:cNvPr id="5" name="Shape 2"/>
          <p:cNvSpPr/>
          <p:nvPr/>
        </p:nvSpPr>
        <p:spPr>
          <a:xfrm>
            <a:off x="0" y="3566160"/>
            <a:ext cx="12191695" cy="3291840"/>
          </a:xfrm>
          <a:prstGeom prst="rect">
            <a:avLst/>
          </a:prstGeom>
          <a:solidFill>
            <a:srgbClr val="061024">
              <a:alpha val="84000"/>
            </a:srgbClr>
          </a:solidFill>
          <a:ln/>
        </p:spPr>
        <p:txBody>
          <a:bodyPr/>
          <a:p/>
        </p:txBody>
      </p:sp>
      <p:sp>
        <p:nvSpPr>
          <p:cNvPr id="6" name="Shape 3"/>
          <p:cNvSpPr/>
          <p:nvPr/>
        </p:nvSpPr>
        <p:spPr>
          <a:xfrm>
            <a:off x="0" y="0"/>
            <a:ext cx="146304" cy="6858000"/>
          </a:xfrm>
          <a:prstGeom prst="rect">
            <a:avLst/>
          </a:prstGeom>
          <a:solidFill>
            <a:srgbClr val="4F46E5"/>
          </a:solidFill>
          <a:ln/>
        </p:spPr>
        <p:txBody>
          <a:bodyPr/>
          <a:p/>
        </p:txBody>
      </p:sp>
      <p:sp>
        <p:nvSpPr>
          <p:cNvPr id="7" name="Shape 4"/>
          <p:cNvSpPr/>
          <p:nvPr/>
        </p:nvSpPr>
        <p:spPr>
          <a:xfrm>
            <a:off x="0" y="6729984"/>
            <a:ext cx="12191695" cy="128016"/>
          </a:xfrm>
          <a:prstGeom prst="rect">
            <a:avLst/>
          </a:prstGeom>
          <a:solidFill>
            <a:srgbClr val="2563EB"/>
          </a:solidFill>
          <a:ln/>
        </p:spPr>
        <p:txBody>
          <a:bodyPr/>
          <a:p/>
        </p:txBody>
      </p:sp>
      <p:sp>
        <p:nvSpPr>
          <p:cNvPr id="8" name="Shape 5"/>
          <p:cNvSpPr/>
          <p:nvPr/>
        </p:nvSpPr>
        <p:spPr>
          <a:xfrm>
            <a:off x="822960" y="640080"/>
            <a:ext cx="457200" cy="457200"/>
          </a:xfrm>
          <a:prstGeom prst="roundRect">
            <a:avLst>
              <a:gd name="adj" fmla="val 24000"/>
            </a:avLst>
          </a:prstGeom>
          <a:solidFill>
            <a:srgbClr val="4F46E5"/>
          </a:solidFill>
          <a:ln/>
        </p:spPr>
        <p:txBody>
          <a:bodyPr/>
          <a:p/>
        </p:txBody>
      </p:sp>
      <p:sp>
        <p:nvSpPr>
          <p:cNvPr id="9" name="Text 6"/>
          <p:cNvSpPr/>
          <p:nvPr/>
        </p:nvSpPr>
        <p:spPr>
          <a:xfrm>
            <a:off x="822960" y="64008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cv</a:t>
            </a:r>
            <a:endParaRPr lang="en-US" sz="1900" dirty="0"/>
          </a:p>
        </p:txBody>
      </p:sp>
      <p:sp>
        <p:nvSpPr>
          <p:cNvPr id="10" name="Text 7"/>
          <p:cNvSpPr/>
          <p:nvPr/>
        </p:nvSpPr>
        <p:spPr>
          <a:xfrm>
            <a:off x="1417320" y="658368"/>
            <a:ext cx="5486400" cy="41148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CostVision</a:t>
            </a:r>
            <a:endParaRPr lang="en-US" sz="1700" dirty="0"/>
          </a:p>
        </p:txBody>
      </p:sp>
      <p:sp>
        <p:nvSpPr>
          <p:cNvPr id="11" name="Text 8"/>
          <p:cNvSpPr/>
          <p:nvPr/>
        </p:nvSpPr>
        <p:spPr>
          <a:xfrm>
            <a:off x="822960" y="1828800"/>
            <a:ext cx="10789920" cy="1463040"/>
          </a:xfrm>
          <a:prstGeom prst="rect">
            <a:avLst/>
          </a:prstGeom>
          <a:noFill/>
          <a:ln/>
        </p:spPr>
        <p:txBody>
          <a:bodyPr wrap="square" lIns="0" tIns="0" rIns="0" bIns="0" rtlCol="0" anchor="t"/>
          <a:lstStyle/>
          <a:p>
            <a:pPr indent="0" marL="0">
              <a:lnSpc>
                <a:spcPct val="106000"/>
              </a:lnSpc>
              <a:buNone/>
            </a:pPr>
            <a:r>
              <a:rPr lang="en-US" sz="3400" b="1" dirty="0">
                <a:solidFill>
                  <a:srgbClr val="FFFFFF"/>
                </a:solidFill>
                <a:latin typeface="Calibri" pitchFamily="34" charset="0"/>
                <a:ea typeface="Calibri" pitchFamily="34" charset="-122"/>
                <a:cs typeface="Calibri" pitchFamily="34" charset="-120"/>
              </a:rPr>
              <a:t>A CAD file or typed inputs in.</a:t>
            </a:r>
            <a:endParaRPr lang="en-US" sz="3400" dirty="0"/>
          </a:p>
          <a:p>
            <a:pPr indent="0" marL="0">
              <a:lnSpc>
                <a:spcPct val="106000"/>
              </a:lnSpc>
              <a:buNone/>
            </a:pPr>
            <a:r>
              <a:rPr lang="en-US" sz="3400" b="1" dirty="0">
                <a:solidFill>
                  <a:srgbClr val="FFFFFF"/>
                </a:solidFill>
                <a:latin typeface="Calibri" pitchFamily="34" charset="0"/>
                <a:ea typeface="Calibri" pitchFamily="34" charset="-122"/>
                <a:cs typeface="Calibri" pitchFamily="34" charset="-120"/>
              </a:rPr>
              <a:t>A traceable should-cost out.</a:t>
            </a:r>
            <a:endParaRPr lang="en-US" sz="3400" dirty="0"/>
          </a:p>
        </p:txBody>
      </p:sp>
      <p:sp>
        <p:nvSpPr>
          <p:cNvPr id="12" name="Text 9"/>
          <p:cNvSpPr/>
          <p:nvPr/>
        </p:nvSpPr>
        <p:spPr>
          <a:xfrm>
            <a:off x="850392" y="3429000"/>
            <a:ext cx="10972800" cy="457200"/>
          </a:xfrm>
          <a:prstGeom prst="rect">
            <a:avLst/>
          </a:prstGeom>
          <a:noFill/>
          <a:ln/>
        </p:spPr>
        <p:txBody>
          <a:bodyPr wrap="square" lIns="0" tIns="0" rIns="0" bIns="0" rtlCol="0" anchor="t"/>
          <a:lstStyle/>
          <a:p>
            <a:pPr indent="0" marL="0">
              <a:buNone/>
            </a:pPr>
            <a:r>
              <a:rPr lang="en-US" sz="1600" dirty="0">
                <a:solidFill>
                  <a:srgbClr val="CFE0F5"/>
                </a:solidFill>
                <a:latin typeface="Calibri" pitchFamily="34" charset="0"/>
                <a:ea typeface="Calibri" pitchFamily="34" charset="-122"/>
                <a:cs typeface="Calibri" pitchFamily="34" charset="-120"/>
              </a:rPr>
              <a:t>Traceable · tested · offline · AI switched off at JLR.</a:t>
            </a:r>
            <a:endParaRPr lang="en-US" sz="1600" dirty="0"/>
          </a:p>
        </p:txBody>
      </p:sp>
      <p:sp>
        <p:nvSpPr>
          <p:cNvPr id="13" name="Text 10"/>
          <p:cNvSpPr/>
          <p:nvPr/>
        </p:nvSpPr>
        <p:spPr>
          <a:xfrm>
            <a:off x="850392" y="3840480"/>
            <a:ext cx="10058400" cy="274320"/>
          </a:xfrm>
          <a:prstGeom prst="rect">
            <a:avLst/>
          </a:prstGeom>
          <a:noFill/>
          <a:ln/>
        </p:spPr>
        <p:txBody>
          <a:bodyPr wrap="square" lIns="0" tIns="0" rIns="0" bIns="0" rtlCol="0" anchor="t"/>
          <a:lstStyle/>
          <a:p>
            <a:pPr indent="0" marL="0">
              <a:buNone/>
            </a:pPr>
            <a:r>
              <a:rPr lang="en-US" sz="1100" b="1" spc="150" kern="0" dirty="0">
                <a:solidFill>
                  <a:srgbClr val="8FB0D8"/>
                </a:solidFill>
                <a:latin typeface="Calibri" pitchFamily="34" charset="0"/>
                <a:ea typeface="Calibri" pitchFamily="34" charset="-122"/>
                <a:cs typeface="Calibri" pitchFamily="34" charset="-120"/>
              </a:rPr>
              <a:t>THE ASK — THREE SMALL DECISIONS</a:t>
            </a:r>
            <a:endParaRPr lang="en-US" sz="1100" dirty="0"/>
          </a:p>
        </p:txBody>
      </p:sp>
      <p:sp>
        <p:nvSpPr>
          <p:cNvPr id="14" name="Shape 11"/>
          <p:cNvSpPr/>
          <p:nvPr/>
        </p:nvSpPr>
        <p:spPr>
          <a:xfrm>
            <a:off x="822960" y="4206240"/>
            <a:ext cx="3383280" cy="1280160"/>
          </a:xfrm>
          <a:prstGeom prst="roundRect">
            <a:avLst>
              <a:gd name="adj" fmla="val 5714"/>
            </a:avLst>
          </a:prstGeom>
          <a:solidFill>
            <a:srgbClr val="FFFFFF">
              <a:alpha val="94000"/>
            </a:srgbClr>
          </a:solidFill>
          <a:ln/>
        </p:spPr>
        <p:txBody>
          <a:bodyPr/>
          <a:p/>
        </p:txBody>
      </p:sp>
      <p:sp>
        <p:nvSpPr>
          <p:cNvPr id="15" name="Shape 12"/>
          <p:cNvSpPr/>
          <p:nvPr/>
        </p:nvSpPr>
        <p:spPr>
          <a:xfrm>
            <a:off x="1097280" y="4434840"/>
            <a:ext cx="402336" cy="402336"/>
          </a:xfrm>
          <a:prstGeom prst="ellipse">
            <a:avLst/>
          </a:prstGeom>
          <a:solidFill>
            <a:srgbClr val="2E90FA"/>
          </a:solidFill>
          <a:ln/>
          <a:effectLst>
            <a:outerShdw sx="100000" sy="100000" kx="0" ky="0" algn="bl" rotWithShape="0" blurRad="9.608417496072131e+90" dist="2.8825252488216374e+90" dir="1.1845953345804043e+107">
              <a:srgbClr val="A7B6CE">
                <a:alpha val="1.800000000000001e+109"/>
              </a:srgbClr>
            </a:outerShdw>
          </a:effectLst>
        </p:spPr>
        <p:txBody>
          <a:bodyPr/>
          <a:p/>
        </p:txBody>
      </p:sp>
      <p:sp>
        <p:nvSpPr>
          <p:cNvPr id="16" name="Text 13"/>
          <p:cNvSpPr/>
          <p:nvPr/>
        </p:nvSpPr>
        <p:spPr>
          <a:xfrm>
            <a:off x="1097280" y="4434840"/>
            <a:ext cx="402336" cy="402336"/>
          </a:xfrm>
          <a:prstGeom prst="rect">
            <a:avLst/>
          </a:prstGeom>
          <a:noFill/>
          <a:ln/>
        </p:spPr>
        <p:txBody>
          <a:bodyPr wrap="square" lIns="0" tIns="0" rIns="0" bIns="0" rtlCol="0" anchor="ctr"/>
          <a:lstStyle/>
          <a:p>
            <a:pPr algn="ctr" indent="0" marL="0">
              <a:buNone/>
            </a:pPr>
            <a:r>
              <a:rPr lang="en-US" sz="1496" b="1" dirty="0">
                <a:solidFill>
                  <a:srgbClr val="FFFFFF"/>
                </a:solidFill>
                <a:latin typeface="Calibri" pitchFamily="34" charset="0"/>
                <a:ea typeface="Calibri" pitchFamily="34" charset="-122"/>
                <a:cs typeface="Calibri" pitchFamily="34" charset="-120"/>
              </a:rPr>
              <a:t>1</a:t>
            </a:r>
            <a:endParaRPr lang="en-US" sz="1496" dirty="0"/>
          </a:p>
        </p:txBody>
      </p:sp>
      <p:sp>
        <p:nvSpPr>
          <p:cNvPr id="17" name="Text 14"/>
          <p:cNvSpPr/>
          <p:nvPr/>
        </p:nvSpPr>
        <p:spPr>
          <a:xfrm>
            <a:off x="1609344" y="4434840"/>
            <a:ext cx="2468880" cy="457200"/>
          </a:xfrm>
          <a:prstGeom prst="rect">
            <a:avLst/>
          </a:prstGeom>
          <a:noFill/>
          <a:ln/>
        </p:spPr>
        <p:txBody>
          <a:bodyPr wrap="square" lIns="0" tIns="0" rIns="0" bIns="0" rtlCol="0" anchor="ctr"/>
          <a:lstStyle/>
          <a:p>
            <a:pPr indent="0" marL="0">
              <a:lnSpc>
                <a:spcPct val="100000"/>
              </a:lnSpc>
              <a:buNone/>
            </a:pPr>
            <a:r>
              <a:rPr lang="en-US" sz="1200" b="1" dirty="0">
                <a:solidFill>
                  <a:srgbClr val="0B1E3B"/>
                </a:solidFill>
                <a:latin typeface="Calibri" pitchFamily="34" charset="0"/>
                <a:ea typeface="Calibri" pitchFamily="34" charset="-122"/>
                <a:cs typeface="Calibri" pitchFamily="34" charset="-120"/>
              </a:rPr>
              <a:t>Approve a 6-week laptop pilot</a:t>
            </a:r>
            <a:endParaRPr lang="en-US" sz="1200" dirty="0"/>
          </a:p>
        </p:txBody>
      </p:sp>
      <p:sp>
        <p:nvSpPr>
          <p:cNvPr id="18" name="Text 15"/>
          <p:cNvSpPr/>
          <p:nvPr/>
        </p:nvSpPr>
        <p:spPr>
          <a:xfrm>
            <a:off x="1097280" y="5029200"/>
            <a:ext cx="2926080" cy="365760"/>
          </a:xfrm>
          <a:prstGeom prst="rect">
            <a:avLst/>
          </a:prstGeom>
          <a:noFill/>
          <a:ln/>
        </p:spPr>
        <p:txBody>
          <a:bodyPr wrap="square" lIns="0" tIns="0" rIns="0" bIns="0" rtlCol="0" anchor="t"/>
          <a:lstStyle/>
          <a:p>
            <a:pPr indent="0" marL="0">
              <a:lnSpc>
                <a:spcPct val="105000"/>
              </a:lnSpc>
              <a:buNone/>
            </a:pPr>
            <a:r>
              <a:rPr lang="en-US" sz="950" dirty="0">
                <a:solidFill>
                  <a:srgbClr val="AFC4E2"/>
                </a:solidFill>
                <a:latin typeface="Calibri" pitchFamily="34" charset="0"/>
                <a:ea typeface="Calibri" pitchFamily="34" charset="-122"/>
                <a:cs typeface="Calibri" pitchFamily="34" charset="-120"/>
              </a:rPr>
              <a:t>log our real quotes and prices paid</a:t>
            </a:r>
            <a:endParaRPr lang="en-US" sz="950" dirty="0"/>
          </a:p>
        </p:txBody>
      </p:sp>
      <p:sp>
        <p:nvSpPr>
          <p:cNvPr id="19" name="Shape 16"/>
          <p:cNvSpPr/>
          <p:nvPr/>
        </p:nvSpPr>
        <p:spPr>
          <a:xfrm>
            <a:off x="4434840" y="4206240"/>
            <a:ext cx="3383280" cy="1280160"/>
          </a:xfrm>
          <a:prstGeom prst="roundRect">
            <a:avLst>
              <a:gd name="adj" fmla="val 5714"/>
            </a:avLst>
          </a:prstGeom>
          <a:solidFill>
            <a:srgbClr val="FFFFFF">
              <a:alpha val="94000"/>
            </a:srgbClr>
          </a:solidFill>
          <a:ln/>
        </p:spPr>
        <p:txBody>
          <a:bodyPr/>
          <a:p/>
        </p:txBody>
      </p:sp>
      <p:sp>
        <p:nvSpPr>
          <p:cNvPr id="20" name="Shape 17"/>
          <p:cNvSpPr/>
          <p:nvPr/>
        </p:nvSpPr>
        <p:spPr>
          <a:xfrm>
            <a:off x="4709160" y="4434840"/>
            <a:ext cx="402336" cy="402336"/>
          </a:xfrm>
          <a:prstGeom prst="ellipse">
            <a:avLst/>
          </a:prstGeom>
          <a:solidFill>
            <a:srgbClr val="2E90FA"/>
          </a:solidFill>
          <a:ln/>
          <a:effectLst>
            <a:outerShdw sx="100000" sy="100000" kx="0" ky="0" algn="bl" rotWithShape="0" blurRad="1.2202690220011606e+95" dist="3.6608070660034796e+94" dir="7.107572007482426e+111">
              <a:srgbClr val="A7B6CE">
                <a:alpha val="1.800000000000001e+114"/>
              </a:srgbClr>
            </a:outerShdw>
          </a:effectLst>
        </p:spPr>
        <p:txBody>
          <a:bodyPr/>
          <a:p/>
        </p:txBody>
      </p:sp>
      <p:sp>
        <p:nvSpPr>
          <p:cNvPr id="21" name="Text 18"/>
          <p:cNvSpPr/>
          <p:nvPr/>
        </p:nvSpPr>
        <p:spPr>
          <a:xfrm>
            <a:off x="4709160" y="4434840"/>
            <a:ext cx="402336" cy="402336"/>
          </a:xfrm>
          <a:prstGeom prst="rect">
            <a:avLst/>
          </a:prstGeom>
          <a:noFill/>
          <a:ln/>
        </p:spPr>
        <p:txBody>
          <a:bodyPr wrap="square" lIns="0" tIns="0" rIns="0" bIns="0" rtlCol="0" anchor="ctr"/>
          <a:lstStyle/>
          <a:p>
            <a:pPr algn="ctr" indent="0" marL="0">
              <a:buNone/>
            </a:pPr>
            <a:r>
              <a:rPr lang="en-US" sz="1496" b="1" dirty="0">
                <a:solidFill>
                  <a:srgbClr val="FFFFFF"/>
                </a:solidFill>
                <a:latin typeface="Calibri" pitchFamily="34" charset="0"/>
                <a:ea typeface="Calibri" pitchFamily="34" charset="-122"/>
                <a:cs typeface="Calibri" pitchFamily="34" charset="-120"/>
              </a:rPr>
              <a:t>2</a:t>
            </a:r>
            <a:endParaRPr lang="en-US" sz="1496" dirty="0"/>
          </a:p>
        </p:txBody>
      </p:sp>
      <p:sp>
        <p:nvSpPr>
          <p:cNvPr id="22" name="Text 19"/>
          <p:cNvSpPr/>
          <p:nvPr/>
        </p:nvSpPr>
        <p:spPr>
          <a:xfrm>
            <a:off x="5221224" y="4434840"/>
            <a:ext cx="2468880" cy="457200"/>
          </a:xfrm>
          <a:prstGeom prst="rect">
            <a:avLst/>
          </a:prstGeom>
          <a:noFill/>
          <a:ln/>
        </p:spPr>
        <p:txBody>
          <a:bodyPr wrap="square" lIns="0" tIns="0" rIns="0" bIns="0" rtlCol="0" anchor="ctr"/>
          <a:lstStyle/>
          <a:p>
            <a:pPr indent="0" marL="0">
              <a:lnSpc>
                <a:spcPct val="100000"/>
              </a:lnSpc>
              <a:buNone/>
            </a:pPr>
            <a:r>
              <a:rPr lang="en-US" sz="1200" b="1" dirty="0">
                <a:solidFill>
                  <a:srgbClr val="0B1E3B"/>
                </a:solidFill>
                <a:latin typeface="Calibri" pitchFamily="34" charset="0"/>
                <a:ea typeface="Calibri" pitchFamily="34" charset="-122"/>
                <a:cs typeface="Calibri" pitchFamily="34" charset="-120"/>
              </a:rPr>
              <a:t>Pick a first part family</a:t>
            </a:r>
            <a:endParaRPr lang="en-US" sz="1200" dirty="0"/>
          </a:p>
        </p:txBody>
      </p:sp>
      <p:sp>
        <p:nvSpPr>
          <p:cNvPr id="23" name="Text 20"/>
          <p:cNvSpPr/>
          <p:nvPr/>
        </p:nvSpPr>
        <p:spPr>
          <a:xfrm>
            <a:off x="4709160" y="5029200"/>
            <a:ext cx="2926080" cy="365760"/>
          </a:xfrm>
          <a:prstGeom prst="rect">
            <a:avLst/>
          </a:prstGeom>
          <a:noFill/>
          <a:ln/>
        </p:spPr>
        <p:txBody>
          <a:bodyPr wrap="square" lIns="0" tIns="0" rIns="0" bIns="0" rtlCol="0" anchor="t"/>
          <a:lstStyle/>
          <a:p>
            <a:pPr indent="0" marL="0">
              <a:lnSpc>
                <a:spcPct val="105000"/>
              </a:lnSpc>
              <a:buNone/>
            </a:pPr>
            <a:r>
              <a:rPr lang="en-US" sz="950" dirty="0">
                <a:solidFill>
                  <a:srgbClr val="AFC4E2"/>
                </a:solidFill>
                <a:latin typeface="Calibri" pitchFamily="34" charset="0"/>
                <a:ea typeface="Calibri" pitchFamily="34" charset="-122"/>
                <a:cs typeface="Calibri" pitchFamily="34" charset="-120"/>
              </a:rPr>
              <a:t>CAD parts we already have prices for</a:t>
            </a:r>
            <a:endParaRPr lang="en-US" sz="950" dirty="0"/>
          </a:p>
        </p:txBody>
      </p:sp>
      <p:sp>
        <p:nvSpPr>
          <p:cNvPr id="24" name="Shape 21"/>
          <p:cNvSpPr/>
          <p:nvPr/>
        </p:nvSpPr>
        <p:spPr>
          <a:xfrm>
            <a:off x="8046720" y="4206240"/>
            <a:ext cx="3383280" cy="1280160"/>
          </a:xfrm>
          <a:prstGeom prst="roundRect">
            <a:avLst>
              <a:gd name="adj" fmla="val 5714"/>
            </a:avLst>
          </a:prstGeom>
          <a:solidFill>
            <a:srgbClr val="FFFFFF">
              <a:alpha val="94000"/>
            </a:srgbClr>
          </a:solidFill>
          <a:ln/>
        </p:spPr>
        <p:txBody>
          <a:bodyPr/>
          <a:p/>
        </p:txBody>
      </p:sp>
      <p:sp>
        <p:nvSpPr>
          <p:cNvPr id="25" name="Shape 22"/>
          <p:cNvSpPr/>
          <p:nvPr/>
        </p:nvSpPr>
        <p:spPr>
          <a:xfrm>
            <a:off x="8321040" y="4434840"/>
            <a:ext cx="402336" cy="402336"/>
          </a:xfrm>
          <a:prstGeom prst="ellipse">
            <a:avLst/>
          </a:prstGeom>
          <a:solidFill>
            <a:srgbClr val="2E90FA"/>
          </a:solidFill>
          <a:ln/>
          <a:effectLst>
            <a:outerShdw sx="100000" sy="100000" kx="0" ky="0" algn="bl" rotWithShape="0" blurRad="1.549741657941474e+99" dist="4.649224973824419e+98" dir="4.2645432044894554e+116">
              <a:srgbClr val="A7B6CE">
                <a:alpha val="1.800000000000001e+119"/>
              </a:srgbClr>
            </a:outerShdw>
          </a:effectLst>
        </p:spPr>
        <p:txBody>
          <a:bodyPr/>
          <a:p/>
        </p:txBody>
      </p:sp>
      <p:sp>
        <p:nvSpPr>
          <p:cNvPr id="26" name="Text 23"/>
          <p:cNvSpPr/>
          <p:nvPr/>
        </p:nvSpPr>
        <p:spPr>
          <a:xfrm>
            <a:off x="8321040" y="4434840"/>
            <a:ext cx="402336" cy="402336"/>
          </a:xfrm>
          <a:prstGeom prst="rect">
            <a:avLst/>
          </a:prstGeom>
          <a:noFill/>
          <a:ln/>
        </p:spPr>
        <p:txBody>
          <a:bodyPr wrap="square" lIns="0" tIns="0" rIns="0" bIns="0" rtlCol="0" anchor="ctr"/>
          <a:lstStyle/>
          <a:p>
            <a:pPr algn="ctr" indent="0" marL="0">
              <a:buNone/>
            </a:pPr>
            <a:r>
              <a:rPr lang="en-US" sz="1496" b="1" dirty="0">
                <a:solidFill>
                  <a:srgbClr val="FFFFFF"/>
                </a:solidFill>
                <a:latin typeface="Calibri" pitchFamily="34" charset="0"/>
                <a:ea typeface="Calibri" pitchFamily="34" charset="-122"/>
                <a:cs typeface="Calibri" pitchFamily="34" charset="-120"/>
              </a:rPr>
              <a:t>3</a:t>
            </a:r>
            <a:endParaRPr lang="en-US" sz="1496" dirty="0"/>
          </a:p>
        </p:txBody>
      </p:sp>
      <p:sp>
        <p:nvSpPr>
          <p:cNvPr id="27" name="Text 24"/>
          <p:cNvSpPr/>
          <p:nvPr/>
        </p:nvSpPr>
        <p:spPr>
          <a:xfrm>
            <a:off x="8833104" y="4434840"/>
            <a:ext cx="2468880" cy="457200"/>
          </a:xfrm>
          <a:prstGeom prst="rect">
            <a:avLst/>
          </a:prstGeom>
          <a:noFill/>
          <a:ln/>
        </p:spPr>
        <p:txBody>
          <a:bodyPr wrap="square" lIns="0" tIns="0" rIns="0" bIns="0" rtlCol="0" anchor="ctr"/>
          <a:lstStyle/>
          <a:p>
            <a:pPr indent="0" marL="0">
              <a:lnSpc>
                <a:spcPct val="100000"/>
              </a:lnSpc>
              <a:buNone/>
            </a:pPr>
            <a:r>
              <a:rPr lang="en-US" sz="1200" b="1" dirty="0">
                <a:solidFill>
                  <a:srgbClr val="0B1E3B"/>
                </a:solidFill>
                <a:latin typeface="Calibri" pitchFamily="34" charset="0"/>
                <a:ea typeface="Calibri" pitchFamily="34" charset="-122"/>
                <a:cs typeface="Calibri" pitchFamily="34" charset="-120"/>
              </a:rPr>
              <a:t>Review estimates vs prices paid</a:t>
            </a:r>
            <a:endParaRPr lang="en-US" sz="1200" dirty="0"/>
          </a:p>
        </p:txBody>
      </p:sp>
      <p:sp>
        <p:nvSpPr>
          <p:cNvPr id="28" name="Text 25"/>
          <p:cNvSpPr/>
          <p:nvPr/>
        </p:nvSpPr>
        <p:spPr>
          <a:xfrm>
            <a:off x="8321040" y="5029200"/>
            <a:ext cx="2926080" cy="365760"/>
          </a:xfrm>
          <a:prstGeom prst="rect">
            <a:avLst/>
          </a:prstGeom>
          <a:noFill/>
          <a:ln/>
        </p:spPr>
        <p:txBody>
          <a:bodyPr wrap="square" lIns="0" tIns="0" rIns="0" bIns="0" rtlCol="0" anchor="t"/>
          <a:lstStyle/>
          <a:p>
            <a:pPr indent="0" marL="0">
              <a:lnSpc>
                <a:spcPct val="105000"/>
              </a:lnSpc>
              <a:buNone/>
            </a:pPr>
            <a:r>
              <a:rPr lang="en-US" sz="950" dirty="0">
                <a:solidFill>
                  <a:srgbClr val="AFC4E2"/>
                </a:solidFill>
                <a:latin typeface="Calibri" pitchFamily="34" charset="0"/>
                <a:ea typeface="Calibri" pitchFamily="34" charset="-122"/>
                <a:cs typeface="Calibri" pitchFamily="34" charset="-120"/>
              </a:rPr>
              <a:t>that is how we prove accuracy</a:t>
            </a:r>
            <a:endParaRPr lang="en-US" sz="950" dirty="0"/>
          </a:p>
        </p:txBody>
      </p:sp>
      <p:sp>
        <p:nvSpPr>
          <p:cNvPr id="29" name="Text 26"/>
          <p:cNvSpPr/>
          <p:nvPr/>
        </p:nvSpPr>
        <p:spPr>
          <a:xfrm>
            <a:off x="850392" y="5989320"/>
            <a:ext cx="10972800" cy="365760"/>
          </a:xfrm>
          <a:prstGeom prst="rect">
            <a:avLst/>
          </a:prstGeom>
          <a:noFill/>
          <a:ln/>
        </p:spPr>
        <p:txBody>
          <a:bodyPr wrap="square" lIns="0" tIns="0" rIns="0" bIns="0" rtlCol="0" anchor="t"/>
          <a:lstStyle/>
          <a:p>
            <a:pPr indent="0" marL="0">
              <a:buNone/>
            </a:pPr>
            <a:r>
              <a:rPr lang="en-US" sz="1200" dirty="0">
                <a:solidFill>
                  <a:srgbClr val="8FA6C6"/>
                </a:solidFill>
                <a:latin typeface="Calibri" pitchFamily="34" charset="0"/>
                <a:ea typeface="Calibri" pitchFamily="34" charset="-122"/>
                <a:cs typeface="Calibri" pitchFamily="34" charset="-120"/>
              </a:rPr>
              <a:t>Thank you  ·  happy to take questions, or run the live system now</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A472"/>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A472"/>
                </a:solidFill>
                <a:latin typeface="Calibri" pitchFamily="34" charset="0"/>
                <a:ea typeface="Calibri" pitchFamily="34" charset="-122"/>
                <a:cs typeface="Calibri" pitchFamily="34" charset="-120"/>
              </a:rPr>
              <a:t>CAD TO COST · WHAT THE TOOL MEASURES</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What the tool measures, and what it asks you</a:t>
            </a:r>
            <a:endParaRPr lang="en-US" sz="2400" dirty="0"/>
          </a:p>
        </p:txBody>
      </p:sp>
      <p:sp>
        <p:nvSpPr>
          <p:cNvPr id="9" name="Shape 7"/>
          <p:cNvSpPr/>
          <p:nvPr/>
        </p:nvSpPr>
        <p:spPr>
          <a:xfrm>
            <a:off x="548640" y="1371600"/>
            <a:ext cx="1051560" cy="45720"/>
          </a:xfrm>
          <a:prstGeom prst="rect">
            <a:avLst/>
          </a:prstGeom>
          <a:solidFill>
            <a:srgbClr val="0EA472"/>
          </a:solidFill>
          <a:ln/>
        </p:spPr>
        <p:txBody>
          <a:bodyPr/>
          <a:p/>
        </p:txBody>
      </p:sp>
      <p:sp>
        <p:nvSpPr>
          <p:cNvPr id="10" name="Text 8"/>
          <p:cNvSpPr/>
          <p:nvPr/>
        </p:nvSpPr>
        <p:spPr>
          <a:xfrm>
            <a:off x="548640" y="1554480"/>
            <a:ext cx="11064240" cy="457200"/>
          </a:xfrm>
          <a:prstGeom prst="rect">
            <a:avLst/>
          </a:prstGeom>
          <a:noFill/>
          <a:ln/>
        </p:spPr>
        <p:txBody>
          <a:bodyPr wrap="square" lIns="0" tIns="0" rIns="0" bIns="0" rtlCol="0" anchor="t"/>
          <a:lstStyle/>
          <a:p>
            <a:pPr indent="0" marL="0">
              <a:lnSpc>
                <a:spcPct val="110000"/>
              </a:lnSpc>
              <a:buNone/>
            </a:pPr>
            <a:r>
              <a:rPr lang="en-US" sz="1250" dirty="0">
                <a:solidFill>
                  <a:srgbClr val="3E4C63"/>
                </a:solidFill>
                <a:latin typeface="Calibri" pitchFamily="34" charset="0"/>
                <a:ea typeface="Calibri" pitchFamily="34" charset="-122"/>
                <a:cs typeface="Calibri" pitchFamily="34" charset="-120"/>
              </a:rPr>
              <a:t>The tool measures what the geometry can tell it, and asks the engineer the rest. The engine turns the facts into cost.</a:t>
            </a:r>
            <a:endParaRPr lang="en-US" sz="1250" dirty="0"/>
          </a:p>
        </p:txBody>
      </p:sp>
      <p:sp>
        <p:nvSpPr>
          <p:cNvPr id="11" name="Shape 9"/>
          <p:cNvSpPr/>
          <p:nvPr/>
        </p:nvSpPr>
        <p:spPr>
          <a:xfrm>
            <a:off x="548640" y="2148840"/>
            <a:ext cx="7040880" cy="548640"/>
          </a:xfrm>
          <a:prstGeom prst="roundRect">
            <a:avLst>
              <a:gd name="adj" fmla="val 8333"/>
            </a:avLst>
          </a:prstGeom>
          <a:solidFill>
            <a:srgbClr val="F4F7FB"/>
          </a:solidFill>
          <a:ln w="12700">
            <a:solidFill>
              <a:srgbClr val="E4EAF2"/>
            </a:solidFill>
            <a:prstDash val="solid"/>
          </a:ln>
        </p:spPr>
        <p:txBody>
          <a:bodyPr/>
          <a:p/>
        </p:txBody>
      </p:sp>
      <p:sp>
        <p:nvSpPr>
          <p:cNvPr id="12" name="Shape 10"/>
          <p:cNvSpPr/>
          <p:nvPr/>
        </p:nvSpPr>
        <p:spPr>
          <a:xfrm>
            <a:off x="694944" y="2249424"/>
            <a:ext cx="347472" cy="347472"/>
          </a:xfrm>
          <a:prstGeom prst="ellipse">
            <a:avLst/>
          </a:prstGeom>
          <a:solidFill>
            <a:srgbClr val="0EA472"/>
          </a:solidFill>
          <a:ln/>
          <a:effectLst>
            <a:outerShdw sx="100000" sy="100000" kx="0" ky="0" algn="bl" rotWithShape="0" blurRad="5.457669265366968e+41" dist="1.6373007796100902e+41" dir="5.44195584e+49">
              <a:srgbClr val="A7B6CE">
                <a:alpha val="1.8e+49"/>
              </a:srgbClr>
            </a:outerShdw>
          </a:effectLst>
        </p:spPr>
        <p:txBody>
          <a:bodyPr/>
          <a:p/>
        </p:txBody>
      </p:sp>
      <p:sp>
        <p:nvSpPr>
          <p:cNvPr id="13" name="Text 11"/>
          <p:cNvSpPr/>
          <p:nvPr/>
        </p:nvSpPr>
        <p:spPr>
          <a:xfrm>
            <a:off x="694944" y="224942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1</a:t>
            </a:r>
            <a:endParaRPr lang="en-US" sz="1292" dirty="0"/>
          </a:p>
        </p:txBody>
      </p:sp>
      <p:sp>
        <p:nvSpPr>
          <p:cNvPr id="14" name="Text 12"/>
          <p:cNvSpPr/>
          <p:nvPr/>
        </p:nvSpPr>
        <p:spPr>
          <a:xfrm>
            <a:off x="1188720" y="214884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CAD geometry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The geometry engine (OpenCASCADE) measures volume, weight, size and wall thickness. This is the ground truth for material and machine size.</a:t>
            </a:r>
            <a:endParaRPr lang="en-US" sz="1060" dirty="0"/>
          </a:p>
        </p:txBody>
      </p:sp>
      <p:sp>
        <p:nvSpPr>
          <p:cNvPr id="15" name="Shape 13"/>
          <p:cNvSpPr/>
          <p:nvPr/>
        </p:nvSpPr>
        <p:spPr>
          <a:xfrm>
            <a:off x="548640" y="2788920"/>
            <a:ext cx="7040880" cy="548640"/>
          </a:xfrm>
          <a:prstGeom prst="roundRect">
            <a:avLst>
              <a:gd name="adj" fmla="val 8333"/>
            </a:avLst>
          </a:prstGeom>
          <a:solidFill>
            <a:srgbClr val="FFFFFF"/>
          </a:solidFill>
          <a:ln w="12700">
            <a:solidFill>
              <a:srgbClr val="E4EAF2"/>
            </a:solidFill>
            <a:prstDash val="solid"/>
          </a:ln>
        </p:spPr>
        <p:txBody>
          <a:bodyPr/>
          <a:p/>
        </p:txBody>
      </p:sp>
      <p:sp>
        <p:nvSpPr>
          <p:cNvPr id="16" name="Shape 14"/>
          <p:cNvSpPr/>
          <p:nvPr/>
        </p:nvSpPr>
        <p:spPr>
          <a:xfrm>
            <a:off x="694944" y="2889504"/>
            <a:ext cx="347472" cy="347472"/>
          </a:xfrm>
          <a:prstGeom prst="ellipse">
            <a:avLst/>
          </a:prstGeom>
          <a:solidFill>
            <a:srgbClr val="0EA472"/>
          </a:solidFill>
          <a:ln/>
          <a:effectLst>
            <a:outerShdw sx="100000" sy="100000" kx="0" ky="0" algn="bl" rotWithShape="0" blurRad="6.93123996701605e+45" dist="2.0793719901048145e+45" dir="3.2651735040000005e+54">
              <a:srgbClr val="A7B6CE">
                <a:alpha val="1.8e+54"/>
              </a:srgbClr>
            </a:outerShdw>
          </a:effectLst>
        </p:spPr>
        <p:txBody>
          <a:bodyPr/>
          <a:p/>
        </p:txBody>
      </p:sp>
      <p:sp>
        <p:nvSpPr>
          <p:cNvPr id="17" name="Text 15"/>
          <p:cNvSpPr/>
          <p:nvPr/>
        </p:nvSpPr>
        <p:spPr>
          <a:xfrm>
            <a:off x="694944" y="288950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2</a:t>
            </a:r>
            <a:endParaRPr lang="en-US" sz="1292" dirty="0"/>
          </a:p>
        </p:txBody>
      </p:sp>
      <p:sp>
        <p:nvSpPr>
          <p:cNvPr id="18" name="Text 16"/>
          <p:cNvSpPr/>
          <p:nvPr/>
        </p:nvSpPr>
        <p:spPr>
          <a:xfrm>
            <a:off x="1188720" y="278892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CAD features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Holes, pockets, slots and bosses are found and counted in STEP and IGES files. Each one becomes a machining step with its own cost line.</a:t>
            </a:r>
            <a:endParaRPr lang="en-US" sz="1060" dirty="0"/>
          </a:p>
        </p:txBody>
      </p:sp>
      <p:sp>
        <p:nvSpPr>
          <p:cNvPr id="19" name="Shape 17"/>
          <p:cNvSpPr/>
          <p:nvPr/>
        </p:nvSpPr>
        <p:spPr>
          <a:xfrm>
            <a:off x="548640" y="3429000"/>
            <a:ext cx="7040880" cy="548640"/>
          </a:xfrm>
          <a:prstGeom prst="roundRect">
            <a:avLst>
              <a:gd name="adj" fmla="val 8333"/>
            </a:avLst>
          </a:prstGeom>
          <a:solidFill>
            <a:srgbClr val="F4F7FB"/>
          </a:solidFill>
          <a:ln w="12700">
            <a:solidFill>
              <a:srgbClr val="E4EAF2"/>
            </a:solidFill>
            <a:prstDash val="solid"/>
          </a:ln>
        </p:spPr>
        <p:txBody>
          <a:bodyPr/>
          <a:p/>
        </p:txBody>
      </p:sp>
      <p:sp>
        <p:nvSpPr>
          <p:cNvPr id="20" name="Shape 18"/>
          <p:cNvSpPr/>
          <p:nvPr/>
        </p:nvSpPr>
        <p:spPr>
          <a:xfrm>
            <a:off x="694944" y="3529584"/>
            <a:ext cx="347472" cy="347472"/>
          </a:xfrm>
          <a:prstGeom prst="ellipse">
            <a:avLst/>
          </a:prstGeom>
          <a:solidFill>
            <a:srgbClr val="0EA472"/>
          </a:solidFill>
          <a:ln/>
          <a:effectLst>
            <a:outerShdw sx="100000" sy="100000" kx="0" ky="0" algn="bl" rotWithShape="0" blurRad="8.802674758110384e+49" dist="2.640802427433114e+49" dir="1.9591041024000004e+59">
              <a:srgbClr val="A7B6CE">
                <a:alpha val="1.8000000000000001e+59"/>
              </a:srgbClr>
            </a:outerShdw>
          </a:effectLst>
        </p:spPr>
        <p:txBody>
          <a:bodyPr/>
          <a:p/>
        </p:txBody>
      </p:sp>
      <p:sp>
        <p:nvSpPr>
          <p:cNvPr id="21" name="Text 19"/>
          <p:cNvSpPr/>
          <p:nvPr/>
        </p:nvSpPr>
        <p:spPr>
          <a:xfrm>
            <a:off x="694944" y="352958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3</a:t>
            </a:r>
            <a:endParaRPr lang="en-US" sz="1292" dirty="0"/>
          </a:p>
        </p:txBody>
      </p:sp>
      <p:sp>
        <p:nvSpPr>
          <p:cNvPr id="22" name="Text 20"/>
          <p:cNvSpPr/>
          <p:nvPr/>
        </p:nvSpPr>
        <p:spPr>
          <a:xfrm>
            <a:off x="1188720" y="342900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Questions, not guesses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Where the geometry can’t decide (process route, material family, a hole count on an STL) the tool asks the engineer.</a:t>
            </a:r>
            <a:endParaRPr lang="en-US" sz="1060" dirty="0"/>
          </a:p>
        </p:txBody>
      </p:sp>
      <p:sp>
        <p:nvSpPr>
          <p:cNvPr id="23" name="Shape 21"/>
          <p:cNvSpPr/>
          <p:nvPr/>
        </p:nvSpPr>
        <p:spPr>
          <a:xfrm>
            <a:off x="548640" y="4069080"/>
            <a:ext cx="7040880" cy="548640"/>
          </a:xfrm>
          <a:prstGeom prst="roundRect">
            <a:avLst>
              <a:gd name="adj" fmla="val 8333"/>
            </a:avLst>
          </a:prstGeom>
          <a:solidFill>
            <a:srgbClr val="FFFFFF"/>
          </a:solidFill>
          <a:ln w="12700">
            <a:solidFill>
              <a:srgbClr val="E4EAF2"/>
            </a:solidFill>
            <a:prstDash val="solid"/>
          </a:ln>
        </p:spPr>
        <p:txBody>
          <a:bodyPr/>
          <a:p/>
        </p:txBody>
      </p:sp>
      <p:sp>
        <p:nvSpPr>
          <p:cNvPr id="24" name="Shape 22"/>
          <p:cNvSpPr/>
          <p:nvPr/>
        </p:nvSpPr>
        <p:spPr>
          <a:xfrm>
            <a:off x="694944" y="4169664"/>
            <a:ext cx="347472" cy="347472"/>
          </a:xfrm>
          <a:prstGeom prst="ellipse">
            <a:avLst/>
          </a:prstGeom>
          <a:solidFill>
            <a:srgbClr val="0EA472"/>
          </a:solidFill>
          <a:ln/>
          <a:effectLst>
            <a:outerShdw sx="100000" sy="100000" kx="0" ky="0" algn="bl" rotWithShape="0" blurRad="1.1179396942800187e+54" dist="3.353819082840055e+53" dir="1.1754624614400003e+64">
              <a:srgbClr val="A7B6CE">
                <a:alpha val="1.8e+64"/>
              </a:srgbClr>
            </a:outerShdw>
          </a:effectLst>
        </p:spPr>
        <p:txBody>
          <a:bodyPr/>
          <a:p/>
        </p:txBody>
      </p:sp>
      <p:sp>
        <p:nvSpPr>
          <p:cNvPr id="25" name="Text 23"/>
          <p:cNvSpPr/>
          <p:nvPr/>
        </p:nvSpPr>
        <p:spPr>
          <a:xfrm>
            <a:off x="694944" y="416966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4</a:t>
            </a:r>
            <a:endParaRPr lang="en-US" sz="1292" dirty="0"/>
          </a:p>
        </p:txBody>
      </p:sp>
      <p:sp>
        <p:nvSpPr>
          <p:cNvPr id="26" name="Text 24"/>
          <p:cNvSpPr/>
          <p:nvPr/>
        </p:nvSpPr>
        <p:spPr>
          <a:xfrm>
            <a:off x="1188720" y="406908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Sheet-metal blanks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Upload a DXF flat pattern with the STEP, and the measured blank is used instead of the bounding box.</a:t>
            </a:r>
            <a:endParaRPr lang="en-US" sz="1060" dirty="0"/>
          </a:p>
        </p:txBody>
      </p:sp>
      <p:sp>
        <p:nvSpPr>
          <p:cNvPr id="27" name="Shape 25"/>
          <p:cNvSpPr/>
          <p:nvPr/>
        </p:nvSpPr>
        <p:spPr>
          <a:xfrm>
            <a:off x="548640" y="4709160"/>
            <a:ext cx="7040880" cy="548640"/>
          </a:xfrm>
          <a:prstGeom prst="roundRect">
            <a:avLst>
              <a:gd name="adj" fmla="val 8333"/>
            </a:avLst>
          </a:prstGeom>
          <a:solidFill>
            <a:srgbClr val="F4F7FB"/>
          </a:solidFill>
          <a:ln w="12700">
            <a:solidFill>
              <a:srgbClr val="E4EAF2"/>
            </a:solidFill>
            <a:prstDash val="solid"/>
          </a:ln>
        </p:spPr>
        <p:txBody>
          <a:bodyPr/>
          <a:p/>
        </p:txBody>
      </p:sp>
      <p:sp>
        <p:nvSpPr>
          <p:cNvPr id="28" name="Shape 26"/>
          <p:cNvSpPr/>
          <p:nvPr/>
        </p:nvSpPr>
        <p:spPr>
          <a:xfrm>
            <a:off x="694944" y="4809744"/>
            <a:ext cx="347472" cy="347472"/>
          </a:xfrm>
          <a:prstGeom prst="ellipse">
            <a:avLst/>
          </a:prstGeom>
          <a:solidFill>
            <a:srgbClr val="0EA472"/>
          </a:solidFill>
          <a:ln/>
          <a:effectLst>
            <a:outerShdw sx="100000" sy="100000" kx="0" ky="0" algn="bl" rotWithShape="0" blurRad="1.419783411735624e+58" dist="4.2593502352068695e+57" dir="7.052774768640002e+68">
              <a:srgbClr val="A7B6CE">
                <a:alpha val="1.8e+69"/>
              </a:srgbClr>
            </a:outerShdw>
          </a:effectLst>
        </p:spPr>
        <p:txBody>
          <a:bodyPr/>
          <a:p/>
        </p:txBody>
      </p:sp>
      <p:sp>
        <p:nvSpPr>
          <p:cNvPr id="29" name="Text 27"/>
          <p:cNvSpPr/>
          <p:nvPr/>
        </p:nvSpPr>
        <p:spPr>
          <a:xfrm>
            <a:off x="694944" y="480974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5</a:t>
            </a:r>
            <a:endParaRPr lang="en-US" sz="1292" dirty="0"/>
          </a:p>
        </p:txBody>
      </p:sp>
      <p:sp>
        <p:nvSpPr>
          <p:cNvPr id="30" name="Text 28"/>
          <p:cNvSpPr/>
          <p:nvPr/>
        </p:nvSpPr>
        <p:spPr>
          <a:xfrm>
            <a:off x="1188720" y="470916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Typed inputs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Every process also has a form. The engineer types the inputs and the same engine prices them. Extrusion is costed this way today.</a:t>
            </a:r>
            <a:endParaRPr lang="en-US" sz="1060" dirty="0"/>
          </a:p>
        </p:txBody>
      </p:sp>
      <p:sp>
        <p:nvSpPr>
          <p:cNvPr id="31" name="Shape 29"/>
          <p:cNvSpPr/>
          <p:nvPr/>
        </p:nvSpPr>
        <p:spPr>
          <a:xfrm>
            <a:off x="548640" y="5349240"/>
            <a:ext cx="7040880" cy="548640"/>
          </a:xfrm>
          <a:prstGeom prst="roundRect">
            <a:avLst>
              <a:gd name="adj" fmla="val 8333"/>
            </a:avLst>
          </a:prstGeom>
          <a:solidFill>
            <a:srgbClr val="FFFFFF"/>
          </a:solidFill>
          <a:ln w="12700">
            <a:solidFill>
              <a:srgbClr val="E4EAF2"/>
            </a:solidFill>
            <a:prstDash val="solid"/>
          </a:ln>
        </p:spPr>
        <p:txBody>
          <a:bodyPr/>
          <a:p/>
        </p:txBody>
      </p:sp>
      <p:sp>
        <p:nvSpPr>
          <p:cNvPr id="32" name="Shape 30"/>
          <p:cNvSpPr/>
          <p:nvPr/>
        </p:nvSpPr>
        <p:spPr>
          <a:xfrm>
            <a:off x="694944" y="5449824"/>
            <a:ext cx="347472" cy="347472"/>
          </a:xfrm>
          <a:prstGeom prst="ellipse">
            <a:avLst/>
          </a:prstGeom>
          <a:solidFill>
            <a:srgbClr val="0EA472"/>
          </a:solidFill>
          <a:ln/>
          <a:effectLst>
            <a:outerShdw sx="100000" sy="100000" kx="0" ky="0" algn="bl" rotWithShape="0" blurRad="1.8031249329042424e+62" dist="5.409374798712724e+61" dir="4.2316648611840007e+73">
              <a:srgbClr val="A7B6CE">
                <a:alpha val="1.8000000000000002e+74"/>
              </a:srgbClr>
            </a:outerShdw>
          </a:effectLst>
        </p:spPr>
        <p:txBody>
          <a:bodyPr/>
          <a:p/>
        </p:txBody>
      </p:sp>
      <p:sp>
        <p:nvSpPr>
          <p:cNvPr id="33" name="Text 31"/>
          <p:cNvSpPr/>
          <p:nvPr/>
        </p:nvSpPr>
        <p:spPr>
          <a:xfrm>
            <a:off x="694944" y="544982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6</a:t>
            </a:r>
            <a:endParaRPr lang="en-US" sz="1292" dirty="0"/>
          </a:p>
        </p:txBody>
      </p:sp>
      <p:sp>
        <p:nvSpPr>
          <p:cNvPr id="34" name="Text 32"/>
          <p:cNvSpPr/>
          <p:nvPr/>
        </p:nvSpPr>
        <p:spPr>
          <a:xfrm>
            <a:off x="1188720" y="534924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Checked before it counts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A self-audit flags a wrong machine size, tooling spread over the wrong volume, a material-only cost or an odd cycle time.</a:t>
            </a:r>
            <a:endParaRPr lang="en-US" sz="1060" dirty="0"/>
          </a:p>
        </p:txBody>
      </p:sp>
      <p:sp>
        <p:nvSpPr>
          <p:cNvPr id="35" name="Shape 33"/>
          <p:cNvSpPr/>
          <p:nvPr/>
        </p:nvSpPr>
        <p:spPr>
          <a:xfrm>
            <a:off x="7909560" y="2148840"/>
            <a:ext cx="3733495" cy="3749040"/>
          </a:xfrm>
          <a:prstGeom prst="roundRect">
            <a:avLst>
              <a:gd name="adj" fmla="val 1714"/>
            </a:avLst>
          </a:prstGeom>
          <a:solidFill>
            <a:srgbClr val="E7F7F0"/>
          </a:solidFill>
          <a:ln w="12700">
            <a:solidFill>
              <a:srgbClr val="E4EAF2"/>
            </a:solidFill>
            <a:prstDash val="solid"/>
          </a:ln>
        </p:spPr>
        <p:txBody>
          <a:bodyPr/>
          <a:p/>
        </p:txBody>
      </p:sp>
      <p:sp>
        <p:nvSpPr>
          <p:cNvPr id="36" name="Shape 34"/>
          <p:cNvSpPr/>
          <p:nvPr/>
        </p:nvSpPr>
        <p:spPr>
          <a:xfrm>
            <a:off x="7909560" y="2148840"/>
            <a:ext cx="82296" cy="3749040"/>
          </a:xfrm>
          <a:prstGeom prst="rect">
            <a:avLst/>
          </a:prstGeom>
          <a:solidFill>
            <a:srgbClr val="0EA472"/>
          </a:solidFill>
          <a:ln/>
        </p:spPr>
        <p:txBody>
          <a:bodyPr/>
          <a:p/>
        </p:txBody>
      </p:sp>
      <p:sp>
        <p:nvSpPr>
          <p:cNvPr id="37" name="Text 35"/>
          <p:cNvSpPr/>
          <p:nvPr/>
        </p:nvSpPr>
        <p:spPr>
          <a:xfrm>
            <a:off x="8183880" y="2350008"/>
            <a:ext cx="3276295" cy="320040"/>
          </a:xfrm>
          <a:prstGeom prst="rect">
            <a:avLst/>
          </a:prstGeom>
          <a:noFill/>
          <a:ln/>
        </p:spPr>
        <p:txBody>
          <a:bodyPr wrap="square" lIns="0" tIns="0" rIns="0" bIns="0" rtlCol="0" anchor="t"/>
          <a:lstStyle/>
          <a:p>
            <a:pPr indent="0" marL="0">
              <a:buNone/>
            </a:pPr>
            <a:r>
              <a:rPr lang="en-US" sz="1400" b="1" dirty="0">
                <a:solidFill>
                  <a:srgbClr val="0EA472"/>
                </a:solidFill>
                <a:latin typeface="Calibri" pitchFamily="34" charset="0"/>
                <a:ea typeface="Calibri" pitchFamily="34" charset="-122"/>
                <a:cs typeface="Calibri" pitchFamily="34" charset="-120"/>
              </a:rPr>
              <a:t>The golden rule</a:t>
            </a:r>
            <a:endParaRPr lang="en-US" sz="1400" dirty="0"/>
          </a:p>
        </p:txBody>
      </p:sp>
      <p:sp>
        <p:nvSpPr>
          <p:cNvPr id="38" name="Text 36"/>
          <p:cNvSpPr/>
          <p:nvPr/>
        </p:nvSpPr>
        <p:spPr>
          <a:xfrm>
            <a:off x="8183880" y="2834640"/>
            <a:ext cx="3230575" cy="731520"/>
          </a:xfrm>
          <a:prstGeom prst="rect">
            <a:avLst/>
          </a:prstGeom>
          <a:noFill/>
          <a:ln/>
        </p:spPr>
        <p:txBody>
          <a:bodyPr wrap="square" lIns="0" tIns="0" rIns="0" bIns="0" rtlCol="0" anchor="t"/>
          <a:lstStyle/>
          <a:p>
            <a:pPr indent="0" marL="0">
              <a:lnSpc>
                <a:spcPct val="115000"/>
              </a:lnSpc>
              <a:buNone/>
            </a:pPr>
            <a:r>
              <a:rPr lang="en-US" sz="1250" b="1" dirty="0">
                <a:solidFill>
                  <a:srgbClr val="0F1E3D"/>
                </a:solidFill>
                <a:latin typeface="Calibri" pitchFamily="34" charset="0"/>
                <a:ea typeface="Calibri" pitchFamily="34" charset="-122"/>
                <a:cs typeface="Calibri" pitchFamily="34" charset="-120"/>
              </a:rPr>
              <a:t>AI never sets a price. At JLR it is switched off.</a:t>
            </a:r>
            <a:endParaRPr lang="en-US" sz="1250" dirty="0"/>
          </a:p>
        </p:txBody>
      </p:sp>
      <p:sp>
        <p:nvSpPr>
          <p:cNvPr id="39" name="Text 37"/>
          <p:cNvSpPr/>
          <p:nvPr/>
        </p:nvSpPr>
        <p:spPr>
          <a:xfrm>
            <a:off x="8183880" y="3749040"/>
            <a:ext cx="3230575" cy="1645920"/>
          </a:xfrm>
          <a:prstGeom prst="rect">
            <a:avLst/>
          </a:prstGeom>
          <a:noFill/>
          <a:ln/>
        </p:spPr>
        <p:txBody>
          <a:bodyPr wrap="square" lIns="0" tIns="0" rIns="0" bIns="0" rtlCol="0" anchor="t"/>
          <a:lstStyle/>
          <a:p>
            <a:pPr indent="0" marL="0">
              <a:lnSpc>
                <a:spcPct val="120000"/>
              </a:lnSpc>
              <a:buNone/>
            </a:pPr>
            <a:r>
              <a:rPr lang="en-US" sz="1150" dirty="0">
                <a:solidFill>
                  <a:srgbClr val="3E4C63"/>
                </a:solidFill>
                <a:latin typeface="Calibri" pitchFamily="34" charset="0"/>
                <a:ea typeface="Calibri" pitchFamily="34" charset="-122"/>
                <a:cs typeface="Calibri" pitchFamily="34" charset="-120"/>
              </a:rPr>
              <a:t>Every £ is plain arithmetic on the measured facts and the engineer’s answers, using the rate library. We can defend it line by line.</a:t>
            </a:r>
            <a:endParaRPr lang="en-US" sz="1150" dirty="0"/>
          </a:p>
        </p:txBody>
      </p:sp>
      <p:sp>
        <p:nvSpPr>
          <p:cNvPr id="40" name="Shape 38"/>
          <p:cNvSpPr/>
          <p:nvPr/>
        </p:nvSpPr>
        <p:spPr>
          <a:xfrm>
            <a:off x="548640" y="6400800"/>
            <a:ext cx="11094415" cy="12802"/>
          </a:xfrm>
          <a:prstGeom prst="rect">
            <a:avLst/>
          </a:prstGeom>
          <a:solidFill>
            <a:srgbClr val="E4EAF2"/>
          </a:solidFill>
          <a:ln/>
        </p:spPr>
        <p:txBody>
          <a:bodyPr/>
          <a:p/>
        </p:txBody>
      </p:sp>
      <p:sp>
        <p:nvSpPr>
          <p:cNvPr id="41" name="Text 39"/>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42" name="Text 40"/>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5 / 15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CostVision — AI Cost Intelligence Platform</dc:title>
  <dc:subject>PptxGenJS Presentation</dc:subject>
  <dc:creator>CostVision</dc:creator>
  <cp:lastModifiedBy>CostVision</cp:lastModifiedBy>
  <cp:revision>1</cp:revision>
  <dcterms:created xsi:type="dcterms:W3CDTF">2026-07-21T12:38:07Z</dcterms:created>
  <dcterms:modified xsi:type="dcterms:W3CDTF">2026-07-21T12:38:07Z</dcterms:modified>
</cp:coreProperties>
</file>