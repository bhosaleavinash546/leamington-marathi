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charts/chart4.xml" ContentType="application/vnd.openxmlformats-officedocument.drawingml.chart+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3.xml" ContentType="application/vnd.openxmlformats-officedocument.presentationml.slide+xml"/>
  <Override PartName="/ppt/notesSlides/notesSlide33.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60" r:id="rId6"/>
    <p:sldId id="261" r:id="rId7"/>
    <p:sldId id="288" r:id="rId39"/>
    <p:sldId id="264" r:id="rId10"/>
    <p:sldId id="268" r:id="rId14"/>
    <p:sldId id="269" r:id="rId15"/>
    <p:sldId id="273" r:id="rId19"/>
    <p:sldId id="274" r:id="rId20"/>
    <p:sldId id="276" r:id="rId22"/>
    <p:sldId id="278" r:id="rId24"/>
    <p:sldId id="280" r:id="rId26"/>
    <p:sldId id="283" r:id="rId29"/>
    <p:sldId id="287" r:id="rId33"/>
  </p:sldIdLst>
  <p:notesMasterIdLst>
    <p:notesMasterId r:id="rId3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  <Relationship Id="rId39" Type="http://schemas.openxmlformats.org/officeDocument/2006/relationships/slide" Target="slides/slide33.xml"/>
</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Manual (engineer)</c:v>
                </c:pt>
              </c:strCache>
            </c:strRef>
          </c:tx>
          <c:spPr>
            <a:solidFill>
              <a:srgbClr val="8A97A8"/>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Sheet1!$B$2:$B$4</c:f>
              <c:numCache>
                <c:formatCode>General</c:formatCode>
                <c:ptCount val="3"/>
                <c:pt idx="0">
                  <c:v>62</c:v>
                </c:pt>
                <c:pt idx="1">
                  <c:v>10</c:v>
                </c:pt>
                <c:pt idx="2">
                  <c:v>73</c:v>
                </c:pt>
              </c:numCache>
            </c:numRef>
          </c:val>
        </c:ser>
        <c:ser>
          <c:idx val="1"/>
          <c:order val="1"/>
          <c:tx>
            <c:strRef>
              <c:f>Sheet1!$C$1</c:f>
              <c:strCache>
                <c:ptCount val="1"/>
                <c:pt idx="0">
                  <c:v>AI (from photo)</c:v>
                </c:pt>
              </c:strCache>
            </c:strRef>
          </c:tx>
          <c:spPr>
            <a:solidFill>
              <a:srgbClr val="2563EB"/>
            </a:solidFill>
            <a:effectLst/>
          </c:spPr>
          <c:invertIfNegative val="0"/>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cat>
            <c:multiLvlStrRef>
              <c:f>Sheet1!$A$2:$A$4</c:f>
              <c:multiLvlStrCache>
                <c:ptCount val="3"/>
                <c:lvl>
                  <c:pt idx="0">
                    <c:v>Components</c:v>
                  </c:pt>
                  <c:pt idx="1">
                    <c:v>Fab + assembly</c:v>
                  </c:pt>
                  <c:pt idx="2">
                    <c:v>Total / board</c:v>
                  </c:pt>
                </c:lvl>
              </c:multiLvlStrCache>
            </c:multiLvlStrRef>
          </c:cat>
          <c:val>
            <c:numRef>
              <c:f>Sheet1!$C$2:$C$4</c:f>
              <c:numCache>
                <c:formatCode>General</c:formatCode>
                <c:ptCount val="3"/>
                <c:pt idx="0">
                  <c:v>62.29</c:v>
                </c:pt>
                <c:pt idx="1">
                  <c:v>6.82</c:v>
                </c:pt>
                <c:pt idx="2">
                  <c:v>69.11</c:v>
                </c:pt>
              </c:numCache>
            </c:numRef>
          </c:val>
        </c:ser>
        <c:dLbls>
          <c:numFmt formatCode="#,##0" sourceLinked="0"/>
          <c:txPr>
            <a:bodyPr/>
            <a:lstStyle/>
            <a:p>
              <a:pPr>
                <a:defRPr b="1" i="0" strike="noStrike" sz="90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5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0"/>
      </c:valAx>
      <c:spPr>
        <a:noFill/>
        <a:ln>
          <a:noFill/>
        </a:ln>
        <a:effectLst/>
      </c:spPr>
    </c:plotArea>
    <c:legend>
      <c:legendPos val="b"/>
      <c:overlay val="0"/>
      <c:txPr>
        <a:bodyPr/>
        <a:lstStyle/>
        <a:p>
          <a:pPr>
            <a:defRPr sz="1000">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c:v>
                </c:pt>
              </c:strCache>
            </c:strRef>
          </c:tx>
          <c:spPr>
            <a:solidFill>
              <a:srgbClr val="0DA5A0"/>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Material</c:v>
                  </c:pt>
                  <c:pt idx="1">
                    <c:v>Process</c:v>
                  </c:pt>
                  <c:pt idx="2">
                    <c:v>Labour</c:v>
                  </c:pt>
                  <c:pt idx="3">
                    <c:v>Tooling</c:v>
                  </c:pt>
                  <c:pt idx="4">
                    <c:v>Pack</c:v>
                  </c:pt>
                  <c:pt idx="5">
                    <c:v>Logs</c:v>
                  </c:pt>
                  <c:pt idx="6">
                    <c:v>O/H</c:v>
                  </c:pt>
                  <c:pt idx="7">
                    <c:v>Margin</c:v>
                  </c:pt>
                </c:lvl>
              </c:multiLvlStrCache>
            </c:multiLvlStrRef>
          </c:cat>
          <c:val>
            <c:numRef>
              <c:f>Sheet1!$B$2:$B$9</c:f>
              <c:numCache>
                <c:formatCode>General</c:formatCode>
                <c:ptCount val="8"/>
                <c:pt idx="0">
                  <c:v>4.36</c:v>
                </c:pt>
                <c:pt idx="1">
                  <c:v>0.64</c:v>
                </c:pt>
                <c:pt idx="2">
                  <c:v>0.18</c:v>
                </c:pt>
                <c:pt idx="3">
                  <c:v>0.6</c:v>
                </c:pt>
                <c:pt idx="4">
                  <c:v>0.05</c:v>
                </c:pt>
                <c:pt idx="5">
                  <c:v>0.1</c:v>
                </c:pt>
                <c:pt idx="6">
                  <c:v>0.58</c:v>
                </c:pt>
                <c:pt idx="7">
                  <c:v>0.46</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8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£/part (ex-works)</c:v>
                </c:pt>
              </c:strCache>
            </c:strRef>
          </c:tx>
          <c:spPr>
            <a:solidFill>
              <a:srgbClr val="E0900C"/>
            </a:solidFill>
            <a:effectLst/>
          </c:spPr>
          <c:invertIfNegative val="0"/>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cat>
            <c:multiLvlStrRef>
              <c:f>Sheet1!$A$2:$A$9</c:f>
              <c:multiLvlStrCache>
                <c:ptCount val="8"/>
                <c:lvl>
                  <c:pt idx="0">
                    <c:v>CN</c:v>
                  </c:pt>
                  <c:pt idx="1">
                    <c:v>IN</c:v>
                  </c:pt>
                  <c:pt idx="2">
                    <c:v>VN</c:v>
                  </c:pt>
                  <c:pt idx="3">
                    <c:v>MX</c:v>
                  </c:pt>
                  <c:pt idx="4">
                    <c:v>PL</c:v>
                  </c:pt>
                  <c:pt idx="5">
                    <c:v>US</c:v>
                  </c:pt>
                  <c:pt idx="6">
                    <c:v>UK</c:v>
                  </c:pt>
                  <c:pt idx="7">
                    <c:v>DE</c:v>
                  </c:pt>
                </c:lvl>
              </c:multiLvlStrCache>
            </c:multiLvlStrRef>
          </c:cat>
          <c:val>
            <c:numRef>
              <c:f>Sheet1!$B$2:$B$9</c:f>
              <c:numCache>
                <c:formatCode>General</c:formatCode>
                <c:ptCount val="8"/>
                <c:pt idx="0">
                  <c:v>4.91</c:v>
                </c:pt>
                <c:pt idx="1">
                  <c:v>4.93</c:v>
                </c:pt>
                <c:pt idx="2">
                  <c:v>5.1</c:v>
                </c:pt>
                <c:pt idx="3">
                  <c:v>5.32</c:v>
                </c:pt>
                <c:pt idx="4">
                  <c:v>5.64</c:v>
                </c:pt>
                <c:pt idx="5">
                  <c:v>6.19</c:v>
                </c:pt>
                <c:pt idx="6">
                  <c:v>6.36</c:v>
                </c:pt>
                <c:pt idx="7">
                  <c:v>6.75</c:v>
                </c:pt>
              </c:numCache>
            </c:numRef>
          </c:val>
        </c:ser>
        <c:dLbls>
          <c:numFmt formatCode="0.00" sourceLinked="0"/>
          <c:txPr>
            <a:bodyPr/>
            <a:lstStyle/>
            <a:p>
              <a:pPr>
                <a:defRPr b="1" i="0" strike="noStrike" sz="750" u="none">
                  <a:solidFill>
                    <a:srgbClr val="0F1E3D"/>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8"/>
          <c:min val="0"/>
        </c:scaling>
        <c:delete val="0"/>
        <c:axPos val="l"/>
        <c:majorGridlines>
          <c:spPr>
            <a:ln w="9525" cap="flat">
              <a:solidFill>
                <a:srgbClr val="E4EAF2"/>
              </a:solidFill>
              <a:prstDash val="solid"/>
              <a:round/>
            </a:ln>
          </c:spPr>
        </c:majorGridlines>
        <c:numFmt formatCode="General" sourceLinked="0"/>
        <c:majorTickMark val="out"/>
        <c:minorTickMark val="none"/>
        <c:tickLblPos val="nextTo"/>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k lines</c:v>
                </c:pt>
              </c:strCache>
            </c:strRef>
          </c:tx>
          <c:spPr>
            <a:solidFill>
              <a:srgbClr val="4F46E5"/>
            </a:solidFill>
            <a:effectLst/>
          </c:spPr>
          <c:invertIfNegative val="0"/>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cat>
            <c:multiLvlStrRef>
              <c:f>Sheet1!$A$2:$A$7</c:f>
              <c:multiLvlStrCache>
                <c:ptCount val="6"/>
                <c:lvl>
                  <c:pt idx="0">
                    <c:v>Frontend / UI</c:v>
                  </c:pt>
                  <c:pt idx="1">
                    <c:v>Cost engines</c:v>
                  </c:pt>
                  <c:pt idx="2">
                    <c:v>Backend API</c:v>
                  </c:pt>
                  <c:pt idx="3">
                    <c:v>Tests</c:v>
                  </c:pt>
                  <c:pt idx="4">
                    <c:v>Styling</c:v>
                  </c:pt>
                  <c:pt idx="5">
                    <c:v>CAD engine (Py)</c:v>
                  </c:pt>
                </c:lvl>
              </c:multiLvlStrCache>
            </c:multiLvlStrRef>
          </c:cat>
          <c:val>
            <c:numRef>
              <c:f>Sheet1!$B$2:$B$7</c:f>
              <c:numCache>
                <c:formatCode>General</c:formatCode>
                <c:ptCount val="6"/>
                <c:pt idx="0">
                  <c:v>28.1</c:v>
                </c:pt>
                <c:pt idx="1">
                  <c:v>16</c:v>
                </c:pt>
                <c:pt idx="2">
                  <c:v>13</c:v>
                </c:pt>
                <c:pt idx="3">
                  <c:v>9.7</c:v>
                </c:pt>
                <c:pt idx="4">
                  <c:v>6.5</c:v>
                </c:pt>
                <c:pt idx="5">
                  <c:v>1.2</c:v>
                </c:pt>
              </c:numCache>
            </c:numRef>
          </c:val>
        </c:ser>
        <c:dLbls>
          <c:numFmt formatCode="0.0" sourceLinked="0"/>
          <c:txPr>
            <a:bodyPr/>
            <a:lstStyle/>
            <a:p>
              <a:pPr>
                <a:defRPr b="1" i="0" strike="noStrike" sz="800" u="none">
                  <a:solidFill>
                    <a:srgbClr val="0F1E3D"/>
                  </a:solidFill>
                  <a:latin typeface="Arial"/>
                </a:defRPr>
              </a:pPr>
            </a:p>
          </c:txPr>
          <c:showLegendKey val="0"/>
          <c:showVal val="1"/>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E4EAF2"/>
            </a:solidFill>
            <a:prstDash val="solid"/>
            <a:round/>
          </a:ln>
        </c:spPr>
        <c:txPr>
          <a:bodyPr/>
          <a:lstStyle/>
          <a:p>
            <a:pPr>
              <a:defRPr sz="900" b="0" i="0" u="none" strike="noStrike">
                <a:solidFill>
                  <a:srgbClr val="3E4C63"/>
                </a:solidFill>
                <a:latin typeface="Arial"/>
              </a:defRPr>
            </a:pPr>
            <a:endParaRPr lang="en-US"/>
          </a:p>
        </c:txPr>
        <c:crossAx val="2094734552"/>
        <c:crosses val="autoZero"/>
        <c:auto val="1"/>
        <c:lblAlgn val="ctr"/>
        <c:noMultiLvlLbl val="1"/>
      </c:catAx>
      <c:valAx>
        <c:axId val="2094734552"/>
        <c:scaling>
          <c:orientation val="minMax"/>
          <c:max val="30"/>
          <c:min val="0"/>
        </c:scaling>
        <c:delete val="0"/>
        <c:axPos val="b"/>
        <c:majorGridlines>
          <c:spPr>
            <a:ln w="9525" cap="flat">
              <a:solidFill>
                <a:srgbClr val="E4EAF2"/>
              </a:solidFill>
              <a:prstDash val="solid"/>
              <a:round/>
            </a:ln>
          </c:spPr>
        </c:majorGridlines>
        <c:numFmt formatCode="General" sourceLinked="0"/>
        <c:majorTickMark val="out"/>
        <c:minorTickMark val="none"/>
        <c:tickLblPos val="low"/>
        <c:spPr>
          <a:ln w="12700" cap="flat">
            <a:solidFill>
              <a:srgbClr val="E4EAF2"/>
            </a:solidFill>
            <a:prstDash val="solid"/>
            <a:round/>
          </a:ln>
        </c:spPr>
        <c:txPr>
          <a:bodyPr/>
          <a:lstStyle/>
          <a:p>
            <a:pPr>
              <a:defRPr sz="1000" b="0" i="0" u="none" strike="noStrike">
                <a:solidFill>
                  <a:srgbClr val="8A97A8"/>
                </a:solidFill>
                <a:latin typeface="Arial"/>
              </a:defRPr>
            </a:pPr>
            <a:endParaRPr lang="en-US"/>
          </a:p>
        </c:txPr>
        <c:crossAx val="2094734554"/>
        <c:crosses val="autoZero"/>
        <c:crossBetween val="between"/>
        <c:majorUnit val="10"/>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and thank you for the time. What we're about to see is CostVision — our own AI cost-intelligence platform. Here's the one-line framing for today: we already do rigorous should-costing across every commodity — CostVision takes that same trusted method and automates the manual work with AI. Instead of selecting every input and keying geometry off the CAD and drawings by hand, it reads the model, suggests material and process for us to confirm, and returns a defensible, auditable should-cost in minutes. And unlike a static tool, it learns from every real quote. Today I'll walk the whole platform, go deep on CAD-to-Cost — where the automation is most visible — show the AI under the hood, and finish with how we'd roll it out alongside what we have and keep the data secure. Everything I show is from live runs — no mock-ups.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dive in, here's the entire story on one page — if we only take away this slide, we'll have the gist. Keep the framing in mind: this is our proven should-cost method, automated and made intelligent. Five numbers up top: it costs a part in minutes, not the hours of manual setup we spend today; it carries nineteen commodity engines and twenty real-rate regions; in a live test it landed within about five percent of a hand-built estimate; and the autonomous agent found half a million pounds a year with nobody at the keyboard. Underneath: what it is — one platform that reads any input, prices it globally, hands us the negotiation, and learns as it goes. The four boxes are the four jobs it does. And the bottom line for this room: faster quotes, better margins, one consistent number, and an intelligence asset that's ours and compounds. Everything after this is detail and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shape of the next thirty minutes, and a one-paragraph 'why' before we dive in. Let me set the framing carefully, because it matters: we already do proper should-costing. We have an internal tool that covers every commodity with a rigorous, bottom-up method — that's a real asset and it works. The one thing it asks of us is a lot of manual effort: selecting every input and reading the geometry off the CAD and drawings by hand, part by part. So this isn't a story about a broken system — it's about taking that same trusted method and automating the hands-on parts with AI. I'll start there, then lay out the whole platform on one slide, go deep on CAD-to-Cost where the automation is most visible, tour the other capabilities, and close on trust, security and how we'd roll it out alongside what we have today. Jump in any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be clear up front: we're not fixing something broken. Our internal should-cost tool is genuinely good — it's thorough, it's bottom-up, and it covers every commodity. The team has built real rigour into it. The honest observation is simply that it's hands-on: for every part we select the material, the process, the machine, and we key in the geometry and tolerances by hand from the 3D CAD and the drawings — the classic should-costing method. And when economics move, someone updates the rates manually. CostVision doesn't throw any of that away. It keeps the exact same defensible method — and automates the hands-on parts with AI: it reads the CAD and the drawings for us, it suggests the material and process with a confidence score we confirm, and it keeps the rates current on its own. So the shift isn't 'old versus new' — it's the same trusted should-cost, with the manual effort taken out, so our experts spend their time on judgement and decisions instead of data entry. That's the whole story of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whole platform on one slide, and I'd ask us all to remember the shape: four columns, left to right. On the left, inputs — and notice how forgiving they are: a CAD model, a photo, a sentence, an RFQ, whatever we have. Next, the AI layer: it reads and understands that input — the vision models, the reasoning, the memory. Then the crucial column — deterministic engines. This is where the money maths happens, and there is no AI in it. Nineteen commodity engines, real country rates, feature-based costing. And on the right, outputs: a full breakdown, a confidence range, a negotiation pack, exports, even a carbon figure. The golden rule at the bottom is the one to internalise: the AI understands the input, but it never sets the price. Every pound is auditable arithmetic. That's what makes this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someone asks 'what does CostVision actually do,' this is the answer — four jobs. It ESTIMATES: from a CAD model, a board photo, or any of nineteen commodity engines. It UNDERSTANDS: the 3D viewer with B-rep intelligence, the feature table, the assistant that answers from our own data. It helps us DECIDE and NEGOTIATE: should-cost across twenty regions, what-if scenarios, and a coach that hands us the argument. And it LEARNS and stays GOVERNED: it remembers, self-corrects, hunts for savings on its own — and every number is auditable and stays inside our walls. I'll spend most of today in the first two columns, because that's where the demo lives, but keep this map in mind — it's the whole surface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heart of the demo — CAD-to-Cost — and this is exactly where the manual effort lives today. In our current method, an engineer opens the CAD, measures it, reads the tolerances off the drawing, and keys all of that in before selecting a process. CostVision does those steps for us. The promise is simple: drop in a 3D model, get a should-cost. But how it does that is what earns trust. Four moves, left to right. First, it reads the REAL geometry — we run a genuine geometry kernel that measures volume, bounding box and surface area. That's measured ground truth, not the AI guessing. Second, it recognises the manufacturing features — the holes, pockets, slots, bends — and turns them into actual machining operations. Third, the AI proposes a material and a process route, each with a confidence score, and we can override. Fourth, a deterministic engine prices it and explains the number with a confidence band and design-for-manufacture guidance. And note the bottom line — a 3D model alone is enough to get a defensible number, and if we attach the 2D drawing it reads the tolerances and GD&amp;T to sharpen the estimate further. The more we give it, the tighter the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pipeline end to end — follow it left to right. We upload the model. The geometry engine measures it — real volume, bounding box, surface area, faces. Feature recognition finds the holes, pockets, slots and bends. The AI suggests a material and process, with a confidence score. The deterministic engine prices material, machining and non-recurring cost. Then — and this is the step I want us to remember — a sanity check compares every AI-suggested number against the measured geometry. Finally we get a full should-cost with a confidence band and provenance on every line. The colour split matters: purple is where AI understands the model; green is where deterministic maths sets the price. And the safety net at the bottom is the whole game — because we have measured ground truth, a hallucinated dimension gets flagged, not silently priced. That's what makes a CAD estimate we can actually defend.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AI intelligence layered on top of the geometry — the part that makes engineers lean in. Start top-left: a real interactive 3D viewer in the browser — rotate, section, measure, and the highlights link a face on the model to a line in the cost. Underneath that: B-rep face intelligence. This matters — it understands the boundary representation, the actual faces and edges and how they relate, not just a mesh of triangles. That's what lets it recognise a pocket as a pocket. The feature table lists every detected feature and feeds it straight into the costing as a real operation — no manual keying. Feature-based machining then costs each secondary operation per feature and per commodity. The AI suggests material and process with a confidence score we can override. And the manufacturability score tells the designer what's driving cost — so this isn't just an estimate, it's design feedback.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is the question senior teams always ask about AI, so let me be precise about how we earn it — it's engineered in layers. One: measured ground truth — the geometry kernel measures the part, so the AI is checked against physics, not trusted. Two: bounded sanity checks — if the AI's volume drifts more than twenty-five percent from the measured value it's flagged, over fifty percent it's rejected, and weight is cross-checked against density. Three, and this is the one I love telling engineers: the money maths is deterministic, and it reproduces a hand-calculated benchmark part — twenty-three pounds twenty-seven — to within one-hundredth of a percent. That's not a claim, it's a unit test. Four: provenance — every figure traces to its source with a confidence grade. Five: a confidence band, never a false single number. Six: it's been demonstrated on real automotive parts through the live system. and I'll be straight — we don't quote a single headline 'X percent accurate on CAD' number, because honestly that depends on our parts and our rates, and we'd rather prove it on our data in the pilot. The box on the right is the takeaway: the AI can suggest, but it can never quietly decide the number. A wrong guess gets flagged, not baked into a quote.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philosophy, different input — electronics. Photograph a circuit board, and in about sixty seconds we get a costed, flagged bill of materials. The chart is a real result: the same automotive ECU, costed by an engineer bottom-up in half a day versus the AI from one photo — sixty-nine pounds against seventy-three, within about five percent, in a minute. On the right is what it delivers: a full BOM from the photo, an honest split between what's confirmed and what needs verifying, guardrails so a mis-read chip can't blow up the total, should-cost across regions, and it even infers the ISO 26262 safety class. There's a full deep-dive deck on just this feature if we want it — today it's one slide to show the platform isn't only about CAD.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Breadth matters, because a tool that only does one commodity doesn't change how a business works. CostVision ships nineteen commodity engines — and these are purpose-built, bottom-up models, not one generic formula stretched over everything. Casting in all its forms including high-pressure die-casting, machining, forging, sheet-metal stamping and fabrication, the full moulding family — injection, blow, thermoforming, rotational — rubber, composites, extrusion, wiring harness, PCB and PCBA, painting, and body-in-white assembly. The important point is the one on the bottom bar: there's a single, consistent method underneath all of them — the same eight-bucket cost stack, material through margin, with feature-based machining on top — so every commodity is costed the same auditable way. And then the same part prices across twenty regions, which is exactly where we're going next. This is what turns a costing tool into a portfolio and sourcing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engine behind 'the same part, priced anywhere.' It's four deterministic steps, no AI in the money. Step one: we take the base part cost — the eight-bucket breakdown, whether it came from CAD or a commodity form. Step two: we multiply through each region's real rate library — labour by trade, energy, material factors, machine rate, overhead, and the exchange rate. Step three: we add the landed pieces — packaging, logistics, duty, shipping. Step four: out comes a should-cost for every country, ranked, both ex-works and landed. And notice what we actually have to give it, bottom-left: the part once, the regions we care about, and a volume. Everything on the bottom-right is what the model factors in for us, per region — and on the next slide we'll see those exact numbers, because transparency is the whole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builds confidence, so let me slow right down. Everything the model uses is on the table — these are the real, current rates, not a mystery multiplier. Read across: a skilled operator is twenty-six pounds an hour in the UK, forty in Germany, but under eight in China and under four in Vietnam. Foundry labour, industrial electricity, and then the multipliers that capture machine cost, overhead structure and logistics distance. Germany's overhead runs ten percent above the UK; China's is twenty-five percent below; but China's logistics multiplier is one-point-four-five because the part has to travel. This is ten of the twenty regions — behind them sit material factors, exchange rates, gas, packaging and duty. The key message: it's one versioned library, used by every costing, fully auditable. When someone challenges a China number, we can show them exactly which rate drove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for anyone who says ‘our rates aren’t our rates.’ They don’t have to be. We can upload our own cost-rate database as one Excel workbook, and from that moment every costing runs on our numbers. Six categories, one tab each: materials with price per kilo and scrap recovery; the full machine-rate build-up that computes an hourly rate; fully-loaded labour by region and skill; energy; FX; and overhead and margin by commodity and tier. Who can do it? It’s admin-gated — an administrator uploads and can switch between our company rates and our built-in defaults, or reset; everyone else simply costs on whatever’s active, and a badge tells them which. The template is quick: download, fill, upload — and the server checks every row and rejects bad cells with a clear error, so we can’t silently corrupt the library. Every row is dated and carries a confidence flag. And updating is a single click: load a new dated rate set, activate it, and the whole portfolio re-prices — no re-keying. It’s versioned, so we can keep this-year versus last-year and see if an old scenario was costed on stale rates. Bottom line: our rates, validated, versioned and auditable, used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make it concrete with a real part, priced by the real engine — a simple one-point-two kilo aluminium die-casting, ADC12, two cavities on an eight-hundred-tonne machine. Left chart, the UK cost stack: the total is six pounds ninety-six, and look — material is sixty-three percent of it. That tells a sourcing team instantly that this part is a material game, not a labour game. Right chart, the same part ex-works across regions: China at four-ninety-one is about twenty-three percent under the UK. But here's the sophistication our buyers will love — landed, once we add logistics and duty, that narrows to about twelve percent. The tool shows us both, so we don't chase a saving that shipping eats. And now the bit that fixes a real pain: we don't rebuild these should-costs by hand when our rates change. Material factors, labour, energy and overhead all live in one versioned rate library. Upload an updated, dated rate set once, and every part re-prices in a click. No more stale spreadsheets, no re-keying — the numbers reflect the latest rates we've loaded.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where cost intelligence becomes money. A should-cost on its own is interesting; a should-cost that wins a negotiation is the product. Follow the flow: our should-cost on the left, drop in the supplier's quote, and the engine tears down the gap by driver — material, cycle time, rate, margin — then hands us a negotiation pack. The stats are illustrative but real in shape: quotes typically run about fifteen percent over should-cost, and on one part family that was ninety-one thousand pounds a year, with the single biggest lever — raw material — worth thirty-seven thousand. The pack gives us the gap table, the driver decomposition, the levers ranked by pounds, the exact questions to ask, and a one-click export. We stop arguing about the headline number and start negotiating the drivers. That's a winnable conversation.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makes CostVision more than a calculator — it's agentic. Four verbs, and they form a loop. It REMEMBERS every analysis as a case, shared across the team, so a junior inherits senior judgement on day one. It RECOGNISES a new part against that memory and shows why. It SELF-CORRECTS — log a real quote and it measures its own error, then corrects future estimates. And it ACTS — a background agent re-checks every part and flags overpayment by itself. The numbers are verified: error fell thirty-six-fold after learning from just three quotes; the agent surfaced half a million pounds a year, unattended; recognition hit ninety-nine percent. There's a dedicated deck on the agentic layer — today, this is the headline: the tool gets smarter every time we use it, and that intelligence is 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newer capabilities that lift this above a normal estimator. Conformal confidence bands — instead of asserting a precision, it states an observed fact with a statistical guarantee: ninety percent of our real quotes landed within plus-or-minus six-and-a-half percent. That's evidence a buyer can defend. The causal coach knows WHY a part costs what it does and writes the negotiating sentence for us — every one percent move in aluminium shifts the price by eleven pence. The what-if engine lets us move a commodity and watch the price recompute, for one part or the whole portfolio, so sourcing gets ahead of the market. And carbon co-costing puts a CO2 figure next to every pound, which customers increasingly demand. Each of these turns a number into a decision.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Whenever AI touches money, the honest question is 'can I trust it?' — so let me answer it head-on. First, it's glass-box: every learned or derived number stays auditable, a value an engineer can read and defend. The AI narrates and explains; it never sets the price in secret. Second, accuracy is measured — against real geometry and real quotes — and reported openly, before and after. Third, it's honest about uncertainty: confidence bands and clear flags, never a false single number. And fourth, it's production-grade: just over a thousand automated tests, exercised on the live system — and the container build itself is now verified in CI. The through-line of the entire platform is on that green bar: AI does the understanding, deterministic maths does the money, every number is traceable and tested. That's what lets us put a CostVision number in front of a supplier — or in front of this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previous slide answered ‘can I trust the number today.’ This one answers the harder question a board should ask: ‘will it still be trustworthy after six months of changes.’ The answer is yes, because trust is wired into the build itself. Four guardrails. One — our golden rule, that AI never sets a price, is no longer just a principle we promise; it’s a machine check. If anyone ever wires an AI dependency into the deterministic cost engine, the build fails automatically. It can’t be bypassed. Two — accuracy is measured on every build: the CAD feature detection is scored against hand-verified reference parts, and a minimum-accuracy gate stops a regression from shipping; it even surfaced a real edge case on day one. Three — every change is guarded by nine hundred and forty-four automated tests plus visual screenshots of the key screens, so a broken layout or a logic slip fails here, not in front of a customer. Four — every result carries a confidence band, P10 to P90, so we’re always honest about the range. The bottom line for this room: the number is defensible by construction, and it stays defensible as the tool grows — quality is enforced on every commit, not reviewed in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want to spend a moment on the effort behind this, because it speaks to how seriously we should take it as an asset. This is not a prototype, and it is emphatically not a thin wrapper around a chatbot. It's about seventy-five thousand lines of custom code — of which roughly fifty-eight thousand is core product logic — backed by just over a thousand automated tests across eighty-six suites. I'll be transparent about how it was built, because it's actually part of the story: it was engineered in-house and accelerated with AI-assisted development — which is fitting, given what the tool itself does. The design, the domain knowledge, the cost models and the validation are ours; AI helped us build it faster. The chart shows where the code lives: a large front-end and 3D viewer, a sixteen-thousand-line deterministic cost engine that is the real IP — the auditable money maths for nineteen commodities and twenty regions — a full backend API, and a genuine Python geometry kernel running OCCT that reads STEP, IGES and STL files. Five languages and runtimes working as one integrated system. Two takeaways. First, the quality is engineered in — nearly ten thousand lines of tests mean it doesn't silently regress. Second, the strategic point: this depth of engineering, and the cost knowledge baked into it, is precisely why the intelligence is a durable, proprietary asset we own — not a subscription someone else can switch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translate all of that into business language — four points, and notice they're all about doing what we already do, better and faster. Speed: the hours of manual setup per part collapse into minutes, so the first defensible number is on the table while the meeting is still happening — and our engineers are freed from data entry to spend time on judgement. Margin: line-level should-cost lets us challenge every quote by driver — and the agent alone surfaced around half a million pounds a year in a demo, unattended. Consistency and speed-to-competence: one answer for everyone, and a junior costs like a senior from day one because the method and the memory are shared. And the strategic one — a compounding asset: this becomes proprietary costing intelligence on our own servers. It grows with use, and a competitor can buy software but never our accumulated data. Net: faster quotes, better margins, consistent numbers, and our experts focused on decisions — at no extra licence cost, on our own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how do we get from a demo to business-as-usual? A staged, low-risk blueprint — and importantly, it runs alongside our current tool, not instead of it, until we're confident. Phase one, the pilot — six weeks: stand it up on-premise, seed the memory with our historic quotes, cost twenty or thirty live parts, and baseline the accuracy against both our current method and real actuals so we prove it on our own data. Phase two, scale — roll it out to costing and sourcing, make 'Log Actual £' a routine habit, wire it into the RFQ workflow, and review the agent's findings monthly. Phase three, embed — negotiation packs become standard, portfolio what-if and risk go live, we connect real market feeds, and we track the KPI that matters: pounds saved and cycle-time cut. And I'll be honest about the one dependency: the intelligence starts empty and grows with use — which is exactly why Phase one seeds it, so it starts smart, not from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a room like this, security isn't a footnote — so here it is head-on, and precisely. CostVision runs on-premise: the knowledge base and every analysis are stored on our own servers, and no vendor ever retains our data. Let me be exact about what does leave the building, because someone will ask: the only thing that goes out is the AI inference request itself — the prompt for a given analysis — and it goes through our own server to the model endpoint, where it is not retained. For the most sensitive programmes we can route that privately or run fully air-gapped, and then nothing leaves at all — the deterministic core still works. The key lives server-side; the browser never sees it. Every number carries provenance and is logged, so it's auditable. And critically, the accumulated intelligence is OUR IP — it doesn't walk out with a subscription. Our data, our infrastructure, our 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my runbook for the live demo — and if I'm short on time I'll do steps one, three and six. I'll start with CAD-to-Cost: upload a STEP model, show the 3D viewer and the feature table so we see it's reading real geometry, then hit Calculate — the should-cost and confidence band come back in under a minute. Then I'll attach a 2D drawing and re-run, so we watch the tolerances tighten the estimate live. Step three, I'll switch regions and show the twenty-country spread in one click — China against Germany. Then something different — I'll drop a photo of a circuit board and watch a full BOM build itself. Step five, I'll paste in a supplier quote and generate the negotiation pack. And I'll finish on the agent's findings panel — half a million pounds it found on its own. That's the note to end on. The checklist on the right is what I've got staged so nothing stalls — including cached runs as a fallback if the network is slow.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me bring it home. Any input in — a CAD model, a photo, a description — and a defensible, self-improving should-cost out. Fast, explainable, self-improving, secure, and entirely ours. If we're persuaded, the ask is three small, low-risk decisions: approve a six-week on-premise pilot and let us seed it with our historic quotes; pick a first part family — a CAD part, a board, or a live RFQ — for us to cost; and put the agent's monthly findings on the sourcing agenda, because it's already finding money. Do those three things and we start compounding value from day one. Thank you — I'm happy to take questions, or better yet, let's open the live system and cost something of ours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HANDOFF. This is the slide that answers the question every engineer in the room is already thinking: “how does it actually get the numbers?”  Point down the left column. Whatever you give it — a CAD model, a photo of a circuit board, or a line of plain English — the tool reads the facts itself. Nobody types in volumes or counts pads. A real geometry engine measures the part; vision reads the board; the AI classifies the description.  Now sweep to the right. Each captured fact feeds one specific cost driver — measured volume sets material, recognised features become machining operations, the BOM drives component cost, the board spec sets the fab tier. Nothing is a magic number; each one traces to something the tool actually saw.  Land the golden rule hard, because it is the whole trust story: the AI reads and classifies — it never sets a price. Every pound is deterministic arithmetic on those captured facts, cross-checked against the measured geometry and grounded to the rate library. That one sentence is the difference between a clever demo and a number you can defend in front of a supplier.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6000"/>
            </a:srgbClr>
          </a:solidFill>
          <a:ln/>
        </p:spPr>
      </p:sp>
      <p:sp>
        <p:nvSpPr>
          <p:cNvPr id="5" name="Shape 2"/>
          <p:cNvSpPr/>
          <p:nvPr/>
        </p:nvSpPr>
        <p:spPr>
          <a:xfrm>
            <a:off x="0" y="4572000"/>
            <a:ext cx="12191695" cy="2286000"/>
          </a:xfrm>
          <a:prstGeom prst="rect">
            <a:avLst/>
          </a:prstGeom>
          <a:solidFill>
            <a:srgbClr val="061024">
              <a:alpha val="70000"/>
            </a:srgbClr>
          </a:solidFill>
          <a:ln/>
        </p:spPr>
      </p:sp>
      <p:sp>
        <p:nvSpPr>
          <p:cNvPr id="6" name="Shape 3"/>
          <p:cNvSpPr/>
          <p:nvPr/>
        </p:nvSpPr>
        <p:spPr>
          <a:xfrm>
            <a:off x="0" y="0"/>
            <a:ext cx="146304" cy="6858000"/>
          </a:xfrm>
          <a:prstGeom prst="rect">
            <a:avLst/>
          </a:prstGeom>
          <a:solidFill>
            <a:srgbClr val="4F46E5"/>
          </a:solidFill>
          <a:ln/>
        </p:spPr>
      </p:sp>
      <p:sp>
        <p:nvSpPr>
          <p:cNvPr id="7" name="Shape 4"/>
          <p:cNvSpPr/>
          <p:nvPr/>
        </p:nvSpPr>
        <p:spPr>
          <a:xfrm>
            <a:off x="0" y="6729984"/>
            <a:ext cx="12191695" cy="128016"/>
          </a:xfrm>
          <a:prstGeom prst="rect">
            <a:avLst/>
          </a:prstGeom>
          <a:solidFill>
            <a:srgbClr val="2563EB"/>
          </a:solidFill>
          <a:ln/>
        </p:spPr>
      </p:sp>
      <p:sp>
        <p:nvSpPr>
          <p:cNvPr id="8" name="Shape 5"/>
          <p:cNvSpPr/>
          <p:nvPr/>
        </p:nvSpPr>
        <p:spPr>
          <a:xfrm>
            <a:off x="822960" y="731520"/>
            <a:ext cx="566928" cy="566928"/>
          </a:xfrm>
          <a:prstGeom prst="roundRect">
            <a:avLst>
              <a:gd name="adj" fmla="val 22581"/>
            </a:avLst>
          </a:prstGeom>
          <a:solidFill>
            <a:srgbClr val="4F46E5"/>
          </a:solidFill>
          <a:ln/>
        </p:spPr>
      </p:sp>
      <p:sp>
        <p:nvSpPr>
          <p:cNvPr id="9" name="Text 6"/>
          <p:cNvSpPr/>
          <p:nvPr/>
        </p:nvSpPr>
        <p:spPr>
          <a:xfrm>
            <a:off x="822960" y="731520"/>
            <a:ext cx="566928" cy="566928"/>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cv</a:t>
            </a:r>
            <a:endParaRPr lang="en-US" sz="2400" dirty="0"/>
          </a:p>
        </p:txBody>
      </p:sp>
      <p:sp>
        <p:nvSpPr>
          <p:cNvPr id="10" name="Text 7"/>
          <p:cNvSpPr/>
          <p:nvPr/>
        </p:nvSpPr>
        <p:spPr>
          <a:xfrm>
            <a:off x="1508760" y="777240"/>
            <a:ext cx="5486400" cy="457200"/>
          </a:xfrm>
          <a:prstGeom prst="rect">
            <a:avLst/>
          </a:prstGeom>
          <a:noFill/>
          <a:ln/>
        </p:spPr>
        <p:txBody>
          <a:bodyPr wrap="square" lIns="0" tIns="0" rIns="0" bIns="0" rtlCol="0" anchor="t"/>
          <a:lstStyle/>
          <a:p>
            <a:pPr indent="0" marL="0">
              <a:buNone/>
            </a:pPr>
            <a:r>
              <a:rPr lang="en-US" sz="2000" b="1" dirty="0">
                <a:solidFill>
                  <a:srgbClr val="FFFFFF"/>
                </a:solidFill>
                <a:latin typeface="Calibri" pitchFamily="34" charset="0"/>
                <a:ea typeface="Calibri" pitchFamily="34" charset="-122"/>
                <a:cs typeface="Calibri" pitchFamily="34" charset="-120"/>
              </a:rPr>
              <a:t>CostVision</a:t>
            </a:r>
            <a:endParaRPr lang="en-US" sz="2000" dirty="0"/>
          </a:p>
        </p:txBody>
      </p:sp>
      <p:sp>
        <p:nvSpPr>
          <p:cNvPr id="11" name="Text 8"/>
          <p:cNvSpPr/>
          <p:nvPr/>
        </p:nvSpPr>
        <p:spPr>
          <a:xfrm>
            <a:off x="1527048" y="1197864"/>
            <a:ext cx="5486400" cy="274320"/>
          </a:xfrm>
          <a:prstGeom prst="rect">
            <a:avLst/>
          </a:prstGeom>
          <a:noFill/>
          <a:ln/>
        </p:spPr>
        <p:txBody>
          <a:bodyPr wrap="square" lIns="0" tIns="0" rIns="0" bIns="0" rtlCol="0" anchor="t"/>
          <a:lstStyle/>
          <a:p>
            <a:pPr indent="0" marL="0">
              <a:buNone/>
            </a:pPr>
            <a:r>
              <a:rPr lang="en-US" sz="950" spc="250" kern="0" dirty="0">
                <a:solidFill>
                  <a:srgbClr val="A9BEDC"/>
                </a:solidFill>
                <a:latin typeface="Calibri" pitchFamily="34" charset="0"/>
                <a:ea typeface="Calibri" pitchFamily="34" charset="-122"/>
                <a:cs typeface="Calibri" pitchFamily="34" charset="-120"/>
              </a:rPr>
              <a:t>AI  COST  INTELLIGENCE</a:t>
            </a:r>
            <a:endParaRPr lang="en-US" sz="950" dirty="0"/>
          </a:p>
        </p:txBody>
      </p:sp>
      <p:sp>
        <p:nvSpPr>
          <p:cNvPr id="12" name="Text 9"/>
          <p:cNvSpPr/>
          <p:nvPr/>
        </p:nvSpPr>
        <p:spPr>
          <a:xfrm>
            <a:off x="822960" y="2286000"/>
            <a:ext cx="10972800" cy="914400"/>
          </a:xfrm>
          <a:prstGeom prst="rect">
            <a:avLst/>
          </a:prstGeom>
          <a:noFill/>
          <a:ln/>
        </p:spPr>
        <p:txBody>
          <a:bodyPr wrap="square" lIns="0" tIns="0" rIns="0" bIns="0" rtlCol="0" anchor="t"/>
          <a:lstStyle/>
          <a:p>
            <a:pPr indent="0" marL="0">
              <a:buNone/>
            </a:pPr>
            <a:r>
              <a:rPr lang="en-US" sz="5200" b="1" dirty="0">
                <a:solidFill>
                  <a:srgbClr val="FFFFFF"/>
                </a:solidFill>
                <a:latin typeface="Calibri" pitchFamily="34" charset="0"/>
                <a:ea typeface="Calibri" pitchFamily="34" charset="-122"/>
                <a:cs typeface="Calibri" pitchFamily="34" charset="-120"/>
              </a:rPr>
              <a:t>CostVision</a:t>
            </a:r>
            <a:endParaRPr lang="en-US" sz="5200" dirty="0"/>
          </a:p>
        </p:txBody>
      </p:sp>
      <p:sp>
        <p:nvSpPr>
          <p:cNvPr id="13" name="Text 10"/>
          <p:cNvSpPr/>
          <p:nvPr/>
        </p:nvSpPr>
        <p:spPr>
          <a:xfrm>
            <a:off x="859536" y="3310128"/>
            <a:ext cx="10972800" cy="548640"/>
          </a:xfrm>
          <a:prstGeom prst="rect">
            <a:avLst/>
          </a:prstGeom>
          <a:noFill/>
          <a:ln/>
        </p:spPr>
        <p:txBody>
          <a:bodyPr wrap="square" lIns="0" tIns="0" rIns="0" bIns="0" rtlCol="0" anchor="t"/>
          <a:lstStyle/>
          <a:p>
            <a:pPr indent="0" marL="0">
              <a:buNone/>
            </a:pPr>
            <a:r>
              <a:rPr lang="en-US" sz="2300" dirty="0">
                <a:solidFill>
                  <a:srgbClr val="CFE0F5"/>
                </a:solidFill>
                <a:latin typeface="Calibri" pitchFamily="34" charset="0"/>
                <a:ea typeface="Calibri" pitchFamily="34" charset="-122"/>
                <a:cs typeface="Calibri" pitchFamily="34" charset="-120"/>
              </a:rPr>
              <a:t>The AI cost-intelligence platform</a:t>
            </a:r>
            <a:endParaRPr lang="en-US" sz="2300" dirty="0"/>
          </a:p>
        </p:txBody>
      </p:sp>
      <p:sp>
        <p:nvSpPr>
          <p:cNvPr id="14" name="Text 11"/>
          <p:cNvSpPr/>
          <p:nvPr/>
        </p:nvSpPr>
        <p:spPr>
          <a:xfrm>
            <a:off x="859536" y="3977640"/>
            <a:ext cx="10607040" cy="822960"/>
          </a:xfrm>
          <a:prstGeom prst="rect">
            <a:avLst/>
          </a:prstGeom>
          <a:noFill/>
          <a:ln/>
        </p:spPr>
        <p:txBody>
          <a:bodyPr wrap="square" lIns="0" tIns="0" rIns="0" bIns="0" rtlCol="0" anchor="t"/>
          <a:lstStyle/>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From a CAD model, a board photo or a plain description — to a defensible, auditable,</a:t>
            </a:r>
            <a:endParaRPr lang="en-US" sz="1500" dirty="0"/>
          </a:p>
          <a:p>
            <a:pPr indent="0" marL="0">
              <a:lnSpc>
                <a:spcPct val="120000"/>
              </a:lnSpc>
              <a:buNone/>
            </a:pPr>
            <a:r>
              <a:rPr lang="en-US" sz="1500" dirty="0">
                <a:solidFill>
                  <a:srgbClr val="AFC4E2"/>
                </a:solidFill>
                <a:latin typeface="Calibri" pitchFamily="34" charset="0"/>
                <a:ea typeface="Calibri" pitchFamily="34" charset="-122"/>
                <a:cs typeface="Calibri" pitchFamily="34" charset="-120"/>
              </a:rPr>
              <a:t>negotiation-ready should-cost, in minutes. And it gets smarter with every real quote.</a:t>
            </a:r>
            <a:endParaRPr lang="en-US" sz="1500" dirty="0"/>
          </a:p>
        </p:txBody>
      </p:sp>
      <p:sp>
        <p:nvSpPr>
          <p:cNvPr id="15" name="Shape 12"/>
          <p:cNvSpPr/>
          <p:nvPr/>
        </p:nvSpPr>
        <p:spPr>
          <a:xfrm>
            <a:off x="822960" y="5029200"/>
            <a:ext cx="2542032" cy="457200"/>
          </a:xfrm>
          <a:prstGeom prst="roundRect">
            <a:avLst>
              <a:gd name="adj" fmla="val 50000"/>
            </a:avLst>
          </a:prstGeom>
          <a:solidFill>
            <a:srgbClr val="FFFFFF">
              <a:alpha val="92000"/>
            </a:srgbClr>
          </a:solidFill>
          <a:ln/>
        </p:spPr>
      </p:sp>
      <p:sp>
        <p:nvSpPr>
          <p:cNvPr id="16" name="Shape 13"/>
          <p:cNvSpPr/>
          <p:nvPr/>
        </p:nvSpPr>
        <p:spPr>
          <a:xfrm>
            <a:off x="1024128" y="5166360"/>
            <a:ext cx="182880" cy="182880"/>
          </a:xfrm>
          <a:prstGeom prst="ellipse">
            <a:avLst/>
          </a:prstGeom>
          <a:solidFill>
            <a:srgbClr val="2E90FA"/>
          </a:solidFill>
          <a:ln/>
        </p:spPr>
      </p:sp>
      <p:sp>
        <p:nvSpPr>
          <p:cNvPr id="17" name="Text 14"/>
          <p:cNvSpPr/>
          <p:nvPr/>
        </p:nvSpPr>
        <p:spPr>
          <a:xfrm>
            <a:off x="12801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CAD → Cost</a:t>
            </a:r>
            <a:endParaRPr lang="en-US" sz="1200" dirty="0"/>
          </a:p>
        </p:txBody>
      </p:sp>
      <p:sp>
        <p:nvSpPr>
          <p:cNvPr id="18" name="Shape 15"/>
          <p:cNvSpPr/>
          <p:nvPr/>
        </p:nvSpPr>
        <p:spPr>
          <a:xfrm>
            <a:off x="3566160" y="5029200"/>
            <a:ext cx="2542032" cy="457200"/>
          </a:xfrm>
          <a:prstGeom prst="roundRect">
            <a:avLst>
              <a:gd name="adj" fmla="val 50000"/>
            </a:avLst>
          </a:prstGeom>
          <a:solidFill>
            <a:srgbClr val="FFFFFF">
              <a:alpha val="92000"/>
            </a:srgbClr>
          </a:solidFill>
          <a:ln/>
        </p:spPr>
      </p:sp>
      <p:sp>
        <p:nvSpPr>
          <p:cNvPr id="19" name="Shape 16"/>
          <p:cNvSpPr/>
          <p:nvPr/>
        </p:nvSpPr>
        <p:spPr>
          <a:xfrm>
            <a:off x="3767328" y="5166360"/>
            <a:ext cx="182880" cy="182880"/>
          </a:xfrm>
          <a:prstGeom prst="ellipse">
            <a:avLst/>
          </a:prstGeom>
          <a:solidFill>
            <a:srgbClr val="0E93B0"/>
          </a:solidFill>
          <a:ln/>
        </p:spPr>
      </p:sp>
      <p:sp>
        <p:nvSpPr>
          <p:cNvPr id="20" name="Text 17"/>
          <p:cNvSpPr/>
          <p:nvPr/>
        </p:nvSpPr>
        <p:spPr>
          <a:xfrm>
            <a:off x="40233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PCB Image → BOM</a:t>
            </a:r>
            <a:endParaRPr lang="en-US" sz="1200" dirty="0"/>
          </a:p>
        </p:txBody>
      </p:sp>
      <p:sp>
        <p:nvSpPr>
          <p:cNvPr id="21" name="Shape 18"/>
          <p:cNvSpPr/>
          <p:nvPr/>
        </p:nvSpPr>
        <p:spPr>
          <a:xfrm>
            <a:off x="6309360" y="5029200"/>
            <a:ext cx="2542032" cy="457200"/>
          </a:xfrm>
          <a:prstGeom prst="roundRect">
            <a:avLst>
              <a:gd name="adj" fmla="val 50000"/>
            </a:avLst>
          </a:prstGeom>
          <a:solidFill>
            <a:srgbClr val="FFFFFF">
              <a:alpha val="92000"/>
            </a:srgbClr>
          </a:solidFill>
          <a:ln/>
        </p:spPr>
      </p:sp>
      <p:sp>
        <p:nvSpPr>
          <p:cNvPr id="22" name="Shape 19"/>
          <p:cNvSpPr/>
          <p:nvPr/>
        </p:nvSpPr>
        <p:spPr>
          <a:xfrm>
            <a:off x="6510528" y="5166360"/>
            <a:ext cx="182880" cy="182880"/>
          </a:xfrm>
          <a:prstGeom prst="ellipse">
            <a:avLst/>
          </a:prstGeom>
          <a:solidFill>
            <a:srgbClr val="E0900C"/>
          </a:solidFill>
          <a:ln/>
        </p:spPr>
      </p:sp>
      <p:sp>
        <p:nvSpPr>
          <p:cNvPr id="23" name="Text 20"/>
          <p:cNvSpPr/>
          <p:nvPr/>
        </p:nvSpPr>
        <p:spPr>
          <a:xfrm>
            <a:off x="67665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19 Commodity Engines</a:t>
            </a:r>
            <a:endParaRPr lang="en-US" sz="1200" dirty="0"/>
          </a:p>
        </p:txBody>
      </p:sp>
      <p:sp>
        <p:nvSpPr>
          <p:cNvPr id="24" name="Shape 21"/>
          <p:cNvSpPr/>
          <p:nvPr/>
        </p:nvSpPr>
        <p:spPr>
          <a:xfrm>
            <a:off x="9052560" y="5029200"/>
            <a:ext cx="2542032" cy="457200"/>
          </a:xfrm>
          <a:prstGeom prst="roundRect">
            <a:avLst>
              <a:gd name="adj" fmla="val 50000"/>
            </a:avLst>
          </a:prstGeom>
          <a:solidFill>
            <a:srgbClr val="FFFFFF">
              <a:alpha val="92000"/>
            </a:srgbClr>
          </a:solidFill>
          <a:ln/>
        </p:spPr>
      </p:sp>
      <p:sp>
        <p:nvSpPr>
          <p:cNvPr id="25" name="Shape 22"/>
          <p:cNvSpPr/>
          <p:nvPr/>
        </p:nvSpPr>
        <p:spPr>
          <a:xfrm>
            <a:off x="9253728" y="5166360"/>
            <a:ext cx="182880" cy="182880"/>
          </a:xfrm>
          <a:prstGeom prst="ellipse">
            <a:avLst/>
          </a:prstGeom>
          <a:solidFill>
            <a:srgbClr val="0EA472"/>
          </a:solidFill>
          <a:ln/>
        </p:spPr>
      </p:sp>
      <p:sp>
        <p:nvSpPr>
          <p:cNvPr id="26" name="Text 23"/>
          <p:cNvSpPr/>
          <p:nvPr/>
        </p:nvSpPr>
        <p:spPr>
          <a:xfrm>
            <a:off x="9509760" y="5029200"/>
            <a:ext cx="2057400" cy="457200"/>
          </a:xfrm>
          <a:prstGeom prst="rect">
            <a:avLst/>
          </a:prstGeom>
          <a:noFill/>
          <a:ln/>
        </p:spPr>
        <p:txBody>
          <a:bodyPr wrap="square" lIns="0" tIns="0" rIns="0" bIns="0" rtlCol="0" anchor="ctr"/>
          <a:lstStyle/>
          <a:p>
            <a:pPr indent="0" marL="0">
              <a:buNone/>
            </a:pPr>
            <a:r>
              <a:rPr lang="en-US" sz="1200" b="1" dirty="0">
                <a:solidFill>
                  <a:srgbClr val="0B1E3B"/>
                </a:solidFill>
                <a:latin typeface="Calibri" pitchFamily="34" charset="0"/>
                <a:ea typeface="Calibri" pitchFamily="34" charset="-122"/>
                <a:cs typeface="Calibri" pitchFamily="34" charset="-120"/>
              </a:rPr>
              <a:t>Agentic AI</a:t>
            </a:r>
            <a:endParaRPr lang="en-US" sz="1200" dirty="0"/>
          </a:p>
        </p:txBody>
      </p:sp>
      <p:sp>
        <p:nvSpPr>
          <p:cNvPr id="27" name="Text 24"/>
          <p:cNvSpPr/>
          <p:nvPr/>
        </p:nvSpPr>
        <p:spPr>
          <a:xfrm>
            <a:off x="859536" y="5989320"/>
            <a:ext cx="10789920" cy="365760"/>
          </a:xfrm>
          <a:prstGeom prst="rect">
            <a:avLst/>
          </a:prstGeom>
          <a:noFill/>
          <a:ln/>
        </p:spPr>
        <p:txBody>
          <a:bodyPr wrap="square" lIns="0" tIns="0" rIns="0" bIns="0" rtlCol="0" anchor="t"/>
          <a:lstStyle/>
          <a:p>
            <a:pPr indent="0" marL="0">
              <a:buNone/>
            </a:pPr>
            <a:r>
              <a:rPr lang="en-US" sz="1100" dirty="0">
                <a:solidFill>
                  <a:srgbClr val="8FA6C6"/>
                </a:solidFill>
                <a:latin typeface="Calibri" pitchFamily="34" charset="0"/>
                <a:ea typeface="Calibri" pitchFamily="34" charset="-122"/>
                <a:cs typeface="Calibri" pitchFamily="34" charset="-120"/>
              </a:rPr>
              <a:t>Executive briefing &amp; live demo   ·   July 2026   ·   Key figures verified from live runs; illustrative values marked</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AT A GLANCE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Executive summary — the whole platform on one page</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88900" dist="25400" dir="5400000">
              <a:srgbClr val="9DB0CC">
                <a:alpha val="22000"/>
              </a:srgbClr>
            </a:outerShdw>
          </a:effectLst>
        </p:spPr>
      </p:sp>
      <p:sp>
        <p:nvSpPr>
          <p:cNvPr id="11" name="Shape 9"/>
          <p:cNvSpPr/>
          <p:nvPr/>
        </p:nvSpPr>
        <p:spPr>
          <a:xfrm>
            <a:off x="548640" y="1600200"/>
            <a:ext cx="82296" cy="1371600"/>
          </a:xfrm>
          <a:prstGeom prst="rect">
            <a:avLst/>
          </a:prstGeom>
          <a:solidFill>
            <a:srgbClr val="2563EB"/>
          </a:solidFill>
          <a:ln/>
        </p:spPr>
      </p:sp>
      <p:sp>
        <p:nvSpPr>
          <p:cNvPr id="12" name="Text 10"/>
          <p:cNvSpPr/>
          <p:nvPr/>
        </p:nvSpPr>
        <p:spPr>
          <a:xfrm>
            <a:off x="731520" y="1755648"/>
            <a:ext cx="1783080" cy="502920"/>
          </a:xfrm>
          <a:prstGeom prst="rect">
            <a:avLst/>
          </a:prstGeom>
          <a:noFill/>
          <a:ln/>
        </p:spPr>
        <p:txBody>
          <a:bodyPr wrap="square" lIns="0" tIns="0" rIns="0" bIns="0" rtlCol="0" anchor="t"/>
          <a:lstStyle/>
          <a:p>
            <a:pPr indent="0" marL="0">
              <a:buNone/>
            </a:pPr>
            <a:r>
              <a:rPr lang="en-US" sz="1800" b="1" dirty="0">
                <a:solidFill>
                  <a:srgbClr val="2563EB"/>
                </a:solidFill>
                <a:latin typeface="Calibri" pitchFamily="34" charset="0"/>
                <a:ea typeface="Calibri" pitchFamily="34" charset="-122"/>
                <a:cs typeface="Calibri" pitchFamily="34" charset="-120"/>
              </a:rPr>
              <a:t>Minutes</a:t>
            </a:r>
            <a:endParaRPr lang="en-US" sz="1800" dirty="0"/>
          </a:p>
        </p:txBody>
      </p:sp>
      <p:sp>
        <p:nvSpPr>
          <p:cNvPr id="13" name="Text 11"/>
          <p:cNvSpPr/>
          <p:nvPr/>
        </p:nvSpPr>
        <p:spPr>
          <a:xfrm>
            <a:off x="731520"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not weeks — to a defensible cost</a:t>
            </a:r>
            <a:endParaRPr lang="en-US" sz="950" dirty="0"/>
          </a:p>
        </p:txBody>
      </p:sp>
      <p:sp>
        <p:nvSpPr>
          <p:cNvPr id="14" name="Shape 12"/>
          <p:cNvSpPr/>
          <p:nvPr/>
        </p:nvSpPr>
        <p:spPr>
          <a:xfrm>
            <a:off x="2724912"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129030000" dist="322580000" dir="324000000000">
              <a:srgbClr val="9DB0CC">
                <a:alpha val="2200000000"/>
              </a:srgbClr>
            </a:outerShdw>
          </a:effectLst>
        </p:spPr>
      </p:sp>
      <p:sp>
        <p:nvSpPr>
          <p:cNvPr id="15" name="Shape 13"/>
          <p:cNvSpPr/>
          <p:nvPr/>
        </p:nvSpPr>
        <p:spPr>
          <a:xfrm>
            <a:off x="2724912" y="1600200"/>
            <a:ext cx="82296" cy="1371600"/>
          </a:xfrm>
          <a:prstGeom prst="rect">
            <a:avLst/>
          </a:prstGeom>
          <a:solidFill>
            <a:srgbClr val="E0900C"/>
          </a:solidFill>
          <a:ln/>
        </p:spPr>
      </p:sp>
      <p:sp>
        <p:nvSpPr>
          <p:cNvPr id="16" name="Text 14"/>
          <p:cNvSpPr/>
          <p:nvPr/>
        </p:nvSpPr>
        <p:spPr>
          <a:xfrm>
            <a:off x="2907792" y="1755648"/>
            <a:ext cx="1783080" cy="502920"/>
          </a:xfrm>
          <a:prstGeom prst="rect">
            <a:avLst/>
          </a:prstGeom>
          <a:noFill/>
          <a:ln/>
        </p:spPr>
        <p:txBody>
          <a:bodyPr wrap="square" lIns="0" tIns="0" rIns="0" bIns="0" rtlCol="0" anchor="t"/>
          <a:lstStyle/>
          <a:p>
            <a:pPr indent="0" marL="0">
              <a:buNone/>
            </a:pPr>
            <a:r>
              <a:rPr lang="en-US" sz="2600" b="1" dirty="0">
                <a:solidFill>
                  <a:srgbClr val="E0900C"/>
                </a:solidFill>
                <a:latin typeface="Calibri" pitchFamily="34" charset="0"/>
                <a:ea typeface="Calibri" pitchFamily="34" charset="-122"/>
                <a:cs typeface="Calibri" pitchFamily="34" charset="-120"/>
              </a:rPr>
              <a:t>19</a:t>
            </a:r>
            <a:endParaRPr lang="en-US" sz="2600" dirty="0"/>
          </a:p>
        </p:txBody>
      </p:sp>
      <p:sp>
        <p:nvSpPr>
          <p:cNvPr id="17" name="Text 15"/>
          <p:cNvSpPr/>
          <p:nvPr/>
        </p:nvSpPr>
        <p:spPr>
          <a:xfrm>
            <a:off x="2907792"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commodity cost engines</a:t>
            </a:r>
            <a:endParaRPr lang="en-US" sz="950" dirty="0"/>
          </a:p>
        </p:txBody>
      </p:sp>
      <p:sp>
        <p:nvSpPr>
          <p:cNvPr id="18" name="Shape 16"/>
          <p:cNvSpPr/>
          <p:nvPr/>
        </p:nvSpPr>
        <p:spPr>
          <a:xfrm>
            <a:off x="4901184"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4338681000000" dist="4096766000000" dir="19440000000000000">
              <a:srgbClr val="9DB0CC">
                <a:alpha val="220000000000000"/>
              </a:srgbClr>
            </a:outerShdw>
          </a:effectLst>
        </p:spPr>
      </p:sp>
      <p:sp>
        <p:nvSpPr>
          <p:cNvPr id="19" name="Shape 17"/>
          <p:cNvSpPr/>
          <p:nvPr/>
        </p:nvSpPr>
        <p:spPr>
          <a:xfrm>
            <a:off x="4901184" y="1600200"/>
            <a:ext cx="82296" cy="1371600"/>
          </a:xfrm>
          <a:prstGeom prst="rect">
            <a:avLst/>
          </a:prstGeom>
          <a:solidFill>
            <a:srgbClr val="0DA5A0"/>
          </a:solidFill>
          <a:ln/>
        </p:spPr>
      </p:sp>
      <p:sp>
        <p:nvSpPr>
          <p:cNvPr id="20" name="Text 18"/>
          <p:cNvSpPr/>
          <p:nvPr/>
        </p:nvSpPr>
        <p:spPr>
          <a:xfrm>
            <a:off x="5084064" y="1755648"/>
            <a:ext cx="1783080" cy="502920"/>
          </a:xfrm>
          <a:prstGeom prst="rect">
            <a:avLst/>
          </a:prstGeom>
          <a:noFill/>
          <a:ln/>
        </p:spPr>
        <p:txBody>
          <a:bodyPr wrap="square" lIns="0" tIns="0" rIns="0" bIns="0" rtlCol="0" anchor="t"/>
          <a:lstStyle/>
          <a:p>
            <a:pPr indent="0" marL="0">
              <a:buNone/>
            </a:pPr>
            <a:r>
              <a:rPr lang="en-US" sz="2600" b="1" dirty="0">
                <a:solidFill>
                  <a:srgbClr val="0DA5A0"/>
                </a:solidFill>
                <a:latin typeface="Calibri" pitchFamily="34" charset="0"/>
                <a:ea typeface="Calibri" pitchFamily="34" charset="-122"/>
                <a:cs typeface="Calibri" pitchFamily="34" charset="-120"/>
              </a:rPr>
              <a:t>20</a:t>
            </a:r>
            <a:endParaRPr lang="en-US" sz="2600" dirty="0"/>
          </a:p>
        </p:txBody>
      </p:sp>
      <p:sp>
        <p:nvSpPr>
          <p:cNvPr id="21" name="Text 19"/>
          <p:cNvSpPr/>
          <p:nvPr/>
        </p:nvSpPr>
        <p:spPr>
          <a:xfrm>
            <a:off x="5084064"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manufacturing regions, real rates</a:t>
            </a:r>
            <a:endParaRPr lang="en-US" sz="950" dirty="0"/>
          </a:p>
        </p:txBody>
      </p:sp>
      <p:sp>
        <p:nvSpPr>
          <p:cNvPr id="22" name="Shape 20"/>
          <p:cNvSpPr/>
          <p:nvPr/>
        </p:nvSpPr>
        <p:spPr>
          <a:xfrm>
            <a:off x="7077456"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82101248700000000" dist="52028928200000000" dir="1.1664e+21">
              <a:srgbClr val="9DB0CC">
                <a:alpha val="22000000000000000000"/>
              </a:srgbClr>
            </a:outerShdw>
          </a:effectLst>
        </p:spPr>
      </p:sp>
      <p:sp>
        <p:nvSpPr>
          <p:cNvPr id="23" name="Shape 21"/>
          <p:cNvSpPr/>
          <p:nvPr/>
        </p:nvSpPr>
        <p:spPr>
          <a:xfrm>
            <a:off x="7077456" y="1600200"/>
            <a:ext cx="82296" cy="1371600"/>
          </a:xfrm>
          <a:prstGeom prst="rect">
            <a:avLst/>
          </a:prstGeom>
          <a:solidFill>
            <a:srgbClr val="0EA472"/>
          </a:solidFill>
          <a:ln/>
        </p:spPr>
      </p:sp>
      <p:sp>
        <p:nvSpPr>
          <p:cNvPr id="24" name="Text 22"/>
          <p:cNvSpPr/>
          <p:nvPr/>
        </p:nvSpPr>
        <p:spPr>
          <a:xfrm>
            <a:off x="7260336" y="1755648"/>
            <a:ext cx="1783080" cy="502920"/>
          </a:xfrm>
          <a:prstGeom prst="rect">
            <a:avLst/>
          </a:prstGeom>
          <a:noFill/>
          <a:ln/>
        </p:spPr>
        <p:txBody>
          <a:bodyPr wrap="square" lIns="0" tIns="0" rIns="0" bIns="0" rtlCol="0" anchor="t"/>
          <a:lstStyle/>
          <a:p>
            <a:pPr indent="0" marL="0">
              <a:buNone/>
            </a:pPr>
            <a:r>
              <a:rPr lang="en-US" sz="2600" b="1" dirty="0">
                <a:solidFill>
                  <a:srgbClr val="0EA472"/>
                </a:solidFill>
                <a:latin typeface="Calibri" pitchFamily="34" charset="0"/>
                <a:ea typeface="Calibri" pitchFamily="34" charset="-122"/>
                <a:cs typeface="Calibri" pitchFamily="34" charset="-120"/>
              </a:rPr>
              <a:t>~5%</a:t>
            </a:r>
            <a:endParaRPr lang="en-US" sz="2600" dirty="0"/>
          </a:p>
        </p:txBody>
      </p:sp>
      <p:sp>
        <p:nvSpPr>
          <p:cNvPr id="25" name="Text 23"/>
          <p:cNvSpPr/>
          <p:nvPr/>
        </p:nvSpPr>
        <p:spPr>
          <a:xfrm>
            <a:off x="7260336"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vs manual on the live PCB example</a:t>
            </a:r>
            <a:endParaRPr lang="en-US" sz="950" dirty="0"/>
          </a:p>
        </p:txBody>
      </p:sp>
      <p:sp>
        <p:nvSpPr>
          <p:cNvPr id="26" name="Shape 24"/>
          <p:cNvSpPr/>
          <p:nvPr/>
        </p:nvSpPr>
        <p:spPr>
          <a:xfrm>
            <a:off x="9253728" y="1600200"/>
            <a:ext cx="2103120"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31268585849e+21" dist="660767388140000000000" dir="6.9984e+25">
              <a:srgbClr val="9DB0CC">
                <a:alpha val="2.2e+24"/>
              </a:srgbClr>
            </a:outerShdw>
          </a:effectLst>
        </p:spPr>
      </p:sp>
      <p:sp>
        <p:nvSpPr>
          <p:cNvPr id="27" name="Shape 25"/>
          <p:cNvSpPr/>
          <p:nvPr/>
        </p:nvSpPr>
        <p:spPr>
          <a:xfrm>
            <a:off x="9253728" y="1600200"/>
            <a:ext cx="82296" cy="1371600"/>
          </a:xfrm>
          <a:prstGeom prst="rect">
            <a:avLst/>
          </a:prstGeom>
          <a:solidFill>
            <a:srgbClr val="E5484D"/>
          </a:solidFill>
          <a:ln/>
        </p:spPr>
      </p:sp>
      <p:sp>
        <p:nvSpPr>
          <p:cNvPr id="28" name="Text 26"/>
          <p:cNvSpPr/>
          <p:nvPr/>
        </p:nvSpPr>
        <p:spPr>
          <a:xfrm>
            <a:off x="9436608" y="1755648"/>
            <a:ext cx="1783080" cy="502920"/>
          </a:xfrm>
          <a:prstGeom prst="rect">
            <a:avLst/>
          </a:prstGeom>
          <a:noFill/>
          <a:ln/>
        </p:spPr>
        <p:txBody>
          <a:bodyPr wrap="square" lIns="0" tIns="0" rIns="0" bIns="0" rtlCol="0" anchor="t"/>
          <a:lstStyle/>
          <a:p>
            <a:pPr indent="0" marL="0">
              <a:buNone/>
            </a:pPr>
            <a:r>
              <a:rPr lang="en-US" sz="1800" b="1" dirty="0">
                <a:solidFill>
                  <a:srgbClr val="E5484D"/>
                </a:solidFill>
                <a:latin typeface="Calibri" pitchFamily="34" charset="0"/>
                <a:ea typeface="Calibri" pitchFamily="34" charset="-122"/>
                <a:cs typeface="Calibri" pitchFamily="34" charset="-120"/>
              </a:rPr>
              <a:t>£512k/yr</a:t>
            </a:r>
            <a:endParaRPr lang="en-US" sz="1800" dirty="0"/>
          </a:p>
        </p:txBody>
      </p:sp>
      <p:sp>
        <p:nvSpPr>
          <p:cNvPr id="29" name="Text 27"/>
          <p:cNvSpPr/>
          <p:nvPr/>
        </p:nvSpPr>
        <p:spPr>
          <a:xfrm>
            <a:off x="9436608" y="2286000"/>
            <a:ext cx="1783080" cy="594360"/>
          </a:xfrm>
          <a:prstGeom prst="rect">
            <a:avLst/>
          </a:prstGeom>
          <a:noFill/>
          <a:ln/>
        </p:spPr>
        <p:txBody>
          <a:bodyPr wrap="square" lIns="0" tIns="0" rIns="0" bIns="0" rtlCol="0" anchor="t"/>
          <a:lstStyle/>
          <a:p>
            <a:pPr indent="0" marL="0">
              <a:lnSpc>
                <a:spcPct val="105000"/>
              </a:lnSpc>
              <a:buNone/>
            </a:pPr>
            <a:r>
              <a:rPr lang="en-US" sz="950" dirty="0">
                <a:solidFill>
                  <a:srgbClr val="8A97A8"/>
                </a:solidFill>
                <a:latin typeface="Calibri" pitchFamily="34" charset="0"/>
                <a:ea typeface="Calibri" pitchFamily="34" charset="-122"/>
                <a:cs typeface="Calibri" pitchFamily="34" charset="-120"/>
              </a:rPr>
              <a:t>found by the agent (demo, unattended)</a:t>
            </a:r>
            <a:endParaRPr lang="en-US" sz="950" dirty="0"/>
          </a:p>
        </p:txBody>
      </p:sp>
      <p:sp>
        <p:nvSpPr>
          <p:cNvPr id="30" name="Shape 28"/>
          <p:cNvSpPr/>
          <p:nvPr/>
        </p:nvSpPr>
        <p:spPr>
          <a:xfrm>
            <a:off x="548640" y="3200400"/>
            <a:ext cx="11091672" cy="868680"/>
          </a:xfrm>
          <a:prstGeom prst="roundRect">
            <a:avLst>
              <a:gd name="adj" fmla="val 7368"/>
            </a:avLst>
          </a:prstGeom>
          <a:solidFill>
            <a:srgbClr val="EAF1FE"/>
          </a:solidFill>
          <a:ln w="12700">
            <a:solidFill>
              <a:srgbClr val="E4EAF2"/>
            </a:solidFill>
            <a:prstDash val="solid"/>
          </a:ln>
        </p:spPr>
      </p:sp>
      <p:sp>
        <p:nvSpPr>
          <p:cNvPr id="31" name="Shape 29"/>
          <p:cNvSpPr/>
          <p:nvPr/>
        </p:nvSpPr>
        <p:spPr>
          <a:xfrm>
            <a:off x="548640" y="3200400"/>
            <a:ext cx="82296" cy="868680"/>
          </a:xfrm>
          <a:prstGeom prst="rect">
            <a:avLst/>
          </a:prstGeom>
          <a:solidFill>
            <a:srgbClr val="4F46E5"/>
          </a:solidFill>
          <a:ln/>
        </p:spPr>
      </p:sp>
      <p:sp>
        <p:nvSpPr>
          <p:cNvPr id="32" name="Text 30"/>
          <p:cNvSpPr/>
          <p:nvPr/>
        </p:nvSpPr>
        <p:spPr>
          <a:xfrm>
            <a:off x="914400" y="3337560"/>
            <a:ext cx="10378440" cy="640080"/>
          </a:xfrm>
          <a:prstGeom prst="rect">
            <a:avLst/>
          </a:prstGeom>
          <a:noFill/>
          <a:ln/>
        </p:spPr>
        <p:txBody>
          <a:bodyPr wrap="square" lIns="0" tIns="0" rIns="0" bIns="0" rtlCol="0" anchor="t"/>
          <a:lstStyle/>
          <a:p>
            <a:pPr indent="0" marL="0">
              <a:lnSpc>
                <a:spcPct val="120000"/>
              </a:lnSpc>
              <a:buNone/>
            </a:pPr>
            <a:r>
              <a:rPr lang="en-US" sz="1250" b="1" dirty="0">
                <a:solidFill>
                  <a:srgbClr val="0F1E3D"/>
                </a:solidFill>
                <a:latin typeface="Calibri" pitchFamily="34" charset="0"/>
                <a:ea typeface="Calibri" pitchFamily="34" charset="-122"/>
                <a:cs typeface="Calibri" pitchFamily="34" charset="-120"/>
              </a:rPr>
              <a:t>What it is:  </a:t>
            </a:r>
            <a:pPr indent="0" marL="0">
              <a:lnSpc>
                <a:spcPct val="120000"/>
              </a:lnSpc>
              <a:buNone/>
            </a:pPr>
            <a:r>
              <a:rPr lang="en-US" sz="1250" dirty="0">
                <a:solidFill>
                  <a:srgbClr val="3E4C63"/>
                </a:solidFill>
                <a:latin typeface="Calibri" pitchFamily="34" charset="0"/>
                <a:ea typeface="Calibri" pitchFamily="34" charset="-122"/>
                <a:cs typeface="Calibri" pitchFamily="34" charset="-120"/>
              </a:rPr>
              <a:t>one AI platform that turns any engineering input — a CAD model, a board photo, a description — into a defensible, auditable should-cost in minutes, prices it across 20 regions, hands us the negotiation, and learns from every real quote. AI understands the input; deterministic maths sets every price.</a:t>
            </a:r>
            <a:endParaRPr lang="en-US" sz="1250" dirty="0"/>
          </a:p>
        </p:txBody>
      </p:sp>
      <p:sp>
        <p:nvSpPr>
          <p:cNvPr id="33" name="Shape 31"/>
          <p:cNvSpPr/>
          <p:nvPr/>
        </p:nvSpPr>
        <p:spPr>
          <a:xfrm>
            <a:off x="548640"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2.9371110402823e+25" dist="8.391745829378e+24" dir="4.19904e+30">
              <a:srgbClr val="9DB0CC">
                <a:alpha val="2.2e+29"/>
              </a:srgbClr>
            </a:outerShdw>
          </a:effectLst>
        </p:spPr>
      </p:sp>
      <p:sp>
        <p:nvSpPr>
          <p:cNvPr id="34" name="Shape 32"/>
          <p:cNvSpPr/>
          <p:nvPr/>
        </p:nvSpPr>
        <p:spPr>
          <a:xfrm>
            <a:off x="548640" y="4297680"/>
            <a:ext cx="82296" cy="1280160"/>
          </a:xfrm>
          <a:prstGeom prst="rect">
            <a:avLst/>
          </a:prstGeom>
          <a:solidFill>
            <a:srgbClr val="2563EB"/>
          </a:solidFill>
          <a:ln/>
        </p:spPr>
      </p:sp>
      <p:sp>
        <p:nvSpPr>
          <p:cNvPr id="35" name="Text 33"/>
          <p:cNvSpPr/>
          <p:nvPr/>
        </p:nvSpPr>
        <p:spPr>
          <a:xfrm>
            <a:off x="768096" y="4462272"/>
            <a:ext cx="2377440" cy="320040"/>
          </a:xfrm>
          <a:prstGeom prst="rect">
            <a:avLst/>
          </a:prstGeom>
          <a:noFill/>
          <a:ln/>
        </p:spPr>
        <p:txBody>
          <a:bodyPr wrap="square" lIns="0" tIns="0" rIns="0" bIns="0" rtlCol="0" anchor="t"/>
          <a:lstStyle/>
          <a:p>
            <a:pPr indent="0" marL="0">
              <a:buNone/>
            </a:pPr>
            <a:r>
              <a:rPr lang="en-US" sz="1300" b="1" spc="50" kern="0" dirty="0">
                <a:solidFill>
                  <a:srgbClr val="2563EB"/>
                </a:solidFill>
                <a:latin typeface="Calibri" pitchFamily="34" charset="0"/>
                <a:ea typeface="Calibri" pitchFamily="34" charset="-122"/>
                <a:cs typeface="Calibri" pitchFamily="34" charset="-120"/>
              </a:rPr>
              <a:t>ESTIMATE</a:t>
            </a:r>
            <a:endParaRPr lang="en-US" sz="1300" dirty="0"/>
          </a:p>
        </p:txBody>
      </p:sp>
      <p:sp>
        <p:nvSpPr>
          <p:cNvPr id="36" name="Text 34"/>
          <p:cNvSpPr/>
          <p:nvPr/>
        </p:nvSpPr>
        <p:spPr>
          <a:xfrm>
            <a:off x="768096"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CAD · PCB · 19 engines</a:t>
            </a:r>
            <a:endParaRPr lang="en-US" sz="1050" dirty="0"/>
          </a:p>
        </p:txBody>
      </p:sp>
      <p:sp>
        <p:nvSpPr>
          <p:cNvPr id="37" name="Shape 35"/>
          <p:cNvSpPr/>
          <p:nvPr/>
        </p:nvSpPr>
        <p:spPr>
          <a:xfrm>
            <a:off x="3319272"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3.730131021158521e+29" dist="1.0657517203310059e+29" dir="2.519424e+35">
              <a:srgbClr val="9DB0CC">
                <a:alpha val="2.2e+34"/>
              </a:srgbClr>
            </a:outerShdw>
          </a:effectLst>
        </p:spPr>
      </p:sp>
      <p:sp>
        <p:nvSpPr>
          <p:cNvPr id="38" name="Shape 36"/>
          <p:cNvSpPr/>
          <p:nvPr/>
        </p:nvSpPr>
        <p:spPr>
          <a:xfrm>
            <a:off x="3319272" y="4297680"/>
            <a:ext cx="82296" cy="1280160"/>
          </a:xfrm>
          <a:prstGeom prst="rect">
            <a:avLst/>
          </a:prstGeom>
          <a:solidFill>
            <a:srgbClr val="7C3AED"/>
          </a:solidFill>
          <a:ln/>
        </p:spPr>
      </p:sp>
      <p:sp>
        <p:nvSpPr>
          <p:cNvPr id="39" name="Text 37"/>
          <p:cNvSpPr/>
          <p:nvPr/>
        </p:nvSpPr>
        <p:spPr>
          <a:xfrm>
            <a:off x="3538728" y="4462272"/>
            <a:ext cx="2377440" cy="320040"/>
          </a:xfrm>
          <a:prstGeom prst="rect">
            <a:avLst/>
          </a:prstGeom>
          <a:noFill/>
          <a:ln/>
        </p:spPr>
        <p:txBody>
          <a:bodyPr wrap="square" lIns="0" tIns="0" rIns="0" bIns="0" rtlCol="0" anchor="t"/>
          <a:lstStyle/>
          <a:p>
            <a:pPr indent="0" marL="0">
              <a:buNone/>
            </a:pPr>
            <a:r>
              <a:rPr lang="en-US" sz="1300" b="1" spc="50" kern="0" dirty="0">
                <a:solidFill>
                  <a:srgbClr val="7C3AED"/>
                </a:solidFill>
                <a:latin typeface="Calibri" pitchFamily="34" charset="0"/>
                <a:ea typeface="Calibri" pitchFamily="34" charset="-122"/>
                <a:cs typeface="Calibri" pitchFamily="34" charset="-120"/>
              </a:rPr>
              <a:t>UNDERSTAND</a:t>
            </a:r>
            <a:endParaRPr lang="en-US" sz="1300" dirty="0"/>
          </a:p>
        </p:txBody>
      </p:sp>
      <p:sp>
        <p:nvSpPr>
          <p:cNvPr id="40" name="Text 38"/>
          <p:cNvSpPr/>
          <p:nvPr/>
        </p:nvSpPr>
        <p:spPr>
          <a:xfrm>
            <a:off x="3538728"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3D · B-rep · assistant</a:t>
            </a:r>
            <a:endParaRPr lang="en-US" sz="1050" dirty="0"/>
          </a:p>
        </p:txBody>
      </p:sp>
      <p:sp>
        <p:nvSpPr>
          <p:cNvPr id="41" name="Shape 39"/>
          <p:cNvSpPr/>
          <p:nvPr/>
        </p:nvSpPr>
        <p:spPr>
          <a:xfrm>
            <a:off x="6089904"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4.737266396871321e+33" dist="1.3535046848203775e+33" dir="1.5116544e+40">
              <a:srgbClr val="9DB0CC">
                <a:alpha val="2.2e+39"/>
              </a:srgbClr>
            </a:outerShdw>
          </a:effectLst>
        </p:spPr>
      </p:sp>
      <p:sp>
        <p:nvSpPr>
          <p:cNvPr id="42" name="Shape 40"/>
          <p:cNvSpPr/>
          <p:nvPr/>
        </p:nvSpPr>
        <p:spPr>
          <a:xfrm>
            <a:off x="6089904" y="4297680"/>
            <a:ext cx="82296" cy="1280160"/>
          </a:xfrm>
          <a:prstGeom prst="rect">
            <a:avLst/>
          </a:prstGeom>
          <a:solidFill>
            <a:srgbClr val="0DA5A0"/>
          </a:solidFill>
          <a:ln/>
        </p:spPr>
      </p:sp>
      <p:sp>
        <p:nvSpPr>
          <p:cNvPr id="43" name="Text 41"/>
          <p:cNvSpPr/>
          <p:nvPr/>
        </p:nvSpPr>
        <p:spPr>
          <a:xfrm>
            <a:off x="6309360" y="4462272"/>
            <a:ext cx="2377440" cy="320040"/>
          </a:xfrm>
          <a:prstGeom prst="rect">
            <a:avLst/>
          </a:prstGeom>
          <a:noFill/>
          <a:ln/>
        </p:spPr>
        <p:txBody>
          <a:bodyPr wrap="square" lIns="0" tIns="0" rIns="0" bIns="0" rtlCol="0" anchor="t"/>
          <a:lstStyle/>
          <a:p>
            <a:pPr indent="0" marL="0">
              <a:buNone/>
            </a:pPr>
            <a:r>
              <a:rPr lang="en-US" sz="1300" b="1" spc="50" kern="0" dirty="0">
                <a:solidFill>
                  <a:srgbClr val="0DA5A0"/>
                </a:solidFill>
                <a:latin typeface="Calibri" pitchFamily="34" charset="0"/>
                <a:ea typeface="Calibri" pitchFamily="34" charset="-122"/>
                <a:cs typeface="Calibri" pitchFamily="34" charset="-120"/>
              </a:rPr>
              <a:t>NEGOTIATE</a:t>
            </a:r>
            <a:endParaRPr lang="en-US" sz="1300" dirty="0"/>
          </a:p>
        </p:txBody>
      </p:sp>
      <p:sp>
        <p:nvSpPr>
          <p:cNvPr id="44" name="Text 42"/>
          <p:cNvSpPr/>
          <p:nvPr/>
        </p:nvSpPr>
        <p:spPr>
          <a:xfrm>
            <a:off x="6309360"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teardown · 20-region · what-if</a:t>
            </a:r>
            <a:endParaRPr lang="en-US" sz="1050" dirty="0"/>
          </a:p>
        </p:txBody>
      </p:sp>
      <p:sp>
        <p:nvSpPr>
          <p:cNvPr id="45" name="Shape 43"/>
          <p:cNvSpPr/>
          <p:nvPr/>
        </p:nvSpPr>
        <p:spPr>
          <a:xfrm>
            <a:off x="8860536" y="4297680"/>
            <a:ext cx="2724912" cy="1280160"/>
          </a:xfrm>
          <a:prstGeom prst="roundRect">
            <a:avLst>
              <a:gd name="adj" fmla="val 5000"/>
            </a:avLst>
          </a:prstGeom>
          <a:solidFill>
            <a:srgbClr val="FFFFFF"/>
          </a:solidFill>
          <a:ln w="12700">
            <a:solidFill>
              <a:srgbClr val="E4EAF2"/>
            </a:solidFill>
            <a:prstDash val="solid"/>
          </a:ln>
          <a:effectLst>
            <a:outerShdw sx="100000" sy="100000" kx="0" ky="0" algn="bl" rotWithShape="0" blurRad="6.016328324026578e+37" dist="1.7189509497218795e+37" dir="9.069926400000001e+44">
              <a:srgbClr val="9DB0CC">
                <a:alpha val="2.2e+44"/>
              </a:srgbClr>
            </a:outerShdw>
          </a:effectLst>
        </p:spPr>
      </p:sp>
      <p:sp>
        <p:nvSpPr>
          <p:cNvPr id="46" name="Shape 44"/>
          <p:cNvSpPr/>
          <p:nvPr/>
        </p:nvSpPr>
        <p:spPr>
          <a:xfrm>
            <a:off x="8860536" y="4297680"/>
            <a:ext cx="82296" cy="1280160"/>
          </a:xfrm>
          <a:prstGeom prst="rect">
            <a:avLst/>
          </a:prstGeom>
          <a:solidFill>
            <a:srgbClr val="0EA472"/>
          </a:solidFill>
          <a:ln/>
        </p:spPr>
      </p:sp>
      <p:sp>
        <p:nvSpPr>
          <p:cNvPr id="47" name="Text 45"/>
          <p:cNvSpPr/>
          <p:nvPr/>
        </p:nvSpPr>
        <p:spPr>
          <a:xfrm>
            <a:off x="9079992" y="4462272"/>
            <a:ext cx="2377440" cy="320040"/>
          </a:xfrm>
          <a:prstGeom prst="rect">
            <a:avLst/>
          </a:prstGeom>
          <a:noFill/>
          <a:ln/>
        </p:spPr>
        <p:txBody>
          <a:bodyPr wrap="square" lIns="0" tIns="0" rIns="0" bIns="0" rtlCol="0" anchor="t"/>
          <a:lstStyle/>
          <a:p>
            <a:pPr indent="0" marL="0">
              <a:buNone/>
            </a:pPr>
            <a:r>
              <a:rPr lang="en-US" sz="1300" b="1" spc="50" kern="0" dirty="0">
                <a:solidFill>
                  <a:srgbClr val="0EA472"/>
                </a:solidFill>
                <a:latin typeface="Calibri" pitchFamily="34" charset="0"/>
                <a:ea typeface="Calibri" pitchFamily="34" charset="-122"/>
                <a:cs typeface="Calibri" pitchFamily="34" charset="-120"/>
              </a:rPr>
              <a:t>LEARN &amp; GOVERN</a:t>
            </a:r>
            <a:endParaRPr lang="en-US" sz="1300" dirty="0"/>
          </a:p>
        </p:txBody>
      </p:sp>
      <p:sp>
        <p:nvSpPr>
          <p:cNvPr id="48" name="Text 46"/>
          <p:cNvSpPr/>
          <p:nvPr/>
        </p:nvSpPr>
        <p:spPr>
          <a:xfrm>
            <a:off x="9079992" y="4828032"/>
            <a:ext cx="2377440" cy="640080"/>
          </a:xfrm>
          <a:prstGeom prst="rect">
            <a:avLst/>
          </a:prstGeom>
          <a:noFill/>
          <a:ln/>
        </p:spPr>
        <p:txBody>
          <a:bodyPr wrap="square" lIns="0" tIns="0" rIns="0" bIns="0" rtlCol="0" anchor="t"/>
          <a:lstStyle/>
          <a:p>
            <a:pPr indent="0" marL="0">
              <a:lnSpc>
                <a:spcPct val="110000"/>
              </a:lnSpc>
              <a:buNone/>
            </a:pPr>
            <a:r>
              <a:rPr lang="en-US" sz="1050" dirty="0">
                <a:solidFill>
                  <a:srgbClr val="3E4C63"/>
                </a:solidFill>
                <a:latin typeface="Calibri" pitchFamily="34" charset="0"/>
                <a:ea typeface="Calibri" pitchFamily="34" charset="-122"/>
                <a:cs typeface="Calibri" pitchFamily="34" charset="-120"/>
              </a:rPr>
              <a:t>agentic · glass-box · on-prem</a:t>
            </a:r>
            <a:endParaRPr lang="en-US" sz="1050" dirty="0"/>
          </a:p>
        </p:txBody>
      </p:sp>
      <p:sp>
        <p:nvSpPr>
          <p:cNvPr id="49" name="Shape 47"/>
          <p:cNvSpPr/>
          <p:nvPr/>
        </p:nvSpPr>
        <p:spPr>
          <a:xfrm>
            <a:off x="548640" y="5715000"/>
            <a:ext cx="11091672" cy="457200"/>
          </a:xfrm>
          <a:prstGeom prst="roundRect">
            <a:avLst>
              <a:gd name="adj" fmla="val 14000"/>
            </a:avLst>
          </a:prstGeom>
          <a:solidFill>
            <a:srgbClr val="E7F7F0"/>
          </a:solidFill>
          <a:ln w="12700">
            <a:solidFill>
              <a:srgbClr val="E4EAF2"/>
            </a:solidFill>
            <a:prstDash val="solid"/>
          </a:ln>
        </p:spPr>
      </p:sp>
      <p:sp>
        <p:nvSpPr>
          <p:cNvPr id="50" name="Text 48"/>
          <p:cNvSpPr/>
          <p:nvPr/>
        </p:nvSpPr>
        <p:spPr>
          <a:xfrm>
            <a:off x="914400" y="5715000"/>
            <a:ext cx="10332720" cy="45720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Bottom line:  </a:t>
            </a:r>
            <a:pPr indent="0" marL="0">
              <a:buNone/>
            </a:pPr>
            <a:r>
              <a:rPr lang="en-US" sz="1150" dirty="0">
                <a:solidFill>
                  <a:srgbClr val="3E4C63"/>
                </a:solidFill>
                <a:latin typeface="Calibri" pitchFamily="34" charset="0"/>
                <a:ea typeface="Calibri" pitchFamily="34" charset="-122"/>
                <a:cs typeface="Calibri" pitchFamily="34" charset="-120"/>
              </a:rPr>
              <a:t>faster quotes, better margins, one consistent number — and a proprietary cost-intelligence asset that compounds, on our own infrastructure.</a:t>
            </a:r>
            <a:endParaRPr lang="en-US" sz="115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 / 15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ORIENTATION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Background &amp; agenda</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00200"/>
            <a:ext cx="11091672" cy="1234440"/>
          </a:xfrm>
          <a:prstGeom prst="roundRect">
            <a:avLst>
              <a:gd name="adj" fmla="val 5185"/>
            </a:avLst>
          </a:prstGeom>
          <a:solidFill>
            <a:srgbClr val="EAF1FE"/>
          </a:solidFill>
          <a:ln w="12700">
            <a:solidFill>
              <a:srgbClr val="E4EAF2"/>
            </a:solidFill>
            <a:prstDash val="solid"/>
          </a:ln>
        </p:spPr>
      </p:sp>
      <p:sp>
        <p:nvSpPr>
          <p:cNvPr id="11" name="Shape 9"/>
          <p:cNvSpPr/>
          <p:nvPr/>
        </p:nvSpPr>
        <p:spPr>
          <a:xfrm>
            <a:off x="548640" y="1600200"/>
            <a:ext cx="82296" cy="1234440"/>
          </a:xfrm>
          <a:prstGeom prst="rect">
            <a:avLst/>
          </a:prstGeom>
          <a:solidFill>
            <a:srgbClr val="4F46E5"/>
          </a:solidFill>
          <a:ln/>
        </p:spPr>
      </p:sp>
      <p:sp>
        <p:nvSpPr>
          <p:cNvPr id="12" name="Text 10"/>
          <p:cNvSpPr/>
          <p:nvPr/>
        </p:nvSpPr>
        <p:spPr>
          <a:xfrm>
            <a:off x="914400" y="1755648"/>
            <a:ext cx="10378440" cy="960120"/>
          </a:xfrm>
          <a:prstGeom prst="rect">
            <a:avLst/>
          </a:prstGeom>
          <a:noFill/>
          <a:ln/>
        </p:spPr>
        <p:txBody>
          <a:bodyPr wrap="square" lIns="0" tIns="0" rIns="0" bIns="0" rtlCol="0" anchor="t"/>
          <a:lstStyle/>
          <a:p>
            <a:pPr indent="0" marL="0">
              <a:lnSpc>
                <a:spcPct val="116000"/>
              </a:lnSpc>
              <a:buNone/>
            </a:pPr>
            <a:r>
              <a:rPr lang="en-US" sz="1200" b="1" dirty="0">
                <a:solidFill>
                  <a:srgbClr val="0F1E3D"/>
                </a:solidFill>
                <a:latin typeface="Calibri" pitchFamily="34" charset="0"/>
                <a:ea typeface="Calibri" pitchFamily="34" charset="-122"/>
                <a:cs typeface="Calibri" pitchFamily="34" charset="-120"/>
              </a:rPr>
              <a:t>The picture:  </a:t>
            </a:r>
            <a:pPr indent="0" marL="0">
              <a:lnSpc>
                <a:spcPct val="116000"/>
              </a:lnSpc>
              <a:buNone/>
            </a:pPr>
            <a:r>
              <a:rPr lang="en-US" sz="1200" dirty="0">
                <a:solidFill>
                  <a:srgbClr val="3E4C63"/>
                </a:solidFill>
                <a:latin typeface="Calibri" pitchFamily="34" charset="0"/>
                <a:ea typeface="Calibri" pitchFamily="34" charset="-122"/>
                <a:cs typeface="Calibri" pitchFamily="34" charset="-120"/>
              </a:rPr>
              <a:t>we already run rigorous should-costing across every commodity with our internal tool — a proven, bottom-up method. Today it is hands-on: every input is selected and keyed in by hand from the 3D CAD and drawings. CostVision is the next step — it keeps that trusted method and automates the manual work with an AI layer: reading the CAD, suggesting material &amp; process, and keeping rates current. Same defensible number, in minutes — and the knowledge compounds as a company asset.</a:t>
            </a:r>
            <a:endParaRPr lang="en-US" sz="1200" dirty="0"/>
          </a:p>
        </p:txBody>
      </p:sp>
      <p:sp>
        <p:nvSpPr>
          <p:cNvPr id="13" name="Shape 11"/>
          <p:cNvSpPr/>
          <p:nvPr/>
        </p:nvSpPr>
        <p:spPr>
          <a:xfrm>
            <a:off x="548640" y="3063240"/>
            <a:ext cx="5394960" cy="566928"/>
          </a:xfrm>
          <a:prstGeom prst="roundRect">
            <a:avLst>
              <a:gd name="adj" fmla="val 9677"/>
            </a:avLst>
          </a:prstGeom>
          <a:solidFill>
            <a:srgbClr val="F4F7FB"/>
          </a:solidFill>
          <a:ln w="12700">
            <a:solidFill>
              <a:srgbClr val="E4EAF2"/>
            </a:solidFill>
            <a:prstDash val="solid"/>
          </a:ln>
        </p:spPr>
      </p:sp>
      <p:sp>
        <p:nvSpPr>
          <p:cNvPr id="14" name="Shape 12"/>
          <p:cNvSpPr/>
          <p:nvPr/>
        </p:nvSpPr>
        <p:spPr>
          <a:xfrm>
            <a:off x="713232" y="3191256"/>
            <a:ext cx="310896" cy="310896"/>
          </a:xfrm>
          <a:prstGeom prst="ellipse">
            <a:avLst/>
          </a:prstGeom>
          <a:solidFill>
            <a:srgbClr val="2563EB"/>
          </a:solidFill>
          <a:ln/>
          <a:effectLst>
            <a:outerShdw sx="100000" sy="100000" kx="0" ky="0" algn="bl" rotWithShape="0" blurRad="63500" dist="19050" dir="5400000">
              <a:srgbClr val="A7B6CE">
                <a:alpha val="18000"/>
              </a:srgbClr>
            </a:outerShdw>
          </a:effectLst>
        </p:spPr>
      </p:sp>
      <p:sp>
        <p:nvSpPr>
          <p:cNvPr id="15" name="Text 13"/>
          <p:cNvSpPr/>
          <p:nvPr/>
        </p:nvSpPr>
        <p:spPr>
          <a:xfrm>
            <a:off x="713232"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1</a:t>
            </a:r>
            <a:endParaRPr lang="en-US" sz="1156" dirty="0"/>
          </a:p>
        </p:txBody>
      </p:sp>
      <p:sp>
        <p:nvSpPr>
          <p:cNvPr id="16" name="Text 14"/>
          <p:cNvSpPr/>
          <p:nvPr/>
        </p:nvSpPr>
        <p:spPr>
          <a:xfrm>
            <a:off x="1152144"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From manual should-costing to AI-assisted</a:t>
            </a:r>
            <a:endParaRPr lang="en-US" sz="1250" dirty="0"/>
          </a:p>
        </p:txBody>
      </p:sp>
      <p:sp>
        <p:nvSpPr>
          <p:cNvPr id="17" name="Shape 15"/>
          <p:cNvSpPr/>
          <p:nvPr/>
        </p:nvSpPr>
        <p:spPr>
          <a:xfrm>
            <a:off x="6245352" y="3063240"/>
            <a:ext cx="5394960" cy="566928"/>
          </a:xfrm>
          <a:prstGeom prst="roundRect">
            <a:avLst>
              <a:gd name="adj" fmla="val 9677"/>
            </a:avLst>
          </a:prstGeom>
          <a:solidFill>
            <a:srgbClr val="FFFFFF"/>
          </a:solidFill>
          <a:ln w="12700">
            <a:solidFill>
              <a:srgbClr val="E4EAF2"/>
            </a:solidFill>
            <a:prstDash val="solid"/>
          </a:ln>
        </p:spPr>
      </p:sp>
      <p:sp>
        <p:nvSpPr>
          <p:cNvPr id="18" name="Shape 16"/>
          <p:cNvSpPr/>
          <p:nvPr/>
        </p:nvSpPr>
        <p:spPr>
          <a:xfrm>
            <a:off x="6409944" y="3191256"/>
            <a:ext cx="310896" cy="310896"/>
          </a:xfrm>
          <a:prstGeom prst="ellipse">
            <a:avLst/>
          </a:prstGeom>
          <a:solidFill>
            <a:srgbClr val="2563EB"/>
          </a:solidFill>
          <a:ln/>
          <a:effectLst>
            <a:outerShdw sx="100000" sy="100000" kx="0" ky="0" algn="bl" rotWithShape="0" blurRad="806450000" dist="241935000" dir="324000000000">
              <a:srgbClr val="A7B6CE">
                <a:alpha val="1800000000"/>
              </a:srgbClr>
            </a:outerShdw>
          </a:effectLst>
        </p:spPr>
      </p:sp>
      <p:sp>
        <p:nvSpPr>
          <p:cNvPr id="19" name="Text 17"/>
          <p:cNvSpPr/>
          <p:nvPr/>
        </p:nvSpPr>
        <p:spPr>
          <a:xfrm>
            <a:off x="6409944" y="3191256"/>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2</a:t>
            </a:r>
            <a:endParaRPr lang="en-US" sz="1156" dirty="0"/>
          </a:p>
        </p:txBody>
      </p:sp>
      <p:sp>
        <p:nvSpPr>
          <p:cNvPr id="20" name="Text 18"/>
          <p:cNvSpPr/>
          <p:nvPr/>
        </p:nvSpPr>
        <p:spPr>
          <a:xfrm>
            <a:off x="6848856" y="3063240"/>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The platform at a glance</a:t>
            </a:r>
            <a:endParaRPr lang="en-US" sz="1250" dirty="0"/>
          </a:p>
        </p:txBody>
      </p:sp>
      <p:sp>
        <p:nvSpPr>
          <p:cNvPr id="21" name="Shape 19"/>
          <p:cNvSpPr/>
          <p:nvPr/>
        </p:nvSpPr>
        <p:spPr>
          <a:xfrm>
            <a:off x="548640" y="3666744"/>
            <a:ext cx="5394960" cy="566928"/>
          </a:xfrm>
          <a:prstGeom prst="roundRect">
            <a:avLst>
              <a:gd name="adj" fmla="val 9677"/>
            </a:avLst>
          </a:prstGeom>
          <a:solidFill>
            <a:srgbClr val="F4F7FB"/>
          </a:solidFill>
          <a:ln w="12700">
            <a:solidFill>
              <a:srgbClr val="E4EAF2"/>
            </a:solidFill>
            <a:prstDash val="solid"/>
          </a:ln>
        </p:spPr>
      </p:sp>
      <p:sp>
        <p:nvSpPr>
          <p:cNvPr id="22" name="Shape 20"/>
          <p:cNvSpPr/>
          <p:nvPr/>
        </p:nvSpPr>
        <p:spPr>
          <a:xfrm>
            <a:off x="713232" y="3794760"/>
            <a:ext cx="310896" cy="310896"/>
          </a:xfrm>
          <a:prstGeom prst="ellipse">
            <a:avLst/>
          </a:prstGeom>
          <a:solidFill>
            <a:srgbClr val="0DA5A0"/>
          </a:solidFill>
          <a:ln/>
          <a:effectLst>
            <a:outerShdw sx="100000" sy="100000" kx="0" ky="0" algn="bl" rotWithShape="0" blurRad="10241915000000" dist="3072574500000" dir="19440000000000000">
              <a:srgbClr val="A7B6CE">
                <a:alpha val="180000000000000"/>
              </a:srgbClr>
            </a:outerShdw>
          </a:effectLst>
        </p:spPr>
      </p:sp>
      <p:sp>
        <p:nvSpPr>
          <p:cNvPr id="23" name="Text 21"/>
          <p:cNvSpPr/>
          <p:nvPr/>
        </p:nvSpPr>
        <p:spPr>
          <a:xfrm>
            <a:off x="713232"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3</a:t>
            </a:r>
            <a:endParaRPr lang="en-US" sz="1156" dirty="0"/>
          </a:p>
        </p:txBody>
      </p:sp>
      <p:sp>
        <p:nvSpPr>
          <p:cNvPr id="24" name="Text 22"/>
          <p:cNvSpPr/>
          <p:nvPr/>
        </p:nvSpPr>
        <p:spPr>
          <a:xfrm>
            <a:off x="1152144"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CAD → Cost — workflow, AI &amp; accuracy</a:t>
            </a:r>
            <a:endParaRPr lang="en-US" sz="1250" dirty="0"/>
          </a:p>
        </p:txBody>
      </p:sp>
      <p:sp>
        <p:nvSpPr>
          <p:cNvPr id="25" name="Shape 23"/>
          <p:cNvSpPr/>
          <p:nvPr/>
        </p:nvSpPr>
        <p:spPr>
          <a:xfrm>
            <a:off x="6245352" y="3666744"/>
            <a:ext cx="5394960" cy="566928"/>
          </a:xfrm>
          <a:prstGeom prst="roundRect">
            <a:avLst>
              <a:gd name="adj" fmla="val 9677"/>
            </a:avLst>
          </a:prstGeom>
          <a:solidFill>
            <a:srgbClr val="FFFFFF"/>
          </a:solidFill>
          <a:ln w="12700">
            <a:solidFill>
              <a:srgbClr val="E4EAF2"/>
            </a:solidFill>
            <a:prstDash val="solid"/>
          </a:ln>
        </p:spPr>
      </p:sp>
      <p:sp>
        <p:nvSpPr>
          <p:cNvPr id="26" name="Shape 24"/>
          <p:cNvSpPr/>
          <p:nvPr/>
        </p:nvSpPr>
        <p:spPr>
          <a:xfrm>
            <a:off x="6409944" y="3794760"/>
            <a:ext cx="310896" cy="310896"/>
          </a:xfrm>
          <a:prstGeom prst="ellipse">
            <a:avLst/>
          </a:prstGeom>
          <a:solidFill>
            <a:srgbClr val="0E93B0"/>
          </a:solidFill>
          <a:ln/>
          <a:effectLst>
            <a:outerShdw sx="100000" sy="100000" kx="0" ky="0" algn="bl" rotWithShape="0" blurRad="130072320500000000" dist="39021696150000000" dir="1.1664e+21">
              <a:srgbClr val="A7B6CE">
                <a:alpha val="18000000000000000000"/>
              </a:srgbClr>
            </a:outerShdw>
          </a:effectLst>
        </p:spPr>
      </p:sp>
      <p:sp>
        <p:nvSpPr>
          <p:cNvPr id="27" name="Text 25"/>
          <p:cNvSpPr/>
          <p:nvPr/>
        </p:nvSpPr>
        <p:spPr>
          <a:xfrm>
            <a:off x="6409944" y="3794760"/>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4</a:t>
            </a:r>
            <a:endParaRPr lang="en-US" sz="1156" dirty="0"/>
          </a:p>
        </p:txBody>
      </p:sp>
      <p:sp>
        <p:nvSpPr>
          <p:cNvPr id="28" name="Text 26"/>
          <p:cNvSpPr/>
          <p:nvPr/>
        </p:nvSpPr>
        <p:spPr>
          <a:xfrm>
            <a:off x="6848856" y="3666744"/>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PCB Image → BOM → should-cost</a:t>
            </a:r>
            <a:endParaRPr lang="en-US" sz="1250" dirty="0"/>
          </a:p>
        </p:txBody>
      </p:sp>
      <p:sp>
        <p:nvSpPr>
          <p:cNvPr id="29" name="Shape 27"/>
          <p:cNvSpPr/>
          <p:nvPr/>
        </p:nvSpPr>
        <p:spPr>
          <a:xfrm>
            <a:off x="548640" y="4270248"/>
            <a:ext cx="5394960" cy="566928"/>
          </a:xfrm>
          <a:prstGeom prst="roundRect">
            <a:avLst>
              <a:gd name="adj" fmla="val 9677"/>
            </a:avLst>
          </a:prstGeom>
          <a:solidFill>
            <a:srgbClr val="F4F7FB"/>
          </a:solidFill>
          <a:ln w="12700">
            <a:solidFill>
              <a:srgbClr val="E4EAF2"/>
            </a:solidFill>
            <a:prstDash val="solid"/>
          </a:ln>
        </p:spPr>
      </p:sp>
      <p:sp>
        <p:nvSpPr>
          <p:cNvPr id="30" name="Shape 28"/>
          <p:cNvSpPr/>
          <p:nvPr/>
        </p:nvSpPr>
        <p:spPr>
          <a:xfrm>
            <a:off x="713232" y="4398264"/>
            <a:ext cx="310896" cy="310896"/>
          </a:xfrm>
          <a:prstGeom prst="ellipse">
            <a:avLst/>
          </a:prstGeom>
          <a:solidFill>
            <a:srgbClr val="E0900C"/>
          </a:solidFill>
          <a:ln/>
          <a:effectLst>
            <a:outerShdw sx="100000" sy="100000" kx="0" ky="0" algn="bl" rotWithShape="0" blurRad="1.65191847035e+21" dist="495575541105000000000" dir="6.9984e+25">
              <a:srgbClr val="A7B6CE">
                <a:alpha val="1.8e+24"/>
              </a:srgbClr>
            </a:outerShdw>
          </a:effectLst>
        </p:spPr>
      </p:sp>
      <p:sp>
        <p:nvSpPr>
          <p:cNvPr id="31" name="Text 29"/>
          <p:cNvSpPr/>
          <p:nvPr/>
        </p:nvSpPr>
        <p:spPr>
          <a:xfrm>
            <a:off x="713232"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5</a:t>
            </a:r>
            <a:endParaRPr lang="en-US" sz="1156" dirty="0"/>
          </a:p>
        </p:txBody>
      </p:sp>
      <p:sp>
        <p:nvSpPr>
          <p:cNvPr id="32" name="Text 30"/>
          <p:cNvSpPr/>
          <p:nvPr/>
        </p:nvSpPr>
        <p:spPr>
          <a:xfrm>
            <a:off x="1152144"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Global should-cost — engines, rates &amp; transparency</a:t>
            </a:r>
            <a:endParaRPr lang="en-US" sz="1250" dirty="0"/>
          </a:p>
        </p:txBody>
      </p:sp>
      <p:sp>
        <p:nvSpPr>
          <p:cNvPr id="33" name="Shape 31"/>
          <p:cNvSpPr/>
          <p:nvPr/>
        </p:nvSpPr>
        <p:spPr>
          <a:xfrm>
            <a:off x="6245352" y="4270248"/>
            <a:ext cx="5394960" cy="566928"/>
          </a:xfrm>
          <a:prstGeom prst="roundRect">
            <a:avLst>
              <a:gd name="adj" fmla="val 9677"/>
            </a:avLst>
          </a:prstGeom>
          <a:solidFill>
            <a:srgbClr val="FFFFFF"/>
          </a:solidFill>
          <a:ln w="12700">
            <a:solidFill>
              <a:srgbClr val="E4EAF2"/>
            </a:solidFill>
            <a:prstDash val="solid"/>
          </a:ln>
        </p:spPr>
      </p:sp>
      <p:sp>
        <p:nvSpPr>
          <p:cNvPr id="34" name="Shape 32"/>
          <p:cNvSpPr/>
          <p:nvPr/>
        </p:nvSpPr>
        <p:spPr>
          <a:xfrm>
            <a:off x="6409944" y="4398264"/>
            <a:ext cx="310896" cy="310896"/>
          </a:xfrm>
          <a:prstGeom prst="ellipse">
            <a:avLst/>
          </a:prstGeom>
          <a:solidFill>
            <a:srgbClr val="7C3AED"/>
          </a:solidFill>
          <a:ln/>
          <a:effectLst>
            <a:outerShdw sx="100000" sy="100000" kx="0" ky="0" algn="bl" rotWithShape="0" blurRad="2.0979364573445003e+25" dist="6.2938093720335e+24" dir="4.19904e+30">
              <a:srgbClr val="A7B6CE">
                <a:alpha val="1.8e+29"/>
              </a:srgbClr>
            </a:outerShdw>
          </a:effectLst>
        </p:spPr>
      </p:sp>
      <p:sp>
        <p:nvSpPr>
          <p:cNvPr id="35" name="Text 33"/>
          <p:cNvSpPr/>
          <p:nvPr/>
        </p:nvSpPr>
        <p:spPr>
          <a:xfrm>
            <a:off x="6409944" y="4398264"/>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6</a:t>
            </a:r>
            <a:endParaRPr lang="en-US" sz="1156" dirty="0"/>
          </a:p>
        </p:txBody>
      </p:sp>
      <p:sp>
        <p:nvSpPr>
          <p:cNvPr id="36" name="Text 34"/>
          <p:cNvSpPr/>
          <p:nvPr/>
        </p:nvSpPr>
        <p:spPr>
          <a:xfrm>
            <a:off x="6848856" y="4270248"/>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Negotiation Intelligence</a:t>
            </a:r>
            <a:endParaRPr lang="en-US" sz="1250" dirty="0"/>
          </a:p>
        </p:txBody>
      </p:sp>
      <p:sp>
        <p:nvSpPr>
          <p:cNvPr id="37" name="Shape 35"/>
          <p:cNvSpPr/>
          <p:nvPr/>
        </p:nvSpPr>
        <p:spPr>
          <a:xfrm>
            <a:off x="548640" y="4873752"/>
            <a:ext cx="5394960" cy="566928"/>
          </a:xfrm>
          <a:prstGeom prst="roundRect">
            <a:avLst>
              <a:gd name="adj" fmla="val 9677"/>
            </a:avLst>
          </a:prstGeom>
          <a:solidFill>
            <a:srgbClr val="F4F7FB"/>
          </a:solidFill>
          <a:ln w="12700">
            <a:solidFill>
              <a:srgbClr val="E4EAF2"/>
            </a:solidFill>
            <a:prstDash val="solid"/>
          </a:ln>
        </p:spPr>
      </p:sp>
      <p:sp>
        <p:nvSpPr>
          <p:cNvPr id="38" name="Shape 36"/>
          <p:cNvSpPr/>
          <p:nvPr/>
        </p:nvSpPr>
        <p:spPr>
          <a:xfrm>
            <a:off x="713232" y="5001768"/>
            <a:ext cx="310896" cy="310896"/>
          </a:xfrm>
          <a:prstGeom prst="ellipse">
            <a:avLst/>
          </a:prstGeom>
          <a:solidFill>
            <a:srgbClr val="4F46E5"/>
          </a:solidFill>
          <a:ln/>
          <a:effectLst>
            <a:outerShdw sx="100000" sy="100000" kx="0" ky="0" algn="bl" rotWithShape="0" blurRad="2.6643793008275154e+29" dist="7.993137902482545e+28" dir="2.519424e+35">
              <a:srgbClr val="A7B6CE">
                <a:alpha val="1.7999999999999998e+34"/>
              </a:srgbClr>
            </a:outerShdw>
          </a:effectLst>
        </p:spPr>
      </p:sp>
      <p:sp>
        <p:nvSpPr>
          <p:cNvPr id="39" name="Text 37"/>
          <p:cNvSpPr/>
          <p:nvPr/>
        </p:nvSpPr>
        <p:spPr>
          <a:xfrm>
            <a:off x="713232"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7</a:t>
            </a:r>
            <a:endParaRPr lang="en-US" sz="1156" dirty="0"/>
          </a:p>
        </p:txBody>
      </p:sp>
      <p:sp>
        <p:nvSpPr>
          <p:cNvPr id="40" name="Text 38"/>
          <p:cNvSpPr/>
          <p:nvPr/>
        </p:nvSpPr>
        <p:spPr>
          <a:xfrm>
            <a:off x="1152144"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Agentic &amp; advanced AI</a:t>
            </a:r>
            <a:endParaRPr lang="en-US" sz="1250" dirty="0"/>
          </a:p>
        </p:txBody>
      </p:sp>
      <p:sp>
        <p:nvSpPr>
          <p:cNvPr id="41" name="Shape 39"/>
          <p:cNvSpPr/>
          <p:nvPr/>
        </p:nvSpPr>
        <p:spPr>
          <a:xfrm>
            <a:off x="6245352" y="4873752"/>
            <a:ext cx="5394960" cy="566928"/>
          </a:xfrm>
          <a:prstGeom prst="roundRect">
            <a:avLst>
              <a:gd name="adj" fmla="val 9677"/>
            </a:avLst>
          </a:prstGeom>
          <a:solidFill>
            <a:srgbClr val="FFFFFF"/>
          </a:solidFill>
          <a:ln w="12700">
            <a:solidFill>
              <a:srgbClr val="E4EAF2"/>
            </a:solidFill>
            <a:prstDash val="solid"/>
          </a:ln>
        </p:spPr>
      </p:sp>
      <p:sp>
        <p:nvSpPr>
          <p:cNvPr id="42" name="Shape 40"/>
          <p:cNvSpPr/>
          <p:nvPr/>
        </p:nvSpPr>
        <p:spPr>
          <a:xfrm>
            <a:off x="6409944" y="5001768"/>
            <a:ext cx="310896" cy="310896"/>
          </a:xfrm>
          <a:prstGeom prst="ellipse">
            <a:avLst/>
          </a:prstGeom>
          <a:solidFill>
            <a:srgbClr val="0EA472"/>
          </a:solidFill>
          <a:ln/>
          <a:effectLst>
            <a:outerShdw sx="100000" sy="100000" kx="0" ky="0" algn="bl" rotWithShape="0" blurRad="3.3837617120509443e+33" dist="1.0151285136152831e+33" dir="1.5116544e+40">
              <a:srgbClr val="A7B6CE">
                <a:alpha val="1.8e+39"/>
              </a:srgbClr>
            </a:outerShdw>
          </a:effectLst>
        </p:spPr>
      </p:sp>
      <p:sp>
        <p:nvSpPr>
          <p:cNvPr id="43" name="Text 41"/>
          <p:cNvSpPr/>
          <p:nvPr/>
        </p:nvSpPr>
        <p:spPr>
          <a:xfrm>
            <a:off x="6409944" y="5001768"/>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8</a:t>
            </a:r>
            <a:endParaRPr lang="en-US" sz="1156" dirty="0"/>
          </a:p>
        </p:txBody>
      </p:sp>
      <p:sp>
        <p:nvSpPr>
          <p:cNvPr id="44" name="Text 42"/>
          <p:cNvSpPr/>
          <p:nvPr/>
        </p:nvSpPr>
        <p:spPr>
          <a:xfrm>
            <a:off x="6848856" y="4873752"/>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Trust, accuracy &amp; data security</a:t>
            </a:r>
            <a:endParaRPr lang="en-US" sz="1250" dirty="0"/>
          </a:p>
        </p:txBody>
      </p:sp>
      <p:sp>
        <p:nvSpPr>
          <p:cNvPr id="45" name="Shape 43"/>
          <p:cNvSpPr/>
          <p:nvPr/>
        </p:nvSpPr>
        <p:spPr>
          <a:xfrm>
            <a:off x="548640" y="5477256"/>
            <a:ext cx="5394960" cy="566928"/>
          </a:xfrm>
          <a:prstGeom prst="roundRect">
            <a:avLst>
              <a:gd name="adj" fmla="val 9677"/>
            </a:avLst>
          </a:prstGeom>
          <a:solidFill>
            <a:srgbClr val="F4F7FB"/>
          </a:solidFill>
          <a:ln w="12700">
            <a:solidFill>
              <a:srgbClr val="E4EAF2"/>
            </a:solidFill>
            <a:prstDash val="solid"/>
          </a:ln>
        </p:spPr>
      </p:sp>
      <p:sp>
        <p:nvSpPr>
          <p:cNvPr id="46" name="Shape 44"/>
          <p:cNvSpPr/>
          <p:nvPr/>
        </p:nvSpPr>
        <p:spPr>
          <a:xfrm>
            <a:off x="713232" y="5605272"/>
            <a:ext cx="310896" cy="310896"/>
          </a:xfrm>
          <a:prstGeom prst="ellipse">
            <a:avLst/>
          </a:prstGeom>
          <a:solidFill>
            <a:srgbClr val="2563EB"/>
          </a:solidFill>
          <a:ln/>
          <a:effectLst>
            <a:outerShdw sx="100000" sy="100000" kx="0" ky="0" algn="bl" rotWithShape="0" blurRad="4.297377374304699e+37" dist="1.2892132122914095e+37" dir="9.069926400000001e+44">
              <a:srgbClr val="A7B6CE">
                <a:alpha val="1.8e+44"/>
              </a:srgbClr>
            </a:outerShdw>
          </a:effectLst>
        </p:spPr>
      </p:sp>
      <p:sp>
        <p:nvSpPr>
          <p:cNvPr id="47" name="Text 45"/>
          <p:cNvSpPr/>
          <p:nvPr/>
        </p:nvSpPr>
        <p:spPr>
          <a:xfrm>
            <a:off x="713232" y="5605272"/>
            <a:ext cx="310896" cy="310896"/>
          </a:xfrm>
          <a:prstGeom prst="rect">
            <a:avLst/>
          </a:prstGeom>
          <a:noFill/>
          <a:ln/>
        </p:spPr>
        <p:txBody>
          <a:bodyPr wrap="square" lIns="0" tIns="0" rIns="0" bIns="0" rtlCol="0" anchor="ctr"/>
          <a:lstStyle/>
          <a:p>
            <a:pPr algn="ctr" indent="0" marL="0">
              <a:buNone/>
            </a:pPr>
            <a:r>
              <a:rPr lang="en-US" sz="1156" b="1" dirty="0">
                <a:solidFill>
                  <a:srgbClr val="FFFFFF"/>
                </a:solidFill>
                <a:latin typeface="Calibri" pitchFamily="34" charset="0"/>
                <a:ea typeface="Calibri" pitchFamily="34" charset="-122"/>
                <a:cs typeface="Calibri" pitchFamily="34" charset="-120"/>
              </a:rPr>
              <a:t>9</a:t>
            </a:r>
            <a:endParaRPr lang="en-US" sz="1156" dirty="0"/>
          </a:p>
        </p:txBody>
      </p:sp>
      <p:sp>
        <p:nvSpPr>
          <p:cNvPr id="48" name="Text 46"/>
          <p:cNvSpPr/>
          <p:nvPr/>
        </p:nvSpPr>
        <p:spPr>
          <a:xfrm>
            <a:off x="1152144" y="5477256"/>
            <a:ext cx="4663440" cy="566928"/>
          </a:xfrm>
          <a:prstGeom prst="rect">
            <a:avLst/>
          </a:prstGeom>
          <a:noFill/>
          <a:ln/>
        </p:spPr>
        <p:txBody>
          <a:bodyPr wrap="square" lIns="0" tIns="0" rIns="0" bIns="0" rtlCol="0" anchor="ctr"/>
          <a:lstStyle/>
          <a:p>
            <a:pPr indent="0" marL="0">
              <a:buNone/>
            </a:pPr>
            <a:r>
              <a:rPr lang="en-US" sz="1250" b="1" dirty="0">
                <a:solidFill>
                  <a:srgbClr val="0F1E3D"/>
                </a:solidFill>
                <a:latin typeface="Calibri" pitchFamily="34" charset="0"/>
                <a:ea typeface="Calibri" pitchFamily="34" charset="-122"/>
                <a:cs typeface="Calibri" pitchFamily="34" charset="-120"/>
              </a:rPr>
              <a:t>Way forward, blueprint &amp; live demo</a:t>
            </a:r>
            <a:endParaRPr lang="en-US" sz="12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33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WHERE WE ARE → WHERE WE GO</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From manual should-costing to AI-assisted</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We already do rigorous should-costing across every commodity. CostVision keeps that method — and automates the hands-on steps with AI.</a:t>
            </a:r>
            <a:endParaRPr lang="en-US" sz="1200" dirty="0"/>
          </a:p>
        </p:txBody>
      </p:sp>
      <p:sp>
        <p:nvSpPr>
          <p:cNvPr id="11" name="Shape 9"/>
          <p:cNvSpPr/>
          <p:nvPr/>
        </p:nvSpPr>
        <p:spPr>
          <a:xfrm>
            <a:off x="548640" y="2057400"/>
            <a:ext cx="5349240" cy="3246120"/>
          </a:xfrm>
          <a:prstGeom prst="roundRect">
            <a:avLst>
              <a:gd name="adj" fmla="val 1972"/>
            </a:avLst>
          </a:prstGeom>
          <a:solidFill>
            <a:srgbClr val="FFFFFF"/>
          </a:solidFill>
          <a:ln w="12700">
            <a:solidFill>
              <a:srgbClr val="E4EAF2"/>
            </a:solidFill>
            <a:prstDash val="solid"/>
          </a:ln>
        </p:spPr>
      </p:sp>
      <p:sp>
        <p:nvSpPr>
          <p:cNvPr id="12" name="Shape 10"/>
          <p:cNvSpPr/>
          <p:nvPr/>
        </p:nvSpPr>
        <p:spPr>
          <a:xfrm>
            <a:off x="548640" y="2057400"/>
            <a:ext cx="5349240" cy="457200"/>
          </a:xfrm>
          <a:prstGeom prst="rect">
            <a:avLst/>
          </a:prstGeom>
          <a:solidFill>
            <a:srgbClr val="FEF6E7"/>
          </a:solidFill>
          <a:ln/>
        </p:spPr>
      </p:sp>
      <p:sp>
        <p:nvSpPr>
          <p:cNvPr id="13" name="Text 11"/>
          <p:cNvSpPr/>
          <p:nvPr/>
        </p:nvSpPr>
        <p:spPr>
          <a:xfrm>
            <a:off x="822960" y="2057400"/>
            <a:ext cx="4892040" cy="457200"/>
          </a:xfrm>
          <a:prstGeom prst="rect">
            <a:avLst/>
          </a:prstGeom>
          <a:noFill/>
          <a:ln/>
        </p:spPr>
        <p:txBody>
          <a:bodyPr wrap="square" lIns="0" tIns="0" rIns="0" bIns="0" rtlCol="0" anchor="ctr"/>
          <a:lstStyle/>
          <a:p>
            <a:pPr indent="0" marL="0">
              <a:buNone/>
            </a:pPr>
            <a:r>
              <a:rPr lang="en-US" sz="1300" b="1" dirty="0">
                <a:solidFill>
                  <a:srgbClr val="E0900C"/>
                </a:solidFill>
                <a:latin typeface="Calibri" pitchFamily="34" charset="0"/>
                <a:ea typeface="Calibri" pitchFamily="34" charset="-122"/>
                <a:cs typeface="Calibri" pitchFamily="34" charset="-120"/>
              </a:rPr>
              <a:t>OUR SHOULD-COST TODAY  ·  capable, but hands-on</a:t>
            </a:r>
            <a:endParaRPr lang="en-US" sz="1300" dirty="0"/>
          </a:p>
        </p:txBody>
      </p:sp>
      <p:sp>
        <p:nvSpPr>
          <p:cNvPr id="14" name="Shape 12"/>
          <p:cNvSpPr/>
          <p:nvPr/>
        </p:nvSpPr>
        <p:spPr>
          <a:xfrm>
            <a:off x="804672" y="2679192"/>
            <a:ext cx="329184" cy="329184"/>
          </a:xfrm>
          <a:prstGeom prst="ellipse">
            <a:avLst/>
          </a:prstGeom>
          <a:solidFill>
            <a:srgbClr val="FEF6E7"/>
          </a:solidFill>
          <a:ln/>
        </p:spPr>
      </p:sp>
      <p:sp>
        <p:nvSpPr>
          <p:cNvPr id="15" name="Text 13"/>
          <p:cNvSpPr/>
          <p:nvPr/>
        </p:nvSpPr>
        <p:spPr>
          <a:xfrm>
            <a:off x="804672" y="2670048"/>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16" name="Text 14"/>
          <p:cNvSpPr/>
          <p:nvPr/>
        </p:nvSpPr>
        <p:spPr>
          <a:xfrm>
            <a:off x="1243584"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Trusted &amp; thorough</a:t>
            </a:r>
            <a:endParaRPr lang="en-US" sz="1250" dirty="0"/>
          </a:p>
        </p:txBody>
      </p:sp>
      <p:sp>
        <p:nvSpPr>
          <p:cNvPr id="17" name="Text 15"/>
          <p:cNvSpPr/>
          <p:nvPr/>
        </p:nvSpPr>
        <p:spPr>
          <a:xfrm>
            <a:off x="1243584"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a rigorous bottom-up method across every commodity</a:t>
            </a:r>
            <a:endParaRPr lang="en-US" sz="1000" dirty="0"/>
          </a:p>
        </p:txBody>
      </p:sp>
      <p:sp>
        <p:nvSpPr>
          <p:cNvPr id="18" name="Shape 16"/>
          <p:cNvSpPr/>
          <p:nvPr/>
        </p:nvSpPr>
        <p:spPr>
          <a:xfrm>
            <a:off x="804672" y="3337560"/>
            <a:ext cx="329184" cy="329184"/>
          </a:xfrm>
          <a:prstGeom prst="ellipse">
            <a:avLst/>
          </a:prstGeom>
          <a:solidFill>
            <a:srgbClr val="FEF6E7"/>
          </a:solidFill>
          <a:ln/>
        </p:spPr>
      </p:sp>
      <p:sp>
        <p:nvSpPr>
          <p:cNvPr id="19" name="Text 17"/>
          <p:cNvSpPr/>
          <p:nvPr/>
        </p:nvSpPr>
        <p:spPr>
          <a:xfrm>
            <a:off x="804672" y="3328416"/>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0" name="Text 18"/>
          <p:cNvSpPr/>
          <p:nvPr/>
        </p:nvSpPr>
        <p:spPr>
          <a:xfrm>
            <a:off x="1243584"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Hands-on setup</a:t>
            </a:r>
            <a:endParaRPr lang="en-US" sz="1250" dirty="0"/>
          </a:p>
        </p:txBody>
      </p:sp>
      <p:sp>
        <p:nvSpPr>
          <p:cNvPr id="21" name="Text 19"/>
          <p:cNvSpPr/>
          <p:nvPr/>
        </p:nvSpPr>
        <p:spPr>
          <a:xfrm>
            <a:off x="1243584"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process &amp; machine selected manually, part by part</a:t>
            </a:r>
            <a:endParaRPr lang="en-US" sz="1000" dirty="0"/>
          </a:p>
        </p:txBody>
      </p:sp>
      <p:sp>
        <p:nvSpPr>
          <p:cNvPr id="22" name="Shape 20"/>
          <p:cNvSpPr/>
          <p:nvPr/>
        </p:nvSpPr>
        <p:spPr>
          <a:xfrm>
            <a:off x="804672" y="3995928"/>
            <a:ext cx="329184" cy="329184"/>
          </a:xfrm>
          <a:prstGeom prst="ellipse">
            <a:avLst/>
          </a:prstGeom>
          <a:solidFill>
            <a:srgbClr val="FEF6E7"/>
          </a:solidFill>
          <a:ln/>
        </p:spPr>
      </p:sp>
      <p:sp>
        <p:nvSpPr>
          <p:cNvPr id="23" name="Text 21"/>
          <p:cNvSpPr/>
          <p:nvPr/>
        </p:nvSpPr>
        <p:spPr>
          <a:xfrm>
            <a:off x="804672" y="3986784"/>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243584"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Manual data entry</a:t>
            </a:r>
            <a:endParaRPr lang="en-US" sz="1250" dirty="0"/>
          </a:p>
        </p:txBody>
      </p:sp>
      <p:sp>
        <p:nvSpPr>
          <p:cNvPr id="25" name="Text 23"/>
          <p:cNvSpPr/>
          <p:nvPr/>
        </p:nvSpPr>
        <p:spPr>
          <a:xfrm>
            <a:off x="1243584"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&amp; tolerances read off 3D CAD and drawings by hand</a:t>
            </a:r>
            <a:endParaRPr lang="en-US" sz="1000" dirty="0"/>
          </a:p>
        </p:txBody>
      </p:sp>
      <p:sp>
        <p:nvSpPr>
          <p:cNvPr id="26" name="Shape 24"/>
          <p:cNvSpPr/>
          <p:nvPr/>
        </p:nvSpPr>
        <p:spPr>
          <a:xfrm>
            <a:off x="804672" y="4654296"/>
            <a:ext cx="329184" cy="329184"/>
          </a:xfrm>
          <a:prstGeom prst="ellipse">
            <a:avLst/>
          </a:prstGeom>
          <a:solidFill>
            <a:srgbClr val="FEF6E7"/>
          </a:solidFill>
          <a:ln/>
        </p:spPr>
      </p:sp>
      <p:sp>
        <p:nvSpPr>
          <p:cNvPr id="27" name="Text 25"/>
          <p:cNvSpPr/>
          <p:nvPr/>
        </p:nvSpPr>
        <p:spPr>
          <a:xfrm>
            <a:off x="804672" y="4645152"/>
            <a:ext cx="329184" cy="329184"/>
          </a:xfrm>
          <a:prstGeom prst="rect">
            <a:avLst/>
          </a:prstGeom>
          <a:noFill/>
          <a:ln/>
        </p:spPr>
        <p:txBody>
          <a:bodyPr wrap="square" lIns="0" tIns="0" rIns="0" bIns="0" rtlCol="0" anchor="ctr"/>
          <a:lstStyle/>
          <a:p>
            <a:pPr algn="ctr" indent="0" marL="0">
              <a:buNone/>
            </a:pPr>
            <a:r>
              <a:rPr lang="en-US" sz="900" b="1" dirty="0">
                <a:solidFill>
                  <a:srgbClr val="E0900C"/>
                </a:solidFill>
                <a:latin typeface="Calibri" pitchFamily="34" charset="0"/>
                <a:ea typeface="Calibri" pitchFamily="34" charset="-122"/>
                <a:cs typeface="Calibri" pitchFamily="34" charset="-120"/>
              </a:rPr>
              <a:t>●</a:t>
            </a:r>
            <a:endParaRPr lang="en-US" sz="900" dirty="0"/>
          </a:p>
        </p:txBody>
      </p:sp>
      <p:sp>
        <p:nvSpPr>
          <p:cNvPr id="28" name="Text 26"/>
          <p:cNvSpPr/>
          <p:nvPr/>
        </p:nvSpPr>
        <p:spPr>
          <a:xfrm>
            <a:off x="1243584"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Updated by hand</a:t>
            </a:r>
            <a:endParaRPr lang="en-US" sz="1250" dirty="0"/>
          </a:p>
        </p:txBody>
      </p:sp>
      <p:sp>
        <p:nvSpPr>
          <p:cNvPr id="29" name="Text 27"/>
          <p:cNvSpPr/>
          <p:nvPr/>
        </p:nvSpPr>
        <p:spPr>
          <a:xfrm>
            <a:off x="1243584"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rates &amp; inputs refreshed manually as economics change</a:t>
            </a:r>
            <a:endParaRPr lang="en-US" sz="1000" dirty="0"/>
          </a:p>
        </p:txBody>
      </p:sp>
      <p:sp>
        <p:nvSpPr>
          <p:cNvPr id="30" name="Shape 28"/>
          <p:cNvSpPr/>
          <p:nvPr/>
        </p:nvSpPr>
        <p:spPr>
          <a:xfrm>
            <a:off x="6291072" y="2057400"/>
            <a:ext cx="5349240" cy="3246120"/>
          </a:xfrm>
          <a:prstGeom prst="roundRect">
            <a:avLst>
              <a:gd name="adj" fmla="val 1972"/>
            </a:avLst>
          </a:prstGeom>
          <a:solidFill>
            <a:srgbClr val="FFFFFF"/>
          </a:solidFill>
          <a:ln w="12700">
            <a:solidFill>
              <a:srgbClr val="E4EAF2"/>
            </a:solidFill>
            <a:prstDash val="solid"/>
          </a:ln>
        </p:spPr>
      </p:sp>
      <p:sp>
        <p:nvSpPr>
          <p:cNvPr id="31" name="Shape 29"/>
          <p:cNvSpPr/>
          <p:nvPr/>
        </p:nvSpPr>
        <p:spPr>
          <a:xfrm>
            <a:off x="6291072" y="2057400"/>
            <a:ext cx="5349240" cy="457200"/>
          </a:xfrm>
          <a:prstGeom prst="rect">
            <a:avLst/>
          </a:prstGeom>
          <a:solidFill>
            <a:srgbClr val="E7F7F0"/>
          </a:solidFill>
          <a:ln/>
        </p:spPr>
      </p:sp>
      <p:sp>
        <p:nvSpPr>
          <p:cNvPr id="32" name="Text 30"/>
          <p:cNvSpPr/>
          <p:nvPr/>
        </p:nvSpPr>
        <p:spPr>
          <a:xfrm>
            <a:off x="6565392" y="2057400"/>
            <a:ext cx="48920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WITH COSTVISION  ·  automated &amp; AI-assisted</a:t>
            </a:r>
            <a:endParaRPr lang="en-US" sz="1300" dirty="0"/>
          </a:p>
        </p:txBody>
      </p:sp>
      <p:sp>
        <p:nvSpPr>
          <p:cNvPr id="33" name="Shape 31"/>
          <p:cNvSpPr/>
          <p:nvPr/>
        </p:nvSpPr>
        <p:spPr>
          <a:xfrm>
            <a:off x="6547104" y="2679192"/>
            <a:ext cx="329184" cy="329184"/>
          </a:xfrm>
          <a:prstGeom prst="ellipse">
            <a:avLst/>
          </a:prstGeom>
          <a:solidFill>
            <a:srgbClr val="E7F7F0"/>
          </a:solidFill>
          <a:ln/>
        </p:spPr>
      </p:sp>
      <p:sp>
        <p:nvSpPr>
          <p:cNvPr id="34" name="Text 32"/>
          <p:cNvSpPr/>
          <p:nvPr/>
        </p:nvSpPr>
        <p:spPr>
          <a:xfrm>
            <a:off x="6547104" y="2670048"/>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5" name="Text 33"/>
          <p:cNvSpPr/>
          <p:nvPr/>
        </p:nvSpPr>
        <p:spPr>
          <a:xfrm>
            <a:off x="6986016" y="2624328"/>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Same rigour, automated</a:t>
            </a:r>
            <a:endParaRPr lang="en-US" sz="1250" dirty="0"/>
          </a:p>
        </p:txBody>
      </p:sp>
      <p:sp>
        <p:nvSpPr>
          <p:cNvPr id="36" name="Text 34"/>
          <p:cNvSpPr/>
          <p:nvPr/>
        </p:nvSpPr>
        <p:spPr>
          <a:xfrm>
            <a:off x="6986016" y="2935224"/>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the deterministic method we trust — the manual steps removed</a:t>
            </a:r>
            <a:endParaRPr lang="en-US" sz="1000" dirty="0"/>
          </a:p>
        </p:txBody>
      </p:sp>
      <p:sp>
        <p:nvSpPr>
          <p:cNvPr id="37" name="Shape 35"/>
          <p:cNvSpPr/>
          <p:nvPr/>
        </p:nvSpPr>
        <p:spPr>
          <a:xfrm>
            <a:off x="6547104" y="3337560"/>
            <a:ext cx="329184" cy="329184"/>
          </a:xfrm>
          <a:prstGeom prst="ellipse">
            <a:avLst/>
          </a:prstGeom>
          <a:solidFill>
            <a:srgbClr val="E7F7F0"/>
          </a:solidFill>
          <a:ln/>
        </p:spPr>
      </p:sp>
      <p:sp>
        <p:nvSpPr>
          <p:cNvPr id="38" name="Text 36"/>
          <p:cNvSpPr/>
          <p:nvPr/>
        </p:nvSpPr>
        <p:spPr>
          <a:xfrm>
            <a:off x="6547104" y="3328416"/>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39" name="Text 37"/>
          <p:cNvSpPr/>
          <p:nvPr/>
        </p:nvSpPr>
        <p:spPr>
          <a:xfrm>
            <a:off x="6986016" y="3282696"/>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Reads CAD &amp; drawings</a:t>
            </a:r>
            <a:endParaRPr lang="en-US" sz="1250" dirty="0"/>
          </a:p>
        </p:txBody>
      </p:sp>
      <p:sp>
        <p:nvSpPr>
          <p:cNvPr id="40" name="Text 38"/>
          <p:cNvSpPr/>
          <p:nvPr/>
        </p:nvSpPr>
        <p:spPr>
          <a:xfrm>
            <a:off x="6986016" y="3593592"/>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geometry, features &amp; tolerances extracted automatically</a:t>
            </a:r>
            <a:endParaRPr lang="en-US" sz="1000" dirty="0"/>
          </a:p>
        </p:txBody>
      </p:sp>
      <p:sp>
        <p:nvSpPr>
          <p:cNvPr id="41" name="Shape 39"/>
          <p:cNvSpPr/>
          <p:nvPr/>
        </p:nvSpPr>
        <p:spPr>
          <a:xfrm>
            <a:off x="6547104" y="3995928"/>
            <a:ext cx="329184" cy="329184"/>
          </a:xfrm>
          <a:prstGeom prst="ellipse">
            <a:avLst/>
          </a:prstGeom>
          <a:solidFill>
            <a:srgbClr val="E7F7F0"/>
          </a:solidFill>
          <a:ln/>
        </p:spPr>
      </p:sp>
      <p:sp>
        <p:nvSpPr>
          <p:cNvPr id="42" name="Text 40"/>
          <p:cNvSpPr/>
          <p:nvPr/>
        </p:nvSpPr>
        <p:spPr>
          <a:xfrm>
            <a:off x="6547104" y="3986784"/>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3" name="Text 41"/>
          <p:cNvSpPr/>
          <p:nvPr/>
        </p:nvSpPr>
        <p:spPr>
          <a:xfrm>
            <a:off x="6986016" y="3941064"/>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AI suggests, we decide</a:t>
            </a:r>
            <a:endParaRPr lang="en-US" sz="1250" dirty="0"/>
          </a:p>
        </p:txBody>
      </p:sp>
      <p:sp>
        <p:nvSpPr>
          <p:cNvPr id="44" name="Text 42"/>
          <p:cNvSpPr/>
          <p:nvPr/>
        </p:nvSpPr>
        <p:spPr>
          <a:xfrm>
            <a:off x="6986016" y="4251960"/>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material &amp; process proposed with a confidence score to confirm</a:t>
            </a:r>
            <a:endParaRPr lang="en-US" sz="1000" dirty="0"/>
          </a:p>
        </p:txBody>
      </p:sp>
      <p:sp>
        <p:nvSpPr>
          <p:cNvPr id="45" name="Shape 43"/>
          <p:cNvSpPr/>
          <p:nvPr/>
        </p:nvSpPr>
        <p:spPr>
          <a:xfrm>
            <a:off x="6547104" y="4654296"/>
            <a:ext cx="329184" cy="329184"/>
          </a:xfrm>
          <a:prstGeom prst="ellipse">
            <a:avLst/>
          </a:prstGeom>
          <a:solidFill>
            <a:srgbClr val="E7F7F0"/>
          </a:solidFill>
          <a:ln/>
        </p:spPr>
      </p:sp>
      <p:sp>
        <p:nvSpPr>
          <p:cNvPr id="46" name="Text 44"/>
          <p:cNvSpPr/>
          <p:nvPr/>
        </p:nvSpPr>
        <p:spPr>
          <a:xfrm>
            <a:off x="6547104" y="4645152"/>
            <a:ext cx="329184" cy="329184"/>
          </a:xfrm>
          <a:prstGeom prst="rect">
            <a:avLst/>
          </a:prstGeom>
          <a:noFill/>
          <a:ln/>
        </p:spPr>
        <p:txBody>
          <a:bodyPr wrap="square" lIns="0" tIns="0" rIns="0" bIns="0" rtlCol="0" anchor="ctr"/>
          <a:lstStyle/>
          <a:p>
            <a:pPr algn="ctr" indent="0" marL="0">
              <a:buNone/>
            </a:pPr>
            <a:r>
              <a:rPr lang="en-US" sz="1300" b="1" dirty="0">
                <a:solidFill>
                  <a:srgbClr val="0EA472"/>
                </a:solidFill>
                <a:latin typeface="Calibri" pitchFamily="34" charset="0"/>
                <a:ea typeface="Calibri" pitchFamily="34" charset="-122"/>
                <a:cs typeface="Calibri" pitchFamily="34" charset="-120"/>
              </a:rPr>
              <a:t>✓</a:t>
            </a:r>
            <a:endParaRPr lang="en-US" sz="1300" dirty="0"/>
          </a:p>
        </p:txBody>
      </p:sp>
      <p:sp>
        <p:nvSpPr>
          <p:cNvPr id="47" name="Text 45"/>
          <p:cNvSpPr/>
          <p:nvPr/>
        </p:nvSpPr>
        <p:spPr>
          <a:xfrm>
            <a:off x="6986016" y="4599432"/>
            <a:ext cx="4434840" cy="292608"/>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One versioned rate library</a:t>
            </a:r>
            <a:endParaRPr lang="en-US" sz="1250" dirty="0"/>
          </a:p>
        </p:txBody>
      </p:sp>
      <p:sp>
        <p:nvSpPr>
          <p:cNvPr id="48" name="Text 46"/>
          <p:cNvSpPr/>
          <p:nvPr/>
        </p:nvSpPr>
        <p:spPr>
          <a:xfrm>
            <a:off x="6986016" y="4910328"/>
            <a:ext cx="4389120" cy="365760"/>
          </a:xfrm>
          <a:prstGeom prst="rect">
            <a:avLst/>
          </a:prstGeom>
          <a:noFill/>
          <a:ln/>
        </p:spPr>
        <p:txBody>
          <a:bodyPr wrap="square" lIns="0" tIns="0" rIns="0" bIns="0" rtlCol="0" anchor="t"/>
          <a:lstStyle/>
          <a:p>
            <a:pPr indent="0" marL="0">
              <a:buNone/>
            </a:pPr>
            <a:r>
              <a:rPr lang="en-US" sz="1000" dirty="0">
                <a:solidFill>
                  <a:srgbClr val="8A97A8"/>
                </a:solidFill>
                <a:latin typeface="Calibri" pitchFamily="34" charset="0"/>
                <a:ea typeface="Calibri" pitchFamily="34" charset="-122"/>
                <a:cs typeface="Calibri" pitchFamily="34" charset="-120"/>
              </a:rPr>
              <a:t>upload updated rates once — every part re-prices in a click</a:t>
            </a:r>
            <a:endParaRPr lang="en-US" sz="1000" dirty="0"/>
          </a:p>
        </p:txBody>
      </p:sp>
      <p:sp>
        <p:nvSpPr>
          <p:cNvPr id="49" name="Text 47"/>
          <p:cNvSpPr/>
          <p:nvPr/>
        </p:nvSpPr>
        <p:spPr>
          <a:xfrm>
            <a:off x="5952744" y="3429000"/>
            <a:ext cx="283464" cy="548640"/>
          </a:xfrm>
          <a:prstGeom prst="rect">
            <a:avLst/>
          </a:prstGeom>
          <a:noFill/>
          <a:ln/>
        </p:spPr>
        <p:txBody>
          <a:bodyPr wrap="square" lIns="0" tIns="0" rIns="0" bIns="0" rtlCol="0" anchor="ctr"/>
          <a:lstStyle/>
          <a:p>
            <a:pPr algn="ctr" indent="0" marL="0">
              <a:buNone/>
            </a:pPr>
            <a:r>
              <a:rPr lang="en-US" sz="2600" b="1" dirty="0">
                <a:solidFill>
                  <a:srgbClr val="2563EB"/>
                </a:solidFill>
                <a:latin typeface="Calibri" pitchFamily="34" charset="0"/>
                <a:ea typeface="Calibri" pitchFamily="34" charset="-122"/>
                <a:cs typeface="Calibri" pitchFamily="34" charset="-120"/>
              </a:rPr>
              <a:t>→</a:t>
            </a:r>
            <a:endParaRPr lang="en-US" sz="2600" dirty="0"/>
          </a:p>
        </p:txBody>
      </p:sp>
      <p:sp>
        <p:nvSpPr>
          <p:cNvPr id="50" name="Shape 48"/>
          <p:cNvSpPr/>
          <p:nvPr/>
        </p:nvSpPr>
        <p:spPr>
          <a:xfrm>
            <a:off x="548640" y="5504688"/>
            <a:ext cx="11091672" cy="566928"/>
          </a:xfrm>
          <a:prstGeom prst="roundRect">
            <a:avLst>
              <a:gd name="adj" fmla="val 11290"/>
            </a:avLst>
          </a:prstGeom>
          <a:solidFill>
            <a:srgbClr val="EAF1FE"/>
          </a:solidFill>
          <a:ln w="12700">
            <a:solidFill>
              <a:srgbClr val="E4EAF2"/>
            </a:solidFill>
            <a:prstDash val="solid"/>
          </a:ln>
        </p:spPr>
      </p:sp>
      <p:sp>
        <p:nvSpPr>
          <p:cNvPr id="51" name="Text 49"/>
          <p:cNvSpPr/>
          <p:nvPr/>
        </p:nvSpPr>
        <p:spPr>
          <a:xfrm>
            <a:off x="914400" y="5504688"/>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step forward:  </a:t>
            </a:r>
            <a:pPr indent="0" marL="0">
              <a:buNone/>
            </a:pPr>
            <a:r>
              <a:rPr lang="en-US" sz="1200" dirty="0">
                <a:solidFill>
                  <a:srgbClr val="3E4C63"/>
                </a:solidFill>
                <a:latin typeface="Calibri" pitchFamily="34" charset="0"/>
                <a:ea typeface="Calibri" pitchFamily="34" charset="-122"/>
                <a:cs typeface="Calibri" pitchFamily="34" charset="-120"/>
              </a:rPr>
              <a:t>the same defensible should-cost, with the manual work automated and AI-assisted — so our experts spend their time on decisions, not data entry.</a:t>
            </a:r>
            <a:endParaRPr lang="en-US" sz="1200" dirty="0"/>
          </a:p>
        </p:txBody>
      </p:sp>
      <p:sp>
        <p:nvSpPr>
          <p:cNvPr id="52" name="Shape 50"/>
          <p:cNvSpPr/>
          <p:nvPr/>
        </p:nvSpPr>
        <p:spPr>
          <a:xfrm>
            <a:off x="548640" y="6400800"/>
            <a:ext cx="11094415" cy="12802"/>
          </a:xfrm>
          <a:prstGeom prst="rect">
            <a:avLst/>
          </a:prstGeom>
          <a:solidFill>
            <a:srgbClr val="E4EAF2"/>
          </a:solidFill>
          <a:ln/>
        </p:spPr>
      </p:sp>
      <p:sp>
        <p:nvSpPr>
          <p:cNvPr id="53" name="Text 5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4" name="Text 5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33</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THE BIG PICTURE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CostVision at a glance — the platform</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Any engineering input → AI understands it → deterministic engines price it → we get a defensible, negotiation-ready result.</a:t>
            </a:r>
            <a:endParaRPr lang="en-US" sz="1250" dirty="0"/>
          </a:p>
        </p:txBody>
      </p:sp>
      <p:sp>
        <p:nvSpPr>
          <p:cNvPr id="11" name="Shape 9"/>
          <p:cNvSpPr/>
          <p:nvPr/>
        </p:nvSpPr>
        <p:spPr>
          <a:xfrm>
            <a:off x="548640"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7.640736971513755e+41" dist="2.183067706146787e+41" dir="5.44195584e+49">
              <a:srgbClr val="9DB0CC">
                <a:alpha val="2.2e+49"/>
              </a:srgbClr>
            </a:outerShdw>
          </a:effectLst>
        </p:spPr>
      </p:sp>
      <p:sp>
        <p:nvSpPr>
          <p:cNvPr id="12" name="Shape 10"/>
          <p:cNvSpPr/>
          <p:nvPr/>
        </p:nvSpPr>
        <p:spPr>
          <a:xfrm>
            <a:off x="548640" y="2103120"/>
            <a:ext cx="82296" cy="3291840"/>
          </a:xfrm>
          <a:prstGeom prst="rect">
            <a:avLst/>
          </a:prstGeom>
          <a:solidFill>
            <a:srgbClr val="2E90FA"/>
          </a:solidFill>
          <a:ln/>
        </p:spPr>
      </p:sp>
      <p:sp>
        <p:nvSpPr>
          <p:cNvPr id="13" name="Shape 11"/>
          <p:cNvSpPr/>
          <p:nvPr/>
        </p:nvSpPr>
        <p:spPr>
          <a:xfrm>
            <a:off x="804672" y="2359152"/>
            <a:ext cx="457200" cy="457200"/>
          </a:xfrm>
          <a:prstGeom prst="ellipse">
            <a:avLst/>
          </a:prstGeom>
          <a:solidFill>
            <a:srgbClr val="F4F7FB"/>
          </a:solidFill>
          <a:ln/>
        </p:spPr>
      </p:sp>
      <p:sp>
        <p:nvSpPr>
          <p:cNvPr id="14" name="Text 12"/>
          <p:cNvSpPr/>
          <p:nvPr/>
        </p:nvSpPr>
        <p:spPr>
          <a:xfrm>
            <a:off x="804672"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15" name="Text 13"/>
          <p:cNvSpPr/>
          <p:nvPr/>
        </p:nvSpPr>
        <p:spPr>
          <a:xfrm>
            <a:off x="1371600" y="2395728"/>
            <a:ext cx="1627632" cy="411480"/>
          </a:xfrm>
          <a:prstGeom prst="rect">
            <a:avLst/>
          </a:prstGeom>
          <a:noFill/>
          <a:ln/>
        </p:spPr>
        <p:txBody>
          <a:bodyPr wrap="square" lIns="0" tIns="0" rIns="0" bIns="0" rtlCol="0" anchor="ctr"/>
          <a:lstStyle/>
          <a:p>
            <a:pPr indent="0" marL="0">
              <a:buNone/>
            </a:pPr>
            <a:r>
              <a:rPr lang="en-US" sz="1250" b="1" dirty="0">
                <a:solidFill>
                  <a:srgbClr val="2E90FA"/>
                </a:solidFill>
                <a:latin typeface="Calibri" pitchFamily="34" charset="0"/>
                <a:ea typeface="Calibri" pitchFamily="34" charset="-122"/>
                <a:cs typeface="Calibri" pitchFamily="34" charset="-120"/>
              </a:rPr>
              <a:t>INPUTS</a:t>
            </a:r>
            <a:endParaRPr lang="en-US" sz="1250" dirty="0"/>
          </a:p>
        </p:txBody>
      </p:sp>
      <p:sp>
        <p:nvSpPr>
          <p:cNvPr id="16" name="Shape 14"/>
          <p:cNvSpPr/>
          <p:nvPr/>
        </p:nvSpPr>
        <p:spPr>
          <a:xfrm>
            <a:off x="822960" y="3108960"/>
            <a:ext cx="82296" cy="82296"/>
          </a:xfrm>
          <a:prstGeom prst="ellipse">
            <a:avLst/>
          </a:prstGeom>
          <a:solidFill>
            <a:srgbClr val="2E90FA"/>
          </a:solidFill>
          <a:ln/>
        </p:spPr>
      </p:sp>
      <p:sp>
        <p:nvSpPr>
          <p:cNvPr id="17" name="Text 15"/>
          <p:cNvSpPr/>
          <p:nvPr/>
        </p:nvSpPr>
        <p:spPr>
          <a:xfrm>
            <a:off x="1005840"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3D CAD model</a:t>
            </a:r>
            <a:endParaRPr lang="en-US" sz="980" dirty="0"/>
          </a:p>
        </p:txBody>
      </p:sp>
      <p:sp>
        <p:nvSpPr>
          <p:cNvPr id="18" name="Shape 16"/>
          <p:cNvSpPr/>
          <p:nvPr/>
        </p:nvSpPr>
        <p:spPr>
          <a:xfrm>
            <a:off x="822960" y="3547872"/>
            <a:ext cx="82296" cy="82296"/>
          </a:xfrm>
          <a:prstGeom prst="ellipse">
            <a:avLst/>
          </a:prstGeom>
          <a:solidFill>
            <a:srgbClr val="2E90FA"/>
          </a:solidFill>
          <a:ln/>
        </p:spPr>
      </p:sp>
      <p:sp>
        <p:nvSpPr>
          <p:cNvPr id="19" name="Text 17"/>
          <p:cNvSpPr/>
          <p:nvPr/>
        </p:nvSpPr>
        <p:spPr>
          <a:xfrm>
            <a:off x="1005840"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PCB board photo</a:t>
            </a:r>
            <a:endParaRPr lang="en-US" sz="980" dirty="0"/>
          </a:p>
        </p:txBody>
      </p:sp>
      <p:sp>
        <p:nvSpPr>
          <p:cNvPr id="20" name="Shape 18"/>
          <p:cNvSpPr/>
          <p:nvPr/>
        </p:nvSpPr>
        <p:spPr>
          <a:xfrm>
            <a:off x="822960" y="3986784"/>
            <a:ext cx="82296" cy="82296"/>
          </a:xfrm>
          <a:prstGeom prst="ellipse">
            <a:avLst/>
          </a:prstGeom>
          <a:solidFill>
            <a:srgbClr val="2E90FA"/>
          </a:solidFill>
          <a:ln/>
        </p:spPr>
      </p:sp>
      <p:sp>
        <p:nvSpPr>
          <p:cNvPr id="21" name="Text 19"/>
          <p:cNvSpPr/>
          <p:nvPr/>
        </p:nvSpPr>
        <p:spPr>
          <a:xfrm>
            <a:off x="1005840"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Plain-text description</a:t>
            </a:r>
            <a:endParaRPr lang="en-US" sz="980" dirty="0"/>
          </a:p>
        </p:txBody>
      </p:sp>
      <p:sp>
        <p:nvSpPr>
          <p:cNvPr id="22" name="Shape 20"/>
          <p:cNvSpPr/>
          <p:nvPr/>
        </p:nvSpPr>
        <p:spPr>
          <a:xfrm>
            <a:off x="822960" y="4425696"/>
            <a:ext cx="82296" cy="82296"/>
          </a:xfrm>
          <a:prstGeom prst="ellipse">
            <a:avLst/>
          </a:prstGeom>
          <a:solidFill>
            <a:srgbClr val="2E90FA"/>
          </a:solidFill>
          <a:ln/>
        </p:spPr>
      </p:sp>
      <p:sp>
        <p:nvSpPr>
          <p:cNvPr id="23" name="Text 21"/>
          <p:cNvSpPr/>
          <p:nvPr/>
        </p:nvSpPr>
        <p:spPr>
          <a:xfrm>
            <a:off x="1005840"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RFQ package / BOM</a:t>
            </a:r>
            <a:endParaRPr lang="en-US" sz="980" dirty="0"/>
          </a:p>
        </p:txBody>
      </p:sp>
      <p:sp>
        <p:nvSpPr>
          <p:cNvPr id="24" name="Shape 22"/>
          <p:cNvSpPr/>
          <p:nvPr/>
        </p:nvSpPr>
        <p:spPr>
          <a:xfrm>
            <a:off x="822960" y="4864608"/>
            <a:ext cx="82296" cy="82296"/>
          </a:xfrm>
          <a:prstGeom prst="ellipse">
            <a:avLst/>
          </a:prstGeom>
          <a:solidFill>
            <a:srgbClr val="2E90FA"/>
          </a:solidFill>
          <a:ln/>
        </p:spPr>
      </p:sp>
      <p:sp>
        <p:nvSpPr>
          <p:cNvPr id="25" name="Text 23"/>
          <p:cNvSpPr/>
          <p:nvPr/>
        </p:nvSpPr>
        <p:spPr>
          <a:xfrm>
            <a:off x="1005840"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Manufacturing country + volume</a:t>
            </a:r>
            <a:endParaRPr lang="en-US" sz="980" dirty="0"/>
          </a:p>
        </p:txBody>
      </p:sp>
      <p:sp>
        <p:nvSpPr>
          <p:cNvPr id="26" name="Text 24"/>
          <p:cNvSpPr/>
          <p:nvPr/>
        </p:nvSpPr>
        <p:spPr>
          <a:xfrm>
            <a:off x="3108960"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7" name="Shape 25"/>
          <p:cNvSpPr/>
          <p:nvPr/>
        </p:nvSpPr>
        <p:spPr>
          <a:xfrm>
            <a:off x="3419856"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9.703735953822469e+45" dist="2.7724959868064195e+45" dir="3.2651735040000005e+54">
              <a:srgbClr val="9DB0CC">
                <a:alpha val="2.2e+54"/>
              </a:srgbClr>
            </a:outerShdw>
          </a:effectLst>
        </p:spPr>
      </p:sp>
      <p:sp>
        <p:nvSpPr>
          <p:cNvPr id="28" name="Shape 26"/>
          <p:cNvSpPr/>
          <p:nvPr/>
        </p:nvSpPr>
        <p:spPr>
          <a:xfrm>
            <a:off x="3419856" y="2103120"/>
            <a:ext cx="82296" cy="3291840"/>
          </a:xfrm>
          <a:prstGeom prst="rect">
            <a:avLst/>
          </a:prstGeom>
          <a:solidFill>
            <a:srgbClr val="7C3AED"/>
          </a:solidFill>
          <a:ln/>
        </p:spPr>
      </p:sp>
      <p:sp>
        <p:nvSpPr>
          <p:cNvPr id="29" name="Shape 27"/>
          <p:cNvSpPr/>
          <p:nvPr/>
        </p:nvSpPr>
        <p:spPr>
          <a:xfrm>
            <a:off x="3675888" y="2359152"/>
            <a:ext cx="457200" cy="457200"/>
          </a:xfrm>
          <a:prstGeom prst="ellipse">
            <a:avLst/>
          </a:prstGeom>
          <a:solidFill>
            <a:srgbClr val="F3EEFE"/>
          </a:solidFill>
          <a:ln/>
        </p:spPr>
      </p:sp>
      <p:sp>
        <p:nvSpPr>
          <p:cNvPr id="30" name="Text 28"/>
          <p:cNvSpPr/>
          <p:nvPr/>
        </p:nvSpPr>
        <p:spPr>
          <a:xfrm>
            <a:off x="3675888"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31" name="Text 29"/>
          <p:cNvSpPr/>
          <p:nvPr/>
        </p:nvSpPr>
        <p:spPr>
          <a:xfrm>
            <a:off x="4242816" y="2395728"/>
            <a:ext cx="1627632" cy="411480"/>
          </a:xfrm>
          <a:prstGeom prst="rect">
            <a:avLst/>
          </a:prstGeom>
          <a:noFill/>
          <a:ln/>
        </p:spPr>
        <p:txBody>
          <a:bodyPr wrap="square" lIns="0" tIns="0" rIns="0" bIns="0" rtlCol="0" anchor="ctr"/>
          <a:lstStyle/>
          <a:p>
            <a:pPr indent="0" marL="0">
              <a:buNone/>
            </a:pPr>
            <a:r>
              <a:rPr lang="en-US" sz="1250" b="1" dirty="0">
                <a:solidFill>
                  <a:srgbClr val="7C3AED"/>
                </a:solidFill>
                <a:latin typeface="Calibri" pitchFamily="34" charset="0"/>
                <a:ea typeface="Calibri" pitchFamily="34" charset="-122"/>
                <a:cs typeface="Calibri" pitchFamily="34" charset="-120"/>
              </a:rPr>
              <a:t>AI LAYER</a:t>
            </a:r>
            <a:endParaRPr lang="en-US" sz="1250" dirty="0"/>
          </a:p>
        </p:txBody>
      </p:sp>
      <p:sp>
        <p:nvSpPr>
          <p:cNvPr id="32" name="Shape 30"/>
          <p:cNvSpPr/>
          <p:nvPr/>
        </p:nvSpPr>
        <p:spPr>
          <a:xfrm>
            <a:off x="3694176" y="3108960"/>
            <a:ext cx="82296" cy="82296"/>
          </a:xfrm>
          <a:prstGeom prst="ellipse">
            <a:avLst/>
          </a:prstGeom>
          <a:solidFill>
            <a:srgbClr val="7C3AED"/>
          </a:solidFill>
          <a:ln/>
        </p:spPr>
      </p:sp>
      <p:sp>
        <p:nvSpPr>
          <p:cNvPr id="33" name="Text 31"/>
          <p:cNvSpPr/>
          <p:nvPr/>
        </p:nvSpPr>
        <p:spPr>
          <a:xfrm>
            <a:off x="3877056"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Vision extraction (board &amp; CAD)</a:t>
            </a:r>
            <a:endParaRPr lang="en-US" sz="980" dirty="0"/>
          </a:p>
        </p:txBody>
      </p:sp>
      <p:sp>
        <p:nvSpPr>
          <p:cNvPr id="34" name="Shape 32"/>
          <p:cNvSpPr/>
          <p:nvPr/>
        </p:nvSpPr>
        <p:spPr>
          <a:xfrm>
            <a:off x="3694176" y="3547872"/>
            <a:ext cx="82296" cy="82296"/>
          </a:xfrm>
          <a:prstGeom prst="ellipse">
            <a:avLst/>
          </a:prstGeom>
          <a:solidFill>
            <a:srgbClr val="7C3AED"/>
          </a:solidFill>
          <a:ln/>
        </p:spPr>
      </p:sp>
      <p:sp>
        <p:nvSpPr>
          <p:cNvPr id="35" name="Text 33"/>
          <p:cNvSpPr/>
          <p:nvPr/>
        </p:nvSpPr>
        <p:spPr>
          <a:xfrm>
            <a:off x="3877056"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Reasoning &amp; classification</a:t>
            </a:r>
            <a:endParaRPr lang="en-US" sz="980" dirty="0"/>
          </a:p>
        </p:txBody>
      </p:sp>
      <p:sp>
        <p:nvSpPr>
          <p:cNvPr id="36" name="Shape 34"/>
          <p:cNvSpPr/>
          <p:nvPr/>
        </p:nvSpPr>
        <p:spPr>
          <a:xfrm>
            <a:off x="3694176" y="3986784"/>
            <a:ext cx="82296" cy="82296"/>
          </a:xfrm>
          <a:prstGeom prst="ellipse">
            <a:avLst/>
          </a:prstGeom>
          <a:solidFill>
            <a:srgbClr val="7C3AED"/>
          </a:solidFill>
          <a:ln/>
        </p:spPr>
      </p:sp>
      <p:sp>
        <p:nvSpPr>
          <p:cNvPr id="37" name="Text 35"/>
          <p:cNvSpPr/>
          <p:nvPr/>
        </p:nvSpPr>
        <p:spPr>
          <a:xfrm>
            <a:off x="3877056"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 recognition</a:t>
            </a:r>
            <a:endParaRPr lang="en-US" sz="980" dirty="0"/>
          </a:p>
        </p:txBody>
      </p:sp>
      <p:sp>
        <p:nvSpPr>
          <p:cNvPr id="38" name="Shape 36"/>
          <p:cNvSpPr/>
          <p:nvPr/>
        </p:nvSpPr>
        <p:spPr>
          <a:xfrm>
            <a:off x="3694176" y="4425696"/>
            <a:ext cx="82296" cy="82296"/>
          </a:xfrm>
          <a:prstGeom prst="ellipse">
            <a:avLst/>
          </a:prstGeom>
          <a:solidFill>
            <a:srgbClr val="7C3AED"/>
          </a:solidFill>
          <a:ln/>
        </p:spPr>
      </p:sp>
      <p:sp>
        <p:nvSpPr>
          <p:cNvPr id="39" name="Text 37"/>
          <p:cNvSpPr/>
          <p:nvPr/>
        </p:nvSpPr>
        <p:spPr>
          <a:xfrm>
            <a:off x="3877056"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Agentic memory &amp; recall</a:t>
            </a:r>
            <a:endParaRPr lang="en-US" sz="980" dirty="0"/>
          </a:p>
        </p:txBody>
      </p:sp>
      <p:sp>
        <p:nvSpPr>
          <p:cNvPr id="40" name="Shape 38"/>
          <p:cNvSpPr/>
          <p:nvPr/>
        </p:nvSpPr>
        <p:spPr>
          <a:xfrm>
            <a:off x="3694176" y="4864608"/>
            <a:ext cx="82296" cy="82296"/>
          </a:xfrm>
          <a:prstGeom prst="ellipse">
            <a:avLst/>
          </a:prstGeom>
          <a:solidFill>
            <a:srgbClr val="7C3AED"/>
          </a:solidFill>
          <a:ln/>
        </p:spPr>
      </p:sp>
      <p:sp>
        <p:nvSpPr>
          <p:cNvPr id="41" name="Text 39"/>
          <p:cNvSpPr/>
          <p:nvPr/>
        </p:nvSpPr>
        <p:spPr>
          <a:xfrm>
            <a:off x="3877056"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Grounded assistant</a:t>
            </a:r>
            <a:endParaRPr lang="en-US" sz="980" dirty="0"/>
          </a:p>
        </p:txBody>
      </p:sp>
      <p:sp>
        <p:nvSpPr>
          <p:cNvPr id="42" name="Text 40"/>
          <p:cNvSpPr/>
          <p:nvPr/>
        </p:nvSpPr>
        <p:spPr>
          <a:xfrm>
            <a:off x="5980176"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3" name="Shape 41"/>
          <p:cNvSpPr/>
          <p:nvPr/>
        </p:nvSpPr>
        <p:spPr>
          <a:xfrm>
            <a:off x="6291072"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2323744661354536e+50" dist="3.5210699032441527e+49" dir="1.9591041024000004e+59">
              <a:srgbClr val="9DB0CC">
                <a:alpha val="2.2e+59"/>
              </a:srgbClr>
            </a:outerShdw>
          </a:effectLst>
        </p:spPr>
      </p:sp>
      <p:sp>
        <p:nvSpPr>
          <p:cNvPr id="44" name="Shape 42"/>
          <p:cNvSpPr/>
          <p:nvPr/>
        </p:nvSpPr>
        <p:spPr>
          <a:xfrm>
            <a:off x="6291072" y="2103120"/>
            <a:ext cx="82296" cy="3291840"/>
          </a:xfrm>
          <a:prstGeom prst="rect">
            <a:avLst/>
          </a:prstGeom>
          <a:solidFill>
            <a:srgbClr val="0DA5A0"/>
          </a:solidFill>
          <a:ln/>
        </p:spPr>
      </p:sp>
      <p:sp>
        <p:nvSpPr>
          <p:cNvPr id="45" name="Shape 43"/>
          <p:cNvSpPr/>
          <p:nvPr/>
        </p:nvSpPr>
        <p:spPr>
          <a:xfrm>
            <a:off x="6547104" y="2359152"/>
            <a:ext cx="457200" cy="457200"/>
          </a:xfrm>
          <a:prstGeom prst="ellipse">
            <a:avLst/>
          </a:prstGeom>
          <a:solidFill>
            <a:srgbClr val="E7F7F0"/>
          </a:solidFill>
          <a:ln/>
        </p:spPr>
      </p:sp>
      <p:sp>
        <p:nvSpPr>
          <p:cNvPr id="46" name="Text 44"/>
          <p:cNvSpPr/>
          <p:nvPr/>
        </p:nvSpPr>
        <p:spPr>
          <a:xfrm>
            <a:off x="6547104"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47" name="Text 45"/>
          <p:cNvSpPr/>
          <p:nvPr/>
        </p:nvSpPr>
        <p:spPr>
          <a:xfrm>
            <a:off x="7114032" y="2395728"/>
            <a:ext cx="1627632" cy="411480"/>
          </a:xfrm>
          <a:prstGeom prst="rect">
            <a:avLst/>
          </a:prstGeom>
          <a:noFill/>
          <a:ln/>
        </p:spPr>
        <p:txBody>
          <a:bodyPr wrap="square" lIns="0" tIns="0" rIns="0" bIns="0" rtlCol="0" anchor="ctr"/>
          <a:lstStyle/>
          <a:p>
            <a:pPr indent="0" marL="0">
              <a:buNone/>
            </a:pPr>
            <a:r>
              <a:rPr lang="en-US" sz="1250" b="1" dirty="0">
                <a:solidFill>
                  <a:srgbClr val="0DA5A0"/>
                </a:solidFill>
                <a:latin typeface="Calibri" pitchFamily="34" charset="0"/>
                <a:ea typeface="Calibri" pitchFamily="34" charset="-122"/>
                <a:cs typeface="Calibri" pitchFamily="34" charset="-120"/>
              </a:rPr>
              <a:t>DETERMINISTIC ENGINES</a:t>
            </a:r>
            <a:endParaRPr lang="en-US" sz="1250" dirty="0"/>
          </a:p>
        </p:txBody>
      </p:sp>
      <p:sp>
        <p:nvSpPr>
          <p:cNvPr id="48" name="Shape 46"/>
          <p:cNvSpPr/>
          <p:nvPr/>
        </p:nvSpPr>
        <p:spPr>
          <a:xfrm>
            <a:off x="6565392" y="3108960"/>
            <a:ext cx="82296" cy="82296"/>
          </a:xfrm>
          <a:prstGeom prst="ellipse">
            <a:avLst/>
          </a:prstGeom>
          <a:solidFill>
            <a:srgbClr val="0DA5A0"/>
          </a:solidFill>
          <a:ln/>
        </p:spPr>
      </p:sp>
      <p:sp>
        <p:nvSpPr>
          <p:cNvPr id="49" name="Text 47"/>
          <p:cNvSpPr/>
          <p:nvPr/>
        </p:nvSpPr>
        <p:spPr>
          <a:xfrm>
            <a:off x="6748272"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19 commodity cost engines</a:t>
            </a:r>
            <a:endParaRPr lang="en-US" sz="980" dirty="0"/>
          </a:p>
        </p:txBody>
      </p:sp>
      <p:sp>
        <p:nvSpPr>
          <p:cNvPr id="50" name="Shape 48"/>
          <p:cNvSpPr/>
          <p:nvPr/>
        </p:nvSpPr>
        <p:spPr>
          <a:xfrm>
            <a:off x="6565392" y="3547872"/>
            <a:ext cx="82296" cy="82296"/>
          </a:xfrm>
          <a:prstGeom prst="ellipse">
            <a:avLst/>
          </a:prstGeom>
          <a:solidFill>
            <a:srgbClr val="0DA5A0"/>
          </a:solidFill>
          <a:ln/>
        </p:spPr>
      </p:sp>
      <p:sp>
        <p:nvSpPr>
          <p:cNvPr id="51" name="Text 49"/>
          <p:cNvSpPr/>
          <p:nvPr/>
        </p:nvSpPr>
        <p:spPr>
          <a:xfrm>
            <a:off x="6748272"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Feature-based machining</a:t>
            </a:r>
            <a:endParaRPr lang="en-US" sz="980" dirty="0"/>
          </a:p>
        </p:txBody>
      </p:sp>
      <p:sp>
        <p:nvSpPr>
          <p:cNvPr id="52" name="Shape 50"/>
          <p:cNvSpPr/>
          <p:nvPr/>
        </p:nvSpPr>
        <p:spPr>
          <a:xfrm>
            <a:off x="6565392" y="3986784"/>
            <a:ext cx="82296" cy="82296"/>
          </a:xfrm>
          <a:prstGeom prst="ellipse">
            <a:avLst/>
          </a:prstGeom>
          <a:solidFill>
            <a:srgbClr val="0DA5A0"/>
          </a:solidFill>
          <a:ln/>
        </p:spPr>
      </p:sp>
      <p:sp>
        <p:nvSpPr>
          <p:cNvPr id="53" name="Text 51"/>
          <p:cNvSpPr/>
          <p:nvPr/>
        </p:nvSpPr>
        <p:spPr>
          <a:xfrm>
            <a:off x="6748272"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20-region rate tables</a:t>
            </a:r>
            <a:endParaRPr lang="en-US" sz="980" dirty="0"/>
          </a:p>
        </p:txBody>
      </p:sp>
      <p:sp>
        <p:nvSpPr>
          <p:cNvPr id="54" name="Shape 52"/>
          <p:cNvSpPr/>
          <p:nvPr/>
        </p:nvSpPr>
        <p:spPr>
          <a:xfrm>
            <a:off x="6565392" y="4425696"/>
            <a:ext cx="82296" cy="82296"/>
          </a:xfrm>
          <a:prstGeom prst="ellipse">
            <a:avLst/>
          </a:prstGeom>
          <a:solidFill>
            <a:srgbClr val="0DA5A0"/>
          </a:solidFill>
          <a:ln/>
        </p:spPr>
      </p:sp>
      <p:sp>
        <p:nvSpPr>
          <p:cNvPr id="55" name="Text 53"/>
          <p:cNvSpPr/>
          <p:nvPr/>
        </p:nvSpPr>
        <p:spPr>
          <a:xfrm>
            <a:off x="6748272"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Volume &amp; NRE models</a:t>
            </a:r>
            <a:endParaRPr lang="en-US" sz="980" dirty="0"/>
          </a:p>
        </p:txBody>
      </p:sp>
      <p:sp>
        <p:nvSpPr>
          <p:cNvPr id="56" name="Shape 54"/>
          <p:cNvSpPr/>
          <p:nvPr/>
        </p:nvSpPr>
        <p:spPr>
          <a:xfrm>
            <a:off x="6565392" y="4864608"/>
            <a:ext cx="82296" cy="82296"/>
          </a:xfrm>
          <a:prstGeom prst="ellipse">
            <a:avLst/>
          </a:prstGeom>
          <a:solidFill>
            <a:srgbClr val="0DA5A0"/>
          </a:solidFill>
          <a:ln/>
        </p:spPr>
      </p:sp>
      <p:sp>
        <p:nvSpPr>
          <p:cNvPr id="57" name="Text 55"/>
          <p:cNvSpPr/>
          <p:nvPr/>
        </p:nvSpPr>
        <p:spPr>
          <a:xfrm>
            <a:off x="6748272"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Sanity &amp; confidence</a:t>
            </a:r>
            <a:endParaRPr lang="en-US" sz="980" dirty="0"/>
          </a:p>
        </p:txBody>
      </p:sp>
      <p:sp>
        <p:nvSpPr>
          <p:cNvPr id="58" name="Text 56"/>
          <p:cNvSpPr/>
          <p:nvPr/>
        </p:nvSpPr>
        <p:spPr>
          <a:xfrm>
            <a:off x="8851392" y="3474720"/>
            <a:ext cx="329184"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59" name="Shape 57"/>
          <p:cNvSpPr/>
          <p:nvPr/>
        </p:nvSpPr>
        <p:spPr>
          <a:xfrm>
            <a:off x="9162288" y="2103120"/>
            <a:ext cx="2542032" cy="3291840"/>
          </a:xfrm>
          <a:prstGeom prst="roundRect">
            <a:avLst>
              <a:gd name="adj" fmla="val 2518"/>
            </a:avLst>
          </a:prstGeom>
          <a:solidFill>
            <a:srgbClr val="FFFFFF"/>
          </a:solidFill>
          <a:ln w="12700">
            <a:solidFill>
              <a:srgbClr val="E4EAF2"/>
            </a:solidFill>
            <a:prstDash val="solid"/>
          </a:ln>
          <a:effectLst>
            <a:outerShdw sx="100000" sy="100000" kx="0" ky="0" algn="bl" rotWithShape="0" blurRad="1.5651155719920262e+54" dist="4.471758777120074e+53" dir="1.1754624614400003e+64">
              <a:srgbClr val="9DB0CC">
                <a:alpha val="2.2e+64"/>
              </a:srgbClr>
            </a:outerShdw>
          </a:effectLst>
        </p:spPr>
      </p:sp>
      <p:sp>
        <p:nvSpPr>
          <p:cNvPr id="60" name="Shape 58"/>
          <p:cNvSpPr/>
          <p:nvPr/>
        </p:nvSpPr>
        <p:spPr>
          <a:xfrm>
            <a:off x="9162288" y="2103120"/>
            <a:ext cx="82296" cy="3291840"/>
          </a:xfrm>
          <a:prstGeom prst="rect">
            <a:avLst/>
          </a:prstGeom>
          <a:solidFill>
            <a:srgbClr val="0EA472"/>
          </a:solidFill>
          <a:ln/>
        </p:spPr>
      </p:sp>
      <p:sp>
        <p:nvSpPr>
          <p:cNvPr id="61" name="Shape 59"/>
          <p:cNvSpPr/>
          <p:nvPr/>
        </p:nvSpPr>
        <p:spPr>
          <a:xfrm>
            <a:off x="9418320" y="2359152"/>
            <a:ext cx="457200" cy="457200"/>
          </a:xfrm>
          <a:prstGeom prst="ellipse">
            <a:avLst/>
          </a:prstGeom>
          <a:solidFill>
            <a:srgbClr val="E7F7F0"/>
          </a:solidFill>
          <a:ln/>
        </p:spPr>
      </p:sp>
      <p:sp>
        <p:nvSpPr>
          <p:cNvPr id="62" name="Text 60"/>
          <p:cNvSpPr/>
          <p:nvPr/>
        </p:nvSpPr>
        <p:spPr>
          <a:xfrm>
            <a:off x="9418320" y="2350008"/>
            <a:ext cx="457200" cy="457200"/>
          </a:xfrm>
          <a:prstGeom prst="rect">
            <a:avLst/>
          </a:prstGeom>
          <a:noFill/>
          <a:ln/>
        </p:spPr>
        <p:txBody>
          <a:bodyPr wrap="square" lIns="0" tIns="0" rIns="0" bIns="0" rtlCol="0" anchor="ctr"/>
          <a:lstStyle/>
          <a:p>
            <a:pPr algn="ctr" indent="0" marL="0">
              <a:buNone/>
            </a:pPr>
            <a:endParaRPr lang="en-US" sz="1700" dirty="0"/>
          </a:p>
        </p:txBody>
      </p:sp>
      <p:sp>
        <p:nvSpPr>
          <p:cNvPr id="63" name="Text 61"/>
          <p:cNvSpPr/>
          <p:nvPr/>
        </p:nvSpPr>
        <p:spPr>
          <a:xfrm>
            <a:off x="9985248" y="2395728"/>
            <a:ext cx="1627632" cy="411480"/>
          </a:xfrm>
          <a:prstGeom prst="rect">
            <a:avLst/>
          </a:prstGeom>
          <a:noFill/>
          <a:ln/>
        </p:spPr>
        <p:txBody>
          <a:bodyPr wrap="square" lIns="0" tIns="0" rIns="0" bIns="0" rtlCol="0" anchor="ctr"/>
          <a:lstStyle/>
          <a:p>
            <a:pPr indent="0" marL="0">
              <a:buNone/>
            </a:pPr>
            <a:r>
              <a:rPr lang="en-US" sz="1250" b="1" dirty="0">
                <a:solidFill>
                  <a:srgbClr val="0EA472"/>
                </a:solidFill>
                <a:latin typeface="Calibri" pitchFamily="34" charset="0"/>
                <a:ea typeface="Calibri" pitchFamily="34" charset="-122"/>
                <a:cs typeface="Calibri" pitchFamily="34" charset="-120"/>
              </a:rPr>
              <a:t>OUTPUTS</a:t>
            </a:r>
            <a:endParaRPr lang="en-US" sz="1250" dirty="0"/>
          </a:p>
        </p:txBody>
      </p:sp>
      <p:sp>
        <p:nvSpPr>
          <p:cNvPr id="64" name="Shape 62"/>
          <p:cNvSpPr/>
          <p:nvPr/>
        </p:nvSpPr>
        <p:spPr>
          <a:xfrm>
            <a:off x="9436608" y="3108960"/>
            <a:ext cx="82296" cy="82296"/>
          </a:xfrm>
          <a:prstGeom prst="ellipse">
            <a:avLst/>
          </a:prstGeom>
          <a:solidFill>
            <a:srgbClr val="0EA472"/>
          </a:solidFill>
          <a:ln/>
        </p:spPr>
      </p:sp>
      <p:sp>
        <p:nvSpPr>
          <p:cNvPr id="65" name="Text 63"/>
          <p:cNvSpPr/>
          <p:nvPr/>
        </p:nvSpPr>
        <p:spPr>
          <a:xfrm>
            <a:off x="9619488" y="3017520"/>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Costed breakdown + should-cost</a:t>
            </a:r>
            <a:endParaRPr lang="en-US" sz="980" dirty="0"/>
          </a:p>
        </p:txBody>
      </p:sp>
      <p:sp>
        <p:nvSpPr>
          <p:cNvPr id="66" name="Shape 64"/>
          <p:cNvSpPr/>
          <p:nvPr/>
        </p:nvSpPr>
        <p:spPr>
          <a:xfrm>
            <a:off x="9436608" y="3547872"/>
            <a:ext cx="82296" cy="82296"/>
          </a:xfrm>
          <a:prstGeom prst="ellipse">
            <a:avLst/>
          </a:prstGeom>
          <a:solidFill>
            <a:srgbClr val="0EA472"/>
          </a:solidFill>
          <a:ln/>
        </p:spPr>
      </p:sp>
      <p:sp>
        <p:nvSpPr>
          <p:cNvPr id="67" name="Text 65"/>
          <p:cNvSpPr/>
          <p:nvPr/>
        </p:nvSpPr>
        <p:spPr>
          <a:xfrm>
            <a:off x="9619488" y="3456432"/>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Confidence band (P10–P90)</a:t>
            </a:r>
            <a:endParaRPr lang="en-US" sz="980" dirty="0"/>
          </a:p>
        </p:txBody>
      </p:sp>
      <p:sp>
        <p:nvSpPr>
          <p:cNvPr id="68" name="Shape 66"/>
          <p:cNvSpPr/>
          <p:nvPr/>
        </p:nvSpPr>
        <p:spPr>
          <a:xfrm>
            <a:off x="9436608" y="3986784"/>
            <a:ext cx="82296" cy="82296"/>
          </a:xfrm>
          <a:prstGeom prst="ellipse">
            <a:avLst/>
          </a:prstGeom>
          <a:solidFill>
            <a:srgbClr val="0EA472"/>
          </a:solidFill>
          <a:ln/>
        </p:spPr>
      </p:sp>
      <p:sp>
        <p:nvSpPr>
          <p:cNvPr id="69" name="Text 67"/>
          <p:cNvSpPr/>
          <p:nvPr/>
        </p:nvSpPr>
        <p:spPr>
          <a:xfrm>
            <a:off x="9619488" y="3895344"/>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Negotiation pack</a:t>
            </a:r>
            <a:endParaRPr lang="en-US" sz="980" dirty="0"/>
          </a:p>
        </p:txBody>
      </p:sp>
      <p:sp>
        <p:nvSpPr>
          <p:cNvPr id="70" name="Shape 68"/>
          <p:cNvSpPr/>
          <p:nvPr/>
        </p:nvSpPr>
        <p:spPr>
          <a:xfrm>
            <a:off x="9436608" y="4425696"/>
            <a:ext cx="82296" cy="82296"/>
          </a:xfrm>
          <a:prstGeom prst="ellipse">
            <a:avLst/>
          </a:prstGeom>
          <a:solidFill>
            <a:srgbClr val="0EA472"/>
          </a:solidFill>
          <a:ln/>
        </p:spPr>
      </p:sp>
      <p:sp>
        <p:nvSpPr>
          <p:cNvPr id="71" name="Text 69"/>
          <p:cNvSpPr/>
          <p:nvPr/>
        </p:nvSpPr>
        <p:spPr>
          <a:xfrm>
            <a:off x="9619488" y="4334256"/>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Excel · PDF · PowerPoint</a:t>
            </a:r>
            <a:endParaRPr lang="en-US" sz="980" dirty="0"/>
          </a:p>
        </p:txBody>
      </p:sp>
      <p:sp>
        <p:nvSpPr>
          <p:cNvPr id="72" name="Shape 70"/>
          <p:cNvSpPr/>
          <p:nvPr/>
        </p:nvSpPr>
        <p:spPr>
          <a:xfrm>
            <a:off x="9436608" y="4864608"/>
            <a:ext cx="82296" cy="82296"/>
          </a:xfrm>
          <a:prstGeom prst="ellipse">
            <a:avLst/>
          </a:prstGeom>
          <a:solidFill>
            <a:srgbClr val="0EA472"/>
          </a:solidFill>
          <a:ln/>
        </p:spPr>
      </p:sp>
      <p:sp>
        <p:nvSpPr>
          <p:cNvPr id="73" name="Text 71"/>
          <p:cNvSpPr/>
          <p:nvPr/>
        </p:nvSpPr>
        <p:spPr>
          <a:xfrm>
            <a:off x="9619488" y="4773168"/>
            <a:ext cx="1901952"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Carbon (CO₂e) alongside £</a:t>
            </a:r>
            <a:endParaRPr lang="en-US" sz="980" dirty="0"/>
          </a:p>
        </p:txBody>
      </p:sp>
      <p:sp>
        <p:nvSpPr>
          <p:cNvPr id="74" name="Shape 72"/>
          <p:cNvSpPr/>
          <p:nvPr/>
        </p:nvSpPr>
        <p:spPr>
          <a:xfrm>
            <a:off x="548640" y="5623560"/>
            <a:ext cx="11091672" cy="566928"/>
          </a:xfrm>
          <a:prstGeom prst="roundRect">
            <a:avLst>
              <a:gd name="adj" fmla="val 11290"/>
            </a:avLst>
          </a:prstGeom>
          <a:solidFill>
            <a:srgbClr val="F4F7FB"/>
          </a:solidFill>
          <a:ln w="12700">
            <a:solidFill>
              <a:srgbClr val="E4EAF2"/>
            </a:solidFill>
            <a:prstDash val="solid"/>
          </a:ln>
        </p:spPr>
      </p:sp>
      <p:sp>
        <p:nvSpPr>
          <p:cNvPr id="75" name="Text 73"/>
          <p:cNvSpPr/>
          <p:nvPr/>
        </p:nvSpPr>
        <p:spPr>
          <a:xfrm>
            <a:off x="914400" y="5623560"/>
            <a:ext cx="10332720" cy="566928"/>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The golden rule:  </a:t>
            </a:r>
            <a:pPr indent="0" marL="0">
              <a:buNone/>
            </a:pPr>
            <a:r>
              <a:rPr lang="en-US" sz="1200" dirty="0">
                <a:solidFill>
                  <a:srgbClr val="3E4C63"/>
                </a:solidFill>
                <a:latin typeface="Calibri" pitchFamily="34" charset="0"/>
                <a:ea typeface="Calibri" pitchFamily="34" charset="-122"/>
                <a:cs typeface="Calibri" pitchFamily="34" charset="-120"/>
              </a:rPr>
              <a:t>AI only ever understands the input. It never sets the price — every pound is deterministic, auditable arithmetic we can trace and defend.</a:t>
            </a:r>
            <a:endParaRPr lang="en-US" sz="1200" dirty="0"/>
          </a:p>
        </p:txBody>
      </p:sp>
      <p:sp>
        <p:nvSpPr>
          <p:cNvPr id="76" name="Shape 74"/>
          <p:cNvSpPr/>
          <p:nvPr/>
        </p:nvSpPr>
        <p:spPr>
          <a:xfrm>
            <a:off x="548640" y="6400800"/>
            <a:ext cx="11094415" cy="12802"/>
          </a:xfrm>
          <a:prstGeom prst="rect">
            <a:avLst/>
          </a:prstGeom>
          <a:solidFill>
            <a:srgbClr val="E4EAF2"/>
          </a:solidFill>
          <a:ln/>
        </p:spPr>
      </p:sp>
      <p:sp>
        <p:nvSpPr>
          <p:cNvPr id="77" name="Text 7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8" name="Text 7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 / 15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WHAT IT DOES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One platform, four jobs — the capability map</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1.9876967764298733e+58" dist="5.679133646942494e+57" dir="7.052774768640002e+68">
              <a:srgbClr val="9DB0CC">
                <a:alpha val="2.2e+69"/>
              </a:srgbClr>
            </a:outerShdw>
          </a:effectLst>
        </p:spPr>
      </p:sp>
      <p:sp>
        <p:nvSpPr>
          <p:cNvPr id="11" name="Shape 9"/>
          <p:cNvSpPr/>
          <p:nvPr/>
        </p:nvSpPr>
        <p:spPr>
          <a:xfrm>
            <a:off x="548640" y="1691640"/>
            <a:ext cx="82296" cy="2148840"/>
          </a:xfrm>
          <a:prstGeom prst="rect">
            <a:avLst/>
          </a:prstGeom>
          <a:solidFill>
            <a:srgbClr val="2563EB"/>
          </a:solidFill>
          <a:ln/>
        </p:spPr>
      </p:sp>
      <p:sp>
        <p:nvSpPr>
          <p:cNvPr id="12" name="Text 10"/>
          <p:cNvSpPr/>
          <p:nvPr/>
        </p:nvSpPr>
        <p:spPr>
          <a:xfrm>
            <a:off x="822960" y="1856232"/>
            <a:ext cx="4937760" cy="320040"/>
          </a:xfrm>
          <a:prstGeom prst="rect">
            <a:avLst/>
          </a:prstGeom>
          <a:noFill/>
          <a:ln/>
        </p:spPr>
        <p:txBody>
          <a:bodyPr wrap="square" lIns="0" tIns="0" rIns="0" bIns="0" rtlCol="0" anchor="t"/>
          <a:lstStyle/>
          <a:p>
            <a:pPr indent="0" marL="0">
              <a:buNone/>
            </a:pPr>
            <a:r>
              <a:rPr lang="en-US" sz="1350" b="1" spc="50" kern="0" dirty="0">
                <a:solidFill>
                  <a:srgbClr val="2563EB"/>
                </a:solidFill>
                <a:latin typeface="Calibri" pitchFamily="34" charset="0"/>
                <a:ea typeface="Calibri" pitchFamily="34" charset="-122"/>
                <a:cs typeface="Calibri" pitchFamily="34" charset="-120"/>
              </a:rPr>
              <a:t>ESTIMATE</a:t>
            </a:r>
            <a:endParaRPr lang="en-US" sz="1350" dirty="0"/>
          </a:p>
        </p:txBody>
      </p:sp>
      <p:sp>
        <p:nvSpPr>
          <p:cNvPr id="13" name="Shape 11"/>
          <p:cNvSpPr/>
          <p:nvPr/>
        </p:nvSpPr>
        <p:spPr>
          <a:xfrm>
            <a:off x="841248" y="2368296"/>
            <a:ext cx="91440" cy="91440"/>
          </a:xfrm>
          <a:prstGeom prst="ellipse">
            <a:avLst/>
          </a:prstGeom>
          <a:solidFill>
            <a:srgbClr val="2563EB"/>
          </a:solidFill>
          <a:ln/>
        </p:spPr>
      </p:sp>
      <p:sp>
        <p:nvSpPr>
          <p:cNvPr id="14" name="Text 12"/>
          <p:cNvSpPr/>
          <p:nvPr/>
        </p:nvSpPr>
        <p:spPr>
          <a:xfrm>
            <a:off x="102412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CAD → Cost (3D model)</a:t>
            </a:r>
            <a:endParaRPr lang="en-US" sz="1000" dirty="0"/>
          </a:p>
        </p:txBody>
      </p:sp>
      <p:sp>
        <p:nvSpPr>
          <p:cNvPr id="15" name="Shape 13"/>
          <p:cNvSpPr/>
          <p:nvPr/>
        </p:nvSpPr>
        <p:spPr>
          <a:xfrm>
            <a:off x="3447288" y="2368296"/>
            <a:ext cx="91440" cy="91440"/>
          </a:xfrm>
          <a:prstGeom prst="ellipse">
            <a:avLst/>
          </a:prstGeom>
          <a:solidFill>
            <a:srgbClr val="2563EB"/>
          </a:solidFill>
          <a:ln/>
        </p:spPr>
      </p:sp>
      <p:sp>
        <p:nvSpPr>
          <p:cNvPr id="16" name="Text 14"/>
          <p:cNvSpPr/>
          <p:nvPr/>
        </p:nvSpPr>
        <p:spPr>
          <a:xfrm>
            <a:off x="3630168"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PCB Image → BOM</a:t>
            </a:r>
            <a:endParaRPr lang="en-US" sz="1000" dirty="0"/>
          </a:p>
        </p:txBody>
      </p:sp>
      <p:sp>
        <p:nvSpPr>
          <p:cNvPr id="17" name="Shape 15"/>
          <p:cNvSpPr/>
          <p:nvPr/>
        </p:nvSpPr>
        <p:spPr>
          <a:xfrm>
            <a:off x="841248" y="2825496"/>
            <a:ext cx="91440" cy="91440"/>
          </a:xfrm>
          <a:prstGeom prst="ellipse">
            <a:avLst/>
          </a:prstGeom>
          <a:solidFill>
            <a:srgbClr val="2563EB"/>
          </a:solidFill>
          <a:ln/>
        </p:spPr>
      </p:sp>
      <p:sp>
        <p:nvSpPr>
          <p:cNvPr id="18" name="Text 16"/>
          <p:cNvSpPr/>
          <p:nvPr/>
        </p:nvSpPr>
        <p:spPr>
          <a:xfrm>
            <a:off x="102412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19 commodity cost engines</a:t>
            </a:r>
            <a:endParaRPr lang="en-US" sz="1000" dirty="0"/>
          </a:p>
        </p:txBody>
      </p:sp>
      <p:sp>
        <p:nvSpPr>
          <p:cNvPr id="19" name="Shape 17"/>
          <p:cNvSpPr/>
          <p:nvPr/>
        </p:nvSpPr>
        <p:spPr>
          <a:xfrm>
            <a:off x="3447288" y="2825496"/>
            <a:ext cx="91440" cy="91440"/>
          </a:xfrm>
          <a:prstGeom prst="ellipse">
            <a:avLst/>
          </a:prstGeom>
          <a:solidFill>
            <a:srgbClr val="2563EB"/>
          </a:solidFill>
          <a:ln/>
        </p:spPr>
      </p:sp>
      <p:sp>
        <p:nvSpPr>
          <p:cNvPr id="20" name="Text 18"/>
          <p:cNvSpPr/>
          <p:nvPr/>
        </p:nvSpPr>
        <p:spPr>
          <a:xfrm>
            <a:off x="3630168"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Feature-based machining</a:t>
            </a:r>
            <a:endParaRPr lang="en-US" sz="1000" dirty="0"/>
          </a:p>
        </p:txBody>
      </p:sp>
      <p:sp>
        <p:nvSpPr>
          <p:cNvPr id="21" name="Shape 19"/>
          <p:cNvSpPr/>
          <p:nvPr/>
        </p:nvSpPr>
        <p:spPr>
          <a:xfrm>
            <a:off x="841248" y="3227832"/>
            <a:ext cx="91440" cy="91440"/>
          </a:xfrm>
          <a:prstGeom prst="ellipse">
            <a:avLst/>
          </a:prstGeom>
          <a:solidFill>
            <a:srgbClr val="2563EB"/>
          </a:solidFill>
          <a:ln/>
        </p:spPr>
      </p:sp>
      <p:sp>
        <p:nvSpPr>
          <p:cNvPr id="22" name="Text 20"/>
          <p:cNvSpPr/>
          <p:nvPr/>
        </p:nvSpPr>
        <p:spPr>
          <a:xfrm>
            <a:off x="1024128"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Detailed teardown</a:t>
            </a:r>
            <a:endParaRPr lang="en-US" sz="1000" dirty="0"/>
          </a:p>
        </p:txBody>
      </p:sp>
      <p:sp>
        <p:nvSpPr>
          <p:cNvPr id="23" name="Shape 21"/>
          <p:cNvSpPr/>
          <p:nvPr/>
        </p:nvSpPr>
        <p:spPr>
          <a:xfrm>
            <a:off x="6245352" y="1691640"/>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2.524374906065939e+62" dist="7.212499731616968e+61" dir="4.2316648611840007e+73">
              <a:srgbClr val="9DB0CC">
                <a:alpha val="2.2e+74"/>
              </a:srgbClr>
            </a:outerShdw>
          </a:effectLst>
        </p:spPr>
      </p:sp>
      <p:sp>
        <p:nvSpPr>
          <p:cNvPr id="24" name="Shape 22"/>
          <p:cNvSpPr/>
          <p:nvPr/>
        </p:nvSpPr>
        <p:spPr>
          <a:xfrm>
            <a:off x="6245352" y="1691640"/>
            <a:ext cx="82296" cy="2148840"/>
          </a:xfrm>
          <a:prstGeom prst="rect">
            <a:avLst/>
          </a:prstGeom>
          <a:solidFill>
            <a:srgbClr val="7C3AED"/>
          </a:solidFill>
          <a:ln/>
        </p:spPr>
      </p:sp>
      <p:sp>
        <p:nvSpPr>
          <p:cNvPr id="25" name="Text 23"/>
          <p:cNvSpPr/>
          <p:nvPr/>
        </p:nvSpPr>
        <p:spPr>
          <a:xfrm>
            <a:off x="6519672" y="1856232"/>
            <a:ext cx="4937760" cy="320040"/>
          </a:xfrm>
          <a:prstGeom prst="rect">
            <a:avLst/>
          </a:prstGeom>
          <a:noFill/>
          <a:ln/>
        </p:spPr>
        <p:txBody>
          <a:bodyPr wrap="square" lIns="0" tIns="0" rIns="0" bIns="0" rtlCol="0" anchor="t"/>
          <a:lstStyle/>
          <a:p>
            <a:pPr indent="0" marL="0">
              <a:buNone/>
            </a:pPr>
            <a:r>
              <a:rPr lang="en-US" sz="1350" b="1" spc="50" kern="0" dirty="0">
                <a:solidFill>
                  <a:srgbClr val="7C3AED"/>
                </a:solidFill>
                <a:latin typeface="Calibri" pitchFamily="34" charset="0"/>
                <a:ea typeface="Calibri" pitchFamily="34" charset="-122"/>
                <a:cs typeface="Calibri" pitchFamily="34" charset="-120"/>
              </a:rPr>
              <a:t>UNDERSTAND</a:t>
            </a:r>
            <a:endParaRPr lang="en-US" sz="1350" dirty="0"/>
          </a:p>
        </p:txBody>
      </p:sp>
      <p:sp>
        <p:nvSpPr>
          <p:cNvPr id="26" name="Shape 24"/>
          <p:cNvSpPr/>
          <p:nvPr/>
        </p:nvSpPr>
        <p:spPr>
          <a:xfrm>
            <a:off x="6537960" y="2368296"/>
            <a:ext cx="91440" cy="91440"/>
          </a:xfrm>
          <a:prstGeom prst="ellipse">
            <a:avLst/>
          </a:prstGeom>
          <a:solidFill>
            <a:srgbClr val="7C3AED"/>
          </a:solidFill>
          <a:ln/>
        </p:spPr>
      </p:sp>
      <p:sp>
        <p:nvSpPr>
          <p:cNvPr id="27" name="Text 25"/>
          <p:cNvSpPr/>
          <p:nvPr/>
        </p:nvSpPr>
        <p:spPr>
          <a:xfrm>
            <a:off x="672084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3D CAD viewer + B-rep AI</a:t>
            </a:r>
            <a:endParaRPr lang="en-US" sz="1000" dirty="0"/>
          </a:p>
        </p:txBody>
      </p:sp>
      <p:sp>
        <p:nvSpPr>
          <p:cNvPr id="28" name="Shape 26"/>
          <p:cNvSpPr/>
          <p:nvPr/>
        </p:nvSpPr>
        <p:spPr>
          <a:xfrm>
            <a:off x="9144000" y="2368296"/>
            <a:ext cx="91440" cy="91440"/>
          </a:xfrm>
          <a:prstGeom prst="ellipse">
            <a:avLst/>
          </a:prstGeom>
          <a:solidFill>
            <a:srgbClr val="7C3AED"/>
          </a:solidFill>
          <a:ln/>
        </p:spPr>
      </p:sp>
      <p:sp>
        <p:nvSpPr>
          <p:cNvPr id="29" name="Text 27"/>
          <p:cNvSpPr/>
          <p:nvPr/>
        </p:nvSpPr>
        <p:spPr>
          <a:xfrm>
            <a:off x="9326880" y="23134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Geometry feature table</a:t>
            </a:r>
            <a:endParaRPr lang="en-US" sz="1000" dirty="0"/>
          </a:p>
        </p:txBody>
      </p:sp>
      <p:sp>
        <p:nvSpPr>
          <p:cNvPr id="30" name="Shape 28"/>
          <p:cNvSpPr/>
          <p:nvPr/>
        </p:nvSpPr>
        <p:spPr>
          <a:xfrm>
            <a:off x="6537960" y="2825496"/>
            <a:ext cx="91440" cy="91440"/>
          </a:xfrm>
          <a:prstGeom prst="ellipse">
            <a:avLst/>
          </a:prstGeom>
          <a:solidFill>
            <a:srgbClr val="7C3AED"/>
          </a:solidFill>
          <a:ln/>
        </p:spPr>
      </p:sp>
      <p:sp>
        <p:nvSpPr>
          <p:cNvPr id="31" name="Text 29"/>
          <p:cNvSpPr/>
          <p:nvPr/>
        </p:nvSpPr>
        <p:spPr>
          <a:xfrm>
            <a:off x="672084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Grounded AI assistant</a:t>
            </a:r>
            <a:endParaRPr lang="en-US" sz="1000" dirty="0"/>
          </a:p>
        </p:txBody>
      </p:sp>
      <p:sp>
        <p:nvSpPr>
          <p:cNvPr id="32" name="Shape 30"/>
          <p:cNvSpPr/>
          <p:nvPr/>
        </p:nvSpPr>
        <p:spPr>
          <a:xfrm>
            <a:off x="9144000" y="2825496"/>
            <a:ext cx="91440" cy="91440"/>
          </a:xfrm>
          <a:prstGeom prst="ellipse">
            <a:avLst/>
          </a:prstGeom>
          <a:solidFill>
            <a:srgbClr val="7C3AED"/>
          </a:solidFill>
          <a:ln/>
        </p:spPr>
      </p:sp>
      <p:sp>
        <p:nvSpPr>
          <p:cNvPr id="33" name="Text 31"/>
          <p:cNvSpPr/>
          <p:nvPr/>
        </p:nvSpPr>
        <p:spPr>
          <a:xfrm>
            <a:off x="9326880" y="2770632"/>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RFQ analyst</a:t>
            </a:r>
            <a:endParaRPr lang="en-US" sz="1000" dirty="0"/>
          </a:p>
        </p:txBody>
      </p:sp>
      <p:sp>
        <p:nvSpPr>
          <p:cNvPr id="34" name="Shape 32"/>
          <p:cNvSpPr/>
          <p:nvPr/>
        </p:nvSpPr>
        <p:spPr>
          <a:xfrm>
            <a:off x="6537960" y="3227832"/>
            <a:ext cx="91440" cy="91440"/>
          </a:xfrm>
          <a:prstGeom prst="ellipse">
            <a:avLst/>
          </a:prstGeom>
          <a:solidFill>
            <a:srgbClr val="7C3AED"/>
          </a:solidFill>
          <a:ln/>
        </p:spPr>
      </p:sp>
      <p:sp>
        <p:nvSpPr>
          <p:cNvPr id="35" name="Text 33"/>
          <p:cNvSpPr/>
          <p:nvPr/>
        </p:nvSpPr>
        <p:spPr>
          <a:xfrm>
            <a:off x="6720840" y="3172968"/>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Carbon co-costing</a:t>
            </a:r>
            <a:endParaRPr lang="en-US" sz="1000" dirty="0"/>
          </a:p>
        </p:txBody>
      </p:sp>
      <p:sp>
        <p:nvSpPr>
          <p:cNvPr id="36" name="Shape 34"/>
          <p:cNvSpPr/>
          <p:nvPr/>
        </p:nvSpPr>
        <p:spPr>
          <a:xfrm>
            <a:off x="548640"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3.2059561307037426e+66" dist="9.15987465915355e+65" dir="2.5389989167104004e+78">
              <a:srgbClr val="9DB0CC">
                <a:alpha val="2.2000000000000002e+79"/>
              </a:srgbClr>
            </a:outerShdw>
          </a:effectLst>
        </p:spPr>
      </p:sp>
      <p:sp>
        <p:nvSpPr>
          <p:cNvPr id="37" name="Shape 35"/>
          <p:cNvSpPr/>
          <p:nvPr/>
        </p:nvSpPr>
        <p:spPr>
          <a:xfrm>
            <a:off x="548640" y="4096512"/>
            <a:ext cx="82296" cy="2148840"/>
          </a:xfrm>
          <a:prstGeom prst="rect">
            <a:avLst/>
          </a:prstGeom>
          <a:solidFill>
            <a:srgbClr val="0DA5A0"/>
          </a:solidFill>
          <a:ln/>
        </p:spPr>
      </p:sp>
      <p:sp>
        <p:nvSpPr>
          <p:cNvPr id="38" name="Text 36"/>
          <p:cNvSpPr/>
          <p:nvPr/>
        </p:nvSpPr>
        <p:spPr>
          <a:xfrm>
            <a:off x="822960" y="4261104"/>
            <a:ext cx="4937760" cy="320040"/>
          </a:xfrm>
          <a:prstGeom prst="rect">
            <a:avLst/>
          </a:prstGeom>
          <a:noFill/>
          <a:ln/>
        </p:spPr>
        <p:txBody>
          <a:bodyPr wrap="square" lIns="0" tIns="0" rIns="0" bIns="0" rtlCol="0" anchor="t"/>
          <a:lstStyle/>
          <a:p>
            <a:pPr indent="0" marL="0">
              <a:buNone/>
            </a:pPr>
            <a:r>
              <a:rPr lang="en-US" sz="1350" b="1" spc="50" kern="0" dirty="0">
                <a:solidFill>
                  <a:srgbClr val="0DA5A0"/>
                </a:solidFill>
                <a:latin typeface="Calibri" pitchFamily="34" charset="0"/>
                <a:ea typeface="Calibri" pitchFamily="34" charset="-122"/>
                <a:cs typeface="Calibri" pitchFamily="34" charset="-120"/>
              </a:rPr>
              <a:t>DECIDE &amp; NEGOTIATE</a:t>
            </a:r>
            <a:endParaRPr lang="en-US" sz="1350" dirty="0"/>
          </a:p>
        </p:txBody>
      </p:sp>
      <p:sp>
        <p:nvSpPr>
          <p:cNvPr id="39" name="Shape 37"/>
          <p:cNvSpPr/>
          <p:nvPr/>
        </p:nvSpPr>
        <p:spPr>
          <a:xfrm>
            <a:off x="841248" y="4773168"/>
            <a:ext cx="91440" cy="91440"/>
          </a:xfrm>
          <a:prstGeom prst="ellipse">
            <a:avLst/>
          </a:prstGeom>
          <a:solidFill>
            <a:srgbClr val="0DA5A0"/>
          </a:solidFill>
          <a:ln/>
        </p:spPr>
      </p:sp>
      <p:sp>
        <p:nvSpPr>
          <p:cNvPr id="40" name="Text 38"/>
          <p:cNvSpPr/>
          <p:nvPr/>
        </p:nvSpPr>
        <p:spPr>
          <a:xfrm>
            <a:off x="102412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Negotiation Intelligence</a:t>
            </a:r>
            <a:endParaRPr lang="en-US" sz="1000" dirty="0"/>
          </a:p>
        </p:txBody>
      </p:sp>
      <p:sp>
        <p:nvSpPr>
          <p:cNvPr id="41" name="Shape 39"/>
          <p:cNvSpPr/>
          <p:nvPr/>
        </p:nvSpPr>
        <p:spPr>
          <a:xfrm>
            <a:off x="3447288" y="4773168"/>
            <a:ext cx="91440" cy="91440"/>
          </a:xfrm>
          <a:prstGeom prst="ellipse">
            <a:avLst/>
          </a:prstGeom>
          <a:solidFill>
            <a:srgbClr val="0DA5A0"/>
          </a:solidFill>
          <a:ln/>
        </p:spPr>
      </p:sp>
      <p:sp>
        <p:nvSpPr>
          <p:cNvPr id="42" name="Text 40"/>
          <p:cNvSpPr/>
          <p:nvPr/>
        </p:nvSpPr>
        <p:spPr>
          <a:xfrm>
            <a:off x="3630168"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20-region should-cost</a:t>
            </a:r>
            <a:endParaRPr lang="en-US" sz="1000" dirty="0"/>
          </a:p>
        </p:txBody>
      </p:sp>
      <p:sp>
        <p:nvSpPr>
          <p:cNvPr id="43" name="Shape 41"/>
          <p:cNvSpPr/>
          <p:nvPr/>
        </p:nvSpPr>
        <p:spPr>
          <a:xfrm>
            <a:off x="841248" y="5230368"/>
            <a:ext cx="91440" cy="91440"/>
          </a:xfrm>
          <a:prstGeom prst="ellipse">
            <a:avLst/>
          </a:prstGeom>
          <a:solidFill>
            <a:srgbClr val="0DA5A0"/>
          </a:solidFill>
          <a:ln/>
        </p:spPr>
      </p:sp>
      <p:sp>
        <p:nvSpPr>
          <p:cNvPr id="44" name="Text 42"/>
          <p:cNvSpPr/>
          <p:nvPr/>
        </p:nvSpPr>
        <p:spPr>
          <a:xfrm>
            <a:off x="102412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Volume &amp; what-if scenarios</a:t>
            </a:r>
            <a:endParaRPr lang="en-US" sz="1000" dirty="0"/>
          </a:p>
        </p:txBody>
      </p:sp>
      <p:sp>
        <p:nvSpPr>
          <p:cNvPr id="45" name="Shape 43"/>
          <p:cNvSpPr/>
          <p:nvPr/>
        </p:nvSpPr>
        <p:spPr>
          <a:xfrm>
            <a:off x="3447288" y="5230368"/>
            <a:ext cx="91440" cy="91440"/>
          </a:xfrm>
          <a:prstGeom prst="ellipse">
            <a:avLst/>
          </a:prstGeom>
          <a:solidFill>
            <a:srgbClr val="0DA5A0"/>
          </a:solidFill>
          <a:ln/>
        </p:spPr>
      </p:sp>
      <p:sp>
        <p:nvSpPr>
          <p:cNvPr id="46" name="Text 44"/>
          <p:cNvSpPr/>
          <p:nvPr/>
        </p:nvSpPr>
        <p:spPr>
          <a:xfrm>
            <a:off x="3630168"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Conformal confidence bands</a:t>
            </a:r>
            <a:endParaRPr lang="en-US" sz="1000" dirty="0"/>
          </a:p>
        </p:txBody>
      </p:sp>
      <p:sp>
        <p:nvSpPr>
          <p:cNvPr id="47" name="Shape 45"/>
          <p:cNvSpPr/>
          <p:nvPr/>
        </p:nvSpPr>
        <p:spPr>
          <a:xfrm>
            <a:off x="841248" y="5632704"/>
            <a:ext cx="91440" cy="91440"/>
          </a:xfrm>
          <a:prstGeom prst="ellipse">
            <a:avLst/>
          </a:prstGeom>
          <a:solidFill>
            <a:srgbClr val="0DA5A0"/>
          </a:solidFill>
          <a:ln/>
        </p:spPr>
      </p:sp>
      <p:sp>
        <p:nvSpPr>
          <p:cNvPr id="48" name="Text 46"/>
          <p:cNvSpPr/>
          <p:nvPr/>
        </p:nvSpPr>
        <p:spPr>
          <a:xfrm>
            <a:off x="1024128"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Causal negotiation coach</a:t>
            </a:r>
            <a:endParaRPr lang="en-US" sz="1000" dirty="0"/>
          </a:p>
        </p:txBody>
      </p:sp>
      <p:sp>
        <p:nvSpPr>
          <p:cNvPr id="49" name="Shape 47"/>
          <p:cNvSpPr/>
          <p:nvPr/>
        </p:nvSpPr>
        <p:spPr>
          <a:xfrm>
            <a:off x="6245352" y="4096512"/>
            <a:ext cx="5394960" cy="2148840"/>
          </a:xfrm>
          <a:prstGeom prst="roundRect">
            <a:avLst>
              <a:gd name="adj" fmla="val 2979"/>
            </a:avLst>
          </a:prstGeom>
          <a:solidFill>
            <a:srgbClr val="FFFFFF"/>
          </a:solidFill>
          <a:ln w="12700">
            <a:solidFill>
              <a:srgbClr val="E4EAF2"/>
            </a:solidFill>
            <a:prstDash val="solid"/>
          </a:ln>
          <a:effectLst>
            <a:outerShdw sx="100000" sy="100000" kx="0" ky="0" algn="bl" rotWithShape="0" blurRad="4.071564285993753e+70" dist="1.1633040817125008e+70" dir="1.5233993500262402e+83">
              <a:srgbClr val="9DB0CC">
                <a:alpha val="2.2000000000000003e+84"/>
              </a:srgbClr>
            </a:outerShdw>
          </a:effectLst>
        </p:spPr>
      </p:sp>
      <p:sp>
        <p:nvSpPr>
          <p:cNvPr id="50" name="Shape 48"/>
          <p:cNvSpPr/>
          <p:nvPr/>
        </p:nvSpPr>
        <p:spPr>
          <a:xfrm>
            <a:off x="6245352" y="4096512"/>
            <a:ext cx="82296" cy="2148840"/>
          </a:xfrm>
          <a:prstGeom prst="rect">
            <a:avLst/>
          </a:prstGeom>
          <a:solidFill>
            <a:srgbClr val="0EA472"/>
          </a:solidFill>
          <a:ln/>
        </p:spPr>
      </p:sp>
      <p:sp>
        <p:nvSpPr>
          <p:cNvPr id="51" name="Text 49"/>
          <p:cNvSpPr/>
          <p:nvPr/>
        </p:nvSpPr>
        <p:spPr>
          <a:xfrm>
            <a:off x="6519672" y="4261104"/>
            <a:ext cx="4937760" cy="320040"/>
          </a:xfrm>
          <a:prstGeom prst="rect">
            <a:avLst/>
          </a:prstGeom>
          <a:noFill/>
          <a:ln/>
        </p:spPr>
        <p:txBody>
          <a:bodyPr wrap="square" lIns="0" tIns="0" rIns="0" bIns="0" rtlCol="0" anchor="t"/>
          <a:lstStyle/>
          <a:p>
            <a:pPr indent="0" marL="0">
              <a:buNone/>
            </a:pPr>
            <a:r>
              <a:rPr lang="en-US" sz="1350" b="1" spc="50" kern="0" dirty="0">
                <a:solidFill>
                  <a:srgbClr val="0EA472"/>
                </a:solidFill>
                <a:latin typeface="Calibri" pitchFamily="34" charset="0"/>
                <a:ea typeface="Calibri" pitchFamily="34" charset="-122"/>
                <a:cs typeface="Calibri" pitchFamily="34" charset="-120"/>
              </a:rPr>
              <a:t>LEARN &amp; GOVERN</a:t>
            </a:r>
            <a:endParaRPr lang="en-US" sz="1350" dirty="0"/>
          </a:p>
        </p:txBody>
      </p:sp>
      <p:sp>
        <p:nvSpPr>
          <p:cNvPr id="52" name="Shape 50"/>
          <p:cNvSpPr/>
          <p:nvPr/>
        </p:nvSpPr>
        <p:spPr>
          <a:xfrm>
            <a:off x="6537960" y="4773168"/>
            <a:ext cx="91440" cy="91440"/>
          </a:xfrm>
          <a:prstGeom prst="ellipse">
            <a:avLst/>
          </a:prstGeom>
          <a:solidFill>
            <a:srgbClr val="0EA472"/>
          </a:solidFill>
          <a:ln/>
        </p:spPr>
      </p:sp>
      <p:sp>
        <p:nvSpPr>
          <p:cNvPr id="53" name="Text 51"/>
          <p:cNvSpPr/>
          <p:nvPr/>
        </p:nvSpPr>
        <p:spPr>
          <a:xfrm>
            <a:off x="672084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Agentic memory &amp; recall</a:t>
            </a:r>
            <a:endParaRPr lang="en-US" sz="1000" dirty="0"/>
          </a:p>
        </p:txBody>
      </p:sp>
      <p:sp>
        <p:nvSpPr>
          <p:cNvPr id="54" name="Shape 52"/>
          <p:cNvSpPr/>
          <p:nvPr/>
        </p:nvSpPr>
        <p:spPr>
          <a:xfrm>
            <a:off x="9144000" y="4773168"/>
            <a:ext cx="91440" cy="91440"/>
          </a:xfrm>
          <a:prstGeom prst="ellipse">
            <a:avLst/>
          </a:prstGeom>
          <a:solidFill>
            <a:srgbClr val="0EA472"/>
          </a:solidFill>
          <a:ln/>
        </p:spPr>
      </p:sp>
      <p:sp>
        <p:nvSpPr>
          <p:cNvPr id="55" name="Text 53"/>
          <p:cNvSpPr/>
          <p:nvPr/>
        </p:nvSpPr>
        <p:spPr>
          <a:xfrm>
            <a:off x="9326880" y="47183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Self-correction from quotes</a:t>
            </a:r>
            <a:endParaRPr lang="en-US" sz="1000" dirty="0"/>
          </a:p>
        </p:txBody>
      </p:sp>
      <p:sp>
        <p:nvSpPr>
          <p:cNvPr id="56" name="Shape 54"/>
          <p:cNvSpPr/>
          <p:nvPr/>
        </p:nvSpPr>
        <p:spPr>
          <a:xfrm>
            <a:off x="6537960" y="5230368"/>
            <a:ext cx="91440" cy="91440"/>
          </a:xfrm>
          <a:prstGeom prst="ellipse">
            <a:avLst/>
          </a:prstGeom>
          <a:solidFill>
            <a:srgbClr val="0EA472"/>
          </a:solidFill>
          <a:ln/>
        </p:spPr>
      </p:sp>
      <p:sp>
        <p:nvSpPr>
          <p:cNvPr id="57" name="Text 55"/>
          <p:cNvSpPr/>
          <p:nvPr/>
        </p:nvSpPr>
        <p:spPr>
          <a:xfrm>
            <a:off x="672084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Autonomous savings agent</a:t>
            </a:r>
            <a:endParaRPr lang="en-US" sz="1000" dirty="0"/>
          </a:p>
        </p:txBody>
      </p:sp>
      <p:sp>
        <p:nvSpPr>
          <p:cNvPr id="58" name="Shape 56"/>
          <p:cNvSpPr/>
          <p:nvPr/>
        </p:nvSpPr>
        <p:spPr>
          <a:xfrm>
            <a:off x="9144000" y="5230368"/>
            <a:ext cx="91440" cy="91440"/>
          </a:xfrm>
          <a:prstGeom prst="ellipse">
            <a:avLst/>
          </a:prstGeom>
          <a:solidFill>
            <a:srgbClr val="0EA472"/>
          </a:solidFill>
          <a:ln/>
        </p:spPr>
      </p:sp>
      <p:sp>
        <p:nvSpPr>
          <p:cNvPr id="59" name="Text 57"/>
          <p:cNvSpPr/>
          <p:nvPr/>
        </p:nvSpPr>
        <p:spPr>
          <a:xfrm>
            <a:off x="9326880" y="5175504"/>
            <a:ext cx="2377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Full audit trail / provenance</a:t>
            </a:r>
            <a:endParaRPr lang="en-US" sz="1000" dirty="0"/>
          </a:p>
        </p:txBody>
      </p:sp>
      <p:sp>
        <p:nvSpPr>
          <p:cNvPr id="60" name="Shape 58"/>
          <p:cNvSpPr/>
          <p:nvPr/>
        </p:nvSpPr>
        <p:spPr>
          <a:xfrm>
            <a:off x="6537960" y="5632704"/>
            <a:ext cx="91440" cy="91440"/>
          </a:xfrm>
          <a:prstGeom prst="ellipse">
            <a:avLst/>
          </a:prstGeom>
          <a:solidFill>
            <a:srgbClr val="0EA472"/>
          </a:solidFill>
          <a:ln/>
        </p:spPr>
      </p:sp>
      <p:sp>
        <p:nvSpPr>
          <p:cNvPr id="61" name="Text 59"/>
          <p:cNvSpPr/>
          <p:nvPr/>
        </p:nvSpPr>
        <p:spPr>
          <a:xfrm>
            <a:off x="6720840" y="5577840"/>
            <a:ext cx="4663440" cy="384048"/>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On-premise &amp; secure</a:t>
            </a:r>
            <a:endParaRPr lang="en-US" sz="1000" dirty="0"/>
          </a:p>
        </p:txBody>
      </p:sp>
      <p:sp>
        <p:nvSpPr>
          <p:cNvPr id="62" name="Shape 60"/>
          <p:cNvSpPr/>
          <p:nvPr/>
        </p:nvSpPr>
        <p:spPr>
          <a:xfrm>
            <a:off x="548640" y="6400800"/>
            <a:ext cx="11094415" cy="12802"/>
          </a:xfrm>
          <a:prstGeom prst="rect">
            <a:avLst/>
          </a:prstGeom>
          <a:solidFill>
            <a:srgbClr val="E4EAF2"/>
          </a:solidFill>
          <a:ln/>
        </p:spPr>
      </p:sp>
      <p:sp>
        <p:nvSpPr>
          <p:cNvPr id="63" name="Text 6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4" name="Text 6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4 / 15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cad-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DA5A0"/>
          </a:solidFill>
          <a:ln/>
        </p:spPr>
      </p:sp>
      <p:sp>
        <p:nvSpPr>
          <p:cNvPr id="7" name="Shape 4"/>
          <p:cNvSpPr/>
          <p:nvPr/>
        </p:nvSpPr>
        <p:spPr>
          <a:xfrm>
            <a:off x="0" y="6729984"/>
            <a:ext cx="12191695" cy="128016"/>
          </a:xfrm>
          <a:prstGeom prst="rect">
            <a:avLst/>
          </a:prstGeom>
          <a:solidFill>
            <a:srgbClr val="0DA5A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CAD → 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8 / 33</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from a 3D model to a should-cost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Drop in a 3D model and CostVision reads the geometry, recognises the manufacturing features, and prices the part — with every number traced back to the model.</a:t>
            </a:r>
            <a:endParaRPr lang="en-US" sz="1250" dirty="0"/>
          </a:p>
        </p:txBody>
      </p:sp>
      <p:sp>
        <p:nvSpPr>
          <p:cNvPr id="11" name="Shape 9"/>
          <p:cNvSpPr/>
          <p:nvPr/>
        </p:nvSpPr>
        <p:spPr>
          <a:xfrm>
            <a:off x="548640"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5.170886643212067e+74" dist="1.477396183774876e+74" dir="9.14039610015744e+87">
              <a:srgbClr val="9DB0CC">
                <a:alpha val="2.2000000000000003e+89"/>
              </a:srgbClr>
            </a:outerShdw>
          </a:effectLst>
        </p:spPr>
      </p:sp>
      <p:sp>
        <p:nvSpPr>
          <p:cNvPr id="12" name="Shape 10"/>
          <p:cNvSpPr/>
          <p:nvPr/>
        </p:nvSpPr>
        <p:spPr>
          <a:xfrm>
            <a:off x="548640" y="2286000"/>
            <a:ext cx="82296" cy="2834640"/>
          </a:xfrm>
          <a:prstGeom prst="rect">
            <a:avLst/>
          </a:prstGeom>
          <a:solidFill>
            <a:srgbClr val="0DA5A0"/>
          </a:solidFill>
          <a:ln/>
        </p:spPr>
      </p:sp>
      <p:sp>
        <p:nvSpPr>
          <p:cNvPr id="13" name="Shape 11"/>
          <p:cNvSpPr/>
          <p:nvPr/>
        </p:nvSpPr>
        <p:spPr>
          <a:xfrm>
            <a:off x="1453896" y="2578608"/>
            <a:ext cx="731520" cy="731520"/>
          </a:xfrm>
          <a:prstGeom prst="ellipse">
            <a:avLst/>
          </a:prstGeom>
          <a:solidFill>
            <a:srgbClr val="E7F7F0"/>
          </a:solidFill>
          <a:ln/>
        </p:spPr>
      </p:sp>
      <p:sp>
        <p:nvSpPr>
          <p:cNvPr id="14" name="Text 12"/>
          <p:cNvSpPr/>
          <p:nvPr/>
        </p:nvSpPr>
        <p:spPr>
          <a:xfrm>
            <a:off x="1453896" y="2569464"/>
            <a:ext cx="731520" cy="731520"/>
          </a:xfrm>
          <a:prstGeom prst="rect">
            <a:avLst/>
          </a:prstGeom>
          <a:noFill/>
          <a:ln/>
        </p:spPr>
        <p:txBody>
          <a:bodyPr wrap="square" lIns="0" tIns="0" rIns="0" bIns="0" rtlCol="0" anchor="ctr"/>
          <a:lstStyle/>
          <a:p>
            <a:pPr algn="ctr" indent="0" marL="0">
              <a:buNone/>
            </a:pPr>
            <a:r>
              <a:rPr lang="en-US" sz="2500" b="1" dirty="0">
                <a:solidFill>
                  <a:srgbClr val="0DA5A0"/>
                </a:solidFill>
                <a:latin typeface="Calibri" pitchFamily="34" charset="0"/>
                <a:ea typeface="Calibri" pitchFamily="34" charset="-122"/>
                <a:cs typeface="Calibri" pitchFamily="34" charset="-120"/>
              </a:rPr>
              <a:t>◧</a:t>
            </a:r>
            <a:endParaRPr lang="en-US" sz="2500" dirty="0"/>
          </a:p>
        </p:txBody>
      </p:sp>
      <p:sp>
        <p:nvSpPr>
          <p:cNvPr id="15" name="Text 13"/>
          <p:cNvSpPr/>
          <p:nvPr/>
        </p:nvSpPr>
        <p:spPr>
          <a:xfrm>
            <a:off x="768096"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DA5A0"/>
                </a:solidFill>
                <a:latin typeface="Calibri" pitchFamily="34" charset="0"/>
                <a:ea typeface="Calibri" pitchFamily="34" charset="-122"/>
                <a:cs typeface="Calibri" pitchFamily="34" charset="-120"/>
              </a:rPr>
              <a:t>Reads the real geometry</a:t>
            </a:r>
            <a:endParaRPr lang="en-US" sz="1300" dirty="0"/>
          </a:p>
        </p:txBody>
      </p:sp>
      <p:sp>
        <p:nvSpPr>
          <p:cNvPr id="16" name="Text 14"/>
          <p:cNvSpPr/>
          <p:nvPr/>
        </p:nvSpPr>
        <p:spPr>
          <a:xfrm>
            <a:off x="786384"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true geometry engine (OCCT / STL) measures volume, bounding box and surface area — measured ground truth, not a guess.</a:t>
            </a:r>
            <a:endParaRPr lang="en-US" sz="1000" dirty="0"/>
          </a:p>
        </p:txBody>
      </p:sp>
      <p:sp>
        <p:nvSpPr>
          <p:cNvPr id="17" name="Shape 15"/>
          <p:cNvSpPr/>
          <p:nvPr/>
        </p:nvSpPr>
        <p:spPr>
          <a:xfrm>
            <a:off x="3419856"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6.567026036879325e+78" dist="1.8762931533940924e+78" dir="5.484237660094465e+92">
              <a:srgbClr val="9DB0CC">
                <a:alpha val="2.2e+94"/>
              </a:srgbClr>
            </a:outerShdw>
          </a:effectLst>
        </p:spPr>
      </p:sp>
      <p:sp>
        <p:nvSpPr>
          <p:cNvPr id="18" name="Shape 16"/>
          <p:cNvSpPr/>
          <p:nvPr/>
        </p:nvSpPr>
        <p:spPr>
          <a:xfrm>
            <a:off x="3419856" y="2286000"/>
            <a:ext cx="82296" cy="2834640"/>
          </a:xfrm>
          <a:prstGeom prst="rect">
            <a:avLst/>
          </a:prstGeom>
          <a:solidFill>
            <a:srgbClr val="2563EB"/>
          </a:solidFill>
          <a:ln/>
        </p:spPr>
      </p:sp>
      <p:sp>
        <p:nvSpPr>
          <p:cNvPr id="19" name="Shape 17"/>
          <p:cNvSpPr/>
          <p:nvPr/>
        </p:nvSpPr>
        <p:spPr>
          <a:xfrm>
            <a:off x="4325112" y="2578608"/>
            <a:ext cx="731520" cy="731520"/>
          </a:xfrm>
          <a:prstGeom prst="ellipse">
            <a:avLst/>
          </a:prstGeom>
          <a:solidFill>
            <a:srgbClr val="EAF1FE"/>
          </a:solidFill>
          <a:ln/>
        </p:spPr>
      </p:sp>
      <p:sp>
        <p:nvSpPr>
          <p:cNvPr id="20" name="Text 18"/>
          <p:cNvSpPr/>
          <p:nvPr/>
        </p:nvSpPr>
        <p:spPr>
          <a:xfrm>
            <a:off x="4325112" y="2569464"/>
            <a:ext cx="731520" cy="731520"/>
          </a:xfrm>
          <a:prstGeom prst="rect">
            <a:avLst/>
          </a:prstGeom>
          <a:noFill/>
          <a:ln/>
        </p:spPr>
        <p:txBody>
          <a:bodyPr wrap="square" lIns="0" tIns="0" rIns="0" bIns="0" rtlCol="0" anchor="ctr"/>
          <a:lstStyle/>
          <a:p>
            <a:pPr algn="ctr" indent="0" marL="0">
              <a:buNone/>
            </a:pPr>
            <a:r>
              <a:rPr lang="en-US" sz="2500" b="1" dirty="0">
                <a:solidFill>
                  <a:srgbClr val="2563EB"/>
                </a:solidFill>
                <a:latin typeface="Calibri" pitchFamily="34" charset="0"/>
                <a:ea typeface="Calibri" pitchFamily="34" charset="-122"/>
                <a:cs typeface="Calibri" pitchFamily="34" charset="-120"/>
              </a:rPr>
              <a:t>◈</a:t>
            </a:r>
            <a:endParaRPr lang="en-US" sz="2500" dirty="0"/>
          </a:p>
        </p:txBody>
      </p:sp>
      <p:sp>
        <p:nvSpPr>
          <p:cNvPr id="21" name="Text 19"/>
          <p:cNvSpPr/>
          <p:nvPr/>
        </p:nvSpPr>
        <p:spPr>
          <a:xfrm>
            <a:off x="3639312"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2563EB"/>
                </a:solidFill>
                <a:latin typeface="Calibri" pitchFamily="34" charset="0"/>
                <a:ea typeface="Calibri" pitchFamily="34" charset="-122"/>
                <a:cs typeface="Calibri" pitchFamily="34" charset="-120"/>
              </a:rPr>
              <a:t>Recognises features</a:t>
            </a:r>
            <a:endParaRPr lang="en-US" sz="1300" dirty="0"/>
          </a:p>
        </p:txBody>
      </p:sp>
      <p:sp>
        <p:nvSpPr>
          <p:cNvPr id="22" name="Text 20"/>
          <p:cNvSpPr/>
          <p:nvPr/>
        </p:nvSpPr>
        <p:spPr>
          <a:xfrm>
            <a:off x="3657600"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Holes, pockets, slots, bends and faces are detected and turned into machining operations automatically.</a:t>
            </a:r>
            <a:endParaRPr lang="en-US" sz="1000" dirty="0"/>
          </a:p>
        </p:txBody>
      </p:sp>
      <p:sp>
        <p:nvSpPr>
          <p:cNvPr id="23" name="Shape 21"/>
          <p:cNvSpPr/>
          <p:nvPr/>
        </p:nvSpPr>
        <p:spPr>
          <a:xfrm>
            <a:off x="6291072"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8.340123066836742e+82" dist="2.3828923048104974e+82" dir="3.2905425960566786e+97">
              <a:srgbClr val="9DB0CC">
                <a:alpha val="2.2000000000000003e+99"/>
              </a:srgbClr>
            </a:outerShdw>
          </a:effectLst>
        </p:spPr>
      </p:sp>
      <p:sp>
        <p:nvSpPr>
          <p:cNvPr id="24" name="Shape 22"/>
          <p:cNvSpPr/>
          <p:nvPr/>
        </p:nvSpPr>
        <p:spPr>
          <a:xfrm>
            <a:off x="6291072" y="2286000"/>
            <a:ext cx="82296" cy="2834640"/>
          </a:xfrm>
          <a:prstGeom prst="rect">
            <a:avLst/>
          </a:prstGeom>
          <a:solidFill>
            <a:srgbClr val="7C3AED"/>
          </a:solidFill>
          <a:ln/>
        </p:spPr>
      </p:sp>
      <p:sp>
        <p:nvSpPr>
          <p:cNvPr id="25" name="Shape 23"/>
          <p:cNvSpPr/>
          <p:nvPr/>
        </p:nvSpPr>
        <p:spPr>
          <a:xfrm>
            <a:off x="7196328" y="2578608"/>
            <a:ext cx="731520" cy="731520"/>
          </a:xfrm>
          <a:prstGeom prst="ellipse">
            <a:avLst/>
          </a:prstGeom>
          <a:solidFill>
            <a:srgbClr val="F3EEFE"/>
          </a:solidFill>
          <a:ln/>
        </p:spPr>
      </p:sp>
      <p:sp>
        <p:nvSpPr>
          <p:cNvPr id="26" name="Text 24"/>
          <p:cNvSpPr/>
          <p:nvPr/>
        </p:nvSpPr>
        <p:spPr>
          <a:xfrm>
            <a:off x="7196328" y="2569464"/>
            <a:ext cx="731520" cy="731520"/>
          </a:xfrm>
          <a:prstGeom prst="rect">
            <a:avLst/>
          </a:prstGeom>
          <a:noFill/>
          <a:ln/>
        </p:spPr>
        <p:txBody>
          <a:bodyPr wrap="square" lIns="0" tIns="0" rIns="0" bIns="0" rtlCol="0" anchor="ctr"/>
          <a:lstStyle/>
          <a:p>
            <a:pPr algn="ctr" indent="0" marL="0">
              <a:buNone/>
            </a:pPr>
            <a:r>
              <a:rPr lang="en-US" sz="2500" b="1" dirty="0">
                <a:solidFill>
                  <a:srgbClr val="7C3AED"/>
                </a:solidFill>
                <a:latin typeface="Calibri" pitchFamily="34" charset="0"/>
                <a:ea typeface="Calibri" pitchFamily="34" charset="-122"/>
                <a:cs typeface="Calibri" pitchFamily="34" charset="-120"/>
              </a:rPr>
              <a:t>✦</a:t>
            </a:r>
            <a:endParaRPr lang="en-US" sz="2500" dirty="0"/>
          </a:p>
        </p:txBody>
      </p:sp>
      <p:sp>
        <p:nvSpPr>
          <p:cNvPr id="27" name="Text 25"/>
          <p:cNvSpPr/>
          <p:nvPr/>
        </p:nvSpPr>
        <p:spPr>
          <a:xfrm>
            <a:off x="6510528"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7C3AED"/>
                </a:solidFill>
                <a:latin typeface="Calibri" pitchFamily="34" charset="0"/>
                <a:ea typeface="Calibri" pitchFamily="34" charset="-122"/>
                <a:cs typeface="Calibri" pitchFamily="34" charset="-120"/>
              </a:rPr>
              <a:t>Suggests material &amp; process</a:t>
            </a:r>
            <a:endParaRPr lang="en-US" sz="1300" dirty="0"/>
          </a:p>
        </p:txBody>
      </p:sp>
      <p:sp>
        <p:nvSpPr>
          <p:cNvPr id="28" name="Text 26"/>
          <p:cNvSpPr/>
          <p:nvPr/>
        </p:nvSpPr>
        <p:spPr>
          <a:xfrm>
            <a:off x="6528816"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AI proposes the material family and process route with a confidence score — we stay in control.</a:t>
            </a:r>
            <a:endParaRPr lang="en-US" sz="1000" dirty="0"/>
          </a:p>
        </p:txBody>
      </p:sp>
      <p:sp>
        <p:nvSpPr>
          <p:cNvPr id="29" name="Shape 27"/>
          <p:cNvSpPr/>
          <p:nvPr/>
        </p:nvSpPr>
        <p:spPr>
          <a:xfrm>
            <a:off x="9162288" y="2286000"/>
            <a:ext cx="2542032" cy="2834640"/>
          </a:xfrm>
          <a:prstGeom prst="roundRect">
            <a:avLst>
              <a:gd name="adj" fmla="val 2518"/>
            </a:avLst>
          </a:prstGeom>
          <a:solidFill>
            <a:srgbClr val="FFFFFF"/>
          </a:solidFill>
          <a:ln w="12700">
            <a:solidFill>
              <a:srgbClr val="E4EAF2"/>
            </a:solidFill>
            <a:prstDash val="solid"/>
          </a:ln>
          <a:effectLst>
            <a:outerShdw sx="100000" sy="100000" kx="0" ky="0" algn="bl" rotWithShape="0" blurRad="1.0591956294882662e+87" dist="3.0262732271093317e+86" dir="1.9743255576340073e+102">
              <a:srgbClr val="9DB0CC">
                <a:alpha val="2.2000000000000003e+104"/>
              </a:srgbClr>
            </a:outerShdw>
          </a:effectLst>
        </p:spPr>
      </p:sp>
      <p:sp>
        <p:nvSpPr>
          <p:cNvPr id="30" name="Shape 28"/>
          <p:cNvSpPr/>
          <p:nvPr/>
        </p:nvSpPr>
        <p:spPr>
          <a:xfrm>
            <a:off x="9162288" y="2286000"/>
            <a:ext cx="82296" cy="2834640"/>
          </a:xfrm>
          <a:prstGeom prst="rect">
            <a:avLst/>
          </a:prstGeom>
          <a:solidFill>
            <a:srgbClr val="0EA472"/>
          </a:solidFill>
          <a:ln/>
        </p:spPr>
      </p:sp>
      <p:sp>
        <p:nvSpPr>
          <p:cNvPr id="31" name="Shape 29"/>
          <p:cNvSpPr/>
          <p:nvPr/>
        </p:nvSpPr>
        <p:spPr>
          <a:xfrm>
            <a:off x="10067544" y="2578608"/>
            <a:ext cx="731520" cy="731520"/>
          </a:xfrm>
          <a:prstGeom prst="ellipse">
            <a:avLst/>
          </a:prstGeom>
          <a:solidFill>
            <a:srgbClr val="E7F7F0"/>
          </a:solidFill>
          <a:ln/>
        </p:spPr>
      </p:sp>
      <p:sp>
        <p:nvSpPr>
          <p:cNvPr id="32" name="Text 30"/>
          <p:cNvSpPr/>
          <p:nvPr/>
        </p:nvSpPr>
        <p:spPr>
          <a:xfrm>
            <a:off x="10067544" y="2569464"/>
            <a:ext cx="731520" cy="731520"/>
          </a:xfrm>
          <a:prstGeom prst="rect">
            <a:avLst/>
          </a:prstGeom>
          <a:noFill/>
          <a:ln/>
        </p:spPr>
        <p:txBody>
          <a:bodyPr wrap="square" lIns="0" tIns="0" rIns="0" bIns="0" rtlCol="0" anchor="ctr"/>
          <a:lstStyle/>
          <a:p>
            <a:pPr algn="ctr" indent="0" marL="0">
              <a:buNone/>
            </a:pPr>
            <a:r>
              <a:rPr lang="en-US" sz="2500" b="1" dirty="0">
                <a:solidFill>
                  <a:srgbClr val="0EA472"/>
                </a:solidFill>
                <a:latin typeface="Calibri" pitchFamily="34" charset="0"/>
                <a:ea typeface="Calibri" pitchFamily="34" charset="-122"/>
                <a:cs typeface="Calibri" pitchFamily="34" charset="-120"/>
              </a:rPr>
              <a:t>◆</a:t>
            </a:r>
            <a:endParaRPr lang="en-US" sz="2500" dirty="0"/>
          </a:p>
        </p:txBody>
      </p:sp>
      <p:sp>
        <p:nvSpPr>
          <p:cNvPr id="33" name="Text 31"/>
          <p:cNvSpPr/>
          <p:nvPr/>
        </p:nvSpPr>
        <p:spPr>
          <a:xfrm>
            <a:off x="9381744" y="3493008"/>
            <a:ext cx="2130552" cy="548640"/>
          </a:xfrm>
          <a:prstGeom prst="rect">
            <a:avLst/>
          </a:prstGeom>
          <a:noFill/>
          <a:ln/>
        </p:spPr>
        <p:txBody>
          <a:bodyPr wrap="square" lIns="0" tIns="0" rIns="0" bIns="0" rtlCol="0" anchor="t"/>
          <a:lstStyle/>
          <a:p>
            <a:pPr algn="ctr" indent="0" marL="0">
              <a:lnSpc>
                <a:spcPct val="100000"/>
              </a:lnSpc>
              <a:buNone/>
            </a:pPr>
            <a:r>
              <a:rPr lang="en-US" sz="1300" b="1" dirty="0">
                <a:solidFill>
                  <a:srgbClr val="0EA472"/>
                </a:solidFill>
                <a:latin typeface="Calibri" pitchFamily="34" charset="0"/>
                <a:ea typeface="Calibri" pitchFamily="34" charset="-122"/>
                <a:cs typeface="Calibri" pitchFamily="34" charset="-120"/>
              </a:rPr>
              <a:t>Prices it — and explains</a:t>
            </a:r>
            <a:endParaRPr lang="en-US" sz="1300" dirty="0"/>
          </a:p>
        </p:txBody>
      </p:sp>
      <p:sp>
        <p:nvSpPr>
          <p:cNvPr id="34" name="Text 32"/>
          <p:cNvSpPr/>
          <p:nvPr/>
        </p:nvSpPr>
        <p:spPr>
          <a:xfrm>
            <a:off x="9400032" y="4114800"/>
            <a:ext cx="2084832" cy="91440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deterministic 8-bucket engine (material → margin) returns a full should-cost with a confidence band and DFM guidance.</a:t>
            </a:r>
            <a:endParaRPr lang="en-US" sz="1000" dirty="0"/>
          </a:p>
        </p:txBody>
      </p:sp>
      <p:sp>
        <p:nvSpPr>
          <p:cNvPr id="35" name="Shape 33"/>
          <p:cNvSpPr/>
          <p:nvPr/>
        </p:nvSpPr>
        <p:spPr>
          <a:xfrm>
            <a:off x="548640" y="5303520"/>
            <a:ext cx="11091672" cy="640080"/>
          </a:xfrm>
          <a:prstGeom prst="roundRect">
            <a:avLst>
              <a:gd name="adj" fmla="val 10000"/>
            </a:avLst>
          </a:prstGeom>
          <a:solidFill>
            <a:srgbClr val="FEF6E7"/>
          </a:solidFill>
          <a:ln w="12700">
            <a:solidFill>
              <a:srgbClr val="E4EAF2"/>
            </a:solidFill>
            <a:prstDash val="solid"/>
          </a:ln>
        </p:spPr>
      </p:sp>
      <p:sp>
        <p:nvSpPr>
          <p:cNvPr id="36" name="Shape 34"/>
          <p:cNvSpPr/>
          <p:nvPr/>
        </p:nvSpPr>
        <p:spPr>
          <a:xfrm>
            <a:off x="548640" y="5303520"/>
            <a:ext cx="82296" cy="640080"/>
          </a:xfrm>
          <a:prstGeom prst="rect">
            <a:avLst/>
          </a:prstGeom>
          <a:solidFill>
            <a:srgbClr val="E0900C"/>
          </a:solidFill>
          <a:ln/>
        </p:spPr>
      </p:sp>
      <p:sp>
        <p:nvSpPr>
          <p:cNvPr id="37" name="Text 35"/>
          <p:cNvSpPr/>
          <p:nvPr/>
        </p:nvSpPr>
        <p:spPr>
          <a:xfrm>
            <a:off x="914400" y="5303520"/>
            <a:ext cx="10332720" cy="640080"/>
          </a:xfrm>
          <a:prstGeom prst="rect">
            <a:avLst/>
          </a:prstGeom>
          <a:noFill/>
          <a:ln/>
        </p:spPr>
        <p:txBody>
          <a:bodyPr wrap="square" lIns="0" tIns="0" rIns="0" bIns="0" rtlCol="0" anchor="ctr"/>
          <a:lstStyle/>
          <a:p>
            <a:pPr indent="0" marL="0">
              <a:lnSpc>
                <a:spcPct val="110000"/>
              </a:lnSpc>
              <a:buNone/>
            </a:pPr>
            <a:r>
              <a:rPr lang="en-US" sz="1100" b="1" dirty="0">
                <a:solidFill>
                  <a:srgbClr val="E0900C"/>
                </a:solidFill>
                <a:latin typeface="Calibri" pitchFamily="34" charset="0"/>
                <a:ea typeface="Calibri" pitchFamily="34" charset="-122"/>
                <a:cs typeface="Calibri" pitchFamily="34" charset="-120"/>
              </a:rPr>
              <a:t>Add a 2D drawing to sharpen it:  </a:t>
            </a:r>
            <a:pPr indent="0" marL="0">
              <a:lnSpc>
                <a:spcPct val="110000"/>
              </a:lnSpc>
              <a:buNone/>
            </a:pPr>
            <a:r>
              <a:rPr lang="en-US" sz="1100" dirty="0">
                <a:solidFill>
                  <a:srgbClr val="3E4C63"/>
                </a:solidFill>
                <a:latin typeface="Calibri" pitchFamily="34" charset="0"/>
                <a:ea typeface="Calibri" pitchFamily="34" charset="-122"/>
                <a:cs typeface="Calibri" pitchFamily="34" charset="-120"/>
              </a:rPr>
              <a:t>attach the engineering-drawing PDF and the AI reads the tolerances &amp; GD&amp;T — tight tolerances pull in grinding/reaming and better surface finish, so the process route and the cost get more accurate. Formats: STEP · IGES · STL, plus an optional 2D drawing.</a:t>
            </a:r>
            <a:endParaRPr lang="en-US" sz="110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33</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workflow, end to end</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Shape 8"/>
          <p:cNvSpPr/>
          <p:nvPr/>
        </p:nvSpPr>
        <p:spPr>
          <a:xfrm>
            <a:off x="54864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3451784494500981e+91" dist="3.8433669984288512e+90" dir="1.1845953345804043e+107">
              <a:srgbClr val="9DB0CC">
                <a:alpha val="2.2000000000000003e+109"/>
              </a:srgbClr>
            </a:outerShdw>
          </a:effectLst>
        </p:spPr>
      </p:sp>
      <p:sp>
        <p:nvSpPr>
          <p:cNvPr id="11" name="Shape 9"/>
          <p:cNvSpPr/>
          <p:nvPr/>
        </p:nvSpPr>
        <p:spPr>
          <a:xfrm>
            <a:off x="548640" y="1783080"/>
            <a:ext cx="1463040" cy="82296"/>
          </a:xfrm>
          <a:prstGeom prst="rect">
            <a:avLst/>
          </a:prstGeom>
          <a:solidFill>
            <a:srgbClr val="2E90FA"/>
          </a:solidFill>
          <a:ln/>
        </p:spPr>
      </p:sp>
      <p:sp>
        <p:nvSpPr>
          <p:cNvPr id="12" name="Shape 10"/>
          <p:cNvSpPr/>
          <p:nvPr/>
        </p:nvSpPr>
        <p:spPr>
          <a:xfrm>
            <a:off x="1024128" y="1984248"/>
            <a:ext cx="512064" cy="512064"/>
          </a:xfrm>
          <a:prstGeom prst="ellipse">
            <a:avLst/>
          </a:prstGeom>
          <a:solidFill>
            <a:srgbClr val="F4F7FB"/>
          </a:solidFill>
          <a:ln/>
        </p:spPr>
      </p:sp>
      <p:sp>
        <p:nvSpPr>
          <p:cNvPr id="13" name="Text 11"/>
          <p:cNvSpPr/>
          <p:nvPr/>
        </p:nvSpPr>
        <p:spPr>
          <a:xfrm>
            <a:off x="1024128" y="1975104"/>
            <a:ext cx="512064" cy="512064"/>
          </a:xfrm>
          <a:prstGeom prst="rect">
            <a:avLst/>
          </a:prstGeom>
          <a:noFill/>
          <a:ln/>
        </p:spPr>
        <p:txBody>
          <a:bodyPr wrap="square" lIns="0" tIns="0" rIns="0" bIns="0" rtlCol="0" anchor="ctr"/>
          <a:lstStyle/>
          <a:p>
            <a:pPr algn="ctr" indent="0" marL="0">
              <a:buNone/>
            </a:pPr>
            <a:r>
              <a:rPr lang="en-US" sz="1800" b="1" dirty="0">
                <a:solidFill>
                  <a:srgbClr val="2E90FA"/>
                </a:solidFill>
                <a:latin typeface="Calibri" pitchFamily="34" charset="0"/>
                <a:ea typeface="Calibri" pitchFamily="34" charset="-122"/>
                <a:cs typeface="Calibri" pitchFamily="34" charset="-120"/>
              </a:rPr>
              <a:t>▲</a:t>
            </a:r>
            <a:endParaRPr lang="en-US" sz="1800" dirty="0"/>
          </a:p>
        </p:txBody>
      </p:sp>
      <p:sp>
        <p:nvSpPr>
          <p:cNvPr id="14" name="Text 12"/>
          <p:cNvSpPr/>
          <p:nvPr/>
        </p:nvSpPr>
        <p:spPr>
          <a:xfrm>
            <a:off x="64008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Upload</a:t>
            </a:r>
            <a:endParaRPr lang="en-US" sz="1200" dirty="0"/>
          </a:p>
        </p:txBody>
      </p:sp>
      <p:sp>
        <p:nvSpPr>
          <p:cNvPr id="15" name="Text 13"/>
          <p:cNvSpPr/>
          <p:nvPr/>
        </p:nvSpPr>
        <p:spPr>
          <a:xfrm>
            <a:off x="65836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3D model + optional 2D drawing</a:t>
            </a:r>
            <a:endParaRPr lang="en-US" sz="860" dirty="0"/>
          </a:p>
        </p:txBody>
      </p:sp>
      <p:sp>
        <p:nvSpPr>
          <p:cNvPr id="16" name="Shape 14"/>
          <p:cNvSpPr/>
          <p:nvPr/>
        </p:nvSpPr>
        <p:spPr>
          <a:xfrm>
            <a:off x="2016252" y="2583180"/>
            <a:ext cx="100584" cy="0"/>
          </a:xfrm>
          <a:prstGeom prst="line">
            <a:avLst/>
          </a:prstGeom>
          <a:noFill/>
          <a:ln w="22225">
            <a:solidFill>
              <a:srgbClr val="D4DEEC"/>
            </a:solidFill>
            <a:prstDash val="solid"/>
            <a:headEnd type="none"/>
            <a:tailEnd type="triangle"/>
          </a:ln>
        </p:spPr>
      </p:sp>
      <p:sp>
        <p:nvSpPr>
          <p:cNvPr id="17" name="Shape 15"/>
          <p:cNvSpPr/>
          <p:nvPr/>
        </p:nvSpPr>
        <p:spPr>
          <a:xfrm>
            <a:off x="213055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1.7083766308016246e+95" dist="4.8810760880046414e+94" dir="7.107572007482426e+111">
              <a:srgbClr val="9DB0CC">
                <a:alpha val="2.2000000000000003e+114"/>
              </a:srgbClr>
            </a:outerShdw>
          </a:effectLst>
        </p:spPr>
      </p:sp>
      <p:sp>
        <p:nvSpPr>
          <p:cNvPr id="18" name="Shape 16"/>
          <p:cNvSpPr/>
          <p:nvPr/>
        </p:nvSpPr>
        <p:spPr>
          <a:xfrm>
            <a:off x="2130552" y="1783080"/>
            <a:ext cx="1463040" cy="82296"/>
          </a:xfrm>
          <a:prstGeom prst="rect">
            <a:avLst/>
          </a:prstGeom>
          <a:solidFill>
            <a:srgbClr val="0DA5A0"/>
          </a:solidFill>
          <a:ln/>
        </p:spPr>
      </p:sp>
      <p:sp>
        <p:nvSpPr>
          <p:cNvPr id="19" name="Shape 17"/>
          <p:cNvSpPr/>
          <p:nvPr/>
        </p:nvSpPr>
        <p:spPr>
          <a:xfrm>
            <a:off x="2606040" y="1984248"/>
            <a:ext cx="512064" cy="512064"/>
          </a:xfrm>
          <a:prstGeom prst="ellipse">
            <a:avLst/>
          </a:prstGeom>
          <a:solidFill>
            <a:srgbClr val="E7F7F0"/>
          </a:solidFill>
          <a:ln/>
        </p:spPr>
      </p:sp>
      <p:sp>
        <p:nvSpPr>
          <p:cNvPr id="20" name="Text 18"/>
          <p:cNvSpPr/>
          <p:nvPr/>
        </p:nvSpPr>
        <p:spPr>
          <a:xfrm>
            <a:off x="2606040" y="197510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1" name="Text 19"/>
          <p:cNvSpPr/>
          <p:nvPr/>
        </p:nvSpPr>
        <p:spPr>
          <a:xfrm>
            <a:off x="222199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Geometry engine</a:t>
            </a:r>
            <a:endParaRPr lang="en-US" sz="1200" dirty="0"/>
          </a:p>
        </p:txBody>
      </p:sp>
      <p:sp>
        <p:nvSpPr>
          <p:cNvPr id="22" name="Text 20"/>
          <p:cNvSpPr/>
          <p:nvPr/>
        </p:nvSpPr>
        <p:spPr>
          <a:xfrm>
            <a:off x="224028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volume · bbox · surface · faces</a:t>
            </a:r>
            <a:endParaRPr lang="en-US" sz="860" dirty="0"/>
          </a:p>
        </p:txBody>
      </p:sp>
      <p:sp>
        <p:nvSpPr>
          <p:cNvPr id="23" name="Shape 21"/>
          <p:cNvSpPr/>
          <p:nvPr/>
        </p:nvSpPr>
        <p:spPr>
          <a:xfrm>
            <a:off x="3598164" y="2583180"/>
            <a:ext cx="100584" cy="0"/>
          </a:xfrm>
          <a:prstGeom prst="line">
            <a:avLst/>
          </a:prstGeom>
          <a:noFill/>
          <a:ln w="22225">
            <a:solidFill>
              <a:srgbClr val="D4DEEC"/>
            </a:solidFill>
            <a:prstDash val="solid"/>
            <a:headEnd type="none"/>
            <a:tailEnd type="triangle"/>
          </a:ln>
        </p:spPr>
      </p:sp>
      <p:sp>
        <p:nvSpPr>
          <p:cNvPr id="24" name="Shape 22"/>
          <p:cNvSpPr/>
          <p:nvPr/>
        </p:nvSpPr>
        <p:spPr>
          <a:xfrm>
            <a:off x="3712464"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1696383211180632e+99" dist="6.198966631765894e+98" dir="4.2645432044894554e+116">
              <a:srgbClr val="9DB0CC">
                <a:alpha val="2.2000000000000005e+119"/>
              </a:srgbClr>
            </a:outerShdw>
          </a:effectLst>
        </p:spPr>
      </p:sp>
      <p:sp>
        <p:nvSpPr>
          <p:cNvPr id="25" name="Shape 23"/>
          <p:cNvSpPr/>
          <p:nvPr/>
        </p:nvSpPr>
        <p:spPr>
          <a:xfrm>
            <a:off x="3712464" y="1783080"/>
            <a:ext cx="1463040" cy="82296"/>
          </a:xfrm>
          <a:prstGeom prst="rect">
            <a:avLst/>
          </a:prstGeom>
          <a:solidFill>
            <a:srgbClr val="2563EB"/>
          </a:solidFill>
          <a:ln/>
        </p:spPr>
      </p:sp>
      <p:sp>
        <p:nvSpPr>
          <p:cNvPr id="26" name="Shape 24"/>
          <p:cNvSpPr/>
          <p:nvPr/>
        </p:nvSpPr>
        <p:spPr>
          <a:xfrm>
            <a:off x="4187952" y="1984248"/>
            <a:ext cx="512064" cy="512064"/>
          </a:xfrm>
          <a:prstGeom prst="ellipse">
            <a:avLst/>
          </a:prstGeom>
          <a:solidFill>
            <a:srgbClr val="EAF1FE"/>
          </a:solidFill>
          <a:ln/>
        </p:spPr>
      </p:sp>
      <p:sp>
        <p:nvSpPr>
          <p:cNvPr id="27" name="Text 25"/>
          <p:cNvSpPr/>
          <p:nvPr/>
        </p:nvSpPr>
        <p:spPr>
          <a:xfrm>
            <a:off x="4187952" y="197510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28" name="Text 26"/>
          <p:cNvSpPr/>
          <p:nvPr/>
        </p:nvSpPr>
        <p:spPr>
          <a:xfrm>
            <a:off x="3803904"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Feature recognition</a:t>
            </a:r>
            <a:endParaRPr lang="en-US" sz="1200" dirty="0"/>
          </a:p>
        </p:txBody>
      </p:sp>
      <p:sp>
        <p:nvSpPr>
          <p:cNvPr id="29" name="Text 27"/>
          <p:cNvSpPr/>
          <p:nvPr/>
        </p:nvSpPr>
        <p:spPr>
          <a:xfrm>
            <a:off x="3822192"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holes · pockets · slots · bends</a:t>
            </a:r>
            <a:endParaRPr lang="en-US" sz="860" dirty="0"/>
          </a:p>
        </p:txBody>
      </p:sp>
      <p:sp>
        <p:nvSpPr>
          <p:cNvPr id="30" name="Shape 28"/>
          <p:cNvSpPr/>
          <p:nvPr/>
        </p:nvSpPr>
        <p:spPr>
          <a:xfrm>
            <a:off x="5180076" y="2583180"/>
            <a:ext cx="100584" cy="0"/>
          </a:xfrm>
          <a:prstGeom prst="line">
            <a:avLst/>
          </a:prstGeom>
          <a:noFill/>
          <a:ln w="22225">
            <a:solidFill>
              <a:srgbClr val="D4DEEC"/>
            </a:solidFill>
            <a:prstDash val="solid"/>
            <a:headEnd type="none"/>
            <a:tailEnd type="triangle"/>
          </a:ln>
        </p:spPr>
      </p:sp>
      <p:sp>
        <p:nvSpPr>
          <p:cNvPr id="31" name="Shape 29"/>
          <p:cNvSpPr/>
          <p:nvPr/>
        </p:nvSpPr>
        <p:spPr>
          <a:xfrm>
            <a:off x="5294376"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2.7554406678199403e+103" dist="7.872687622342685e+102" dir="2.5587259226936733e+121">
              <a:srgbClr val="9DB0CC">
                <a:alpha val="2.2000000000000006e+124"/>
              </a:srgbClr>
            </a:outerShdw>
          </a:effectLst>
        </p:spPr>
      </p:sp>
      <p:sp>
        <p:nvSpPr>
          <p:cNvPr id="32" name="Shape 30"/>
          <p:cNvSpPr/>
          <p:nvPr/>
        </p:nvSpPr>
        <p:spPr>
          <a:xfrm>
            <a:off x="5294376" y="1783080"/>
            <a:ext cx="1463040" cy="82296"/>
          </a:xfrm>
          <a:prstGeom prst="rect">
            <a:avLst/>
          </a:prstGeom>
          <a:solidFill>
            <a:srgbClr val="7C3AED"/>
          </a:solidFill>
          <a:ln/>
        </p:spPr>
      </p:sp>
      <p:sp>
        <p:nvSpPr>
          <p:cNvPr id="33" name="Shape 31"/>
          <p:cNvSpPr/>
          <p:nvPr/>
        </p:nvSpPr>
        <p:spPr>
          <a:xfrm>
            <a:off x="5769864" y="1984248"/>
            <a:ext cx="512064" cy="512064"/>
          </a:xfrm>
          <a:prstGeom prst="ellipse">
            <a:avLst/>
          </a:prstGeom>
          <a:solidFill>
            <a:srgbClr val="F3EEFE"/>
          </a:solidFill>
          <a:ln/>
        </p:spPr>
      </p:sp>
      <p:sp>
        <p:nvSpPr>
          <p:cNvPr id="34" name="Text 32"/>
          <p:cNvSpPr/>
          <p:nvPr/>
        </p:nvSpPr>
        <p:spPr>
          <a:xfrm>
            <a:off x="5769864" y="1975104"/>
            <a:ext cx="512064" cy="512064"/>
          </a:xfrm>
          <a:prstGeom prst="rect">
            <a:avLst/>
          </a:prstGeom>
          <a:noFill/>
          <a:ln/>
        </p:spPr>
        <p:txBody>
          <a:bodyPr wrap="square" lIns="0" tIns="0" rIns="0" bIns="0" rtlCol="0" anchor="ctr"/>
          <a:lstStyle/>
          <a:p>
            <a:pPr algn="ctr" indent="0" marL="0">
              <a:buNone/>
            </a:pPr>
            <a:r>
              <a:rPr lang="en-US" sz="1800" b="1" dirty="0">
                <a:solidFill>
                  <a:srgbClr val="7C3AED"/>
                </a:solidFill>
                <a:latin typeface="Calibri" pitchFamily="34" charset="0"/>
                <a:ea typeface="Calibri" pitchFamily="34" charset="-122"/>
                <a:cs typeface="Calibri" pitchFamily="34" charset="-120"/>
              </a:rPr>
              <a:t>✦</a:t>
            </a:r>
            <a:endParaRPr lang="en-US" sz="1800" dirty="0"/>
          </a:p>
        </p:txBody>
      </p:sp>
      <p:sp>
        <p:nvSpPr>
          <p:cNvPr id="35" name="Text 33"/>
          <p:cNvSpPr/>
          <p:nvPr/>
        </p:nvSpPr>
        <p:spPr>
          <a:xfrm>
            <a:off x="5385816"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AI analysis</a:t>
            </a:r>
            <a:endParaRPr lang="en-US" sz="1200" dirty="0"/>
          </a:p>
        </p:txBody>
      </p:sp>
      <p:sp>
        <p:nvSpPr>
          <p:cNvPr id="36" name="Text 34"/>
          <p:cNvSpPr/>
          <p:nvPr/>
        </p:nvSpPr>
        <p:spPr>
          <a:xfrm>
            <a:off x="5404104"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Haiku classifies · Sonnet analyses</a:t>
            </a:r>
            <a:endParaRPr lang="en-US" sz="860" dirty="0"/>
          </a:p>
        </p:txBody>
      </p:sp>
      <p:sp>
        <p:nvSpPr>
          <p:cNvPr id="37" name="Shape 35"/>
          <p:cNvSpPr/>
          <p:nvPr/>
        </p:nvSpPr>
        <p:spPr>
          <a:xfrm>
            <a:off x="6761988" y="2583180"/>
            <a:ext cx="100584" cy="0"/>
          </a:xfrm>
          <a:prstGeom prst="line">
            <a:avLst/>
          </a:prstGeom>
          <a:noFill/>
          <a:ln w="22225">
            <a:solidFill>
              <a:srgbClr val="D4DEEC"/>
            </a:solidFill>
            <a:prstDash val="solid"/>
            <a:headEnd type="none"/>
            <a:tailEnd type="triangle"/>
          </a:ln>
        </p:spPr>
      </p:sp>
      <p:sp>
        <p:nvSpPr>
          <p:cNvPr id="38" name="Shape 36"/>
          <p:cNvSpPr/>
          <p:nvPr/>
        </p:nvSpPr>
        <p:spPr>
          <a:xfrm>
            <a:off x="6876288"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3.499409648131324e+107" dist="9.998313280375211e+106" dir="1.535235553616204e+126">
              <a:srgbClr val="9DB0CC">
                <a:alpha val="2.2000000000000006e+129"/>
              </a:srgbClr>
            </a:outerShdw>
          </a:effectLst>
        </p:spPr>
      </p:sp>
      <p:sp>
        <p:nvSpPr>
          <p:cNvPr id="39" name="Shape 37"/>
          <p:cNvSpPr/>
          <p:nvPr/>
        </p:nvSpPr>
        <p:spPr>
          <a:xfrm>
            <a:off x="6876288" y="1783080"/>
            <a:ext cx="1463040" cy="82296"/>
          </a:xfrm>
          <a:prstGeom prst="rect">
            <a:avLst/>
          </a:prstGeom>
          <a:solidFill>
            <a:srgbClr val="0E93B0"/>
          </a:solidFill>
          <a:ln/>
        </p:spPr>
      </p:sp>
      <p:sp>
        <p:nvSpPr>
          <p:cNvPr id="40" name="Shape 38"/>
          <p:cNvSpPr/>
          <p:nvPr/>
        </p:nvSpPr>
        <p:spPr>
          <a:xfrm>
            <a:off x="7351776" y="1984248"/>
            <a:ext cx="512064" cy="512064"/>
          </a:xfrm>
          <a:prstGeom prst="ellipse">
            <a:avLst/>
          </a:prstGeom>
          <a:solidFill>
            <a:srgbClr val="E8F6FA"/>
          </a:solidFill>
          <a:ln/>
        </p:spPr>
      </p:sp>
      <p:sp>
        <p:nvSpPr>
          <p:cNvPr id="41" name="Text 39"/>
          <p:cNvSpPr/>
          <p:nvPr/>
        </p:nvSpPr>
        <p:spPr>
          <a:xfrm>
            <a:off x="7351776" y="197510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42" name="Text 40"/>
          <p:cNvSpPr/>
          <p:nvPr/>
        </p:nvSpPr>
        <p:spPr>
          <a:xfrm>
            <a:off x="6967728"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Costing engine</a:t>
            </a:r>
            <a:endParaRPr lang="en-US" sz="1200" dirty="0"/>
          </a:p>
        </p:txBody>
      </p:sp>
      <p:sp>
        <p:nvSpPr>
          <p:cNvPr id="43" name="Text 41"/>
          <p:cNvSpPr/>
          <p:nvPr/>
        </p:nvSpPr>
        <p:spPr>
          <a:xfrm>
            <a:off x="6986016"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stack + machining</a:t>
            </a:r>
            <a:endParaRPr lang="en-US" sz="860" dirty="0"/>
          </a:p>
        </p:txBody>
      </p:sp>
      <p:sp>
        <p:nvSpPr>
          <p:cNvPr id="44" name="Shape 42"/>
          <p:cNvSpPr/>
          <p:nvPr/>
        </p:nvSpPr>
        <p:spPr>
          <a:xfrm>
            <a:off x="8343900" y="2583180"/>
            <a:ext cx="100584" cy="0"/>
          </a:xfrm>
          <a:prstGeom prst="line">
            <a:avLst/>
          </a:prstGeom>
          <a:noFill/>
          <a:ln w="22225">
            <a:solidFill>
              <a:srgbClr val="D4DEEC"/>
            </a:solidFill>
            <a:prstDash val="solid"/>
            <a:headEnd type="none"/>
            <a:tailEnd type="triangle"/>
          </a:ln>
        </p:spPr>
      </p:sp>
      <p:sp>
        <p:nvSpPr>
          <p:cNvPr id="45" name="Shape 43"/>
          <p:cNvSpPr/>
          <p:nvPr/>
        </p:nvSpPr>
        <p:spPr>
          <a:xfrm>
            <a:off x="8458200"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4.4442502531267815e+111" dist="1.2697857866076517e+111" dir="9.211413321697224e+130">
              <a:srgbClr val="9DB0CC">
                <a:alpha val="2.2000000000000004e+134"/>
              </a:srgbClr>
            </a:outerShdw>
          </a:effectLst>
        </p:spPr>
      </p:sp>
      <p:sp>
        <p:nvSpPr>
          <p:cNvPr id="46" name="Shape 44"/>
          <p:cNvSpPr/>
          <p:nvPr/>
        </p:nvSpPr>
        <p:spPr>
          <a:xfrm>
            <a:off x="8458200" y="1783080"/>
            <a:ext cx="1463040" cy="82296"/>
          </a:xfrm>
          <a:prstGeom prst="rect">
            <a:avLst/>
          </a:prstGeom>
          <a:solidFill>
            <a:srgbClr val="E0900C"/>
          </a:solidFill>
          <a:ln/>
        </p:spPr>
      </p:sp>
      <p:sp>
        <p:nvSpPr>
          <p:cNvPr id="47" name="Shape 45"/>
          <p:cNvSpPr/>
          <p:nvPr/>
        </p:nvSpPr>
        <p:spPr>
          <a:xfrm>
            <a:off x="8933688" y="1984248"/>
            <a:ext cx="512064" cy="512064"/>
          </a:xfrm>
          <a:prstGeom prst="ellipse">
            <a:avLst/>
          </a:prstGeom>
          <a:solidFill>
            <a:srgbClr val="FEF6E7"/>
          </a:solidFill>
          <a:ln/>
        </p:spPr>
      </p:sp>
      <p:sp>
        <p:nvSpPr>
          <p:cNvPr id="48" name="Text 46"/>
          <p:cNvSpPr/>
          <p:nvPr/>
        </p:nvSpPr>
        <p:spPr>
          <a:xfrm>
            <a:off x="8933688" y="197510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49" name="Text 47"/>
          <p:cNvSpPr/>
          <p:nvPr/>
        </p:nvSpPr>
        <p:spPr>
          <a:xfrm>
            <a:off x="8549640"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Sanity check</a:t>
            </a:r>
            <a:endParaRPr lang="en-US" sz="1200" dirty="0"/>
          </a:p>
        </p:txBody>
      </p:sp>
      <p:sp>
        <p:nvSpPr>
          <p:cNvPr id="50" name="Text 48"/>
          <p:cNvSpPr/>
          <p:nvPr/>
        </p:nvSpPr>
        <p:spPr>
          <a:xfrm>
            <a:off x="8567928"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AI claims vs measured truth</a:t>
            </a:r>
            <a:endParaRPr lang="en-US" sz="860" dirty="0"/>
          </a:p>
        </p:txBody>
      </p:sp>
      <p:sp>
        <p:nvSpPr>
          <p:cNvPr id="51" name="Shape 49"/>
          <p:cNvSpPr/>
          <p:nvPr/>
        </p:nvSpPr>
        <p:spPr>
          <a:xfrm>
            <a:off x="9925812" y="2583180"/>
            <a:ext cx="100584" cy="0"/>
          </a:xfrm>
          <a:prstGeom prst="line">
            <a:avLst/>
          </a:prstGeom>
          <a:noFill/>
          <a:ln w="22225">
            <a:solidFill>
              <a:srgbClr val="D4DEEC"/>
            </a:solidFill>
            <a:prstDash val="solid"/>
            <a:headEnd type="none"/>
            <a:tailEnd type="triangle"/>
          </a:ln>
        </p:spPr>
      </p:sp>
      <p:sp>
        <p:nvSpPr>
          <p:cNvPr id="52" name="Shape 50"/>
          <p:cNvSpPr/>
          <p:nvPr/>
        </p:nvSpPr>
        <p:spPr>
          <a:xfrm>
            <a:off x="10040112" y="1783080"/>
            <a:ext cx="1463040" cy="1600200"/>
          </a:xfrm>
          <a:prstGeom prst="roundRect">
            <a:avLst>
              <a:gd name="adj" fmla="val 4375"/>
            </a:avLst>
          </a:prstGeom>
          <a:solidFill>
            <a:srgbClr val="FFFFFF"/>
          </a:solidFill>
          <a:ln w="12700">
            <a:solidFill>
              <a:srgbClr val="E4EAF2"/>
            </a:solidFill>
            <a:prstDash val="solid"/>
          </a:ln>
          <a:effectLst>
            <a:outerShdw sx="100000" sy="100000" kx="0" ky="0" algn="bl" rotWithShape="0" blurRad="5.644197821471012e+115" dist="1.6126279489917177e+115" dir="5.526847993018334e+135">
              <a:srgbClr val="9DB0CC">
                <a:alpha val="2.2000000000000005e+139"/>
              </a:srgbClr>
            </a:outerShdw>
          </a:effectLst>
        </p:spPr>
      </p:sp>
      <p:sp>
        <p:nvSpPr>
          <p:cNvPr id="53" name="Shape 51"/>
          <p:cNvSpPr/>
          <p:nvPr/>
        </p:nvSpPr>
        <p:spPr>
          <a:xfrm>
            <a:off x="10040112" y="1783080"/>
            <a:ext cx="1463040" cy="82296"/>
          </a:xfrm>
          <a:prstGeom prst="rect">
            <a:avLst/>
          </a:prstGeom>
          <a:solidFill>
            <a:srgbClr val="0EA472"/>
          </a:solidFill>
          <a:ln/>
        </p:spPr>
      </p:sp>
      <p:sp>
        <p:nvSpPr>
          <p:cNvPr id="54" name="Shape 52"/>
          <p:cNvSpPr/>
          <p:nvPr/>
        </p:nvSpPr>
        <p:spPr>
          <a:xfrm>
            <a:off x="10515600" y="1984248"/>
            <a:ext cx="512064" cy="512064"/>
          </a:xfrm>
          <a:prstGeom prst="ellipse">
            <a:avLst/>
          </a:prstGeom>
          <a:solidFill>
            <a:srgbClr val="E7F7F0"/>
          </a:solidFill>
          <a:ln/>
        </p:spPr>
      </p:sp>
      <p:sp>
        <p:nvSpPr>
          <p:cNvPr id="55" name="Text 53"/>
          <p:cNvSpPr/>
          <p:nvPr/>
        </p:nvSpPr>
        <p:spPr>
          <a:xfrm>
            <a:off x="10515600" y="197510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56" name="Text 54"/>
          <p:cNvSpPr/>
          <p:nvPr/>
        </p:nvSpPr>
        <p:spPr>
          <a:xfrm>
            <a:off x="10131552" y="2569464"/>
            <a:ext cx="1280160"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57" name="Text 55"/>
          <p:cNvSpPr/>
          <p:nvPr/>
        </p:nvSpPr>
        <p:spPr>
          <a:xfrm>
            <a:off x="10149840" y="2843784"/>
            <a:ext cx="1243584"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breakdown · band · provenance</a:t>
            </a:r>
            <a:endParaRPr lang="en-US" sz="860" dirty="0"/>
          </a:p>
        </p:txBody>
      </p:sp>
      <p:sp>
        <p:nvSpPr>
          <p:cNvPr id="58" name="Shape 56"/>
          <p:cNvSpPr/>
          <p:nvPr/>
        </p:nvSpPr>
        <p:spPr>
          <a:xfrm>
            <a:off x="548640" y="3657600"/>
            <a:ext cx="5074920" cy="457200"/>
          </a:xfrm>
          <a:prstGeom prst="roundRect">
            <a:avLst>
              <a:gd name="adj" fmla="val 20000"/>
            </a:avLst>
          </a:prstGeom>
          <a:solidFill>
            <a:srgbClr val="F3EEFE"/>
          </a:solidFill>
          <a:ln/>
        </p:spPr>
      </p:sp>
      <p:sp>
        <p:nvSpPr>
          <p:cNvPr id="59" name="Text 57"/>
          <p:cNvSpPr/>
          <p:nvPr/>
        </p:nvSpPr>
        <p:spPr>
          <a:xfrm>
            <a:off x="548640" y="3657600"/>
            <a:ext cx="5074920" cy="457200"/>
          </a:xfrm>
          <a:prstGeom prst="rect">
            <a:avLst/>
          </a:prstGeom>
          <a:noFill/>
          <a:ln/>
        </p:spPr>
        <p:txBody>
          <a:bodyPr wrap="square" lIns="0" tIns="0" rIns="0" bIns="0" rtlCol="0" anchor="ctr"/>
          <a:lstStyle/>
          <a:p>
            <a:pPr algn="ctr" indent="0" marL="0">
              <a:buNone/>
            </a:pPr>
            <a:r>
              <a:rPr lang="en-US" sz="1100" b="1" dirty="0">
                <a:solidFill>
                  <a:srgbClr val="7C3AED"/>
                </a:solidFill>
                <a:latin typeface="Calibri" pitchFamily="34" charset="0"/>
                <a:ea typeface="Calibri" pitchFamily="34" charset="-122"/>
                <a:cs typeface="Calibri" pitchFamily="34" charset="-120"/>
              </a:rPr>
              <a:t>✦  AI understands the model</a:t>
            </a:r>
            <a:endParaRPr lang="en-US" sz="1100" dirty="0"/>
          </a:p>
        </p:txBody>
      </p:sp>
      <p:sp>
        <p:nvSpPr>
          <p:cNvPr id="60" name="Shape 58"/>
          <p:cNvSpPr/>
          <p:nvPr/>
        </p:nvSpPr>
        <p:spPr>
          <a:xfrm>
            <a:off x="5943600" y="3657600"/>
            <a:ext cx="5696712" cy="457200"/>
          </a:xfrm>
          <a:prstGeom prst="roundRect">
            <a:avLst>
              <a:gd name="adj" fmla="val 20000"/>
            </a:avLst>
          </a:prstGeom>
          <a:solidFill>
            <a:srgbClr val="E7F7F0"/>
          </a:solidFill>
          <a:ln/>
        </p:spPr>
      </p:sp>
      <p:sp>
        <p:nvSpPr>
          <p:cNvPr id="61" name="Text 59"/>
          <p:cNvSpPr/>
          <p:nvPr/>
        </p:nvSpPr>
        <p:spPr>
          <a:xfrm>
            <a:off x="5943600" y="3657600"/>
            <a:ext cx="5696712" cy="457200"/>
          </a:xfrm>
          <a:prstGeom prst="rect">
            <a:avLst/>
          </a:prstGeom>
          <a:noFill/>
          <a:ln/>
        </p:spPr>
        <p:txBody>
          <a:bodyPr wrap="square" lIns="0" tIns="0" rIns="0" bIns="0" rtlCol="0" anchor="ctr"/>
          <a:lstStyle/>
          <a:p>
            <a:pPr algn="ctr" indent="0" marL="0">
              <a:buNone/>
            </a:pPr>
            <a:r>
              <a:rPr lang="en-US" sz="1100" b="1" dirty="0">
                <a:solidFill>
                  <a:srgbClr val="0EA472"/>
                </a:solidFill>
                <a:latin typeface="Calibri" pitchFamily="34" charset="0"/>
                <a:ea typeface="Calibri" pitchFamily="34" charset="-122"/>
                <a:cs typeface="Calibri" pitchFamily="34" charset="-120"/>
              </a:rPr>
              <a:t>⚙  Deterministic maths sets the price</a:t>
            </a:r>
            <a:endParaRPr lang="en-US" sz="1100" dirty="0"/>
          </a:p>
        </p:txBody>
      </p:sp>
      <p:sp>
        <p:nvSpPr>
          <p:cNvPr id="62" name="Shape 60"/>
          <p:cNvSpPr/>
          <p:nvPr/>
        </p:nvSpPr>
        <p:spPr>
          <a:xfrm>
            <a:off x="548640" y="4297680"/>
            <a:ext cx="11091672" cy="1051560"/>
          </a:xfrm>
          <a:prstGeom prst="roundRect">
            <a:avLst>
              <a:gd name="adj" fmla="val 6087"/>
            </a:avLst>
          </a:prstGeom>
          <a:solidFill>
            <a:srgbClr val="F4F7FB"/>
          </a:solidFill>
          <a:ln w="12700">
            <a:solidFill>
              <a:srgbClr val="E4EAF2"/>
            </a:solidFill>
            <a:prstDash val="solid"/>
          </a:ln>
        </p:spPr>
      </p:sp>
      <p:sp>
        <p:nvSpPr>
          <p:cNvPr id="63" name="Shape 61"/>
          <p:cNvSpPr/>
          <p:nvPr/>
        </p:nvSpPr>
        <p:spPr>
          <a:xfrm>
            <a:off x="548640" y="4297680"/>
            <a:ext cx="82296" cy="1051560"/>
          </a:xfrm>
          <a:prstGeom prst="rect">
            <a:avLst/>
          </a:prstGeom>
          <a:solidFill>
            <a:srgbClr val="0DA5A0"/>
          </a:solidFill>
          <a:ln/>
        </p:spPr>
      </p:sp>
      <p:sp>
        <p:nvSpPr>
          <p:cNvPr id="64" name="Text 62"/>
          <p:cNvSpPr/>
          <p:nvPr/>
        </p:nvSpPr>
        <p:spPr>
          <a:xfrm>
            <a:off x="914400" y="4434840"/>
            <a:ext cx="10378440" cy="86868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safety net is the sanity check.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Because the geometry engine gives us measured volume, weight and area, every AI-suggested number is cross-checked against physical reality before it reaches the cost. A hallucinated dimension or an impossible weight is flagged — not silently priced. That single step is why the output is defensible.</a:t>
            </a:r>
            <a:endParaRPr lang="en-US" sz="1200" dirty="0"/>
          </a:p>
        </p:txBody>
      </p:sp>
      <p:sp>
        <p:nvSpPr>
          <p:cNvPr id="65" name="Shape 63"/>
          <p:cNvSpPr/>
          <p:nvPr/>
        </p:nvSpPr>
        <p:spPr>
          <a:xfrm>
            <a:off x="548640" y="6400800"/>
            <a:ext cx="11094415" cy="12802"/>
          </a:xfrm>
          <a:prstGeom prst="rect">
            <a:avLst/>
          </a:prstGeom>
          <a:solidFill>
            <a:srgbClr val="E4EAF2"/>
          </a:solidFill>
          <a:ln/>
        </p:spPr>
      </p:sp>
      <p:sp>
        <p:nvSpPr>
          <p:cNvPr id="66" name="Text 6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7" name="Text 6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6 / 15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DEEP DIVE · CAD TO COST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the AI capabilities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Shape 8"/>
          <p:cNvSpPr/>
          <p:nvPr/>
        </p:nvSpPr>
        <p:spPr>
          <a:xfrm>
            <a:off x="548640"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7.168131233268186e+119" dist="2.0480374952194813e+119" dir="3.3161087958110005e+140">
              <a:srgbClr val="9DB0CC">
                <a:alpha val="2.2000000000000006e+144"/>
              </a:srgbClr>
            </a:outerShdw>
          </a:effectLst>
        </p:spPr>
      </p:sp>
      <p:sp>
        <p:nvSpPr>
          <p:cNvPr id="11" name="Shape 9"/>
          <p:cNvSpPr/>
          <p:nvPr/>
        </p:nvSpPr>
        <p:spPr>
          <a:xfrm>
            <a:off x="548640" y="1645920"/>
            <a:ext cx="82296" cy="1737360"/>
          </a:xfrm>
          <a:prstGeom prst="rect">
            <a:avLst/>
          </a:prstGeom>
          <a:solidFill>
            <a:srgbClr val="0DA5A0"/>
          </a:solidFill>
          <a:ln/>
        </p:spPr>
      </p:sp>
      <p:sp>
        <p:nvSpPr>
          <p:cNvPr id="12" name="Shape 10"/>
          <p:cNvSpPr/>
          <p:nvPr/>
        </p:nvSpPr>
        <p:spPr>
          <a:xfrm>
            <a:off x="786384" y="1865376"/>
            <a:ext cx="457200" cy="457200"/>
          </a:xfrm>
          <a:prstGeom prst="ellipse">
            <a:avLst/>
          </a:prstGeom>
          <a:solidFill>
            <a:srgbClr val="E7F7F0"/>
          </a:solidFill>
          <a:ln/>
        </p:spPr>
      </p:sp>
      <p:sp>
        <p:nvSpPr>
          <p:cNvPr id="13" name="Text 11"/>
          <p:cNvSpPr/>
          <p:nvPr/>
        </p:nvSpPr>
        <p:spPr>
          <a:xfrm>
            <a:off x="786384" y="185623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Interactive 3D CAD viewer</a:t>
            </a:r>
            <a:endParaRPr lang="en-US" sz="1250" dirty="0"/>
          </a:p>
        </p:txBody>
      </p:sp>
      <p:sp>
        <p:nvSpPr>
          <p:cNvPr id="15" name="Text 13"/>
          <p:cNvSpPr/>
          <p:nvPr/>
        </p:nvSpPr>
        <p:spPr>
          <a:xfrm>
            <a:off x="804672"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Rotate, section and measure the part in the browser — with on-model highlights that link geometry to cost.</a:t>
            </a:r>
            <a:endParaRPr lang="en-US" sz="1000" dirty="0"/>
          </a:p>
        </p:txBody>
      </p:sp>
      <p:sp>
        <p:nvSpPr>
          <p:cNvPr id="16" name="Shape 14"/>
          <p:cNvSpPr/>
          <p:nvPr/>
        </p:nvSpPr>
        <p:spPr>
          <a:xfrm>
            <a:off x="4325112"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9.103526666250596e+123" dist="2.6010076189287412e+123" dir="1.9896652774866004e+145">
              <a:srgbClr val="9DB0CC">
                <a:alpha val="2.2000000000000004e+149"/>
              </a:srgbClr>
            </a:outerShdw>
          </a:effectLst>
        </p:spPr>
      </p:sp>
      <p:sp>
        <p:nvSpPr>
          <p:cNvPr id="17" name="Shape 15"/>
          <p:cNvSpPr/>
          <p:nvPr/>
        </p:nvSpPr>
        <p:spPr>
          <a:xfrm>
            <a:off x="4325112" y="1645920"/>
            <a:ext cx="82296" cy="1737360"/>
          </a:xfrm>
          <a:prstGeom prst="rect">
            <a:avLst/>
          </a:prstGeom>
          <a:solidFill>
            <a:srgbClr val="2563EB"/>
          </a:solidFill>
          <a:ln/>
        </p:spPr>
      </p:sp>
      <p:sp>
        <p:nvSpPr>
          <p:cNvPr id="18" name="Shape 16"/>
          <p:cNvSpPr/>
          <p:nvPr/>
        </p:nvSpPr>
        <p:spPr>
          <a:xfrm>
            <a:off x="4562856" y="1865376"/>
            <a:ext cx="457200" cy="457200"/>
          </a:xfrm>
          <a:prstGeom prst="ellipse">
            <a:avLst/>
          </a:prstGeom>
          <a:solidFill>
            <a:srgbClr val="EAF1FE"/>
          </a:solidFill>
          <a:ln/>
        </p:spPr>
      </p:sp>
      <p:sp>
        <p:nvSpPr>
          <p:cNvPr id="19" name="Text 17"/>
          <p:cNvSpPr/>
          <p:nvPr/>
        </p:nvSpPr>
        <p:spPr>
          <a:xfrm>
            <a:off x="4562856" y="185623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5111496"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B-rep face intelligence</a:t>
            </a:r>
            <a:endParaRPr lang="en-US" sz="1250" dirty="0"/>
          </a:p>
        </p:txBody>
      </p:sp>
      <p:sp>
        <p:nvSpPr>
          <p:cNvPr id="21" name="Text 19"/>
          <p:cNvSpPr/>
          <p:nvPr/>
        </p:nvSpPr>
        <p:spPr>
          <a:xfrm>
            <a:off x="4581144"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Understands the boundary representation — faces, edges and their relationships — not just a triangle soup.</a:t>
            </a:r>
            <a:endParaRPr lang="en-US" sz="1000" dirty="0"/>
          </a:p>
        </p:txBody>
      </p:sp>
      <p:sp>
        <p:nvSpPr>
          <p:cNvPr id="22" name="Shape 20"/>
          <p:cNvSpPr/>
          <p:nvPr/>
        </p:nvSpPr>
        <p:spPr>
          <a:xfrm>
            <a:off x="8101584" y="1645920"/>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1561478866138256e+128" dist="3.303279676039501e+127" dir="1.1937991664919603e+150">
              <a:srgbClr val="9DB0CC">
                <a:alpha val="2.2000000000000004e+154"/>
              </a:srgbClr>
            </a:outerShdw>
          </a:effectLst>
        </p:spPr>
      </p:sp>
      <p:sp>
        <p:nvSpPr>
          <p:cNvPr id="23" name="Shape 21"/>
          <p:cNvSpPr/>
          <p:nvPr/>
        </p:nvSpPr>
        <p:spPr>
          <a:xfrm>
            <a:off x="8101584" y="1645920"/>
            <a:ext cx="82296" cy="1737360"/>
          </a:xfrm>
          <a:prstGeom prst="rect">
            <a:avLst/>
          </a:prstGeom>
          <a:solidFill>
            <a:srgbClr val="7C3AED"/>
          </a:solidFill>
          <a:ln/>
        </p:spPr>
      </p:sp>
      <p:sp>
        <p:nvSpPr>
          <p:cNvPr id="24" name="Shape 22"/>
          <p:cNvSpPr/>
          <p:nvPr/>
        </p:nvSpPr>
        <p:spPr>
          <a:xfrm>
            <a:off x="8339328" y="1865376"/>
            <a:ext cx="457200" cy="457200"/>
          </a:xfrm>
          <a:prstGeom prst="ellipse">
            <a:avLst/>
          </a:prstGeom>
          <a:solidFill>
            <a:srgbClr val="F3EEFE"/>
          </a:solidFill>
          <a:ln/>
        </p:spPr>
      </p:sp>
      <p:sp>
        <p:nvSpPr>
          <p:cNvPr id="25" name="Text 23"/>
          <p:cNvSpPr/>
          <p:nvPr/>
        </p:nvSpPr>
        <p:spPr>
          <a:xfrm>
            <a:off x="8339328" y="185623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8887968" y="1901952"/>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Geometry feature table</a:t>
            </a:r>
            <a:endParaRPr lang="en-US" sz="1250" dirty="0"/>
          </a:p>
        </p:txBody>
      </p:sp>
      <p:sp>
        <p:nvSpPr>
          <p:cNvPr id="27" name="Text 25"/>
          <p:cNvSpPr/>
          <p:nvPr/>
        </p:nvSpPr>
        <p:spPr>
          <a:xfrm>
            <a:off x="8357616" y="2487168"/>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detected feature (hole depths, pockets, slots) listed and auto-fed into the costing as real operations.</a:t>
            </a:r>
            <a:endParaRPr lang="en-US" sz="1000" dirty="0"/>
          </a:p>
        </p:txBody>
      </p:sp>
      <p:sp>
        <p:nvSpPr>
          <p:cNvPr id="28" name="Shape 26"/>
          <p:cNvSpPr/>
          <p:nvPr/>
        </p:nvSpPr>
        <p:spPr>
          <a:xfrm>
            <a:off x="548640"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4683078159995586e+132" dist="4.195165188570166e+131" dir="7.162794998951762e+154">
              <a:srgbClr val="9DB0CC">
                <a:alpha val="2.2000000000000003e+159"/>
              </a:srgbClr>
            </a:outerShdw>
          </a:effectLst>
        </p:spPr>
      </p:sp>
      <p:sp>
        <p:nvSpPr>
          <p:cNvPr id="29" name="Shape 27"/>
          <p:cNvSpPr/>
          <p:nvPr/>
        </p:nvSpPr>
        <p:spPr>
          <a:xfrm>
            <a:off x="548640" y="3602736"/>
            <a:ext cx="82296" cy="1737360"/>
          </a:xfrm>
          <a:prstGeom prst="rect">
            <a:avLst/>
          </a:prstGeom>
          <a:solidFill>
            <a:srgbClr val="0E93B0"/>
          </a:solidFill>
          <a:ln/>
        </p:spPr>
      </p:sp>
      <p:sp>
        <p:nvSpPr>
          <p:cNvPr id="30" name="Shape 28"/>
          <p:cNvSpPr/>
          <p:nvPr/>
        </p:nvSpPr>
        <p:spPr>
          <a:xfrm>
            <a:off x="786384" y="3822192"/>
            <a:ext cx="457200" cy="457200"/>
          </a:xfrm>
          <a:prstGeom prst="ellipse">
            <a:avLst/>
          </a:prstGeom>
          <a:solidFill>
            <a:srgbClr val="E8F6FA"/>
          </a:solidFill>
          <a:ln/>
        </p:spPr>
      </p:sp>
      <p:sp>
        <p:nvSpPr>
          <p:cNvPr id="31" name="Text 29"/>
          <p:cNvSpPr/>
          <p:nvPr/>
        </p:nvSpPr>
        <p:spPr>
          <a:xfrm>
            <a:off x="786384" y="3813048"/>
            <a:ext cx="457200" cy="457200"/>
          </a:xfrm>
          <a:prstGeom prst="rect">
            <a:avLst/>
          </a:prstGeom>
          <a:noFill/>
          <a:ln/>
        </p:spPr>
        <p:txBody>
          <a:bodyPr wrap="square" lIns="0" tIns="0" rIns="0" bIns="0" rtlCol="0" anchor="ctr"/>
          <a:lstStyle/>
          <a:p>
            <a:pPr algn="ctr" indent="0" marL="0">
              <a:buNone/>
            </a:pPr>
            <a:r>
              <a:rPr lang="en-US" sz="1700" b="1" dirty="0">
                <a:solidFill>
                  <a:srgbClr val="0E93B0"/>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1335024"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Feature-based machining</a:t>
            </a:r>
            <a:endParaRPr lang="en-US" sz="1250" dirty="0"/>
          </a:p>
        </p:txBody>
      </p:sp>
      <p:sp>
        <p:nvSpPr>
          <p:cNvPr id="33" name="Text 31"/>
          <p:cNvSpPr/>
          <p:nvPr/>
        </p:nvSpPr>
        <p:spPr>
          <a:xfrm>
            <a:off x="804672"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Secondary operations are costed per feature and per commodity — facing, drilling, pockets, bends.</a:t>
            </a:r>
            <a:endParaRPr lang="en-US" sz="1000" dirty="0"/>
          </a:p>
        </p:txBody>
      </p:sp>
      <p:sp>
        <p:nvSpPr>
          <p:cNvPr id="34" name="Shape 32"/>
          <p:cNvSpPr/>
          <p:nvPr/>
        </p:nvSpPr>
        <p:spPr>
          <a:xfrm>
            <a:off x="4325112"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1.8647509263194394e+136" dist="5.327859789484111e+135" dir="4.297676999371057e+159">
              <a:srgbClr val="9DB0CC">
                <a:alpha val="2.2000000000000003e+164"/>
              </a:srgbClr>
            </a:outerShdw>
          </a:effectLst>
        </p:spPr>
      </p:sp>
      <p:sp>
        <p:nvSpPr>
          <p:cNvPr id="35" name="Shape 33"/>
          <p:cNvSpPr/>
          <p:nvPr/>
        </p:nvSpPr>
        <p:spPr>
          <a:xfrm>
            <a:off x="4325112" y="3602736"/>
            <a:ext cx="82296" cy="1737360"/>
          </a:xfrm>
          <a:prstGeom prst="rect">
            <a:avLst/>
          </a:prstGeom>
          <a:solidFill>
            <a:srgbClr val="E0900C"/>
          </a:solidFill>
          <a:ln/>
        </p:spPr>
      </p:sp>
      <p:sp>
        <p:nvSpPr>
          <p:cNvPr id="36" name="Shape 34"/>
          <p:cNvSpPr/>
          <p:nvPr/>
        </p:nvSpPr>
        <p:spPr>
          <a:xfrm>
            <a:off x="4562856" y="3822192"/>
            <a:ext cx="457200" cy="457200"/>
          </a:xfrm>
          <a:prstGeom prst="ellipse">
            <a:avLst/>
          </a:prstGeom>
          <a:solidFill>
            <a:srgbClr val="FEF6E7"/>
          </a:solidFill>
          <a:ln/>
        </p:spPr>
      </p:sp>
      <p:sp>
        <p:nvSpPr>
          <p:cNvPr id="37" name="Text 35"/>
          <p:cNvSpPr/>
          <p:nvPr/>
        </p:nvSpPr>
        <p:spPr>
          <a:xfrm>
            <a:off x="4562856" y="3813048"/>
            <a:ext cx="457200" cy="457200"/>
          </a:xfrm>
          <a:prstGeom prst="rect">
            <a:avLst/>
          </a:prstGeom>
          <a:noFill/>
          <a:ln/>
        </p:spPr>
        <p:txBody>
          <a:bodyPr wrap="square" lIns="0" tIns="0" rIns="0" bIns="0" rtlCol="0" anchor="ctr"/>
          <a:lstStyle/>
          <a:p>
            <a:pPr algn="ctr" indent="0" marL="0">
              <a:buNone/>
            </a:pPr>
            <a:r>
              <a:rPr lang="en-US" sz="1700" b="1" dirty="0">
                <a:solidFill>
                  <a:srgbClr val="E0900C"/>
                </a:solidFill>
                <a:latin typeface="Calibri" pitchFamily="34" charset="0"/>
                <a:ea typeface="Calibri" pitchFamily="34" charset="-122"/>
                <a:cs typeface="Calibri" pitchFamily="34" charset="-120"/>
              </a:rPr>
              <a:t>✦</a:t>
            </a:r>
            <a:endParaRPr lang="en-US" sz="1700" dirty="0"/>
          </a:p>
        </p:txBody>
      </p:sp>
      <p:sp>
        <p:nvSpPr>
          <p:cNvPr id="38" name="Text 36"/>
          <p:cNvSpPr/>
          <p:nvPr/>
        </p:nvSpPr>
        <p:spPr>
          <a:xfrm>
            <a:off x="5111496"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AI material &amp; process advice</a:t>
            </a:r>
            <a:endParaRPr lang="en-US" sz="1250" dirty="0"/>
          </a:p>
        </p:txBody>
      </p:sp>
      <p:sp>
        <p:nvSpPr>
          <p:cNvPr id="39" name="Text 37"/>
          <p:cNvSpPr/>
          <p:nvPr/>
        </p:nvSpPr>
        <p:spPr>
          <a:xfrm>
            <a:off x="4581144"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Suggested material family and process route, each with an explicit confidence score we can accept or override.</a:t>
            </a:r>
            <a:endParaRPr lang="en-US" sz="1000" dirty="0"/>
          </a:p>
        </p:txBody>
      </p:sp>
      <p:sp>
        <p:nvSpPr>
          <p:cNvPr id="40" name="Shape 38"/>
          <p:cNvSpPr/>
          <p:nvPr/>
        </p:nvSpPr>
        <p:spPr>
          <a:xfrm>
            <a:off x="8101584" y="3602736"/>
            <a:ext cx="3520440" cy="1737360"/>
          </a:xfrm>
          <a:prstGeom prst="roundRect">
            <a:avLst>
              <a:gd name="adj" fmla="val 3684"/>
            </a:avLst>
          </a:prstGeom>
          <a:solidFill>
            <a:srgbClr val="FFFFFF"/>
          </a:solidFill>
          <a:ln w="12700">
            <a:solidFill>
              <a:srgbClr val="E4EAF2"/>
            </a:solidFill>
            <a:prstDash val="solid"/>
          </a:ln>
          <a:effectLst>
            <a:outerShdw sx="100000" sy="100000" kx="0" ky="0" algn="bl" rotWithShape="0" blurRad="2.368233676425688e+140" dist="6.766381932644821e+139" dir="2.5786061996226343e+164">
              <a:srgbClr val="9DB0CC">
                <a:alpha val="2.2000000000000004e+169"/>
              </a:srgbClr>
            </a:outerShdw>
          </a:effectLst>
        </p:spPr>
      </p:sp>
      <p:sp>
        <p:nvSpPr>
          <p:cNvPr id="41" name="Shape 39"/>
          <p:cNvSpPr/>
          <p:nvPr/>
        </p:nvSpPr>
        <p:spPr>
          <a:xfrm>
            <a:off x="8101584" y="3602736"/>
            <a:ext cx="82296" cy="1737360"/>
          </a:xfrm>
          <a:prstGeom prst="rect">
            <a:avLst/>
          </a:prstGeom>
          <a:solidFill>
            <a:srgbClr val="0EA472"/>
          </a:solidFill>
          <a:ln/>
        </p:spPr>
      </p:sp>
      <p:sp>
        <p:nvSpPr>
          <p:cNvPr id="42" name="Shape 40"/>
          <p:cNvSpPr/>
          <p:nvPr/>
        </p:nvSpPr>
        <p:spPr>
          <a:xfrm>
            <a:off x="8339328" y="3822192"/>
            <a:ext cx="457200" cy="457200"/>
          </a:xfrm>
          <a:prstGeom prst="ellipse">
            <a:avLst/>
          </a:prstGeom>
          <a:solidFill>
            <a:srgbClr val="E7F7F0"/>
          </a:solidFill>
          <a:ln/>
        </p:spPr>
      </p:sp>
      <p:sp>
        <p:nvSpPr>
          <p:cNvPr id="43" name="Text 41"/>
          <p:cNvSpPr/>
          <p:nvPr/>
        </p:nvSpPr>
        <p:spPr>
          <a:xfrm>
            <a:off x="8339328" y="3813048"/>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44" name="Text 42"/>
          <p:cNvSpPr/>
          <p:nvPr/>
        </p:nvSpPr>
        <p:spPr>
          <a:xfrm>
            <a:off x="8887968" y="3858768"/>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DFM &amp; manufacturability</a:t>
            </a:r>
            <a:endParaRPr lang="en-US" sz="1250" dirty="0"/>
          </a:p>
        </p:txBody>
      </p:sp>
      <p:sp>
        <p:nvSpPr>
          <p:cNvPr id="45" name="Text 43"/>
          <p:cNvSpPr/>
          <p:nvPr/>
        </p:nvSpPr>
        <p:spPr>
          <a:xfrm>
            <a:off x="8357616" y="4443984"/>
            <a:ext cx="3063240" cy="822960"/>
          </a:xfrm>
          <a:prstGeom prst="rect">
            <a:avLst/>
          </a:prstGeom>
          <a:noFill/>
          <a:ln/>
        </p:spPr>
        <p:txBody>
          <a:bodyPr wrap="square" lIns="0" tIns="0" rIns="0" bIns="0" rtlCol="0" anchor="t"/>
          <a:lstStyle/>
          <a:p>
            <a:pPr indent="0" marL="0">
              <a:lnSpc>
                <a:spcPct val="114000"/>
              </a:lnSpc>
              <a:buNone/>
            </a:pPr>
            <a:r>
              <a:rPr lang="en-US" sz="1000" dirty="0">
                <a:solidFill>
                  <a:srgbClr val="3E4C63"/>
                </a:solidFill>
                <a:latin typeface="Calibri" pitchFamily="34" charset="0"/>
                <a:ea typeface="Calibri" pitchFamily="34" charset="-122"/>
                <a:cs typeface="Calibri" pitchFamily="34" charset="-120"/>
              </a:rPr>
              <a:t>A manufacturability score plus design-for-manufacture flags that point at what is driving the cost.</a:t>
            </a:r>
            <a:endParaRPr lang="en-US" sz="1000" dirty="0"/>
          </a:p>
        </p:txBody>
      </p:sp>
      <p:sp>
        <p:nvSpPr>
          <p:cNvPr id="46" name="Shape 44"/>
          <p:cNvSpPr/>
          <p:nvPr/>
        </p:nvSpPr>
        <p:spPr>
          <a:xfrm>
            <a:off x="548640" y="5623560"/>
            <a:ext cx="11091672" cy="457200"/>
          </a:xfrm>
          <a:prstGeom prst="roundRect">
            <a:avLst>
              <a:gd name="adj" fmla="val 14000"/>
            </a:avLst>
          </a:prstGeom>
          <a:solidFill>
            <a:srgbClr val="F4F7FB"/>
          </a:solidFill>
          <a:ln w="12700">
            <a:solidFill>
              <a:srgbClr val="E4EAF2"/>
            </a:solidFill>
            <a:prstDash val="solid"/>
          </a:ln>
        </p:spPr>
      </p:sp>
      <p:sp>
        <p:nvSpPr>
          <p:cNvPr id="47" name="Text 45"/>
          <p:cNvSpPr/>
          <p:nvPr/>
        </p:nvSpPr>
        <p:spPr>
          <a:xfrm>
            <a:off x="868680" y="5623560"/>
            <a:ext cx="10424160" cy="457200"/>
          </a:xfrm>
          <a:prstGeom prst="rect">
            <a:avLst/>
          </a:prstGeom>
          <a:noFill/>
          <a:ln/>
        </p:spPr>
        <p:txBody>
          <a:bodyPr wrap="square" lIns="0" tIns="0" rIns="0" bIns="0" rtlCol="0" anchor="ctr"/>
          <a:lstStyle/>
          <a:p>
            <a:pPr indent="0" marL="0">
              <a:buNone/>
            </a:pPr>
            <a:r>
              <a:rPr lang="en-US" sz="1100" b="1" i="1" dirty="0">
                <a:solidFill>
                  <a:srgbClr val="0F1E3D"/>
                </a:solidFill>
                <a:latin typeface="Calibri" pitchFamily="34" charset="0"/>
                <a:ea typeface="Calibri" pitchFamily="34" charset="-122"/>
                <a:cs typeface="Calibri" pitchFamily="34" charset="-120"/>
              </a:rPr>
              <a:t>Model tiers:  </a:t>
            </a:r>
            <a:pPr indent="0" marL="0">
              <a:buNone/>
            </a:pPr>
            <a:r>
              <a:rPr lang="en-US" sz="1100" i="1" dirty="0">
                <a:solidFill>
                  <a:srgbClr val="3E4C63"/>
                </a:solidFill>
                <a:latin typeface="Calibri" pitchFamily="34" charset="0"/>
                <a:ea typeface="Calibri" pitchFamily="34" charset="-122"/>
                <a:cs typeface="Calibri" pitchFamily="34" charset="-120"/>
              </a:rPr>
              <a:t>Haiku classifies the commodity · Sonnet 5 runs the specialist analysis · Opus 4.8 on the "deep analysis" toggle for the hardest parts.</a:t>
            </a:r>
            <a:endParaRPr lang="en-US" sz="1100" dirty="0"/>
          </a:p>
        </p:txBody>
      </p:sp>
      <p:sp>
        <p:nvSpPr>
          <p:cNvPr id="48" name="Shape 46"/>
          <p:cNvSpPr/>
          <p:nvPr/>
        </p:nvSpPr>
        <p:spPr>
          <a:xfrm>
            <a:off x="548640" y="6400800"/>
            <a:ext cx="11094415" cy="12802"/>
          </a:xfrm>
          <a:prstGeom prst="rect">
            <a:avLst/>
          </a:prstGeom>
          <a:solidFill>
            <a:srgbClr val="E4EAF2"/>
          </a:solidFill>
          <a:ln/>
        </p:spPr>
      </p:sp>
      <p:sp>
        <p:nvSpPr>
          <p:cNvPr id="49" name="Text 4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0" name="Text 4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33</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CAD TO COST · ACCURACY</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CAD → Cost — how we make it accurate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Accuracy is engineered in layers — measured truth, deterministic maths, and a check on every AI claim before it can touch the price.</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Measured ground truth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and area — the AI is checked against physics, not trusted blindly.</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Bounded sanity checks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Volume drift over 25% is flagged and over 50% rejected; weight is cross-checked against measured density — hallucinations never reach the cost.</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Deterministic 8-bucket engine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No AI in the money maths — it reproduces a hand-calculated £23.27 benchmark part to within 0.01%, and returns the same cost every run.</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number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figure traces to its source — geometry, rate table or AI suggestion — with a High/Medium/Low confidence, defensible line by line.</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Confidence, not false precision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Every estimate carries a low–mid–high band and a manufacturability score, never a fake single number.</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 on real parts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Demonstrated end-to-end on real automotive parts — from a Tata Altroz bumper to premium-SUV components — through the live system.</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Why it earns trust</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can suggest — it can never quietly decide the number.</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Because the geometry is measured and the maths is deterministic, a wrong guess gets caught and flagged, not baked into a quote. That is the difference between a demo and a number we can put in front of a supplier.</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33</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pcb-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E93B0"/>
          </a:solidFill>
          <a:ln/>
        </p:spPr>
      </p:sp>
      <p:sp>
        <p:nvSpPr>
          <p:cNvPr id="7" name="Shape 4"/>
          <p:cNvSpPr/>
          <p:nvPr/>
        </p:nvSpPr>
        <p:spPr>
          <a:xfrm>
            <a:off x="0" y="6729984"/>
            <a:ext cx="12191695" cy="128016"/>
          </a:xfrm>
          <a:prstGeom prst="rect">
            <a:avLst/>
          </a:prstGeom>
          <a:solidFill>
            <a:srgbClr val="0E93B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E93B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ONE MORE INPUT · ELECTRONICS</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PCB photo → BOM</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13 / 33</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ONE MORE INPUT · ELECTRONICS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PCB photo → BOM → should-cost</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The same idea for electronics: photograph a circuit board and get a costed, flagged bill of materials in ~60 seconds.</a:t>
            </a:r>
            <a:endParaRPr lang="en-US" sz="1250" dirty="0"/>
          </a:p>
        </p:txBody>
      </p:sp>
      <p:sp>
        <p:nvSpPr>
          <p:cNvPr id="11" name="Shape 9"/>
          <p:cNvSpPr/>
          <p:nvPr/>
        </p:nvSpPr>
        <p:spPr>
          <a:xfrm>
            <a:off x="548640" y="2011680"/>
            <a:ext cx="5623560" cy="3200400"/>
          </a:xfrm>
          <a:prstGeom prst="roundRect">
            <a:avLst>
              <a:gd name="adj" fmla="val 2000"/>
            </a:avLst>
          </a:prstGeom>
          <a:solidFill>
            <a:srgbClr val="FFFFFF"/>
          </a:solidFill>
          <a:ln w="12700">
            <a:solidFill>
              <a:srgbClr val="E4EAF2"/>
            </a:solidFill>
            <a:prstDash val="solid"/>
          </a:ln>
          <a:effectLst>
            <a:outerShdw sx="100000" sy="100000" kx="0" ky="0" algn="bl" rotWithShape="0" blurRad="3.0076567690606238e+144" dist="8.593305054458923e+143" dir="1.5471637197735807e+169">
              <a:srgbClr val="9DB0CC">
                <a:alpha val="2.2e+174"/>
              </a:srgbClr>
            </a:outerShdw>
          </a:effectLst>
        </p:spPr>
      </p:sp>
      <p:graphicFrame>
        <p:nvGraphicFramePr>
          <p:cNvPr id="12" name="Chart 0" descr=""/>
          <p:cNvGraphicFramePr/>
          <p:nvPr/>
        </p:nvGraphicFramePr>
        <p:xfrm>
          <a:off x="731520" y="2194560"/>
          <a:ext cx="5257800" cy="2788920"/>
        </p:xfrm>
        <a:graphic xmlns:a="http://schemas.openxmlformats.org/drawingml/2006/main">
          <a:graphicData uri="http://schemas.openxmlformats.org/drawingml/2006/chart">
            <c:chart xmlns:c="http://schemas.openxmlformats.org/drawingml/2006/chart" r:id="rId1"/>
          </a:graphicData>
        </a:graphic>
      </p:graphicFrame>
      <p:sp>
        <p:nvSpPr>
          <p:cNvPr id="13" name="Text 10"/>
          <p:cNvSpPr/>
          <p:nvPr/>
        </p:nvSpPr>
        <p:spPr>
          <a:xfrm>
            <a:off x="731520" y="5230368"/>
            <a:ext cx="5577840" cy="320040"/>
          </a:xfrm>
          <a:prstGeom prst="rect">
            <a:avLst/>
          </a:prstGeom>
          <a:noFill/>
          <a:ln/>
        </p:spPr>
        <p:txBody>
          <a:bodyPr wrap="square" lIns="0" tIns="0" rIns="0" bIns="0" rtlCol="0" anchor="t"/>
          <a:lstStyle/>
          <a:p>
            <a:pPr indent="0" marL="0">
              <a:buNone/>
            </a:pPr>
            <a:r>
              <a:rPr lang="en-US" sz="900" i="1" dirty="0">
                <a:solidFill>
                  <a:srgbClr val="8A97A8"/>
                </a:solidFill>
                <a:latin typeface="Calibri" pitchFamily="34" charset="0"/>
                <a:ea typeface="Calibri" pitchFamily="34" charset="-122"/>
                <a:cs typeface="Calibri" pitchFamily="34" charset="-120"/>
              </a:rPr>
              <a:t>Real automotive ECU, China @ 10k/yr — AI within ~5% of a half-day manual estimate, in ~60 s.</a:t>
            </a:r>
            <a:endParaRPr lang="en-US" sz="900" dirty="0"/>
          </a:p>
        </p:txBody>
      </p:sp>
      <p:sp>
        <p:nvSpPr>
          <p:cNvPr id="14" name="Shape 11"/>
          <p:cNvSpPr/>
          <p:nvPr/>
        </p:nvSpPr>
        <p:spPr>
          <a:xfrm>
            <a:off x="6355080" y="2011680"/>
            <a:ext cx="5287975" cy="3200400"/>
          </a:xfrm>
          <a:prstGeom prst="roundRect">
            <a:avLst>
              <a:gd name="adj" fmla="val 2000"/>
            </a:avLst>
          </a:prstGeom>
          <a:solidFill>
            <a:srgbClr val="EAF1FE"/>
          </a:solidFill>
          <a:ln w="12700">
            <a:solidFill>
              <a:srgbClr val="E4EAF2"/>
            </a:solidFill>
            <a:prstDash val="solid"/>
          </a:ln>
        </p:spPr>
      </p:sp>
      <p:sp>
        <p:nvSpPr>
          <p:cNvPr id="15" name="Text 12"/>
          <p:cNvSpPr/>
          <p:nvPr/>
        </p:nvSpPr>
        <p:spPr>
          <a:xfrm>
            <a:off x="6629400" y="2176272"/>
            <a:ext cx="4830775" cy="320040"/>
          </a:xfrm>
          <a:prstGeom prst="rect">
            <a:avLst/>
          </a:prstGeom>
          <a:noFill/>
          <a:ln/>
        </p:spPr>
        <p:txBody>
          <a:bodyPr wrap="square" lIns="0" tIns="0" rIns="0" bIns="0" rtlCol="0" anchor="t"/>
          <a:lstStyle/>
          <a:p>
            <a:pPr indent="0" marL="0">
              <a:buNone/>
            </a:pPr>
            <a:r>
              <a:rPr lang="en-US" sz="1350" b="1" dirty="0">
                <a:solidFill>
                  <a:srgbClr val="0F1E3D"/>
                </a:solidFill>
                <a:latin typeface="Calibri" pitchFamily="34" charset="0"/>
                <a:ea typeface="Calibri" pitchFamily="34" charset="-122"/>
                <a:cs typeface="Calibri" pitchFamily="34" charset="-120"/>
              </a:rPr>
              <a:t>What it delivers</a:t>
            </a:r>
            <a:endParaRPr lang="en-US" sz="1350" dirty="0"/>
          </a:p>
        </p:txBody>
      </p:sp>
      <p:sp>
        <p:nvSpPr>
          <p:cNvPr id="16" name="Shape 13"/>
          <p:cNvSpPr/>
          <p:nvPr/>
        </p:nvSpPr>
        <p:spPr>
          <a:xfrm>
            <a:off x="6611112" y="2578608"/>
            <a:ext cx="274320" cy="274320"/>
          </a:xfrm>
          <a:prstGeom prst="ellipse">
            <a:avLst/>
          </a:prstGeom>
          <a:solidFill>
            <a:srgbClr val="E8F6FA"/>
          </a:solidFill>
          <a:ln/>
        </p:spPr>
      </p:sp>
      <p:sp>
        <p:nvSpPr>
          <p:cNvPr id="17" name="Text 14"/>
          <p:cNvSpPr/>
          <p:nvPr/>
        </p:nvSpPr>
        <p:spPr>
          <a:xfrm>
            <a:off x="6611112" y="2569464"/>
            <a:ext cx="274320" cy="274320"/>
          </a:xfrm>
          <a:prstGeom prst="rect">
            <a:avLst/>
          </a:prstGeom>
          <a:noFill/>
          <a:ln/>
        </p:spPr>
        <p:txBody>
          <a:bodyPr wrap="square" lIns="0" tIns="0" rIns="0" bIns="0" rtlCol="0" anchor="ctr"/>
          <a:lstStyle/>
          <a:p>
            <a:pPr algn="ctr" indent="0" marL="0">
              <a:buNone/>
            </a:pPr>
            <a:r>
              <a:rPr lang="en-US" sz="1000" b="1" dirty="0">
                <a:solidFill>
                  <a:srgbClr val="0E93B0"/>
                </a:solidFill>
                <a:latin typeface="Calibri" pitchFamily="34" charset="0"/>
                <a:ea typeface="Calibri" pitchFamily="34" charset="-122"/>
                <a:cs typeface="Calibri" pitchFamily="34" charset="-120"/>
              </a:rPr>
              <a:t>✓</a:t>
            </a:r>
            <a:endParaRPr lang="en-US" sz="1000" dirty="0"/>
          </a:p>
        </p:txBody>
      </p:sp>
      <p:sp>
        <p:nvSpPr>
          <p:cNvPr id="18" name="Text 15"/>
          <p:cNvSpPr/>
          <p:nvPr/>
        </p:nvSpPr>
        <p:spPr>
          <a:xfrm>
            <a:off x="6976872" y="2560320"/>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Full BOM from a photo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every component identified, OCR of IC markings</a:t>
            </a:r>
            <a:endParaRPr lang="en-US" sz="1030" dirty="0"/>
          </a:p>
        </p:txBody>
      </p:sp>
      <p:sp>
        <p:nvSpPr>
          <p:cNvPr id="19" name="Shape 16"/>
          <p:cNvSpPr/>
          <p:nvPr/>
        </p:nvSpPr>
        <p:spPr>
          <a:xfrm>
            <a:off x="6611112" y="3090672"/>
            <a:ext cx="274320" cy="274320"/>
          </a:xfrm>
          <a:prstGeom prst="ellipse">
            <a:avLst/>
          </a:prstGeom>
          <a:solidFill>
            <a:srgbClr val="E7F7F0"/>
          </a:solidFill>
          <a:ln/>
        </p:spPr>
      </p:sp>
      <p:sp>
        <p:nvSpPr>
          <p:cNvPr id="20" name="Text 17"/>
          <p:cNvSpPr/>
          <p:nvPr/>
        </p:nvSpPr>
        <p:spPr>
          <a:xfrm>
            <a:off x="6611112" y="3081528"/>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21" name="Text 18"/>
          <p:cNvSpPr/>
          <p:nvPr/>
        </p:nvSpPr>
        <p:spPr>
          <a:xfrm>
            <a:off x="6976872" y="3072384"/>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Confirmed vs to-verify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headline splits the £ we can trust from the £ to firm up</a:t>
            </a:r>
            <a:endParaRPr lang="en-US" sz="1030" dirty="0"/>
          </a:p>
        </p:txBody>
      </p:sp>
      <p:sp>
        <p:nvSpPr>
          <p:cNvPr id="22" name="Shape 19"/>
          <p:cNvSpPr/>
          <p:nvPr/>
        </p:nvSpPr>
        <p:spPr>
          <a:xfrm>
            <a:off x="6611112" y="3602736"/>
            <a:ext cx="274320" cy="274320"/>
          </a:xfrm>
          <a:prstGeom prst="ellipse">
            <a:avLst/>
          </a:prstGeom>
          <a:solidFill>
            <a:srgbClr val="F3EEFE"/>
          </a:solidFill>
          <a:ln/>
        </p:spPr>
      </p:sp>
      <p:sp>
        <p:nvSpPr>
          <p:cNvPr id="23" name="Text 20"/>
          <p:cNvSpPr/>
          <p:nvPr/>
        </p:nvSpPr>
        <p:spPr>
          <a:xfrm>
            <a:off x="6611112" y="3593592"/>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24" name="Text 21"/>
          <p:cNvSpPr/>
          <p:nvPr/>
        </p:nvSpPr>
        <p:spPr>
          <a:xfrm>
            <a:off x="6976872" y="3584448"/>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Guardrails on misreads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a mis-read part is capped &amp; flagged, never left to dominate</a:t>
            </a:r>
            <a:endParaRPr lang="en-US" sz="1030" dirty="0"/>
          </a:p>
        </p:txBody>
      </p:sp>
      <p:sp>
        <p:nvSpPr>
          <p:cNvPr id="25" name="Shape 22"/>
          <p:cNvSpPr/>
          <p:nvPr/>
        </p:nvSpPr>
        <p:spPr>
          <a:xfrm>
            <a:off x="6611112" y="4114800"/>
            <a:ext cx="274320" cy="274320"/>
          </a:xfrm>
          <a:prstGeom prst="ellipse">
            <a:avLst/>
          </a:prstGeom>
          <a:solidFill>
            <a:srgbClr val="EAF1FE"/>
          </a:solidFill>
          <a:ln/>
        </p:spPr>
      </p:sp>
      <p:sp>
        <p:nvSpPr>
          <p:cNvPr id="26" name="Text 23"/>
          <p:cNvSpPr/>
          <p:nvPr/>
        </p:nvSpPr>
        <p:spPr>
          <a:xfrm>
            <a:off x="6611112" y="4105656"/>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27" name="Text 24"/>
          <p:cNvSpPr/>
          <p:nvPr/>
        </p:nvSpPr>
        <p:spPr>
          <a:xfrm>
            <a:off x="6976872" y="4096512"/>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Regional should-cost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fab + assembly + BOM priced across regions</a:t>
            </a:r>
            <a:endParaRPr lang="en-US" sz="1030" dirty="0"/>
          </a:p>
        </p:txBody>
      </p:sp>
      <p:sp>
        <p:nvSpPr>
          <p:cNvPr id="28" name="Shape 25"/>
          <p:cNvSpPr/>
          <p:nvPr/>
        </p:nvSpPr>
        <p:spPr>
          <a:xfrm>
            <a:off x="6611112" y="4626864"/>
            <a:ext cx="274320" cy="274320"/>
          </a:xfrm>
          <a:prstGeom prst="ellipse">
            <a:avLst/>
          </a:prstGeom>
          <a:solidFill>
            <a:srgbClr val="FEF6E7"/>
          </a:solidFill>
          <a:ln/>
        </p:spPr>
      </p:sp>
      <p:sp>
        <p:nvSpPr>
          <p:cNvPr id="29" name="Text 26"/>
          <p:cNvSpPr/>
          <p:nvPr/>
        </p:nvSpPr>
        <p:spPr>
          <a:xfrm>
            <a:off x="6611112" y="4617720"/>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0" name="Text 27"/>
          <p:cNvSpPr/>
          <p:nvPr/>
        </p:nvSpPr>
        <p:spPr>
          <a:xfrm>
            <a:off x="6976872" y="4608576"/>
            <a:ext cx="4373575" cy="502920"/>
          </a:xfrm>
          <a:prstGeom prst="rect">
            <a:avLst/>
          </a:prstGeom>
          <a:noFill/>
          <a:ln/>
        </p:spPr>
        <p:txBody>
          <a:bodyPr wrap="square" lIns="0" tIns="0" rIns="0" bIns="0" rtlCol="0" anchor="t"/>
          <a:lstStyle/>
          <a:p>
            <a:pPr indent="0" marL="0">
              <a:lnSpc>
                <a:spcPct val="102000"/>
              </a:lnSpc>
              <a:buNone/>
            </a:pPr>
            <a:r>
              <a:rPr lang="en-US" sz="1030" b="1" dirty="0">
                <a:solidFill>
                  <a:srgbClr val="0F1E3D"/>
                </a:solidFill>
                <a:latin typeface="Calibri" pitchFamily="34" charset="0"/>
                <a:ea typeface="Calibri" pitchFamily="34" charset="-122"/>
                <a:cs typeface="Calibri" pitchFamily="34" charset="-120"/>
              </a:rPr>
              <a:t>ASIL &amp; compliance aware — </a:t>
            </a:r>
            <a:pPr indent="0" marL="0">
              <a:lnSpc>
                <a:spcPct val="102000"/>
              </a:lnSpc>
              <a:buNone/>
            </a:pPr>
            <a:r>
              <a:rPr lang="en-US" sz="1030" dirty="0">
                <a:solidFill>
                  <a:srgbClr val="3E4C63"/>
                </a:solidFill>
                <a:latin typeface="Calibri" pitchFamily="34" charset="0"/>
                <a:ea typeface="Calibri" pitchFamily="34" charset="-122"/>
                <a:cs typeface="Calibri" pitchFamily="34" charset="-120"/>
              </a:rPr>
              <a:t>ISO 26262 safety class inferred automatically</a:t>
            </a:r>
            <a:endParaRPr lang="en-US" sz="1030" dirty="0"/>
          </a:p>
        </p:txBody>
      </p:sp>
      <p:sp>
        <p:nvSpPr>
          <p:cNvPr id="31" name="Shape 28"/>
          <p:cNvSpPr/>
          <p:nvPr/>
        </p:nvSpPr>
        <p:spPr>
          <a:xfrm>
            <a:off x="548640" y="5394960"/>
            <a:ext cx="11091672" cy="640080"/>
          </a:xfrm>
          <a:prstGeom prst="roundRect">
            <a:avLst>
              <a:gd name="adj" fmla="val 10000"/>
            </a:avLst>
          </a:prstGeom>
          <a:solidFill>
            <a:srgbClr val="E7F7F0"/>
          </a:solidFill>
          <a:ln w="12700">
            <a:solidFill>
              <a:srgbClr val="E4EAF2"/>
            </a:solidFill>
            <a:prstDash val="solid"/>
          </a:ln>
        </p:spPr>
      </p:sp>
      <p:sp>
        <p:nvSpPr>
          <p:cNvPr id="32" name="Text 29"/>
          <p:cNvSpPr/>
          <p:nvPr/>
        </p:nvSpPr>
        <p:spPr>
          <a:xfrm>
            <a:off x="914400" y="5394960"/>
            <a:ext cx="10332720" cy="640080"/>
          </a:xfrm>
          <a:prstGeom prst="rect">
            <a:avLst/>
          </a:prstGeom>
          <a:noFill/>
          <a:ln/>
        </p:spPr>
        <p:txBody>
          <a:bodyPr wrap="square" lIns="0" tIns="0" rIns="0" bIns="0" rtlCol="0" anchor="ctr"/>
          <a:lstStyle/>
          <a:p>
            <a:pPr indent="0" marL="0">
              <a:lnSpc>
                <a:spcPct val="108000"/>
              </a:lnSpc>
              <a:buNone/>
            </a:pPr>
            <a:r>
              <a:rPr lang="en-US" sz="1150" b="1" dirty="0">
                <a:solidFill>
                  <a:srgbClr val="0EA472"/>
                </a:solidFill>
                <a:latin typeface="Calibri" pitchFamily="34" charset="0"/>
                <a:ea typeface="Calibri" pitchFamily="34" charset="-122"/>
                <a:cs typeface="Calibri" pitchFamily="34" charset="-120"/>
              </a:rPr>
              <a:t>Verified live: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that ECU came back ASIL-B, 23 BOM lines, £69.11/board — within ~5% of a manual estimate, in ~60 seconds. A full deep-dive deck exists for this feature.</a:t>
            </a:r>
            <a:endParaRPr lang="en-US" sz="1150" dirty="0"/>
          </a:p>
        </p:txBody>
      </p:sp>
      <p:sp>
        <p:nvSpPr>
          <p:cNvPr id="33" name="Shape 30"/>
          <p:cNvSpPr/>
          <p:nvPr/>
        </p:nvSpPr>
        <p:spPr>
          <a:xfrm>
            <a:off x="548640" y="6400800"/>
            <a:ext cx="11094415" cy="12802"/>
          </a:xfrm>
          <a:prstGeom prst="rect">
            <a:avLst/>
          </a:prstGeom>
          <a:solidFill>
            <a:srgbClr val="E4EAF2"/>
          </a:solidFill>
          <a:ln/>
        </p:spPr>
      </p:sp>
      <p:sp>
        <p:nvSpPr>
          <p:cNvPr id="34" name="Text 3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5" name="Text 3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7 / 15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BREADTH</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Estimate anything — 19 commodity engines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Purpose-built, bottom-up models for the whole part portfolio — not one generic formula stretched over everything.</a:t>
            </a:r>
            <a:endParaRPr lang="en-US" sz="1250" dirty="0"/>
          </a:p>
        </p:txBody>
      </p:sp>
      <p:sp>
        <p:nvSpPr>
          <p:cNvPr id="11" name="Shape 9"/>
          <p:cNvSpPr/>
          <p:nvPr/>
        </p:nvSpPr>
        <p:spPr>
          <a:xfrm>
            <a:off x="548640" y="1874520"/>
            <a:ext cx="3520440" cy="502920"/>
          </a:xfrm>
          <a:prstGeom prst="roundRect">
            <a:avLst>
              <a:gd name="adj" fmla="val 14545"/>
            </a:avLst>
          </a:prstGeom>
          <a:solidFill>
            <a:srgbClr val="EAF1FE"/>
          </a:solidFill>
          <a:ln w="9525">
            <a:solidFill>
              <a:srgbClr val="E4EAF2"/>
            </a:solidFill>
            <a:prstDash val="solid"/>
          </a:ln>
        </p:spPr>
      </p:sp>
      <p:sp>
        <p:nvSpPr>
          <p:cNvPr id="12" name="Shape 10"/>
          <p:cNvSpPr/>
          <p:nvPr/>
        </p:nvSpPr>
        <p:spPr>
          <a:xfrm>
            <a:off x="768096" y="2066544"/>
            <a:ext cx="128016" cy="128016"/>
          </a:xfrm>
          <a:prstGeom prst="ellipse">
            <a:avLst/>
          </a:prstGeom>
          <a:solidFill>
            <a:srgbClr val="2563EB"/>
          </a:solidFill>
          <a:ln/>
        </p:spPr>
      </p:sp>
      <p:sp>
        <p:nvSpPr>
          <p:cNvPr id="13" name="Text 11"/>
          <p:cNvSpPr/>
          <p:nvPr/>
        </p:nvSpPr>
        <p:spPr>
          <a:xfrm>
            <a:off x="1005840"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Casting — sand / gravity / investment</a:t>
            </a:r>
            <a:endParaRPr lang="en-US" sz="1050" dirty="0"/>
          </a:p>
        </p:txBody>
      </p:sp>
      <p:sp>
        <p:nvSpPr>
          <p:cNvPr id="14" name="Shape 12"/>
          <p:cNvSpPr/>
          <p:nvPr/>
        </p:nvSpPr>
        <p:spPr>
          <a:xfrm>
            <a:off x="4325112" y="1874520"/>
            <a:ext cx="3520440" cy="502920"/>
          </a:xfrm>
          <a:prstGeom prst="roundRect">
            <a:avLst>
              <a:gd name="adj" fmla="val 14545"/>
            </a:avLst>
          </a:prstGeom>
          <a:solidFill>
            <a:srgbClr val="E8F6FA"/>
          </a:solidFill>
          <a:ln w="9525">
            <a:solidFill>
              <a:srgbClr val="E4EAF2"/>
            </a:solidFill>
            <a:prstDash val="solid"/>
          </a:ln>
        </p:spPr>
      </p:sp>
      <p:sp>
        <p:nvSpPr>
          <p:cNvPr id="15" name="Shape 13"/>
          <p:cNvSpPr/>
          <p:nvPr/>
        </p:nvSpPr>
        <p:spPr>
          <a:xfrm>
            <a:off x="4544568" y="2066544"/>
            <a:ext cx="128016" cy="128016"/>
          </a:xfrm>
          <a:prstGeom prst="ellipse">
            <a:avLst/>
          </a:prstGeom>
          <a:solidFill>
            <a:srgbClr val="0E93B0"/>
          </a:solidFill>
          <a:ln/>
        </p:spPr>
      </p:sp>
      <p:sp>
        <p:nvSpPr>
          <p:cNvPr id="16" name="Text 14"/>
          <p:cNvSpPr/>
          <p:nvPr/>
        </p:nvSpPr>
        <p:spPr>
          <a:xfrm>
            <a:off x="4782312"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HPDC die-casting</a:t>
            </a:r>
            <a:endParaRPr lang="en-US" sz="1050" dirty="0"/>
          </a:p>
        </p:txBody>
      </p:sp>
      <p:sp>
        <p:nvSpPr>
          <p:cNvPr id="17" name="Shape 15"/>
          <p:cNvSpPr/>
          <p:nvPr/>
        </p:nvSpPr>
        <p:spPr>
          <a:xfrm>
            <a:off x="8101584" y="1874520"/>
            <a:ext cx="3520440" cy="502920"/>
          </a:xfrm>
          <a:prstGeom prst="roundRect">
            <a:avLst>
              <a:gd name="adj" fmla="val 14545"/>
            </a:avLst>
          </a:prstGeom>
          <a:solidFill>
            <a:srgbClr val="E7F7F0"/>
          </a:solidFill>
          <a:ln w="9525">
            <a:solidFill>
              <a:srgbClr val="E4EAF2"/>
            </a:solidFill>
            <a:prstDash val="solid"/>
          </a:ln>
        </p:spPr>
      </p:sp>
      <p:sp>
        <p:nvSpPr>
          <p:cNvPr id="18" name="Shape 16"/>
          <p:cNvSpPr/>
          <p:nvPr/>
        </p:nvSpPr>
        <p:spPr>
          <a:xfrm>
            <a:off x="8321040" y="2066544"/>
            <a:ext cx="128016" cy="128016"/>
          </a:xfrm>
          <a:prstGeom prst="ellipse">
            <a:avLst/>
          </a:prstGeom>
          <a:solidFill>
            <a:srgbClr val="0DA5A0"/>
          </a:solidFill>
          <a:ln/>
        </p:spPr>
      </p:sp>
      <p:sp>
        <p:nvSpPr>
          <p:cNvPr id="19" name="Text 17"/>
          <p:cNvSpPr/>
          <p:nvPr/>
        </p:nvSpPr>
        <p:spPr>
          <a:xfrm>
            <a:off x="8558784" y="18745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CNC machining</a:t>
            </a:r>
            <a:endParaRPr lang="en-US" sz="1050" dirty="0"/>
          </a:p>
        </p:txBody>
      </p:sp>
      <p:sp>
        <p:nvSpPr>
          <p:cNvPr id="20" name="Shape 18"/>
          <p:cNvSpPr/>
          <p:nvPr/>
        </p:nvSpPr>
        <p:spPr>
          <a:xfrm>
            <a:off x="4325112" y="2423160"/>
            <a:ext cx="3520440" cy="502920"/>
          </a:xfrm>
          <a:prstGeom prst="roundRect">
            <a:avLst>
              <a:gd name="adj" fmla="val 14545"/>
            </a:avLst>
          </a:prstGeom>
          <a:solidFill>
            <a:srgbClr val="EAF1FE"/>
          </a:solidFill>
          <a:ln w="9525">
            <a:solidFill>
              <a:srgbClr val="E4EAF2"/>
            </a:solidFill>
            <a:prstDash val="solid"/>
          </a:ln>
        </p:spPr>
      </p:sp>
      <p:sp>
        <p:nvSpPr>
          <p:cNvPr id="21" name="Shape 19"/>
          <p:cNvSpPr/>
          <p:nvPr/>
        </p:nvSpPr>
        <p:spPr>
          <a:xfrm>
            <a:off x="4544568" y="2615184"/>
            <a:ext cx="128016" cy="128016"/>
          </a:xfrm>
          <a:prstGeom prst="ellipse">
            <a:avLst/>
          </a:prstGeom>
          <a:solidFill>
            <a:srgbClr val="4F46E5"/>
          </a:solidFill>
          <a:ln/>
        </p:spPr>
      </p:sp>
      <p:sp>
        <p:nvSpPr>
          <p:cNvPr id="22" name="Text 20"/>
          <p:cNvSpPr/>
          <p:nvPr/>
        </p:nvSpPr>
        <p:spPr>
          <a:xfrm>
            <a:off x="4782312"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Forging</a:t>
            </a:r>
            <a:endParaRPr lang="en-US" sz="1050" dirty="0"/>
          </a:p>
        </p:txBody>
      </p:sp>
      <p:sp>
        <p:nvSpPr>
          <p:cNvPr id="23" name="Shape 21"/>
          <p:cNvSpPr/>
          <p:nvPr/>
        </p:nvSpPr>
        <p:spPr>
          <a:xfrm>
            <a:off x="8101584" y="2423160"/>
            <a:ext cx="3520440" cy="502920"/>
          </a:xfrm>
          <a:prstGeom prst="roundRect">
            <a:avLst>
              <a:gd name="adj" fmla="val 14545"/>
            </a:avLst>
          </a:prstGeom>
          <a:solidFill>
            <a:srgbClr val="F4F7FB"/>
          </a:solidFill>
          <a:ln w="9525">
            <a:solidFill>
              <a:srgbClr val="E4EAF2"/>
            </a:solidFill>
            <a:prstDash val="solid"/>
          </a:ln>
        </p:spPr>
      </p:sp>
      <p:sp>
        <p:nvSpPr>
          <p:cNvPr id="24" name="Shape 22"/>
          <p:cNvSpPr/>
          <p:nvPr/>
        </p:nvSpPr>
        <p:spPr>
          <a:xfrm>
            <a:off x="8321040" y="2615184"/>
            <a:ext cx="128016" cy="128016"/>
          </a:xfrm>
          <a:prstGeom prst="ellipse">
            <a:avLst/>
          </a:prstGeom>
          <a:solidFill>
            <a:srgbClr val="2E90FA"/>
          </a:solidFill>
          <a:ln/>
        </p:spPr>
      </p:sp>
      <p:sp>
        <p:nvSpPr>
          <p:cNvPr id="25" name="Text 23"/>
          <p:cNvSpPr/>
          <p:nvPr/>
        </p:nvSpPr>
        <p:spPr>
          <a:xfrm>
            <a:off x="8558784"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 metal — stamping</a:t>
            </a:r>
            <a:endParaRPr lang="en-US" sz="1050" dirty="0"/>
          </a:p>
        </p:txBody>
      </p:sp>
      <p:sp>
        <p:nvSpPr>
          <p:cNvPr id="26" name="Shape 24"/>
          <p:cNvSpPr/>
          <p:nvPr/>
        </p:nvSpPr>
        <p:spPr>
          <a:xfrm>
            <a:off x="548640" y="2971800"/>
            <a:ext cx="3520440" cy="502920"/>
          </a:xfrm>
          <a:prstGeom prst="roundRect">
            <a:avLst>
              <a:gd name="adj" fmla="val 14545"/>
            </a:avLst>
          </a:prstGeom>
          <a:solidFill>
            <a:srgbClr val="F3EEFE"/>
          </a:solidFill>
          <a:ln w="9525">
            <a:solidFill>
              <a:srgbClr val="E4EAF2"/>
            </a:solidFill>
            <a:prstDash val="solid"/>
          </a:ln>
        </p:spPr>
      </p:sp>
      <p:sp>
        <p:nvSpPr>
          <p:cNvPr id="27" name="Shape 25"/>
          <p:cNvSpPr/>
          <p:nvPr/>
        </p:nvSpPr>
        <p:spPr>
          <a:xfrm>
            <a:off x="768096" y="3163824"/>
            <a:ext cx="128016" cy="128016"/>
          </a:xfrm>
          <a:prstGeom prst="ellipse">
            <a:avLst/>
          </a:prstGeom>
          <a:solidFill>
            <a:srgbClr val="7C3AED"/>
          </a:solidFill>
          <a:ln/>
        </p:spPr>
      </p:sp>
      <p:sp>
        <p:nvSpPr>
          <p:cNvPr id="28" name="Text 26"/>
          <p:cNvSpPr/>
          <p:nvPr/>
        </p:nvSpPr>
        <p:spPr>
          <a:xfrm>
            <a:off x="1005840"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Sheet-metal fabrication</a:t>
            </a:r>
            <a:endParaRPr lang="en-US" sz="1050" dirty="0"/>
          </a:p>
        </p:txBody>
      </p:sp>
      <p:sp>
        <p:nvSpPr>
          <p:cNvPr id="29" name="Shape 27"/>
          <p:cNvSpPr/>
          <p:nvPr/>
        </p:nvSpPr>
        <p:spPr>
          <a:xfrm>
            <a:off x="4325112" y="2971800"/>
            <a:ext cx="3520440" cy="502920"/>
          </a:xfrm>
          <a:prstGeom prst="roundRect">
            <a:avLst>
              <a:gd name="adj" fmla="val 14545"/>
            </a:avLst>
          </a:prstGeom>
          <a:solidFill>
            <a:srgbClr val="E7F7F0"/>
          </a:solidFill>
          <a:ln w="9525">
            <a:solidFill>
              <a:srgbClr val="E4EAF2"/>
            </a:solidFill>
            <a:prstDash val="solid"/>
          </a:ln>
        </p:spPr>
      </p:sp>
      <p:sp>
        <p:nvSpPr>
          <p:cNvPr id="30" name="Shape 28"/>
          <p:cNvSpPr/>
          <p:nvPr/>
        </p:nvSpPr>
        <p:spPr>
          <a:xfrm>
            <a:off x="4544568" y="3163824"/>
            <a:ext cx="128016" cy="128016"/>
          </a:xfrm>
          <a:prstGeom prst="ellipse">
            <a:avLst/>
          </a:prstGeom>
          <a:solidFill>
            <a:srgbClr val="0EA472"/>
          </a:solidFill>
          <a:ln/>
        </p:spPr>
      </p:sp>
      <p:sp>
        <p:nvSpPr>
          <p:cNvPr id="31" name="Text 29"/>
          <p:cNvSpPr/>
          <p:nvPr/>
        </p:nvSpPr>
        <p:spPr>
          <a:xfrm>
            <a:off x="4782312"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Injection moulding</a:t>
            </a:r>
            <a:endParaRPr lang="en-US" sz="1050" dirty="0"/>
          </a:p>
        </p:txBody>
      </p:sp>
      <p:sp>
        <p:nvSpPr>
          <p:cNvPr id="32" name="Shape 30"/>
          <p:cNvSpPr/>
          <p:nvPr/>
        </p:nvSpPr>
        <p:spPr>
          <a:xfrm>
            <a:off x="8101584" y="2971800"/>
            <a:ext cx="3520440" cy="502920"/>
          </a:xfrm>
          <a:prstGeom prst="roundRect">
            <a:avLst>
              <a:gd name="adj" fmla="val 14545"/>
            </a:avLst>
          </a:prstGeom>
          <a:solidFill>
            <a:srgbClr val="FEF6E7"/>
          </a:solidFill>
          <a:ln w="9525">
            <a:solidFill>
              <a:srgbClr val="E4EAF2"/>
            </a:solidFill>
            <a:prstDash val="solid"/>
          </a:ln>
        </p:spPr>
      </p:sp>
      <p:sp>
        <p:nvSpPr>
          <p:cNvPr id="33" name="Shape 31"/>
          <p:cNvSpPr/>
          <p:nvPr/>
        </p:nvSpPr>
        <p:spPr>
          <a:xfrm>
            <a:off x="8321040" y="3163824"/>
            <a:ext cx="128016" cy="128016"/>
          </a:xfrm>
          <a:prstGeom prst="ellipse">
            <a:avLst/>
          </a:prstGeom>
          <a:solidFill>
            <a:srgbClr val="E0900C"/>
          </a:solidFill>
          <a:ln/>
        </p:spPr>
      </p:sp>
      <p:sp>
        <p:nvSpPr>
          <p:cNvPr id="34" name="Text 32"/>
          <p:cNvSpPr/>
          <p:nvPr/>
        </p:nvSpPr>
        <p:spPr>
          <a:xfrm>
            <a:off x="8558784" y="297180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Blow moulding</a:t>
            </a:r>
            <a:endParaRPr lang="en-US" sz="1050" dirty="0"/>
          </a:p>
        </p:txBody>
      </p:sp>
      <p:sp>
        <p:nvSpPr>
          <p:cNvPr id="35" name="Shape 33"/>
          <p:cNvSpPr/>
          <p:nvPr/>
        </p:nvSpPr>
        <p:spPr>
          <a:xfrm>
            <a:off x="548640" y="3520440"/>
            <a:ext cx="3520440" cy="502920"/>
          </a:xfrm>
          <a:prstGeom prst="roundRect">
            <a:avLst>
              <a:gd name="adj" fmla="val 14545"/>
            </a:avLst>
          </a:prstGeom>
          <a:solidFill>
            <a:srgbClr val="FDECEC"/>
          </a:solidFill>
          <a:ln w="9525">
            <a:solidFill>
              <a:srgbClr val="E4EAF2"/>
            </a:solidFill>
            <a:prstDash val="solid"/>
          </a:ln>
        </p:spPr>
      </p:sp>
      <p:sp>
        <p:nvSpPr>
          <p:cNvPr id="36" name="Shape 34"/>
          <p:cNvSpPr/>
          <p:nvPr/>
        </p:nvSpPr>
        <p:spPr>
          <a:xfrm>
            <a:off x="768096" y="3712464"/>
            <a:ext cx="128016" cy="128016"/>
          </a:xfrm>
          <a:prstGeom prst="ellipse">
            <a:avLst/>
          </a:prstGeom>
          <a:solidFill>
            <a:srgbClr val="E5484D"/>
          </a:solidFill>
          <a:ln/>
        </p:spPr>
      </p:sp>
      <p:sp>
        <p:nvSpPr>
          <p:cNvPr id="37" name="Text 35"/>
          <p:cNvSpPr/>
          <p:nvPr/>
        </p:nvSpPr>
        <p:spPr>
          <a:xfrm>
            <a:off x="1005840"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Thermoforming</a:t>
            </a:r>
            <a:endParaRPr lang="en-US" sz="1050" dirty="0"/>
          </a:p>
        </p:txBody>
      </p:sp>
      <p:sp>
        <p:nvSpPr>
          <p:cNvPr id="38" name="Shape 36"/>
          <p:cNvSpPr/>
          <p:nvPr/>
        </p:nvSpPr>
        <p:spPr>
          <a:xfrm>
            <a:off x="4325112" y="3520440"/>
            <a:ext cx="3520440" cy="502920"/>
          </a:xfrm>
          <a:prstGeom prst="roundRect">
            <a:avLst>
              <a:gd name="adj" fmla="val 14545"/>
            </a:avLst>
          </a:prstGeom>
          <a:solidFill>
            <a:srgbClr val="EAF1FE"/>
          </a:solidFill>
          <a:ln w="9525">
            <a:solidFill>
              <a:srgbClr val="E4EAF2"/>
            </a:solidFill>
            <a:prstDash val="solid"/>
          </a:ln>
        </p:spPr>
      </p:sp>
      <p:sp>
        <p:nvSpPr>
          <p:cNvPr id="39" name="Shape 37"/>
          <p:cNvSpPr/>
          <p:nvPr/>
        </p:nvSpPr>
        <p:spPr>
          <a:xfrm>
            <a:off x="4544568" y="3712464"/>
            <a:ext cx="128016" cy="128016"/>
          </a:xfrm>
          <a:prstGeom prst="ellipse">
            <a:avLst/>
          </a:prstGeom>
          <a:solidFill>
            <a:srgbClr val="2563EB"/>
          </a:solidFill>
          <a:ln/>
        </p:spPr>
      </p:sp>
      <p:sp>
        <p:nvSpPr>
          <p:cNvPr id="40" name="Text 38"/>
          <p:cNvSpPr/>
          <p:nvPr/>
        </p:nvSpPr>
        <p:spPr>
          <a:xfrm>
            <a:off x="4782312"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Rotational moulding</a:t>
            </a:r>
            <a:endParaRPr lang="en-US" sz="1050" dirty="0"/>
          </a:p>
        </p:txBody>
      </p:sp>
      <p:sp>
        <p:nvSpPr>
          <p:cNvPr id="41" name="Shape 39"/>
          <p:cNvSpPr/>
          <p:nvPr/>
        </p:nvSpPr>
        <p:spPr>
          <a:xfrm>
            <a:off x="8101584" y="3520440"/>
            <a:ext cx="3520440" cy="502920"/>
          </a:xfrm>
          <a:prstGeom prst="roundRect">
            <a:avLst>
              <a:gd name="adj" fmla="val 14545"/>
            </a:avLst>
          </a:prstGeom>
          <a:solidFill>
            <a:srgbClr val="E8F6FA"/>
          </a:solidFill>
          <a:ln w="9525">
            <a:solidFill>
              <a:srgbClr val="E4EAF2"/>
            </a:solidFill>
            <a:prstDash val="solid"/>
          </a:ln>
        </p:spPr>
      </p:sp>
      <p:sp>
        <p:nvSpPr>
          <p:cNvPr id="42" name="Shape 40"/>
          <p:cNvSpPr/>
          <p:nvPr/>
        </p:nvSpPr>
        <p:spPr>
          <a:xfrm>
            <a:off x="8321040" y="3712464"/>
            <a:ext cx="128016" cy="128016"/>
          </a:xfrm>
          <a:prstGeom prst="ellipse">
            <a:avLst/>
          </a:prstGeom>
          <a:solidFill>
            <a:srgbClr val="0E93B0"/>
          </a:solidFill>
          <a:ln/>
        </p:spPr>
      </p:sp>
      <p:sp>
        <p:nvSpPr>
          <p:cNvPr id="43" name="Text 41"/>
          <p:cNvSpPr/>
          <p:nvPr/>
        </p:nvSpPr>
        <p:spPr>
          <a:xfrm>
            <a:off x="8558784" y="352044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Rubber &amp; elastomers</a:t>
            </a:r>
            <a:endParaRPr lang="en-US" sz="1050" dirty="0"/>
          </a:p>
        </p:txBody>
      </p:sp>
      <p:sp>
        <p:nvSpPr>
          <p:cNvPr id="44" name="Shape 42"/>
          <p:cNvSpPr/>
          <p:nvPr/>
        </p:nvSpPr>
        <p:spPr>
          <a:xfrm>
            <a:off x="548640" y="4069080"/>
            <a:ext cx="3520440" cy="502920"/>
          </a:xfrm>
          <a:prstGeom prst="roundRect">
            <a:avLst>
              <a:gd name="adj" fmla="val 14545"/>
            </a:avLst>
          </a:prstGeom>
          <a:solidFill>
            <a:srgbClr val="E7F7F0"/>
          </a:solidFill>
          <a:ln w="9525">
            <a:solidFill>
              <a:srgbClr val="E4EAF2"/>
            </a:solidFill>
            <a:prstDash val="solid"/>
          </a:ln>
        </p:spPr>
      </p:sp>
      <p:sp>
        <p:nvSpPr>
          <p:cNvPr id="45" name="Shape 43"/>
          <p:cNvSpPr/>
          <p:nvPr/>
        </p:nvSpPr>
        <p:spPr>
          <a:xfrm>
            <a:off x="768096" y="4261104"/>
            <a:ext cx="128016" cy="128016"/>
          </a:xfrm>
          <a:prstGeom prst="ellipse">
            <a:avLst/>
          </a:prstGeom>
          <a:solidFill>
            <a:srgbClr val="0DA5A0"/>
          </a:solidFill>
          <a:ln/>
        </p:spPr>
      </p:sp>
      <p:sp>
        <p:nvSpPr>
          <p:cNvPr id="46" name="Text 44"/>
          <p:cNvSpPr/>
          <p:nvPr/>
        </p:nvSpPr>
        <p:spPr>
          <a:xfrm>
            <a:off x="1005840"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Composites</a:t>
            </a:r>
            <a:endParaRPr lang="en-US" sz="1050" dirty="0"/>
          </a:p>
        </p:txBody>
      </p:sp>
      <p:sp>
        <p:nvSpPr>
          <p:cNvPr id="47" name="Shape 45"/>
          <p:cNvSpPr/>
          <p:nvPr/>
        </p:nvSpPr>
        <p:spPr>
          <a:xfrm>
            <a:off x="4325112" y="4069080"/>
            <a:ext cx="3520440" cy="502920"/>
          </a:xfrm>
          <a:prstGeom prst="roundRect">
            <a:avLst>
              <a:gd name="adj" fmla="val 14545"/>
            </a:avLst>
          </a:prstGeom>
          <a:solidFill>
            <a:srgbClr val="EAF1FE"/>
          </a:solidFill>
          <a:ln w="9525">
            <a:solidFill>
              <a:srgbClr val="E4EAF2"/>
            </a:solidFill>
            <a:prstDash val="solid"/>
          </a:ln>
        </p:spPr>
      </p:sp>
      <p:sp>
        <p:nvSpPr>
          <p:cNvPr id="48" name="Shape 46"/>
          <p:cNvSpPr/>
          <p:nvPr/>
        </p:nvSpPr>
        <p:spPr>
          <a:xfrm>
            <a:off x="4544568" y="4261104"/>
            <a:ext cx="128016" cy="128016"/>
          </a:xfrm>
          <a:prstGeom prst="ellipse">
            <a:avLst/>
          </a:prstGeom>
          <a:solidFill>
            <a:srgbClr val="4F46E5"/>
          </a:solidFill>
          <a:ln/>
        </p:spPr>
      </p:sp>
      <p:sp>
        <p:nvSpPr>
          <p:cNvPr id="49" name="Text 47"/>
          <p:cNvSpPr/>
          <p:nvPr/>
        </p:nvSpPr>
        <p:spPr>
          <a:xfrm>
            <a:off x="4782312"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Extrusion</a:t>
            </a:r>
            <a:endParaRPr lang="en-US" sz="1050" dirty="0"/>
          </a:p>
        </p:txBody>
      </p:sp>
      <p:sp>
        <p:nvSpPr>
          <p:cNvPr id="50" name="Shape 48"/>
          <p:cNvSpPr/>
          <p:nvPr/>
        </p:nvSpPr>
        <p:spPr>
          <a:xfrm>
            <a:off x="8101584" y="4069080"/>
            <a:ext cx="3520440" cy="502920"/>
          </a:xfrm>
          <a:prstGeom prst="roundRect">
            <a:avLst>
              <a:gd name="adj" fmla="val 14545"/>
            </a:avLst>
          </a:prstGeom>
          <a:solidFill>
            <a:srgbClr val="F4F7FB"/>
          </a:solidFill>
          <a:ln w="9525">
            <a:solidFill>
              <a:srgbClr val="E4EAF2"/>
            </a:solidFill>
            <a:prstDash val="solid"/>
          </a:ln>
        </p:spPr>
      </p:sp>
      <p:sp>
        <p:nvSpPr>
          <p:cNvPr id="51" name="Shape 49"/>
          <p:cNvSpPr/>
          <p:nvPr/>
        </p:nvSpPr>
        <p:spPr>
          <a:xfrm>
            <a:off x="8321040" y="4261104"/>
            <a:ext cx="128016" cy="128016"/>
          </a:xfrm>
          <a:prstGeom prst="ellipse">
            <a:avLst/>
          </a:prstGeom>
          <a:solidFill>
            <a:srgbClr val="2E90FA"/>
          </a:solidFill>
          <a:ln/>
        </p:spPr>
      </p:sp>
      <p:sp>
        <p:nvSpPr>
          <p:cNvPr id="52" name="Text 50"/>
          <p:cNvSpPr/>
          <p:nvPr/>
        </p:nvSpPr>
        <p:spPr>
          <a:xfrm>
            <a:off x="8558784" y="406908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Wiring harness</a:t>
            </a:r>
            <a:endParaRPr lang="en-US" sz="1050" dirty="0"/>
          </a:p>
        </p:txBody>
      </p:sp>
      <p:sp>
        <p:nvSpPr>
          <p:cNvPr id="53" name="Shape 51"/>
          <p:cNvSpPr/>
          <p:nvPr/>
        </p:nvSpPr>
        <p:spPr>
          <a:xfrm>
            <a:off x="548640" y="4617720"/>
            <a:ext cx="3520440" cy="502920"/>
          </a:xfrm>
          <a:prstGeom prst="roundRect">
            <a:avLst>
              <a:gd name="adj" fmla="val 14545"/>
            </a:avLst>
          </a:prstGeom>
          <a:solidFill>
            <a:srgbClr val="F3EEFE"/>
          </a:solidFill>
          <a:ln w="9525">
            <a:solidFill>
              <a:srgbClr val="E4EAF2"/>
            </a:solidFill>
            <a:prstDash val="solid"/>
          </a:ln>
        </p:spPr>
      </p:sp>
      <p:sp>
        <p:nvSpPr>
          <p:cNvPr id="54" name="Shape 52"/>
          <p:cNvSpPr/>
          <p:nvPr/>
        </p:nvSpPr>
        <p:spPr>
          <a:xfrm>
            <a:off x="768096" y="4809744"/>
            <a:ext cx="128016" cy="128016"/>
          </a:xfrm>
          <a:prstGeom prst="ellipse">
            <a:avLst/>
          </a:prstGeom>
          <a:solidFill>
            <a:srgbClr val="7C3AED"/>
          </a:solidFill>
          <a:ln/>
        </p:spPr>
      </p:sp>
      <p:sp>
        <p:nvSpPr>
          <p:cNvPr id="55" name="Text 53"/>
          <p:cNvSpPr/>
          <p:nvPr/>
        </p:nvSpPr>
        <p:spPr>
          <a:xfrm>
            <a:off x="1005840"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 fabrication</a:t>
            </a:r>
            <a:endParaRPr lang="en-US" sz="1050" dirty="0"/>
          </a:p>
        </p:txBody>
      </p:sp>
      <p:sp>
        <p:nvSpPr>
          <p:cNvPr id="56" name="Shape 54"/>
          <p:cNvSpPr/>
          <p:nvPr/>
        </p:nvSpPr>
        <p:spPr>
          <a:xfrm>
            <a:off x="4325112" y="4617720"/>
            <a:ext cx="3520440" cy="502920"/>
          </a:xfrm>
          <a:prstGeom prst="roundRect">
            <a:avLst>
              <a:gd name="adj" fmla="val 14545"/>
            </a:avLst>
          </a:prstGeom>
          <a:solidFill>
            <a:srgbClr val="E7F7F0"/>
          </a:solidFill>
          <a:ln w="9525">
            <a:solidFill>
              <a:srgbClr val="E4EAF2"/>
            </a:solidFill>
            <a:prstDash val="solid"/>
          </a:ln>
        </p:spPr>
      </p:sp>
      <p:sp>
        <p:nvSpPr>
          <p:cNvPr id="57" name="Shape 55"/>
          <p:cNvSpPr/>
          <p:nvPr/>
        </p:nvSpPr>
        <p:spPr>
          <a:xfrm>
            <a:off x="4544568" y="4809744"/>
            <a:ext cx="128016" cy="128016"/>
          </a:xfrm>
          <a:prstGeom prst="ellipse">
            <a:avLst/>
          </a:prstGeom>
          <a:solidFill>
            <a:srgbClr val="0EA472"/>
          </a:solidFill>
          <a:ln/>
        </p:spPr>
      </p:sp>
      <p:sp>
        <p:nvSpPr>
          <p:cNvPr id="58" name="Text 56"/>
          <p:cNvSpPr/>
          <p:nvPr/>
        </p:nvSpPr>
        <p:spPr>
          <a:xfrm>
            <a:off x="4782312"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PCBA — electronics assembly</a:t>
            </a:r>
            <a:endParaRPr lang="en-US" sz="1050" dirty="0"/>
          </a:p>
        </p:txBody>
      </p:sp>
      <p:sp>
        <p:nvSpPr>
          <p:cNvPr id="59" name="Shape 57"/>
          <p:cNvSpPr/>
          <p:nvPr/>
        </p:nvSpPr>
        <p:spPr>
          <a:xfrm>
            <a:off x="8101584" y="4617720"/>
            <a:ext cx="3520440" cy="502920"/>
          </a:xfrm>
          <a:prstGeom prst="roundRect">
            <a:avLst>
              <a:gd name="adj" fmla="val 14545"/>
            </a:avLst>
          </a:prstGeom>
          <a:solidFill>
            <a:srgbClr val="FEF6E7"/>
          </a:solidFill>
          <a:ln w="9525">
            <a:solidFill>
              <a:srgbClr val="E4EAF2"/>
            </a:solidFill>
            <a:prstDash val="solid"/>
          </a:ln>
        </p:spPr>
      </p:sp>
      <p:sp>
        <p:nvSpPr>
          <p:cNvPr id="60" name="Shape 58"/>
          <p:cNvSpPr/>
          <p:nvPr/>
        </p:nvSpPr>
        <p:spPr>
          <a:xfrm>
            <a:off x="8321040" y="4809744"/>
            <a:ext cx="128016" cy="128016"/>
          </a:xfrm>
          <a:prstGeom prst="ellipse">
            <a:avLst/>
          </a:prstGeom>
          <a:solidFill>
            <a:srgbClr val="E0900C"/>
          </a:solidFill>
          <a:ln/>
        </p:spPr>
      </p:sp>
      <p:sp>
        <p:nvSpPr>
          <p:cNvPr id="61" name="Text 59"/>
          <p:cNvSpPr/>
          <p:nvPr/>
        </p:nvSpPr>
        <p:spPr>
          <a:xfrm>
            <a:off x="8558784" y="461772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Painting &amp; surface finish</a:t>
            </a:r>
            <a:endParaRPr lang="en-US" sz="1050" dirty="0"/>
          </a:p>
        </p:txBody>
      </p:sp>
      <p:sp>
        <p:nvSpPr>
          <p:cNvPr id="62" name="Shape 60"/>
          <p:cNvSpPr/>
          <p:nvPr/>
        </p:nvSpPr>
        <p:spPr>
          <a:xfrm>
            <a:off x="548640" y="5166360"/>
            <a:ext cx="3520440" cy="502920"/>
          </a:xfrm>
          <a:prstGeom prst="roundRect">
            <a:avLst>
              <a:gd name="adj" fmla="val 14545"/>
            </a:avLst>
          </a:prstGeom>
          <a:solidFill>
            <a:srgbClr val="FDECEC"/>
          </a:solidFill>
          <a:ln w="9525">
            <a:solidFill>
              <a:srgbClr val="E4EAF2"/>
            </a:solidFill>
            <a:prstDash val="solid"/>
          </a:ln>
        </p:spPr>
      </p:sp>
      <p:sp>
        <p:nvSpPr>
          <p:cNvPr id="63" name="Shape 61"/>
          <p:cNvSpPr/>
          <p:nvPr/>
        </p:nvSpPr>
        <p:spPr>
          <a:xfrm>
            <a:off x="768096" y="5358384"/>
            <a:ext cx="128016" cy="128016"/>
          </a:xfrm>
          <a:prstGeom prst="ellipse">
            <a:avLst/>
          </a:prstGeom>
          <a:solidFill>
            <a:srgbClr val="E5484D"/>
          </a:solidFill>
          <a:ln/>
        </p:spPr>
      </p:sp>
      <p:sp>
        <p:nvSpPr>
          <p:cNvPr id="64" name="Text 62"/>
          <p:cNvSpPr/>
          <p:nvPr/>
        </p:nvSpPr>
        <p:spPr>
          <a:xfrm>
            <a:off x="1005840" y="51663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Body-in-white assembly</a:t>
            </a:r>
            <a:endParaRPr lang="en-US" sz="1050" dirty="0"/>
          </a:p>
        </p:txBody>
      </p:sp>
      <p:sp>
        <p:nvSpPr>
          <p:cNvPr id="65" name="Shape 63"/>
          <p:cNvSpPr/>
          <p:nvPr/>
        </p:nvSpPr>
        <p:spPr>
          <a:xfrm>
            <a:off x="548640" y="5742432"/>
            <a:ext cx="11091672" cy="548640"/>
          </a:xfrm>
          <a:prstGeom prst="roundRect">
            <a:avLst>
              <a:gd name="adj" fmla="val 11667"/>
            </a:avLst>
          </a:prstGeom>
          <a:solidFill>
            <a:srgbClr val="F4F7FB"/>
          </a:solidFill>
          <a:ln w="12700">
            <a:solidFill>
              <a:srgbClr val="E4EAF2"/>
            </a:solidFill>
            <a:prstDash val="solid"/>
          </a:ln>
        </p:spPr>
      </p:sp>
      <p:sp>
        <p:nvSpPr>
          <p:cNvPr id="66" name="Shape 64"/>
          <p:cNvSpPr/>
          <p:nvPr/>
        </p:nvSpPr>
        <p:spPr>
          <a:xfrm>
            <a:off x="548640" y="5742432"/>
            <a:ext cx="82296" cy="548640"/>
          </a:xfrm>
          <a:prstGeom prst="rect">
            <a:avLst/>
          </a:prstGeom>
          <a:solidFill>
            <a:srgbClr val="E0900C"/>
          </a:solidFill>
          <a:ln/>
        </p:spPr>
      </p:sp>
      <p:sp>
        <p:nvSpPr>
          <p:cNvPr id="67" name="Text 65"/>
          <p:cNvSpPr/>
          <p:nvPr/>
        </p:nvSpPr>
        <p:spPr>
          <a:xfrm>
            <a:off x="914400" y="5742432"/>
            <a:ext cx="10332720" cy="548640"/>
          </a:xfrm>
          <a:prstGeom prst="rect">
            <a:avLst/>
          </a:prstGeom>
          <a:noFill/>
          <a:ln/>
        </p:spPr>
        <p:txBody>
          <a:bodyPr wrap="square" lIns="0" tIns="0" rIns="0" bIns="0" rtlCol="0" anchor="ctr"/>
          <a:lstStyle/>
          <a:p>
            <a:pPr indent="0" marL="0">
              <a:lnSpc>
                <a:spcPct val="105000"/>
              </a:lnSpc>
              <a:buNone/>
            </a:pPr>
            <a:r>
              <a:rPr lang="en-US" sz="1150" b="1" dirty="0">
                <a:solidFill>
                  <a:srgbClr val="0F1E3D"/>
                </a:solidFill>
                <a:latin typeface="Calibri" pitchFamily="34" charset="0"/>
                <a:ea typeface="Calibri" pitchFamily="34" charset="-122"/>
                <a:cs typeface="Calibri" pitchFamily="34" charset="-120"/>
              </a:rPr>
              <a:t>One method under all of them:  </a:t>
            </a:r>
            <a:pPr indent="0" marL="0">
              <a:lnSpc>
                <a:spcPct val="105000"/>
              </a:lnSpc>
              <a:buNone/>
            </a:pPr>
            <a:r>
              <a:rPr lang="en-US" sz="1150" dirty="0">
                <a:solidFill>
                  <a:srgbClr val="3E4C63"/>
                </a:solidFill>
                <a:latin typeface="Calibri" pitchFamily="34" charset="0"/>
                <a:ea typeface="Calibri" pitchFamily="34" charset="-122"/>
                <a:cs typeface="Calibri" pitchFamily="34" charset="-120"/>
              </a:rPr>
              <a:t>the same auditable 8-bucket cost stack (material → margin) with feature-based machining on top. The same part then prices across 20 regions — that's the next section.</a:t>
            </a:r>
            <a:endParaRPr lang="en-US" sz="1150" dirty="0"/>
          </a:p>
        </p:txBody>
      </p:sp>
      <p:sp>
        <p:nvSpPr>
          <p:cNvPr id="68" name="Shape 66"/>
          <p:cNvSpPr/>
          <p:nvPr/>
        </p:nvSpPr>
        <p:spPr>
          <a:xfrm>
            <a:off x="548640" y="6400800"/>
            <a:ext cx="11094415" cy="12802"/>
          </a:xfrm>
          <a:prstGeom prst="rect">
            <a:avLst/>
          </a:prstGeom>
          <a:solidFill>
            <a:srgbClr val="E4EAF2"/>
          </a:solidFill>
          <a:ln/>
        </p:spPr>
      </p:sp>
      <p:sp>
        <p:nvSpPr>
          <p:cNvPr id="69" name="Text 6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0" name="Text 6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8 / 15</a:t>
            </a:r>
            <a:endParaRPr lang="en-US" sz="850" dirty="0"/>
          </a:p>
        </p:txBody>
      </p:sp>
      <p:sp>
        <p:nvSpPr>
          <p:cNvPr id="71" name="GearChip71"/>
          <p:cNvSpPr/>
          <p:nvPr/>
        </p:nvSpPr>
        <p:spPr>
          <a:xfrm>
            <a:off x="548640" y="2423160"/>
            <a:ext cx="3520440" cy="502920"/>
          </a:xfrm>
          <a:prstGeom prst="roundRect">
            <a:avLst>
              <a:gd name="adj" fmla="val 14545"/>
            </a:avLst>
          </a:prstGeom>
          <a:solidFill>
            <a:srgbClr val="EAF1FE"/>
          </a:solidFill>
          <a:ln w="9525">
            <a:solidFill>
              <a:srgbClr val="E4EAF2"/>
            </a:solidFill>
            <a:prstDash val="solid"/>
          </a:ln>
        </p:spPr>
      </p:sp>
      <p:sp>
        <p:nvSpPr>
          <p:cNvPr id="72" name="GearChip72"/>
          <p:cNvSpPr/>
          <p:nvPr/>
        </p:nvSpPr>
        <p:spPr>
          <a:xfrm>
            <a:off x="768096" y="2615184"/>
            <a:ext cx="128016" cy="128016"/>
          </a:xfrm>
          <a:prstGeom prst="ellipse">
            <a:avLst/>
          </a:prstGeom>
          <a:solidFill>
            <a:srgbClr val="2563EB"/>
          </a:solidFill>
          <a:ln/>
        </p:spPr>
      </p:sp>
      <p:sp>
        <p:nvSpPr>
          <p:cNvPr id="73" name="GearChip73"/>
          <p:cNvSpPr/>
          <p:nvPr/>
        </p:nvSpPr>
        <p:spPr>
          <a:xfrm>
            <a:off x="1005840" y="2423160"/>
            <a:ext cx="2926080" cy="502920"/>
          </a:xfrm>
          <a:prstGeom prst="rect">
            <a:avLst/>
          </a:prstGeom>
          <a:noFill/>
          <a:ln/>
        </p:spPr>
        <p:txBody>
          <a:bodyPr wrap="square" lIns="0" tIns="0" rIns="0" bIns="0" rtlCol="0" anchor="ctr"/>
          <a:lstStyle/>
          <a:p>
            <a:pPr indent="0" marL="0">
              <a:buNone/>
            </a:pPr>
            <a:r>
              <a:rPr lang="en-US" sz="1050" b="1" dirty="0">
                <a:solidFill>
                  <a:srgbClr val="0F1E3D"/>
                </a:solidFill>
                <a:latin typeface="Calibri" pitchFamily="34" charset="0"/>
                <a:ea typeface="Calibri" pitchFamily="34" charset="-122"/>
                <a:cs typeface="Calibri" pitchFamily="34" charset="-120"/>
              </a:rPr>
              <a:t>Gear cutting — hob · shape · grind</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globe-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0DA5A0"/>
          </a:solidFill>
          <a:ln/>
        </p:spPr>
      </p:sp>
      <p:sp>
        <p:nvSpPr>
          <p:cNvPr id="7" name="Shape 4"/>
          <p:cNvSpPr/>
          <p:nvPr/>
        </p:nvSpPr>
        <p:spPr>
          <a:xfrm>
            <a:off x="0" y="6729984"/>
            <a:ext cx="12191695" cy="128016"/>
          </a:xfrm>
          <a:prstGeom prst="rect">
            <a:avLst/>
          </a:prstGeom>
          <a:solidFill>
            <a:srgbClr val="0DA5A0"/>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0DA5A0"/>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DEEP DIVE · SHOULD-COST MODEL</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Global should-cost</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16 / 33</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Global should-cost — how the country model works</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One base cost, re-priced with each region's real economics — deterministic, transparent and landed-cost aware. No AI in the money.</a:t>
            </a:r>
            <a:endParaRPr lang="en-US" sz="1250" dirty="0"/>
          </a:p>
        </p:txBody>
      </p:sp>
      <p:sp>
        <p:nvSpPr>
          <p:cNvPr id="11" name="Shape 9"/>
          <p:cNvSpPr/>
          <p:nvPr/>
        </p:nvSpPr>
        <p:spPr>
          <a:xfrm>
            <a:off x="548640"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819724096706992e+148" dist="1.0913497419162833e+148" dir="9.282982318641485e+173">
              <a:srgbClr val="9DB0CC">
                <a:alpha val="2.2000000000000003e+179"/>
              </a:srgbClr>
            </a:outerShdw>
          </a:effectLst>
        </p:spPr>
      </p:sp>
      <p:sp>
        <p:nvSpPr>
          <p:cNvPr id="12" name="Shape 10"/>
          <p:cNvSpPr/>
          <p:nvPr/>
        </p:nvSpPr>
        <p:spPr>
          <a:xfrm>
            <a:off x="548640" y="2057400"/>
            <a:ext cx="2487168" cy="82296"/>
          </a:xfrm>
          <a:prstGeom prst="rect">
            <a:avLst/>
          </a:prstGeom>
          <a:solidFill>
            <a:srgbClr val="2563EB"/>
          </a:solidFill>
          <a:ln/>
        </p:spPr>
      </p:sp>
      <p:sp>
        <p:nvSpPr>
          <p:cNvPr id="13" name="Shape 11"/>
          <p:cNvSpPr/>
          <p:nvPr/>
        </p:nvSpPr>
        <p:spPr>
          <a:xfrm>
            <a:off x="1536192" y="2258568"/>
            <a:ext cx="512064" cy="512064"/>
          </a:xfrm>
          <a:prstGeom prst="ellipse">
            <a:avLst/>
          </a:prstGeom>
          <a:solidFill>
            <a:srgbClr val="EAF1FE"/>
          </a:solidFill>
          <a:ln/>
        </p:spPr>
      </p:sp>
      <p:sp>
        <p:nvSpPr>
          <p:cNvPr id="14" name="Text 12"/>
          <p:cNvSpPr/>
          <p:nvPr/>
        </p:nvSpPr>
        <p:spPr>
          <a:xfrm>
            <a:off x="1536192" y="224942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Base part cost</a:t>
            </a:r>
            <a:endParaRPr lang="en-US" sz="1200" dirty="0"/>
          </a:p>
        </p:txBody>
      </p:sp>
      <p:sp>
        <p:nvSpPr>
          <p:cNvPr id="16" name="Text 14"/>
          <p:cNvSpPr/>
          <p:nvPr/>
        </p:nvSpPr>
        <p:spPr>
          <a:xfrm>
            <a:off x="658368"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8-bucket, from CAD or a commodity engine</a:t>
            </a:r>
            <a:endParaRPr lang="en-US" sz="860" dirty="0"/>
          </a:p>
        </p:txBody>
      </p:sp>
      <p:sp>
        <p:nvSpPr>
          <p:cNvPr id="17" name="Shape 15"/>
          <p:cNvSpPr/>
          <p:nvPr/>
        </p:nvSpPr>
        <p:spPr>
          <a:xfrm>
            <a:off x="3063240" y="274320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85104960281788e+152" dist="1.38601417223368e+152" dir="5.569789391184891e+178">
              <a:srgbClr val="9DB0CC">
                <a:alpha val="2.2000000000000004e+184"/>
              </a:srgbClr>
            </a:outerShdw>
          </a:effectLst>
        </p:spPr>
      </p:sp>
      <p:sp>
        <p:nvSpPr>
          <p:cNvPr id="19" name="Shape 17"/>
          <p:cNvSpPr/>
          <p:nvPr/>
        </p:nvSpPr>
        <p:spPr>
          <a:xfrm>
            <a:off x="3355848" y="2057400"/>
            <a:ext cx="2487168" cy="82296"/>
          </a:xfrm>
          <a:prstGeom prst="rect">
            <a:avLst/>
          </a:prstGeom>
          <a:solidFill>
            <a:srgbClr val="0DA5A0"/>
          </a:solidFill>
          <a:ln/>
        </p:spPr>
      </p:sp>
      <p:sp>
        <p:nvSpPr>
          <p:cNvPr id="20" name="Shape 18"/>
          <p:cNvSpPr/>
          <p:nvPr/>
        </p:nvSpPr>
        <p:spPr>
          <a:xfrm>
            <a:off x="4343400" y="2258568"/>
            <a:ext cx="512064" cy="512064"/>
          </a:xfrm>
          <a:prstGeom prst="ellipse">
            <a:avLst/>
          </a:prstGeom>
          <a:solidFill>
            <a:srgbClr val="E7F7F0"/>
          </a:solidFill>
          <a:ln/>
        </p:spPr>
      </p:sp>
      <p:sp>
        <p:nvSpPr>
          <p:cNvPr id="21" name="Text 19"/>
          <p:cNvSpPr/>
          <p:nvPr/>
        </p:nvSpPr>
        <p:spPr>
          <a:xfrm>
            <a:off x="4343400" y="2249424"/>
            <a:ext cx="512064" cy="512064"/>
          </a:xfrm>
          <a:prstGeom prst="rect">
            <a:avLst/>
          </a:prstGeom>
          <a:noFill/>
          <a:ln/>
        </p:spPr>
        <p:txBody>
          <a:bodyPr wrap="square" lIns="0" tIns="0" rIns="0" bIns="0" rtlCol="0" anchor="ctr"/>
          <a:lstStyle/>
          <a:p>
            <a:pPr algn="ctr" indent="0" marL="0">
              <a:buNone/>
            </a:pPr>
            <a:r>
              <a:rPr lang="en-US" sz="1800" b="1" dirty="0">
                <a:solidFill>
                  <a:srgbClr val="0DA5A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Regional rates</a:t>
            </a:r>
            <a:endParaRPr lang="en-US" sz="1200" dirty="0"/>
          </a:p>
        </p:txBody>
      </p:sp>
      <p:sp>
        <p:nvSpPr>
          <p:cNvPr id="23" name="Text 21"/>
          <p:cNvSpPr/>
          <p:nvPr/>
        </p:nvSpPr>
        <p:spPr>
          <a:xfrm>
            <a:off x="3465576"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labour · energy · material · machine · overhead · FX</a:t>
            </a:r>
            <a:endParaRPr lang="en-US" sz="860" dirty="0"/>
          </a:p>
        </p:txBody>
      </p:sp>
      <p:sp>
        <p:nvSpPr>
          <p:cNvPr id="24" name="Shape 22"/>
          <p:cNvSpPr/>
          <p:nvPr/>
        </p:nvSpPr>
        <p:spPr>
          <a:xfrm>
            <a:off x="5870448" y="274320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6.160832995578707e+156" dist="1.7602379987367734e+156" dir="3.3418736347109347e+183">
              <a:srgbClr val="9DB0CC">
                <a:alpha val="2.2000000000000003e+189"/>
              </a:srgbClr>
            </a:outerShdw>
          </a:effectLst>
        </p:spPr>
      </p:sp>
      <p:sp>
        <p:nvSpPr>
          <p:cNvPr id="26" name="Shape 24"/>
          <p:cNvSpPr/>
          <p:nvPr/>
        </p:nvSpPr>
        <p:spPr>
          <a:xfrm>
            <a:off x="6163056" y="2057400"/>
            <a:ext cx="2487168" cy="82296"/>
          </a:xfrm>
          <a:prstGeom prst="rect">
            <a:avLst/>
          </a:prstGeom>
          <a:solidFill>
            <a:srgbClr val="E0900C"/>
          </a:solidFill>
          <a:ln/>
        </p:spPr>
      </p:sp>
      <p:sp>
        <p:nvSpPr>
          <p:cNvPr id="27" name="Shape 25"/>
          <p:cNvSpPr/>
          <p:nvPr/>
        </p:nvSpPr>
        <p:spPr>
          <a:xfrm>
            <a:off x="7150608" y="2258568"/>
            <a:ext cx="512064" cy="512064"/>
          </a:xfrm>
          <a:prstGeom prst="ellipse">
            <a:avLst/>
          </a:prstGeom>
          <a:solidFill>
            <a:srgbClr val="FEF6E7"/>
          </a:solidFill>
          <a:ln/>
        </p:spPr>
      </p:sp>
      <p:sp>
        <p:nvSpPr>
          <p:cNvPr id="28" name="Text 26"/>
          <p:cNvSpPr/>
          <p:nvPr/>
        </p:nvSpPr>
        <p:spPr>
          <a:xfrm>
            <a:off x="7150608" y="224942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 Landed adders</a:t>
            </a:r>
            <a:endParaRPr lang="en-US" sz="1200" dirty="0"/>
          </a:p>
        </p:txBody>
      </p:sp>
      <p:sp>
        <p:nvSpPr>
          <p:cNvPr id="30" name="Text 28"/>
          <p:cNvSpPr/>
          <p:nvPr/>
        </p:nvSpPr>
        <p:spPr>
          <a:xfrm>
            <a:off x="6272784"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packaging · logistics · duty · shipping</a:t>
            </a:r>
            <a:endParaRPr lang="en-US" sz="860" dirty="0"/>
          </a:p>
        </p:txBody>
      </p:sp>
      <p:sp>
        <p:nvSpPr>
          <p:cNvPr id="31" name="Shape 29"/>
          <p:cNvSpPr/>
          <p:nvPr/>
        </p:nvSpPr>
        <p:spPr>
          <a:xfrm>
            <a:off x="8677656" y="274320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05740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7.824257904384958e+160" dist="2.235502258395702e+160" dir="2.0051241808265608e+188">
              <a:srgbClr val="9DB0CC">
                <a:alpha val="2.2000000000000004e+194"/>
              </a:srgbClr>
            </a:outerShdw>
          </a:effectLst>
        </p:spPr>
      </p:sp>
      <p:sp>
        <p:nvSpPr>
          <p:cNvPr id="33" name="Shape 31"/>
          <p:cNvSpPr/>
          <p:nvPr/>
        </p:nvSpPr>
        <p:spPr>
          <a:xfrm>
            <a:off x="8970264" y="2057400"/>
            <a:ext cx="2487168" cy="82296"/>
          </a:xfrm>
          <a:prstGeom prst="rect">
            <a:avLst/>
          </a:prstGeom>
          <a:solidFill>
            <a:srgbClr val="0EA472"/>
          </a:solidFill>
          <a:ln/>
        </p:spPr>
      </p:sp>
      <p:sp>
        <p:nvSpPr>
          <p:cNvPr id="34" name="Shape 32"/>
          <p:cNvSpPr/>
          <p:nvPr/>
        </p:nvSpPr>
        <p:spPr>
          <a:xfrm>
            <a:off x="9957816" y="2258568"/>
            <a:ext cx="512064" cy="512064"/>
          </a:xfrm>
          <a:prstGeom prst="ellipse">
            <a:avLst/>
          </a:prstGeom>
          <a:solidFill>
            <a:srgbClr val="E7F7F0"/>
          </a:solidFill>
          <a:ln/>
        </p:spPr>
      </p:sp>
      <p:sp>
        <p:nvSpPr>
          <p:cNvPr id="35" name="Text 33"/>
          <p:cNvSpPr/>
          <p:nvPr/>
        </p:nvSpPr>
        <p:spPr>
          <a:xfrm>
            <a:off x="9957816" y="224942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4378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Region should-cost</a:t>
            </a:r>
            <a:endParaRPr lang="en-US" sz="1200" dirty="0"/>
          </a:p>
        </p:txBody>
      </p:sp>
      <p:sp>
        <p:nvSpPr>
          <p:cNvPr id="37" name="Text 35"/>
          <p:cNvSpPr/>
          <p:nvPr/>
        </p:nvSpPr>
        <p:spPr>
          <a:xfrm>
            <a:off x="9079992" y="311810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ranked, ex-works &amp; landed, per country</a:t>
            </a:r>
            <a:endParaRPr lang="en-US" sz="860" dirty="0"/>
          </a:p>
        </p:txBody>
      </p:sp>
      <p:sp>
        <p:nvSpPr>
          <p:cNvPr id="38" name="Shape 36"/>
          <p:cNvSpPr/>
          <p:nvPr/>
        </p:nvSpPr>
        <p:spPr>
          <a:xfrm>
            <a:off x="548640" y="3749040"/>
            <a:ext cx="5394960" cy="2103120"/>
          </a:xfrm>
          <a:prstGeom prst="roundRect">
            <a:avLst>
              <a:gd name="adj" fmla="val 3043"/>
            </a:avLst>
          </a:prstGeom>
          <a:solidFill>
            <a:srgbClr val="FFFFFF"/>
          </a:solidFill>
          <a:ln w="12700">
            <a:solidFill>
              <a:srgbClr val="E4EAF2"/>
            </a:solidFill>
            <a:prstDash val="solid"/>
          </a:ln>
          <a:effectLst>
            <a:outerShdw sx="100000" sy="100000" kx="0" ky="0" algn="bl" rotWithShape="0" blurRad="9.936807538568897e+164" dist="2.8390878681625417e+164" dir="1.2030745084959364e+193">
              <a:srgbClr val="9DB0CC">
                <a:alpha val="2.2000000000000006e+199"/>
              </a:srgbClr>
            </a:outerShdw>
          </a:effectLst>
        </p:spPr>
      </p:sp>
      <p:sp>
        <p:nvSpPr>
          <p:cNvPr id="39" name="Shape 37"/>
          <p:cNvSpPr/>
          <p:nvPr/>
        </p:nvSpPr>
        <p:spPr>
          <a:xfrm>
            <a:off x="548640" y="3749040"/>
            <a:ext cx="82296" cy="2103120"/>
          </a:xfrm>
          <a:prstGeom prst="rect">
            <a:avLst/>
          </a:prstGeom>
          <a:solidFill>
            <a:srgbClr val="2563EB"/>
          </a:solidFill>
          <a:ln/>
        </p:spPr>
      </p:sp>
      <p:sp>
        <p:nvSpPr>
          <p:cNvPr id="40" name="Text 38"/>
          <p:cNvSpPr/>
          <p:nvPr/>
        </p:nvSpPr>
        <p:spPr>
          <a:xfrm>
            <a:off x="822960" y="3913632"/>
            <a:ext cx="4937760" cy="320040"/>
          </a:xfrm>
          <a:prstGeom prst="rect">
            <a:avLst/>
          </a:prstGeom>
          <a:noFill/>
          <a:ln/>
        </p:spPr>
        <p:txBody>
          <a:bodyPr wrap="square" lIns="0" tIns="0" rIns="0" bIns="0" rtlCol="0" anchor="t"/>
          <a:lstStyle/>
          <a:p>
            <a:pPr indent="0" marL="0">
              <a:buNone/>
            </a:pPr>
            <a:r>
              <a:rPr lang="en-US" sz="1350" b="1" dirty="0">
                <a:solidFill>
                  <a:srgbClr val="2563EB"/>
                </a:solidFill>
                <a:latin typeface="Calibri" pitchFamily="34" charset="0"/>
                <a:ea typeface="Calibri" pitchFamily="34" charset="-122"/>
                <a:cs typeface="Calibri" pitchFamily="34" charset="-120"/>
              </a:rPr>
              <a:t>What we give it</a:t>
            </a:r>
            <a:endParaRPr lang="en-US" sz="1350" dirty="0"/>
          </a:p>
        </p:txBody>
      </p:sp>
      <p:sp>
        <p:nvSpPr>
          <p:cNvPr id="41" name="Shape 39"/>
          <p:cNvSpPr/>
          <p:nvPr/>
        </p:nvSpPr>
        <p:spPr>
          <a:xfrm>
            <a:off x="822960" y="4315968"/>
            <a:ext cx="292608" cy="292608"/>
          </a:xfrm>
          <a:prstGeom prst="ellipse">
            <a:avLst/>
          </a:prstGeom>
          <a:solidFill>
            <a:srgbClr val="EAF1FE"/>
          </a:solidFill>
          <a:ln/>
        </p:spPr>
      </p:sp>
      <p:sp>
        <p:nvSpPr>
          <p:cNvPr id="42" name="Text 40"/>
          <p:cNvSpPr/>
          <p:nvPr/>
        </p:nvSpPr>
        <p:spPr>
          <a:xfrm>
            <a:off x="822960" y="430682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3" name="Text 41"/>
          <p:cNvSpPr/>
          <p:nvPr/>
        </p:nvSpPr>
        <p:spPr>
          <a:xfrm>
            <a:off x="1207008" y="431596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part — </a:t>
            </a:r>
            <a:pPr indent="0" marL="0">
              <a:buNone/>
            </a:pPr>
            <a:r>
              <a:rPr lang="en-US" sz="1080" dirty="0">
                <a:solidFill>
                  <a:srgbClr val="3E4C63"/>
                </a:solidFill>
                <a:latin typeface="Calibri" pitchFamily="34" charset="0"/>
                <a:ea typeface="Calibri" pitchFamily="34" charset="-122"/>
                <a:cs typeface="Calibri" pitchFamily="34" charset="-120"/>
              </a:rPr>
              <a:t>once — from a CAD model, a photo, or a commodity form</a:t>
            </a:r>
            <a:endParaRPr lang="en-US" sz="1080" dirty="0"/>
          </a:p>
        </p:txBody>
      </p:sp>
      <p:sp>
        <p:nvSpPr>
          <p:cNvPr id="44" name="Shape 42"/>
          <p:cNvSpPr/>
          <p:nvPr/>
        </p:nvSpPr>
        <p:spPr>
          <a:xfrm>
            <a:off x="822960" y="4818888"/>
            <a:ext cx="292608" cy="292608"/>
          </a:xfrm>
          <a:prstGeom prst="ellipse">
            <a:avLst/>
          </a:prstGeom>
          <a:solidFill>
            <a:srgbClr val="EAF1FE"/>
          </a:solidFill>
          <a:ln/>
        </p:spPr>
      </p:sp>
      <p:sp>
        <p:nvSpPr>
          <p:cNvPr id="45" name="Text 43"/>
          <p:cNvSpPr/>
          <p:nvPr/>
        </p:nvSpPr>
        <p:spPr>
          <a:xfrm>
            <a:off x="822960" y="480974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6" name="Text 44"/>
          <p:cNvSpPr/>
          <p:nvPr/>
        </p:nvSpPr>
        <p:spPr>
          <a:xfrm>
            <a:off x="1207008" y="481888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The regions — </a:t>
            </a:r>
            <a:pPr indent="0" marL="0">
              <a:buNone/>
            </a:pPr>
            <a:r>
              <a:rPr lang="en-US" sz="1080" dirty="0">
                <a:solidFill>
                  <a:srgbClr val="3E4C63"/>
                </a:solidFill>
                <a:latin typeface="Calibri" pitchFamily="34" charset="0"/>
                <a:ea typeface="Calibri" pitchFamily="34" charset="-122"/>
                <a:cs typeface="Calibri" pitchFamily="34" charset="-120"/>
              </a:rPr>
              <a:t>pick any of the 20, or compare them all</a:t>
            </a:r>
            <a:endParaRPr lang="en-US" sz="1080" dirty="0"/>
          </a:p>
        </p:txBody>
      </p:sp>
      <p:sp>
        <p:nvSpPr>
          <p:cNvPr id="47" name="Shape 45"/>
          <p:cNvSpPr/>
          <p:nvPr/>
        </p:nvSpPr>
        <p:spPr>
          <a:xfrm>
            <a:off x="822960" y="5321808"/>
            <a:ext cx="292608" cy="292608"/>
          </a:xfrm>
          <a:prstGeom prst="ellipse">
            <a:avLst/>
          </a:prstGeom>
          <a:solidFill>
            <a:srgbClr val="EAF1FE"/>
          </a:solidFill>
          <a:ln/>
        </p:spPr>
      </p:sp>
      <p:sp>
        <p:nvSpPr>
          <p:cNvPr id="48" name="Text 46"/>
          <p:cNvSpPr/>
          <p:nvPr/>
        </p:nvSpPr>
        <p:spPr>
          <a:xfrm>
            <a:off x="822960" y="5312664"/>
            <a:ext cx="292608" cy="292608"/>
          </a:xfrm>
          <a:prstGeom prst="rect">
            <a:avLst/>
          </a:prstGeom>
          <a:noFill/>
          <a:ln/>
        </p:spPr>
        <p:txBody>
          <a:bodyPr wrap="square" lIns="0" tIns="0" rIns="0" bIns="0" rtlCol="0" anchor="ctr"/>
          <a:lstStyle/>
          <a:p>
            <a:pPr algn="ctr" indent="0" marL="0">
              <a:buNone/>
            </a:pPr>
            <a:r>
              <a:rPr lang="en-US" sz="1100" b="1" dirty="0">
                <a:solidFill>
                  <a:srgbClr val="2563EB"/>
                </a:solidFill>
                <a:latin typeface="Calibri" pitchFamily="34" charset="0"/>
                <a:ea typeface="Calibri" pitchFamily="34" charset="-122"/>
                <a:cs typeface="Calibri" pitchFamily="34" charset="-120"/>
              </a:rPr>
              <a:t>✓</a:t>
            </a:r>
            <a:endParaRPr lang="en-US" sz="1100" dirty="0"/>
          </a:p>
        </p:txBody>
      </p:sp>
      <p:sp>
        <p:nvSpPr>
          <p:cNvPr id="49" name="Text 47"/>
          <p:cNvSpPr/>
          <p:nvPr/>
        </p:nvSpPr>
        <p:spPr>
          <a:xfrm>
            <a:off x="1207008" y="5321808"/>
            <a:ext cx="4480560" cy="457200"/>
          </a:xfrm>
          <a:prstGeom prst="rect">
            <a:avLst/>
          </a:prstGeom>
          <a:noFill/>
          <a:ln/>
        </p:spPr>
        <p:txBody>
          <a:bodyPr wrap="square" lIns="0" tIns="0" rIns="0" bIns="0" rtlCol="0" anchor="ctr"/>
          <a:lstStyle/>
          <a:p>
            <a:pPr indent="0" marL="0">
              <a:buNone/>
            </a:pPr>
            <a:r>
              <a:rPr lang="en-US" sz="1080" b="1" dirty="0">
                <a:solidFill>
                  <a:srgbClr val="0F1E3D"/>
                </a:solidFill>
                <a:latin typeface="Calibri" pitchFamily="34" charset="0"/>
                <a:ea typeface="Calibri" pitchFamily="34" charset="-122"/>
                <a:cs typeface="Calibri" pitchFamily="34" charset="-120"/>
              </a:rPr>
              <a:t>Volume &amp; Incoterm — </a:t>
            </a:r>
            <a:pPr indent="0" marL="0">
              <a:buNone/>
            </a:pPr>
            <a:r>
              <a:rPr lang="en-US" sz="1080" dirty="0">
                <a:solidFill>
                  <a:srgbClr val="3E4C63"/>
                </a:solidFill>
                <a:latin typeface="Calibri" pitchFamily="34" charset="0"/>
                <a:ea typeface="Calibri" pitchFamily="34" charset="-122"/>
                <a:cs typeface="Calibri" pitchFamily="34" charset="-120"/>
              </a:rPr>
              <a:t>drives volume curve and landed vs ex-works</a:t>
            </a:r>
            <a:endParaRPr lang="en-US" sz="1080" dirty="0"/>
          </a:p>
        </p:txBody>
      </p:sp>
      <p:sp>
        <p:nvSpPr>
          <p:cNvPr id="50" name="Shape 48"/>
          <p:cNvSpPr/>
          <p:nvPr/>
        </p:nvSpPr>
        <p:spPr>
          <a:xfrm>
            <a:off x="6245352" y="3749040"/>
            <a:ext cx="5394960" cy="2103120"/>
          </a:xfrm>
          <a:prstGeom prst="roundRect">
            <a:avLst>
              <a:gd name="adj" fmla="val 3043"/>
            </a:avLst>
          </a:prstGeom>
          <a:solidFill>
            <a:srgbClr val="E7F7F0"/>
          </a:solidFill>
          <a:ln w="12700">
            <a:solidFill>
              <a:srgbClr val="E4EAF2"/>
            </a:solidFill>
            <a:prstDash val="solid"/>
          </a:ln>
        </p:spPr>
      </p:sp>
      <p:sp>
        <p:nvSpPr>
          <p:cNvPr id="51" name="Shape 49"/>
          <p:cNvSpPr/>
          <p:nvPr/>
        </p:nvSpPr>
        <p:spPr>
          <a:xfrm>
            <a:off x="6245352" y="3749040"/>
            <a:ext cx="82296" cy="2103120"/>
          </a:xfrm>
          <a:prstGeom prst="rect">
            <a:avLst/>
          </a:prstGeom>
          <a:solidFill>
            <a:srgbClr val="0DA5A0"/>
          </a:solidFill>
          <a:ln/>
        </p:spPr>
      </p:sp>
      <p:sp>
        <p:nvSpPr>
          <p:cNvPr id="52" name="Text 50"/>
          <p:cNvSpPr/>
          <p:nvPr/>
        </p:nvSpPr>
        <p:spPr>
          <a:xfrm>
            <a:off x="6519672" y="3913632"/>
            <a:ext cx="4937760" cy="320040"/>
          </a:xfrm>
          <a:prstGeom prst="rect">
            <a:avLst/>
          </a:prstGeom>
          <a:noFill/>
          <a:ln/>
        </p:spPr>
        <p:txBody>
          <a:bodyPr wrap="square" lIns="0" tIns="0" rIns="0" bIns="0" rtlCol="0" anchor="t"/>
          <a:lstStyle/>
          <a:p>
            <a:pPr indent="0" marL="0">
              <a:buNone/>
            </a:pPr>
            <a:r>
              <a:rPr lang="en-US" sz="1350" b="1" dirty="0">
                <a:solidFill>
                  <a:srgbClr val="0DA5A0"/>
                </a:solidFill>
                <a:latin typeface="Calibri" pitchFamily="34" charset="0"/>
                <a:ea typeface="Calibri" pitchFamily="34" charset="-122"/>
                <a:cs typeface="Calibri" pitchFamily="34" charset="-120"/>
              </a:rPr>
              <a:t>What is factored in, per region</a:t>
            </a:r>
            <a:endParaRPr lang="en-US" sz="1350" dirty="0"/>
          </a:p>
        </p:txBody>
      </p:sp>
      <p:sp>
        <p:nvSpPr>
          <p:cNvPr id="53" name="Shape 51"/>
          <p:cNvSpPr/>
          <p:nvPr/>
        </p:nvSpPr>
        <p:spPr>
          <a:xfrm>
            <a:off x="6519672" y="4370832"/>
            <a:ext cx="91440" cy="91440"/>
          </a:xfrm>
          <a:prstGeom prst="ellipse">
            <a:avLst/>
          </a:prstGeom>
          <a:solidFill>
            <a:srgbClr val="0DA5A0"/>
          </a:solidFill>
          <a:ln/>
        </p:spPr>
      </p:sp>
      <p:sp>
        <p:nvSpPr>
          <p:cNvPr id="54" name="Text 52"/>
          <p:cNvSpPr/>
          <p:nvPr/>
        </p:nvSpPr>
        <p:spPr>
          <a:xfrm>
            <a:off x="670255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Labour by trade (£/hr)</a:t>
            </a:r>
            <a:endParaRPr lang="en-US" sz="1000" dirty="0"/>
          </a:p>
        </p:txBody>
      </p:sp>
      <p:sp>
        <p:nvSpPr>
          <p:cNvPr id="55" name="Shape 53"/>
          <p:cNvSpPr/>
          <p:nvPr/>
        </p:nvSpPr>
        <p:spPr>
          <a:xfrm>
            <a:off x="9125712" y="4370832"/>
            <a:ext cx="91440" cy="91440"/>
          </a:xfrm>
          <a:prstGeom prst="ellipse">
            <a:avLst/>
          </a:prstGeom>
          <a:solidFill>
            <a:srgbClr val="0DA5A0"/>
          </a:solidFill>
          <a:ln/>
        </p:spPr>
      </p:sp>
      <p:sp>
        <p:nvSpPr>
          <p:cNvPr id="56" name="Text 54"/>
          <p:cNvSpPr/>
          <p:nvPr/>
        </p:nvSpPr>
        <p:spPr>
          <a:xfrm>
            <a:off x="9308592" y="4315968"/>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Energy — elec &amp; gas (£/kWh)</a:t>
            </a:r>
            <a:endParaRPr lang="en-US" sz="1000" dirty="0"/>
          </a:p>
        </p:txBody>
      </p:sp>
      <p:sp>
        <p:nvSpPr>
          <p:cNvPr id="57" name="Shape 55"/>
          <p:cNvSpPr/>
          <p:nvPr/>
        </p:nvSpPr>
        <p:spPr>
          <a:xfrm>
            <a:off x="6519672" y="4754880"/>
            <a:ext cx="91440" cy="91440"/>
          </a:xfrm>
          <a:prstGeom prst="ellipse">
            <a:avLst/>
          </a:prstGeom>
          <a:solidFill>
            <a:srgbClr val="0DA5A0"/>
          </a:solidFill>
          <a:ln/>
        </p:spPr>
      </p:sp>
      <p:sp>
        <p:nvSpPr>
          <p:cNvPr id="58" name="Text 56"/>
          <p:cNvSpPr/>
          <p:nvPr/>
        </p:nvSpPr>
        <p:spPr>
          <a:xfrm>
            <a:off x="670255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Material factors (resin &amp; metal)</a:t>
            </a:r>
            <a:endParaRPr lang="en-US" sz="1000" dirty="0"/>
          </a:p>
        </p:txBody>
      </p:sp>
      <p:sp>
        <p:nvSpPr>
          <p:cNvPr id="59" name="Shape 57"/>
          <p:cNvSpPr/>
          <p:nvPr/>
        </p:nvSpPr>
        <p:spPr>
          <a:xfrm>
            <a:off x="9125712" y="4754880"/>
            <a:ext cx="91440" cy="91440"/>
          </a:xfrm>
          <a:prstGeom prst="ellipse">
            <a:avLst/>
          </a:prstGeom>
          <a:solidFill>
            <a:srgbClr val="0DA5A0"/>
          </a:solidFill>
          <a:ln/>
        </p:spPr>
      </p:sp>
      <p:sp>
        <p:nvSpPr>
          <p:cNvPr id="60" name="Text 58"/>
          <p:cNvSpPr/>
          <p:nvPr/>
        </p:nvSpPr>
        <p:spPr>
          <a:xfrm>
            <a:off x="9308592" y="4700016"/>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Machine-rate multiplier</a:t>
            </a:r>
            <a:endParaRPr lang="en-US" sz="1000" dirty="0"/>
          </a:p>
        </p:txBody>
      </p:sp>
      <p:sp>
        <p:nvSpPr>
          <p:cNvPr id="61" name="Shape 59"/>
          <p:cNvSpPr/>
          <p:nvPr/>
        </p:nvSpPr>
        <p:spPr>
          <a:xfrm>
            <a:off x="6519672" y="5138928"/>
            <a:ext cx="91440" cy="91440"/>
          </a:xfrm>
          <a:prstGeom prst="ellipse">
            <a:avLst/>
          </a:prstGeom>
          <a:solidFill>
            <a:srgbClr val="0DA5A0"/>
          </a:solidFill>
          <a:ln/>
        </p:spPr>
      </p:sp>
      <p:sp>
        <p:nvSpPr>
          <p:cNvPr id="62" name="Text 60"/>
          <p:cNvSpPr/>
          <p:nvPr/>
        </p:nvSpPr>
        <p:spPr>
          <a:xfrm>
            <a:off x="670255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Overhead multiplier</a:t>
            </a:r>
            <a:endParaRPr lang="en-US" sz="1000" dirty="0"/>
          </a:p>
        </p:txBody>
      </p:sp>
      <p:sp>
        <p:nvSpPr>
          <p:cNvPr id="63" name="Shape 61"/>
          <p:cNvSpPr/>
          <p:nvPr/>
        </p:nvSpPr>
        <p:spPr>
          <a:xfrm>
            <a:off x="9125712" y="5138928"/>
            <a:ext cx="91440" cy="91440"/>
          </a:xfrm>
          <a:prstGeom prst="ellipse">
            <a:avLst/>
          </a:prstGeom>
          <a:solidFill>
            <a:srgbClr val="0DA5A0"/>
          </a:solidFill>
          <a:ln/>
        </p:spPr>
      </p:sp>
      <p:sp>
        <p:nvSpPr>
          <p:cNvPr id="64" name="Text 62"/>
          <p:cNvSpPr/>
          <p:nvPr/>
        </p:nvSpPr>
        <p:spPr>
          <a:xfrm>
            <a:off x="9308592" y="5084064"/>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Packaging &amp; logistics</a:t>
            </a:r>
            <a:endParaRPr lang="en-US" sz="1000" dirty="0"/>
          </a:p>
        </p:txBody>
      </p:sp>
      <p:sp>
        <p:nvSpPr>
          <p:cNvPr id="65" name="Shape 63"/>
          <p:cNvSpPr/>
          <p:nvPr/>
        </p:nvSpPr>
        <p:spPr>
          <a:xfrm>
            <a:off x="6519672" y="5522976"/>
            <a:ext cx="91440" cy="91440"/>
          </a:xfrm>
          <a:prstGeom prst="ellipse">
            <a:avLst/>
          </a:prstGeom>
          <a:solidFill>
            <a:srgbClr val="0DA5A0"/>
          </a:solidFill>
          <a:ln/>
        </p:spPr>
      </p:sp>
      <p:sp>
        <p:nvSpPr>
          <p:cNvPr id="66" name="Text 64"/>
          <p:cNvSpPr/>
          <p:nvPr/>
        </p:nvSpPr>
        <p:spPr>
          <a:xfrm>
            <a:off x="670255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FX to GBP</a:t>
            </a:r>
            <a:endParaRPr lang="en-US" sz="1000" dirty="0"/>
          </a:p>
        </p:txBody>
      </p:sp>
      <p:sp>
        <p:nvSpPr>
          <p:cNvPr id="67" name="Shape 65"/>
          <p:cNvSpPr/>
          <p:nvPr/>
        </p:nvSpPr>
        <p:spPr>
          <a:xfrm>
            <a:off x="9125712" y="5522976"/>
            <a:ext cx="91440" cy="91440"/>
          </a:xfrm>
          <a:prstGeom prst="ellipse">
            <a:avLst/>
          </a:prstGeom>
          <a:solidFill>
            <a:srgbClr val="0DA5A0"/>
          </a:solidFill>
          <a:ln/>
        </p:spPr>
      </p:sp>
      <p:sp>
        <p:nvSpPr>
          <p:cNvPr id="68" name="Text 66"/>
          <p:cNvSpPr/>
          <p:nvPr/>
        </p:nvSpPr>
        <p:spPr>
          <a:xfrm>
            <a:off x="9308592" y="5468112"/>
            <a:ext cx="2377440" cy="365760"/>
          </a:xfrm>
          <a:prstGeom prst="rect">
            <a:avLst/>
          </a:prstGeom>
          <a:noFill/>
          <a:ln/>
        </p:spPr>
        <p:txBody>
          <a:bodyPr wrap="square" lIns="0" tIns="0" rIns="0" bIns="0" rtlCol="0" anchor="ctr"/>
          <a:lstStyle/>
          <a:p>
            <a:pPr indent="0" marL="0">
              <a:buNone/>
            </a:pPr>
            <a:r>
              <a:rPr lang="en-US" sz="1000" dirty="0">
                <a:solidFill>
                  <a:srgbClr val="3E4C63"/>
                </a:solidFill>
                <a:latin typeface="Calibri" pitchFamily="34" charset="0"/>
                <a:ea typeface="Calibri" pitchFamily="34" charset="-122"/>
                <a:cs typeface="Calibri" pitchFamily="34" charset="-120"/>
              </a:rPr>
              <a:t>Duty &amp; shipping adders</a:t>
            </a:r>
            <a:endParaRPr lang="en-US" sz="1000" dirty="0"/>
          </a:p>
        </p:txBody>
      </p:sp>
      <p:sp>
        <p:nvSpPr>
          <p:cNvPr id="69" name="Shape 67"/>
          <p:cNvSpPr/>
          <p:nvPr/>
        </p:nvSpPr>
        <p:spPr>
          <a:xfrm>
            <a:off x="548640" y="6400800"/>
            <a:ext cx="11094415" cy="12802"/>
          </a:xfrm>
          <a:prstGeom prst="rect">
            <a:avLst/>
          </a:prstGeom>
          <a:solidFill>
            <a:srgbClr val="E4EAF2"/>
          </a:solidFill>
          <a:ln/>
        </p:spPr>
      </p:sp>
      <p:sp>
        <p:nvSpPr>
          <p:cNvPr id="70" name="Text 6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1" name="Text 6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17 / 33</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actual rates — full transparency, no black box</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These are the real 2026-Q2 rates every costing uses — labour, energy and the regional multipliers. Nothing is hidden or hand-waved.</a:t>
            </a:r>
            <a:endParaRPr lang="en-US" sz="1200" dirty="0"/>
          </a:p>
        </p:txBody>
      </p:sp>
      <p:sp>
        <p:nvSpPr>
          <p:cNvPr id="11" name="Shape 9"/>
          <p:cNvSpPr/>
          <p:nvPr/>
        </p:nvSpPr>
        <p:spPr>
          <a:xfrm>
            <a:off x="548640" y="1965960"/>
            <a:ext cx="11091672" cy="329184"/>
          </a:xfrm>
          <a:prstGeom prst="roundRect">
            <a:avLst>
              <a:gd name="adj" fmla="val 11111"/>
            </a:avLst>
          </a:prstGeom>
          <a:solidFill>
            <a:srgbClr val="0F1E3D"/>
          </a:solidFill>
          <a:ln/>
        </p:spPr>
      </p:sp>
      <p:sp>
        <p:nvSpPr>
          <p:cNvPr id="12" name="Text 10"/>
          <p:cNvSpPr/>
          <p:nvPr/>
        </p:nvSpPr>
        <p:spPr>
          <a:xfrm>
            <a:off x="658368" y="1965960"/>
            <a:ext cx="2011680" cy="329184"/>
          </a:xfrm>
          <a:prstGeom prst="rect">
            <a:avLst/>
          </a:prstGeom>
          <a:noFill/>
          <a:ln/>
        </p:spPr>
        <p:txBody>
          <a:bodyPr wrap="square" lIns="0" tIns="0" rIns="0" bIns="0" rtlCol="0" anchor="ctr"/>
          <a:lstStyle/>
          <a:p>
            <a:pPr algn="l" indent="0" marL="0">
              <a:buNone/>
            </a:pPr>
            <a:r>
              <a:rPr lang="en-US" sz="950" b="1" dirty="0">
                <a:solidFill>
                  <a:srgbClr val="FFFFFF"/>
                </a:solidFill>
                <a:latin typeface="Calibri" pitchFamily="34" charset="0"/>
                <a:ea typeface="Calibri" pitchFamily="34" charset="-122"/>
                <a:cs typeface="Calibri" pitchFamily="34" charset="-120"/>
              </a:rPr>
              <a:t>Region</a:t>
            </a:r>
            <a:endParaRPr lang="en-US" sz="950" dirty="0"/>
          </a:p>
        </p:txBody>
      </p:sp>
      <p:sp>
        <p:nvSpPr>
          <p:cNvPr id="13" name="Text 11"/>
          <p:cNvSpPr/>
          <p:nvPr/>
        </p:nvSpPr>
        <p:spPr>
          <a:xfrm>
            <a:off x="2807208" y="1965960"/>
            <a:ext cx="14630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Skilled £/hr</a:t>
            </a:r>
            <a:endParaRPr lang="en-US" sz="950" dirty="0"/>
          </a:p>
        </p:txBody>
      </p:sp>
      <p:sp>
        <p:nvSpPr>
          <p:cNvPr id="14" name="Text 12"/>
          <p:cNvSpPr/>
          <p:nvPr/>
        </p:nvSpPr>
        <p:spPr>
          <a:xfrm>
            <a:off x="4407408" y="1965960"/>
            <a:ext cx="141732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Foundry £/hr</a:t>
            </a:r>
            <a:endParaRPr lang="en-US" sz="950" dirty="0"/>
          </a:p>
        </p:txBody>
      </p:sp>
      <p:sp>
        <p:nvSpPr>
          <p:cNvPr id="15" name="Text 13"/>
          <p:cNvSpPr/>
          <p:nvPr/>
        </p:nvSpPr>
        <p:spPr>
          <a:xfrm>
            <a:off x="5961888" y="1965960"/>
            <a:ext cx="128016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Elec £/kWh</a:t>
            </a:r>
            <a:endParaRPr lang="en-US" sz="950" dirty="0"/>
          </a:p>
        </p:txBody>
      </p:sp>
      <p:sp>
        <p:nvSpPr>
          <p:cNvPr id="16" name="Text 14"/>
          <p:cNvSpPr/>
          <p:nvPr/>
        </p:nvSpPr>
        <p:spPr>
          <a:xfrm>
            <a:off x="7379208" y="1965960"/>
            <a:ext cx="123444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Machine ×</a:t>
            </a:r>
            <a:endParaRPr lang="en-US" sz="950" dirty="0"/>
          </a:p>
        </p:txBody>
      </p:sp>
      <p:sp>
        <p:nvSpPr>
          <p:cNvPr id="17" name="Text 15"/>
          <p:cNvSpPr/>
          <p:nvPr/>
        </p:nvSpPr>
        <p:spPr>
          <a:xfrm>
            <a:off x="8750808" y="1965960"/>
            <a:ext cx="1325880"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Overhead ×</a:t>
            </a:r>
            <a:endParaRPr lang="en-US" sz="950" dirty="0"/>
          </a:p>
        </p:txBody>
      </p:sp>
      <p:sp>
        <p:nvSpPr>
          <p:cNvPr id="18" name="Text 16"/>
          <p:cNvSpPr/>
          <p:nvPr/>
        </p:nvSpPr>
        <p:spPr>
          <a:xfrm>
            <a:off x="10213848" y="1965960"/>
            <a:ext cx="1344168" cy="329184"/>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Logistics ×</a:t>
            </a:r>
            <a:endParaRPr lang="en-US" sz="950" dirty="0"/>
          </a:p>
        </p:txBody>
      </p:sp>
      <p:sp>
        <p:nvSpPr>
          <p:cNvPr id="19" name="Shape 17"/>
          <p:cNvSpPr/>
          <p:nvPr/>
        </p:nvSpPr>
        <p:spPr>
          <a:xfrm>
            <a:off x="548640" y="2295144"/>
            <a:ext cx="11091672" cy="329184"/>
          </a:xfrm>
          <a:prstGeom prst="rect">
            <a:avLst/>
          </a:prstGeom>
          <a:solidFill>
            <a:srgbClr val="F4F7FB"/>
          </a:solidFill>
          <a:ln/>
        </p:spPr>
      </p:sp>
      <p:sp>
        <p:nvSpPr>
          <p:cNvPr id="20" name="Text 18"/>
          <p:cNvSpPr/>
          <p:nvPr/>
        </p:nvSpPr>
        <p:spPr>
          <a:xfrm>
            <a:off x="658368" y="229514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Kingdom</a:t>
            </a:r>
            <a:endParaRPr lang="en-US" sz="930" dirty="0"/>
          </a:p>
        </p:txBody>
      </p:sp>
      <p:sp>
        <p:nvSpPr>
          <p:cNvPr id="21" name="Text 19"/>
          <p:cNvSpPr/>
          <p:nvPr/>
        </p:nvSpPr>
        <p:spPr>
          <a:xfrm>
            <a:off x="2807208" y="229514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26.00</a:t>
            </a:r>
            <a:endParaRPr lang="en-US" sz="930" dirty="0"/>
          </a:p>
        </p:txBody>
      </p:sp>
      <p:sp>
        <p:nvSpPr>
          <p:cNvPr id="22" name="Text 20"/>
          <p:cNvSpPr/>
          <p:nvPr/>
        </p:nvSpPr>
        <p:spPr>
          <a:xfrm>
            <a:off x="4407408" y="229514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18.50</a:t>
            </a:r>
            <a:endParaRPr lang="en-US" sz="930" dirty="0"/>
          </a:p>
        </p:txBody>
      </p:sp>
      <p:sp>
        <p:nvSpPr>
          <p:cNvPr id="23" name="Text 21"/>
          <p:cNvSpPr/>
          <p:nvPr/>
        </p:nvSpPr>
        <p:spPr>
          <a:xfrm>
            <a:off x="5961888" y="229514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0.23</a:t>
            </a:r>
            <a:endParaRPr lang="en-US" sz="930" dirty="0"/>
          </a:p>
        </p:txBody>
      </p:sp>
      <p:sp>
        <p:nvSpPr>
          <p:cNvPr id="24" name="Text 22"/>
          <p:cNvSpPr/>
          <p:nvPr/>
        </p:nvSpPr>
        <p:spPr>
          <a:xfrm>
            <a:off x="7379208" y="229514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5" name="Text 23"/>
          <p:cNvSpPr/>
          <p:nvPr/>
        </p:nvSpPr>
        <p:spPr>
          <a:xfrm>
            <a:off x="8750808" y="229514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6" name="Text 24"/>
          <p:cNvSpPr/>
          <p:nvPr/>
        </p:nvSpPr>
        <p:spPr>
          <a:xfrm>
            <a:off x="10213848" y="229514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1.00</a:t>
            </a:r>
            <a:endParaRPr lang="en-US" sz="930" dirty="0"/>
          </a:p>
        </p:txBody>
      </p:sp>
      <p:sp>
        <p:nvSpPr>
          <p:cNvPr id="27" name="Shape 25"/>
          <p:cNvSpPr/>
          <p:nvPr/>
        </p:nvSpPr>
        <p:spPr>
          <a:xfrm>
            <a:off x="548640" y="2624328"/>
            <a:ext cx="11091672" cy="329184"/>
          </a:xfrm>
          <a:prstGeom prst="rect">
            <a:avLst/>
          </a:prstGeom>
          <a:solidFill>
            <a:srgbClr val="FFFFFF"/>
          </a:solidFill>
          <a:ln/>
        </p:spPr>
      </p:sp>
      <p:sp>
        <p:nvSpPr>
          <p:cNvPr id="28" name="Text 26"/>
          <p:cNvSpPr/>
          <p:nvPr/>
        </p:nvSpPr>
        <p:spPr>
          <a:xfrm>
            <a:off x="658368" y="262432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Germany</a:t>
            </a:r>
            <a:endParaRPr lang="en-US" sz="930" dirty="0"/>
          </a:p>
        </p:txBody>
      </p:sp>
      <p:sp>
        <p:nvSpPr>
          <p:cNvPr id="29" name="Text 27"/>
          <p:cNvSpPr/>
          <p:nvPr/>
        </p:nvSpPr>
        <p:spPr>
          <a:xfrm>
            <a:off x="2807208" y="262432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40.50</a:t>
            </a:r>
            <a:endParaRPr lang="en-US" sz="930" dirty="0"/>
          </a:p>
        </p:txBody>
      </p:sp>
      <p:sp>
        <p:nvSpPr>
          <p:cNvPr id="30" name="Text 28"/>
          <p:cNvSpPr/>
          <p:nvPr/>
        </p:nvSpPr>
        <p:spPr>
          <a:xfrm>
            <a:off x="4407408" y="262432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28.00</a:t>
            </a:r>
            <a:endParaRPr lang="en-US" sz="930" dirty="0"/>
          </a:p>
        </p:txBody>
      </p:sp>
      <p:sp>
        <p:nvSpPr>
          <p:cNvPr id="31" name="Text 29"/>
          <p:cNvSpPr/>
          <p:nvPr/>
        </p:nvSpPr>
        <p:spPr>
          <a:xfrm>
            <a:off x="5961888" y="262432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0.20</a:t>
            </a:r>
            <a:endParaRPr lang="en-US" sz="930" dirty="0"/>
          </a:p>
        </p:txBody>
      </p:sp>
      <p:sp>
        <p:nvSpPr>
          <p:cNvPr id="32" name="Text 30"/>
          <p:cNvSpPr/>
          <p:nvPr/>
        </p:nvSpPr>
        <p:spPr>
          <a:xfrm>
            <a:off x="7379208" y="262432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1.05</a:t>
            </a:r>
            <a:endParaRPr lang="en-US" sz="930" dirty="0"/>
          </a:p>
        </p:txBody>
      </p:sp>
      <p:sp>
        <p:nvSpPr>
          <p:cNvPr id="33" name="Text 31"/>
          <p:cNvSpPr/>
          <p:nvPr/>
        </p:nvSpPr>
        <p:spPr>
          <a:xfrm>
            <a:off x="8750808" y="262432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1.10</a:t>
            </a:r>
            <a:endParaRPr lang="en-US" sz="930" dirty="0"/>
          </a:p>
        </p:txBody>
      </p:sp>
      <p:sp>
        <p:nvSpPr>
          <p:cNvPr id="34" name="Text 32"/>
          <p:cNvSpPr/>
          <p:nvPr/>
        </p:nvSpPr>
        <p:spPr>
          <a:xfrm>
            <a:off x="10213848" y="262432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1.15</a:t>
            </a:r>
            <a:endParaRPr lang="en-US" sz="930" dirty="0"/>
          </a:p>
        </p:txBody>
      </p:sp>
      <p:sp>
        <p:nvSpPr>
          <p:cNvPr id="35" name="Shape 33"/>
          <p:cNvSpPr/>
          <p:nvPr/>
        </p:nvSpPr>
        <p:spPr>
          <a:xfrm>
            <a:off x="548640" y="2953512"/>
            <a:ext cx="11091672" cy="329184"/>
          </a:xfrm>
          <a:prstGeom prst="rect">
            <a:avLst/>
          </a:prstGeom>
          <a:solidFill>
            <a:srgbClr val="F4F7FB"/>
          </a:solidFill>
          <a:ln/>
        </p:spPr>
      </p:sp>
      <p:sp>
        <p:nvSpPr>
          <p:cNvPr id="36" name="Text 34"/>
          <p:cNvSpPr/>
          <p:nvPr/>
        </p:nvSpPr>
        <p:spPr>
          <a:xfrm>
            <a:off x="658368" y="295351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United States</a:t>
            </a:r>
            <a:endParaRPr lang="en-US" sz="930" dirty="0"/>
          </a:p>
        </p:txBody>
      </p:sp>
      <p:sp>
        <p:nvSpPr>
          <p:cNvPr id="37" name="Text 35"/>
          <p:cNvSpPr/>
          <p:nvPr/>
        </p:nvSpPr>
        <p:spPr>
          <a:xfrm>
            <a:off x="2807208" y="295351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34.00</a:t>
            </a:r>
            <a:endParaRPr lang="en-US" sz="930" dirty="0"/>
          </a:p>
        </p:txBody>
      </p:sp>
      <p:sp>
        <p:nvSpPr>
          <p:cNvPr id="38" name="Text 36"/>
          <p:cNvSpPr/>
          <p:nvPr/>
        </p:nvSpPr>
        <p:spPr>
          <a:xfrm>
            <a:off x="4407408" y="295351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24.00</a:t>
            </a:r>
            <a:endParaRPr lang="en-US" sz="930" dirty="0"/>
          </a:p>
        </p:txBody>
      </p:sp>
      <p:sp>
        <p:nvSpPr>
          <p:cNvPr id="39" name="Text 37"/>
          <p:cNvSpPr/>
          <p:nvPr/>
        </p:nvSpPr>
        <p:spPr>
          <a:xfrm>
            <a:off x="5961888" y="295351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0.10</a:t>
            </a:r>
            <a:endParaRPr lang="en-US" sz="930" dirty="0"/>
          </a:p>
        </p:txBody>
      </p:sp>
      <p:sp>
        <p:nvSpPr>
          <p:cNvPr id="40" name="Text 38"/>
          <p:cNvSpPr/>
          <p:nvPr/>
        </p:nvSpPr>
        <p:spPr>
          <a:xfrm>
            <a:off x="7379208" y="295351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41" name="Text 39"/>
          <p:cNvSpPr/>
          <p:nvPr/>
        </p:nvSpPr>
        <p:spPr>
          <a:xfrm>
            <a:off x="8750808" y="295351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0.95</a:t>
            </a:r>
            <a:endParaRPr lang="en-US" sz="930" dirty="0"/>
          </a:p>
        </p:txBody>
      </p:sp>
      <p:sp>
        <p:nvSpPr>
          <p:cNvPr id="42" name="Text 40"/>
          <p:cNvSpPr/>
          <p:nvPr/>
        </p:nvSpPr>
        <p:spPr>
          <a:xfrm>
            <a:off x="10213848" y="295351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1.25</a:t>
            </a:r>
            <a:endParaRPr lang="en-US" sz="930" dirty="0"/>
          </a:p>
        </p:txBody>
      </p:sp>
      <p:sp>
        <p:nvSpPr>
          <p:cNvPr id="43" name="Shape 41"/>
          <p:cNvSpPr/>
          <p:nvPr/>
        </p:nvSpPr>
        <p:spPr>
          <a:xfrm>
            <a:off x="548640" y="3282696"/>
            <a:ext cx="11091672" cy="329184"/>
          </a:xfrm>
          <a:prstGeom prst="rect">
            <a:avLst/>
          </a:prstGeom>
          <a:solidFill>
            <a:srgbClr val="FFFFFF"/>
          </a:solidFill>
          <a:ln/>
        </p:spPr>
      </p:sp>
      <p:sp>
        <p:nvSpPr>
          <p:cNvPr id="44" name="Text 42"/>
          <p:cNvSpPr/>
          <p:nvPr/>
        </p:nvSpPr>
        <p:spPr>
          <a:xfrm>
            <a:off x="658368" y="328269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Poland</a:t>
            </a:r>
            <a:endParaRPr lang="en-US" sz="930" dirty="0"/>
          </a:p>
        </p:txBody>
      </p:sp>
      <p:sp>
        <p:nvSpPr>
          <p:cNvPr id="45" name="Text 43"/>
          <p:cNvSpPr/>
          <p:nvPr/>
        </p:nvSpPr>
        <p:spPr>
          <a:xfrm>
            <a:off x="2807208" y="328269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12.00</a:t>
            </a:r>
            <a:endParaRPr lang="en-US" sz="930" dirty="0"/>
          </a:p>
        </p:txBody>
      </p:sp>
      <p:sp>
        <p:nvSpPr>
          <p:cNvPr id="46" name="Text 44"/>
          <p:cNvSpPr/>
          <p:nvPr/>
        </p:nvSpPr>
        <p:spPr>
          <a:xfrm>
            <a:off x="4407408" y="328269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8.00</a:t>
            </a:r>
            <a:endParaRPr lang="en-US" sz="930" dirty="0"/>
          </a:p>
        </p:txBody>
      </p:sp>
      <p:sp>
        <p:nvSpPr>
          <p:cNvPr id="47" name="Text 45"/>
          <p:cNvSpPr/>
          <p:nvPr/>
        </p:nvSpPr>
        <p:spPr>
          <a:xfrm>
            <a:off x="5961888" y="328269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0.14</a:t>
            </a:r>
            <a:endParaRPr lang="en-US" sz="930" dirty="0"/>
          </a:p>
        </p:txBody>
      </p:sp>
      <p:sp>
        <p:nvSpPr>
          <p:cNvPr id="48" name="Text 46"/>
          <p:cNvSpPr/>
          <p:nvPr/>
        </p:nvSpPr>
        <p:spPr>
          <a:xfrm>
            <a:off x="7379208" y="328269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49" name="Text 47"/>
          <p:cNvSpPr/>
          <p:nvPr/>
        </p:nvSpPr>
        <p:spPr>
          <a:xfrm>
            <a:off x="8750808" y="328269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0.85</a:t>
            </a:r>
            <a:endParaRPr lang="en-US" sz="930" dirty="0"/>
          </a:p>
        </p:txBody>
      </p:sp>
      <p:sp>
        <p:nvSpPr>
          <p:cNvPr id="50" name="Text 48"/>
          <p:cNvSpPr/>
          <p:nvPr/>
        </p:nvSpPr>
        <p:spPr>
          <a:xfrm>
            <a:off x="10213848" y="328269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1" name="Shape 49"/>
          <p:cNvSpPr/>
          <p:nvPr/>
        </p:nvSpPr>
        <p:spPr>
          <a:xfrm>
            <a:off x="548640" y="3611880"/>
            <a:ext cx="11091672" cy="329184"/>
          </a:xfrm>
          <a:prstGeom prst="rect">
            <a:avLst/>
          </a:prstGeom>
          <a:solidFill>
            <a:srgbClr val="F4F7FB"/>
          </a:solidFill>
          <a:ln/>
        </p:spPr>
      </p:sp>
      <p:sp>
        <p:nvSpPr>
          <p:cNvPr id="52" name="Text 50"/>
          <p:cNvSpPr/>
          <p:nvPr/>
        </p:nvSpPr>
        <p:spPr>
          <a:xfrm>
            <a:off x="658368" y="361188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Czech Rep.</a:t>
            </a:r>
            <a:endParaRPr lang="en-US" sz="930" dirty="0"/>
          </a:p>
        </p:txBody>
      </p:sp>
      <p:sp>
        <p:nvSpPr>
          <p:cNvPr id="53" name="Text 51"/>
          <p:cNvSpPr/>
          <p:nvPr/>
        </p:nvSpPr>
        <p:spPr>
          <a:xfrm>
            <a:off x="2807208" y="361188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13.00</a:t>
            </a:r>
            <a:endParaRPr lang="en-US" sz="930" dirty="0"/>
          </a:p>
        </p:txBody>
      </p:sp>
      <p:sp>
        <p:nvSpPr>
          <p:cNvPr id="54" name="Text 52"/>
          <p:cNvSpPr/>
          <p:nvPr/>
        </p:nvSpPr>
        <p:spPr>
          <a:xfrm>
            <a:off x="4407408" y="361188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9.50</a:t>
            </a:r>
            <a:endParaRPr lang="en-US" sz="930" dirty="0"/>
          </a:p>
        </p:txBody>
      </p:sp>
      <p:sp>
        <p:nvSpPr>
          <p:cNvPr id="55" name="Text 53"/>
          <p:cNvSpPr/>
          <p:nvPr/>
        </p:nvSpPr>
        <p:spPr>
          <a:xfrm>
            <a:off x="5961888" y="361188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0.13</a:t>
            </a:r>
            <a:endParaRPr lang="en-US" sz="930" dirty="0"/>
          </a:p>
        </p:txBody>
      </p:sp>
      <p:sp>
        <p:nvSpPr>
          <p:cNvPr id="56" name="Text 54"/>
          <p:cNvSpPr/>
          <p:nvPr/>
        </p:nvSpPr>
        <p:spPr>
          <a:xfrm>
            <a:off x="7379208" y="361188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0.74</a:t>
            </a:r>
            <a:endParaRPr lang="en-US" sz="930" dirty="0"/>
          </a:p>
        </p:txBody>
      </p:sp>
      <p:sp>
        <p:nvSpPr>
          <p:cNvPr id="57" name="Text 55"/>
          <p:cNvSpPr/>
          <p:nvPr/>
        </p:nvSpPr>
        <p:spPr>
          <a:xfrm>
            <a:off x="8750808" y="361188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0.87</a:t>
            </a:r>
            <a:endParaRPr lang="en-US" sz="930" dirty="0"/>
          </a:p>
        </p:txBody>
      </p:sp>
      <p:sp>
        <p:nvSpPr>
          <p:cNvPr id="58" name="Text 56"/>
          <p:cNvSpPr/>
          <p:nvPr/>
        </p:nvSpPr>
        <p:spPr>
          <a:xfrm>
            <a:off x="10213848" y="361188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1.20</a:t>
            </a:r>
            <a:endParaRPr lang="en-US" sz="930" dirty="0"/>
          </a:p>
        </p:txBody>
      </p:sp>
      <p:sp>
        <p:nvSpPr>
          <p:cNvPr id="59" name="Shape 57"/>
          <p:cNvSpPr/>
          <p:nvPr/>
        </p:nvSpPr>
        <p:spPr>
          <a:xfrm>
            <a:off x="548640" y="3941064"/>
            <a:ext cx="11091672" cy="329184"/>
          </a:xfrm>
          <a:prstGeom prst="rect">
            <a:avLst/>
          </a:prstGeom>
          <a:solidFill>
            <a:srgbClr val="FFFFFF"/>
          </a:solidFill>
          <a:ln/>
        </p:spPr>
      </p:sp>
      <p:sp>
        <p:nvSpPr>
          <p:cNvPr id="60" name="Text 58"/>
          <p:cNvSpPr/>
          <p:nvPr/>
        </p:nvSpPr>
        <p:spPr>
          <a:xfrm>
            <a:off x="658368" y="3941064"/>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Mexico</a:t>
            </a:r>
            <a:endParaRPr lang="en-US" sz="930" dirty="0"/>
          </a:p>
        </p:txBody>
      </p:sp>
      <p:sp>
        <p:nvSpPr>
          <p:cNvPr id="61" name="Text 59"/>
          <p:cNvSpPr/>
          <p:nvPr/>
        </p:nvSpPr>
        <p:spPr>
          <a:xfrm>
            <a:off x="2807208" y="3941064"/>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7.50</a:t>
            </a:r>
            <a:endParaRPr lang="en-US" sz="930" dirty="0"/>
          </a:p>
        </p:txBody>
      </p:sp>
      <p:sp>
        <p:nvSpPr>
          <p:cNvPr id="62" name="Text 60"/>
          <p:cNvSpPr/>
          <p:nvPr/>
        </p:nvSpPr>
        <p:spPr>
          <a:xfrm>
            <a:off x="4407408" y="3941064"/>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63" name="Text 61"/>
          <p:cNvSpPr/>
          <p:nvPr/>
        </p:nvSpPr>
        <p:spPr>
          <a:xfrm>
            <a:off x="5961888" y="3941064"/>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0.08</a:t>
            </a:r>
            <a:endParaRPr lang="en-US" sz="930" dirty="0"/>
          </a:p>
        </p:txBody>
      </p:sp>
      <p:sp>
        <p:nvSpPr>
          <p:cNvPr id="64" name="Text 62"/>
          <p:cNvSpPr/>
          <p:nvPr/>
        </p:nvSpPr>
        <p:spPr>
          <a:xfrm>
            <a:off x="7379208" y="3941064"/>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65" name="Text 63"/>
          <p:cNvSpPr/>
          <p:nvPr/>
        </p:nvSpPr>
        <p:spPr>
          <a:xfrm>
            <a:off x="8750808" y="3941064"/>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66" name="Text 64"/>
          <p:cNvSpPr/>
          <p:nvPr/>
        </p:nvSpPr>
        <p:spPr>
          <a:xfrm>
            <a:off x="10213848" y="3941064"/>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1.35</a:t>
            </a:r>
            <a:endParaRPr lang="en-US" sz="930" dirty="0"/>
          </a:p>
        </p:txBody>
      </p:sp>
      <p:sp>
        <p:nvSpPr>
          <p:cNvPr id="67" name="Shape 65"/>
          <p:cNvSpPr/>
          <p:nvPr/>
        </p:nvSpPr>
        <p:spPr>
          <a:xfrm>
            <a:off x="548640" y="4270248"/>
            <a:ext cx="11091672" cy="329184"/>
          </a:xfrm>
          <a:prstGeom prst="rect">
            <a:avLst/>
          </a:prstGeom>
          <a:solidFill>
            <a:srgbClr val="F4F7FB"/>
          </a:solidFill>
          <a:ln/>
        </p:spPr>
      </p:sp>
      <p:sp>
        <p:nvSpPr>
          <p:cNvPr id="68" name="Text 66"/>
          <p:cNvSpPr/>
          <p:nvPr/>
        </p:nvSpPr>
        <p:spPr>
          <a:xfrm>
            <a:off x="658368" y="4270248"/>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Turkey</a:t>
            </a:r>
            <a:endParaRPr lang="en-US" sz="930" dirty="0"/>
          </a:p>
        </p:txBody>
      </p:sp>
      <p:sp>
        <p:nvSpPr>
          <p:cNvPr id="69" name="Text 67"/>
          <p:cNvSpPr/>
          <p:nvPr/>
        </p:nvSpPr>
        <p:spPr>
          <a:xfrm>
            <a:off x="2807208" y="4270248"/>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6.50</a:t>
            </a:r>
            <a:endParaRPr lang="en-US" sz="930" dirty="0"/>
          </a:p>
        </p:txBody>
      </p:sp>
      <p:sp>
        <p:nvSpPr>
          <p:cNvPr id="70" name="Text 68"/>
          <p:cNvSpPr/>
          <p:nvPr/>
        </p:nvSpPr>
        <p:spPr>
          <a:xfrm>
            <a:off x="4407408" y="4270248"/>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4.80</a:t>
            </a:r>
            <a:endParaRPr lang="en-US" sz="930" dirty="0"/>
          </a:p>
        </p:txBody>
      </p:sp>
      <p:sp>
        <p:nvSpPr>
          <p:cNvPr id="71" name="Text 69"/>
          <p:cNvSpPr/>
          <p:nvPr/>
        </p:nvSpPr>
        <p:spPr>
          <a:xfrm>
            <a:off x="5961888" y="4270248"/>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0.09</a:t>
            </a:r>
            <a:endParaRPr lang="en-US" sz="930" dirty="0"/>
          </a:p>
        </p:txBody>
      </p:sp>
      <p:sp>
        <p:nvSpPr>
          <p:cNvPr id="72" name="Text 70"/>
          <p:cNvSpPr/>
          <p:nvPr/>
        </p:nvSpPr>
        <p:spPr>
          <a:xfrm>
            <a:off x="7379208" y="4270248"/>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0.60</a:t>
            </a:r>
            <a:endParaRPr lang="en-US" sz="930" dirty="0"/>
          </a:p>
        </p:txBody>
      </p:sp>
      <p:sp>
        <p:nvSpPr>
          <p:cNvPr id="73" name="Text 71"/>
          <p:cNvSpPr/>
          <p:nvPr/>
        </p:nvSpPr>
        <p:spPr>
          <a:xfrm>
            <a:off x="8750808" y="4270248"/>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0.78</a:t>
            </a:r>
            <a:endParaRPr lang="en-US" sz="930" dirty="0"/>
          </a:p>
        </p:txBody>
      </p:sp>
      <p:sp>
        <p:nvSpPr>
          <p:cNvPr id="74" name="Text 72"/>
          <p:cNvSpPr/>
          <p:nvPr/>
        </p:nvSpPr>
        <p:spPr>
          <a:xfrm>
            <a:off x="10213848" y="4270248"/>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1.30</a:t>
            </a:r>
            <a:endParaRPr lang="en-US" sz="930" dirty="0"/>
          </a:p>
        </p:txBody>
      </p:sp>
      <p:sp>
        <p:nvSpPr>
          <p:cNvPr id="75" name="Shape 73"/>
          <p:cNvSpPr/>
          <p:nvPr/>
        </p:nvSpPr>
        <p:spPr>
          <a:xfrm>
            <a:off x="548640" y="4599432"/>
            <a:ext cx="11091672" cy="329184"/>
          </a:xfrm>
          <a:prstGeom prst="rect">
            <a:avLst/>
          </a:prstGeom>
          <a:solidFill>
            <a:srgbClr val="FFFFFF"/>
          </a:solidFill>
          <a:ln/>
        </p:spPr>
      </p:sp>
      <p:sp>
        <p:nvSpPr>
          <p:cNvPr id="76" name="Text 74"/>
          <p:cNvSpPr/>
          <p:nvPr/>
        </p:nvSpPr>
        <p:spPr>
          <a:xfrm>
            <a:off x="658368" y="4599432"/>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China</a:t>
            </a:r>
            <a:endParaRPr lang="en-US" sz="930" dirty="0"/>
          </a:p>
        </p:txBody>
      </p:sp>
      <p:sp>
        <p:nvSpPr>
          <p:cNvPr id="77" name="Text 75"/>
          <p:cNvSpPr/>
          <p:nvPr/>
        </p:nvSpPr>
        <p:spPr>
          <a:xfrm>
            <a:off x="2807208" y="4599432"/>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7.90</a:t>
            </a:r>
            <a:endParaRPr lang="en-US" sz="930" dirty="0"/>
          </a:p>
        </p:txBody>
      </p:sp>
      <p:sp>
        <p:nvSpPr>
          <p:cNvPr id="78" name="Text 76"/>
          <p:cNvSpPr/>
          <p:nvPr/>
        </p:nvSpPr>
        <p:spPr>
          <a:xfrm>
            <a:off x="4407408" y="4599432"/>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5.00</a:t>
            </a:r>
            <a:endParaRPr lang="en-US" sz="930" dirty="0"/>
          </a:p>
        </p:txBody>
      </p:sp>
      <p:sp>
        <p:nvSpPr>
          <p:cNvPr id="79" name="Text 77"/>
          <p:cNvSpPr/>
          <p:nvPr/>
        </p:nvSpPr>
        <p:spPr>
          <a:xfrm>
            <a:off x="5961888" y="4599432"/>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0" name="Text 78"/>
          <p:cNvSpPr/>
          <p:nvPr/>
        </p:nvSpPr>
        <p:spPr>
          <a:xfrm>
            <a:off x="7379208" y="4599432"/>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0.55</a:t>
            </a:r>
            <a:endParaRPr lang="en-US" sz="930" dirty="0"/>
          </a:p>
        </p:txBody>
      </p:sp>
      <p:sp>
        <p:nvSpPr>
          <p:cNvPr id="81" name="Text 79"/>
          <p:cNvSpPr/>
          <p:nvPr/>
        </p:nvSpPr>
        <p:spPr>
          <a:xfrm>
            <a:off x="8750808" y="4599432"/>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0.75</a:t>
            </a:r>
            <a:endParaRPr lang="en-US" sz="930" dirty="0"/>
          </a:p>
        </p:txBody>
      </p:sp>
      <p:sp>
        <p:nvSpPr>
          <p:cNvPr id="82" name="Text 80"/>
          <p:cNvSpPr/>
          <p:nvPr/>
        </p:nvSpPr>
        <p:spPr>
          <a:xfrm>
            <a:off x="10213848" y="4599432"/>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1.45</a:t>
            </a:r>
            <a:endParaRPr lang="en-US" sz="930" dirty="0"/>
          </a:p>
        </p:txBody>
      </p:sp>
      <p:sp>
        <p:nvSpPr>
          <p:cNvPr id="83" name="Shape 81"/>
          <p:cNvSpPr/>
          <p:nvPr/>
        </p:nvSpPr>
        <p:spPr>
          <a:xfrm>
            <a:off x="548640" y="4928616"/>
            <a:ext cx="11091672" cy="329184"/>
          </a:xfrm>
          <a:prstGeom prst="rect">
            <a:avLst/>
          </a:prstGeom>
          <a:solidFill>
            <a:srgbClr val="F4F7FB"/>
          </a:solidFill>
          <a:ln/>
        </p:spPr>
      </p:sp>
      <p:sp>
        <p:nvSpPr>
          <p:cNvPr id="84" name="Text 82"/>
          <p:cNvSpPr/>
          <p:nvPr/>
        </p:nvSpPr>
        <p:spPr>
          <a:xfrm>
            <a:off x="658368" y="4928616"/>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India</a:t>
            </a:r>
            <a:endParaRPr lang="en-US" sz="930" dirty="0"/>
          </a:p>
        </p:txBody>
      </p:sp>
      <p:sp>
        <p:nvSpPr>
          <p:cNvPr id="85" name="Text 83"/>
          <p:cNvSpPr/>
          <p:nvPr/>
        </p:nvSpPr>
        <p:spPr>
          <a:xfrm>
            <a:off x="2807208" y="4928616"/>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5.10</a:t>
            </a:r>
            <a:endParaRPr lang="en-US" sz="930" dirty="0"/>
          </a:p>
        </p:txBody>
      </p:sp>
      <p:sp>
        <p:nvSpPr>
          <p:cNvPr id="86" name="Text 84"/>
          <p:cNvSpPr/>
          <p:nvPr/>
        </p:nvSpPr>
        <p:spPr>
          <a:xfrm>
            <a:off x="4407408" y="4928616"/>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3.00</a:t>
            </a:r>
            <a:endParaRPr lang="en-US" sz="930" dirty="0"/>
          </a:p>
        </p:txBody>
      </p:sp>
      <p:sp>
        <p:nvSpPr>
          <p:cNvPr id="87" name="Text 85"/>
          <p:cNvSpPr/>
          <p:nvPr/>
        </p:nvSpPr>
        <p:spPr>
          <a:xfrm>
            <a:off x="5961888" y="4928616"/>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0.07</a:t>
            </a:r>
            <a:endParaRPr lang="en-US" sz="930" dirty="0"/>
          </a:p>
        </p:txBody>
      </p:sp>
      <p:sp>
        <p:nvSpPr>
          <p:cNvPr id="88" name="Text 86"/>
          <p:cNvSpPr/>
          <p:nvPr/>
        </p:nvSpPr>
        <p:spPr>
          <a:xfrm>
            <a:off x="7379208" y="4928616"/>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89" name="Text 87"/>
          <p:cNvSpPr/>
          <p:nvPr/>
        </p:nvSpPr>
        <p:spPr>
          <a:xfrm>
            <a:off x="8750808" y="4928616"/>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0.72</a:t>
            </a:r>
            <a:endParaRPr lang="en-US" sz="930" dirty="0"/>
          </a:p>
        </p:txBody>
      </p:sp>
      <p:sp>
        <p:nvSpPr>
          <p:cNvPr id="90" name="Text 88"/>
          <p:cNvSpPr/>
          <p:nvPr/>
        </p:nvSpPr>
        <p:spPr>
          <a:xfrm>
            <a:off x="10213848" y="4928616"/>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1" name="Shape 89"/>
          <p:cNvSpPr/>
          <p:nvPr/>
        </p:nvSpPr>
        <p:spPr>
          <a:xfrm>
            <a:off x="548640" y="5257800"/>
            <a:ext cx="11091672" cy="329184"/>
          </a:xfrm>
          <a:prstGeom prst="rect">
            <a:avLst/>
          </a:prstGeom>
          <a:solidFill>
            <a:srgbClr val="FFFFFF"/>
          </a:solidFill>
          <a:ln/>
        </p:spPr>
      </p:sp>
      <p:sp>
        <p:nvSpPr>
          <p:cNvPr id="92" name="Text 90"/>
          <p:cNvSpPr/>
          <p:nvPr/>
        </p:nvSpPr>
        <p:spPr>
          <a:xfrm>
            <a:off x="658368" y="5257800"/>
            <a:ext cx="2011680" cy="329184"/>
          </a:xfrm>
          <a:prstGeom prst="rect">
            <a:avLst/>
          </a:prstGeom>
          <a:noFill/>
          <a:ln/>
        </p:spPr>
        <p:txBody>
          <a:bodyPr wrap="square" lIns="0" tIns="0" rIns="0" bIns="0" rtlCol="0" anchor="ctr"/>
          <a:lstStyle/>
          <a:p>
            <a:pPr algn="l" indent="0" marL="0">
              <a:buNone/>
            </a:pPr>
            <a:r>
              <a:rPr lang="en-US" sz="930" b="1" dirty="0">
                <a:solidFill>
                  <a:srgbClr val="0F1E3D"/>
                </a:solidFill>
                <a:latin typeface="Calibri" pitchFamily="34" charset="0"/>
                <a:ea typeface="Calibri" pitchFamily="34" charset="-122"/>
                <a:cs typeface="Calibri" pitchFamily="34" charset="-120"/>
              </a:rPr>
              <a:t>Vietnam</a:t>
            </a:r>
            <a:endParaRPr lang="en-US" sz="930" dirty="0"/>
          </a:p>
        </p:txBody>
      </p:sp>
      <p:sp>
        <p:nvSpPr>
          <p:cNvPr id="93" name="Text 91"/>
          <p:cNvSpPr/>
          <p:nvPr/>
        </p:nvSpPr>
        <p:spPr>
          <a:xfrm>
            <a:off x="2807208" y="5257800"/>
            <a:ext cx="14630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3.80</a:t>
            </a:r>
            <a:endParaRPr lang="en-US" sz="930" dirty="0"/>
          </a:p>
        </p:txBody>
      </p:sp>
      <p:sp>
        <p:nvSpPr>
          <p:cNvPr id="94" name="Text 92"/>
          <p:cNvSpPr/>
          <p:nvPr/>
        </p:nvSpPr>
        <p:spPr>
          <a:xfrm>
            <a:off x="4407408" y="5257800"/>
            <a:ext cx="141732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2.50</a:t>
            </a:r>
            <a:endParaRPr lang="en-US" sz="930" dirty="0"/>
          </a:p>
        </p:txBody>
      </p:sp>
      <p:sp>
        <p:nvSpPr>
          <p:cNvPr id="95" name="Text 93"/>
          <p:cNvSpPr/>
          <p:nvPr/>
        </p:nvSpPr>
        <p:spPr>
          <a:xfrm>
            <a:off x="5961888" y="5257800"/>
            <a:ext cx="128016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0.06</a:t>
            </a:r>
            <a:endParaRPr lang="en-US" sz="930" dirty="0"/>
          </a:p>
        </p:txBody>
      </p:sp>
      <p:sp>
        <p:nvSpPr>
          <p:cNvPr id="96" name="Text 94"/>
          <p:cNvSpPr/>
          <p:nvPr/>
        </p:nvSpPr>
        <p:spPr>
          <a:xfrm>
            <a:off x="7379208" y="5257800"/>
            <a:ext cx="123444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0.52</a:t>
            </a:r>
            <a:endParaRPr lang="en-US" sz="930" dirty="0"/>
          </a:p>
        </p:txBody>
      </p:sp>
      <p:sp>
        <p:nvSpPr>
          <p:cNvPr id="97" name="Text 95"/>
          <p:cNvSpPr/>
          <p:nvPr/>
        </p:nvSpPr>
        <p:spPr>
          <a:xfrm>
            <a:off x="8750808" y="5257800"/>
            <a:ext cx="1325880"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0.70</a:t>
            </a:r>
            <a:endParaRPr lang="en-US" sz="930" dirty="0"/>
          </a:p>
        </p:txBody>
      </p:sp>
      <p:sp>
        <p:nvSpPr>
          <p:cNvPr id="98" name="Text 96"/>
          <p:cNvSpPr/>
          <p:nvPr/>
        </p:nvSpPr>
        <p:spPr>
          <a:xfrm>
            <a:off x="10213848" y="5257800"/>
            <a:ext cx="1344168" cy="329184"/>
          </a:xfrm>
          <a:prstGeom prst="rect">
            <a:avLst/>
          </a:prstGeom>
          <a:noFill/>
          <a:ln/>
        </p:spPr>
        <p:txBody>
          <a:bodyPr wrap="square" lIns="0" tIns="0" rIns="0" bIns="0" rtlCol="0" anchor="ctr"/>
          <a:lstStyle/>
          <a:p>
            <a:pPr algn="ctr" indent="0" marL="0">
              <a:buNone/>
            </a:pPr>
            <a:r>
              <a:rPr lang="en-US" sz="930" dirty="0">
                <a:solidFill>
                  <a:srgbClr val="3E4C63"/>
                </a:solidFill>
                <a:latin typeface="Calibri" pitchFamily="34" charset="0"/>
                <a:ea typeface="Calibri" pitchFamily="34" charset="-122"/>
                <a:cs typeface="Calibri" pitchFamily="34" charset="-120"/>
              </a:rPr>
              <a:t>1.50</a:t>
            </a:r>
            <a:endParaRPr lang="en-US" sz="930" dirty="0"/>
          </a:p>
        </p:txBody>
      </p:sp>
      <p:sp>
        <p:nvSpPr>
          <p:cNvPr id="99" name="Shape 97"/>
          <p:cNvSpPr/>
          <p:nvPr/>
        </p:nvSpPr>
        <p:spPr>
          <a:xfrm>
            <a:off x="548640" y="5696712"/>
            <a:ext cx="11091672" cy="566928"/>
          </a:xfrm>
          <a:prstGeom prst="roundRect">
            <a:avLst>
              <a:gd name="adj" fmla="val 11290"/>
            </a:avLst>
          </a:prstGeom>
          <a:solidFill>
            <a:srgbClr val="FEF6E7"/>
          </a:solidFill>
          <a:ln w="12700">
            <a:solidFill>
              <a:srgbClr val="E4EAF2"/>
            </a:solidFill>
            <a:prstDash val="solid"/>
          </a:ln>
        </p:spPr>
      </p:sp>
      <p:sp>
        <p:nvSpPr>
          <p:cNvPr id="100" name="Shape 98"/>
          <p:cNvSpPr/>
          <p:nvPr/>
        </p:nvSpPr>
        <p:spPr>
          <a:xfrm>
            <a:off x="548640" y="5696712"/>
            <a:ext cx="82296" cy="566928"/>
          </a:xfrm>
          <a:prstGeom prst="rect">
            <a:avLst/>
          </a:prstGeom>
          <a:solidFill>
            <a:srgbClr val="E0900C"/>
          </a:solidFill>
          <a:ln/>
        </p:spPr>
      </p:sp>
      <p:sp>
        <p:nvSpPr>
          <p:cNvPr id="101" name="Text 99"/>
          <p:cNvSpPr/>
          <p:nvPr/>
        </p:nvSpPr>
        <p:spPr>
          <a:xfrm>
            <a:off x="914400" y="5696712"/>
            <a:ext cx="10332720" cy="566928"/>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Showing 10 of 20 regions.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Sourced from IPC / industry rate data. Material factors, FX, energy-gas, packaging and duty adders sit behind these too — one versioned library, used by every single costing.</a:t>
            </a:r>
            <a:endParaRPr lang="en-US" sz="1050" dirty="0"/>
          </a:p>
        </p:txBody>
      </p:sp>
      <p:sp>
        <p:nvSpPr>
          <p:cNvPr id="102" name="Shape 100"/>
          <p:cNvSpPr/>
          <p:nvPr/>
        </p:nvSpPr>
        <p:spPr>
          <a:xfrm>
            <a:off x="548640" y="6400800"/>
            <a:ext cx="11094415" cy="12802"/>
          </a:xfrm>
          <a:prstGeom prst="rect">
            <a:avLst/>
          </a:prstGeom>
          <a:solidFill>
            <a:srgbClr val="E4EAF2"/>
          </a:solidFill>
          <a:ln/>
        </p:spPr>
      </p:sp>
      <p:sp>
        <p:nvSpPr>
          <p:cNvPr id="103" name="Text 101"/>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104" name="Text 102"/>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18 / 33</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E0900C"/>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E0900C"/>
                </a:solidFill>
                <a:latin typeface="Calibri" pitchFamily="34" charset="0"/>
                <a:ea typeface="Calibri" pitchFamily="34" charset="-122"/>
                <a:cs typeface="Calibri" pitchFamily="34" charset="-120"/>
              </a:rPr>
              <a:t>DEEP DIVE · SHOULD-COST MODEL</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Bring our own rate database — our rates, our numbers</a:t>
            </a:r>
            <a:endParaRPr lang="en-US" sz="2400" dirty="0"/>
          </a:p>
        </p:txBody>
      </p:sp>
      <p:sp>
        <p:nvSpPr>
          <p:cNvPr id="9" name="Shape 7"/>
          <p:cNvSpPr/>
          <p:nvPr/>
        </p:nvSpPr>
        <p:spPr>
          <a:xfrm>
            <a:off x="548640" y="1371600"/>
            <a:ext cx="1051560" cy="45720"/>
          </a:xfrm>
          <a:prstGeom prst="rect">
            <a:avLst/>
          </a:prstGeom>
          <a:solidFill>
            <a:srgbClr val="E0900C"/>
          </a:solidFill>
          <a:ln/>
        </p:spPr>
      </p:sp>
      <p:sp>
        <p:nvSpPr>
          <p:cNvPr id="10" name="Text 8"/>
          <p:cNvSpPr/>
          <p:nvPr/>
        </p:nvSpPr>
        <p:spPr>
          <a:xfrm>
            <a:off x="548640" y="1481328"/>
            <a:ext cx="11091672"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Upload our organisation’s own cost rates as one Excel workbook. Every costing then runs on our numbers — validated on upload, versioned, and fully auditable. No black box, no lock-in to our defaults.</a:t>
            </a:r>
            <a:endParaRPr lang="en-US" sz="1200" dirty="0"/>
          </a:p>
        </p:txBody>
      </p:sp>
      <p:sp>
        <p:nvSpPr>
          <p:cNvPr id="11" name="Shape 9"/>
          <p:cNvSpPr/>
          <p:nvPr/>
        </p:nvSpPr>
        <p:spPr>
          <a:xfrm>
            <a:off x="54864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26197455739825e+169" dist="3.605641592566428e+168" dir="7.218447050975619e+197">
              <a:srgbClr val="9DB0CC">
                <a:alpha val="2.2000000000000007e+204"/>
              </a:srgbClr>
            </a:outerShdw>
          </a:effectLst>
        </p:spPr>
      </p:sp>
      <p:sp>
        <p:nvSpPr>
          <p:cNvPr id="12" name="Shape 10"/>
          <p:cNvSpPr/>
          <p:nvPr/>
        </p:nvSpPr>
        <p:spPr>
          <a:xfrm>
            <a:off x="548640" y="1938528"/>
            <a:ext cx="82296" cy="1371600"/>
          </a:xfrm>
          <a:prstGeom prst="rect">
            <a:avLst/>
          </a:prstGeom>
          <a:solidFill>
            <a:srgbClr val="2563EB"/>
          </a:solidFill>
          <a:ln/>
        </p:spPr>
      </p:sp>
      <p:sp>
        <p:nvSpPr>
          <p:cNvPr id="13" name="Text 11"/>
          <p:cNvSpPr/>
          <p:nvPr/>
        </p:nvSpPr>
        <p:spPr>
          <a:xfrm>
            <a:off x="731520" y="2084832"/>
            <a:ext cx="1495044" cy="274320"/>
          </a:xfrm>
          <a:prstGeom prst="rect">
            <a:avLst/>
          </a:prstGeom>
          <a:noFill/>
          <a:ln/>
        </p:spPr>
        <p:txBody>
          <a:bodyPr wrap="square" lIns="0" tIns="0" rIns="0" bIns="0" rtlCol="0" anchor="t"/>
          <a:lstStyle/>
          <a:p>
            <a:pPr indent="0" marL="0">
              <a:buNone/>
            </a:pPr>
            <a:r>
              <a:rPr lang="en-US" sz="1250" b="1" dirty="0">
                <a:solidFill>
                  <a:srgbClr val="2563EB"/>
                </a:solidFill>
                <a:latin typeface="Calibri" pitchFamily="34" charset="0"/>
                <a:ea typeface="Calibri" pitchFamily="34" charset="-122"/>
                <a:cs typeface="Calibri" pitchFamily="34" charset="-120"/>
              </a:rPr>
              <a:t>Materials</a:t>
            </a:r>
            <a:endParaRPr lang="en-US" sz="1250" dirty="0"/>
          </a:p>
        </p:txBody>
      </p:sp>
      <p:sp>
        <p:nvSpPr>
          <p:cNvPr id="14" name="Text 12"/>
          <p:cNvSpPr/>
          <p:nvPr/>
        </p:nvSpPr>
        <p:spPr>
          <a:xfrm>
            <a:off x="73152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£/kg, scrap-recovery £/kg, density, region — with effective date</a:t>
            </a:r>
            <a:endParaRPr lang="en-US" sz="830" dirty="0"/>
          </a:p>
        </p:txBody>
      </p:sp>
      <p:sp>
        <p:nvSpPr>
          <p:cNvPr id="15" name="Shape 13"/>
          <p:cNvSpPr/>
          <p:nvPr/>
        </p:nvSpPr>
        <p:spPr>
          <a:xfrm>
            <a:off x="2409444"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6027076878957775e+173" dist="4.579164822559364e+172" dir="4.3310682305853715e+202">
              <a:srgbClr val="9DB0CC">
                <a:alpha val="2.2000000000000006e+209"/>
              </a:srgbClr>
            </a:outerShdw>
          </a:effectLst>
        </p:spPr>
      </p:sp>
      <p:sp>
        <p:nvSpPr>
          <p:cNvPr id="16" name="Shape 14"/>
          <p:cNvSpPr/>
          <p:nvPr/>
        </p:nvSpPr>
        <p:spPr>
          <a:xfrm>
            <a:off x="2409444" y="1938528"/>
            <a:ext cx="82296" cy="1371600"/>
          </a:xfrm>
          <a:prstGeom prst="rect">
            <a:avLst/>
          </a:prstGeom>
          <a:solidFill>
            <a:srgbClr val="4F46E5"/>
          </a:solidFill>
          <a:ln/>
        </p:spPr>
      </p:sp>
      <p:sp>
        <p:nvSpPr>
          <p:cNvPr id="17" name="Text 15"/>
          <p:cNvSpPr/>
          <p:nvPr/>
        </p:nvSpPr>
        <p:spPr>
          <a:xfrm>
            <a:off x="2592324" y="2084832"/>
            <a:ext cx="1495044" cy="274320"/>
          </a:xfrm>
          <a:prstGeom prst="rect">
            <a:avLst/>
          </a:prstGeom>
          <a:noFill/>
          <a:ln/>
        </p:spPr>
        <p:txBody>
          <a:bodyPr wrap="square" lIns="0" tIns="0" rIns="0" bIns="0" rtlCol="0" anchor="t"/>
          <a:lstStyle/>
          <a:p>
            <a:pPr indent="0" marL="0">
              <a:buNone/>
            </a:pPr>
            <a:r>
              <a:rPr lang="en-US" sz="1250" b="1" dirty="0">
                <a:solidFill>
                  <a:srgbClr val="4F46E5"/>
                </a:solidFill>
                <a:latin typeface="Calibri" pitchFamily="34" charset="0"/>
                <a:ea typeface="Calibri" pitchFamily="34" charset="-122"/>
                <a:cs typeface="Calibri" pitchFamily="34" charset="-120"/>
              </a:rPr>
              <a:t>Machines</a:t>
            </a:r>
            <a:endParaRPr lang="en-US" sz="1250" dirty="0"/>
          </a:p>
        </p:txBody>
      </p:sp>
      <p:sp>
        <p:nvSpPr>
          <p:cNvPr id="18" name="Text 16"/>
          <p:cNvSpPr/>
          <p:nvPr/>
        </p:nvSpPr>
        <p:spPr>
          <a:xfrm>
            <a:off x="2592324"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 rate build-up (deprec., maint., energy, floor, finance, hours, utilisation) → £/hr</a:t>
            </a:r>
            <a:endParaRPr lang="en-US" sz="830" dirty="0"/>
          </a:p>
        </p:txBody>
      </p:sp>
      <p:sp>
        <p:nvSpPr>
          <p:cNvPr id="19" name="Shape 17"/>
          <p:cNvSpPr/>
          <p:nvPr/>
        </p:nvSpPr>
        <p:spPr>
          <a:xfrm>
            <a:off x="4270248"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0354387636276376e+177" dist="5.815539324650392e+176" dir="2.598640938351223e+207">
              <a:srgbClr val="9DB0CC">
                <a:alpha val="2.2000000000000007e+214"/>
              </a:srgbClr>
            </a:outerShdw>
          </a:effectLst>
        </p:spPr>
      </p:sp>
      <p:sp>
        <p:nvSpPr>
          <p:cNvPr id="20" name="Shape 18"/>
          <p:cNvSpPr/>
          <p:nvPr/>
        </p:nvSpPr>
        <p:spPr>
          <a:xfrm>
            <a:off x="4270248" y="1938528"/>
            <a:ext cx="82296" cy="1371600"/>
          </a:xfrm>
          <a:prstGeom prst="rect">
            <a:avLst/>
          </a:prstGeom>
          <a:solidFill>
            <a:srgbClr val="0DA5A0"/>
          </a:solidFill>
          <a:ln/>
        </p:spPr>
      </p:sp>
      <p:sp>
        <p:nvSpPr>
          <p:cNvPr id="21" name="Text 19"/>
          <p:cNvSpPr/>
          <p:nvPr/>
        </p:nvSpPr>
        <p:spPr>
          <a:xfrm>
            <a:off x="4453128" y="2084832"/>
            <a:ext cx="1495044" cy="274320"/>
          </a:xfrm>
          <a:prstGeom prst="rect">
            <a:avLst/>
          </a:prstGeom>
          <a:noFill/>
          <a:ln/>
        </p:spPr>
        <p:txBody>
          <a:bodyPr wrap="square" lIns="0" tIns="0" rIns="0" bIns="0" rtlCol="0" anchor="t"/>
          <a:lstStyle/>
          <a:p>
            <a:pPr indent="0" marL="0">
              <a:buNone/>
            </a:pPr>
            <a:r>
              <a:rPr lang="en-US" sz="1250" b="1" dirty="0">
                <a:solidFill>
                  <a:srgbClr val="0DA5A0"/>
                </a:solidFill>
                <a:latin typeface="Calibri" pitchFamily="34" charset="0"/>
                <a:ea typeface="Calibri" pitchFamily="34" charset="-122"/>
                <a:cs typeface="Calibri" pitchFamily="34" charset="-120"/>
              </a:rPr>
              <a:t>Labour</a:t>
            </a:r>
            <a:endParaRPr lang="en-US" sz="1250" dirty="0"/>
          </a:p>
        </p:txBody>
      </p:sp>
      <p:sp>
        <p:nvSpPr>
          <p:cNvPr id="22" name="Text 20"/>
          <p:cNvSpPr/>
          <p:nvPr/>
        </p:nvSpPr>
        <p:spPr>
          <a:xfrm>
            <a:off x="4453128"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Fully-loaded £/hr by region and skill level</a:t>
            </a:r>
            <a:endParaRPr lang="en-US" sz="830" dirty="0"/>
          </a:p>
        </p:txBody>
      </p:sp>
      <p:sp>
        <p:nvSpPr>
          <p:cNvPr id="23" name="Shape 21"/>
          <p:cNvSpPr/>
          <p:nvPr/>
        </p:nvSpPr>
        <p:spPr>
          <a:xfrm>
            <a:off x="6131052"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5850072298071e+181" dist="7.385734942305998e+180" dir="1.5591845630107338e+212">
              <a:srgbClr val="9DB0CC">
                <a:alpha val="2.2000000000000008e+219"/>
              </a:srgbClr>
            </a:outerShdw>
          </a:effectLst>
        </p:spPr>
      </p:sp>
      <p:sp>
        <p:nvSpPr>
          <p:cNvPr id="24" name="Shape 22"/>
          <p:cNvSpPr/>
          <p:nvPr/>
        </p:nvSpPr>
        <p:spPr>
          <a:xfrm>
            <a:off x="6131052" y="1938528"/>
            <a:ext cx="82296" cy="1371600"/>
          </a:xfrm>
          <a:prstGeom prst="rect">
            <a:avLst/>
          </a:prstGeom>
          <a:solidFill>
            <a:srgbClr val="E0900C"/>
          </a:solidFill>
          <a:ln/>
        </p:spPr>
      </p:sp>
      <p:sp>
        <p:nvSpPr>
          <p:cNvPr id="25" name="Text 23"/>
          <p:cNvSpPr/>
          <p:nvPr/>
        </p:nvSpPr>
        <p:spPr>
          <a:xfrm>
            <a:off x="6313932" y="2084832"/>
            <a:ext cx="1495044" cy="274320"/>
          </a:xfrm>
          <a:prstGeom prst="rect">
            <a:avLst/>
          </a:prstGeom>
          <a:noFill/>
          <a:ln/>
        </p:spPr>
        <p:txBody>
          <a:bodyPr wrap="square" lIns="0" tIns="0" rIns="0" bIns="0" rtlCol="0" anchor="t"/>
          <a:lstStyle/>
          <a:p>
            <a:pPr indent="0" marL="0">
              <a:buNone/>
            </a:pPr>
            <a:r>
              <a:rPr lang="en-US" sz="1250" b="1" dirty="0">
                <a:solidFill>
                  <a:srgbClr val="E0900C"/>
                </a:solidFill>
                <a:latin typeface="Calibri" pitchFamily="34" charset="0"/>
                <a:ea typeface="Calibri" pitchFamily="34" charset="-122"/>
                <a:cs typeface="Calibri" pitchFamily="34" charset="-120"/>
              </a:rPr>
              <a:t>Energy</a:t>
            </a:r>
            <a:endParaRPr lang="en-US" sz="1250" dirty="0"/>
          </a:p>
        </p:txBody>
      </p:sp>
      <p:sp>
        <p:nvSpPr>
          <p:cNvPr id="26" name="Text 24"/>
          <p:cNvSpPr/>
          <p:nvPr/>
        </p:nvSpPr>
        <p:spPr>
          <a:xfrm>
            <a:off x="6313932"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Electricity &amp; gas £/kWh by region</a:t>
            </a:r>
            <a:endParaRPr lang="en-US" sz="830" dirty="0"/>
          </a:p>
        </p:txBody>
      </p:sp>
      <p:sp>
        <p:nvSpPr>
          <p:cNvPr id="27" name="Shape 25"/>
          <p:cNvSpPr/>
          <p:nvPr/>
        </p:nvSpPr>
        <p:spPr>
          <a:xfrm>
            <a:off x="7991856"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3.282959181855017e+185" dist="9.379883376728618e+184" dir="9.355107378064403e+216">
              <a:srgbClr val="9DB0CC">
                <a:alpha val="2.200000000000001e+224"/>
              </a:srgbClr>
            </a:outerShdw>
          </a:effectLst>
        </p:spPr>
      </p:sp>
      <p:sp>
        <p:nvSpPr>
          <p:cNvPr id="28" name="Shape 26"/>
          <p:cNvSpPr/>
          <p:nvPr/>
        </p:nvSpPr>
        <p:spPr>
          <a:xfrm>
            <a:off x="7991856" y="1938528"/>
            <a:ext cx="82296" cy="1371600"/>
          </a:xfrm>
          <a:prstGeom prst="rect">
            <a:avLst/>
          </a:prstGeom>
          <a:solidFill>
            <a:srgbClr val="0E93B0"/>
          </a:solidFill>
          <a:ln/>
        </p:spPr>
      </p:sp>
      <p:sp>
        <p:nvSpPr>
          <p:cNvPr id="29" name="Text 27"/>
          <p:cNvSpPr/>
          <p:nvPr/>
        </p:nvSpPr>
        <p:spPr>
          <a:xfrm>
            <a:off x="8174736" y="2084832"/>
            <a:ext cx="1495044" cy="274320"/>
          </a:xfrm>
          <a:prstGeom prst="rect">
            <a:avLst/>
          </a:prstGeom>
          <a:noFill/>
          <a:ln/>
        </p:spPr>
        <p:txBody>
          <a:bodyPr wrap="square" lIns="0" tIns="0" rIns="0" bIns="0" rtlCol="0" anchor="t"/>
          <a:lstStyle/>
          <a:p>
            <a:pPr indent="0" marL="0">
              <a:buNone/>
            </a:pPr>
            <a:r>
              <a:rPr lang="en-US" sz="1250" b="1" dirty="0">
                <a:solidFill>
                  <a:srgbClr val="0E93B0"/>
                </a:solidFill>
                <a:latin typeface="Calibri" pitchFamily="34" charset="0"/>
                <a:ea typeface="Calibri" pitchFamily="34" charset="-122"/>
                <a:cs typeface="Calibri" pitchFamily="34" charset="-120"/>
              </a:rPr>
              <a:t>FX</a:t>
            </a:r>
            <a:endParaRPr lang="en-US" sz="1250" dirty="0"/>
          </a:p>
        </p:txBody>
      </p:sp>
      <p:sp>
        <p:nvSpPr>
          <p:cNvPr id="30" name="Text 28"/>
          <p:cNvSpPr/>
          <p:nvPr/>
        </p:nvSpPr>
        <p:spPr>
          <a:xfrm>
            <a:off x="8174736"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Currency pairs and exchange rates</a:t>
            </a:r>
            <a:endParaRPr lang="en-US" sz="830" dirty="0"/>
          </a:p>
        </p:txBody>
      </p:sp>
      <p:sp>
        <p:nvSpPr>
          <p:cNvPr id="31" name="Shape 29"/>
          <p:cNvSpPr/>
          <p:nvPr/>
        </p:nvSpPr>
        <p:spPr>
          <a:xfrm>
            <a:off x="9852660" y="1938528"/>
            <a:ext cx="1787652"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4.1693581609558713e+189" dist="1.1912451888445345e+189" dir="5.613064426838642e+221">
              <a:srgbClr val="9DB0CC">
                <a:alpha val="2.2000000000000008e+229"/>
              </a:srgbClr>
            </a:outerShdw>
          </a:effectLst>
        </p:spPr>
      </p:sp>
      <p:sp>
        <p:nvSpPr>
          <p:cNvPr id="32" name="Shape 30"/>
          <p:cNvSpPr/>
          <p:nvPr/>
        </p:nvSpPr>
        <p:spPr>
          <a:xfrm>
            <a:off x="9852660" y="1938528"/>
            <a:ext cx="82296" cy="1371600"/>
          </a:xfrm>
          <a:prstGeom prst="rect">
            <a:avLst/>
          </a:prstGeom>
          <a:solidFill>
            <a:srgbClr val="7C3AED"/>
          </a:solidFill>
          <a:ln/>
        </p:spPr>
      </p:sp>
      <p:sp>
        <p:nvSpPr>
          <p:cNvPr id="33" name="Text 31"/>
          <p:cNvSpPr/>
          <p:nvPr/>
        </p:nvSpPr>
        <p:spPr>
          <a:xfrm>
            <a:off x="10035540" y="2084832"/>
            <a:ext cx="1495044" cy="274320"/>
          </a:xfrm>
          <a:prstGeom prst="rect">
            <a:avLst/>
          </a:prstGeom>
          <a:noFill/>
          <a:ln/>
        </p:spPr>
        <p:txBody>
          <a:bodyPr wrap="square" lIns="0" tIns="0" rIns="0" bIns="0" rtlCol="0" anchor="t"/>
          <a:lstStyle/>
          <a:p>
            <a:pPr indent="0" marL="0">
              <a:buNone/>
            </a:pPr>
            <a:r>
              <a:rPr lang="en-US" sz="1250" b="1" dirty="0">
                <a:solidFill>
                  <a:srgbClr val="7C3AED"/>
                </a:solidFill>
                <a:latin typeface="Calibri" pitchFamily="34" charset="0"/>
                <a:ea typeface="Calibri" pitchFamily="34" charset="-122"/>
                <a:cs typeface="Calibri" pitchFamily="34" charset="-120"/>
              </a:rPr>
              <a:t>Overhead</a:t>
            </a:r>
            <a:endParaRPr lang="en-US" sz="1250" dirty="0"/>
          </a:p>
        </p:txBody>
      </p:sp>
      <p:sp>
        <p:nvSpPr>
          <p:cNvPr id="34" name="Text 32"/>
          <p:cNvSpPr/>
          <p:nvPr/>
        </p:nvSpPr>
        <p:spPr>
          <a:xfrm>
            <a:off x="10035540" y="2414016"/>
            <a:ext cx="1476756" cy="822960"/>
          </a:xfrm>
          <a:prstGeom prst="rect">
            <a:avLst/>
          </a:prstGeom>
          <a:noFill/>
          <a:ln/>
        </p:spPr>
        <p:txBody>
          <a:bodyPr wrap="square" lIns="0" tIns="0" rIns="0" bIns="0" rtlCol="0" anchor="t"/>
          <a:lstStyle/>
          <a:p>
            <a:pPr indent="0" marL="0">
              <a:lnSpc>
                <a:spcPct val="105000"/>
              </a:lnSpc>
              <a:buNone/>
            </a:pPr>
            <a:r>
              <a:rPr lang="en-US" sz="830" dirty="0">
                <a:solidFill>
                  <a:srgbClr val="3E4C63"/>
                </a:solidFill>
                <a:latin typeface="Calibri" pitchFamily="34" charset="0"/>
                <a:ea typeface="Calibri" pitchFamily="34" charset="-122"/>
                <a:cs typeface="Calibri" pitchFamily="34" charset="-120"/>
              </a:rPr>
              <a:t>Overhead % and margin % by commodity and supplier tier</a:t>
            </a:r>
            <a:endParaRPr lang="en-US" sz="830" dirty="0"/>
          </a:p>
        </p:txBody>
      </p:sp>
      <p:sp>
        <p:nvSpPr>
          <p:cNvPr id="35" name="Text 33"/>
          <p:cNvSpPr/>
          <p:nvPr/>
        </p:nvSpPr>
        <p:spPr>
          <a:xfrm>
            <a:off x="548640" y="3355848"/>
            <a:ext cx="11091672" cy="237744"/>
          </a:xfrm>
          <a:prstGeom prst="rect">
            <a:avLst/>
          </a:prstGeom>
          <a:noFill/>
          <a:ln/>
        </p:spPr>
        <p:txBody>
          <a:bodyPr wrap="square" lIns="0" tIns="0" rIns="0" bIns="0" rtlCol="0" anchor="t"/>
          <a:lstStyle/>
          <a:p>
            <a:pPr indent="0" marL="0">
              <a:buNone/>
            </a:pPr>
            <a:r>
              <a:rPr lang="en-US" sz="930" i="1" dirty="0">
                <a:solidFill>
                  <a:srgbClr val="8A97A8"/>
                </a:solidFill>
                <a:latin typeface="Calibri" pitchFamily="34" charset="0"/>
                <a:ea typeface="Calibri" pitchFamily="34" charset="-122"/>
                <a:cs typeface="Calibri" pitchFamily="34" charset="-120"/>
              </a:rPr>
              <a:t>Six rate tables — one tab each in the template.</a:t>
            </a:r>
            <a:endParaRPr lang="en-US" sz="930" dirty="0"/>
          </a:p>
        </p:txBody>
      </p:sp>
      <p:sp>
        <p:nvSpPr>
          <p:cNvPr id="36" name="Shape 34"/>
          <p:cNvSpPr/>
          <p:nvPr/>
        </p:nvSpPr>
        <p:spPr>
          <a:xfrm>
            <a:off x="548640"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5.295084864413956e+193" dist="1.5128813898325588e+193" dir="3.367838656103185e+226">
              <a:srgbClr val="9DB0CC">
                <a:alpha val="2.2000000000000008e+234"/>
              </a:srgbClr>
            </a:outerShdw>
          </a:effectLst>
        </p:spPr>
      </p:sp>
      <p:sp>
        <p:nvSpPr>
          <p:cNvPr id="37" name="Shape 35"/>
          <p:cNvSpPr/>
          <p:nvPr/>
        </p:nvSpPr>
        <p:spPr>
          <a:xfrm>
            <a:off x="548640" y="3474720"/>
            <a:ext cx="82296" cy="1463040"/>
          </a:xfrm>
          <a:prstGeom prst="rect">
            <a:avLst/>
          </a:prstGeom>
          <a:solidFill>
            <a:srgbClr val="7C3AED"/>
          </a:solidFill>
          <a:ln/>
        </p:spPr>
      </p:sp>
      <p:sp>
        <p:nvSpPr>
          <p:cNvPr id="38" name="Text 36"/>
          <p:cNvSpPr/>
          <p:nvPr/>
        </p:nvSpPr>
        <p:spPr>
          <a:xfrm>
            <a:off x="768096" y="3639312"/>
            <a:ext cx="3252216" cy="274320"/>
          </a:xfrm>
          <a:prstGeom prst="rect">
            <a:avLst/>
          </a:prstGeom>
          <a:noFill/>
          <a:ln/>
        </p:spPr>
        <p:txBody>
          <a:bodyPr wrap="square" lIns="0" tIns="0" rIns="0" bIns="0" rtlCol="0" anchor="t"/>
          <a:lstStyle/>
          <a:p>
            <a:pPr indent="0" marL="0">
              <a:buNone/>
            </a:pPr>
            <a:r>
              <a:rPr lang="en-US" sz="1200" b="1" spc="40" kern="0" dirty="0">
                <a:solidFill>
                  <a:srgbClr val="7C3AED"/>
                </a:solidFill>
                <a:latin typeface="Calibri" pitchFamily="34" charset="0"/>
                <a:ea typeface="Calibri" pitchFamily="34" charset="-122"/>
                <a:cs typeface="Calibri" pitchFamily="34" charset="-120"/>
              </a:rPr>
              <a:t>WHO CAN UPLOAD</a:t>
            </a:r>
            <a:endParaRPr lang="en-US" sz="1200" dirty="0"/>
          </a:p>
        </p:txBody>
      </p:sp>
      <p:sp>
        <p:nvSpPr>
          <p:cNvPr id="39" name="Text 37"/>
          <p:cNvSpPr/>
          <p:nvPr/>
        </p:nvSpPr>
        <p:spPr>
          <a:xfrm>
            <a:off x="768096"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Admin-gated.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Admins upload, switch company ↔ built-in, or reset. Everyone else costs on the active set — a badge shows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“Company rates active”</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vs built-in. One consistent number across the team.</a:t>
            </a:r>
            <a:endParaRPr lang="en-US" sz="960" dirty="0"/>
          </a:p>
        </p:txBody>
      </p:sp>
      <p:sp>
        <p:nvSpPr>
          <p:cNvPr id="40" name="Shape 38"/>
          <p:cNvSpPr/>
          <p:nvPr/>
        </p:nvSpPr>
        <p:spPr>
          <a:xfrm>
            <a:off x="4285488"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6.724757777805725e+197" dist="1.9213593650873497e+197" dir="2.020703193661911e+231">
              <a:srgbClr val="9DB0CC">
                <a:alpha val="2.200000000000001e+239"/>
              </a:srgbClr>
            </a:outerShdw>
          </a:effectLst>
        </p:spPr>
      </p:sp>
      <p:sp>
        <p:nvSpPr>
          <p:cNvPr id="41" name="Shape 39"/>
          <p:cNvSpPr/>
          <p:nvPr/>
        </p:nvSpPr>
        <p:spPr>
          <a:xfrm>
            <a:off x="4285488" y="3474720"/>
            <a:ext cx="82296" cy="1463040"/>
          </a:xfrm>
          <a:prstGeom prst="rect">
            <a:avLst/>
          </a:prstGeom>
          <a:solidFill>
            <a:srgbClr val="2563EB"/>
          </a:solidFill>
          <a:ln/>
        </p:spPr>
      </p:sp>
      <p:sp>
        <p:nvSpPr>
          <p:cNvPr id="42" name="Text 40"/>
          <p:cNvSpPr/>
          <p:nvPr/>
        </p:nvSpPr>
        <p:spPr>
          <a:xfrm>
            <a:off x="4504944" y="3639312"/>
            <a:ext cx="3252216" cy="274320"/>
          </a:xfrm>
          <a:prstGeom prst="rect">
            <a:avLst/>
          </a:prstGeom>
          <a:noFill/>
          <a:ln/>
        </p:spPr>
        <p:txBody>
          <a:bodyPr wrap="square" lIns="0" tIns="0" rIns="0" bIns="0" rtlCol="0" anchor="t"/>
          <a:lstStyle/>
          <a:p>
            <a:pPr indent="0" marL="0">
              <a:buNone/>
            </a:pPr>
            <a:r>
              <a:rPr lang="en-US" sz="1200" b="1" spc="40" kern="0" dirty="0">
                <a:solidFill>
                  <a:srgbClr val="2563EB"/>
                </a:solidFill>
                <a:latin typeface="Calibri" pitchFamily="34" charset="0"/>
                <a:ea typeface="Calibri" pitchFamily="34" charset="-122"/>
                <a:cs typeface="Calibri" pitchFamily="34" charset="-120"/>
              </a:rPr>
              <a:t>THE EXCEL TEMPLATE</a:t>
            </a:r>
            <a:endParaRPr lang="en-US" sz="1200" dirty="0"/>
          </a:p>
        </p:txBody>
      </p:sp>
      <p:sp>
        <p:nvSpPr>
          <p:cNvPr id="43" name="Text 41"/>
          <p:cNvSpPr/>
          <p:nvPr/>
        </p:nvSpPr>
        <p:spPr>
          <a:xfrm>
            <a:off x="4504944"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One workbook, 6 tabs. </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Download → fill → upload. The server validates every row and rejects bad cells with line-level errors. Each row carries an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effective date + confidence.</a:t>
            </a:r>
            <a:endParaRPr lang="en-US" sz="960" dirty="0"/>
          </a:p>
        </p:txBody>
      </p:sp>
      <p:sp>
        <p:nvSpPr>
          <p:cNvPr id="44" name="Shape 42"/>
          <p:cNvSpPr/>
          <p:nvPr/>
        </p:nvSpPr>
        <p:spPr>
          <a:xfrm>
            <a:off x="8022336" y="3474720"/>
            <a:ext cx="3617976" cy="1463040"/>
          </a:xfrm>
          <a:prstGeom prst="roundRect">
            <a:avLst>
              <a:gd name="adj" fmla="val 4375"/>
            </a:avLst>
          </a:prstGeom>
          <a:solidFill>
            <a:srgbClr val="FFFFFF"/>
          </a:solidFill>
          <a:ln w="12700">
            <a:solidFill>
              <a:srgbClr val="E4EAF2"/>
            </a:solidFill>
            <a:prstDash val="solid"/>
          </a:ln>
          <a:effectLst>
            <a:outerShdw sx="100000" sy="100000" kx="0" ky="0" algn="bl" rotWithShape="0" blurRad="8.54044237781327e+201" dist="2.440126393660934e+201" dir="1.2124219161971466e+236">
              <a:srgbClr val="9DB0CC">
                <a:alpha val="2.200000000000001e+244"/>
              </a:srgbClr>
            </a:outerShdw>
          </a:effectLst>
        </p:spPr>
      </p:sp>
      <p:sp>
        <p:nvSpPr>
          <p:cNvPr id="45" name="Shape 43"/>
          <p:cNvSpPr/>
          <p:nvPr/>
        </p:nvSpPr>
        <p:spPr>
          <a:xfrm>
            <a:off x="8022336" y="3474720"/>
            <a:ext cx="82296" cy="1463040"/>
          </a:xfrm>
          <a:prstGeom prst="rect">
            <a:avLst/>
          </a:prstGeom>
          <a:solidFill>
            <a:srgbClr val="0EA472"/>
          </a:solidFill>
          <a:ln/>
        </p:spPr>
      </p:sp>
      <p:sp>
        <p:nvSpPr>
          <p:cNvPr id="46" name="Text 44"/>
          <p:cNvSpPr/>
          <p:nvPr/>
        </p:nvSpPr>
        <p:spPr>
          <a:xfrm>
            <a:off x="8241792" y="3639312"/>
            <a:ext cx="3252216" cy="274320"/>
          </a:xfrm>
          <a:prstGeom prst="rect">
            <a:avLst/>
          </a:prstGeom>
          <a:noFill/>
          <a:ln/>
        </p:spPr>
        <p:txBody>
          <a:bodyPr wrap="square" lIns="0" tIns="0" rIns="0" bIns="0" rtlCol="0" anchor="t"/>
          <a:lstStyle/>
          <a:p>
            <a:pPr indent="0" marL="0">
              <a:buNone/>
            </a:pPr>
            <a:r>
              <a:rPr lang="en-US" sz="1200" b="1" spc="40" kern="0" dirty="0">
                <a:solidFill>
                  <a:srgbClr val="0EA472"/>
                </a:solidFill>
                <a:latin typeface="Calibri" pitchFamily="34" charset="0"/>
                <a:ea typeface="Calibri" pitchFamily="34" charset="-122"/>
                <a:cs typeface="Calibri" pitchFamily="34" charset="-120"/>
              </a:rPr>
              <a:t>UPDATE IN ONE CLICK</a:t>
            </a:r>
            <a:endParaRPr lang="en-US" sz="1200" dirty="0"/>
          </a:p>
        </p:txBody>
      </p:sp>
      <p:sp>
        <p:nvSpPr>
          <p:cNvPr id="47" name="Text 45"/>
          <p:cNvSpPr/>
          <p:nvPr/>
        </p:nvSpPr>
        <p:spPr>
          <a:xfrm>
            <a:off x="8241792" y="3986784"/>
            <a:ext cx="3215640" cy="859536"/>
          </a:xfrm>
          <a:prstGeom prst="rect">
            <a:avLst/>
          </a:prstGeom>
          <a:noFill/>
          <a:ln/>
        </p:spPr>
        <p:txBody>
          <a:bodyPr wrap="square" lIns="0" tIns="0" rIns="0" bIns="0" rtlCol="0" anchor="t"/>
          <a:lstStyle/>
          <a:p>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Load a new dated rate set</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and activate — the whole portfolio re-prices in a click. The library is </a:t>
            </a:r>
            <a:pPr indent="0" marL="0">
              <a:lnSpc>
                <a:spcPct val="112000"/>
              </a:lnSpc>
              <a:buNone/>
            </a:pPr>
            <a:r>
              <a:rPr lang="en-US" sz="960" b="1" dirty="0">
                <a:solidFill>
                  <a:srgbClr val="0F1E3D"/>
                </a:solidFill>
                <a:latin typeface="Calibri" pitchFamily="34" charset="0"/>
                <a:ea typeface="Calibri" pitchFamily="34" charset="-122"/>
                <a:cs typeface="Calibri" pitchFamily="34" charset="-120"/>
              </a:rPr>
              <a:t>versioned</a:t>
            </a:r>
            <a:pPr indent="0" marL="0">
              <a:lnSpc>
                <a:spcPct val="112000"/>
              </a:lnSpc>
              <a:buNone/>
            </a:pPr>
            <a:r>
              <a:rPr lang="en-US" sz="960" dirty="0">
                <a:solidFill>
                  <a:srgbClr val="3E4C63"/>
                </a:solidFill>
                <a:latin typeface="Calibri" pitchFamily="34" charset="0"/>
                <a:ea typeface="Calibri" pitchFamily="34" charset="-122"/>
                <a:cs typeface="Calibri" pitchFamily="34" charset="-120"/>
              </a:rPr>
              <a:t>, so we keep current vs old vintages and scenarios flag if costed on an older version.</a:t>
            </a:r>
            <a:endParaRPr lang="en-US" sz="960" dirty="0"/>
          </a:p>
        </p:txBody>
      </p:sp>
      <p:sp>
        <p:nvSpPr>
          <p:cNvPr id="48" name="Shape 46"/>
          <p:cNvSpPr/>
          <p:nvPr/>
        </p:nvSpPr>
        <p:spPr>
          <a:xfrm>
            <a:off x="548640" y="5138928"/>
            <a:ext cx="11091672" cy="841248"/>
          </a:xfrm>
          <a:prstGeom prst="roundRect">
            <a:avLst>
              <a:gd name="adj" fmla="val 7609"/>
            </a:avLst>
          </a:prstGeom>
          <a:solidFill>
            <a:srgbClr val="FEF6E7"/>
          </a:solidFill>
          <a:ln w="12700">
            <a:solidFill>
              <a:srgbClr val="E4EAF2"/>
            </a:solidFill>
            <a:prstDash val="solid"/>
          </a:ln>
        </p:spPr>
      </p:sp>
      <p:sp>
        <p:nvSpPr>
          <p:cNvPr id="49" name="Shape 47"/>
          <p:cNvSpPr/>
          <p:nvPr/>
        </p:nvSpPr>
        <p:spPr>
          <a:xfrm>
            <a:off x="548640" y="5138928"/>
            <a:ext cx="82296" cy="841248"/>
          </a:xfrm>
          <a:prstGeom prst="rect">
            <a:avLst/>
          </a:prstGeom>
          <a:solidFill>
            <a:srgbClr val="E0900C"/>
          </a:solidFill>
          <a:ln/>
        </p:spPr>
      </p:sp>
      <p:sp>
        <p:nvSpPr>
          <p:cNvPr id="50" name="Text 48"/>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20" b="1" dirty="0">
                <a:solidFill>
                  <a:srgbClr val="0F1E3D"/>
                </a:solidFill>
                <a:latin typeface="Calibri" pitchFamily="34" charset="0"/>
                <a:ea typeface="Calibri" pitchFamily="34" charset="-122"/>
                <a:cs typeface="Calibri" pitchFamily="34" charset="-120"/>
              </a:rPr>
              <a:t>Our rates, our defensible numbers.  </a:t>
            </a:r>
            <a:pPr indent="0" marL="0">
              <a:lnSpc>
                <a:spcPct val="108000"/>
              </a:lnSpc>
              <a:buNone/>
            </a:pPr>
            <a:r>
              <a:rPr lang="en-US" sz="1120" dirty="0">
                <a:solidFill>
                  <a:srgbClr val="3E4C63"/>
                </a:solidFill>
                <a:latin typeface="Calibri" pitchFamily="34" charset="0"/>
                <a:ea typeface="Calibri" pitchFamily="34" charset="-122"/>
                <a:cs typeface="Calibri" pitchFamily="34" charset="-120"/>
              </a:rPr>
              <a:t>Quick to load (download → fill → upload), validated on the way in, versioned and auditable — and every costing across the platform immediately uses them.</a:t>
            </a:r>
            <a:endParaRPr lang="en-US" sz="1120" dirty="0"/>
          </a:p>
        </p:txBody>
      </p:sp>
      <p:sp>
        <p:nvSpPr>
          <p:cNvPr id="51" name="Shape 49"/>
          <p:cNvSpPr/>
          <p:nvPr/>
        </p:nvSpPr>
        <p:spPr>
          <a:xfrm>
            <a:off x="548640" y="6400800"/>
            <a:ext cx="11094415" cy="12802"/>
          </a:xfrm>
          <a:prstGeom prst="rect">
            <a:avLst/>
          </a:prstGeom>
          <a:solidFill>
            <a:srgbClr val="E4EAF2"/>
          </a:solidFill>
          <a:ln/>
        </p:spPr>
      </p:sp>
      <p:sp>
        <p:nvSpPr>
          <p:cNvPr id="52" name="Text 5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3" name="Text 5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9 / 15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DEEP DIVE · LIVE EXAMPLE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example — Aluminium HPDC casting, priced everywhere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65760"/>
          </a:xfrm>
          <a:prstGeom prst="rect">
            <a:avLst/>
          </a:prstGeom>
          <a:noFill/>
          <a:ln/>
        </p:spPr>
        <p:txBody>
          <a:bodyPr wrap="square" lIns="0" tIns="0" rIns="0" bIns="0" rtlCol="0" anchor="t"/>
          <a:lstStyle/>
          <a:p>
            <a:pPr indent="0" marL="0">
              <a:buNone/>
            </a:pPr>
            <a:r>
              <a:rPr lang="en-US" sz="1200" dirty="0">
                <a:solidFill>
                  <a:srgbClr val="3E4C63"/>
                </a:solidFill>
                <a:latin typeface="Calibri" pitchFamily="34" charset="0"/>
                <a:ea typeface="Calibri" pitchFamily="34" charset="-122"/>
                <a:cs typeface="Calibri" pitchFamily="34" charset="-120"/>
              </a:rPr>
              <a:t>A simple 1.2 kg ADC12 aluminium die-casting (2-cavity, 800T), run through the real engine — UK breakdown and the regional spread.</a:t>
            </a:r>
            <a:endParaRPr lang="en-US" sz="1200" dirty="0"/>
          </a:p>
        </p:txBody>
      </p:sp>
      <p:sp>
        <p:nvSpPr>
          <p:cNvPr id="11" name="Shape 9"/>
          <p:cNvSpPr/>
          <p:nvPr/>
        </p:nvSpPr>
        <p:spPr>
          <a:xfrm>
            <a:off x="548640" y="2011680"/>
            <a:ext cx="5394960" cy="2880360"/>
          </a:xfrm>
          <a:prstGeom prst="roundRect">
            <a:avLst>
              <a:gd name="adj" fmla="val 2222"/>
            </a:avLst>
          </a:prstGeom>
          <a:solidFill>
            <a:srgbClr val="FFFFFF"/>
          </a:solidFill>
          <a:ln w="12700">
            <a:solidFill>
              <a:srgbClr val="E4EAF2"/>
            </a:solidFill>
            <a:prstDash val="solid"/>
          </a:ln>
          <a:effectLst>
            <a:outerShdw sx="100000" sy="100000" kx="0" ky="0" algn="bl" rotWithShape="0" blurRad="1.0846361819822852e+206" dist="3.0989605199493864e+205" dir="7.27453149718288e+240">
              <a:srgbClr val="9DB0CC">
                <a:alpha val="2.200000000000001e+249"/>
              </a:srgbClr>
            </a:outerShdw>
          </a:effectLst>
        </p:spPr>
      </p:sp>
      <p:sp>
        <p:nvSpPr>
          <p:cNvPr id="12" name="Text 10"/>
          <p:cNvSpPr/>
          <p:nvPr/>
        </p:nvSpPr>
        <p:spPr>
          <a:xfrm>
            <a:off x="822960" y="2148840"/>
            <a:ext cx="502920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UK cost stack — £/part</a:t>
            </a:r>
            <a:endParaRPr lang="en-US" sz="1250" dirty="0"/>
          </a:p>
        </p:txBody>
      </p:sp>
      <p:graphicFrame>
        <p:nvGraphicFramePr>
          <p:cNvPr id="13" name="Chart 0" descr=""/>
          <p:cNvGraphicFramePr/>
          <p:nvPr/>
        </p:nvGraphicFramePr>
        <p:xfrm>
          <a:off x="731520" y="2468880"/>
          <a:ext cx="5029200" cy="2148840"/>
        </p:xfrm>
        <a:graphic xmlns:a="http://schemas.openxmlformats.org/drawingml/2006/main">
          <a:graphicData uri="http://schemas.openxmlformats.org/drawingml/2006/chart">
            <c:chart xmlns:c="http://schemas.openxmlformats.org/drawingml/2006/chart" r:id="rId1"/>
          </a:graphicData>
        </a:graphic>
      </p:graphicFrame>
      <p:sp>
        <p:nvSpPr>
          <p:cNvPr id="14" name="Text 11"/>
          <p:cNvSpPr/>
          <p:nvPr/>
        </p:nvSpPr>
        <p:spPr>
          <a:xfrm>
            <a:off x="822960" y="4617720"/>
            <a:ext cx="5029200"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Total £6.96/part · material is 63% — the true driver.</a:t>
            </a:r>
            <a:endParaRPr lang="en-US" sz="950" dirty="0"/>
          </a:p>
        </p:txBody>
      </p:sp>
      <p:sp>
        <p:nvSpPr>
          <p:cNvPr id="15" name="Shape 12"/>
          <p:cNvSpPr/>
          <p:nvPr/>
        </p:nvSpPr>
        <p:spPr>
          <a:xfrm>
            <a:off x="6245352" y="2011680"/>
            <a:ext cx="5397703" cy="2880360"/>
          </a:xfrm>
          <a:prstGeom prst="roundRect">
            <a:avLst>
              <a:gd name="adj" fmla="val 2222"/>
            </a:avLst>
          </a:prstGeom>
          <a:solidFill>
            <a:srgbClr val="EAF1FE"/>
          </a:solidFill>
          <a:ln w="12700">
            <a:solidFill>
              <a:srgbClr val="E4EAF2"/>
            </a:solidFill>
            <a:prstDash val="solid"/>
          </a:ln>
        </p:spPr>
      </p:sp>
      <p:sp>
        <p:nvSpPr>
          <p:cNvPr id="16" name="Text 13"/>
          <p:cNvSpPr/>
          <p:nvPr/>
        </p:nvSpPr>
        <p:spPr>
          <a:xfrm>
            <a:off x="6519672" y="2148840"/>
            <a:ext cx="4940503"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Ex-works £/part by region</a:t>
            </a:r>
            <a:endParaRPr lang="en-US" sz="1250" dirty="0"/>
          </a:p>
        </p:txBody>
      </p:sp>
      <p:graphicFrame>
        <p:nvGraphicFramePr>
          <p:cNvPr id="17" name="Chart 1" descr=""/>
          <p:cNvGraphicFramePr/>
          <p:nvPr/>
        </p:nvGraphicFramePr>
        <p:xfrm>
          <a:off x="6428232" y="2468880"/>
          <a:ext cx="4986223" cy="2148840"/>
        </p:xfrm>
        <a:graphic xmlns:a="http://schemas.openxmlformats.org/drawingml/2006/main">
          <a:graphicData uri="http://schemas.openxmlformats.org/drawingml/2006/chart">
            <c:chart xmlns:c="http://schemas.openxmlformats.org/drawingml/2006/chart" r:id="rId2"/>
          </a:graphicData>
        </a:graphic>
      </p:graphicFrame>
      <p:sp>
        <p:nvSpPr>
          <p:cNvPr id="18" name="Text 14"/>
          <p:cNvSpPr/>
          <p:nvPr/>
        </p:nvSpPr>
        <p:spPr>
          <a:xfrm>
            <a:off x="6519672" y="4617720"/>
            <a:ext cx="4940503" cy="274320"/>
          </a:xfrm>
          <a:prstGeom prst="rect">
            <a:avLst/>
          </a:prstGeom>
          <a:noFill/>
          <a:ln/>
        </p:spPr>
        <p:txBody>
          <a:bodyPr wrap="square" lIns="0" tIns="0" rIns="0" bIns="0" rtlCol="0" anchor="t"/>
          <a:lstStyle/>
          <a:p>
            <a:pPr indent="0" marL="0">
              <a:buNone/>
            </a:pPr>
            <a:r>
              <a:rPr lang="en-US" sz="950" i="1" dirty="0">
                <a:solidFill>
                  <a:srgbClr val="8A97A8"/>
                </a:solidFill>
                <a:latin typeface="Calibri" pitchFamily="34" charset="0"/>
                <a:ea typeface="Calibri" pitchFamily="34" charset="-122"/>
                <a:cs typeface="Calibri" pitchFamily="34" charset="-120"/>
              </a:rPr>
              <a:t>China −23% ex-works, narrowing to −12% landed once logistics, duty, the CBAM carbon levy and incoterms are added — the model shows both.</a:t>
            </a:r>
            <a:endParaRPr lang="en-US" sz="950" dirty="0"/>
          </a:p>
        </p:txBody>
      </p:sp>
      <p:sp>
        <p:nvSpPr>
          <p:cNvPr id="19" name="Shape 15"/>
          <p:cNvSpPr/>
          <p:nvPr/>
        </p:nvSpPr>
        <p:spPr>
          <a:xfrm>
            <a:off x="548640" y="5074920"/>
            <a:ext cx="11091672" cy="960120"/>
          </a:xfrm>
          <a:prstGeom prst="roundRect">
            <a:avLst>
              <a:gd name="adj" fmla="val 6667"/>
            </a:avLst>
          </a:prstGeom>
          <a:solidFill>
            <a:srgbClr val="E7F7F0"/>
          </a:solidFill>
          <a:ln w="12700">
            <a:solidFill>
              <a:srgbClr val="E4EAF2"/>
            </a:solidFill>
            <a:prstDash val="solid"/>
          </a:ln>
        </p:spPr>
      </p:sp>
      <p:sp>
        <p:nvSpPr>
          <p:cNvPr id="20" name="Shape 16"/>
          <p:cNvSpPr/>
          <p:nvPr/>
        </p:nvSpPr>
        <p:spPr>
          <a:xfrm>
            <a:off x="548640" y="5074920"/>
            <a:ext cx="82296" cy="960120"/>
          </a:xfrm>
          <a:prstGeom prst="rect">
            <a:avLst/>
          </a:prstGeom>
          <a:solidFill>
            <a:srgbClr val="0EA472"/>
          </a:solidFill>
          <a:ln/>
        </p:spPr>
      </p:sp>
      <p:sp>
        <p:nvSpPr>
          <p:cNvPr id="21" name="Text 17"/>
          <p:cNvSpPr/>
          <p:nvPr/>
        </p:nvSpPr>
        <p:spPr>
          <a:xfrm>
            <a:off x="914400" y="5193792"/>
            <a:ext cx="7315200" cy="274320"/>
          </a:xfrm>
          <a:prstGeom prst="rect">
            <a:avLst/>
          </a:prstGeom>
          <a:noFill/>
          <a:ln/>
        </p:spPr>
        <p:txBody>
          <a:bodyPr wrap="square" lIns="0" tIns="0" rIns="0" bIns="0" rtlCol="0" anchor="t"/>
          <a:lstStyle/>
          <a:p>
            <a:pPr indent="0" marL="0">
              <a:buNone/>
            </a:pPr>
            <a:r>
              <a:rPr lang="en-US" sz="1250" b="1" dirty="0">
                <a:solidFill>
                  <a:srgbClr val="0EA472"/>
                </a:solidFill>
                <a:latin typeface="Calibri" pitchFamily="34" charset="0"/>
                <a:ea typeface="Calibri" pitchFamily="34" charset="-122"/>
                <a:cs typeface="Calibri" pitchFamily="34" charset="-120"/>
              </a:rPr>
              <a:t>⟳  Always current — one versioned rate library</a:t>
            </a:r>
            <a:endParaRPr lang="en-US" sz="1250" dirty="0"/>
          </a:p>
        </p:txBody>
      </p:sp>
      <p:sp>
        <p:nvSpPr>
          <p:cNvPr id="22" name="Text 18"/>
          <p:cNvSpPr/>
          <p:nvPr/>
        </p:nvSpPr>
        <p:spPr>
          <a:xfrm>
            <a:off x="914400" y="5468112"/>
            <a:ext cx="10378440" cy="548640"/>
          </a:xfrm>
          <a:prstGeom prst="rect">
            <a:avLst/>
          </a:prstGeom>
          <a:noFill/>
          <a:ln/>
        </p:spPr>
        <p:txBody>
          <a:bodyPr wrap="square" lIns="0" tIns="0" rIns="0" bIns="0" rtlCol="0" anchor="t"/>
          <a:lstStyle/>
          <a:p>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Material factors, labour, energy and overhead all live in one versioned rate library — not scattered across spreadsheets. </a:t>
            </a:r>
            <a:pPr indent="0" marL="0">
              <a:lnSpc>
                <a:spcPct val="110000"/>
              </a:lnSpc>
              <a:buNone/>
            </a:pPr>
            <a:r>
              <a:rPr lang="en-US" sz="1080" b="1" dirty="0">
                <a:solidFill>
                  <a:srgbClr val="0F1E3D"/>
                </a:solidFill>
                <a:latin typeface="Calibri" pitchFamily="34" charset="0"/>
                <a:ea typeface="Calibri" pitchFamily="34" charset="-122"/>
                <a:cs typeface="Calibri" pitchFamily="34" charset="-120"/>
              </a:rPr>
              <a:t>Upload an updated, dated rate set and every part re-prices — one click, no re-keying, no stale spreadsheets. </a:t>
            </a:r>
            <a:pPr indent="0" marL="0">
              <a:lnSpc>
                <a:spcPct val="110000"/>
              </a:lnSpc>
              <a:buNone/>
            </a:pPr>
            <a:r>
              <a:rPr lang="en-US" sz="1080" dirty="0">
                <a:solidFill>
                  <a:srgbClr val="3E4C63"/>
                </a:solidFill>
                <a:latin typeface="Calibri" pitchFamily="34" charset="0"/>
                <a:ea typeface="Calibri" pitchFamily="34" charset="-122"/>
                <a:cs typeface="Calibri" pitchFamily="34" charset="-120"/>
              </a:rPr>
              <a:t>Keeping should-costs current with the latest economics is a single upload, not a manual rebuild.</a:t>
            </a:r>
            <a:endParaRPr lang="en-US" sz="1080" dirty="0"/>
          </a:p>
        </p:txBody>
      </p:sp>
      <p:sp>
        <p:nvSpPr>
          <p:cNvPr id="23" name="Shape 19"/>
          <p:cNvSpPr/>
          <p:nvPr/>
        </p:nvSpPr>
        <p:spPr>
          <a:xfrm>
            <a:off x="548640" y="6400800"/>
            <a:ext cx="11094415" cy="12802"/>
          </a:xfrm>
          <a:prstGeom prst="rect">
            <a:avLst/>
          </a:prstGeom>
          <a:solidFill>
            <a:srgbClr val="E4EAF2"/>
          </a:solidFill>
          <a:ln/>
        </p:spPr>
      </p:sp>
      <p:sp>
        <p:nvSpPr>
          <p:cNvPr id="24" name="Text 20"/>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25" name="Text 2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10 / 15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neg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7C3AED"/>
          </a:solidFill>
          <a:ln/>
        </p:spPr>
      </p:sp>
      <p:sp>
        <p:nvSpPr>
          <p:cNvPr id="7" name="Shape 4"/>
          <p:cNvSpPr/>
          <p:nvPr/>
        </p:nvSpPr>
        <p:spPr>
          <a:xfrm>
            <a:off x="0" y="6729984"/>
            <a:ext cx="12191695" cy="128016"/>
          </a:xfrm>
          <a:prstGeom prst="rect">
            <a:avLst/>
          </a:prstGeom>
          <a:solidFill>
            <a:srgbClr val="7C3AED"/>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7C3AED"/>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DECIDE &amp; NEGOTIATE</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Negotiation Intelligence</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21 / 33</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DECIDE &amp; NEGOTIATE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Negotiation Intelligence — turn should-cost into savings</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should-cost is useful. A should-cost that walks into a negotiation and wins money back is the product.</a:t>
            </a:r>
            <a:endParaRPr lang="en-US" sz="1250" dirty="0"/>
          </a:p>
        </p:txBody>
      </p:sp>
      <p:sp>
        <p:nvSpPr>
          <p:cNvPr id="11" name="Shape 9"/>
          <p:cNvSpPr/>
          <p:nvPr/>
        </p:nvSpPr>
        <p:spPr>
          <a:xfrm>
            <a:off x="548640"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3774879511175023e+210" dist="3.9356798603357206e+209" dir="4.364718898309728e+245">
              <a:srgbClr val="9DB0CC">
                <a:alpha val="2.200000000000001e+254"/>
              </a:srgbClr>
            </a:outerShdw>
          </a:effectLst>
        </p:spPr>
      </p:sp>
      <p:sp>
        <p:nvSpPr>
          <p:cNvPr id="12" name="Shape 10"/>
          <p:cNvSpPr/>
          <p:nvPr/>
        </p:nvSpPr>
        <p:spPr>
          <a:xfrm>
            <a:off x="548640" y="2103120"/>
            <a:ext cx="2487168" cy="82296"/>
          </a:xfrm>
          <a:prstGeom prst="rect">
            <a:avLst/>
          </a:prstGeom>
          <a:solidFill>
            <a:srgbClr val="2563EB"/>
          </a:solidFill>
          <a:ln/>
        </p:spPr>
      </p:sp>
      <p:sp>
        <p:nvSpPr>
          <p:cNvPr id="13" name="Shape 11"/>
          <p:cNvSpPr/>
          <p:nvPr/>
        </p:nvSpPr>
        <p:spPr>
          <a:xfrm>
            <a:off x="1536192" y="2304288"/>
            <a:ext cx="512064" cy="512064"/>
          </a:xfrm>
          <a:prstGeom prst="ellipse">
            <a:avLst/>
          </a:prstGeom>
          <a:solidFill>
            <a:srgbClr val="EAF1FE"/>
          </a:solidFill>
          <a:ln/>
        </p:spPr>
      </p:sp>
      <p:sp>
        <p:nvSpPr>
          <p:cNvPr id="14" name="Text 12"/>
          <p:cNvSpPr/>
          <p:nvPr/>
        </p:nvSpPr>
        <p:spPr>
          <a:xfrm>
            <a:off x="1536192" y="2295144"/>
            <a:ext cx="512064" cy="512064"/>
          </a:xfrm>
          <a:prstGeom prst="rect">
            <a:avLst/>
          </a:prstGeom>
          <a:noFill/>
          <a:ln/>
        </p:spPr>
        <p:txBody>
          <a:bodyPr wrap="square" lIns="0" tIns="0" rIns="0" bIns="0" rtlCol="0" anchor="ctr"/>
          <a:lstStyle/>
          <a:p>
            <a:pPr algn="ctr" indent="0" marL="0">
              <a:buNone/>
            </a:pPr>
            <a:r>
              <a:rPr lang="en-US" sz="1800" b="1" dirty="0">
                <a:solidFill>
                  <a:srgbClr val="2563EB"/>
                </a:solidFill>
                <a:latin typeface="Calibri" pitchFamily="34" charset="0"/>
                <a:ea typeface="Calibri" pitchFamily="34" charset="-122"/>
                <a:cs typeface="Calibri" pitchFamily="34" charset="-120"/>
              </a:rPr>
              <a:t>◆</a:t>
            </a:r>
            <a:endParaRPr lang="en-US" sz="1800" dirty="0"/>
          </a:p>
        </p:txBody>
      </p:sp>
      <p:sp>
        <p:nvSpPr>
          <p:cNvPr id="15" name="Text 13"/>
          <p:cNvSpPr/>
          <p:nvPr/>
        </p:nvSpPr>
        <p:spPr>
          <a:xfrm>
            <a:off x="640080"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Should-cost</a:t>
            </a:r>
            <a:endParaRPr lang="en-US" sz="1200" dirty="0"/>
          </a:p>
        </p:txBody>
      </p:sp>
      <p:sp>
        <p:nvSpPr>
          <p:cNvPr id="16" name="Text 14"/>
          <p:cNvSpPr/>
          <p:nvPr/>
        </p:nvSpPr>
        <p:spPr>
          <a:xfrm>
            <a:off x="658368"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our costed breakdown</a:t>
            </a:r>
            <a:endParaRPr lang="en-US" sz="860" dirty="0"/>
          </a:p>
        </p:txBody>
      </p:sp>
      <p:sp>
        <p:nvSpPr>
          <p:cNvPr id="17" name="Shape 15"/>
          <p:cNvSpPr/>
          <p:nvPr/>
        </p:nvSpPr>
        <p:spPr>
          <a:xfrm>
            <a:off x="3063240" y="2788920"/>
            <a:ext cx="265176" cy="0"/>
          </a:xfrm>
          <a:prstGeom prst="line">
            <a:avLst/>
          </a:prstGeom>
          <a:noFill/>
          <a:ln w="22225">
            <a:solidFill>
              <a:srgbClr val="D4DEEC"/>
            </a:solidFill>
            <a:prstDash val="solid"/>
            <a:headEnd type="none"/>
            <a:tailEnd type="triangle"/>
          </a:ln>
        </p:spPr>
      </p:sp>
      <p:sp>
        <p:nvSpPr>
          <p:cNvPr id="18" name="Shape 16"/>
          <p:cNvSpPr/>
          <p:nvPr/>
        </p:nvSpPr>
        <p:spPr>
          <a:xfrm>
            <a:off x="3355848"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1.7494096979192279e+214" dist="4.9983134226263654e+213" dir="2.6188313389858368e+250">
              <a:srgbClr val="9DB0CC">
                <a:alpha val="2.200000000000001e+259"/>
              </a:srgbClr>
            </a:outerShdw>
          </a:effectLst>
        </p:spPr>
      </p:sp>
      <p:sp>
        <p:nvSpPr>
          <p:cNvPr id="19" name="Shape 17"/>
          <p:cNvSpPr/>
          <p:nvPr/>
        </p:nvSpPr>
        <p:spPr>
          <a:xfrm>
            <a:off x="3355848" y="2103120"/>
            <a:ext cx="2487168" cy="82296"/>
          </a:xfrm>
          <a:prstGeom prst="rect">
            <a:avLst/>
          </a:prstGeom>
          <a:solidFill>
            <a:srgbClr val="0E93B0"/>
          </a:solidFill>
          <a:ln/>
        </p:spPr>
      </p:sp>
      <p:sp>
        <p:nvSpPr>
          <p:cNvPr id="20" name="Shape 18"/>
          <p:cNvSpPr/>
          <p:nvPr/>
        </p:nvSpPr>
        <p:spPr>
          <a:xfrm>
            <a:off x="4343400" y="2304288"/>
            <a:ext cx="512064" cy="512064"/>
          </a:xfrm>
          <a:prstGeom prst="ellipse">
            <a:avLst/>
          </a:prstGeom>
          <a:solidFill>
            <a:srgbClr val="E8F6FA"/>
          </a:solidFill>
          <a:ln/>
        </p:spPr>
      </p:sp>
      <p:sp>
        <p:nvSpPr>
          <p:cNvPr id="21" name="Text 19"/>
          <p:cNvSpPr/>
          <p:nvPr/>
        </p:nvSpPr>
        <p:spPr>
          <a:xfrm>
            <a:off x="4343400" y="2295144"/>
            <a:ext cx="512064" cy="512064"/>
          </a:xfrm>
          <a:prstGeom prst="rect">
            <a:avLst/>
          </a:prstGeom>
          <a:noFill/>
          <a:ln/>
        </p:spPr>
        <p:txBody>
          <a:bodyPr wrap="square" lIns="0" tIns="0" rIns="0" bIns="0" rtlCol="0" anchor="ctr"/>
          <a:lstStyle/>
          <a:p>
            <a:pPr algn="ctr" indent="0" marL="0">
              <a:buNone/>
            </a:pPr>
            <a:r>
              <a:rPr lang="en-US" sz="1800" b="1" dirty="0">
                <a:solidFill>
                  <a:srgbClr val="0E93B0"/>
                </a:solidFill>
                <a:latin typeface="Calibri" pitchFamily="34" charset="0"/>
                <a:ea typeface="Calibri" pitchFamily="34" charset="-122"/>
                <a:cs typeface="Calibri" pitchFamily="34" charset="-120"/>
              </a:rPr>
              <a:t>▤</a:t>
            </a:r>
            <a:endParaRPr lang="en-US" sz="1800" dirty="0"/>
          </a:p>
        </p:txBody>
      </p:sp>
      <p:sp>
        <p:nvSpPr>
          <p:cNvPr id="22" name="Text 20"/>
          <p:cNvSpPr/>
          <p:nvPr/>
        </p:nvSpPr>
        <p:spPr>
          <a:xfrm>
            <a:off x="3447288"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Supplier quote in</a:t>
            </a:r>
            <a:endParaRPr lang="en-US" sz="1200" dirty="0"/>
          </a:p>
        </p:txBody>
      </p:sp>
      <p:sp>
        <p:nvSpPr>
          <p:cNvPr id="23" name="Text 21"/>
          <p:cNvSpPr/>
          <p:nvPr/>
        </p:nvSpPr>
        <p:spPr>
          <a:xfrm>
            <a:off x="3465576"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Excel or line-by-line</a:t>
            </a:r>
            <a:endParaRPr lang="en-US" sz="860" dirty="0"/>
          </a:p>
        </p:txBody>
      </p:sp>
      <p:sp>
        <p:nvSpPr>
          <p:cNvPr id="24" name="Shape 22"/>
          <p:cNvSpPr/>
          <p:nvPr/>
        </p:nvSpPr>
        <p:spPr>
          <a:xfrm>
            <a:off x="5870448" y="2788920"/>
            <a:ext cx="265176" cy="0"/>
          </a:xfrm>
          <a:prstGeom prst="line">
            <a:avLst/>
          </a:prstGeom>
          <a:noFill/>
          <a:ln w="22225">
            <a:solidFill>
              <a:srgbClr val="D4DEEC"/>
            </a:solidFill>
            <a:prstDash val="solid"/>
            <a:headEnd type="none"/>
            <a:tailEnd type="triangle"/>
          </a:ln>
        </p:spPr>
      </p:sp>
      <p:sp>
        <p:nvSpPr>
          <p:cNvPr id="25" name="Shape 23"/>
          <p:cNvSpPr/>
          <p:nvPr/>
        </p:nvSpPr>
        <p:spPr>
          <a:xfrm>
            <a:off x="6163056"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2217503163574194e+218" dist="6.347858046735484e+217" dir="1.571298803391502e+255">
              <a:srgbClr val="9DB0CC">
                <a:alpha val="2.200000000000001e+264"/>
              </a:srgbClr>
            </a:outerShdw>
          </a:effectLst>
        </p:spPr>
      </p:sp>
      <p:sp>
        <p:nvSpPr>
          <p:cNvPr id="26" name="Shape 24"/>
          <p:cNvSpPr/>
          <p:nvPr/>
        </p:nvSpPr>
        <p:spPr>
          <a:xfrm>
            <a:off x="6163056" y="2103120"/>
            <a:ext cx="2487168" cy="82296"/>
          </a:xfrm>
          <a:prstGeom prst="rect">
            <a:avLst/>
          </a:prstGeom>
          <a:solidFill>
            <a:srgbClr val="E0900C"/>
          </a:solidFill>
          <a:ln/>
        </p:spPr>
      </p:sp>
      <p:sp>
        <p:nvSpPr>
          <p:cNvPr id="27" name="Shape 25"/>
          <p:cNvSpPr/>
          <p:nvPr/>
        </p:nvSpPr>
        <p:spPr>
          <a:xfrm>
            <a:off x="7150608" y="2304288"/>
            <a:ext cx="512064" cy="512064"/>
          </a:xfrm>
          <a:prstGeom prst="ellipse">
            <a:avLst/>
          </a:prstGeom>
          <a:solidFill>
            <a:srgbClr val="FEF6E7"/>
          </a:solidFill>
          <a:ln/>
        </p:spPr>
      </p:sp>
      <p:sp>
        <p:nvSpPr>
          <p:cNvPr id="28" name="Text 26"/>
          <p:cNvSpPr/>
          <p:nvPr/>
        </p:nvSpPr>
        <p:spPr>
          <a:xfrm>
            <a:off x="7150608" y="2295144"/>
            <a:ext cx="512064" cy="512064"/>
          </a:xfrm>
          <a:prstGeom prst="rect">
            <a:avLst/>
          </a:prstGeom>
          <a:noFill/>
          <a:ln/>
        </p:spPr>
        <p:txBody>
          <a:bodyPr wrap="square" lIns="0" tIns="0" rIns="0" bIns="0" rtlCol="0" anchor="ctr"/>
          <a:lstStyle/>
          <a:p>
            <a:pPr algn="ctr" indent="0" marL="0">
              <a:buNone/>
            </a:pPr>
            <a:r>
              <a:rPr lang="en-US" sz="1800" b="1" dirty="0">
                <a:solidFill>
                  <a:srgbClr val="E0900C"/>
                </a:solidFill>
                <a:latin typeface="Calibri" pitchFamily="34" charset="0"/>
                <a:ea typeface="Calibri" pitchFamily="34" charset="-122"/>
                <a:cs typeface="Calibri" pitchFamily="34" charset="-120"/>
              </a:rPr>
              <a:t>⚙</a:t>
            </a:r>
            <a:endParaRPr lang="en-US" sz="1800" dirty="0"/>
          </a:p>
        </p:txBody>
      </p:sp>
      <p:sp>
        <p:nvSpPr>
          <p:cNvPr id="29" name="Text 27"/>
          <p:cNvSpPr/>
          <p:nvPr/>
        </p:nvSpPr>
        <p:spPr>
          <a:xfrm>
            <a:off x="6254496"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Gap teardown</a:t>
            </a:r>
            <a:endParaRPr lang="en-US" sz="1200" dirty="0"/>
          </a:p>
        </p:txBody>
      </p:sp>
      <p:sp>
        <p:nvSpPr>
          <p:cNvPr id="30" name="Text 28"/>
          <p:cNvSpPr/>
          <p:nvPr/>
        </p:nvSpPr>
        <p:spPr>
          <a:xfrm>
            <a:off x="6272784"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by driver: material, cycle, rate, margin</a:t>
            </a:r>
            <a:endParaRPr lang="en-US" sz="860" dirty="0"/>
          </a:p>
        </p:txBody>
      </p:sp>
      <p:sp>
        <p:nvSpPr>
          <p:cNvPr id="31" name="Shape 29"/>
          <p:cNvSpPr/>
          <p:nvPr/>
        </p:nvSpPr>
        <p:spPr>
          <a:xfrm>
            <a:off x="8677656" y="2788920"/>
            <a:ext cx="265176" cy="0"/>
          </a:xfrm>
          <a:prstGeom prst="line">
            <a:avLst/>
          </a:prstGeom>
          <a:noFill/>
          <a:ln w="22225">
            <a:solidFill>
              <a:srgbClr val="D4DEEC"/>
            </a:solidFill>
            <a:prstDash val="solid"/>
            <a:headEnd type="none"/>
            <a:tailEnd type="triangle"/>
          </a:ln>
        </p:spPr>
      </p:sp>
      <p:sp>
        <p:nvSpPr>
          <p:cNvPr id="32" name="Shape 30"/>
          <p:cNvSpPr/>
          <p:nvPr/>
        </p:nvSpPr>
        <p:spPr>
          <a:xfrm>
            <a:off x="8970264" y="2103120"/>
            <a:ext cx="2487168" cy="1371600"/>
          </a:xfrm>
          <a:prstGeom prst="roundRect">
            <a:avLst>
              <a:gd name="adj" fmla="val 4667"/>
            </a:avLst>
          </a:prstGeom>
          <a:solidFill>
            <a:srgbClr val="FFFFFF"/>
          </a:solidFill>
          <a:ln w="12700">
            <a:solidFill>
              <a:srgbClr val="E4EAF2"/>
            </a:solidFill>
            <a:prstDash val="solid"/>
          </a:ln>
          <a:effectLst>
            <a:outerShdw sx="100000" sy="100000" kx="0" ky="0" algn="bl" rotWithShape="0" blurRad="2.8216229017739227e+222" dist="8.061779719354066e+221" dir="9.427792820349012e+259">
              <a:srgbClr val="9DB0CC">
                <a:alpha val="2.2000000000000007e+269"/>
              </a:srgbClr>
            </a:outerShdw>
          </a:effectLst>
        </p:spPr>
      </p:sp>
      <p:sp>
        <p:nvSpPr>
          <p:cNvPr id="33" name="Shape 31"/>
          <p:cNvSpPr/>
          <p:nvPr/>
        </p:nvSpPr>
        <p:spPr>
          <a:xfrm>
            <a:off x="8970264" y="2103120"/>
            <a:ext cx="2487168" cy="82296"/>
          </a:xfrm>
          <a:prstGeom prst="rect">
            <a:avLst/>
          </a:prstGeom>
          <a:solidFill>
            <a:srgbClr val="0EA472"/>
          </a:solidFill>
          <a:ln/>
        </p:spPr>
      </p:sp>
      <p:sp>
        <p:nvSpPr>
          <p:cNvPr id="34" name="Shape 32"/>
          <p:cNvSpPr/>
          <p:nvPr/>
        </p:nvSpPr>
        <p:spPr>
          <a:xfrm>
            <a:off x="9957816" y="2304288"/>
            <a:ext cx="512064" cy="512064"/>
          </a:xfrm>
          <a:prstGeom prst="ellipse">
            <a:avLst/>
          </a:prstGeom>
          <a:solidFill>
            <a:srgbClr val="E7F7F0"/>
          </a:solidFill>
          <a:ln/>
        </p:spPr>
      </p:sp>
      <p:sp>
        <p:nvSpPr>
          <p:cNvPr id="35" name="Text 33"/>
          <p:cNvSpPr/>
          <p:nvPr/>
        </p:nvSpPr>
        <p:spPr>
          <a:xfrm>
            <a:off x="9957816" y="2295144"/>
            <a:ext cx="512064" cy="512064"/>
          </a:xfrm>
          <a:prstGeom prst="rect">
            <a:avLst/>
          </a:prstGeom>
          <a:noFill/>
          <a:ln/>
        </p:spPr>
        <p:txBody>
          <a:bodyPr wrap="square" lIns="0" tIns="0" rIns="0" bIns="0" rtlCol="0" anchor="ctr"/>
          <a:lstStyle/>
          <a:p>
            <a:pPr algn="ctr" indent="0" marL="0">
              <a:buNone/>
            </a:pPr>
            <a:r>
              <a:rPr lang="en-US" sz="1800" b="1" dirty="0">
                <a:solidFill>
                  <a:srgbClr val="0EA472"/>
                </a:solidFill>
                <a:latin typeface="Calibri" pitchFamily="34" charset="0"/>
                <a:ea typeface="Calibri" pitchFamily="34" charset="-122"/>
                <a:cs typeface="Calibri" pitchFamily="34" charset="-120"/>
              </a:rPr>
              <a:t>◈</a:t>
            </a:r>
            <a:endParaRPr lang="en-US" sz="1800" dirty="0"/>
          </a:p>
        </p:txBody>
      </p:sp>
      <p:sp>
        <p:nvSpPr>
          <p:cNvPr id="36" name="Text 34"/>
          <p:cNvSpPr/>
          <p:nvPr/>
        </p:nvSpPr>
        <p:spPr>
          <a:xfrm>
            <a:off x="9061704" y="2889504"/>
            <a:ext cx="2304288" cy="274320"/>
          </a:xfrm>
          <a:prstGeom prst="rect">
            <a:avLst/>
          </a:prstGeom>
          <a:noFill/>
          <a:ln/>
        </p:spPr>
        <p:txBody>
          <a:bodyPr wrap="square" lIns="0" tIns="0" rIns="0" bIns="0" rtlCol="0" anchor="t"/>
          <a:lstStyle/>
          <a:p>
            <a:pPr algn="ctr" indent="0" marL="0">
              <a:buNone/>
            </a:pPr>
            <a:r>
              <a:rPr lang="en-US" sz="1200" b="1" dirty="0">
                <a:solidFill>
                  <a:srgbClr val="0F1E3D"/>
                </a:solidFill>
                <a:latin typeface="Calibri" pitchFamily="34" charset="0"/>
                <a:ea typeface="Calibri" pitchFamily="34" charset="-122"/>
                <a:cs typeface="Calibri" pitchFamily="34" charset="-120"/>
              </a:rPr>
              <a:t>Negotiation pack</a:t>
            </a:r>
            <a:endParaRPr lang="en-US" sz="1200" dirty="0"/>
          </a:p>
        </p:txBody>
      </p:sp>
      <p:sp>
        <p:nvSpPr>
          <p:cNvPr id="37" name="Text 35"/>
          <p:cNvSpPr/>
          <p:nvPr/>
        </p:nvSpPr>
        <p:spPr>
          <a:xfrm>
            <a:off x="9079992" y="3163824"/>
            <a:ext cx="2267712" cy="548640"/>
          </a:xfrm>
          <a:prstGeom prst="rect">
            <a:avLst/>
          </a:prstGeom>
          <a:noFill/>
          <a:ln/>
        </p:spPr>
        <p:txBody>
          <a:bodyPr wrap="square" lIns="0" tIns="0" rIns="0" bIns="0" rtlCol="0" anchor="t"/>
          <a:lstStyle/>
          <a:p>
            <a:pPr algn="ctr" indent="0" marL="0">
              <a:lnSpc>
                <a:spcPct val="102000"/>
              </a:lnSpc>
              <a:buNone/>
            </a:pPr>
            <a:r>
              <a:rPr lang="en-US" sz="860" dirty="0">
                <a:solidFill>
                  <a:srgbClr val="8A97A8"/>
                </a:solidFill>
                <a:latin typeface="Calibri" pitchFamily="34" charset="0"/>
                <a:ea typeface="Calibri" pitchFamily="34" charset="-122"/>
                <a:cs typeface="Calibri" pitchFamily="34" charset="-120"/>
              </a:rPr>
              <a:t>levers ranked by £, questions, closing plays</a:t>
            </a:r>
            <a:endParaRPr lang="en-US" sz="860" dirty="0"/>
          </a:p>
        </p:txBody>
      </p:sp>
      <p:sp>
        <p:nvSpPr>
          <p:cNvPr id="38" name="Shape 36"/>
          <p:cNvSpPr/>
          <p:nvPr/>
        </p:nvSpPr>
        <p:spPr>
          <a:xfrm>
            <a:off x="548640" y="3794760"/>
            <a:ext cx="2724912" cy="960120"/>
          </a:xfrm>
          <a:prstGeom prst="roundRect">
            <a:avLst>
              <a:gd name="adj" fmla="val 5714"/>
            </a:avLst>
          </a:prstGeom>
          <a:solidFill>
            <a:srgbClr val="F4F7FB"/>
          </a:solidFill>
          <a:ln w="12700">
            <a:solidFill>
              <a:srgbClr val="E4EAF2"/>
            </a:solidFill>
            <a:prstDash val="solid"/>
          </a:ln>
        </p:spPr>
      </p:sp>
      <p:sp>
        <p:nvSpPr>
          <p:cNvPr id="39" name="Shape 37"/>
          <p:cNvSpPr/>
          <p:nvPr/>
        </p:nvSpPr>
        <p:spPr>
          <a:xfrm>
            <a:off x="548640" y="3794760"/>
            <a:ext cx="73152" cy="960120"/>
          </a:xfrm>
          <a:prstGeom prst="rect">
            <a:avLst/>
          </a:prstGeom>
          <a:solidFill>
            <a:srgbClr val="E5484D"/>
          </a:solidFill>
          <a:ln/>
        </p:spPr>
      </p:sp>
      <p:sp>
        <p:nvSpPr>
          <p:cNvPr id="40" name="Text 38"/>
          <p:cNvSpPr/>
          <p:nvPr/>
        </p:nvSpPr>
        <p:spPr>
          <a:xfrm>
            <a:off x="768096" y="3922776"/>
            <a:ext cx="2377440" cy="457200"/>
          </a:xfrm>
          <a:prstGeom prst="rect">
            <a:avLst/>
          </a:prstGeom>
          <a:noFill/>
          <a:ln/>
        </p:spPr>
        <p:txBody>
          <a:bodyPr wrap="square" lIns="0" tIns="0" rIns="0" bIns="0" rtlCol="0" anchor="t"/>
          <a:lstStyle/>
          <a:p>
            <a:pPr indent="0" marL="0">
              <a:buNone/>
            </a:pPr>
            <a:r>
              <a:rPr lang="en-US" sz="2000" b="1" dirty="0">
                <a:solidFill>
                  <a:srgbClr val="E5484D"/>
                </a:solidFill>
                <a:latin typeface="Calibri" pitchFamily="34" charset="0"/>
                <a:ea typeface="Calibri" pitchFamily="34" charset="-122"/>
                <a:cs typeface="Calibri" pitchFamily="34" charset="-120"/>
              </a:rPr>
              <a:t>+15.1%</a:t>
            </a:r>
            <a:endParaRPr lang="en-US" sz="2000" dirty="0"/>
          </a:p>
        </p:txBody>
      </p:sp>
      <p:sp>
        <p:nvSpPr>
          <p:cNvPr id="41" name="Text 39"/>
          <p:cNvSpPr/>
          <p:nvPr/>
        </p:nvSpPr>
        <p:spPr>
          <a:xfrm>
            <a:off x="768096"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typical quote variance vs should-cost</a:t>
            </a:r>
            <a:endParaRPr lang="en-US" sz="900" dirty="0"/>
          </a:p>
        </p:txBody>
      </p:sp>
      <p:sp>
        <p:nvSpPr>
          <p:cNvPr id="42" name="Shape 40"/>
          <p:cNvSpPr/>
          <p:nvPr/>
        </p:nvSpPr>
        <p:spPr>
          <a:xfrm>
            <a:off x="3319272" y="3794760"/>
            <a:ext cx="2724912" cy="960120"/>
          </a:xfrm>
          <a:prstGeom prst="roundRect">
            <a:avLst>
              <a:gd name="adj" fmla="val 5714"/>
            </a:avLst>
          </a:prstGeom>
          <a:solidFill>
            <a:srgbClr val="F4F7FB"/>
          </a:solidFill>
          <a:ln w="12700">
            <a:solidFill>
              <a:srgbClr val="E4EAF2"/>
            </a:solidFill>
            <a:prstDash val="solid"/>
          </a:ln>
        </p:spPr>
      </p:sp>
      <p:sp>
        <p:nvSpPr>
          <p:cNvPr id="43" name="Shape 41"/>
          <p:cNvSpPr/>
          <p:nvPr/>
        </p:nvSpPr>
        <p:spPr>
          <a:xfrm>
            <a:off x="3319272" y="3794760"/>
            <a:ext cx="73152" cy="960120"/>
          </a:xfrm>
          <a:prstGeom prst="rect">
            <a:avLst/>
          </a:prstGeom>
          <a:solidFill>
            <a:srgbClr val="E0900C"/>
          </a:solidFill>
          <a:ln/>
        </p:spPr>
      </p:sp>
      <p:sp>
        <p:nvSpPr>
          <p:cNvPr id="44" name="Text 42"/>
          <p:cNvSpPr/>
          <p:nvPr/>
        </p:nvSpPr>
        <p:spPr>
          <a:xfrm>
            <a:off x="3538728" y="3922776"/>
            <a:ext cx="2377440" cy="457200"/>
          </a:xfrm>
          <a:prstGeom prst="rect">
            <a:avLst/>
          </a:prstGeom>
          <a:noFill/>
          <a:ln/>
        </p:spPr>
        <p:txBody>
          <a:bodyPr wrap="square" lIns="0" tIns="0" rIns="0" bIns="0" rtlCol="0" anchor="t"/>
          <a:lstStyle/>
          <a:p>
            <a:pPr indent="0" marL="0">
              <a:buNone/>
            </a:pPr>
            <a:r>
              <a:rPr lang="en-US" sz="2000" b="1" dirty="0">
                <a:solidFill>
                  <a:srgbClr val="E0900C"/>
                </a:solidFill>
                <a:latin typeface="Calibri" pitchFamily="34" charset="0"/>
                <a:ea typeface="Calibri" pitchFamily="34" charset="-122"/>
                <a:cs typeface="Calibri" pitchFamily="34" charset="-120"/>
              </a:rPr>
              <a:t>£3.82</a:t>
            </a:r>
            <a:endParaRPr lang="en-US" sz="2000" dirty="0"/>
          </a:p>
        </p:txBody>
      </p:sp>
      <p:sp>
        <p:nvSpPr>
          <p:cNvPr id="45" name="Text 43"/>
          <p:cNvSpPr/>
          <p:nvPr/>
        </p:nvSpPr>
        <p:spPr>
          <a:xfrm>
            <a:off x="3538728"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avg recoverable gap per part</a:t>
            </a:r>
            <a:endParaRPr lang="en-US" sz="900" dirty="0"/>
          </a:p>
        </p:txBody>
      </p:sp>
      <p:sp>
        <p:nvSpPr>
          <p:cNvPr id="46" name="Shape 44"/>
          <p:cNvSpPr/>
          <p:nvPr/>
        </p:nvSpPr>
        <p:spPr>
          <a:xfrm>
            <a:off x="6089904" y="3794760"/>
            <a:ext cx="2724912" cy="960120"/>
          </a:xfrm>
          <a:prstGeom prst="roundRect">
            <a:avLst>
              <a:gd name="adj" fmla="val 5714"/>
            </a:avLst>
          </a:prstGeom>
          <a:solidFill>
            <a:srgbClr val="F4F7FB"/>
          </a:solidFill>
          <a:ln w="12700">
            <a:solidFill>
              <a:srgbClr val="E4EAF2"/>
            </a:solidFill>
            <a:prstDash val="solid"/>
          </a:ln>
        </p:spPr>
      </p:sp>
      <p:sp>
        <p:nvSpPr>
          <p:cNvPr id="47" name="Shape 45"/>
          <p:cNvSpPr/>
          <p:nvPr/>
        </p:nvSpPr>
        <p:spPr>
          <a:xfrm>
            <a:off x="6089904" y="3794760"/>
            <a:ext cx="73152" cy="960120"/>
          </a:xfrm>
          <a:prstGeom prst="rect">
            <a:avLst/>
          </a:prstGeom>
          <a:solidFill>
            <a:srgbClr val="0EA472"/>
          </a:solidFill>
          <a:ln/>
        </p:spPr>
      </p:sp>
      <p:sp>
        <p:nvSpPr>
          <p:cNvPr id="48" name="Text 46"/>
          <p:cNvSpPr/>
          <p:nvPr/>
        </p:nvSpPr>
        <p:spPr>
          <a:xfrm>
            <a:off x="6309360" y="3922776"/>
            <a:ext cx="2377440" cy="457200"/>
          </a:xfrm>
          <a:prstGeom prst="rect">
            <a:avLst/>
          </a:prstGeom>
          <a:noFill/>
          <a:ln/>
        </p:spPr>
        <p:txBody>
          <a:bodyPr wrap="square" lIns="0" tIns="0" rIns="0" bIns="0" rtlCol="0" anchor="t"/>
          <a:lstStyle/>
          <a:p>
            <a:pPr indent="0" marL="0">
              <a:buNone/>
            </a:pPr>
            <a:r>
              <a:rPr lang="en-US" sz="2000" b="1" dirty="0">
                <a:solidFill>
                  <a:srgbClr val="0EA472"/>
                </a:solidFill>
                <a:latin typeface="Calibri" pitchFamily="34" charset="0"/>
                <a:ea typeface="Calibri" pitchFamily="34" charset="-122"/>
                <a:cs typeface="Calibri" pitchFamily="34" charset="-120"/>
              </a:rPr>
              <a:t>£91,680</a:t>
            </a:r>
            <a:endParaRPr lang="en-US" sz="2000" dirty="0"/>
          </a:p>
        </p:txBody>
      </p:sp>
      <p:sp>
        <p:nvSpPr>
          <p:cNvPr id="49" name="Text 47"/>
          <p:cNvSpPr/>
          <p:nvPr/>
        </p:nvSpPr>
        <p:spPr>
          <a:xfrm>
            <a:off x="6309360"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annual impact on one part family</a:t>
            </a:r>
            <a:endParaRPr lang="en-US" sz="900" dirty="0"/>
          </a:p>
        </p:txBody>
      </p:sp>
      <p:sp>
        <p:nvSpPr>
          <p:cNvPr id="50" name="Shape 48"/>
          <p:cNvSpPr/>
          <p:nvPr/>
        </p:nvSpPr>
        <p:spPr>
          <a:xfrm>
            <a:off x="8860536" y="3794760"/>
            <a:ext cx="2724912" cy="960120"/>
          </a:xfrm>
          <a:prstGeom prst="roundRect">
            <a:avLst>
              <a:gd name="adj" fmla="val 5714"/>
            </a:avLst>
          </a:prstGeom>
          <a:solidFill>
            <a:srgbClr val="F4F7FB"/>
          </a:solidFill>
          <a:ln w="12700">
            <a:solidFill>
              <a:srgbClr val="E4EAF2"/>
            </a:solidFill>
            <a:prstDash val="solid"/>
          </a:ln>
        </p:spPr>
      </p:sp>
      <p:sp>
        <p:nvSpPr>
          <p:cNvPr id="51" name="Shape 49"/>
          <p:cNvSpPr/>
          <p:nvPr/>
        </p:nvSpPr>
        <p:spPr>
          <a:xfrm>
            <a:off x="8860536" y="3794760"/>
            <a:ext cx="73152" cy="960120"/>
          </a:xfrm>
          <a:prstGeom prst="rect">
            <a:avLst/>
          </a:prstGeom>
          <a:solidFill>
            <a:srgbClr val="7C3AED"/>
          </a:solidFill>
          <a:ln/>
        </p:spPr>
      </p:sp>
      <p:sp>
        <p:nvSpPr>
          <p:cNvPr id="52" name="Text 50"/>
          <p:cNvSpPr/>
          <p:nvPr/>
        </p:nvSpPr>
        <p:spPr>
          <a:xfrm>
            <a:off x="9079992" y="3922776"/>
            <a:ext cx="2377440" cy="457200"/>
          </a:xfrm>
          <a:prstGeom prst="rect">
            <a:avLst/>
          </a:prstGeom>
          <a:noFill/>
          <a:ln/>
        </p:spPr>
        <p:txBody>
          <a:bodyPr wrap="square" lIns="0" tIns="0" rIns="0" bIns="0" rtlCol="0" anchor="t"/>
          <a:lstStyle/>
          <a:p>
            <a:pPr indent="0" marL="0">
              <a:buNone/>
            </a:pPr>
            <a:r>
              <a:rPr lang="en-US" sz="2000" b="1" dirty="0">
                <a:solidFill>
                  <a:srgbClr val="7C3AED"/>
                </a:solidFill>
                <a:latin typeface="Calibri" pitchFamily="34" charset="0"/>
                <a:ea typeface="Calibri" pitchFamily="34" charset="-122"/>
                <a:cs typeface="Calibri" pitchFamily="34" charset="-120"/>
              </a:rPr>
              <a:t>£37,920</a:t>
            </a:r>
            <a:endParaRPr lang="en-US" sz="2000" dirty="0"/>
          </a:p>
        </p:txBody>
      </p:sp>
      <p:sp>
        <p:nvSpPr>
          <p:cNvPr id="53" name="Text 51"/>
          <p:cNvSpPr/>
          <p:nvPr/>
        </p:nvSpPr>
        <p:spPr>
          <a:xfrm>
            <a:off x="9079992" y="4343400"/>
            <a:ext cx="2377440" cy="365760"/>
          </a:xfrm>
          <a:prstGeom prst="rect">
            <a:avLst/>
          </a:prstGeom>
          <a:noFill/>
          <a:ln/>
        </p:spPr>
        <p:txBody>
          <a:bodyPr wrap="square" lIns="0" tIns="0" rIns="0" bIns="0" rtlCol="0" anchor="t"/>
          <a:lstStyle/>
          <a:p>
            <a:pPr indent="0" marL="0">
              <a:lnSpc>
                <a:spcPct val="100000"/>
              </a:lnSpc>
              <a:buNone/>
            </a:pPr>
            <a:r>
              <a:rPr lang="en-US" sz="900" dirty="0">
                <a:solidFill>
                  <a:srgbClr val="8A97A8"/>
                </a:solidFill>
                <a:latin typeface="Calibri" pitchFamily="34" charset="0"/>
                <a:ea typeface="Calibri" pitchFamily="34" charset="-122"/>
                <a:cs typeface="Calibri" pitchFamily="34" charset="-120"/>
              </a:rPr>
              <a:t>top single lever — raw material</a:t>
            </a:r>
            <a:endParaRPr lang="en-US" sz="900" dirty="0"/>
          </a:p>
        </p:txBody>
      </p:sp>
      <p:sp>
        <p:nvSpPr>
          <p:cNvPr id="54" name="Text 52"/>
          <p:cNvSpPr/>
          <p:nvPr/>
        </p:nvSpPr>
        <p:spPr>
          <a:xfrm>
            <a:off x="566928" y="4782312"/>
            <a:ext cx="10972800" cy="182880"/>
          </a:xfrm>
          <a:prstGeom prst="rect">
            <a:avLst/>
          </a:prstGeom>
          <a:noFill/>
          <a:ln/>
        </p:spPr>
        <p:txBody>
          <a:bodyPr wrap="square" lIns="0" tIns="0" rIns="0" bIns="0" rtlCol="0" anchor="t"/>
          <a:lstStyle/>
          <a:p>
            <a:pPr indent="0" marL="0">
              <a:buNone/>
            </a:pPr>
            <a:r>
              <a:rPr lang="en-US" sz="850" i="1" dirty="0">
                <a:solidFill>
                  <a:srgbClr val="8A97A8"/>
                </a:solidFill>
                <a:latin typeface="Calibri" pitchFamily="34" charset="0"/>
                <a:ea typeface="Calibri" pitchFamily="34" charset="-122"/>
                <a:cs typeface="Calibri" pitchFamily="34" charset="-120"/>
              </a:rPr>
              <a:t>Illustrative figures — the same teardown runs on our real supplier quotes.</a:t>
            </a:r>
            <a:endParaRPr lang="en-US" sz="850" dirty="0"/>
          </a:p>
        </p:txBody>
      </p:sp>
      <p:sp>
        <p:nvSpPr>
          <p:cNvPr id="55" name="Shape 53"/>
          <p:cNvSpPr/>
          <p:nvPr/>
        </p:nvSpPr>
        <p:spPr>
          <a:xfrm>
            <a:off x="548640" y="5010912"/>
            <a:ext cx="11091672" cy="914400"/>
          </a:xfrm>
          <a:prstGeom prst="roundRect">
            <a:avLst>
              <a:gd name="adj" fmla="val 7000"/>
            </a:avLst>
          </a:prstGeom>
          <a:solidFill>
            <a:srgbClr val="F3EEFE"/>
          </a:solidFill>
          <a:ln w="12700">
            <a:solidFill>
              <a:srgbClr val="E4EAF2"/>
            </a:solidFill>
            <a:prstDash val="solid"/>
          </a:ln>
        </p:spPr>
      </p:sp>
      <p:sp>
        <p:nvSpPr>
          <p:cNvPr id="56" name="Shape 54"/>
          <p:cNvSpPr/>
          <p:nvPr/>
        </p:nvSpPr>
        <p:spPr>
          <a:xfrm>
            <a:off x="548640" y="5010912"/>
            <a:ext cx="82296" cy="914400"/>
          </a:xfrm>
          <a:prstGeom prst="rect">
            <a:avLst/>
          </a:prstGeom>
          <a:solidFill>
            <a:srgbClr val="7C3AED"/>
          </a:solidFill>
          <a:ln/>
        </p:spPr>
      </p:sp>
      <p:sp>
        <p:nvSpPr>
          <p:cNvPr id="57" name="Text 55"/>
          <p:cNvSpPr/>
          <p:nvPr/>
        </p:nvSpPr>
        <p:spPr>
          <a:xfrm>
            <a:off x="914400" y="5120640"/>
            <a:ext cx="10378440" cy="731520"/>
          </a:xfrm>
          <a:prstGeom prst="rect">
            <a:avLst/>
          </a:prstGeom>
          <a:noFill/>
          <a:ln/>
        </p:spPr>
        <p:txBody>
          <a:bodyPr wrap="square" lIns="0" tIns="0" rIns="0" bIns="0" rtlCol="0" anchor="t"/>
          <a:lstStyle/>
          <a:p>
            <a:pPr indent="0" marL="0">
              <a:lnSpc>
                <a:spcPct val="115000"/>
              </a:lnSpc>
              <a:buNone/>
            </a:pPr>
            <a:r>
              <a:rPr lang="en-US" sz="1150" b="1" dirty="0">
                <a:solidFill>
                  <a:srgbClr val="0F1E3D"/>
                </a:solidFill>
                <a:latin typeface="Calibri" pitchFamily="34" charset="0"/>
                <a:ea typeface="Calibri" pitchFamily="34" charset="-122"/>
                <a:cs typeface="Calibri" pitchFamily="34" charset="-120"/>
              </a:rPr>
              <a:t>The pack contains:  </a:t>
            </a:r>
            <a:pPr indent="0" marL="0">
              <a:lnSpc>
                <a:spcPct val="115000"/>
              </a:lnSpc>
              <a:buNone/>
            </a:pPr>
            <a:r>
              <a:rPr lang="en-US" sz="1150" dirty="0">
                <a:solidFill>
                  <a:srgbClr val="3E4C63"/>
                </a:solidFill>
                <a:latin typeface="Calibri" pitchFamily="34" charset="0"/>
                <a:ea typeface="Calibri" pitchFamily="34" charset="-122"/>
                <a:cs typeface="Calibri" pitchFamily="34" charset="-120"/>
              </a:rPr>
              <a:t>a line-by-line gap table, cost-driver decomposition (which parameter drives each gap), recovery levers ranked by £/yr, ready-to-send supplier questions, and a one-click PDF &amp; PowerPoint. We stop arguing about the total and start negotiating the drivers.</a:t>
            </a:r>
            <a:endParaRPr lang="en-US" sz="1150" dirty="0"/>
          </a:p>
        </p:txBody>
      </p:sp>
      <p:sp>
        <p:nvSpPr>
          <p:cNvPr id="58" name="Shape 56"/>
          <p:cNvSpPr/>
          <p:nvPr/>
        </p:nvSpPr>
        <p:spPr>
          <a:xfrm>
            <a:off x="548640" y="6400800"/>
            <a:ext cx="11094415" cy="12802"/>
          </a:xfrm>
          <a:prstGeom prst="rect">
            <a:avLst/>
          </a:prstGeom>
          <a:solidFill>
            <a:srgbClr val="E4EAF2"/>
          </a:solidFill>
          <a:ln/>
        </p:spPr>
      </p:sp>
      <p:sp>
        <p:nvSpPr>
          <p:cNvPr id="59" name="Text 5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0" name="Text 5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11 / 15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agent-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58000"/>
            </a:srgbClr>
          </a:solidFill>
          <a:ln/>
        </p:spPr>
      </p:sp>
      <p:sp>
        <p:nvSpPr>
          <p:cNvPr id="5" name="Shape 2"/>
          <p:cNvSpPr/>
          <p:nvPr/>
        </p:nvSpPr>
        <p:spPr>
          <a:xfrm>
            <a:off x="0" y="3931920"/>
            <a:ext cx="12191695" cy="2926080"/>
          </a:xfrm>
          <a:prstGeom prst="rect">
            <a:avLst/>
          </a:prstGeom>
          <a:solidFill>
            <a:srgbClr val="061024">
              <a:alpha val="80000"/>
            </a:srgbClr>
          </a:solidFill>
          <a:ln/>
        </p:spPr>
      </p:sp>
      <p:sp>
        <p:nvSpPr>
          <p:cNvPr id="6" name="Shape 3"/>
          <p:cNvSpPr/>
          <p:nvPr/>
        </p:nvSpPr>
        <p:spPr>
          <a:xfrm>
            <a:off x="0" y="0"/>
            <a:ext cx="146304" cy="6858000"/>
          </a:xfrm>
          <a:prstGeom prst="rect">
            <a:avLst/>
          </a:prstGeom>
          <a:solidFill>
            <a:srgbClr val="4F46E5"/>
          </a:solidFill>
          <a:ln/>
        </p:spPr>
      </p:sp>
      <p:sp>
        <p:nvSpPr>
          <p:cNvPr id="7" name="Shape 4"/>
          <p:cNvSpPr/>
          <p:nvPr/>
        </p:nvSpPr>
        <p:spPr>
          <a:xfrm>
            <a:off x="0" y="6729984"/>
            <a:ext cx="12191695" cy="128016"/>
          </a:xfrm>
          <a:prstGeom prst="rect">
            <a:avLst/>
          </a:prstGeom>
          <a:solidFill>
            <a:srgbClr val="4F46E5"/>
          </a:solidFill>
          <a:ln/>
        </p:spPr>
      </p:sp>
      <p:sp>
        <p:nvSpPr>
          <p:cNvPr id="8" name="Shape 5"/>
          <p:cNvSpPr/>
          <p:nvPr/>
        </p:nvSpPr>
        <p:spPr>
          <a:xfrm>
            <a:off x="548640" y="457200"/>
            <a:ext cx="402336" cy="402336"/>
          </a:xfrm>
          <a:prstGeom prst="roundRect">
            <a:avLst>
              <a:gd name="adj" fmla="val 22727"/>
            </a:avLst>
          </a:prstGeom>
          <a:solidFill>
            <a:srgbClr val="4F46E5"/>
          </a:solidFill>
          <a:ln/>
        </p:spPr>
      </p:sp>
      <p:sp>
        <p:nvSpPr>
          <p:cNvPr id="9" name="Text 6"/>
          <p:cNvSpPr/>
          <p:nvPr/>
        </p:nvSpPr>
        <p:spPr>
          <a:xfrm>
            <a:off x="548640" y="457200"/>
            <a:ext cx="402336" cy="402336"/>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cv</a:t>
            </a:r>
            <a:endParaRPr lang="en-US" sz="1600" dirty="0"/>
          </a:p>
        </p:txBody>
      </p:sp>
      <p:sp>
        <p:nvSpPr>
          <p:cNvPr id="10" name="Text 7"/>
          <p:cNvSpPr/>
          <p:nvPr/>
        </p:nvSpPr>
        <p:spPr>
          <a:xfrm>
            <a:off x="1097280" y="475488"/>
            <a:ext cx="3657600" cy="384048"/>
          </a:xfrm>
          <a:prstGeom prst="rect">
            <a:avLst/>
          </a:prstGeom>
          <a:noFill/>
          <a:ln/>
        </p:spPr>
        <p:txBody>
          <a:bodyPr wrap="square" lIns="0" tIns="0" rIns="0" bIns="0"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CostVision</a:t>
            </a:r>
            <a:endParaRPr lang="en-US" sz="1400" dirty="0"/>
          </a:p>
        </p:txBody>
      </p:sp>
      <p:sp>
        <p:nvSpPr>
          <p:cNvPr id="11" name="Shape 8"/>
          <p:cNvSpPr/>
          <p:nvPr/>
        </p:nvSpPr>
        <p:spPr>
          <a:xfrm>
            <a:off x="548640" y="4553712"/>
            <a:ext cx="658368" cy="82296"/>
          </a:xfrm>
          <a:prstGeom prst="rect">
            <a:avLst/>
          </a:prstGeom>
          <a:solidFill>
            <a:srgbClr val="4F46E5"/>
          </a:solidFill>
          <a:ln/>
        </p:spPr>
      </p:sp>
      <p:sp>
        <p:nvSpPr>
          <p:cNvPr id="12" name="Text 9"/>
          <p:cNvSpPr/>
          <p:nvPr/>
        </p:nvSpPr>
        <p:spPr>
          <a:xfrm>
            <a:off x="548640" y="4187952"/>
            <a:ext cx="9144000" cy="274320"/>
          </a:xfrm>
          <a:prstGeom prst="rect">
            <a:avLst/>
          </a:prstGeom>
          <a:noFill/>
          <a:ln/>
        </p:spPr>
        <p:txBody>
          <a:bodyPr wrap="square" lIns="0" tIns="0" rIns="0" bIns="0" rtlCol="0" anchor="t"/>
          <a:lstStyle/>
          <a:p>
            <a:pPr indent="0" marL="0">
              <a:buNone/>
            </a:pPr>
            <a:r>
              <a:rPr lang="en-US" sz="1300" b="1" spc="200" kern="0" dirty="0">
                <a:solidFill>
                  <a:srgbClr val="CFE0F5"/>
                </a:solidFill>
                <a:latin typeface="Calibri" pitchFamily="34" charset="0"/>
                <a:ea typeface="Calibri" pitchFamily="34" charset="-122"/>
                <a:cs typeface="Calibri" pitchFamily="34" charset="-120"/>
              </a:rPr>
              <a:t>LEARN &amp; GOVERN</a:t>
            </a:r>
            <a:endParaRPr lang="en-US" sz="1300" dirty="0"/>
          </a:p>
        </p:txBody>
      </p:sp>
      <p:sp>
        <p:nvSpPr>
          <p:cNvPr id="13" name="Text 10"/>
          <p:cNvSpPr/>
          <p:nvPr/>
        </p:nvSpPr>
        <p:spPr>
          <a:xfrm>
            <a:off x="548640" y="4736592"/>
            <a:ext cx="10607040" cy="1280160"/>
          </a:xfrm>
          <a:prstGeom prst="rect">
            <a:avLst/>
          </a:prstGeom>
          <a:noFill/>
          <a:ln/>
        </p:spPr>
        <p:txBody>
          <a:bodyPr wrap="square" lIns="0" tIns="0" rIns="0" bIns="0" rtlCol="0" anchor="t"/>
          <a:lstStyle/>
          <a:p>
            <a:pPr indent="0" marL="0">
              <a:lnSpc>
                <a:spcPct val="102000"/>
              </a:lnSpc>
              <a:buNone/>
            </a:pPr>
            <a:r>
              <a:rPr lang="en-US" sz="3800" b="1" dirty="0">
                <a:solidFill>
                  <a:srgbClr val="FFFFFF"/>
                </a:solidFill>
                <a:latin typeface="Calibri" pitchFamily="34" charset="0"/>
                <a:ea typeface="Calibri" pitchFamily="34" charset="-122"/>
                <a:cs typeface="Calibri" pitchFamily="34" charset="-120"/>
              </a:rPr>
              <a:t>Agentic AI</a:t>
            </a:r>
            <a:endParaRPr lang="en-US" sz="3800" dirty="0"/>
          </a:p>
        </p:txBody>
      </p:sp>
      <p:sp>
        <p:nvSpPr>
          <p:cNvPr id="14" name="Text 11"/>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AFC4E2"/>
                </a:solidFill>
                <a:latin typeface="Calibri" pitchFamily="34" charset="0"/>
                <a:ea typeface="Calibri" pitchFamily="34" charset="-122"/>
                <a:cs typeface="Calibri" pitchFamily="34" charset="-120"/>
              </a:rPr>
              <a:t>23 / 33</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LEARN &amp; GOVERN</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Agentic AI — it learns, remembers and acts</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Shape 8"/>
          <p:cNvSpPr/>
          <p:nvPr/>
        </p:nvSpPr>
        <p:spPr>
          <a:xfrm>
            <a:off x="548640"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3.5834610852528816e+226" dist="1.0238460243579663e+226" dir="5.656675692209407e+264">
              <a:srgbClr val="9DB0CC">
                <a:alpha val="2.200000000000001e+274"/>
              </a:srgbClr>
            </a:outerShdw>
          </a:effectLst>
        </p:spPr>
      </p:sp>
      <p:sp>
        <p:nvSpPr>
          <p:cNvPr id="11" name="Shape 9"/>
          <p:cNvSpPr/>
          <p:nvPr/>
        </p:nvSpPr>
        <p:spPr>
          <a:xfrm>
            <a:off x="548640" y="1691640"/>
            <a:ext cx="82296" cy="2423160"/>
          </a:xfrm>
          <a:prstGeom prst="rect">
            <a:avLst/>
          </a:prstGeom>
          <a:solidFill>
            <a:srgbClr val="2563EB"/>
          </a:solidFill>
          <a:ln/>
        </p:spPr>
      </p:sp>
      <p:sp>
        <p:nvSpPr>
          <p:cNvPr id="12" name="Shape 10"/>
          <p:cNvSpPr/>
          <p:nvPr/>
        </p:nvSpPr>
        <p:spPr>
          <a:xfrm>
            <a:off x="1472184" y="1947672"/>
            <a:ext cx="694944" cy="694944"/>
          </a:xfrm>
          <a:prstGeom prst="ellipse">
            <a:avLst/>
          </a:prstGeom>
          <a:solidFill>
            <a:srgbClr val="EAF1FE"/>
          </a:solidFill>
          <a:ln/>
        </p:spPr>
      </p:sp>
      <p:sp>
        <p:nvSpPr>
          <p:cNvPr id="13" name="Text 11"/>
          <p:cNvSpPr/>
          <p:nvPr/>
        </p:nvSpPr>
        <p:spPr>
          <a:xfrm>
            <a:off x="1472184" y="1938528"/>
            <a:ext cx="694944" cy="694944"/>
          </a:xfrm>
          <a:prstGeom prst="rect">
            <a:avLst/>
          </a:prstGeom>
          <a:noFill/>
          <a:ln/>
        </p:spPr>
        <p:txBody>
          <a:bodyPr wrap="square" lIns="0" tIns="0" rIns="0" bIns="0" rtlCol="0" anchor="ctr"/>
          <a:lstStyle/>
          <a:p>
            <a:pPr algn="ctr" indent="0" marL="0">
              <a:buNone/>
            </a:pPr>
            <a:r>
              <a:rPr lang="en-US" sz="2400" b="1" dirty="0">
                <a:solidFill>
                  <a:srgbClr val="2563EB"/>
                </a:solidFill>
                <a:latin typeface="Calibri" pitchFamily="34" charset="0"/>
                <a:ea typeface="Calibri" pitchFamily="34" charset="-122"/>
                <a:cs typeface="Calibri" pitchFamily="34" charset="-120"/>
              </a:rPr>
              <a:t>▤</a:t>
            </a:r>
            <a:endParaRPr lang="en-US" sz="2400" dirty="0"/>
          </a:p>
        </p:txBody>
      </p:sp>
      <p:sp>
        <p:nvSpPr>
          <p:cNvPr id="14" name="Text 12"/>
          <p:cNvSpPr/>
          <p:nvPr/>
        </p:nvSpPr>
        <p:spPr>
          <a:xfrm>
            <a:off x="768096" y="2788920"/>
            <a:ext cx="2130552" cy="320040"/>
          </a:xfrm>
          <a:prstGeom prst="rect">
            <a:avLst/>
          </a:prstGeom>
          <a:noFill/>
          <a:ln/>
        </p:spPr>
        <p:txBody>
          <a:bodyPr wrap="square" lIns="0" tIns="0" rIns="0" bIns="0" rtlCol="0" anchor="t"/>
          <a:lstStyle/>
          <a:p>
            <a:pPr algn="ctr" indent="0" marL="0">
              <a:buNone/>
            </a:pPr>
            <a:r>
              <a:rPr lang="en-US" sz="1500" b="1" dirty="0">
                <a:solidFill>
                  <a:srgbClr val="2563EB"/>
                </a:solidFill>
                <a:latin typeface="Calibri" pitchFamily="34" charset="0"/>
                <a:ea typeface="Calibri" pitchFamily="34" charset="-122"/>
                <a:cs typeface="Calibri" pitchFamily="34" charset="-120"/>
              </a:rPr>
              <a:t>Remembers</a:t>
            </a:r>
            <a:endParaRPr lang="en-US" sz="1500" dirty="0"/>
          </a:p>
        </p:txBody>
      </p:sp>
      <p:sp>
        <p:nvSpPr>
          <p:cNvPr id="15" name="Text 13"/>
          <p:cNvSpPr/>
          <p:nvPr/>
        </p:nvSpPr>
        <p:spPr>
          <a:xfrm>
            <a:off x="786384"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Every analysis is saved as a case — shared across the team, so juniors inherit senior judgement.</a:t>
            </a:r>
            <a:endParaRPr lang="en-US" sz="1000" dirty="0"/>
          </a:p>
        </p:txBody>
      </p:sp>
      <p:sp>
        <p:nvSpPr>
          <p:cNvPr id="16" name="Text 14"/>
          <p:cNvSpPr/>
          <p:nvPr/>
        </p:nvSpPr>
        <p:spPr>
          <a:xfrm>
            <a:off x="3108960"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17" name="Shape 15"/>
          <p:cNvSpPr/>
          <p:nvPr/>
        </p:nvSpPr>
        <p:spPr>
          <a:xfrm>
            <a:off x="3419856"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4.550995578271159e+230" dist="1.3002844509346172e+230" dir="3.3940054153256444e+269">
              <a:srgbClr val="9DB0CC">
                <a:alpha val="2.200000000000001e+279"/>
              </a:srgbClr>
            </a:outerShdw>
          </a:effectLst>
        </p:spPr>
      </p:sp>
      <p:sp>
        <p:nvSpPr>
          <p:cNvPr id="18" name="Shape 16"/>
          <p:cNvSpPr/>
          <p:nvPr/>
        </p:nvSpPr>
        <p:spPr>
          <a:xfrm>
            <a:off x="3419856" y="1691640"/>
            <a:ext cx="82296" cy="2423160"/>
          </a:xfrm>
          <a:prstGeom prst="rect">
            <a:avLst/>
          </a:prstGeom>
          <a:solidFill>
            <a:srgbClr val="0E93B0"/>
          </a:solidFill>
          <a:ln/>
        </p:spPr>
      </p:sp>
      <p:sp>
        <p:nvSpPr>
          <p:cNvPr id="19" name="Shape 17"/>
          <p:cNvSpPr/>
          <p:nvPr/>
        </p:nvSpPr>
        <p:spPr>
          <a:xfrm>
            <a:off x="4343400" y="1947672"/>
            <a:ext cx="694944" cy="694944"/>
          </a:xfrm>
          <a:prstGeom prst="ellipse">
            <a:avLst/>
          </a:prstGeom>
          <a:solidFill>
            <a:srgbClr val="E8F6FA"/>
          </a:solidFill>
          <a:ln/>
        </p:spPr>
      </p:sp>
      <p:sp>
        <p:nvSpPr>
          <p:cNvPr id="20" name="Text 18"/>
          <p:cNvSpPr/>
          <p:nvPr/>
        </p:nvSpPr>
        <p:spPr>
          <a:xfrm>
            <a:off x="4343400" y="1938528"/>
            <a:ext cx="694944" cy="694944"/>
          </a:xfrm>
          <a:prstGeom prst="rect">
            <a:avLst/>
          </a:prstGeom>
          <a:noFill/>
          <a:ln/>
        </p:spPr>
        <p:txBody>
          <a:bodyPr wrap="square" lIns="0" tIns="0" rIns="0" bIns="0" rtlCol="0" anchor="ctr"/>
          <a:lstStyle/>
          <a:p>
            <a:pPr algn="ctr" indent="0" marL="0">
              <a:buNone/>
            </a:pPr>
            <a:r>
              <a:rPr lang="en-US" sz="2400" b="1" dirty="0">
                <a:solidFill>
                  <a:srgbClr val="0E93B0"/>
                </a:solidFill>
                <a:latin typeface="Calibri" pitchFamily="34" charset="0"/>
                <a:ea typeface="Calibri" pitchFamily="34" charset="-122"/>
                <a:cs typeface="Calibri" pitchFamily="34" charset="-120"/>
              </a:rPr>
              <a:t>◎</a:t>
            </a:r>
            <a:endParaRPr lang="en-US" sz="2400" dirty="0"/>
          </a:p>
        </p:txBody>
      </p:sp>
      <p:sp>
        <p:nvSpPr>
          <p:cNvPr id="21" name="Text 19"/>
          <p:cNvSpPr/>
          <p:nvPr/>
        </p:nvSpPr>
        <p:spPr>
          <a:xfrm>
            <a:off x="3639312" y="2788920"/>
            <a:ext cx="2130552" cy="320040"/>
          </a:xfrm>
          <a:prstGeom prst="rect">
            <a:avLst/>
          </a:prstGeom>
          <a:noFill/>
          <a:ln/>
        </p:spPr>
        <p:txBody>
          <a:bodyPr wrap="square" lIns="0" tIns="0" rIns="0" bIns="0" rtlCol="0" anchor="t"/>
          <a:lstStyle/>
          <a:p>
            <a:pPr algn="ctr" indent="0" marL="0">
              <a:buNone/>
            </a:pPr>
            <a:r>
              <a:rPr lang="en-US" sz="1500" b="1" dirty="0">
                <a:solidFill>
                  <a:srgbClr val="0E93B0"/>
                </a:solidFill>
                <a:latin typeface="Calibri" pitchFamily="34" charset="0"/>
                <a:ea typeface="Calibri" pitchFamily="34" charset="-122"/>
                <a:cs typeface="Calibri" pitchFamily="34" charset="-120"/>
              </a:rPr>
              <a:t>Recognises</a:t>
            </a:r>
            <a:endParaRPr lang="en-US" sz="1500" dirty="0"/>
          </a:p>
        </p:txBody>
      </p:sp>
      <p:sp>
        <p:nvSpPr>
          <p:cNvPr id="22" name="Text 20"/>
          <p:cNvSpPr/>
          <p:nvPr/>
        </p:nvSpPr>
        <p:spPr>
          <a:xfrm>
            <a:off x="3657600"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new part is instantly matched to similar past parts, with the reasons shown.</a:t>
            </a:r>
            <a:endParaRPr lang="en-US" sz="1000" dirty="0"/>
          </a:p>
        </p:txBody>
      </p:sp>
      <p:sp>
        <p:nvSpPr>
          <p:cNvPr id="23" name="Text 21"/>
          <p:cNvSpPr/>
          <p:nvPr/>
        </p:nvSpPr>
        <p:spPr>
          <a:xfrm>
            <a:off x="5980176"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24" name="Shape 22"/>
          <p:cNvSpPr/>
          <p:nvPr/>
        </p:nvSpPr>
        <p:spPr>
          <a:xfrm>
            <a:off x="6291072"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5.7797643844043726e+234" dist="1.6513612526869638e+234" dir="2.0364032491953868e+274">
              <a:srgbClr val="9DB0CC">
                <a:alpha val="2.200000000000001e+284"/>
              </a:srgbClr>
            </a:outerShdw>
          </a:effectLst>
        </p:spPr>
      </p:sp>
      <p:sp>
        <p:nvSpPr>
          <p:cNvPr id="25" name="Shape 23"/>
          <p:cNvSpPr/>
          <p:nvPr/>
        </p:nvSpPr>
        <p:spPr>
          <a:xfrm>
            <a:off x="6291072" y="1691640"/>
            <a:ext cx="82296" cy="2423160"/>
          </a:xfrm>
          <a:prstGeom prst="rect">
            <a:avLst/>
          </a:prstGeom>
          <a:solidFill>
            <a:srgbClr val="7C3AED"/>
          </a:solidFill>
          <a:ln/>
        </p:spPr>
      </p:sp>
      <p:sp>
        <p:nvSpPr>
          <p:cNvPr id="26" name="Shape 24"/>
          <p:cNvSpPr/>
          <p:nvPr/>
        </p:nvSpPr>
        <p:spPr>
          <a:xfrm>
            <a:off x="7214616" y="1947672"/>
            <a:ext cx="694944" cy="694944"/>
          </a:xfrm>
          <a:prstGeom prst="ellipse">
            <a:avLst/>
          </a:prstGeom>
          <a:solidFill>
            <a:srgbClr val="F3EEFE"/>
          </a:solidFill>
          <a:ln/>
        </p:spPr>
      </p:sp>
      <p:sp>
        <p:nvSpPr>
          <p:cNvPr id="27" name="Text 25"/>
          <p:cNvSpPr/>
          <p:nvPr/>
        </p:nvSpPr>
        <p:spPr>
          <a:xfrm>
            <a:off x="7214616" y="1938528"/>
            <a:ext cx="694944" cy="694944"/>
          </a:xfrm>
          <a:prstGeom prst="rect">
            <a:avLst/>
          </a:prstGeom>
          <a:noFill/>
          <a:ln/>
        </p:spPr>
        <p:txBody>
          <a:bodyPr wrap="square" lIns="0" tIns="0" rIns="0" bIns="0" rtlCol="0" anchor="ctr"/>
          <a:lstStyle/>
          <a:p>
            <a:pPr algn="ctr" indent="0" marL="0">
              <a:buNone/>
            </a:pPr>
            <a:r>
              <a:rPr lang="en-US" sz="2400" b="1" dirty="0">
                <a:solidFill>
                  <a:srgbClr val="7C3AED"/>
                </a:solidFill>
                <a:latin typeface="Calibri" pitchFamily="34" charset="0"/>
                <a:ea typeface="Calibri" pitchFamily="34" charset="-122"/>
                <a:cs typeface="Calibri" pitchFamily="34" charset="-120"/>
              </a:rPr>
              <a:t>⟳</a:t>
            </a:r>
            <a:endParaRPr lang="en-US" sz="2400" dirty="0"/>
          </a:p>
        </p:txBody>
      </p:sp>
      <p:sp>
        <p:nvSpPr>
          <p:cNvPr id="28" name="Text 26"/>
          <p:cNvSpPr/>
          <p:nvPr/>
        </p:nvSpPr>
        <p:spPr>
          <a:xfrm>
            <a:off x="6510528" y="2788920"/>
            <a:ext cx="2130552" cy="320040"/>
          </a:xfrm>
          <a:prstGeom prst="rect">
            <a:avLst/>
          </a:prstGeom>
          <a:noFill/>
          <a:ln/>
        </p:spPr>
        <p:txBody>
          <a:bodyPr wrap="square" lIns="0" tIns="0" rIns="0" bIns="0" rtlCol="0" anchor="t"/>
          <a:lstStyle/>
          <a:p>
            <a:pPr algn="ctr" indent="0" marL="0">
              <a:buNone/>
            </a:pPr>
            <a:r>
              <a:rPr lang="en-US" sz="1500" b="1" dirty="0">
                <a:solidFill>
                  <a:srgbClr val="7C3AED"/>
                </a:solidFill>
                <a:latin typeface="Calibri" pitchFamily="34" charset="0"/>
                <a:ea typeface="Calibri" pitchFamily="34" charset="-122"/>
                <a:cs typeface="Calibri" pitchFamily="34" charset="-120"/>
              </a:rPr>
              <a:t>Self-corrects</a:t>
            </a:r>
            <a:endParaRPr lang="en-US" sz="1500" dirty="0"/>
          </a:p>
        </p:txBody>
      </p:sp>
      <p:sp>
        <p:nvSpPr>
          <p:cNvPr id="29" name="Text 27"/>
          <p:cNvSpPr/>
          <p:nvPr/>
        </p:nvSpPr>
        <p:spPr>
          <a:xfrm>
            <a:off x="6528816"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Log a real quote and it measures its own error, then corrects future estimates per category.</a:t>
            </a:r>
            <a:endParaRPr lang="en-US" sz="1000" dirty="0"/>
          </a:p>
        </p:txBody>
      </p:sp>
      <p:sp>
        <p:nvSpPr>
          <p:cNvPr id="30" name="Text 28"/>
          <p:cNvSpPr/>
          <p:nvPr/>
        </p:nvSpPr>
        <p:spPr>
          <a:xfrm>
            <a:off x="8851392" y="2560320"/>
            <a:ext cx="329184" cy="548640"/>
          </a:xfrm>
          <a:prstGeom prst="rect">
            <a:avLst/>
          </a:prstGeom>
          <a:noFill/>
          <a:ln/>
        </p:spPr>
        <p:txBody>
          <a:bodyPr wrap="square" lIns="0" tIns="0" rIns="0" bIns="0" rtlCol="0" anchor="ctr"/>
          <a:lstStyle/>
          <a:p>
            <a:pPr algn="ctr" indent="0" marL="0">
              <a:buNone/>
            </a:pPr>
            <a:r>
              <a:rPr lang="en-US" sz="2000" b="1" dirty="0">
                <a:solidFill>
                  <a:srgbClr val="4F46E5"/>
                </a:solidFill>
                <a:latin typeface="Calibri" pitchFamily="34" charset="0"/>
                <a:ea typeface="Calibri" pitchFamily="34" charset="-122"/>
                <a:cs typeface="Calibri" pitchFamily="34" charset="-120"/>
              </a:rPr>
              <a:t>→</a:t>
            </a:r>
            <a:endParaRPr lang="en-US" sz="2000" dirty="0"/>
          </a:p>
        </p:txBody>
      </p:sp>
      <p:sp>
        <p:nvSpPr>
          <p:cNvPr id="31" name="Shape 29"/>
          <p:cNvSpPr/>
          <p:nvPr/>
        </p:nvSpPr>
        <p:spPr>
          <a:xfrm>
            <a:off x="9162288" y="1691640"/>
            <a:ext cx="2542032" cy="2423160"/>
          </a:xfrm>
          <a:prstGeom prst="roundRect">
            <a:avLst>
              <a:gd name="adj" fmla="val 2642"/>
            </a:avLst>
          </a:prstGeom>
          <a:solidFill>
            <a:srgbClr val="FFFFFF"/>
          </a:solidFill>
          <a:ln w="12700">
            <a:solidFill>
              <a:srgbClr val="E4EAF2"/>
            </a:solidFill>
            <a:prstDash val="solid"/>
          </a:ln>
          <a:effectLst>
            <a:outerShdw sx="100000" sy="100000" kx="0" ky="0" algn="bl" rotWithShape="0" blurRad="7.340300768193554e+238" dist="2.097228790912444e+238" dir="1.221841949517232e+279">
              <a:srgbClr val="9DB0CC">
                <a:alpha val="2.200000000000001e+289"/>
              </a:srgbClr>
            </a:outerShdw>
          </a:effectLst>
        </p:spPr>
      </p:sp>
      <p:sp>
        <p:nvSpPr>
          <p:cNvPr id="32" name="Shape 30"/>
          <p:cNvSpPr/>
          <p:nvPr/>
        </p:nvSpPr>
        <p:spPr>
          <a:xfrm>
            <a:off x="9162288" y="1691640"/>
            <a:ext cx="82296" cy="2423160"/>
          </a:xfrm>
          <a:prstGeom prst="rect">
            <a:avLst/>
          </a:prstGeom>
          <a:solidFill>
            <a:srgbClr val="0EA472"/>
          </a:solidFill>
          <a:ln/>
        </p:spPr>
      </p:sp>
      <p:sp>
        <p:nvSpPr>
          <p:cNvPr id="33" name="Shape 31"/>
          <p:cNvSpPr/>
          <p:nvPr/>
        </p:nvSpPr>
        <p:spPr>
          <a:xfrm>
            <a:off x="10085832" y="1947672"/>
            <a:ext cx="694944" cy="694944"/>
          </a:xfrm>
          <a:prstGeom prst="ellipse">
            <a:avLst/>
          </a:prstGeom>
          <a:solidFill>
            <a:srgbClr val="E7F7F0"/>
          </a:solidFill>
          <a:ln/>
        </p:spPr>
      </p:sp>
      <p:sp>
        <p:nvSpPr>
          <p:cNvPr id="34" name="Text 32"/>
          <p:cNvSpPr/>
          <p:nvPr/>
        </p:nvSpPr>
        <p:spPr>
          <a:xfrm>
            <a:off x="10085832" y="1938528"/>
            <a:ext cx="694944" cy="694944"/>
          </a:xfrm>
          <a:prstGeom prst="rect">
            <a:avLst/>
          </a:prstGeom>
          <a:noFill/>
          <a:ln/>
        </p:spPr>
        <p:txBody>
          <a:bodyPr wrap="square" lIns="0" tIns="0" rIns="0" bIns="0" rtlCol="0" anchor="ctr"/>
          <a:lstStyle/>
          <a:p>
            <a:pPr algn="ctr" indent="0" marL="0">
              <a:buNone/>
            </a:pPr>
            <a:r>
              <a:rPr lang="en-US" sz="2400" b="1" dirty="0">
                <a:solidFill>
                  <a:srgbClr val="0EA472"/>
                </a:solidFill>
                <a:latin typeface="Calibri" pitchFamily="34" charset="0"/>
                <a:ea typeface="Calibri" pitchFamily="34" charset="-122"/>
                <a:cs typeface="Calibri" pitchFamily="34" charset="-120"/>
              </a:rPr>
              <a:t>➤</a:t>
            </a:r>
            <a:endParaRPr lang="en-US" sz="2400" dirty="0"/>
          </a:p>
        </p:txBody>
      </p:sp>
      <p:sp>
        <p:nvSpPr>
          <p:cNvPr id="35" name="Text 33"/>
          <p:cNvSpPr/>
          <p:nvPr/>
        </p:nvSpPr>
        <p:spPr>
          <a:xfrm>
            <a:off x="9381744" y="2788920"/>
            <a:ext cx="2130552" cy="320040"/>
          </a:xfrm>
          <a:prstGeom prst="rect">
            <a:avLst/>
          </a:prstGeom>
          <a:noFill/>
          <a:ln/>
        </p:spPr>
        <p:txBody>
          <a:bodyPr wrap="square" lIns="0" tIns="0" rIns="0" bIns="0" rtlCol="0" anchor="t"/>
          <a:lstStyle/>
          <a:p>
            <a:pPr algn="ctr" indent="0" marL="0">
              <a:buNone/>
            </a:pPr>
            <a:r>
              <a:rPr lang="en-US" sz="1500" b="1" dirty="0">
                <a:solidFill>
                  <a:srgbClr val="0EA472"/>
                </a:solidFill>
                <a:latin typeface="Calibri" pitchFamily="34" charset="0"/>
                <a:ea typeface="Calibri" pitchFamily="34" charset="-122"/>
                <a:cs typeface="Calibri" pitchFamily="34" charset="-120"/>
              </a:rPr>
              <a:t>Acts</a:t>
            </a:r>
            <a:endParaRPr lang="en-US" sz="1500" dirty="0"/>
          </a:p>
        </p:txBody>
      </p:sp>
      <p:sp>
        <p:nvSpPr>
          <p:cNvPr id="36" name="Text 34"/>
          <p:cNvSpPr/>
          <p:nvPr/>
        </p:nvSpPr>
        <p:spPr>
          <a:xfrm>
            <a:off x="9400032" y="3172968"/>
            <a:ext cx="2084832" cy="868680"/>
          </a:xfrm>
          <a:prstGeom prst="rect">
            <a:avLst/>
          </a:prstGeom>
          <a:noFill/>
          <a:ln/>
        </p:spPr>
        <p:txBody>
          <a:bodyPr wrap="square" lIns="0" tIns="0" rIns="0" bIns="0" rtlCol="0" anchor="t"/>
          <a:lstStyle/>
          <a:p>
            <a:pPr algn="ctr" indent="0" marL="0">
              <a:lnSpc>
                <a:spcPct val="114000"/>
              </a:lnSpc>
              <a:buNone/>
            </a:pPr>
            <a:r>
              <a:rPr lang="en-US" sz="1000" dirty="0">
                <a:solidFill>
                  <a:srgbClr val="3E4C63"/>
                </a:solidFill>
                <a:latin typeface="Calibri" pitchFamily="34" charset="0"/>
                <a:ea typeface="Calibri" pitchFamily="34" charset="-122"/>
                <a:cs typeface="Calibri" pitchFamily="34" charset="-120"/>
              </a:rPr>
              <a:t>A background agent re-checks every part and flags overpayment &amp; risk on its own.</a:t>
            </a:r>
            <a:endParaRPr lang="en-US" sz="1000" dirty="0"/>
          </a:p>
        </p:txBody>
      </p:sp>
      <p:sp>
        <p:nvSpPr>
          <p:cNvPr id="37" name="Shape 35"/>
          <p:cNvSpPr/>
          <p:nvPr/>
        </p:nvSpPr>
        <p:spPr>
          <a:xfrm>
            <a:off x="548640" y="4343400"/>
            <a:ext cx="3657600" cy="1051560"/>
          </a:xfrm>
          <a:prstGeom prst="roundRect">
            <a:avLst>
              <a:gd name="adj" fmla="val 5217"/>
            </a:avLst>
          </a:prstGeom>
          <a:solidFill>
            <a:srgbClr val="F4F7FB"/>
          </a:solidFill>
          <a:ln w="12700">
            <a:solidFill>
              <a:srgbClr val="E4EAF2"/>
            </a:solidFill>
            <a:prstDash val="solid"/>
          </a:ln>
        </p:spPr>
      </p:sp>
      <p:sp>
        <p:nvSpPr>
          <p:cNvPr id="38" name="Shape 36"/>
          <p:cNvSpPr/>
          <p:nvPr/>
        </p:nvSpPr>
        <p:spPr>
          <a:xfrm>
            <a:off x="548640" y="4343400"/>
            <a:ext cx="73152" cy="1051560"/>
          </a:xfrm>
          <a:prstGeom prst="rect">
            <a:avLst/>
          </a:prstGeom>
          <a:solidFill>
            <a:srgbClr val="0EA472"/>
          </a:solidFill>
          <a:ln/>
        </p:spPr>
      </p:sp>
      <p:sp>
        <p:nvSpPr>
          <p:cNvPr id="39" name="Text 37"/>
          <p:cNvSpPr/>
          <p:nvPr/>
        </p:nvSpPr>
        <p:spPr>
          <a:xfrm>
            <a:off x="786384" y="4489704"/>
            <a:ext cx="3291840" cy="457200"/>
          </a:xfrm>
          <a:prstGeom prst="rect">
            <a:avLst/>
          </a:prstGeom>
          <a:noFill/>
          <a:ln/>
        </p:spPr>
        <p:txBody>
          <a:bodyPr wrap="square" lIns="0" tIns="0" rIns="0" bIns="0" rtlCol="0" anchor="t"/>
          <a:lstStyle/>
          <a:p>
            <a:pPr indent="0" marL="0">
              <a:buNone/>
            </a:pPr>
            <a:r>
              <a:rPr lang="en-US" sz="2200" b="1" dirty="0">
                <a:solidFill>
                  <a:srgbClr val="0EA472"/>
                </a:solidFill>
                <a:latin typeface="Calibri" pitchFamily="34" charset="0"/>
                <a:ea typeface="Calibri" pitchFamily="34" charset="-122"/>
                <a:cs typeface="Calibri" pitchFamily="34" charset="-120"/>
              </a:rPr>
              <a:t>36×</a:t>
            </a:r>
            <a:endParaRPr lang="en-US" sz="2200" dirty="0"/>
          </a:p>
        </p:txBody>
      </p:sp>
      <p:sp>
        <p:nvSpPr>
          <p:cNvPr id="40" name="Text 38"/>
          <p:cNvSpPr/>
          <p:nvPr/>
        </p:nvSpPr>
        <p:spPr>
          <a:xfrm>
            <a:off x="786384"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error reduction after learning from 3 real quotes</a:t>
            </a:r>
            <a:endParaRPr lang="en-US" sz="950" dirty="0"/>
          </a:p>
        </p:txBody>
      </p:sp>
      <p:sp>
        <p:nvSpPr>
          <p:cNvPr id="41" name="Shape 39"/>
          <p:cNvSpPr/>
          <p:nvPr/>
        </p:nvSpPr>
        <p:spPr>
          <a:xfrm>
            <a:off x="4261104" y="4343400"/>
            <a:ext cx="3657600" cy="1051560"/>
          </a:xfrm>
          <a:prstGeom prst="roundRect">
            <a:avLst>
              <a:gd name="adj" fmla="val 5217"/>
            </a:avLst>
          </a:prstGeom>
          <a:solidFill>
            <a:srgbClr val="F4F7FB"/>
          </a:solidFill>
          <a:ln w="12700">
            <a:solidFill>
              <a:srgbClr val="E4EAF2"/>
            </a:solidFill>
            <a:prstDash val="solid"/>
          </a:ln>
        </p:spPr>
      </p:sp>
      <p:sp>
        <p:nvSpPr>
          <p:cNvPr id="42" name="Shape 40"/>
          <p:cNvSpPr/>
          <p:nvPr/>
        </p:nvSpPr>
        <p:spPr>
          <a:xfrm>
            <a:off x="4261104" y="4343400"/>
            <a:ext cx="73152" cy="1051560"/>
          </a:xfrm>
          <a:prstGeom prst="rect">
            <a:avLst/>
          </a:prstGeom>
          <a:solidFill>
            <a:srgbClr val="E5484D"/>
          </a:solidFill>
          <a:ln/>
        </p:spPr>
      </p:sp>
      <p:sp>
        <p:nvSpPr>
          <p:cNvPr id="43" name="Text 41"/>
          <p:cNvSpPr/>
          <p:nvPr/>
        </p:nvSpPr>
        <p:spPr>
          <a:xfrm>
            <a:off x="4498848" y="4489704"/>
            <a:ext cx="3291840" cy="457200"/>
          </a:xfrm>
          <a:prstGeom prst="rect">
            <a:avLst/>
          </a:prstGeom>
          <a:noFill/>
          <a:ln/>
        </p:spPr>
        <p:txBody>
          <a:bodyPr wrap="square" lIns="0" tIns="0" rIns="0" bIns="0" rtlCol="0" anchor="t"/>
          <a:lstStyle/>
          <a:p>
            <a:pPr indent="0" marL="0">
              <a:buNone/>
            </a:pPr>
            <a:r>
              <a:rPr lang="en-US" sz="2200" b="1" dirty="0">
                <a:solidFill>
                  <a:srgbClr val="E5484D"/>
                </a:solidFill>
                <a:latin typeface="Calibri" pitchFamily="34" charset="0"/>
                <a:ea typeface="Calibri" pitchFamily="34" charset="-122"/>
                <a:cs typeface="Calibri" pitchFamily="34" charset="-120"/>
              </a:rPr>
              <a:t>£512k/yr</a:t>
            </a:r>
            <a:endParaRPr lang="en-US" sz="2200" dirty="0"/>
          </a:p>
        </p:txBody>
      </p:sp>
      <p:sp>
        <p:nvSpPr>
          <p:cNvPr id="44" name="Text 42"/>
          <p:cNvSpPr/>
          <p:nvPr/>
        </p:nvSpPr>
        <p:spPr>
          <a:xfrm>
            <a:off x="4498848"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flagged autonomously in a live demo — unattended</a:t>
            </a:r>
            <a:endParaRPr lang="en-US" sz="950" dirty="0"/>
          </a:p>
        </p:txBody>
      </p:sp>
      <p:sp>
        <p:nvSpPr>
          <p:cNvPr id="45" name="Shape 43"/>
          <p:cNvSpPr/>
          <p:nvPr/>
        </p:nvSpPr>
        <p:spPr>
          <a:xfrm>
            <a:off x="7973568" y="4343400"/>
            <a:ext cx="3657600" cy="1051560"/>
          </a:xfrm>
          <a:prstGeom prst="roundRect">
            <a:avLst>
              <a:gd name="adj" fmla="val 5217"/>
            </a:avLst>
          </a:prstGeom>
          <a:solidFill>
            <a:srgbClr val="F4F7FB"/>
          </a:solidFill>
          <a:ln w="12700">
            <a:solidFill>
              <a:srgbClr val="E4EAF2"/>
            </a:solidFill>
            <a:prstDash val="solid"/>
          </a:ln>
        </p:spPr>
      </p:sp>
      <p:sp>
        <p:nvSpPr>
          <p:cNvPr id="46" name="Shape 44"/>
          <p:cNvSpPr/>
          <p:nvPr/>
        </p:nvSpPr>
        <p:spPr>
          <a:xfrm>
            <a:off x="7973568" y="4343400"/>
            <a:ext cx="73152" cy="1051560"/>
          </a:xfrm>
          <a:prstGeom prst="rect">
            <a:avLst/>
          </a:prstGeom>
          <a:solidFill>
            <a:srgbClr val="0E93B0"/>
          </a:solidFill>
          <a:ln/>
        </p:spPr>
      </p:sp>
      <p:sp>
        <p:nvSpPr>
          <p:cNvPr id="47" name="Text 45"/>
          <p:cNvSpPr/>
          <p:nvPr/>
        </p:nvSpPr>
        <p:spPr>
          <a:xfrm>
            <a:off x="8211312" y="4489704"/>
            <a:ext cx="3291840" cy="457200"/>
          </a:xfrm>
          <a:prstGeom prst="rect">
            <a:avLst/>
          </a:prstGeom>
          <a:noFill/>
          <a:ln/>
        </p:spPr>
        <p:txBody>
          <a:bodyPr wrap="square" lIns="0" tIns="0" rIns="0" bIns="0" rtlCol="0" anchor="t"/>
          <a:lstStyle/>
          <a:p>
            <a:pPr indent="0" marL="0">
              <a:buNone/>
            </a:pPr>
            <a:r>
              <a:rPr lang="en-US" sz="2200" b="1" dirty="0">
                <a:solidFill>
                  <a:srgbClr val="0E93B0"/>
                </a:solidFill>
                <a:latin typeface="Calibri" pitchFamily="34" charset="0"/>
                <a:ea typeface="Calibri" pitchFamily="34" charset="-122"/>
                <a:cs typeface="Calibri" pitchFamily="34" charset="-120"/>
              </a:rPr>
              <a:t>99%</a:t>
            </a:r>
            <a:endParaRPr lang="en-US" sz="2200" dirty="0"/>
          </a:p>
        </p:txBody>
      </p:sp>
      <p:sp>
        <p:nvSpPr>
          <p:cNvPr id="48" name="Text 46"/>
          <p:cNvSpPr/>
          <p:nvPr/>
        </p:nvSpPr>
        <p:spPr>
          <a:xfrm>
            <a:off x="8211312" y="4928616"/>
            <a:ext cx="3200400" cy="365760"/>
          </a:xfrm>
          <a:prstGeom prst="rect">
            <a:avLst/>
          </a:prstGeom>
          <a:noFill/>
          <a:ln/>
        </p:spPr>
        <p:txBody>
          <a:bodyPr wrap="square" lIns="0" tIns="0" rIns="0" bIns="0" rtlCol="0" anchor="t"/>
          <a:lstStyle/>
          <a:p>
            <a:pPr indent="0" marL="0">
              <a:lnSpc>
                <a:spcPct val="100000"/>
              </a:lnSpc>
              <a:buNone/>
            </a:pPr>
            <a:r>
              <a:rPr lang="en-US" sz="950" dirty="0">
                <a:solidFill>
                  <a:srgbClr val="8A97A8"/>
                </a:solidFill>
                <a:latin typeface="Calibri" pitchFamily="34" charset="0"/>
                <a:ea typeface="Calibri" pitchFamily="34" charset="-122"/>
                <a:cs typeface="Calibri" pitchFamily="34" charset="-120"/>
              </a:rPr>
              <a:t>similar-part recognition on a live example</a:t>
            </a:r>
            <a:endParaRPr lang="en-US" sz="950" dirty="0"/>
          </a:p>
        </p:txBody>
      </p:sp>
      <p:sp>
        <p:nvSpPr>
          <p:cNvPr id="49" name="Shape 47"/>
          <p:cNvSpPr/>
          <p:nvPr/>
        </p:nvSpPr>
        <p:spPr>
          <a:xfrm>
            <a:off x="548640" y="6400800"/>
            <a:ext cx="11094415" cy="12802"/>
          </a:xfrm>
          <a:prstGeom prst="rect">
            <a:avLst/>
          </a:prstGeom>
          <a:solidFill>
            <a:srgbClr val="E4EAF2"/>
          </a:solidFill>
          <a:ln/>
        </p:spPr>
      </p:sp>
      <p:sp>
        <p:nvSpPr>
          <p:cNvPr id="50" name="Text 48"/>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1" name="Text 49"/>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12 / 15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93B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93B0"/>
                </a:solidFill>
                <a:latin typeface="Calibri" pitchFamily="34" charset="0"/>
                <a:ea typeface="Calibri" pitchFamily="34" charset="-122"/>
                <a:cs typeface="Calibri" pitchFamily="34" charset="-120"/>
              </a:rPr>
              <a:t>NEW IN 2026</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Advanced intelligence — beyond the estimate</a:t>
            </a:r>
            <a:endParaRPr lang="en-US" sz="2400" dirty="0"/>
          </a:p>
        </p:txBody>
      </p:sp>
      <p:sp>
        <p:nvSpPr>
          <p:cNvPr id="9" name="Shape 7"/>
          <p:cNvSpPr/>
          <p:nvPr/>
        </p:nvSpPr>
        <p:spPr>
          <a:xfrm>
            <a:off x="548640" y="1371600"/>
            <a:ext cx="1051560" cy="45720"/>
          </a:xfrm>
          <a:prstGeom prst="rect">
            <a:avLst/>
          </a:prstGeom>
          <a:solidFill>
            <a:srgbClr val="0E93B0"/>
          </a:solidFill>
          <a:ln/>
        </p:spPr>
      </p:sp>
      <p:sp>
        <p:nvSpPr>
          <p:cNvPr id="10" name="Shape 8"/>
          <p:cNvSpPr/>
          <p:nvPr/>
        </p:nvSpPr>
        <p:spPr>
          <a:xfrm>
            <a:off x="54864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9.322181975605814e+242" dist="2.663480564458804e+242" dir="7.331051697103393e+283">
              <a:srgbClr val="9DB0CC">
                <a:alpha val="2.200000000000001e+294"/>
              </a:srgbClr>
            </a:outerShdw>
          </a:effectLst>
        </p:spPr>
      </p:sp>
      <p:sp>
        <p:nvSpPr>
          <p:cNvPr id="11" name="Shape 9"/>
          <p:cNvSpPr/>
          <p:nvPr/>
        </p:nvSpPr>
        <p:spPr>
          <a:xfrm>
            <a:off x="548640" y="1691640"/>
            <a:ext cx="82296" cy="187452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2563EB"/>
                </a:solidFill>
                <a:latin typeface="Calibri" pitchFamily="34" charset="0"/>
                <a:ea typeface="Calibri" pitchFamily="34" charset="-122"/>
                <a:cs typeface="Calibri" pitchFamily="34" charset="-120"/>
              </a:rPr>
              <a:t>Conformal confidence bands</a:t>
            </a:r>
            <a:endParaRPr lang="en-US" sz="1450" dirty="0"/>
          </a:p>
        </p:txBody>
      </p:sp>
      <p:sp>
        <p:nvSpPr>
          <p:cNvPr id="15" name="Text 13"/>
          <p:cNvSpPr/>
          <p:nvPr/>
        </p:nvSpPr>
        <p:spPr>
          <a:xfrm>
            <a:off x="84124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A statistically-guaranteed range proven against our own logged quotes — "90% land within ±6.5%", evidence not assertion.</a:t>
            </a:r>
            <a:endParaRPr lang="en-US" sz="1100" dirty="0"/>
          </a:p>
        </p:txBody>
      </p:sp>
      <p:sp>
        <p:nvSpPr>
          <p:cNvPr id="16" name="Shape 14"/>
          <p:cNvSpPr/>
          <p:nvPr/>
        </p:nvSpPr>
        <p:spPr>
          <a:xfrm>
            <a:off x="6217920" y="16916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1839171109019383e+247" dist="3.3826203168626813e+246" dir="4.3986310182620354e+288">
              <a:srgbClr val="9DB0CC">
                <a:alpha val="2.200000000000001e+299"/>
              </a:srgbClr>
            </a:outerShdw>
          </a:effectLst>
        </p:spPr>
      </p:sp>
      <p:sp>
        <p:nvSpPr>
          <p:cNvPr id="17" name="Shape 15"/>
          <p:cNvSpPr/>
          <p:nvPr/>
        </p:nvSpPr>
        <p:spPr>
          <a:xfrm>
            <a:off x="6217920" y="1691640"/>
            <a:ext cx="82296" cy="1874520"/>
          </a:xfrm>
          <a:prstGeom prst="rect">
            <a:avLst/>
          </a:prstGeom>
          <a:solidFill>
            <a:srgbClr val="7C3AED"/>
          </a:solidFill>
          <a:ln/>
        </p:spPr>
      </p:sp>
      <p:sp>
        <p:nvSpPr>
          <p:cNvPr id="18" name="Shape 16"/>
          <p:cNvSpPr/>
          <p:nvPr/>
        </p:nvSpPr>
        <p:spPr>
          <a:xfrm>
            <a:off x="6492240" y="1965960"/>
            <a:ext cx="548640" cy="548640"/>
          </a:xfrm>
          <a:prstGeom prst="ellipse">
            <a:avLst/>
          </a:prstGeom>
          <a:solidFill>
            <a:srgbClr val="F3EEFE"/>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7C3AED"/>
                </a:solidFill>
                <a:latin typeface="Calibri" pitchFamily="34" charset="0"/>
                <a:ea typeface="Calibri" pitchFamily="34" charset="-122"/>
                <a:cs typeface="Calibri" pitchFamily="34" charset="-120"/>
              </a:rPr>
              <a:t>Causal negotiation coach</a:t>
            </a:r>
            <a:endParaRPr lang="en-US" sz="1450" dirty="0"/>
          </a:p>
        </p:txBody>
      </p:sp>
      <p:sp>
        <p:nvSpPr>
          <p:cNvPr id="21" name="Text 19"/>
          <p:cNvSpPr/>
          <p:nvPr/>
        </p:nvSpPr>
        <p:spPr>
          <a:xfrm>
            <a:off x="6510528" y="26517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Knows why a part costs what it does and writes the argument: "every 1% move in aluminium shifts price by £0.11".</a:t>
            </a:r>
            <a:endParaRPr lang="en-US" sz="1100" dirty="0"/>
          </a:p>
        </p:txBody>
      </p:sp>
      <p:sp>
        <p:nvSpPr>
          <p:cNvPr id="22" name="Shape 20"/>
          <p:cNvSpPr/>
          <p:nvPr/>
        </p:nvSpPr>
        <p:spPr>
          <a:xfrm>
            <a:off x="54864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5035747308454617e+251" dist="4.295927802415605e+250" dir="2.6391786109572213e+293">
              <a:srgbClr val="9DB0CC">
                <a:alpha val="2.200000000000001e+304"/>
              </a:srgbClr>
            </a:outerShdw>
          </a:effectLst>
        </p:spPr>
      </p:sp>
      <p:sp>
        <p:nvSpPr>
          <p:cNvPr id="23" name="Shape 21"/>
          <p:cNvSpPr/>
          <p:nvPr/>
        </p:nvSpPr>
        <p:spPr>
          <a:xfrm>
            <a:off x="548640" y="3749040"/>
            <a:ext cx="82296" cy="1874520"/>
          </a:xfrm>
          <a:prstGeom prst="rect">
            <a:avLst/>
          </a:prstGeom>
          <a:solidFill>
            <a:srgbClr val="E0900C"/>
          </a:solidFill>
          <a:ln/>
        </p:spPr>
      </p:sp>
      <p:sp>
        <p:nvSpPr>
          <p:cNvPr id="24" name="Shape 22"/>
          <p:cNvSpPr/>
          <p:nvPr/>
        </p:nvSpPr>
        <p:spPr>
          <a:xfrm>
            <a:off x="822960" y="4023360"/>
            <a:ext cx="548640" cy="548640"/>
          </a:xfrm>
          <a:prstGeom prst="ellipse">
            <a:avLst/>
          </a:prstGeom>
          <a:solidFill>
            <a:srgbClr val="FEF6E7"/>
          </a:solidFill>
          <a:ln/>
        </p:spPr>
      </p:sp>
      <p:sp>
        <p:nvSpPr>
          <p:cNvPr id="25" name="Text 23"/>
          <p:cNvSpPr/>
          <p:nvPr/>
        </p:nvSpPr>
        <p:spPr>
          <a:xfrm>
            <a:off x="822960" y="401421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E0900C"/>
                </a:solidFill>
                <a:latin typeface="Calibri" pitchFamily="34" charset="0"/>
                <a:ea typeface="Calibri" pitchFamily="34" charset="-122"/>
                <a:cs typeface="Calibri" pitchFamily="34" charset="-120"/>
              </a:rPr>
              <a:t>What-if scenario engine</a:t>
            </a:r>
            <a:endParaRPr lang="en-US" sz="1450" dirty="0"/>
          </a:p>
        </p:txBody>
      </p:sp>
      <p:sp>
        <p:nvSpPr>
          <p:cNvPr id="27" name="Text 25"/>
          <p:cNvSpPr/>
          <p:nvPr/>
        </p:nvSpPr>
        <p:spPr>
          <a:xfrm>
            <a:off x="84124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Move a commodity ±20% and see the price recompute — for one part or the whole portfolio, instantly.</a:t>
            </a:r>
            <a:endParaRPr lang="en-US" sz="1100" dirty="0"/>
          </a:p>
        </p:txBody>
      </p:sp>
      <p:sp>
        <p:nvSpPr>
          <p:cNvPr id="28" name="Shape 26"/>
          <p:cNvSpPr/>
          <p:nvPr/>
        </p:nvSpPr>
        <p:spPr>
          <a:xfrm>
            <a:off x="6217920" y="3749040"/>
            <a:ext cx="5422392" cy="1874520"/>
          </a:xfrm>
          <a:prstGeom prst="roundRect">
            <a:avLst>
              <a:gd name="adj" fmla="val 3415"/>
            </a:avLst>
          </a:prstGeom>
          <a:solidFill>
            <a:srgbClr val="FFFFFF"/>
          </a:solidFill>
          <a:ln w="12700">
            <a:solidFill>
              <a:srgbClr val="E4EAF2"/>
            </a:solidFill>
            <a:prstDash val="solid"/>
          </a:ln>
          <a:effectLst>
            <a:outerShdw sx="100000" sy="100000" kx="0" ky="0" algn="bl" rotWithShape="0" blurRad="1.9095399081737364e+255" dist="5.455828309067819e+254" dir="1.5835071665743328e+298">
              <a:srgbClr val="9DB0CC">
                <a:alpha val="Infinity"/>
              </a:srgbClr>
            </a:outerShdw>
          </a:effectLst>
        </p:spPr>
      </p:sp>
      <p:sp>
        <p:nvSpPr>
          <p:cNvPr id="29" name="Shape 27"/>
          <p:cNvSpPr/>
          <p:nvPr/>
        </p:nvSpPr>
        <p:spPr>
          <a:xfrm>
            <a:off x="6217920" y="3749040"/>
            <a:ext cx="82296" cy="1874520"/>
          </a:xfrm>
          <a:prstGeom prst="rect">
            <a:avLst/>
          </a:prstGeom>
          <a:solidFill>
            <a:srgbClr val="0EA472"/>
          </a:solidFill>
          <a:ln/>
        </p:spPr>
      </p:sp>
      <p:sp>
        <p:nvSpPr>
          <p:cNvPr id="30" name="Shape 28"/>
          <p:cNvSpPr/>
          <p:nvPr/>
        </p:nvSpPr>
        <p:spPr>
          <a:xfrm>
            <a:off x="6492240" y="4023360"/>
            <a:ext cx="548640" cy="548640"/>
          </a:xfrm>
          <a:prstGeom prst="ellipse">
            <a:avLst/>
          </a:prstGeom>
          <a:solidFill>
            <a:srgbClr val="E7F7F0"/>
          </a:solidFill>
          <a:ln/>
        </p:spPr>
      </p:sp>
      <p:sp>
        <p:nvSpPr>
          <p:cNvPr id="31" name="Text 29"/>
          <p:cNvSpPr/>
          <p:nvPr/>
        </p:nvSpPr>
        <p:spPr>
          <a:xfrm>
            <a:off x="6492240" y="40142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4059936"/>
            <a:ext cx="4297680" cy="411480"/>
          </a:xfrm>
          <a:prstGeom prst="rect">
            <a:avLst/>
          </a:prstGeom>
          <a:noFill/>
          <a:ln/>
        </p:spPr>
        <p:txBody>
          <a:bodyPr wrap="square" lIns="0" tIns="0" rIns="0" bIns="0" rtlCol="0" anchor="ctr"/>
          <a:lstStyle/>
          <a:p>
            <a:pPr indent="0" marL="0">
              <a:lnSpc>
                <a:spcPct val="95000"/>
              </a:lnSpc>
              <a:buNone/>
            </a:pPr>
            <a:r>
              <a:rPr lang="en-US" sz="1450" b="1" dirty="0">
                <a:solidFill>
                  <a:srgbClr val="0EA472"/>
                </a:solidFill>
                <a:latin typeface="Calibri" pitchFamily="34" charset="0"/>
                <a:ea typeface="Calibri" pitchFamily="34" charset="-122"/>
                <a:cs typeface="Calibri" pitchFamily="34" charset="-120"/>
              </a:rPr>
              <a:t>Carbon co-costing</a:t>
            </a:r>
            <a:endParaRPr lang="en-US" sz="1450" dirty="0"/>
          </a:p>
        </p:txBody>
      </p:sp>
      <p:sp>
        <p:nvSpPr>
          <p:cNvPr id="33" name="Text 31"/>
          <p:cNvSpPr/>
          <p:nvPr/>
        </p:nvSpPr>
        <p:spPr>
          <a:xfrm>
            <a:off x="6510528" y="4709160"/>
            <a:ext cx="5029200" cy="822960"/>
          </a:xfrm>
          <a:prstGeom prst="rect">
            <a:avLst/>
          </a:prstGeom>
          <a:noFill/>
          <a:ln/>
        </p:spPr>
        <p:txBody>
          <a:bodyPr wrap="square" lIns="0" tIns="0" rIns="0" bIns="0" rtlCol="0" anchor="t"/>
          <a:lstStyle/>
          <a:p>
            <a:pPr indent="0" marL="0">
              <a:lnSpc>
                <a:spcPct val="116000"/>
              </a:lnSpc>
              <a:buNone/>
            </a:pPr>
            <a:r>
              <a:rPr lang="en-US" sz="1100" dirty="0">
                <a:solidFill>
                  <a:srgbClr val="3E4C63"/>
                </a:solidFill>
                <a:latin typeface="Calibri" pitchFamily="34" charset="0"/>
                <a:ea typeface="Calibri" pitchFamily="34" charset="-122"/>
                <a:cs typeface="Calibri" pitchFamily="34" charset="-120"/>
              </a:rPr>
              <a:t>Every part gets a CO₂e figure alongside the £ — increasingly required in automotive &amp; aerospace RFQs.</a:t>
            </a:r>
            <a:endParaRPr lang="en-US" sz="1100" dirty="0"/>
          </a:p>
        </p:txBody>
      </p:sp>
      <p:sp>
        <p:nvSpPr>
          <p:cNvPr id="34" name="Shape 32"/>
          <p:cNvSpPr/>
          <p:nvPr/>
        </p:nvSpPr>
        <p:spPr>
          <a:xfrm>
            <a:off x="548640" y="5669280"/>
            <a:ext cx="11091672" cy="457200"/>
          </a:xfrm>
          <a:prstGeom prst="roundRect">
            <a:avLst>
              <a:gd name="adj" fmla="val 14000"/>
            </a:avLst>
          </a:prstGeom>
          <a:solidFill>
            <a:srgbClr val="F4F7FB"/>
          </a:solidFill>
          <a:ln w="12700">
            <a:solidFill>
              <a:srgbClr val="E4EAF2"/>
            </a:solidFill>
            <a:prstDash val="solid"/>
          </a:ln>
        </p:spPr>
      </p:sp>
      <p:sp>
        <p:nvSpPr>
          <p:cNvPr id="35" name="Text 33"/>
          <p:cNvSpPr/>
          <p:nvPr/>
        </p:nvSpPr>
        <p:spPr>
          <a:xfrm>
            <a:off x="868680" y="5669280"/>
            <a:ext cx="10424160" cy="457200"/>
          </a:xfrm>
          <a:prstGeom prst="rect">
            <a:avLst/>
          </a:prstGeom>
          <a:noFill/>
          <a:ln/>
        </p:spPr>
        <p:txBody>
          <a:bodyPr wrap="square" lIns="0" tIns="0" rIns="0" bIns="0" rtlCol="0" anchor="ctr"/>
          <a:lstStyle/>
          <a:p>
            <a:pPr indent="0" marL="0">
              <a:buNone/>
            </a:pPr>
            <a:r>
              <a:rPr lang="en-US" sz="1150" i="1" dirty="0">
                <a:solidFill>
                  <a:srgbClr val="8A97A8"/>
                </a:solidFill>
                <a:latin typeface="Calibri" pitchFamily="34" charset="0"/>
                <a:ea typeface="Calibri" pitchFamily="34" charset="-122"/>
                <a:cs typeface="Calibri" pitchFamily="34" charset="-120"/>
              </a:rPr>
              <a:t>Each of these turns a number into a decision — a defensible range, a negotiating sentence, a risk pre-empted, a carbon figure.</a:t>
            </a:r>
            <a:endParaRPr lang="en-US" sz="115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25 / 33</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Trust by design — glass-box, measured, tested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Shape 8"/>
          <p:cNvSpPr/>
          <p:nvPr/>
        </p:nvSpPr>
        <p:spPr>
          <a:xfrm>
            <a:off x="54864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2.425115683380645e+259" dist="6.928901952516129e+258" dir="9.501042999445996e+302">
              <a:srgbClr val="9DB0CC">
                <a:alpha val="Infinity"/>
              </a:srgbClr>
            </a:outerShdw>
          </a:effectLst>
        </p:spPr>
      </p:sp>
      <p:sp>
        <p:nvSpPr>
          <p:cNvPr id="11" name="Shape 9"/>
          <p:cNvSpPr/>
          <p:nvPr/>
        </p:nvSpPr>
        <p:spPr>
          <a:xfrm>
            <a:off x="548640" y="1691640"/>
            <a:ext cx="82296" cy="1417320"/>
          </a:xfrm>
          <a:prstGeom prst="rect">
            <a:avLst/>
          </a:prstGeom>
          <a:solidFill>
            <a:srgbClr val="2563EB"/>
          </a:solidFill>
          <a:ln/>
        </p:spPr>
      </p:sp>
      <p:sp>
        <p:nvSpPr>
          <p:cNvPr id="12" name="Shape 10"/>
          <p:cNvSpPr/>
          <p:nvPr/>
        </p:nvSpPr>
        <p:spPr>
          <a:xfrm>
            <a:off x="804672" y="1911096"/>
            <a:ext cx="457200" cy="457200"/>
          </a:xfrm>
          <a:prstGeom prst="ellipse">
            <a:avLst/>
          </a:prstGeom>
          <a:solidFill>
            <a:srgbClr val="EAF1FE"/>
          </a:solidFill>
          <a:ln/>
        </p:spPr>
      </p:sp>
      <p:sp>
        <p:nvSpPr>
          <p:cNvPr id="13" name="Text 11"/>
          <p:cNvSpPr/>
          <p:nvPr/>
        </p:nvSpPr>
        <p:spPr>
          <a:xfrm>
            <a:off x="804672" y="1901952"/>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4" name="Text 12"/>
          <p:cNvSpPr/>
          <p:nvPr/>
        </p:nvSpPr>
        <p:spPr>
          <a:xfrm>
            <a:off x="1335024" y="1947672"/>
            <a:ext cx="4389120" cy="457200"/>
          </a:xfrm>
          <a:prstGeom prst="rect">
            <a:avLst/>
          </a:prstGeom>
          <a:noFill/>
          <a:ln/>
        </p:spPr>
        <p:txBody>
          <a:bodyPr wrap="square" lIns="0" tIns="0" rIns="0" bIns="0" rtlCol="0" anchor="ctr"/>
          <a:lstStyle/>
          <a:p>
            <a:pPr indent="0" marL="0">
              <a:buNone/>
            </a:pPr>
            <a:r>
              <a:rPr lang="en-US" sz="1350" b="1" dirty="0">
                <a:solidFill>
                  <a:srgbClr val="2563EB"/>
                </a:solidFill>
                <a:latin typeface="Calibri" pitchFamily="34" charset="0"/>
                <a:ea typeface="Calibri" pitchFamily="34" charset="-122"/>
                <a:cs typeface="Calibri" pitchFamily="34" charset="-120"/>
              </a:rPr>
              <a:t>Glass-box, never black-box</a:t>
            </a:r>
            <a:endParaRPr lang="en-US" sz="1350" dirty="0"/>
          </a:p>
        </p:txBody>
      </p:sp>
      <p:sp>
        <p:nvSpPr>
          <p:cNvPr id="15" name="Text 13"/>
          <p:cNvSpPr/>
          <p:nvPr/>
        </p:nvSpPr>
        <p:spPr>
          <a:xfrm>
            <a:off x="82296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Every learned or derived number stays auditable — a value an engineer can read and defend. AI narrates; it never sets the price in secret.</a:t>
            </a:r>
            <a:endParaRPr lang="en-US" sz="1050" dirty="0"/>
          </a:p>
        </p:txBody>
      </p:sp>
      <p:sp>
        <p:nvSpPr>
          <p:cNvPr id="16" name="Shape 14"/>
          <p:cNvSpPr/>
          <p:nvPr/>
        </p:nvSpPr>
        <p:spPr>
          <a:xfrm>
            <a:off x="6217920" y="16916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079896917893419e+263" dist="8.799705479695485e+262" dir="5.700625799667598e+307">
              <a:srgbClr val="9DB0CC">
                <a:alpha val="Infinity"/>
              </a:srgbClr>
            </a:outerShdw>
          </a:effectLst>
        </p:spPr>
      </p:sp>
      <p:sp>
        <p:nvSpPr>
          <p:cNvPr id="17" name="Shape 15"/>
          <p:cNvSpPr/>
          <p:nvPr/>
        </p:nvSpPr>
        <p:spPr>
          <a:xfrm>
            <a:off x="6217920" y="1691640"/>
            <a:ext cx="82296" cy="1417320"/>
          </a:xfrm>
          <a:prstGeom prst="rect">
            <a:avLst/>
          </a:prstGeom>
          <a:solidFill>
            <a:srgbClr val="0DA5A0"/>
          </a:solidFill>
          <a:ln/>
        </p:spPr>
      </p:sp>
      <p:sp>
        <p:nvSpPr>
          <p:cNvPr id="18" name="Shape 16"/>
          <p:cNvSpPr/>
          <p:nvPr/>
        </p:nvSpPr>
        <p:spPr>
          <a:xfrm>
            <a:off x="6473952" y="1911096"/>
            <a:ext cx="457200" cy="457200"/>
          </a:xfrm>
          <a:prstGeom prst="ellipse">
            <a:avLst/>
          </a:prstGeom>
          <a:solidFill>
            <a:srgbClr val="E7F7F0"/>
          </a:solidFill>
          <a:ln/>
        </p:spPr>
      </p:sp>
      <p:sp>
        <p:nvSpPr>
          <p:cNvPr id="19" name="Text 17"/>
          <p:cNvSpPr/>
          <p:nvPr/>
        </p:nvSpPr>
        <p:spPr>
          <a:xfrm>
            <a:off x="6473952" y="1901952"/>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0" name="Text 18"/>
          <p:cNvSpPr/>
          <p:nvPr/>
        </p:nvSpPr>
        <p:spPr>
          <a:xfrm>
            <a:off x="7004304" y="1947672"/>
            <a:ext cx="4389120" cy="457200"/>
          </a:xfrm>
          <a:prstGeom prst="rect">
            <a:avLst/>
          </a:prstGeom>
          <a:noFill/>
          <a:ln/>
        </p:spPr>
        <p:txBody>
          <a:bodyPr wrap="square" lIns="0" tIns="0" rIns="0" bIns="0" rtlCol="0" anchor="ctr"/>
          <a:lstStyle/>
          <a:p>
            <a:pPr indent="0" marL="0">
              <a:buNone/>
            </a:pPr>
            <a:r>
              <a:rPr lang="en-US" sz="1350" b="1" dirty="0">
                <a:solidFill>
                  <a:srgbClr val="0DA5A0"/>
                </a:solidFill>
                <a:latin typeface="Calibri" pitchFamily="34" charset="0"/>
                <a:ea typeface="Calibri" pitchFamily="34" charset="-122"/>
                <a:cs typeface="Calibri" pitchFamily="34" charset="-120"/>
              </a:rPr>
              <a:t>Measured, not asserted</a:t>
            </a:r>
            <a:endParaRPr lang="en-US" sz="1350" dirty="0"/>
          </a:p>
        </p:txBody>
      </p:sp>
      <p:sp>
        <p:nvSpPr>
          <p:cNvPr id="21" name="Text 19"/>
          <p:cNvSpPr/>
          <p:nvPr/>
        </p:nvSpPr>
        <p:spPr>
          <a:xfrm>
            <a:off x="6492240" y="24414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Accuracy is checked against real geometry and real quotes, and reported openly. The DFM layer now opens the 3D model and measures every face, and every rule it applies cites a published standard.</a:t>
            </a:r>
            <a:endParaRPr lang="en-US" sz="1050" dirty="0"/>
          </a:p>
        </p:txBody>
      </p:sp>
      <p:sp>
        <p:nvSpPr>
          <p:cNvPr id="22" name="Shape 20"/>
          <p:cNvSpPr/>
          <p:nvPr/>
        </p:nvSpPr>
        <p:spPr>
          <a:xfrm>
            <a:off x="54864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3.9114690857246423e+267" dist="1.1175625959213265e+267" dir="Infinity">
              <a:srgbClr val="9DB0CC">
                <a:alpha val="Infinity"/>
              </a:srgbClr>
            </a:outerShdw>
          </a:effectLst>
        </p:spPr>
      </p:sp>
      <p:sp>
        <p:nvSpPr>
          <p:cNvPr id="23" name="Shape 21"/>
          <p:cNvSpPr/>
          <p:nvPr/>
        </p:nvSpPr>
        <p:spPr>
          <a:xfrm>
            <a:off x="548640" y="3291840"/>
            <a:ext cx="82296" cy="1417320"/>
          </a:xfrm>
          <a:prstGeom prst="rect">
            <a:avLst/>
          </a:prstGeom>
          <a:solidFill>
            <a:srgbClr val="7C3AED"/>
          </a:solidFill>
          <a:ln/>
        </p:spPr>
      </p:sp>
      <p:sp>
        <p:nvSpPr>
          <p:cNvPr id="24" name="Shape 22"/>
          <p:cNvSpPr/>
          <p:nvPr/>
        </p:nvSpPr>
        <p:spPr>
          <a:xfrm>
            <a:off x="804672" y="3511296"/>
            <a:ext cx="457200" cy="457200"/>
          </a:xfrm>
          <a:prstGeom prst="ellipse">
            <a:avLst/>
          </a:prstGeom>
          <a:solidFill>
            <a:srgbClr val="F3EEFE"/>
          </a:solidFill>
          <a:ln/>
        </p:spPr>
      </p:sp>
      <p:sp>
        <p:nvSpPr>
          <p:cNvPr id="25" name="Text 23"/>
          <p:cNvSpPr/>
          <p:nvPr/>
        </p:nvSpPr>
        <p:spPr>
          <a:xfrm>
            <a:off x="804672" y="3502152"/>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26" name="Text 24"/>
          <p:cNvSpPr/>
          <p:nvPr/>
        </p:nvSpPr>
        <p:spPr>
          <a:xfrm>
            <a:off x="1335024" y="3547872"/>
            <a:ext cx="4389120" cy="457200"/>
          </a:xfrm>
          <a:prstGeom prst="rect">
            <a:avLst/>
          </a:prstGeom>
          <a:noFill/>
          <a:ln/>
        </p:spPr>
        <p:txBody>
          <a:bodyPr wrap="square" lIns="0" tIns="0" rIns="0" bIns="0" rtlCol="0" anchor="ctr"/>
          <a:lstStyle/>
          <a:p>
            <a:pPr indent="0" marL="0">
              <a:buNone/>
            </a:pPr>
            <a:r>
              <a:rPr lang="en-US" sz="1350" b="1" dirty="0">
                <a:solidFill>
                  <a:srgbClr val="7C3AED"/>
                </a:solidFill>
                <a:latin typeface="Calibri" pitchFamily="34" charset="0"/>
                <a:ea typeface="Calibri" pitchFamily="34" charset="-122"/>
                <a:cs typeface="Calibri" pitchFamily="34" charset="-120"/>
              </a:rPr>
              <a:t>Honest about uncertainty</a:t>
            </a:r>
            <a:endParaRPr lang="en-US" sz="1350" dirty="0"/>
          </a:p>
        </p:txBody>
      </p:sp>
      <p:sp>
        <p:nvSpPr>
          <p:cNvPr id="27" name="Text 25"/>
          <p:cNvSpPr/>
          <p:nvPr/>
        </p:nvSpPr>
        <p:spPr>
          <a:xfrm>
            <a:off x="82296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Confidence bands and clear flags on anything unverified — never a false single number.</a:t>
            </a:r>
            <a:endParaRPr lang="en-US" sz="1050" dirty="0"/>
          </a:p>
        </p:txBody>
      </p:sp>
      <p:sp>
        <p:nvSpPr>
          <p:cNvPr id="28" name="Shape 26"/>
          <p:cNvSpPr/>
          <p:nvPr/>
        </p:nvSpPr>
        <p:spPr>
          <a:xfrm>
            <a:off x="6217920" y="3291840"/>
            <a:ext cx="5422392" cy="1417320"/>
          </a:xfrm>
          <a:prstGeom prst="roundRect">
            <a:avLst>
              <a:gd name="adj" fmla="val 4516"/>
            </a:avLst>
          </a:prstGeom>
          <a:solidFill>
            <a:srgbClr val="FFFFFF"/>
          </a:solidFill>
          <a:ln w="12700">
            <a:solidFill>
              <a:srgbClr val="E4EAF2"/>
            </a:solidFill>
            <a:prstDash val="solid"/>
          </a:ln>
          <a:effectLst>
            <a:outerShdw sx="100000" sy="100000" kx="0" ky="0" algn="bl" rotWithShape="0" blurRad="4.9675657388702955e+271" dist="1.4193044968200846e+271" dir="Infinity">
              <a:srgbClr val="9DB0CC">
                <a:alpha val="Infinity"/>
              </a:srgbClr>
            </a:outerShdw>
          </a:effectLst>
        </p:spPr>
      </p:sp>
      <p:sp>
        <p:nvSpPr>
          <p:cNvPr id="29" name="Shape 27"/>
          <p:cNvSpPr/>
          <p:nvPr/>
        </p:nvSpPr>
        <p:spPr>
          <a:xfrm>
            <a:off x="6217920" y="3291840"/>
            <a:ext cx="82296" cy="1417320"/>
          </a:xfrm>
          <a:prstGeom prst="rect">
            <a:avLst/>
          </a:prstGeom>
          <a:solidFill>
            <a:srgbClr val="0EA472"/>
          </a:solidFill>
          <a:ln/>
        </p:spPr>
      </p:sp>
      <p:sp>
        <p:nvSpPr>
          <p:cNvPr id="30" name="Shape 28"/>
          <p:cNvSpPr/>
          <p:nvPr/>
        </p:nvSpPr>
        <p:spPr>
          <a:xfrm>
            <a:off x="6473952" y="3511296"/>
            <a:ext cx="457200" cy="457200"/>
          </a:xfrm>
          <a:prstGeom prst="ellipse">
            <a:avLst/>
          </a:prstGeom>
          <a:solidFill>
            <a:srgbClr val="E7F7F0"/>
          </a:solidFill>
          <a:ln/>
        </p:spPr>
      </p:sp>
      <p:sp>
        <p:nvSpPr>
          <p:cNvPr id="31" name="Text 29"/>
          <p:cNvSpPr/>
          <p:nvPr/>
        </p:nvSpPr>
        <p:spPr>
          <a:xfrm>
            <a:off x="6473952" y="3502152"/>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32" name="Text 30"/>
          <p:cNvSpPr/>
          <p:nvPr/>
        </p:nvSpPr>
        <p:spPr>
          <a:xfrm>
            <a:off x="7004304" y="3547872"/>
            <a:ext cx="4389120" cy="457200"/>
          </a:xfrm>
          <a:prstGeom prst="rect">
            <a:avLst/>
          </a:prstGeom>
          <a:noFill/>
          <a:ln/>
        </p:spPr>
        <p:txBody>
          <a:bodyPr wrap="square" lIns="0" tIns="0" rIns="0" bIns="0" rtlCol="0" anchor="ctr"/>
          <a:lstStyle/>
          <a:p>
            <a:pPr indent="0" marL="0">
              <a:buNone/>
            </a:pPr>
            <a:r>
              <a:rPr lang="en-US" sz="1350" b="1" dirty="0">
                <a:solidFill>
                  <a:srgbClr val="0EA472"/>
                </a:solidFill>
                <a:latin typeface="Calibri" pitchFamily="34" charset="0"/>
                <a:ea typeface="Calibri" pitchFamily="34" charset="-122"/>
                <a:cs typeface="Calibri" pitchFamily="34" charset="-120"/>
              </a:rPr>
              <a:t>Production-grade</a:t>
            </a:r>
            <a:endParaRPr lang="en-US" sz="1350" dirty="0"/>
          </a:p>
        </p:txBody>
      </p:sp>
      <p:sp>
        <p:nvSpPr>
          <p:cNvPr id="33" name="Text 31"/>
          <p:cNvSpPr/>
          <p:nvPr/>
        </p:nvSpPr>
        <p:spPr>
          <a:xfrm>
            <a:off x="6492240" y="4041648"/>
            <a:ext cx="4983480" cy="594360"/>
          </a:xfrm>
          <a:prstGeom prst="rect">
            <a:avLst/>
          </a:prstGeom>
          <a:noFill/>
          <a:ln/>
        </p:spPr>
        <p:txBody>
          <a:bodyPr wrap="square" lIns="0" tIns="0" rIns="0" bIns="0" rtlCol="0" anchor="t"/>
          <a:lstStyle/>
          <a:p>
            <a:pPr indent="0" marL="0">
              <a:lnSpc>
                <a:spcPct val="112000"/>
              </a:lnSpc>
              <a:buNone/>
            </a:pPr>
            <a:r>
              <a:rPr lang="en-US" sz="1050" dirty="0">
                <a:solidFill>
                  <a:srgbClr val="3E4C63"/>
                </a:solidFill>
                <a:latin typeface="Calibri" pitchFamily="34" charset="0"/>
                <a:ea typeface="Calibri" pitchFamily="34" charset="-122"/>
                <a:cs typeface="Calibri" pitchFamily="34" charset="-120"/>
              </a:rPr>
              <a:t>1,777 automated tests across 136 suites, exercised end-to-end. Every estimate is re-checked by a deterministic self-audit before anyone sees it — and the container build is verified in CI.</a:t>
            </a:r>
            <a:endParaRPr lang="en-US" sz="1050" dirty="0"/>
          </a:p>
        </p:txBody>
      </p:sp>
      <p:sp>
        <p:nvSpPr>
          <p:cNvPr id="34" name="Shape 32"/>
          <p:cNvSpPr/>
          <p:nvPr/>
        </p:nvSpPr>
        <p:spPr>
          <a:xfrm>
            <a:off x="548640" y="5029200"/>
            <a:ext cx="11091672" cy="914400"/>
          </a:xfrm>
          <a:prstGeom prst="roundRect">
            <a:avLst>
              <a:gd name="adj" fmla="val 7000"/>
            </a:avLst>
          </a:prstGeom>
          <a:solidFill>
            <a:srgbClr val="E7F7F0"/>
          </a:solidFill>
          <a:ln w="12700">
            <a:solidFill>
              <a:srgbClr val="E4EAF2"/>
            </a:solidFill>
            <a:prstDash val="solid"/>
          </a:ln>
        </p:spPr>
      </p:sp>
      <p:sp>
        <p:nvSpPr>
          <p:cNvPr id="35" name="Shape 33"/>
          <p:cNvSpPr/>
          <p:nvPr/>
        </p:nvSpPr>
        <p:spPr>
          <a:xfrm>
            <a:off x="548640" y="5029200"/>
            <a:ext cx="82296" cy="914400"/>
          </a:xfrm>
          <a:prstGeom prst="rect">
            <a:avLst/>
          </a:prstGeom>
          <a:solidFill>
            <a:srgbClr val="0EA472"/>
          </a:solidFill>
          <a:ln/>
        </p:spPr>
      </p:sp>
      <p:sp>
        <p:nvSpPr>
          <p:cNvPr id="36" name="Text 34"/>
          <p:cNvSpPr/>
          <p:nvPr/>
        </p:nvSpPr>
        <p:spPr>
          <a:xfrm>
            <a:off x="914400" y="5166360"/>
            <a:ext cx="10378440" cy="685800"/>
          </a:xfrm>
          <a:prstGeom prst="rect">
            <a:avLst/>
          </a:prstGeom>
          <a:noFill/>
          <a:ln/>
        </p:spPr>
        <p:txBody>
          <a:bodyPr wrap="square" lIns="0" tIns="0" rIns="0" bIns="0" rtlCol="0" anchor="t"/>
          <a:lstStyle/>
          <a:p>
            <a:pPr indent="0" marL="0">
              <a:lnSpc>
                <a:spcPct val="118000"/>
              </a:lnSpc>
              <a:buNone/>
            </a:pPr>
            <a:r>
              <a:rPr lang="en-US" sz="1200" b="1" dirty="0">
                <a:solidFill>
                  <a:srgbClr val="0F1E3D"/>
                </a:solidFill>
                <a:latin typeface="Calibri" pitchFamily="34" charset="0"/>
                <a:ea typeface="Calibri" pitchFamily="34" charset="-122"/>
                <a:cs typeface="Calibri" pitchFamily="34" charset="-120"/>
              </a:rPr>
              <a:t>The through-line of the whole platform:  </a:t>
            </a:r>
            <a:pPr indent="0" marL="0">
              <a:lnSpc>
                <a:spcPct val="118000"/>
              </a:lnSpc>
              <a:buNone/>
            </a:pPr>
            <a:r>
              <a:rPr lang="en-US" sz="1200" dirty="0">
                <a:solidFill>
                  <a:srgbClr val="3E4C63"/>
                </a:solidFill>
                <a:latin typeface="Calibri" pitchFamily="34" charset="0"/>
                <a:ea typeface="Calibri" pitchFamily="34" charset="-122"/>
                <a:cs typeface="Calibri" pitchFamily="34" charset="-120"/>
              </a:rPr>
              <a:t>the AI does the understanding; deterministic maths does the money; and every number is traceable, bounded and testable. That is what lets us put a CostVision number in front of a supplier — or a board.</a:t>
            </a:r>
            <a:endParaRPr lang="en-US" sz="1200" dirty="0"/>
          </a:p>
        </p:txBody>
      </p:sp>
      <p:sp>
        <p:nvSpPr>
          <p:cNvPr id="37" name="Shape 35"/>
          <p:cNvSpPr/>
          <p:nvPr/>
        </p:nvSpPr>
        <p:spPr>
          <a:xfrm>
            <a:off x="548640" y="6400800"/>
            <a:ext cx="11094415" cy="12802"/>
          </a:xfrm>
          <a:prstGeom prst="rect">
            <a:avLst/>
          </a:prstGeom>
          <a:solidFill>
            <a:srgbClr val="E4EAF2"/>
          </a:solidFill>
          <a:ln/>
        </p:spPr>
      </p:sp>
      <p:sp>
        <p:nvSpPr>
          <p:cNvPr id="38" name="Text 36"/>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9" name="Text 37"/>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13 / 15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ACCURACY &amp; TRUST · CONTINUOUS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Built to stay right — quality that’s enforced, not promised</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36192"/>
            <a:ext cx="11064240" cy="384048"/>
          </a:xfrm>
          <a:prstGeom prst="rect">
            <a:avLst/>
          </a:prstGeom>
          <a:noFill/>
          <a:ln/>
        </p:spPr>
        <p:txBody>
          <a:bodyPr wrap="square" lIns="0" tIns="0" rIns="0" bIns="0" rtlCol="0" anchor="t"/>
          <a:lstStyle/>
          <a:p>
            <a:pPr indent="0" marL="0">
              <a:lnSpc>
                <a:spcPct val="105000"/>
              </a:lnSpc>
              <a:buNone/>
            </a:pPr>
            <a:r>
              <a:rPr lang="en-US" sz="1200" dirty="0">
                <a:solidFill>
                  <a:srgbClr val="3E4C63"/>
                </a:solidFill>
                <a:latin typeface="Calibri" pitchFamily="34" charset="0"/>
                <a:ea typeface="Calibri" pitchFamily="34" charset="-122"/>
                <a:cs typeface="Calibri" pitchFamily="34" charset="-120"/>
              </a:rPr>
              <a:t>It isn’t enough to be right once. These guardrails run on every change, so the tool stays defensible as it evolves — quality is enforced by the build, not by memory.</a:t>
            </a:r>
            <a:endParaRPr lang="en-US" sz="1200" dirty="0"/>
          </a:p>
        </p:txBody>
      </p:sp>
      <p:sp>
        <p:nvSpPr>
          <p:cNvPr id="11" name="Shape 9"/>
          <p:cNvSpPr/>
          <p:nvPr/>
        </p:nvSpPr>
        <p:spPr>
          <a:xfrm>
            <a:off x="54864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6.308808488365275e+275" dist="1.8025167109615074e+275" dir="Infinity">
              <a:srgbClr val="9DB0CC">
                <a:alpha val="Infinity"/>
              </a:srgbClr>
            </a:outerShdw>
          </a:effectLst>
        </p:spPr>
      </p:sp>
      <p:sp>
        <p:nvSpPr>
          <p:cNvPr id="12" name="Shape 10"/>
          <p:cNvSpPr/>
          <p:nvPr/>
        </p:nvSpPr>
        <p:spPr>
          <a:xfrm>
            <a:off x="548640" y="2084832"/>
            <a:ext cx="82296" cy="1335024"/>
          </a:xfrm>
          <a:prstGeom prst="rect">
            <a:avLst/>
          </a:prstGeom>
          <a:solidFill>
            <a:srgbClr val="2563EB"/>
          </a:solidFill>
          <a:ln/>
        </p:spPr>
      </p:sp>
      <p:sp>
        <p:nvSpPr>
          <p:cNvPr id="13" name="Shape 11"/>
          <p:cNvSpPr/>
          <p:nvPr/>
        </p:nvSpPr>
        <p:spPr>
          <a:xfrm>
            <a:off x="804672" y="2286000"/>
            <a:ext cx="457200" cy="457200"/>
          </a:xfrm>
          <a:prstGeom prst="ellipse">
            <a:avLst/>
          </a:prstGeom>
          <a:solidFill>
            <a:srgbClr val="EAF1FE"/>
          </a:solidFill>
          <a:ln/>
        </p:spPr>
      </p:sp>
      <p:sp>
        <p:nvSpPr>
          <p:cNvPr id="14" name="Text 12"/>
          <p:cNvSpPr/>
          <p:nvPr/>
        </p:nvSpPr>
        <p:spPr>
          <a:xfrm>
            <a:off x="804672" y="2276856"/>
            <a:ext cx="457200" cy="457200"/>
          </a:xfrm>
          <a:prstGeom prst="rect">
            <a:avLst/>
          </a:prstGeom>
          <a:noFill/>
          <a:ln/>
        </p:spPr>
        <p:txBody>
          <a:bodyPr wrap="square" lIns="0" tIns="0" rIns="0" bIns="0" rtlCol="0" anchor="ctr"/>
          <a:lstStyle/>
          <a:p>
            <a:pPr algn="ctr" indent="0" marL="0">
              <a:buNone/>
            </a:pPr>
            <a:r>
              <a:rPr lang="en-US" sz="1700" b="1" dirty="0">
                <a:solidFill>
                  <a:srgbClr val="2563EB"/>
                </a:solidFill>
                <a:latin typeface="Calibri" pitchFamily="34" charset="0"/>
                <a:ea typeface="Calibri" pitchFamily="34" charset="-122"/>
                <a:cs typeface="Calibri" pitchFamily="34" charset="-120"/>
              </a:rPr>
              <a:t>◆</a:t>
            </a:r>
            <a:endParaRPr lang="en-US" sz="1700" dirty="0"/>
          </a:p>
        </p:txBody>
      </p:sp>
      <p:sp>
        <p:nvSpPr>
          <p:cNvPr id="15" name="Text 13"/>
          <p:cNvSpPr/>
          <p:nvPr/>
        </p:nvSpPr>
        <p:spPr>
          <a:xfrm>
            <a:off x="1335024" y="2322576"/>
            <a:ext cx="4434840" cy="45720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The golden rule, machine-enforced</a:t>
            </a:r>
            <a:endParaRPr lang="en-US" sz="1300" dirty="0"/>
          </a:p>
        </p:txBody>
      </p:sp>
      <p:sp>
        <p:nvSpPr>
          <p:cNvPr id="16" name="Text 14"/>
          <p:cNvSpPr/>
          <p:nvPr/>
        </p:nvSpPr>
        <p:spPr>
          <a:xfrm>
            <a:off x="82296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“AI never sets a price” is now a build-time check: if any AI dependency ever reaches the deterministic cost engine, the build fails. It cannot be bypassed.</a:t>
            </a:r>
            <a:endParaRPr lang="en-US" sz="1000" dirty="0"/>
          </a:p>
        </p:txBody>
      </p:sp>
      <p:sp>
        <p:nvSpPr>
          <p:cNvPr id="17" name="Shape 15"/>
          <p:cNvSpPr/>
          <p:nvPr/>
        </p:nvSpPr>
        <p:spPr>
          <a:xfrm>
            <a:off x="6217920" y="2084832"/>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8.012186780223899e+279" dist="2.2891962229211143e+279" dir="Infinity">
              <a:srgbClr val="9DB0CC">
                <a:alpha val="Infinity"/>
              </a:srgbClr>
            </a:outerShdw>
          </a:effectLst>
        </p:spPr>
      </p:sp>
      <p:sp>
        <p:nvSpPr>
          <p:cNvPr id="18" name="Shape 16"/>
          <p:cNvSpPr/>
          <p:nvPr/>
        </p:nvSpPr>
        <p:spPr>
          <a:xfrm>
            <a:off x="6217920" y="2084832"/>
            <a:ext cx="82296" cy="1335024"/>
          </a:xfrm>
          <a:prstGeom prst="rect">
            <a:avLst/>
          </a:prstGeom>
          <a:solidFill>
            <a:srgbClr val="0DA5A0"/>
          </a:solidFill>
          <a:ln/>
        </p:spPr>
      </p:sp>
      <p:sp>
        <p:nvSpPr>
          <p:cNvPr id="19" name="Shape 17"/>
          <p:cNvSpPr/>
          <p:nvPr/>
        </p:nvSpPr>
        <p:spPr>
          <a:xfrm>
            <a:off x="6473952" y="2286000"/>
            <a:ext cx="457200" cy="457200"/>
          </a:xfrm>
          <a:prstGeom prst="ellipse">
            <a:avLst/>
          </a:prstGeom>
          <a:solidFill>
            <a:srgbClr val="E7F7F0"/>
          </a:solidFill>
          <a:ln/>
        </p:spPr>
      </p:sp>
      <p:sp>
        <p:nvSpPr>
          <p:cNvPr id="20" name="Text 18"/>
          <p:cNvSpPr/>
          <p:nvPr/>
        </p:nvSpPr>
        <p:spPr>
          <a:xfrm>
            <a:off x="6473952" y="2276856"/>
            <a:ext cx="457200" cy="457200"/>
          </a:xfrm>
          <a:prstGeom prst="rect">
            <a:avLst/>
          </a:prstGeom>
          <a:noFill/>
          <a:ln/>
        </p:spPr>
        <p:txBody>
          <a:bodyPr wrap="square" lIns="0" tIns="0" rIns="0" bIns="0" rtlCol="0" anchor="ctr"/>
          <a:lstStyle/>
          <a:p>
            <a:pPr algn="ctr" indent="0" marL="0">
              <a:buNone/>
            </a:pPr>
            <a:r>
              <a:rPr lang="en-US" sz="1700" b="1" dirty="0">
                <a:solidFill>
                  <a:srgbClr val="0DA5A0"/>
                </a:solidFill>
                <a:latin typeface="Calibri" pitchFamily="34" charset="0"/>
                <a:ea typeface="Calibri" pitchFamily="34" charset="-122"/>
                <a:cs typeface="Calibri" pitchFamily="34" charset="-120"/>
              </a:rPr>
              <a:t>◎</a:t>
            </a:r>
            <a:endParaRPr lang="en-US" sz="1700" dirty="0"/>
          </a:p>
        </p:txBody>
      </p:sp>
      <p:sp>
        <p:nvSpPr>
          <p:cNvPr id="21" name="Text 19"/>
          <p:cNvSpPr/>
          <p:nvPr/>
        </p:nvSpPr>
        <p:spPr>
          <a:xfrm>
            <a:off x="7004304" y="2322576"/>
            <a:ext cx="4434840" cy="457200"/>
          </a:xfrm>
          <a:prstGeom prst="rect">
            <a:avLst/>
          </a:prstGeom>
          <a:noFill/>
          <a:ln/>
        </p:spPr>
        <p:txBody>
          <a:bodyPr wrap="square" lIns="0" tIns="0" rIns="0" bIns="0" rtlCol="0" anchor="ctr"/>
          <a:lstStyle/>
          <a:p>
            <a:pPr indent="0" marL="0">
              <a:buNone/>
            </a:pPr>
            <a:r>
              <a:rPr lang="en-US" sz="1300" b="1" dirty="0">
                <a:solidFill>
                  <a:srgbClr val="0DA5A0"/>
                </a:solidFill>
                <a:latin typeface="Calibri" pitchFamily="34" charset="0"/>
                <a:ea typeface="Calibri" pitchFamily="34" charset="-122"/>
                <a:cs typeface="Calibri" pitchFamily="34" charset="-120"/>
              </a:rPr>
              <a:t>Accuracy measured every build</a:t>
            </a:r>
            <a:endParaRPr lang="en-US" sz="1300" dirty="0"/>
          </a:p>
        </p:txBody>
      </p:sp>
      <p:sp>
        <p:nvSpPr>
          <p:cNvPr id="22" name="Text 20"/>
          <p:cNvSpPr/>
          <p:nvPr/>
        </p:nvSpPr>
        <p:spPr>
          <a:xfrm>
            <a:off x="6492240" y="2798064"/>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CAD feature detection is scored against hand-verified golden parts — precision, recall, F1 (≈0.96 today). A floor gate catches any drop before it ships.</a:t>
            </a:r>
            <a:endParaRPr lang="en-US" sz="1000" dirty="0"/>
          </a:p>
        </p:txBody>
      </p:sp>
      <p:sp>
        <p:nvSpPr>
          <p:cNvPr id="23" name="Shape 21"/>
          <p:cNvSpPr/>
          <p:nvPr/>
        </p:nvSpPr>
        <p:spPr>
          <a:xfrm>
            <a:off x="54864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0175477210884352e+284" dist="2.9072792031098153e+283" dir="Infinity">
              <a:srgbClr val="9DB0CC">
                <a:alpha val="Infinity"/>
              </a:srgbClr>
            </a:outerShdw>
          </a:effectLst>
        </p:spPr>
      </p:sp>
      <p:sp>
        <p:nvSpPr>
          <p:cNvPr id="24" name="Shape 22"/>
          <p:cNvSpPr/>
          <p:nvPr/>
        </p:nvSpPr>
        <p:spPr>
          <a:xfrm>
            <a:off x="548640" y="3566160"/>
            <a:ext cx="82296" cy="1335024"/>
          </a:xfrm>
          <a:prstGeom prst="rect">
            <a:avLst/>
          </a:prstGeom>
          <a:solidFill>
            <a:srgbClr val="0EA472"/>
          </a:solidFill>
          <a:ln/>
        </p:spPr>
      </p:sp>
      <p:sp>
        <p:nvSpPr>
          <p:cNvPr id="25" name="Shape 23"/>
          <p:cNvSpPr/>
          <p:nvPr/>
        </p:nvSpPr>
        <p:spPr>
          <a:xfrm>
            <a:off x="804672" y="3767328"/>
            <a:ext cx="457200" cy="457200"/>
          </a:xfrm>
          <a:prstGeom prst="ellipse">
            <a:avLst/>
          </a:prstGeom>
          <a:solidFill>
            <a:srgbClr val="E7F7F0"/>
          </a:solidFill>
          <a:ln/>
        </p:spPr>
      </p:sp>
      <p:sp>
        <p:nvSpPr>
          <p:cNvPr id="26" name="Text 24"/>
          <p:cNvSpPr/>
          <p:nvPr/>
        </p:nvSpPr>
        <p:spPr>
          <a:xfrm>
            <a:off x="804672" y="3758184"/>
            <a:ext cx="457200" cy="457200"/>
          </a:xfrm>
          <a:prstGeom prst="rect">
            <a:avLst/>
          </a:prstGeom>
          <a:noFill/>
          <a:ln/>
        </p:spPr>
        <p:txBody>
          <a:bodyPr wrap="square" lIns="0" tIns="0" rIns="0" bIns="0" rtlCol="0" anchor="ctr"/>
          <a:lstStyle/>
          <a:p>
            <a:pPr algn="ctr" indent="0" marL="0">
              <a:buNone/>
            </a:pPr>
            <a:r>
              <a:rPr lang="en-US" sz="1700" b="1" dirty="0">
                <a:solidFill>
                  <a:srgbClr val="0EA472"/>
                </a:solidFill>
                <a:latin typeface="Calibri" pitchFamily="34" charset="0"/>
                <a:ea typeface="Calibri" pitchFamily="34" charset="-122"/>
                <a:cs typeface="Calibri" pitchFamily="34" charset="-120"/>
              </a:rPr>
              <a:t>✓</a:t>
            </a:r>
            <a:endParaRPr lang="en-US" sz="1700" dirty="0"/>
          </a:p>
        </p:txBody>
      </p:sp>
      <p:sp>
        <p:nvSpPr>
          <p:cNvPr id="27" name="Text 25"/>
          <p:cNvSpPr/>
          <p:nvPr/>
        </p:nvSpPr>
        <p:spPr>
          <a:xfrm>
            <a:off x="1335024" y="3803904"/>
            <a:ext cx="4434840" cy="457200"/>
          </a:xfrm>
          <a:prstGeom prst="rect">
            <a:avLst/>
          </a:prstGeom>
          <a:noFill/>
          <a:ln/>
        </p:spPr>
        <p:txBody>
          <a:bodyPr wrap="square" lIns="0" tIns="0" rIns="0" bIns="0" rtlCol="0" anchor="ctr"/>
          <a:lstStyle/>
          <a:p>
            <a:pPr indent="0" marL="0">
              <a:buNone/>
            </a:pPr>
            <a:r>
              <a:rPr lang="en-US" sz="1300" b="1" dirty="0">
                <a:solidFill>
                  <a:srgbClr val="0EA472"/>
                </a:solidFill>
                <a:latin typeface="Calibri" pitchFamily="34" charset="0"/>
                <a:ea typeface="Calibri" pitchFamily="34" charset="-122"/>
                <a:cs typeface="Calibri" pitchFamily="34" charset="-120"/>
              </a:rPr>
              <a:t>Every change guarded</a:t>
            </a:r>
            <a:endParaRPr lang="en-US" sz="1300" dirty="0"/>
          </a:p>
        </p:txBody>
      </p:sp>
      <p:sp>
        <p:nvSpPr>
          <p:cNvPr id="28" name="Text 26"/>
          <p:cNvSpPr/>
          <p:nvPr/>
        </p:nvSpPr>
        <p:spPr>
          <a:xfrm>
            <a:off x="82296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1,005 automated tests, a self-audit re-checking every estimate, plus visual-regression screenshots — a regression fails the build, not the demo.</a:t>
            </a:r>
            <a:endParaRPr lang="en-US" sz="1000" dirty="0"/>
          </a:p>
        </p:txBody>
      </p:sp>
      <p:sp>
        <p:nvSpPr>
          <p:cNvPr id="29" name="Shape 27"/>
          <p:cNvSpPr/>
          <p:nvPr/>
        </p:nvSpPr>
        <p:spPr>
          <a:xfrm>
            <a:off x="6217920" y="3566160"/>
            <a:ext cx="5422392" cy="1335024"/>
          </a:xfrm>
          <a:prstGeom prst="roundRect">
            <a:avLst>
              <a:gd name="adj" fmla="val 4795"/>
            </a:avLst>
          </a:prstGeom>
          <a:solidFill>
            <a:srgbClr val="FFFFFF"/>
          </a:solidFill>
          <a:ln w="12700">
            <a:solidFill>
              <a:srgbClr val="E4EAF2"/>
            </a:solidFill>
            <a:prstDash val="solid"/>
          </a:ln>
          <a:effectLst>
            <a:outerShdw sx="100000" sy="100000" kx="0" ky="0" algn="bl" rotWithShape="0" blurRad="1.2922856057823127e+288" dist="3.6922445879494656e+287" dir="Infinity">
              <a:srgbClr val="9DB0CC">
                <a:alpha val="Infinity"/>
              </a:srgbClr>
            </a:outerShdw>
          </a:effectLst>
        </p:spPr>
      </p:sp>
      <p:sp>
        <p:nvSpPr>
          <p:cNvPr id="30" name="Shape 28"/>
          <p:cNvSpPr/>
          <p:nvPr/>
        </p:nvSpPr>
        <p:spPr>
          <a:xfrm>
            <a:off x="6217920" y="3566160"/>
            <a:ext cx="82296" cy="1335024"/>
          </a:xfrm>
          <a:prstGeom prst="rect">
            <a:avLst/>
          </a:prstGeom>
          <a:solidFill>
            <a:srgbClr val="7C3AED"/>
          </a:solidFill>
          <a:ln/>
        </p:spPr>
      </p:sp>
      <p:sp>
        <p:nvSpPr>
          <p:cNvPr id="31" name="Shape 29"/>
          <p:cNvSpPr/>
          <p:nvPr/>
        </p:nvSpPr>
        <p:spPr>
          <a:xfrm>
            <a:off x="6473952" y="3767328"/>
            <a:ext cx="457200" cy="457200"/>
          </a:xfrm>
          <a:prstGeom prst="ellipse">
            <a:avLst/>
          </a:prstGeom>
          <a:solidFill>
            <a:srgbClr val="F3EEFE"/>
          </a:solidFill>
          <a:ln/>
        </p:spPr>
      </p:sp>
      <p:sp>
        <p:nvSpPr>
          <p:cNvPr id="32" name="Text 30"/>
          <p:cNvSpPr/>
          <p:nvPr/>
        </p:nvSpPr>
        <p:spPr>
          <a:xfrm>
            <a:off x="6473952" y="3758184"/>
            <a:ext cx="457200" cy="457200"/>
          </a:xfrm>
          <a:prstGeom prst="rect">
            <a:avLst/>
          </a:prstGeom>
          <a:noFill/>
          <a:ln/>
        </p:spPr>
        <p:txBody>
          <a:bodyPr wrap="square" lIns="0" tIns="0" rIns="0" bIns="0" rtlCol="0" anchor="ctr"/>
          <a:lstStyle/>
          <a:p>
            <a:pPr algn="ctr" indent="0" marL="0">
              <a:buNone/>
            </a:pPr>
            <a:r>
              <a:rPr lang="en-US" sz="1700" b="1" dirty="0">
                <a:solidFill>
                  <a:srgbClr val="7C3AED"/>
                </a:solidFill>
                <a:latin typeface="Calibri" pitchFamily="34" charset="0"/>
                <a:ea typeface="Calibri" pitchFamily="34" charset="-122"/>
                <a:cs typeface="Calibri" pitchFamily="34" charset="-120"/>
              </a:rPr>
              <a:t>◈</a:t>
            </a:r>
            <a:endParaRPr lang="en-US" sz="1700" dirty="0"/>
          </a:p>
        </p:txBody>
      </p:sp>
      <p:sp>
        <p:nvSpPr>
          <p:cNvPr id="33" name="Text 31"/>
          <p:cNvSpPr/>
          <p:nvPr/>
        </p:nvSpPr>
        <p:spPr>
          <a:xfrm>
            <a:off x="7004304" y="3803904"/>
            <a:ext cx="4434840" cy="457200"/>
          </a:xfrm>
          <a:prstGeom prst="rect">
            <a:avLst/>
          </a:prstGeom>
          <a:noFill/>
          <a:ln/>
        </p:spPr>
        <p:txBody>
          <a:bodyPr wrap="square" lIns="0" tIns="0" rIns="0" bIns="0" rtlCol="0" anchor="ctr"/>
          <a:lstStyle/>
          <a:p>
            <a:pPr indent="0" marL="0">
              <a:buNone/>
            </a:pPr>
            <a:r>
              <a:rPr lang="en-US" sz="1300" b="1" dirty="0">
                <a:solidFill>
                  <a:srgbClr val="7C3AED"/>
                </a:solidFill>
                <a:latin typeface="Calibri" pitchFamily="34" charset="0"/>
                <a:ea typeface="Calibri" pitchFamily="34" charset="-122"/>
                <a:cs typeface="Calibri" pitchFamily="34" charset="-120"/>
              </a:rPr>
              <a:t>Confidence on every number</a:t>
            </a:r>
            <a:endParaRPr lang="en-US" sz="1300" dirty="0"/>
          </a:p>
        </p:txBody>
      </p:sp>
      <p:sp>
        <p:nvSpPr>
          <p:cNvPr id="34" name="Text 32"/>
          <p:cNvSpPr/>
          <p:nvPr/>
        </p:nvSpPr>
        <p:spPr>
          <a:xfrm>
            <a:off x="6492240" y="4279392"/>
            <a:ext cx="4983480" cy="548640"/>
          </a:xfrm>
          <a:prstGeom prst="rect">
            <a:avLst/>
          </a:prstGeom>
          <a:noFill/>
          <a:ln/>
        </p:spPr>
        <p:txBody>
          <a:bodyPr wrap="square" lIns="0" tIns="0" rIns="0" bIns="0" rtlCol="0" anchor="t"/>
          <a:lstStyle/>
          <a:p>
            <a:pPr indent="0" marL="0">
              <a:lnSpc>
                <a:spcPct val="110000"/>
              </a:lnSpc>
              <a:buNone/>
            </a:pPr>
            <a:r>
              <a:rPr lang="en-US" sz="1000" dirty="0">
                <a:solidFill>
                  <a:srgbClr val="3E4C63"/>
                </a:solidFill>
                <a:latin typeface="Calibri" pitchFamily="34" charset="0"/>
                <a:ea typeface="Calibri" pitchFamily="34" charset="-122"/>
                <a:cs typeface="Calibri" pitchFamily="34" charset="-120"/>
              </a:rPr>
              <a:t>Each should-cost shows a P10–P50–P90 band, colour-graded by width — an honest range a buyer can defend, never a false single figure.</a:t>
            </a:r>
            <a:endParaRPr lang="en-US" sz="1000" dirty="0"/>
          </a:p>
        </p:txBody>
      </p:sp>
      <p:sp>
        <p:nvSpPr>
          <p:cNvPr id="35" name="Shape 33"/>
          <p:cNvSpPr/>
          <p:nvPr/>
        </p:nvSpPr>
        <p:spPr>
          <a:xfrm>
            <a:off x="548640" y="5138928"/>
            <a:ext cx="11091672" cy="841248"/>
          </a:xfrm>
          <a:prstGeom prst="roundRect">
            <a:avLst>
              <a:gd name="adj" fmla="val 7609"/>
            </a:avLst>
          </a:prstGeom>
          <a:solidFill>
            <a:srgbClr val="E7F7F0"/>
          </a:solidFill>
          <a:ln w="12700">
            <a:solidFill>
              <a:srgbClr val="E4EAF2"/>
            </a:solidFill>
            <a:prstDash val="solid"/>
          </a:ln>
        </p:spPr>
      </p:sp>
      <p:sp>
        <p:nvSpPr>
          <p:cNvPr id="36" name="Shape 34"/>
          <p:cNvSpPr/>
          <p:nvPr/>
        </p:nvSpPr>
        <p:spPr>
          <a:xfrm>
            <a:off x="548640" y="5138928"/>
            <a:ext cx="82296" cy="841248"/>
          </a:xfrm>
          <a:prstGeom prst="rect">
            <a:avLst/>
          </a:prstGeom>
          <a:solidFill>
            <a:srgbClr val="0EA472"/>
          </a:solidFill>
          <a:ln/>
        </p:spPr>
      </p:sp>
      <p:sp>
        <p:nvSpPr>
          <p:cNvPr id="37" name="Text 35"/>
          <p:cNvSpPr/>
          <p:nvPr/>
        </p:nvSpPr>
        <p:spPr>
          <a:xfrm>
            <a:off x="914400" y="5138928"/>
            <a:ext cx="10332720" cy="841248"/>
          </a:xfrm>
          <a:prstGeom prst="rect">
            <a:avLst/>
          </a:prstGeom>
          <a:noFill/>
          <a:ln/>
        </p:spPr>
        <p:txBody>
          <a:bodyPr wrap="square" lIns="0" tIns="0" rIns="0" bIns="0" rtlCol="0" anchor="ctr"/>
          <a:lstStyle/>
          <a:p>
            <a:pPr indent="0" marL="0">
              <a:lnSpc>
                <a:spcPct val="108000"/>
              </a:lnSpc>
              <a:buNone/>
            </a:pPr>
            <a:r>
              <a:rPr lang="en-US" sz="1150" b="1" dirty="0">
                <a:solidFill>
                  <a:srgbClr val="0F1E3D"/>
                </a:solidFill>
                <a:latin typeface="Calibri" pitchFamily="34" charset="0"/>
                <a:ea typeface="Calibri" pitchFamily="34" charset="-122"/>
                <a:cs typeface="Calibri" pitchFamily="34" charset="-120"/>
              </a:rPr>
              <a:t>Bottom line:  </a:t>
            </a:r>
            <a:pPr indent="0" marL="0">
              <a:lnSpc>
                <a:spcPct val="108000"/>
              </a:lnSpc>
              <a:buNone/>
            </a:pPr>
            <a:r>
              <a:rPr lang="en-US" sz="1150" dirty="0">
                <a:solidFill>
                  <a:srgbClr val="3E4C63"/>
                </a:solidFill>
                <a:latin typeface="Calibri" pitchFamily="34" charset="0"/>
                <a:ea typeface="Calibri" pitchFamily="34" charset="-122"/>
                <a:cs typeface="Calibri" pitchFamily="34" charset="-120"/>
              </a:rPr>
              <a:t>the number we put in front of a supplier is defensible by construction — and stays that way. Quality isn’t reviewed in after the fact; it’s enforced on every commit.</a:t>
            </a:r>
            <a:endParaRPr lang="en-US" sz="1150" dirty="0"/>
          </a:p>
        </p:txBody>
      </p:sp>
      <p:sp>
        <p:nvSpPr>
          <p:cNvPr id="38" name="Shape 36"/>
          <p:cNvSpPr/>
          <p:nvPr/>
        </p:nvSpPr>
        <p:spPr>
          <a:xfrm>
            <a:off x="548640" y="6400800"/>
            <a:ext cx="11094415" cy="12802"/>
          </a:xfrm>
          <a:prstGeom prst="rect">
            <a:avLst/>
          </a:prstGeom>
          <a:solidFill>
            <a:srgbClr val="E4EAF2"/>
          </a:solidFill>
          <a:ln/>
        </p:spPr>
      </p:sp>
      <p:sp>
        <p:nvSpPr>
          <p:cNvPr id="39" name="Text 37"/>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0" name="Text 38"/>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27 / 33</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4F46E5"/>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4F46E5"/>
                </a:solidFill>
                <a:latin typeface="Calibri" pitchFamily="34" charset="0"/>
                <a:ea typeface="Calibri" pitchFamily="34" charset="-122"/>
                <a:cs typeface="Calibri" pitchFamily="34" charset="-120"/>
              </a:rPr>
              <a:t>EFFORT &amp; CRAFTSMANSHIP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The engineering behind it — a real, in-house asset</a:t>
            </a:r>
            <a:endParaRPr lang="en-US" sz="2400" dirty="0"/>
          </a:p>
        </p:txBody>
      </p:sp>
      <p:sp>
        <p:nvSpPr>
          <p:cNvPr id="9" name="Shape 7"/>
          <p:cNvSpPr/>
          <p:nvPr/>
        </p:nvSpPr>
        <p:spPr>
          <a:xfrm>
            <a:off x="548640" y="1371600"/>
            <a:ext cx="1051560" cy="45720"/>
          </a:xfrm>
          <a:prstGeom prst="rect">
            <a:avLst/>
          </a:prstGeom>
          <a:solidFill>
            <a:srgbClr val="4F46E5"/>
          </a:solidFill>
          <a:ln/>
        </p:spPr>
      </p:sp>
      <p:sp>
        <p:nvSpPr>
          <p:cNvPr id="10" name="Text 8"/>
          <p:cNvSpPr/>
          <p:nvPr/>
        </p:nvSpPr>
        <p:spPr>
          <a:xfrm>
            <a:off x="548640" y="1554480"/>
            <a:ext cx="11064240" cy="320040"/>
          </a:xfrm>
          <a:prstGeom prst="rect">
            <a:avLst/>
          </a:prstGeom>
          <a:noFill/>
          <a:ln/>
        </p:spPr>
        <p:txBody>
          <a:bodyPr wrap="square" lIns="0" tIns="0" rIns="0" bIns="0" rtlCol="0" anchor="t"/>
          <a:lstStyle/>
          <a:p>
            <a:pPr indent="0" marL="0">
              <a:buNone/>
            </a:pPr>
            <a:r>
              <a:rPr lang="en-US" sz="1150" dirty="0">
                <a:solidFill>
                  <a:srgbClr val="3E4C63"/>
                </a:solidFill>
                <a:latin typeface="Calibri" pitchFamily="34" charset="0"/>
                <a:ea typeface="Calibri" pitchFamily="34" charset="-122"/>
                <a:cs typeface="Calibri" pitchFamily="34" charset="-120"/>
              </a:rPr>
              <a:t>Not a prototype or a thin wrapper around a chatbot — a substantial, tested, full-stack platform, custom-built in-house (AI-accelerated).</a:t>
            </a:r>
            <a:endParaRPr lang="en-US" sz="1150" dirty="0"/>
          </a:p>
        </p:txBody>
      </p:sp>
      <p:sp>
        <p:nvSpPr>
          <p:cNvPr id="11" name="Shape 9"/>
          <p:cNvSpPr/>
          <p:nvPr/>
        </p:nvSpPr>
        <p:spPr>
          <a:xfrm>
            <a:off x="548640"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1.6412027193435371e+292" dist="4.6891506266958215e+291" dir="Infinity">
              <a:srgbClr val="9DB0CC">
                <a:alpha val="Infinity"/>
              </a:srgbClr>
            </a:outerShdw>
          </a:effectLst>
        </p:spPr>
      </p:sp>
      <p:sp>
        <p:nvSpPr>
          <p:cNvPr id="12" name="Shape 10"/>
          <p:cNvSpPr/>
          <p:nvPr/>
        </p:nvSpPr>
        <p:spPr>
          <a:xfrm>
            <a:off x="548640" y="1874520"/>
            <a:ext cx="82296" cy="1143000"/>
          </a:xfrm>
          <a:prstGeom prst="rect">
            <a:avLst/>
          </a:prstGeom>
          <a:solidFill>
            <a:srgbClr val="4F46E5"/>
          </a:solidFill>
          <a:ln/>
        </p:spPr>
      </p:sp>
      <p:sp>
        <p:nvSpPr>
          <p:cNvPr id="13" name="Text 11"/>
          <p:cNvSpPr/>
          <p:nvPr/>
        </p:nvSpPr>
        <p:spPr>
          <a:xfrm>
            <a:off x="768096" y="2011680"/>
            <a:ext cx="2359152" cy="502920"/>
          </a:xfrm>
          <a:prstGeom prst="rect">
            <a:avLst/>
          </a:prstGeom>
          <a:noFill/>
          <a:ln/>
        </p:spPr>
        <p:txBody>
          <a:bodyPr wrap="square" lIns="0" tIns="0" rIns="0" bIns="0" rtlCol="0" anchor="t"/>
          <a:lstStyle/>
          <a:p>
            <a:pPr indent="0" marL="0">
              <a:buNone/>
            </a:pPr>
            <a:r>
              <a:rPr lang="en-US" sz="2300" b="1" dirty="0">
                <a:solidFill>
                  <a:srgbClr val="4F46E5"/>
                </a:solidFill>
                <a:latin typeface="Calibri" pitchFamily="34" charset="0"/>
                <a:ea typeface="Calibri" pitchFamily="34" charset="-122"/>
                <a:cs typeface="Calibri" pitchFamily="34" charset="-120"/>
              </a:rPr>
              <a:t>~75,000</a:t>
            </a:r>
            <a:endParaRPr lang="en-US" sz="2300" dirty="0"/>
          </a:p>
        </p:txBody>
      </p:sp>
      <p:sp>
        <p:nvSpPr>
          <p:cNvPr id="14" name="Text 12"/>
          <p:cNvSpPr/>
          <p:nvPr/>
        </p:nvSpPr>
        <p:spPr>
          <a:xfrm>
            <a:off x="768096"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lines of custom code, built in-house</a:t>
            </a:r>
            <a:endParaRPr lang="en-US" sz="1000" dirty="0"/>
          </a:p>
        </p:txBody>
      </p:sp>
      <p:sp>
        <p:nvSpPr>
          <p:cNvPr id="15" name="Shape 13"/>
          <p:cNvSpPr/>
          <p:nvPr/>
        </p:nvSpPr>
        <p:spPr>
          <a:xfrm>
            <a:off x="3319272"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0843274535662923e+296" dist="5.955221295903693e+295" dir="Infinity">
              <a:srgbClr val="9DB0CC">
                <a:alpha val="Infinity"/>
              </a:srgbClr>
            </a:outerShdw>
          </a:effectLst>
        </p:spPr>
      </p:sp>
      <p:sp>
        <p:nvSpPr>
          <p:cNvPr id="16" name="Shape 14"/>
          <p:cNvSpPr/>
          <p:nvPr/>
        </p:nvSpPr>
        <p:spPr>
          <a:xfrm>
            <a:off x="3319272" y="1874520"/>
            <a:ext cx="82296" cy="1143000"/>
          </a:xfrm>
          <a:prstGeom prst="rect">
            <a:avLst/>
          </a:prstGeom>
          <a:solidFill>
            <a:srgbClr val="0EA472"/>
          </a:solidFill>
          <a:ln/>
        </p:spPr>
      </p:sp>
      <p:sp>
        <p:nvSpPr>
          <p:cNvPr id="17" name="Text 15"/>
          <p:cNvSpPr/>
          <p:nvPr/>
        </p:nvSpPr>
        <p:spPr>
          <a:xfrm>
            <a:off x="3538728" y="2011680"/>
            <a:ext cx="2359152" cy="502920"/>
          </a:xfrm>
          <a:prstGeom prst="rect">
            <a:avLst/>
          </a:prstGeom>
          <a:noFill/>
          <a:ln/>
        </p:spPr>
        <p:txBody>
          <a:bodyPr wrap="square" lIns="0" tIns="0" rIns="0" bIns="0" rtlCol="0" anchor="t"/>
          <a:lstStyle/>
          <a:p>
            <a:pPr indent="0" marL="0">
              <a:buNone/>
            </a:pPr>
            <a:r>
              <a:rPr lang="en-US" sz="2300" b="1" dirty="0">
                <a:solidFill>
                  <a:srgbClr val="0EA472"/>
                </a:solidFill>
                <a:latin typeface="Calibri" pitchFamily="34" charset="0"/>
                <a:ea typeface="Calibri" pitchFamily="34" charset="-122"/>
                <a:cs typeface="Calibri" pitchFamily="34" charset="-120"/>
              </a:rPr>
              <a:t>1,005</a:t>
            </a:r>
            <a:endParaRPr lang="en-US" sz="2300" dirty="0"/>
          </a:p>
        </p:txBody>
      </p:sp>
      <p:sp>
        <p:nvSpPr>
          <p:cNvPr id="18" name="Text 16"/>
          <p:cNvSpPr/>
          <p:nvPr/>
        </p:nvSpPr>
        <p:spPr>
          <a:xfrm>
            <a:off x="3538728"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automated tests · 86 suites</a:t>
            </a:r>
            <a:endParaRPr lang="en-US" sz="1000" dirty="0"/>
          </a:p>
        </p:txBody>
      </p:sp>
      <p:sp>
        <p:nvSpPr>
          <p:cNvPr id="19" name="Shape 17"/>
          <p:cNvSpPr/>
          <p:nvPr/>
        </p:nvSpPr>
        <p:spPr>
          <a:xfrm>
            <a:off x="6089904"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2.647095866029191e+300" dist="7.56313104579769e+299" dir="Infinity">
              <a:srgbClr val="9DB0CC">
                <a:alpha val="Infinity"/>
              </a:srgbClr>
            </a:outerShdw>
          </a:effectLst>
        </p:spPr>
      </p:sp>
      <p:sp>
        <p:nvSpPr>
          <p:cNvPr id="20" name="Shape 18"/>
          <p:cNvSpPr/>
          <p:nvPr/>
        </p:nvSpPr>
        <p:spPr>
          <a:xfrm>
            <a:off x="6089904" y="1874520"/>
            <a:ext cx="82296" cy="1143000"/>
          </a:xfrm>
          <a:prstGeom prst="rect">
            <a:avLst/>
          </a:prstGeom>
          <a:solidFill>
            <a:srgbClr val="E0900C"/>
          </a:solidFill>
          <a:ln/>
        </p:spPr>
      </p:sp>
      <p:sp>
        <p:nvSpPr>
          <p:cNvPr id="21" name="Text 19"/>
          <p:cNvSpPr/>
          <p:nvPr/>
        </p:nvSpPr>
        <p:spPr>
          <a:xfrm>
            <a:off x="6309360" y="2011680"/>
            <a:ext cx="2359152" cy="502920"/>
          </a:xfrm>
          <a:prstGeom prst="rect">
            <a:avLst/>
          </a:prstGeom>
          <a:noFill/>
          <a:ln/>
        </p:spPr>
        <p:txBody>
          <a:bodyPr wrap="square" lIns="0" tIns="0" rIns="0" bIns="0" rtlCol="0" anchor="t"/>
          <a:lstStyle/>
          <a:p>
            <a:pPr indent="0" marL="0">
              <a:buNone/>
            </a:pPr>
            <a:r>
              <a:rPr lang="en-US" sz="2300" b="1" dirty="0">
                <a:solidFill>
                  <a:srgbClr val="E0900C"/>
                </a:solidFill>
                <a:latin typeface="Calibri" pitchFamily="34" charset="0"/>
                <a:ea typeface="Calibri" pitchFamily="34" charset="-122"/>
                <a:cs typeface="Calibri" pitchFamily="34" charset="-120"/>
              </a:rPr>
              <a:t>19</a:t>
            </a:r>
            <a:endParaRPr lang="en-US" sz="2300" dirty="0"/>
          </a:p>
        </p:txBody>
      </p:sp>
      <p:sp>
        <p:nvSpPr>
          <p:cNvPr id="22" name="Text 20"/>
          <p:cNvSpPr/>
          <p:nvPr/>
        </p:nvSpPr>
        <p:spPr>
          <a:xfrm>
            <a:off x="6309360"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purpose-built cost engines</a:t>
            </a:r>
            <a:endParaRPr lang="en-US" sz="1000" dirty="0"/>
          </a:p>
        </p:txBody>
      </p:sp>
      <p:sp>
        <p:nvSpPr>
          <p:cNvPr id="23" name="Shape 21"/>
          <p:cNvSpPr/>
          <p:nvPr/>
        </p:nvSpPr>
        <p:spPr>
          <a:xfrm>
            <a:off x="8860536" y="1874520"/>
            <a:ext cx="2724912" cy="1143000"/>
          </a:xfrm>
          <a:prstGeom prst="roundRect">
            <a:avLst>
              <a:gd name="adj" fmla="val 5600"/>
            </a:avLst>
          </a:prstGeom>
          <a:solidFill>
            <a:srgbClr val="FFFFFF"/>
          </a:solidFill>
          <a:ln w="12700">
            <a:solidFill>
              <a:srgbClr val="E4EAF2"/>
            </a:solidFill>
            <a:prstDash val="solid"/>
          </a:ln>
          <a:effectLst>
            <a:outerShdw sx="100000" sy="100000" kx="0" ky="0" algn="bl" rotWithShape="0" blurRad="3.3618117498570727e+304" dist="9.605176428163068e+303" dir="Infinity">
              <a:srgbClr val="9DB0CC">
                <a:alpha val="Infinity"/>
              </a:srgbClr>
            </a:outerShdw>
          </a:effectLst>
        </p:spPr>
      </p:sp>
      <p:sp>
        <p:nvSpPr>
          <p:cNvPr id="24" name="Shape 22"/>
          <p:cNvSpPr/>
          <p:nvPr/>
        </p:nvSpPr>
        <p:spPr>
          <a:xfrm>
            <a:off x="8860536" y="1874520"/>
            <a:ext cx="82296" cy="1143000"/>
          </a:xfrm>
          <a:prstGeom prst="rect">
            <a:avLst/>
          </a:prstGeom>
          <a:solidFill>
            <a:srgbClr val="0E93B0"/>
          </a:solidFill>
          <a:ln/>
        </p:spPr>
      </p:sp>
      <p:sp>
        <p:nvSpPr>
          <p:cNvPr id="25" name="Text 23"/>
          <p:cNvSpPr/>
          <p:nvPr/>
        </p:nvSpPr>
        <p:spPr>
          <a:xfrm>
            <a:off x="9079992" y="2011680"/>
            <a:ext cx="2359152" cy="502920"/>
          </a:xfrm>
          <a:prstGeom prst="rect">
            <a:avLst/>
          </a:prstGeom>
          <a:noFill/>
          <a:ln/>
        </p:spPr>
        <p:txBody>
          <a:bodyPr wrap="square" lIns="0" tIns="0" rIns="0" bIns="0" rtlCol="0" anchor="t"/>
          <a:lstStyle/>
          <a:p>
            <a:pPr indent="0" marL="0">
              <a:buNone/>
            </a:pPr>
            <a:r>
              <a:rPr lang="en-US" sz="2300" b="1" dirty="0">
                <a:solidFill>
                  <a:srgbClr val="0E93B0"/>
                </a:solidFill>
                <a:latin typeface="Calibri" pitchFamily="34" charset="0"/>
                <a:ea typeface="Calibri" pitchFamily="34" charset="-122"/>
                <a:cs typeface="Calibri" pitchFamily="34" charset="-120"/>
              </a:rPr>
              <a:t>5</a:t>
            </a:r>
            <a:endParaRPr lang="en-US" sz="2300" dirty="0"/>
          </a:p>
        </p:txBody>
      </p:sp>
      <p:sp>
        <p:nvSpPr>
          <p:cNvPr id="26" name="Text 24"/>
          <p:cNvSpPr/>
          <p:nvPr/>
        </p:nvSpPr>
        <p:spPr>
          <a:xfrm>
            <a:off x="9079992" y="2505456"/>
            <a:ext cx="2359152" cy="411480"/>
          </a:xfrm>
          <a:prstGeom prst="rect">
            <a:avLst/>
          </a:prstGeom>
          <a:noFill/>
          <a:ln/>
        </p:spPr>
        <p:txBody>
          <a:bodyPr wrap="square" lIns="0" tIns="0" rIns="0" bIns="0" rtlCol="0" anchor="t"/>
          <a:lstStyle/>
          <a:p>
            <a:pPr indent="0" marL="0">
              <a:lnSpc>
                <a:spcPct val="105000"/>
              </a:lnSpc>
              <a:buNone/>
            </a:pPr>
            <a:r>
              <a:rPr lang="en-US" sz="1000" dirty="0">
                <a:solidFill>
                  <a:srgbClr val="8A97A8"/>
                </a:solidFill>
                <a:latin typeface="Calibri" pitchFamily="34" charset="0"/>
                <a:ea typeface="Calibri" pitchFamily="34" charset="-122"/>
                <a:cs typeface="Calibri" pitchFamily="34" charset="-120"/>
              </a:rPr>
              <a:t>languages &amp; runtimes in the stack</a:t>
            </a:r>
            <a:endParaRPr lang="en-US" sz="1000" dirty="0"/>
          </a:p>
        </p:txBody>
      </p:sp>
      <p:sp>
        <p:nvSpPr>
          <p:cNvPr id="27" name="Shape 25"/>
          <p:cNvSpPr/>
          <p:nvPr/>
        </p:nvSpPr>
        <p:spPr>
          <a:xfrm>
            <a:off x="548640" y="3200400"/>
            <a:ext cx="6035040" cy="2395728"/>
          </a:xfrm>
          <a:prstGeom prst="roundRect">
            <a:avLst>
              <a:gd name="adj" fmla="val 2672"/>
            </a:avLst>
          </a:prstGeom>
          <a:solidFill>
            <a:srgbClr val="FFFFFF"/>
          </a:solidFill>
          <a:ln w="12700">
            <a:solidFill>
              <a:srgbClr val="E4EAF2"/>
            </a:solidFill>
            <a:prstDash val="solid"/>
          </a:ln>
          <a:effectLst>
            <a:outerShdw sx="100000" sy="100000" kx="0" ky="0" algn="bl" rotWithShape="0" blurRad="Infinity" dist="1.2198574063767096e+308" dir="Infinity">
              <a:srgbClr val="9DB0CC">
                <a:alpha val="Infinity"/>
              </a:srgbClr>
            </a:outerShdw>
          </a:effectLst>
        </p:spPr>
      </p:sp>
      <p:sp>
        <p:nvSpPr>
          <p:cNvPr id="28" name="Text 26"/>
          <p:cNvSpPr/>
          <p:nvPr/>
        </p:nvSpPr>
        <p:spPr>
          <a:xfrm>
            <a:off x="822960" y="3319272"/>
            <a:ext cx="5669280"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Where the code lives — thousands of lines</a:t>
            </a:r>
            <a:endParaRPr lang="en-US" sz="1250" dirty="0"/>
          </a:p>
        </p:txBody>
      </p:sp>
      <p:graphicFrame>
        <p:nvGraphicFramePr>
          <p:cNvPr id="29" name="Chart 0" descr=""/>
          <p:cNvGraphicFramePr/>
          <p:nvPr/>
        </p:nvGraphicFramePr>
        <p:xfrm>
          <a:off x="685800" y="3639312"/>
          <a:ext cx="5760720" cy="1847088"/>
        </p:xfrm>
        <a:graphic xmlns:a="http://schemas.openxmlformats.org/drawingml/2006/main">
          <a:graphicData uri="http://schemas.openxmlformats.org/drawingml/2006/chart">
            <c:chart xmlns:c="http://schemas.openxmlformats.org/drawingml/2006/chart" r:id="rId1"/>
          </a:graphicData>
        </a:graphic>
      </p:graphicFrame>
      <p:sp>
        <p:nvSpPr>
          <p:cNvPr id="30" name="Shape 27"/>
          <p:cNvSpPr/>
          <p:nvPr/>
        </p:nvSpPr>
        <p:spPr>
          <a:xfrm>
            <a:off x="6858000" y="3200400"/>
            <a:ext cx="4785055" cy="2395728"/>
          </a:xfrm>
          <a:prstGeom prst="roundRect">
            <a:avLst>
              <a:gd name="adj" fmla="val 2672"/>
            </a:avLst>
          </a:prstGeom>
          <a:solidFill>
            <a:srgbClr val="EAF1FE"/>
          </a:solidFill>
          <a:ln w="12700">
            <a:solidFill>
              <a:srgbClr val="E4EAF2"/>
            </a:solidFill>
            <a:prstDash val="solid"/>
          </a:ln>
        </p:spPr>
      </p:sp>
      <p:sp>
        <p:nvSpPr>
          <p:cNvPr id="31" name="Text 28"/>
          <p:cNvSpPr/>
          <p:nvPr/>
        </p:nvSpPr>
        <p:spPr>
          <a:xfrm>
            <a:off x="7132320" y="3319272"/>
            <a:ext cx="4327855" cy="274320"/>
          </a:xfrm>
          <a:prstGeom prst="rect">
            <a:avLst/>
          </a:prstGeom>
          <a:noFill/>
          <a:ln/>
        </p:spPr>
        <p:txBody>
          <a:bodyPr wrap="square" lIns="0" tIns="0" rIns="0" bIns="0" rtlCol="0" anchor="t"/>
          <a:lstStyle/>
          <a:p>
            <a:pPr indent="0" marL="0">
              <a:buNone/>
            </a:pPr>
            <a:r>
              <a:rPr lang="en-US" sz="1250" b="1" dirty="0">
                <a:solidFill>
                  <a:srgbClr val="0F1E3D"/>
                </a:solidFill>
                <a:latin typeface="Calibri" pitchFamily="34" charset="0"/>
                <a:ea typeface="Calibri" pitchFamily="34" charset="-122"/>
                <a:cs typeface="Calibri" pitchFamily="34" charset="-120"/>
              </a:rPr>
              <a:t>What that represents</a:t>
            </a:r>
            <a:endParaRPr lang="en-US" sz="1250" dirty="0"/>
          </a:p>
        </p:txBody>
      </p:sp>
      <p:sp>
        <p:nvSpPr>
          <p:cNvPr id="32" name="Shape 29"/>
          <p:cNvSpPr/>
          <p:nvPr/>
        </p:nvSpPr>
        <p:spPr>
          <a:xfrm>
            <a:off x="7114032" y="3721608"/>
            <a:ext cx="274320" cy="274320"/>
          </a:xfrm>
          <a:prstGeom prst="ellipse">
            <a:avLst/>
          </a:prstGeom>
          <a:solidFill>
            <a:srgbClr val="FEF6E7"/>
          </a:solidFill>
          <a:ln/>
        </p:spPr>
      </p:sp>
      <p:sp>
        <p:nvSpPr>
          <p:cNvPr id="33" name="Text 30"/>
          <p:cNvSpPr/>
          <p:nvPr/>
        </p:nvSpPr>
        <p:spPr>
          <a:xfrm>
            <a:off x="7114032" y="3712464"/>
            <a:ext cx="274320" cy="274320"/>
          </a:xfrm>
          <a:prstGeom prst="rect">
            <a:avLst/>
          </a:prstGeom>
          <a:noFill/>
          <a:ln/>
        </p:spPr>
        <p:txBody>
          <a:bodyPr wrap="square" lIns="0" tIns="0" rIns="0" bIns="0" rtlCol="0" anchor="ctr"/>
          <a:lstStyle/>
          <a:p>
            <a:pPr algn="ctr" indent="0" marL="0">
              <a:buNone/>
            </a:pPr>
            <a:r>
              <a:rPr lang="en-US" sz="1000" b="1" dirty="0">
                <a:solidFill>
                  <a:srgbClr val="E0900C"/>
                </a:solidFill>
                <a:latin typeface="Calibri" pitchFamily="34" charset="0"/>
                <a:ea typeface="Calibri" pitchFamily="34" charset="-122"/>
                <a:cs typeface="Calibri" pitchFamily="34" charset="-120"/>
              </a:rPr>
              <a:t>◆</a:t>
            </a:r>
            <a:endParaRPr lang="en-US" sz="1000" dirty="0"/>
          </a:p>
        </p:txBody>
      </p:sp>
      <p:sp>
        <p:nvSpPr>
          <p:cNvPr id="34" name="Text 31"/>
          <p:cNvSpPr/>
          <p:nvPr/>
        </p:nvSpPr>
        <p:spPr>
          <a:xfrm>
            <a:off x="7479792" y="37033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16,000-line deterministic cost engine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the auditable "money maths" — 19 commodities, 20 regions</a:t>
            </a:r>
            <a:endParaRPr lang="en-US" sz="960" dirty="0"/>
          </a:p>
        </p:txBody>
      </p:sp>
      <p:sp>
        <p:nvSpPr>
          <p:cNvPr id="35" name="Shape 32"/>
          <p:cNvSpPr/>
          <p:nvPr/>
        </p:nvSpPr>
        <p:spPr>
          <a:xfrm>
            <a:off x="7114032" y="4178808"/>
            <a:ext cx="274320" cy="274320"/>
          </a:xfrm>
          <a:prstGeom prst="ellipse">
            <a:avLst/>
          </a:prstGeom>
          <a:solidFill>
            <a:srgbClr val="E7F7F0"/>
          </a:solidFill>
          <a:ln/>
        </p:spPr>
      </p:sp>
      <p:sp>
        <p:nvSpPr>
          <p:cNvPr id="36" name="Text 33"/>
          <p:cNvSpPr/>
          <p:nvPr/>
        </p:nvSpPr>
        <p:spPr>
          <a:xfrm>
            <a:off x="7114032" y="4169664"/>
            <a:ext cx="274320" cy="274320"/>
          </a:xfrm>
          <a:prstGeom prst="rect">
            <a:avLst/>
          </a:prstGeom>
          <a:noFill/>
          <a:ln/>
        </p:spPr>
        <p:txBody>
          <a:bodyPr wrap="square" lIns="0" tIns="0" rIns="0" bIns="0" rtlCol="0" anchor="ctr"/>
          <a:lstStyle/>
          <a:p>
            <a:pPr algn="ctr" indent="0" marL="0">
              <a:buNone/>
            </a:pPr>
            <a:r>
              <a:rPr lang="en-US" sz="1000" b="1" dirty="0">
                <a:solidFill>
                  <a:srgbClr val="0DA5A0"/>
                </a:solidFill>
                <a:latin typeface="Calibri" pitchFamily="34" charset="0"/>
                <a:ea typeface="Calibri" pitchFamily="34" charset="-122"/>
                <a:cs typeface="Calibri" pitchFamily="34" charset="-120"/>
              </a:rPr>
              <a:t>◆</a:t>
            </a:r>
            <a:endParaRPr lang="en-US" sz="1000" dirty="0"/>
          </a:p>
        </p:txBody>
      </p:sp>
      <p:sp>
        <p:nvSpPr>
          <p:cNvPr id="37" name="Text 34"/>
          <p:cNvSpPr/>
          <p:nvPr/>
        </p:nvSpPr>
        <p:spPr>
          <a:xfrm>
            <a:off x="7479792" y="41605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A real Python geometry kernel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OCCT/CadQuery reads STEP, IGES &amp; STL — genuine CAD engineering</a:t>
            </a:r>
            <a:endParaRPr lang="en-US" sz="960" dirty="0"/>
          </a:p>
        </p:txBody>
      </p:sp>
      <p:sp>
        <p:nvSpPr>
          <p:cNvPr id="38" name="Shape 35"/>
          <p:cNvSpPr/>
          <p:nvPr/>
        </p:nvSpPr>
        <p:spPr>
          <a:xfrm>
            <a:off x="7114032" y="4636008"/>
            <a:ext cx="274320" cy="274320"/>
          </a:xfrm>
          <a:prstGeom prst="ellipse">
            <a:avLst/>
          </a:prstGeom>
          <a:solidFill>
            <a:srgbClr val="EAF1FE"/>
          </a:solidFill>
          <a:ln/>
        </p:spPr>
      </p:sp>
      <p:sp>
        <p:nvSpPr>
          <p:cNvPr id="39" name="Text 36"/>
          <p:cNvSpPr/>
          <p:nvPr/>
        </p:nvSpPr>
        <p:spPr>
          <a:xfrm>
            <a:off x="7114032" y="4626864"/>
            <a:ext cx="274320" cy="274320"/>
          </a:xfrm>
          <a:prstGeom prst="rect">
            <a:avLst/>
          </a:prstGeom>
          <a:noFill/>
          <a:ln/>
        </p:spPr>
        <p:txBody>
          <a:bodyPr wrap="square" lIns="0" tIns="0" rIns="0" bIns="0" rtlCol="0" anchor="ctr"/>
          <a:lstStyle/>
          <a:p>
            <a:pPr algn="ctr" indent="0" marL="0">
              <a:buNone/>
            </a:pPr>
            <a:r>
              <a:rPr lang="en-US" sz="1000" b="1" dirty="0">
                <a:solidFill>
                  <a:srgbClr val="2563EB"/>
                </a:solidFill>
                <a:latin typeface="Calibri" pitchFamily="34" charset="0"/>
                <a:ea typeface="Calibri" pitchFamily="34" charset="-122"/>
                <a:cs typeface="Calibri" pitchFamily="34" charset="-120"/>
              </a:rPr>
              <a:t>◆</a:t>
            </a:r>
            <a:endParaRPr lang="en-US" sz="1000" dirty="0"/>
          </a:p>
        </p:txBody>
      </p:sp>
      <p:sp>
        <p:nvSpPr>
          <p:cNvPr id="40" name="Text 37"/>
          <p:cNvSpPr/>
          <p:nvPr/>
        </p:nvSpPr>
        <p:spPr>
          <a:xfrm>
            <a:off x="7479792" y="46177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Full-stack, end to end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TypeScript backend &amp; UI, Three.js 3D, SQLite, Python — one system</a:t>
            </a:r>
            <a:endParaRPr lang="en-US" sz="960" dirty="0"/>
          </a:p>
        </p:txBody>
      </p:sp>
      <p:sp>
        <p:nvSpPr>
          <p:cNvPr id="41" name="Shape 38"/>
          <p:cNvSpPr/>
          <p:nvPr/>
        </p:nvSpPr>
        <p:spPr>
          <a:xfrm>
            <a:off x="7114032" y="5093208"/>
            <a:ext cx="274320" cy="274320"/>
          </a:xfrm>
          <a:prstGeom prst="ellipse">
            <a:avLst/>
          </a:prstGeom>
          <a:solidFill>
            <a:srgbClr val="E7F7F0"/>
          </a:solidFill>
          <a:ln/>
        </p:spPr>
      </p:sp>
      <p:sp>
        <p:nvSpPr>
          <p:cNvPr id="42" name="Text 39"/>
          <p:cNvSpPr/>
          <p:nvPr/>
        </p:nvSpPr>
        <p:spPr>
          <a:xfrm>
            <a:off x="7114032" y="5084064"/>
            <a:ext cx="274320" cy="274320"/>
          </a:xfrm>
          <a:prstGeom prst="rect">
            <a:avLst/>
          </a:prstGeom>
          <a:noFill/>
          <a:ln/>
        </p:spPr>
        <p:txBody>
          <a:bodyPr wrap="square" lIns="0" tIns="0" rIns="0" bIns="0" rtlCol="0" anchor="ctr"/>
          <a:lstStyle/>
          <a:p>
            <a:pPr algn="ctr" indent="0" marL="0">
              <a:buNone/>
            </a:pPr>
            <a:r>
              <a:rPr lang="en-US" sz="1000" b="1" dirty="0">
                <a:solidFill>
                  <a:srgbClr val="0EA472"/>
                </a:solidFill>
                <a:latin typeface="Calibri" pitchFamily="34" charset="0"/>
                <a:ea typeface="Calibri" pitchFamily="34" charset="-122"/>
                <a:cs typeface="Calibri" pitchFamily="34" charset="-120"/>
              </a:rPr>
              <a:t>◆</a:t>
            </a:r>
            <a:endParaRPr lang="en-US" sz="1000" dirty="0"/>
          </a:p>
        </p:txBody>
      </p:sp>
      <p:sp>
        <p:nvSpPr>
          <p:cNvPr id="43" name="Text 40"/>
          <p:cNvSpPr/>
          <p:nvPr/>
        </p:nvSpPr>
        <p:spPr>
          <a:xfrm>
            <a:off x="7479792" y="5074920"/>
            <a:ext cx="3916375" cy="457200"/>
          </a:xfrm>
          <a:prstGeom prst="rect">
            <a:avLst/>
          </a:prstGeom>
          <a:noFill/>
          <a:ln/>
        </p:spPr>
        <p:txBody>
          <a:bodyPr wrap="square" lIns="0" tIns="0" rIns="0" bIns="0" rtlCol="0" anchor="t"/>
          <a:lstStyle/>
          <a:p>
            <a:pPr indent="0" marL="0">
              <a:lnSpc>
                <a:spcPct val="100000"/>
              </a:lnSpc>
              <a:buNone/>
            </a:pPr>
            <a:r>
              <a:rPr lang="en-US" sz="960" b="1" dirty="0">
                <a:solidFill>
                  <a:srgbClr val="0F1E3D"/>
                </a:solidFill>
                <a:latin typeface="Calibri" pitchFamily="34" charset="0"/>
                <a:ea typeface="Calibri" pitchFamily="34" charset="-122"/>
                <a:cs typeface="Calibri" pitchFamily="34" charset="-120"/>
              </a:rPr>
              <a:t>Quality built in — </a:t>
            </a:r>
            <a:pPr indent="0" marL="0">
              <a:lnSpc>
                <a:spcPct val="100000"/>
              </a:lnSpc>
              <a:buNone/>
            </a:pPr>
            <a:r>
              <a:rPr lang="en-US" sz="960" dirty="0">
                <a:solidFill>
                  <a:srgbClr val="3E4C63"/>
                </a:solidFill>
                <a:latin typeface="Calibri" pitchFamily="34" charset="0"/>
                <a:ea typeface="Calibri" pitchFamily="34" charset="-122"/>
                <a:cs typeface="Calibri" pitchFamily="34" charset="-120"/>
              </a:rPr>
              <a:t>~10,400 lines of tests, 1,005 passing — it does not silently regress</a:t>
            </a:r>
            <a:endParaRPr lang="en-US" sz="960" dirty="0"/>
          </a:p>
        </p:txBody>
      </p:sp>
      <p:sp>
        <p:nvSpPr>
          <p:cNvPr id="44" name="Shape 41"/>
          <p:cNvSpPr/>
          <p:nvPr/>
        </p:nvSpPr>
        <p:spPr>
          <a:xfrm>
            <a:off x="548640" y="5742432"/>
            <a:ext cx="11091672" cy="457200"/>
          </a:xfrm>
          <a:prstGeom prst="roundRect">
            <a:avLst>
              <a:gd name="adj" fmla="val 14000"/>
            </a:avLst>
          </a:prstGeom>
          <a:solidFill>
            <a:srgbClr val="E7F7F0"/>
          </a:solidFill>
          <a:ln w="12700">
            <a:solidFill>
              <a:srgbClr val="E4EAF2"/>
            </a:solidFill>
            <a:prstDash val="solid"/>
          </a:ln>
        </p:spPr>
      </p:sp>
      <p:sp>
        <p:nvSpPr>
          <p:cNvPr id="45" name="Shape 42"/>
          <p:cNvSpPr/>
          <p:nvPr/>
        </p:nvSpPr>
        <p:spPr>
          <a:xfrm>
            <a:off x="548640" y="5742432"/>
            <a:ext cx="82296" cy="457200"/>
          </a:xfrm>
          <a:prstGeom prst="rect">
            <a:avLst/>
          </a:prstGeom>
          <a:solidFill>
            <a:srgbClr val="4F46E5"/>
          </a:solidFill>
          <a:ln/>
        </p:spPr>
      </p:sp>
      <p:sp>
        <p:nvSpPr>
          <p:cNvPr id="46" name="Text 43"/>
          <p:cNvSpPr/>
          <p:nvPr/>
        </p:nvSpPr>
        <p:spPr>
          <a:xfrm>
            <a:off x="914400" y="5742432"/>
            <a:ext cx="10332720" cy="457200"/>
          </a:xfrm>
          <a:prstGeom prst="rect">
            <a:avLst/>
          </a:prstGeom>
          <a:noFill/>
          <a:ln/>
        </p:spPr>
        <p:txBody>
          <a:bodyPr wrap="square" lIns="0" tIns="0" rIns="0" bIns="0" rtlCol="0" anchor="ctr"/>
          <a:lstStyle/>
          <a:p>
            <a:pPr indent="0" marL="0">
              <a:buNone/>
            </a:pPr>
            <a:r>
              <a:rPr lang="en-US" sz="1100" b="1" dirty="0">
                <a:solidFill>
                  <a:srgbClr val="0F1E3D"/>
                </a:solidFill>
                <a:latin typeface="Calibri" pitchFamily="34" charset="0"/>
                <a:ea typeface="Calibri" pitchFamily="34" charset="-122"/>
                <a:cs typeface="Calibri" pitchFamily="34" charset="-120"/>
              </a:rPr>
              <a:t>The point:  </a:t>
            </a:r>
            <a:pPr indent="0" marL="0">
              <a:buNone/>
            </a:pPr>
            <a:r>
              <a:rPr lang="en-US" sz="1100" dirty="0">
                <a:solidFill>
                  <a:srgbClr val="3E4C63"/>
                </a:solidFill>
                <a:latin typeface="Calibri" pitchFamily="34" charset="0"/>
                <a:ea typeface="Calibri" pitchFamily="34" charset="-122"/>
                <a:cs typeface="Calibri" pitchFamily="34" charset="-120"/>
              </a:rPr>
              <a:t>this depth of engineering is exactly why the intelligence is a durable, proprietary company asset — not a subscription that can be switched off.</a:t>
            </a:r>
            <a:endParaRPr lang="en-US" sz="1100" dirty="0"/>
          </a:p>
        </p:txBody>
      </p:sp>
      <p:sp>
        <p:nvSpPr>
          <p:cNvPr id="47" name="Shape 44"/>
          <p:cNvSpPr/>
          <p:nvPr/>
        </p:nvSpPr>
        <p:spPr>
          <a:xfrm>
            <a:off x="548640" y="6400800"/>
            <a:ext cx="11094415" cy="12802"/>
          </a:xfrm>
          <a:prstGeom prst="rect">
            <a:avLst/>
          </a:prstGeom>
          <a:solidFill>
            <a:srgbClr val="E4EAF2"/>
          </a:solidFill>
          <a:ln/>
        </p:spPr>
      </p:sp>
      <p:sp>
        <p:nvSpPr>
          <p:cNvPr id="48" name="Text 4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9" name="Text 4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28 / 33</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2563EB"/>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2563EB"/>
                </a:solidFill>
                <a:latin typeface="Calibri" pitchFamily="34" charset="0"/>
                <a:ea typeface="Calibri" pitchFamily="34" charset="-122"/>
                <a:cs typeface="Calibri" pitchFamily="34" charset="-120"/>
              </a:rPr>
              <a:t>VALUE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What this means for the business</a:t>
            </a:r>
            <a:endParaRPr lang="en-US" sz="2400" dirty="0"/>
          </a:p>
        </p:txBody>
      </p:sp>
      <p:sp>
        <p:nvSpPr>
          <p:cNvPr id="9" name="Shape 7"/>
          <p:cNvSpPr/>
          <p:nvPr/>
        </p:nvSpPr>
        <p:spPr>
          <a:xfrm>
            <a:off x="548640" y="1371600"/>
            <a:ext cx="1051560" cy="45720"/>
          </a:xfrm>
          <a:prstGeom prst="rect">
            <a:avLst/>
          </a:prstGeom>
          <a:solidFill>
            <a:srgbClr val="2563EB"/>
          </a:solidFill>
          <a:ln/>
        </p:spPr>
      </p:sp>
      <p:sp>
        <p:nvSpPr>
          <p:cNvPr id="10" name="Shape 8"/>
          <p:cNvSpPr/>
          <p:nvPr/>
        </p:nvSpPr>
        <p:spPr>
          <a:xfrm>
            <a:off x="54864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1" name="Shape 9"/>
          <p:cNvSpPr/>
          <p:nvPr/>
        </p:nvSpPr>
        <p:spPr>
          <a:xfrm>
            <a:off x="548640" y="1691640"/>
            <a:ext cx="82296" cy="1783080"/>
          </a:xfrm>
          <a:prstGeom prst="rect">
            <a:avLst/>
          </a:prstGeom>
          <a:solidFill>
            <a:srgbClr val="2563EB"/>
          </a:solidFill>
          <a:ln/>
        </p:spPr>
      </p:sp>
      <p:sp>
        <p:nvSpPr>
          <p:cNvPr id="12" name="Shape 10"/>
          <p:cNvSpPr/>
          <p:nvPr/>
        </p:nvSpPr>
        <p:spPr>
          <a:xfrm>
            <a:off x="822960" y="1965960"/>
            <a:ext cx="548640" cy="548640"/>
          </a:xfrm>
          <a:prstGeom prst="ellipse">
            <a:avLst/>
          </a:prstGeom>
          <a:solidFill>
            <a:srgbClr val="EAF1FE"/>
          </a:solidFill>
          <a:ln/>
        </p:spPr>
      </p:sp>
      <p:sp>
        <p:nvSpPr>
          <p:cNvPr id="13" name="Text 11"/>
          <p:cNvSpPr/>
          <p:nvPr/>
        </p:nvSpPr>
        <p:spPr>
          <a:xfrm>
            <a:off x="822960" y="1956816"/>
            <a:ext cx="548640" cy="548640"/>
          </a:xfrm>
          <a:prstGeom prst="rect">
            <a:avLst/>
          </a:prstGeom>
          <a:noFill/>
          <a:ln/>
        </p:spPr>
        <p:txBody>
          <a:bodyPr wrap="square" lIns="0" tIns="0" rIns="0" bIns="0" rtlCol="0" anchor="ctr"/>
          <a:lstStyle/>
          <a:p>
            <a:pPr algn="ctr" indent="0" marL="0">
              <a:buNone/>
            </a:pPr>
            <a:r>
              <a:rPr lang="en-US" sz="2000" b="1" dirty="0">
                <a:solidFill>
                  <a:srgbClr val="2563EB"/>
                </a:solidFill>
                <a:latin typeface="Calibri" pitchFamily="34" charset="0"/>
                <a:ea typeface="Calibri" pitchFamily="34" charset="-122"/>
                <a:cs typeface="Calibri" pitchFamily="34" charset="-120"/>
              </a:rPr>
              <a:t>⚡</a:t>
            </a:r>
            <a:endParaRPr lang="en-US" sz="2000" dirty="0"/>
          </a:p>
        </p:txBody>
      </p:sp>
      <p:sp>
        <p:nvSpPr>
          <p:cNvPr id="14" name="Text 12"/>
          <p:cNvSpPr/>
          <p:nvPr/>
        </p:nvSpPr>
        <p:spPr>
          <a:xfrm>
            <a:off x="1517904" y="2002536"/>
            <a:ext cx="4297680" cy="365760"/>
          </a:xfrm>
          <a:prstGeom prst="rect">
            <a:avLst/>
          </a:prstGeom>
          <a:noFill/>
          <a:ln/>
        </p:spPr>
        <p:txBody>
          <a:bodyPr wrap="square" lIns="0" tIns="0" rIns="0" bIns="0" rtlCol="0" anchor="ctr"/>
          <a:lstStyle/>
          <a:p>
            <a:pPr indent="0" marL="0">
              <a:buNone/>
            </a:pPr>
            <a:r>
              <a:rPr lang="en-US" sz="1550" b="1" dirty="0">
                <a:solidFill>
                  <a:srgbClr val="2563EB"/>
                </a:solidFill>
                <a:latin typeface="Calibri" pitchFamily="34" charset="0"/>
                <a:ea typeface="Calibri" pitchFamily="34" charset="-122"/>
                <a:cs typeface="Calibri" pitchFamily="34" charset="-120"/>
              </a:rPr>
              <a:t>Speed</a:t>
            </a:r>
            <a:endParaRPr lang="en-US" sz="1550" dirty="0"/>
          </a:p>
        </p:txBody>
      </p:sp>
      <p:sp>
        <p:nvSpPr>
          <p:cNvPr id="15" name="Text 13"/>
          <p:cNvSpPr/>
          <p:nvPr/>
        </p:nvSpPr>
        <p:spPr>
          <a:xfrm>
            <a:off x="84124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Weeks of RFQ cycle collapse to minutes — the first defensible number arrives while the meeting is still happening.</a:t>
            </a:r>
            <a:endParaRPr lang="en-US" sz="1150" dirty="0"/>
          </a:p>
        </p:txBody>
      </p:sp>
      <p:sp>
        <p:nvSpPr>
          <p:cNvPr id="16" name="Shape 14"/>
          <p:cNvSpPr/>
          <p:nvPr/>
        </p:nvSpPr>
        <p:spPr>
          <a:xfrm>
            <a:off x="6217920" y="169164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7" name="Shape 15"/>
          <p:cNvSpPr/>
          <p:nvPr/>
        </p:nvSpPr>
        <p:spPr>
          <a:xfrm>
            <a:off x="6217920" y="1691640"/>
            <a:ext cx="82296" cy="1783080"/>
          </a:xfrm>
          <a:prstGeom prst="rect">
            <a:avLst/>
          </a:prstGeom>
          <a:solidFill>
            <a:srgbClr val="0EA472"/>
          </a:solidFill>
          <a:ln/>
        </p:spPr>
      </p:sp>
      <p:sp>
        <p:nvSpPr>
          <p:cNvPr id="18" name="Shape 16"/>
          <p:cNvSpPr/>
          <p:nvPr/>
        </p:nvSpPr>
        <p:spPr>
          <a:xfrm>
            <a:off x="6492240" y="1965960"/>
            <a:ext cx="548640" cy="548640"/>
          </a:xfrm>
          <a:prstGeom prst="ellipse">
            <a:avLst/>
          </a:prstGeom>
          <a:solidFill>
            <a:srgbClr val="E7F7F0"/>
          </a:solidFill>
          <a:ln/>
        </p:spPr>
      </p:sp>
      <p:sp>
        <p:nvSpPr>
          <p:cNvPr id="19" name="Text 17"/>
          <p:cNvSpPr/>
          <p:nvPr/>
        </p:nvSpPr>
        <p:spPr>
          <a:xfrm>
            <a:off x="6492240" y="1956816"/>
            <a:ext cx="548640" cy="548640"/>
          </a:xfrm>
          <a:prstGeom prst="rect">
            <a:avLst/>
          </a:prstGeom>
          <a:noFill/>
          <a:ln/>
        </p:spPr>
        <p:txBody>
          <a:bodyPr wrap="square" lIns="0" tIns="0" rIns="0" bIns="0" rtlCol="0" anchor="ctr"/>
          <a:lstStyle/>
          <a:p>
            <a:pPr algn="ctr" indent="0" marL="0">
              <a:buNone/>
            </a:pPr>
            <a:r>
              <a:rPr lang="en-US" sz="2000" b="1" dirty="0">
                <a:solidFill>
                  <a:srgbClr val="0EA472"/>
                </a:solidFill>
                <a:latin typeface="Calibri" pitchFamily="34" charset="0"/>
                <a:ea typeface="Calibri" pitchFamily="34" charset="-122"/>
                <a:cs typeface="Calibri" pitchFamily="34" charset="-120"/>
              </a:rPr>
              <a:t>£</a:t>
            </a:r>
            <a:endParaRPr lang="en-US" sz="2000" dirty="0"/>
          </a:p>
        </p:txBody>
      </p:sp>
      <p:sp>
        <p:nvSpPr>
          <p:cNvPr id="20" name="Text 18"/>
          <p:cNvSpPr/>
          <p:nvPr/>
        </p:nvSpPr>
        <p:spPr>
          <a:xfrm>
            <a:off x="7187184" y="2002536"/>
            <a:ext cx="4297680" cy="365760"/>
          </a:xfrm>
          <a:prstGeom prst="rect">
            <a:avLst/>
          </a:prstGeom>
          <a:noFill/>
          <a:ln/>
        </p:spPr>
        <p:txBody>
          <a:bodyPr wrap="square" lIns="0" tIns="0" rIns="0" bIns="0" rtlCol="0" anchor="ctr"/>
          <a:lstStyle/>
          <a:p>
            <a:pPr indent="0" marL="0">
              <a:buNone/>
            </a:pPr>
            <a:r>
              <a:rPr lang="en-US" sz="1550" b="1" dirty="0">
                <a:solidFill>
                  <a:srgbClr val="0EA472"/>
                </a:solidFill>
                <a:latin typeface="Calibri" pitchFamily="34" charset="0"/>
                <a:ea typeface="Calibri" pitchFamily="34" charset="-122"/>
                <a:cs typeface="Calibri" pitchFamily="34" charset="-120"/>
              </a:rPr>
              <a:t>Margin recovery</a:t>
            </a:r>
            <a:endParaRPr lang="en-US" sz="1550" dirty="0"/>
          </a:p>
        </p:txBody>
      </p:sp>
      <p:sp>
        <p:nvSpPr>
          <p:cNvPr id="21" name="Text 19"/>
          <p:cNvSpPr/>
          <p:nvPr/>
        </p:nvSpPr>
        <p:spPr>
          <a:xfrm>
            <a:off x="6510528" y="260604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Line-level should-cost lets us challenge every quote by driver — the agent alone surfaced ~£512k/yr in a demo.</a:t>
            </a:r>
            <a:endParaRPr lang="en-US" sz="1150" dirty="0"/>
          </a:p>
        </p:txBody>
      </p:sp>
      <p:sp>
        <p:nvSpPr>
          <p:cNvPr id="22" name="Shape 20"/>
          <p:cNvSpPr/>
          <p:nvPr/>
        </p:nvSpPr>
        <p:spPr>
          <a:xfrm>
            <a:off x="54864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3" name="Shape 21"/>
          <p:cNvSpPr/>
          <p:nvPr/>
        </p:nvSpPr>
        <p:spPr>
          <a:xfrm>
            <a:off x="548640" y="3657600"/>
            <a:ext cx="82296" cy="1783080"/>
          </a:xfrm>
          <a:prstGeom prst="rect">
            <a:avLst/>
          </a:prstGeom>
          <a:solidFill>
            <a:srgbClr val="7C3AED"/>
          </a:solidFill>
          <a:ln/>
        </p:spPr>
      </p:sp>
      <p:sp>
        <p:nvSpPr>
          <p:cNvPr id="24" name="Shape 22"/>
          <p:cNvSpPr/>
          <p:nvPr/>
        </p:nvSpPr>
        <p:spPr>
          <a:xfrm>
            <a:off x="822960" y="3931920"/>
            <a:ext cx="548640" cy="548640"/>
          </a:xfrm>
          <a:prstGeom prst="ellipse">
            <a:avLst/>
          </a:prstGeom>
          <a:solidFill>
            <a:srgbClr val="F3EEFE"/>
          </a:solidFill>
          <a:ln/>
        </p:spPr>
      </p:sp>
      <p:sp>
        <p:nvSpPr>
          <p:cNvPr id="25" name="Text 23"/>
          <p:cNvSpPr/>
          <p:nvPr/>
        </p:nvSpPr>
        <p:spPr>
          <a:xfrm>
            <a:off x="822960" y="3922776"/>
            <a:ext cx="548640" cy="548640"/>
          </a:xfrm>
          <a:prstGeom prst="rect">
            <a:avLst/>
          </a:prstGeom>
          <a:noFill/>
          <a:ln/>
        </p:spPr>
        <p:txBody>
          <a:bodyPr wrap="square" lIns="0" tIns="0" rIns="0" bIns="0" rtlCol="0" anchor="ctr"/>
          <a:lstStyle/>
          <a:p>
            <a:pPr algn="ctr" indent="0" marL="0">
              <a:buNone/>
            </a:pPr>
            <a:r>
              <a:rPr lang="en-US" sz="2000" b="1" dirty="0">
                <a:solidFill>
                  <a:srgbClr val="7C3AED"/>
                </a:solidFill>
                <a:latin typeface="Calibri" pitchFamily="34" charset="0"/>
                <a:ea typeface="Calibri" pitchFamily="34" charset="-122"/>
                <a:cs typeface="Calibri" pitchFamily="34" charset="-120"/>
              </a:rPr>
              <a:t>◎</a:t>
            </a:r>
            <a:endParaRPr lang="en-US" sz="2000" dirty="0"/>
          </a:p>
        </p:txBody>
      </p:sp>
      <p:sp>
        <p:nvSpPr>
          <p:cNvPr id="26" name="Text 24"/>
          <p:cNvSpPr/>
          <p:nvPr/>
        </p:nvSpPr>
        <p:spPr>
          <a:xfrm>
            <a:off x="1517904" y="3968496"/>
            <a:ext cx="4297680" cy="365760"/>
          </a:xfrm>
          <a:prstGeom prst="rect">
            <a:avLst/>
          </a:prstGeom>
          <a:noFill/>
          <a:ln/>
        </p:spPr>
        <p:txBody>
          <a:bodyPr wrap="square" lIns="0" tIns="0" rIns="0" bIns="0" rtlCol="0" anchor="ctr"/>
          <a:lstStyle/>
          <a:p>
            <a:pPr indent="0" marL="0">
              <a:buNone/>
            </a:pPr>
            <a:r>
              <a:rPr lang="en-US" sz="1550" b="1" dirty="0">
                <a:solidFill>
                  <a:srgbClr val="7C3AED"/>
                </a:solidFill>
                <a:latin typeface="Calibri" pitchFamily="34" charset="0"/>
                <a:ea typeface="Calibri" pitchFamily="34" charset="-122"/>
                <a:cs typeface="Calibri" pitchFamily="34" charset="-120"/>
              </a:rPr>
              <a:t>Consistency &amp; speed-to-competence</a:t>
            </a:r>
            <a:endParaRPr lang="en-US" sz="1550" dirty="0"/>
          </a:p>
        </p:txBody>
      </p:sp>
      <p:sp>
        <p:nvSpPr>
          <p:cNvPr id="27" name="Text 25"/>
          <p:cNvSpPr/>
          <p:nvPr/>
        </p:nvSpPr>
        <p:spPr>
          <a:xfrm>
            <a:off x="84124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One consistent answer for everyone; juniors cost like seniors from day one.</a:t>
            </a:r>
            <a:endParaRPr lang="en-US" sz="1150" dirty="0"/>
          </a:p>
        </p:txBody>
      </p:sp>
      <p:sp>
        <p:nvSpPr>
          <p:cNvPr id="28" name="Shape 26"/>
          <p:cNvSpPr/>
          <p:nvPr/>
        </p:nvSpPr>
        <p:spPr>
          <a:xfrm>
            <a:off x="6217920" y="3657600"/>
            <a:ext cx="5422392" cy="1783080"/>
          </a:xfrm>
          <a:prstGeom prst="roundRect">
            <a:avLst>
              <a:gd name="adj" fmla="val 35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9" name="Shape 27"/>
          <p:cNvSpPr/>
          <p:nvPr/>
        </p:nvSpPr>
        <p:spPr>
          <a:xfrm>
            <a:off x="6217920" y="3657600"/>
            <a:ext cx="82296" cy="1783080"/>
          </a:xfrm>
          <a:prstGeom prst="rect">
            <a:avLst/>
          </a:prstGeom>
          <a:solidFill>
            <a:srgbClr val="E0900C"/>
          </a:solidFill>
          <a:ln/>
        </p:spPr>
      </p:sp>
      <p:sp>
        <p:nvSpPr>
          <p:cNvPr id="30" name="Shape 28"/>
          <p:cNvSpPr/>
          <p:nvPr/>
        </p:nvSpPr>
        <p:spPr>
          <a:xfrm>
            <a:off x="6492240" y="3931920"/>
            <a:ext cx="548640" cy="548640"/>
          </a:xfrm>
          <a:prstGeom prst="ellipse">
            <a:avLst/>
          </a:prstGeom>
          <a:solidFill>
            <a:srgbClr val="FEF6E7"/>
          </a:solidFill>
          <a:ln/>
        </p:spPr>
      </p:sp>
      <p:sp>
        <p:nvSpPr>
          <p:cNvPr id="31" name="Text 29"/>
          <p:cNvSpPr/>
          <p:nvPr/>
        </p:nvSpPr>
        <p:spPr>
          <a:xfrm>
            <a:off x="6492240" y="3922776"/>
            <a:ext cx="548640" cy="548640"/>
          </a:xfrm>
          <a:prstGeom prst="rect">
            <a:avLst/>
          </a:prstGeom>
          <a:noFill/>
          <a:ln/>
        </p:spPr>
        <p:txBody>
          <a:bodyPr wrap="square" lIns="0" tIns="0" rIns="0" bIns="0" rtlCol="0" anchor="ctr"/>
          <a:lstStyle/>
          <a:p>
            <a:pPr algn="ctr" indent="0" marL="0">
              <a:buNone/>
            </a:pPr>
            <a:r>
              <a:rPr lang="en-US" sz="2000" b="1" dirty="0">
                <a:solidFill>
                  <a:srgbClr val="E0900C"/>
                </a:solidFill>
                <a:latin typeface="Calibri" pitchFamily="34" charset="0"/>
                <a:ea typeface="Calibri" pitchFamily="34" charset="-122"/>
                <a:cs typeface="Calibri" pitchFamily="34" charset="-120"/>
              </a:rPr>
              <a:t>🏦</a:t>
            </a:r>
            <a:endParaRPr lang="en-US" sz="2000" dirty="0"/>
          </a:p>
        </p:txBody>
      </p:sp>
      <p:sp>
        <p:nvSpPr>
          <p:cNvPr id="32" name="Text 30"/>
          <p:cNvSpPr/>
          <p:nvPr/>
        </p:nvSpPr>
        <p:spPr>
          <a:xfrm>
            <a:off x="7187184" y="3968496"/>
            <a:ext cx="4297680" cy="365760"/>
          </a:xfrm>
          <a:prstGeom prst="rect">
            <a:avLst/>
          </a:prstGeom>
          <a:noFill/>
          <a:ln/>
        </p:spPr>
        <p:txBody>
          <a:bodyPr wrap="square" lIns="0" tIns="0" rIns="0" bIns="0" rtlCol="0" anchor="ctr"/>
          <a:lstStyle/>
          <a:p>
            <a:pPr indent="0" marL="0">
              <a:buNone/>
            </a:pPr>
            <a:r>
              <a:rPr lang="en-US" sz="1550" b="1" dirty="0">
                <a:solidFill>
                  <a:srgbClr val="E0900C"/>
                </a:solidFill>
                <a:latin typeface="Calibri" pitchFamily="34" charset="0"/>
                <a:ea typeface="Calibri" pitchFamily="34" charset="-122"/>
                <a:cs typeface="Calibri" pitchFamily="34" charset="-120"/>
              </a:rPr>
              <a:t>A compounding asset</a:t>
            </a:r>
            <a:endParaRPr lang="en-US" sz="1550" dirty="0"/>
          </a:p>
        </p:txBody>
      </p:sp>
      <p:sp>
        <p:nvSpPr>
          <p:cNvPr id="33" name="Text 31"/>
          <p:cNvSpPr/>
          <p:nvPr/>
        </p:nvSpPr>
        <p:spPr>
          <a:xfrm>
            <a:off x="6510528" y="4572000"/>
            <a:ext cx="5029200" cy="777240"/>
          </a:xfrm>
          <a:prstGeom prst="rect">
            <a:avLst/>
          </a:prstGeom>
          <a:noFill/>
          <a:ln/>
        </p:spPr>
        <p:txBody>
          <a:bodyPr wrap="square" lIns="0" tIns="0" rIns="0" bIns="0" rtlCol="0" anchor="t"/>
          <a:lstStyle/>
          <a:p>
            <a:pPr indent="0" marL="0">
              <a:lnSpc>
                <a:spcPct val="116000"/>
              </a:lnSpc>
              <a:buNone/>
            </a:pPr>
            <a:r>
              <a:rPr lang="en-US" sz="1150" dirty="0">
                <a:solidFill>
                  <a:srgbClr val="3E4C63"/>
                </a:solidFill>
                <a:latin typeface="Calibri" pitchFamily="34" charset="0"/>
                <a:ea typeface="Calibri" pitchFamily="34" charset="-122"/>
                <a:cs typeface="Calibri" pitchFamily="34" charset="-120"/>
              </a:rPr>
              <a:t>Costing knowledge becomes proprietary data on our own servers — it grows, and competitors cannot buy it.</a:t>
            </a:r>
            <a:endParaRPr lang="en-US" sz="1150" dirty="0"/>
          </a:p>
        </p:txBody>
      </p:sp>
      <p:sp>
        <p:nvSpPr>
          <p:cNvPr id="34" name="Shape 32"/>
          <p:cNvSpPr/>
          <p:nvPr/>
        </p:nvSpPr>
        <p:spPr>
          <a:xfrm>
            <a:off x="548640" y="5669280"/>
            <a:ext cx="11091672" cy="457200"/>
          </a:xfrm>
          <a:prstGeom prst="roundRect">
            <a:avLst>
              <a:gd name="adj" fmla="val 14000"/>
            </a:avLst>
          </a:prstGeom>
          <a:solidFill>
            <a:srgbClr val="EAF1FE"/>
          </a:solidFill>
          <a:ln w="12700">
            <a:solidFill>
              <a:srgbClr val="E4EAF2"/>
            </a:solidFill>
            <a:prstDash val="solid"/>
          </a:ln>
        </p:spPr>
      </p:sp>
      <p:sp>
        <p:nvSpPr>
          <p:cNvPr id="35" name="Text 33"/>
          <p:cNvSpPr/>
          <p:nvPr/>
        </p:nvSpPr>
        <p:spPr>
          <a:xfrm>
            <a:off x="914400" y="5669280"/>
            <a:ext cx="10332720" cy="457200"/>
          </a:xfrm>
          <a:prstGeom prst="rect">
            <a:avLst/>
          </a:prstGeom>
          <a:noFill/>
          <a:ln/>
        </p:spPr>
        <p:txBody>
          <a:bodyPr wrap="square" lIns="0" tIns="0" rIns="0" bIns="0" rtlCol="0" anchor="ctr"/>
          <a:lstStyle/>
          <a:p>
            <a:pPr indent="0" marL="0">
              <a:buNone/>
            </a:pPr>
            <a:r>
              <a:rPr lang="en-US" sz="1200" b="1" dirty="0">
                <a:solidFill>
                  <a:srgbClr val="0F1E3D"/>
                </a:solidFill>
                <a:latin typeface="Calibri" pitchFamily="34" charset="0"/>
                <a:ea typeface="Calibri" pitchFamily="34" charset="-122"/>
                <a:cs typeface="Calibri" pitchFamily="34" charset="-120"/>
              </a:rPr>
              <a:t>Net:  </a:t>
            </a:r>
            <a:pPr indent="0" marL="0">
              <a:buNone/>
            </a:pPr>
            <a:r>
              <a:rPr lang="en-US" sz="1200" dirty="0">
                <a:solidFill>
                  <a:srgbClr val="3E4C63"/>
                </a:solidFill>
                <a:latin typeface="Calibri" pitchFamily="34" charset="0"/>
                <a:ea typeface="Calibri" pitchFamily="34" charset="-122"/>
                <a:cs typeface="Calibri" pitchFamily="34" charset="-120"/>
              </a:rPr>
              <a:t>faster quotes, better margins, consistent numbers, and an intelligence asset that appreciates with every use — at zero extra licence cost, on our own infrastructure.</a:t>
            </a:r>
            <a:endParaRPr lang="en-US" sz="1200" dirty="0"/>
          </a:p>
        </p:txBody>
      </p:sp>
      <p:sp>
        <p:nvSpPr>
          <p:cNvPr id="36" name="Shape 34"/>
          <p:cNvSpPr/>
          <p:nvPr/>
        </p:nvSpPr>
        <p:spPr>
          <a:xfrm>
            <a:off x="548640" y="6400800"/>
            <a:ext cx="11094415" cy="12802"/>
          </a:xfrm>
          <a:prstGeom prst="rect">
            <a:avLst/>
          </a:prstGeom>
          <a:solidFill>
            <a:srgbClr val="E4EAF2"/>
          </a:solidFill>
          <a:ln/>
        </p:spPr>
      </p:sp>
      <p:sp>
        <p:nvSpPr>
          <p:cNvPr id="37" name="Text 3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38" name="Text 3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14 / 15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DA5A0"/>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DA5A0"/>
                </a:solidFill>
                <a:latin typeface="Calibri" pitchFamily="34" charset="0"/>
                <a:ea typeface="Calibri" pitchFamily="34" charset="-122"/>
                <a:cs typeface="Calibri" pitchFamily="34" charset="-120"/>
              </a:rPr>
              <a:t>ROADMAP</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Way forward — the implementation blueprint</a:t>
            </a:r>
            <a:endParaRPr lang="en-US" sz="2400" dirty="0"/>
          </a:p>
        </p:txBody>
      </p:sp>
      <p:sp>
        <p:nvSpPr>
          <p:cNvPr id="9" name="Shape 7"/>
          <p:cNvSpPr/>
          <p:nvPr/>
        </p:nvSpPr>
        <p:spPr>
          <a:xfrm>
            <a:off x="548640" y="1371600"/>
            <a:ext cx="1051560" cy="45720"/>
          </a:xfrm>
          <a:prstGeom prst="rect">
            <a:avLst/>
          </a:prstGeom>
          <a:solidFill>
            <a:srgbClr val="0DA5A0"/>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low-risk, staged rollout — prove it on a pilot, scale to the team, then embed it in how we quote and negotiate.</a:t>
            </a:r>
            <a:endParaRPr lang="en-US" sz="1250" dirty="0"/>
          </a:p>
        </p:txBody>
      </p:sp>
      <p:sp>
        <p:nvSpPr>
          <p:cNvPr id="11" name="Shape 9"/>
          <p:cNvSpPr/>
          <p:nvPr/>
        </p:nvSpPr>
        <p:spPr>
          <a:xfrm>
            <a:off x="548640"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2103120"/>
            <a:ext cx="82296" cy="3063240"/>
          </a:xfrm>
          <a:prstGeom prst="rect">
            <a:avLst/>
          </a:prstGeom>
          <a:solidFill>
            <a:srgbClr val="2563EB"/>
          </a:solidFill>
          <a:ln/>
        </p:spPr>
      </p:sp>
      <p:sp>
        <p:nvSpPr>
          <p:cNvPr id="13" name="Text 11"/>
          <p:cNvSpPr/>
          <p:nvPr/>
        </p:nvSpPr>
        <p:spPr>
          <a:xfrm>
            <a:off x="804672" y="2322576"/>
            <a:ext cx="3063240" cy="365760"/>
          </a:xfrm>
          <a:prstGeom prst="rect">
            <a:avLst/>
          </a:prstGeom>
          <a:noFill/>
          <a:ln/>
        </p:spPr>
        <p:txBody>
          <a:bodyPr wrap="square" lIns="0" tIns="0" rIns="0" bIns="0" rtlCol="0" anchor="t"/>
          <a:lstStyle/>
          <a:p>
            <a:pPr indent="0" marL="0">
              <a:buNone/>
            </a:pPr>
            <a:r>
              <a:rPr lang="en-US" sz="1450" b="1" dirty="0">
                <a:solidFill>
                  <a:srgbClr val="2563EB"/>
                </a:solidFill>
                <a:latin typeface="Calibri" pitchFamily="34" charset="0"/>
                <a:ea typeface="Calibri" pitchFamily="34" charset="-122"/>
                <a:cs typeface="Calibri" pitchFamily="34" charset="-120"/>
              </a:rPr>
              <a:t>Phase 1 — Pilot</a:t>
            </a:r>
            <a:endParaRPr lang="en-US" sz="1450" dirty="0"/>
          </a:p>
        </p:txBody>
      </p:sp>
      <p:sp>
        <p:nvSpPr>
          <p:cNvPr id="14" name="Shape 12"/>
          <p:cNvSpPr/>
          <p:nvPr/>
        </p:nvSpPr>
        <p:spPr>
          <a:xfrm>
            <a:off x="804672" y="2761488"/>
            <a:ext cx="1463040" cy="310896"/>
          </a:xfrm>
          <a:prstGeom prst="roundRect">
            <a:avLst>
              <a:gd name="adj" fmla="val 47059"/>
            </a:avLst>
          </a:prstGeom>
          <a:solidFill>
            <a:srgbClr val="EAF1FE"/>
          </a:solidFill>
          <a:ln/>
        </p:spPr>
      </p:sp>
      <p:sp>
        <p:nvSpPr>
          <p:cNvPr id="15" name="Text 13"/>
          <p:cNvSpPr/>
          <p:nvPr/>
        </p:nvSpPr>
        <p:spPr>
          <a:xfrm>
            <a:off x="804672" y="2761488"/>
            <a:ext cx="1463040" cy="310896"/>
          </a:xfrm>
          <a:prstGeom prst="rect">
            <a:avLst/>
          </a:prstGeom>
          <a:noFill/>
          <a:ln/>
        </p:spPr>
        <p:txBody>
          <a:bodyPr wrap="square" lIns="0" tIns="0" rIns="0" bIns="0" rtlCol="0" anchor="ctr"/>
          <a:lstStyle/>
          <a:p>
            <a:pPr algn="ctr" indent="0" marL="0">
              <a:buNone/>
            </a:pPr>
            <a:r>
              <a:rPr lang="en-US" sz="950" b="1" dirty="0">
                <a:solidFill>
                  <a:srgbClr val="2563EB"/>
                </a:solidFill>
                <a:latin typeface="Calibri" pitchFamily="34" charset="0"/>
                <a:ea typeface="Calibri" pitchFamily="34" charset="-122"/>
                <a:cs typeface="Calibri" pitchFamily="34" charset="-120"/>
              </a:rPr>
              <a:t>Weeks 0–6</a:t>
            </a:r>
            <a:endParaRPr lang="en-US" sz="950" dirty="0"/>
          </a:p>
        </p:txBody>
      </p:sp>
      <p:sp>
        <p:nvSpPr>
          <p:cNvPr id="16" name="Shape 14"/>
          <p:cNvSpPr/>
          <p:nvPr/>
        </p:nvSpPr>
        <p:spPr>
          <a:xfrm>
            <a:off x="822960" y="3291840"/>
            <a:ext cx="256032" cy="256032"/>
          </a:xfrm>
          <a:prstGeom prst="ellipse">
            <a:avLst/>
          </a:prstGeom>
          <a:solidFill>
            <a:srgbClr val="EAF1FE"/>
          </a:solidFill>
          <a:ln/>
        </p:spPr>
      </p:sp>
      <p:sp>
        <p:nvSpPr>
          <p:cNvPr id="17" name="Text 15"/>
          <p:cNvSpPr/>
          <p:nvPr/>
        </p:nvSpPr>
        <p:spPr>
          <a:xfrm>
            <a:off x="822960" y="32826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18" name="Text 16"/>
          <p:cNvSpPr/>
          <p:nvPr/>
        </p:nvSpPr>
        <p:spPr>
          <a:xfrm>
            <a:off x="1170432"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Stand up on-premise</a:t>
            </a:r>
            <a:endParaRPr lang="en-US" sz="1030" dirty="0"/>
          </a:p>
        </p:txBody>
      </p:sp>
      <p:sp>
        <p:nvSpPr>
          <p:cNvPr id="19" name="Shape 17"/>
          <p:cNvSpPr/>
          <p:nvPr/>
        </p:nvSpPr>
        <p:spPr>
          <a:xfrm>
            <a:off x="822960" y="3749040"/>
            <a:ext cx="256032" cy="256032"/>
          </a:xfrm>
          <a:prstGeom prst="ellipse">
            <a:avLst/>
          </a:prstGeom>
          <a:solidFill>
            <a:srgbClr val="EAF1FE"/>
          </a:solidFill>
          <a:ln/>
        </p:spPr>
      </p:sp>
      <p:sp>
        <p:nvSpPr>
          <p:cNvPr id="20" name="Text 18"/>
          <p:cNvSpPr/>
          <p:nvPr/>
        </p:nvSpPr>
        <p:spPr>
          <a:xfrm>
            <a:off x="822960" y="37398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1" name="Text 19"/>
          <p:cNvSpPr/>
          <p:nvPr/>
        </p:nvSpPr>
        <p:spPr>
          <a:xfrm>
            <a:off x="1170432"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Seed memory with historic quotes</a:t>
            </a:r>
            <a:endParaRPr lang="en-US" sz="1030" dirty="0"/>
          </a:p>
        </p:txBody>
      </p:sp>
      <p:sp>
        <p:nvSpPr>
          <p:cNvPr id="22" name="Shape 20"/>
          <p:cNvSpPr/>
          <p:nvPr/>
        </p:nvSpPr>
        <p:spPr>
          <a:xfrm>
            <a:off x="822960" y="4206240"/>
            <a:ext cx="256032" cy="256032"/>
          </a:xfrm>
          <a:prstGeom prst="ellipse">
            <a:avLst/>
          </a:prstGeom>
          <a:solidFill>
            <a:srgbClr val="EAF1FE"/>
          </a:solidFill>
          <a:ln/>
        </p:spPr>
      </p:sp>
      <p:sp>
        <p:nvSpPr>
          <p:cNvPr id="23" name="Text 21"/>
          <p:cNvSpPr/>
          <p:nvPr/>
        </p:nvSpPr>
        <p:spPr>
          <a:xfrm>
            <a:off x="822960" y="41970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4" name="Text 22"/>
          <p:cNvSpPr/>
          <p:nvPr/>
        </p:nvSpPr>
        <p:spPr>
          <a:xfrm>
            <a:off x="1170432"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Cost 20–30 live parts</a:t>
            </a:r>
            <a:endParaRPr lang="en-US" sz="1030" dirty="0"/>
          </a:p>
        </p:txBody>
      </p:sp>
      <p:sp>
        <p:nvSpPr>
          <p:cNvPr id="25" name="Shape 23"/>
          <p:cNvSpPr/>
          <p:nvPr/>
        </p:nvSpPr>
        <p:spPr>
          <a:xfrm>
            <a:off x="822960" y="4663440"/>
            <a:ext cx="256032" cy="256032"/>
          </a:xfrm>
          <a:prstGeom prst="ellipse">
            <a:avLst/>
          </a:prstGeom>
          <a:solidFill>
            <a:srgbClr val="EAF1FE"/>
          </a:solidFill>
          <a:ln/>
        </p:spPr>
      </p:sp>
      <p:sp>
        <p:nvSpPr>
          <p:cNvPr id="26" name="Text 24"/>
          <p:cNvSpPr/>
          <p:nvPr/>
        </p:nvSpPr>
        <p:spPr>
          <a:xfrm>
            <a:off x="822960" y="4654296"/>
            <a:ext cx="256032" cy="256032"/>
          </a:xfrm>
          <a:prstGeom prst="rect">
            <a:avLst/>
          </a:prstGeom>
          <a:noFill/>
          <a:ln/>
        </p:spPr>
        <p:txBody>
          <a:bodyPr wrap="square" lIns="0" tIns="0" rIns="0" bIns="0" rtlCol="0" anchor="ctr"/>
          <a:lstStyle/>
          <a:p>
            <a:pPr algn="ctr" indent="0" marL="0">
              <a:buNone/>
            </a:pPr>
            <a:r>
              <a:rPr lang="en-US" sz="900" b="1" dirty="0">
                <a:solidFill>
                  <a:srgbClr val="2563EB"/>
                </a:solidFill>
                <a:latin typeface="Calibri" pitchFamily="34" charset="0"/>
                <a:ea typeface="Calibri" pitchFamily="34" charset="-122"/>
                <a:cs typeface="Calibri" pitchFamily="34" charset="-120"/>
              </a:rPr>
              <a:t>✓</a:t>
            </a:r>
            <a:endParaRPr lang="en-US" sz="900" dirty="0"/>
          </a:p>
        </p:txBody>
      </p:sp>
      <p:sp>
        <p:nvSpPr>
          <p:cNvPr id="27" name="Text 25"/>
          <p:cNvSpPr/>
          <p:nvPr/>
        </p:nvSpPr>
        <p:spPr>
          <a:xfrm>
            <a:off x="1170432"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Baseline accuracy vs actuals</a:t>
            </a:r>
            <a:endParaRPr lang="en-US" sz="1030" dirty="0"/>
          </a:p>
        </p:txBody>
      </p:sp>
      <p:sp>
        <p:nvSpPr>
          <p:cNvPr id="28" name="Text 26"/>
          <p:cNvSpPr/>
          <p:nvPr/>
        </p:nvSpPr>
        <p:spPr>
          <a:xfrm>
            <a:off x="4078224"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29" name="Shape 27"/>
          <p:cNvSpPr/>
          <p:nvPr/>
        </p:nvSpPr>
        <p:spPr>
          <a:xfrm>
            <a:off x="4325112"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4325112" y="2103120"/>
            <a:ext cx="82296" cy="3063240"/>
          </a:xfrm>
          <a:prstGeom prst="rect">
            <a:avLst/>
          </a:prstGeom>
          <a:solidFill>
            <a:srgbClr val="7C3AED"/>
          </a:solidFill>
          <a:ln/>
        </p:spPr>
      </p:sp>
      <p:sp>
        <p:nvSpPr>
          <p:cNvPr id="31" name="Text 29"/>
          <p:cNvSpPr/>
          <p:nvPr/>
        </p:nvSpPr>
        <p:spPr>
          <a:xfrm>
            <a:off x="4581144" y="2322576"/>
            <a:ext cx="3063240" cy="365760"/>
          </a:xfrm>
          <a:prstGeom prst="rect">
            <a:avLst/>
          </a:prstGeom>
          <a:noFill/>
          <a:ln/>
        </p:spPr>
        <p:txBody>
          <a:bodyPr wrap="square" lIns="0" tIns="0" rIns="0" bIns="0" rtlCol="0" anchor="t"/>
          <a:lstStyle/>
          <a:p>
            <a:pPr indent="0" marL="0">
              <a:buNone/>
            </a:pPr>
            <a:r>
              <a:rPr lang="en-US" sz="1450" b="1" dirty="0">
                <a:solidFill>
                  <a:srgbClr val="7C3AED"/>
                </a:solidFill>
                <a:latin typeface="Calibri" pitchFamily="34" charset="0"/>
                <a:ea typeface="Calibri" pitchFamily="34" charset="-122"/>
                <a:cs typeface="Calibri" pitchFamily="34" charset="-120"/>
              </a:rPr>
              <a:t>Phase 2 — Scale</a:t>
            </a:r>
            <a:endParaRPr lang="en-US" sz="1450" dirty="0"/>
          </a:p>
        </p:txBody>
      </p:sp>
      <p:sp>
        <p:nvSpPr>
          <p:cNvPr id="32" name="Shape 30"/>
          <p:cNvSpPr/>
          <p:nvPr/>
        </p:nvSpPr>
        <p:spPr>
          <a:xfrm>
            <a:off x="4581144" y="2761488"/>
            <a:ext cx="1463040" cy="310896"/>
          </a:xfrm>
          <a:prstGeom prst="roundRect">
            <a:avLst>
              <a:gd name="adj" fmla="val 47059"/>
            </a:avLst>
          </a:prstGeom>
          <a:solidFill>
            <a:srgbClr val="F3EEFE"/>
          </a:solidFill>
          <a:ln/>
        </p:spPr>
      </p:sp>
      <p:sp>
        <p:nvSpPr>
          <p:cNvPr id="33" name="Text 31"/>
          <p:cNvSpPr/>
          <p:nvPr/>
        </p:nvSpPr>
        <p:spPr>
          <a:xfrm>
            <a:off x="4581144" y="2761488"/>
            <a:ext cx="1463040" cy="310896"/>
          </a:xfrm>
          <a:prstGeom prst="rect">
            <a:avLst/>
          </a:prstGeom>
          <a:noFill/>
          <a:ln/>
        </p:spPr>
        <p:txBody>
          <a:bodyPr wrap="square" lIns="0" tIns="0" rIns="0" bIns="0" rtlCol="0" anchor="ctr"/>
          <a:lstStyle/>
          <a:p>
            <a:pPr algn="ctr" indent="0" marL="0">
              <a:buNone/>
            </a:pPr>
            <a:r>
              <a:rPr lang="en-US" sz="950" b="1" dirty="0">
                <a:solidFill>
                  <a:srgbClr val="7C3AED"/>
                </a:solidFill>
                <a:latin typeface="Calibri" pitchFamily="34" charset="0"/>
                <a:ea typeface="Calibri" pitchFamily="34" charset="-122"/>
                <a:cs typeface="Calibri" pitchFamily="34" charset="-120"/>
              </a:rPr>
              <a:t>Weeks 6–16</a:t>
            </a:r>
            <a:endParaRPr lang="en-US" sz="950" dirty="0"/>
          </a:p>
        </p:txBody>
      </p:sp>
      <p:sp>
        <p:nvSpPr>
          <p:cNvPr id="34" name="Shape 32"/>
          <p:cNvSpPr/>
          <p:nvPr/>
        </p:nvSpPr>
        <p:spPr>
          <a:xfrm>
            <a:off x="4599432" y="3291840"/>
            <a:ext cx="256032" cy="256032"/>
          </a:xfrm>
          <a:prstGeom prst="ellipse">
            <a:avLst/>
          </a:prstGeom>
          <a:solidFill>
            <a:srgbClr val="F3EEFE"/>
          </a:solidFill>
          <a:ln/>
        </p:spPr>
      </p:sp>
      <p:sp>
        <p:nvSpPr>
          <p:cNvPr id="35" name="Text 33"/>
          <p:cNvSpPr/>
          <p:nvPr/>
        </p:nvSpPr>
        <p:spPr>
          <a:xfrm>
            <a:off x="4599432" y="32826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6" name="Text 34"/>
          <p:cNvSpPr/>
          <p:nvPr/>
        </p:nvSpPr>
        <p:spPr>
          <a:xfrm>
            <a:off x="4946904"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Roll out to costing &amp; sourcing</a:t>
            </a:r>
            <a:endParaRPr lang="en-US" sz="1030" dirty="0"/>
          </a:p>
        </p:txBody>
      </p:sp>
      <p:sp>
        <p:nvSpPr>
          <p:cNvPr id="37" name="Shape 35"/>
          <p:cNvSpPr/>
          <p:nvPr/>
        </p:nvSpPr>
        <p:spPr>
          <a:xfrm>
            <a:off x="4599432" y="3749040"/>
            <a:ext cx="256032" cy="256032"/>
          </a:xfrm>
          <a:prstGeom prst="ellipse">
            <a:avLst/>
          </a:prstGeom>
          <a:solidFill>
            <a:srgbClr val="F3EEFE"/>
          </a:solidFill>
          <a:ln/>
        </p:spPr>
      </p:sp>
      <p:sp>
        <p:nvSpPr>
          <p:cNvPr id="38" name="Text 36"/>
          <p:cNvSpPr/>
          <p:nvPr/>
        </p:nvSpPr>
        <p:spPr>
          <a:xfrm>
            <a:off x="4599432" y="37398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39" name="Text 37"/>
          <p:cNvSpPr/>
          <p:nvPr/>
        </p:nvSpPr>
        <p:spPr>
          <a:xfrm>
            <a:off x="4946904"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"Log Actual £" as routine</a:t>
            </a:r>
            <a:endParaRPr lang="en-US" sz="1030" dirty="0"/>
          </a:p>
        </p:txBody>
      </p:sp>
      <p:sp>
        <p:nvSpPr>
          <p:cNvPr id="40" name="Shape 38"/>
          <p:cNvSpPr/>
          <p:nvPr/>
        </p:nvSpPr>
        <p:spPr>
          <a:xfrm>
            <a:off x="4599432" y="4206240"/>
            <a:ext cx="256032" cy="256032"/>
          </a:xfrm>
          <a:prstGeom prst="ellipse">
            <a:avLst/>
          </a:prstGeom>
          <a:solidFill>
            <a:srgbClr val="F3EEFE"/>
          </a:solidFill>
          <a:ln/>
        </p:spPr>
      </p:sp>
      <p:sp>
        <p:nvSpPr>
          <p:cNvPr id="41" name="Text 39"/>
          <p:cNvSpPr/>
          <p:nvPr/>
        </p:nvSpPr>
        <p:spPr>
          <a:xfrm>
            <a:off x="4599432" y="41970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2" name="Text 40"/>
          <p:cNvSpPr/>
          <p:nvPr/>
        </p:nvSpPr>
        <p:spPr>
          <a:xfrm>
            <a:off x="4946904"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Wire into RFQ workflow</a:t>
            </a:r>
            <a:endParaRPr lang="en-US" sz="1030" dirty="0"/>
          </a:p>
        </p:txBody>
      </p:sp>
      <p:sp>
        <p:nvSpPr>
          <p:cNvPr id="43" name="Shape 41"/>
          <p:cNvSpPr/>
          <p:nvPr/>
        </p:nvSpPr>
        <p:spPr>
          <a:xfrm>
            <a:off x="4599432" y="4663440"/>
            <a:ext cx="256032" cy="256032"/>
          </a:xfrm>
          <a:prstGeom prst="ellipse">
            <a:avLst/>
          </a:prstGeom>
          <a:solidFill>
            <a:srgbClr val="F3EEFE"/>
          </a:solidFill>
          <a:ln/>
        </p:spPr>
      </p:sp>
      <p:sp>
        <p:nvSpPr>
          <p:cNvPr id="44" name="Text 42"/>
          <p:cNvSpPr/>
          <p:nvPr/>
        </p:nvSpPr>
        <p:spPr>
          <a:xfrm>
            <a:off x="4599432" y="4654296"/>
            <a:ext cx="256032" cy="256032"/>
          </a:xfrm>
          <a:prstGeom prst="rect">
            <a:avLst/>
          </a:prstGeom>
          <a:noFill/>
          <a:ln/>
        </p:spPr>
        <p:txBody>
          <a:bodyPr wrap="square" lIns="0" tIns="0" rIns="0" bIns="0" rtlCol="0" anchor="ctr"/>
          <a:lstStyle/>
          <a:p>
            <a:pPr algn="ctr" indent="0" marL="0">
              <a:buNone/>
            </a:pPr>
            <a:r>
              <a:rPr lang="en-US" sz="900" b="1" dirty="0">
                <a:solidFill>
                  <a:srgbClr val="7C3AED"/>
                </a:solidFill>
                <a:latin typeface="Calibri" pitchFamily="34" charset="0"/>
                <a:ea typeface="Calibri" pitchFamily="34" charset="-122"/>
                <a:cs typeface="Calibri" pitchFamily="34" charset="-120"/>
              </a:rPr>
              <a:t>✓</a:t>
            </a:r>
            <a:endParaRPr lang="en-US" sz="900" dirty="0"/>
          </a:p>
        </p:txBody>
      </p:sp>
      <p:sp>
        <p:nvSpPr>
          <p:cNvPr id="45" name="Text 43"/>
          <p:cNvSpPr/>
          <p:nvPr/>
        </p:nvSpPr>
        <p:spPr>
          <a:xfrm>
            <a:off x="4946904"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Monthly agent findings review</a:t>
            </a:r>
            <a:endParaRPr lang="en-US" sz="1030" dirty="0"/>
          </a:p>
        </p:txBody>
      </p:sp>
      <p:sp>
        <p:nvSpPr>
          <p:cNvPr id="46" name="Text 44"/>
          <p:cNvSpPr/>
          <p:nvPr/>
        </p:nvSpPr>
        <p:spPr>
          <a:xfrm>
            <a:off x="7854696" y="3383280"/>
            <a:ext cx="256032" cy="548640"/>
          </a:xfrm>
          <a:prstGeom prst="rect">
            <a:avLst/>
          </a:prstGeom>
          <a:noFill/>
          <a:ln/>
        </p:spPr>
        <p:txBody>
          <a:bodyPr wrap="square" lIns="0" tIns="0" rIns="0" bIns="0" rtlCol="0" anchor="ctr"/>
          <a:lstStyle/>
          <a:p>
            <a:pPr algn="ctr" indent="0" marL="0">
              <a:buNone/>
            </a:pPr>
            <a:r>
              <a:rPr lang="en-US" sz="2000" b="1" dirty="0">
                <a:solidFill>
                  <a:srgbClr val="8A97A8"/>
                </a:solidFill>
                <a:latin typeface="Calibri" pitchFamily="34" charset="0"/>
                <a:ea typeface="Calibri" pitchFamily="34" charset="-122"/>
                <a:cs typeface="Calibri" pitchFamily="34" charset="-120"/>
              </a:rPr>
              <a:t>→</a:t>
            </a:r>
            <a:endParaRPr lang="en-US" sz="2000" dirty="0"/>
          </a:p>
        </p:txBody>
      </p:sp>
      <p:sp>
        <p:nvSpPr>
          <p:cNvPr id="47" name="Shape 45"/>
          <p:cNvSpPr/>
          <p:nvPr/>
        </p:nvSpPr>
        <p:spPr>
          <a:xfrm>
            <a:off x="8101584" y="2103120"/>
            <a:ext cx="3520440" cy="3063240"/>
          </a:xfrm>
          <a:prstGeom prst="roundRect">
            <a:avLst>
              <a:gd name="adj" fmla="val 209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8" name="Shape 46"/>
          <p:cNvSpPr/>
          <p:nvPr/>
        </p:nvSpPr>
        <p:spPr>
          <a:xfrm>
            <a:off x="8101584" y="2103120"/>
            <a:ext cx="82296" cy="3063240"/>
          </a:xfrm>
          <a:prstGeom prst="rect">
            <a:avLst/>
          </a:prstGeom>
          <a:solidFill>
            <a:srgbClr val="0EA472"/>
          </a:solidFill>
          <a:ln/>
        </p:spPr>
      </p:sp>
      <p:sp>
        <p:nvSpPr>
          <p:cNvPr id="49" name="Text 47"/>
          <p:cNvSpPr/>
          <p:nvPr/>
        </p:nvSpPr>
        <p:spPr>
          <a:xfrm>
            <a:off x="8357616" y="2322576"/>
            <a:ext cx="3063240" cy="365760"/>
          </a:xfrm>
          <a:prstGeom prst="rect">
            <a:avLst/>
          </a:prstGeom>
          <a:noFill/>
          <a:ln/>
        </p:spPr>
        <p:txBody>
          <a:bodyPr wrap="square" lIns="0" tIns="0" rIns="0" bIns="0" rtlCol="0" anchor="t"/>
          <a:lstStyle/>
          <a:p>
            <a:pPr indent="0" marL="0">
              <a:buNone/>
            </a:pPr>
            <a:r>
              <a:rPr lang="en-US" sz="1450" b="1" dirty="0">
                <a:solidFill>
                  <a:srgbClr val="0EA472"/>
                </a:solidFill>
                <a:latin typeface="Calibri" pitchFamily="34" charset="0"/>
                <a:ea typeface="Calibri" pitchFamily="34" charset="-122"/>
                <a:cs typeface="Calibri" pitchFamily="34" charset="-120"/>
              </a:rPr>
              <a:t>Phase 3 — Embed</a:t>
            </a:r>
            <a:endParaRPr lang="en-US" sz="1450" dirty="0"/>
          </a:p>
        </p:txBody>
      </p:sp>
      <p:sp>
        <p:nvSpPr>
          <p:cNvPr id="50" name="Shape 48"/>
          <p:cNvSpPr/>
          <p:nvPr/>
        </p:nvSpPr>
        <p:spPr>
          <a:xfrm>
            <a:off x="8357616" y="2761488"/>
            <a:ext cx="1463040" cy="310896"/>
          </a:xfrm>
          <a:prstGeom prst="roundRect">
            <a:avLst>
              <a:gd name="adj" fmla="val 47059"/>
            </a:avLst>
          </a:prstGeom>
          <a:solidFill>
            <a:srgbClr val="E7F7F0"/>
          </a:solidFill>
          <a:ln/>
        </p:spPr>
      </p:sp>
      <p:sp>
        <p:nvSpPr>
          <p:cNvPr id="51" name="Text 49"/>
          <p:cNvSpPr/>
          <p:nvPr/>
        </p:nvSpPr>
        <p:spPr>
          <a:xfrm>
            <a:off x="8357616" y="2761488"/>
            <a:ext cx="1463040" cy="310896"/>
          </a:xfrm>
          <a:prstGeom prst="rect">
            <a:avLst/>
          </a:prstGeom>
          <a:noFill/>
          <a:ln/>
        </p:spPr>
        <p:txBody>
          <a:bodyPr wrap="square" lIns="0" tIns="0" rIns="0" bIns="0" rtlCol="0" anchor="ctr"/>
          <a:lstStyle/>
          <a:p>
            <a:pPr algn="ctr" indent="0" marL="0">
              <a:buNone/>
            </a:pPr>
            <a:r>
              <a:rPr lang="en-US" sz="950" b="1" dirty="0">
                <a:solidFill>
                  <a:srgbClr val="0EA472"/>
                </a:solidFill>
                <a:latin typeface="Calibri" pitchFamily="34" charset="0"/>
                <a:ea typeface="Calibri" pitchFamily="34" charset="-122"/>
                <a:cs typeface="Calibri" pitchFamily="34" charset="-120"/>
              </a:rPr>
              <a:t>Quarter 2+</a:t>
            </a:r>
            <a:endParaRPr lang="en-US" sz="950" dirty="0"/>
          </a:p>
        </p:txBody>
      </p:sp>
      <p:sp>
        <p:nvSpPr>
          <p:cNvPr id="52" name="Shape 50"/>
          <p:cNvSpPr/>
          <p:nvPr/>
        </p:nvSpPr>
        <p:spPr>
          <a:xfrm>
            <a:off x="8375904" y="3291840"/>
            <a:ext cx="256032" cy="256032"/>
          </a:xfrm>
          <a:prstGeom prst="ellipse">
            <a:avLst/>
          </a:prstGeom>
          <a:solidFill>
            <a:srgbClr val="E7F7F0"/>
          </a:solidFill>
          <a:ln/>
        </p:spPr>
      </p:sp>
      <p:sp>
        <p:nvSpPr>
          <p:cNvPr id="53" name="Text 51"/>
          <p:cNvSpPr/>
          <p:nvPr/>
        </p:nvSpPr>
        <p:spPr>
          <a:xfrm>
            <a:off x="8375904" y="32826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4" name="Text 52"/>
          <p:cNvSpPr/>
          <p:nvPr/>
        </p:nvSpPr>
        <p:spPr>
          <a:xfrm>
            <a:off x="8723376" y="32735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Negotiation packs as standard</a:t>
            </a:r>
            <a:endParaRPr lang="en-US" sz="1030" dirty="0"/>
          </a:p>
        </p:txBody>
      </p:sp>
      <p:sp>
        <p:nvSpPr>
          <p:cNvPr id="55" name="Shape 53"/>
          <p:cNvSpPr/>
          <p:nvPr/>
        </p:nvSpPr>
        <p:spPr>
          <a:xfrm>
            <a:off x="8375904" y="3749040"/>
            <a:ext cx="256032" cy="256032"/>
          </a:xfrm>
          <a:prstGeom prst="ellipse">
            <a:avLst/>
          </a:prstGeom>
          <a:solidFill>
            <a:srgbClr val="E7F7F0"/>
          </a:solidFill>
          <a:ln/>
        </p:spPr>
      </p:sp>
      <p:sp>
        <p:nvSpPr>
          <p:cNvPr id="56" name="Text 54"/>
          <p:cNvSpPr/>
          <p:nvPr/>
        </p:nvSpPr>
        <p:spPr>
          <a:xfrm>
            <a:off x="8375904" y="37398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57" name="Text 55"/>
          <p:cNvSpPr/>
          <p:nvPr/>
        </p:nvSpPr>
        <p:spPr>
          <a:xfrm>
            <a:off x="8723376" y="37307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Portfolio what-if &amp; risk</a:t>
            </a:r>
            <a:endParaRPr lang="en-US" sz="1030" dirty="0"/>
          </a:p>
        </p:txBody>
      </p:sp>
      <p:sp>
        <p:nvSpPr>
          <p:cNvPr id="58" name="Shape 56"/>
          <p:cNvSpPr/>
          <p:nvPr/>
        </p:nvSpPr>
        <p:spPr>
          <a:xfrm>
            <a:off x="8375904" y="4206240"/>
            <a:ext cx="256032" cy="256032"/>
          </a:xfrm>
          <a:prstGeom prst="ellipse">
            <a:avLst/>
          </a:prstGeom>
          <a:solidFill>
            <a:srgbClr val="E7F7F0"/>
          </a:solidFill>
          <a:ln/>
        </p:spPr>
      </p:sp>
      <p:sp>
        <p:nvSpPr>
          <p:cNvPr id="59" name="Text 57"/>
          <p:cNvSpPr/>
          <p:nvPr/>
        </p:nvSpPr>
        <p:spPr>
          <a:xfrm>
            <a:off x="8375904" y="41970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0" name="Text 58"/>
          <p:cNvSpPr/>
          <p:nvPr/>
        </p:nvSpPr>
        <p:spPr>
          <a:xfrm>
            <a:off x="8723376" y="41879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Live distributor / market feeds</a:t>
            </a:r>
            <a:endParaRPr lang="en-US" sz="1030" dirty="0"/>
          </a:p>
        </p:txBody>
      </p:sp>
      <p:sp>
        <p:nvSpPr>
          <p:cNvPr id="61" name="Shape 59"/>
          <p:cNvSpPr/>
          <p:nvPr/>
        </p:nvSpPr>
        <p:spPr>
          <a:xfrm>
            <a:off x="8375904" y="4663440"/>
            <a:ext cx="256032" cy="256032"/>
          </a:xfrm>
          <a:prstGeom prst="ellipse">
            <a:avLst/>
          </a:prstGeom>
          <a:solidFill>
            <a:srgbClr val="E7F7F0"/>
          </a:solidFill>
          <a:ln/>
        </p:spPr>
      </p:sp>
      <p:sp>
        <p:nvSpPr>
          <p:cNvPr id="62" name="Text 60"/>
          <p:cNvSpPr/>
          <p:nvPr/>
        </p:nvSpPr>
        <p:spPr>
          <a:xfrm>
            <a:off x="8375904" y="4654296"/>
            <a:ext cx="256032" cy="256032"/>
          </a:xfrm>
          <a:prstGeom prst="rect">
            <a:avLst/>
          </a:prstGeom>
          <a:noFill/>
          <a:ln/>
        </p:spPr>
        <p:txBody>
          <a:bodyPr wrap="square" lIns="0" tIns="0" rIns="0" bIns="0" rtlCol="0" anchor="ctr"/>
          <a:lstStyle/>
          <a:p>
            <a:pPr algn="ctr" indent="0" marL="0">
              <a:buNone/>
            </a:pPr>
            <a:r>
              <a:rPr lang="en-US" sz="900" b="1" dirty="0">
                <a:solidFill>
                  <a:srgbClr val="0EA472"/>
                </a:solidFill>
                <a:latin typeface="Calibri" pitchFamily="34" charset="0"/>
                <a:ea typeface="Calibri" pitchFamily="34" charset="-122"/>
                <a:cs typeface="Calibri" pitchFamily="34" charset="-120"/>
              </a:rPr>
              <a:t>✓</a:t>
            </a:r>
            <a:endParaRPr lang="en-US" sz="900" dirty="0"/>
          </a:p>
        </p:txBody>
      </p:sp>
      <p:sp>
        <p:nvSpPr>
          <p:cNvPr id="63" name="Text 61"/>
          <p:cNvSpPr/>
          <p:nvPr/>
        </p:nvSpPr>
        <p:spPr>
          <a:xfrm>
            <a:off x="8723376" y="4645152"/>
            <a:ext cx="2651760" cy="411480"/>
          </a:xfrm>
          <a:prstGeom prst="rect">
            <a:avLst/>
          </a:prstGeom>
          <a:noFill/>
          <a:ln/>
        </p:spPr>
        <p:txBody>
          <a:bodyPr wrap="square" lIns="0" tIns="0" rIns="0" bIns="0" rtlCol="0" anchor="ctr"/>
          <a:lstStyle/>
          <a:p>
            <a:pPr indent="0" marL="0">
              <a:buNone/>
            </a:pPr>
            <a:r>
              <a:rPr lang="en-US" sz="1030" dirty="0">
                <a:solidFill>
                  <a:srgbClr val="3E4C63"/>
                </a:solidFill>
                <a:latin typeface="Calibri" pitchFamily="34" charset="0"/>
                <a:ea typeface="Calibri" pitchFamily="34" charset="-122"/>
                <a:cs typeface="Calibri" pitchFamily="34" charset="-120"/>
              </a:rPr>
              <a:t>KPI: £ saved &amp; cycle-time</a:t>
            </a:r>
            <a:endParaRPr lang="en-US" sz="1030" dirty="0"/>
          </a:p>
        </p:txBody>
      </p:sp>
      <p:sp>
        <p:nvSpPr>
          <p:cNvPr id="64" name="Shape 62"/>
          <p:cNvSpPr/>
          <p:nvPr/>
        </p:nvSpPr>
        <p:spPr>
          <a:xfrm>
            <a:off x="548640" y="5349240"/>
            <a:ext cx="11091672" cy="548640"/>
          </a:xfrm>
          <a:prstGeom prst="roundRect">
            <a:avLst>
              <a:gd name="adj" fmla="val 11667"/>
            </a:avLst>
          </a:prstGeom>
          <a:solidFill>
            <a:srgbClr val="E7F7F0"/>
          </a:solidFill>
          <a:ln w="12700">
            <a:solidFill>
              <a:srgbClr val="E4EAF2"/>
            </a:solidFill>
            <a:prstDash val="solid"/>
          </a:ln>
        </p:spPr>
      </p:sp>
      <p:sp>
        <p:nvSpPr>
          <p:cNvPr id="65" name="Text 63"/>
          <p:cNvSpPr/>
          <p:nvPr/>
        </p:nvSpPr>
        <p:spPr>
          <a:xfrm>
            <a:off x="914400" y="5349240"/>
            <a:ext cx="10332720" cy="548640"/>
          </a:xfrm>
          <a:prstGeom prst="rect">
            <a:avLst/>
          </a:prstGeom>
          <a:noFill/>
          <a:ln/>
        </p:spPr>
        <p:txBody>
          <a:bodyPr wrap="square" lIns="0" tIns="0" rIns="0" bIns="0" rtlCol="0" anchor="ctr"/>
          <a:lstStyle/>
          <a:p>
            <a:pPr indent="0" marL="0">
              <a:buNone/>
            </a:pPr>
            <a:r>
              <a:rPr lang="en-US" sz="1150" b="1" dirty="0">
                <a:solidFill>
                  <a:srgbClr val="0F1E3D"/>
                </a:solidFill>
                <a:latin typeface="Calibri" pitchFamily="34" charset="0"/>
                <a:ea typeface="Calibri" pitchFamily="34" charset="-122"/>
                <a:cs typeface="Calibri" pitchFamily="34" charset="-120"/>
              </a:rPr>
              <a:t>The one dependency, stated honestly:  </a:t>
            </a:r>
            <a:pPr indent="0" marL="0">
              <a:buNone/>
            </a:pPr>
            <a:r>
              <a:rPr lang="en-US" sz="1150" dirty="0">
                <a:solidFill>
                  <a:srgbClr val="3E4C63"/>
                </a:solidFill>
                <a:latin typeface="Calibri" pitchFamily="34" charset="0"/>
                <a:ea typeface="Calibri" pitchFamily="34" charset="-122"/>
                <a:cs typeface="Calibri" pitchFamily="34" charset="-120"/>
              </a:rPr>
              <a:t>the intelligence starts empty and grows with use. Seeding it with our historic quotes in Phase 1 means it starts smart, not from zero.</a:t>
            </a:r>
            <a:endParaRPr lang="en-US" sz="1150" dirty="0"/>
          </a:p>
        </p:txBody>
      </p:sp>
      <p:sp>
        <p:nvSpPr>
          <p:cNvPr id="66" name="Shape 64"/>
          <p:cNvSpPr/>
          <p:nvPr/>
        </p:nvSpPr>
        <p:spPr>
          <a:xfrm>
            <a:off x="548640" y="6400800"/>
            <a:ext cx="11094415" cy="12802"/>
          </a:xfrm>
          <a:prstGeom prst="rect">
            <a:avLst/>
          </a:prstGeom>
          <a:solidFill>
            <a:srgbClr val="E4EAF2"/>
          </a:solidFill>
          <a:ln/>
        </p:spPr>
      </p:sp>
      <p:sp>
        <p:nvSpPr>
          <p:cNvPr id="67" name="Text 65"/>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68" name="Text 66"/>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30 / 33</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GOVERNANCE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Data security &amp; deployment</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Built for enterprise from the ground up — our data, our infrastructure, our IP.</a:t>
            </a:r>
            <a:endParaRPr lang="en-US" sz="1250" dirty="0"/>
          </a:p>
        </p:txBody>
      </p:sp>
      <p:sp>
        <p:nvSpPr>
          <p:cNvPr id="11" name="Shape 9"/>
          <p:cNvSpPr/>
          <p:nvPr/>
        </p:nvSpPr>
        <p:spPr>
          <a:xfrm>
            <a:off x="548640"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2" name="Shape 10"/>
          <p:cNvSpPr/>
          <p:nvPr/>
        </p:nvSpPr>
        <p:spPr>
          <a:xfrm>
            <a:off x="548640" y="1874520"/>
            <a:ext cx="82296" cy="1600200"/>
          </a:xfrm>
          <a:prstGeom prst="rect">
            <a:avLst/>
          </a:prstGeom>
          <a:solidFill>
            <a:srgbClr val="0EA472"/>
          </a:solidFill>
          <a:ln/>
        </p:spPr>
      </p:sp>
      <p:sp>
        <p:nvSpPr>
          <p:cNvPr id="13" name="Shape 11"/>
          <p:cNvSpPr/>
          <p:nvPr/>
        </p:nvSpPr>
        <p:spPr>
          <a:xfrm>
            <a:off x="786384" y="2075688"/>
            <a:ext cx="457200" cy="457200"/>
          </a:xfrm>
          <a:prstGeom prst="ellipse">
            <a:avLst/>
          </a:prstGeom>
          <a:solidFill>
            <a:srgbClr val="E7F7F0"/>
          </a:solidFill>
          <a:ln/>
        </p:spPr>
      </p:sp>
      <p:sp>
        <p:nvSpPr>
          <p:cNvPr id="14" name="Text 12"/>
          <p:cNvSpPr/>
          <p:nvPr/>
        </p:nvSpPr>
        <p:spPr>
          <a:xfrm>
            <a:off x="786384" y="2066544"/>
            <a:ext cx="457200" cy="457200"/>
          </a:xfrm>
          <a:prstGeom prst="rect">
            <a:avLst/>
          </a:prstGeom>
          <a:noFill/>
          <a:ln/>
        </p:spPr>
        <p:txBody>
          <a:bodyPr wrap="square" lIns="0" tIns="0" rIns="0" bIns="0" rtlCol="0" anchor="ctr"/>
          <a:lstStyle/>
          <a:p>
            <a:pPr algn="ctr" indent="0" marL="0">
              <a:buNone/>
            </a:pPr>
            <a:r>
              <a:rPr lang="en-US" sz="1600" b="1" dirty="0">
                <a:solidFill>
                  <a:srgbClr val="0EA472"/>
                </a:solidFill>
                <a:latin typeface="Calibri" pitchFamily="34" charset="0"/>
                <a:ea typeface="Calibri" pitchFamily="34" charset="-122"/>
                <a:cs typeface="Calibri" pitchFamily="34" charset="-120"/>
              </a:rPr>
              <a:t>🔒</a:t>
            </a:r>
            <a:endParaRPr lang="en-US" sz="1600" dirty="0"/>
          </a:p>
        </p:txBody>
      </p:sp>
      <p:sp>
        <p:nvSpPr>
          <p:cNvPr id="15" name="Text 13"/>
          <p:cNvSpPr/>
          <p:nvPr/>
        </p:nvSpPr>
        <p:spPr>
          <a:xfrm>
            <a:off x="1335024"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A472"/>
                </a:solidFill>
                <a:latin typeface="Calibri" pitchFamily="34" charset="0"/>
                <a:ea typeface="Calibri" pitchFamily="34" charset="-122"/>
                <a:cs typeface="Calibri" pitchFamily="34" charset="-120"/>
              </a:rPr>
              <a:t>On-premise deployment</a:t>
            </a:r>
            <a:endParaRPr lang="en-US" sz="1250" dirty="0"/>
          </a:p>
        </p:txBody>
      </p:sp>
      <p:sp>
        <p:nvSpPr>
          <p:cNvPr id="16" name="Text 14"/>
          <p:cNvSpPr/>
          <p:nvPr/>
        </p:nvSpPr>
        <p:spPr>
          <a:xfrm>
            <a:off x="804672"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Runs inside our own walls — the knowledge base and every analysis are stored on our servers and never retained by any vendor.</a:t>
            </a:r>
            <a:endParaRPr lang="en-US" sz="950" dirty="0"/>
          </a:p>
        </p:txBody>
      </p:sp>
      <p:sp>
        <p:nvSpPr>
          <p:cNvPr id="17" name="Shape 15"/>
          <p:cNvSpPr/>
          <p:nvPr/>
        </p:nvSpPr>
        <p:spPr>
          <a:xfrm>
            <a:off x="4325112"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18" name="Shape 16"/>
          <p:cNvSpPr/>
          <p:nvPr/>
        </p:nvSpPr>
        <p:spPr>
          <a:xfrm>
            <a:off x="4325112" y="1874520"/>
            <a:ext cx="82296" cy="1600200"/>
          </a:xfrm>
          <a:prstGeom prst="rect">
            <a:avLst/>
          </a:prstGeom>
          <a:solidFill>
            <a:srgbClr val="2563EB"/>
          </a:solidFill>
          <a:ln/>
        </p:spPr>
      </p:sp>
      <p:sp>
        <p:nvSpPr>
          <p:cNvPr id="19" name="Shape 17"/>
          <p:cNvSpPr/>
          <p:nvPr/>
        </p:nvSpPr>
        <p:spPr>
          <a:xfrm>
            <a:off x="4562856" y="2075688"/>
            <a:ext cx="457200" cy="457200"/>
          </a:xfrm>
          <a:prstGeom prst="ellipse">
            <a:avLst/>
          </a:prstGeom>
          <a:solidFill>
            <a:srgbClr val="EAF1FE"/>
          </a:solidFill>
          <a:ln/>
        </p:spPr>
      </p:sp>
      <p:sp>
        <p:nvSpPr>
          <p:cNvPr id="20" name="Text 18"/>
          <p:cNvSpPr/>
          <p:nvPr/>
        </p:nvSpPr>
        <p:spPr>
          <a:xfrm>
            <a:off x="4562856" y="2066544"/>
            <a:ext cx="457200" cy="457200"/>
          </a:xfrm>
          <a:prstGeom prst="rect">
            <a:avLst/>
          </a:prstGeom>
          <a:noFill/>
          <a:ln/>
        </p:spPr>
        <p:txBody>
          <a:bodyPr wrap="square" lIns="0" tIns="0" rIns="0" bIns="0" rtlCol="0" anchor="ctr"/>
          <a:lstStyle/>
          <a:p>
            <a:pPr algn="ctr" indent="0" marL="0">
              <a:buNone/>
            </a:pPr>
            <a:r>
              <a:rPr lang="en-US" sz="1600" b="1" dirty="0">
                <a:solidFill>
                  <a:srgbClr val="2563EB"/>
                </a:solidFill>
                <a:latin typeface="Calibri" pitchFamily="34" charset="0"/>
                <a:ea typeface="Calibri" pitchFamily="34" charset="-122"/>
                <a:cs typeface="Calibri" pitchFamily="34" charset="-120"/>
              </a:rPr>
              <a:t>◆</a:t>
            </a:r>
            <a:endParaRPr lang="en-US" sz="1600" dirty="0"/>
          </a:p>
        </p:txBody>
      </p:sp>
      <p:sp>
        <p:nvSpPr>
          <p:cNvPr id="21" name="Text 19"/>
          <p:cNvSpPr/>
          <p:nvPr/>
        </p:nvSpPr>
        <p:spPr>
          <a:xfrm>
            <a:off x="5111496"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2563EB"/>
                </a:solidFill>
                <a:latin typeface="Calibri" pitchFamily="34" charset="0"/>
                <a:ea typeface="Calibri" pitchFamily="34" charset="-122"/>
                <a:cs typeface="Calibri" pitchFamily="34" charset="-120"/>
              </a:rPr>
              <a:t>Keys server-side only</a:t>
            </a:r>
            <a:endParaRPr lang="en-US" sz="1250" dirty="0"/>
          </a:p>
        </p:txBody>
      </p:sp>
      <p:sp>
        <p:nvSpPr>
          <p:cNvPr id="22" name="Text 20"/>
          <p:cNvSpPr/>
          <p:nvPr/>
        </p:nvSpPr>
        <p:spPr>
          <a:xfrm>
            <a:off x="4581144"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AI key lives server-side (.env) — the browser never sees it. AI calls proxy through our server to the model endpoint.</a:t>
            </a:r>
            <a:endParaRPr lang="en-US" sz="950" dirty="0"/>
          </a:p>
        </p:txBody>
      </p:sp>
      <p:sp>
        <p:nvSpPr>
          <p:cNvPr id="23" name="Shape 21"/>
          <p:cNvSpPr/>
          <p:nvPr/>
        </p:nvSpPr>
        <p:spPr>
          <a:xfrm>
            <a:off x="8101584" y="187452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24" name="Shape 22"/>
          <p:cNvSpPr/>
          <p:nvPr/>
        </p:nvSpPr>
        <p:spPr>
          <a:xfrm>
            <a:off x="8101584" y="1874520"/>
            <a:ext cx="82296" cy="1600200"/>
          </a:xfrm>
          <a:prstGeom prst="rect">
            <a:avLst/>
          </a:prstGeom>
          <a:solidFill>
            <a:srgbClr val="7C3AED"/>
          </a:solidFill>
          <a:ln/>
        </p:spPr>
      </p:sp>
      <p:sp>
        <p:nvSpPr>
          <p:cNvPr id="25" name="Shape 23"/>
          <p:cNvSpPr/>
          <p:nvPr/>
        </p:nvSpPr>
        <p:spPr>
          <a:xfrm>
            <a:off x="8339328" y="2075688"/>
            <a:ext cx="457200" cy="457200"/>
          </a:xfrm>
          <a:prstGeom prst="ellipse">
            <a:avLst/>
          </a:prstGeom>
          <a:solidFill>
            <a:srgbClr val="F3EEFE"/>
          </a:solidFill>
          <a:ln/>
        </p:spPr>
      </p:sp>
      <p:sp>
        <p:nvSpPr>
          <p:cNvPr id="26" name="Text 24"/>
          <p:cNvSpPr/>
          <p:nvPr/>
        </p:nvSpPr>
        <p:spPr>
          <a:xfrm>
            <a:off x="8339328" y="2066544"/>
            <a:ext cx="457200" cy="457200"/>
          </a:xfrm>
          <a:prstGeom prst="rect">
            <a:avLst/>
          </a:prstGeom>
          <a:noFill/>
          <a:ln/>
        </p:spPr>
        <p:txBody>
          <a:bodyPr wrap="square" lIns="0" tIns="0" rIns="0" bIns="0" rtlCol="0" anchor="ctr"/>
          <a:lstStyle/>
          <a:p>
            <a:pPr algn="ctr" indent="0" marL="0">
              <a:buNone/>
            </a:pPr>
            <a:r>
              <a:rPr lang="en-US" sz="1600" b="1" dirty="0">
                <a:solidFill>
                  <a:srgbClr val="7C3AED"/>
                </a:solidFill>
                <a:latin typeface="Calibri" pitchFamily="34" charset="0"/>
                <a:ea typeface="Calibri" pitchFamily="34" charset="-122"/>
                <a:cs typeface="Calibri" pitchFamily="34" charset="-120"/>
              </a:rPr>
              <a:t>◧</a:t>
            </a:r>
            <a:endParaRPr lang="en-US" sz="1600" dirty="0"/>
          </a:p>
        </p:txBody>
      </p:sp>
      <p:sp>
        <p:nvSpPr>
          <p:cNvPr id="27" name="Text 25"/>
          <p:cNvSpPr/>
          <p:nvPr/>
        </p:nvSpPr>
        <p:spPr>
          <a:xfrm>
            <a:off x="8887968" y="211226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7C3AED"/>
                </a:solidFill>
                <a:latin typeface="Calibri" pitchFamily="34" charset="0"/>
                <a:ea typeface="Calibri" pitchFamily="34" charset="-122"/>
                <a:cs typeface="Calibri" pitchFamily="34" charset="-120"/>
              </a:rPr>
              <a:t>Private &amp; air-gapped ready</a:t>
            </a:r>
            <a:endParaRPr lang="en-US" sz="1250" dirty="0"/>
          </a:p>
        </p:txBody>
      </p:sp>
      <p:sp>
        <p:nvSpPr>
          <p:cNvPr id="28" name="Text 26"/>
          <p:cNvSpPr/>
          <p:nvPr/>
        </p:nvSpPr>
        <p:spPr>
          <a:xfrm>
            <a:off x="8357616" y="265176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Private routing (ANTHROPIC_BASE_URL) or air-gapped mode keeps even the AI request in-network for the most sensitive programmes.</a:t>
            </a:r>
            <a:endParaRPr lang="en-US" sz="950" dirty="0"/>
          </a:p>
        </p:txBody>
      </p:sp>
      <p:sp>
        <p:nvSpPr>
          <p:cNvPr id="29" name="Shape 27"/>
          <p:cNvSpPr/>
          <p:nvPr/>
        </p:nvSpPr>
        <p:spPr>
          <a:xfrm>
            <a:off x="548640"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0" name="Shape 28"/>
          <p:cNvSpPr/>
          <p:nvPr/>
        </p:nvSpPr>
        <p:spPr>
          <a:xfrm>
            <a:off x="548640" y="3657600"/>
            <a:ext cx="82296" cy="1600200"/>
          </a:xfrm>
          <a:prstGeom prst="rect">
            <a:avLst/>
          </a:prstGeom>
          <a:solidFill>
            <a:srgbClr val="0E93B0"/>
          </a:solidFill>
          <a:ln/>
        </p:spPr>
      </p:sp>
      <p:sp>
        <p:nvSpPr>
          <p:cNvPr id="31" name="Shape 29"/>
          <p:cNvSpPr/>
          <p:nvPr/>
        </p:nvSpPr>
        <p:spPr>
          <a:xfrm>
            <a:off x="786384" y="3858768"/>
            <a:ext cx="457200" cy="457200"/>
          </a:xfrm>
          <a:prstGeom prst="ellipse">
            <a:avLst/>
          </a:prstGeom>
          <a:solidFill>
            <a:srgbClr val="E8F6FA"/>
          </a:solidFill>
          <a:ln/>
        </p:spPr>
      </p:sp>
      <p:sp>
        <p:nvSpPr>
          <p:cNvPr id="32" name="Text 30"/>
          <p:cNvSpPr/>
          <p:nvPr/>
        </p:nvSpPr>
        <p:spPr>
          <a:xfrm>
            <a:off x="786384" y="3849624"/>
            <a:ext cx="457200" cy="457200"/>
          </a:xfrm>
          <a:prstGeom prst="rect">
            <a:avLst/>
          </a:prstGeom>
          <a:noFill/>
          <a:ln/>
        </p:spPr>
        <p:txBody>
          <a:bodyPr wrap="square" lIns="0" tIns="0" rIns="0" bIns="0" rtlCol="0" anchor="ctr"/>
          <a:lstStyle/>
          <a:p>
            <a:pPr algn="ctr" indent="0" marL="0">
              <a:buNone/>
            </a:pPr>
            <a:r>
              <a:rPr lang="en-US" sz="1600" b="1" dirty="0">
                <a:solidFill>
                  <a:srgbClr val="0E93B0"/>
                </a:solidFill>
                <a:latin typeface="Calibri" pitchFamily="34" charset="0"/>
                <a:ea typeface="Calibri" pitchFamily="34" charset="-122"/>
                <a:cs typeface="Calibri" pitchFamily="34" charset="-120"/>
              </a:rPr>
              <a:t>▤</a:t>
            </a:r>
            <a:endParaRPr lang="en-US" sz="1600" dirty="0"/>
          </a:p>
        </p:txBody>
      </p:sp>
      <p:sp>
        <p:nvSpPr>
          <p:cNvPr id="33" name="Text 31"/>
          <p:cNvSpPr/>
          <p:nvPr/>
        </p:nvSpPr>
        <p:spPr>
          <a:xfrm>
            <a:off x="1335024"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E93B0"/>
                </a:solidFill>
                <a:latin typeface="Calibri" pitchFamily="34" charset="0"/>
                <a:ea typeface="Calibri" pitchFamily="34" charset="-122"/>
                <a:cs typeface="Calibri" pitchFamily="34" charset="-120"/>
              </a:rPr>
              <a:t>Full audit trail</a:t>
            </a:r>
            <a:endParaRPr lang="en-US" sz="1250" dirty="0"/>
          </a:p>
        </p:txBody>
      </p:sp>
      <p:sp>
        <p:nvSpPr>
          <p:cNvPr id="34" name="Text 32"/>
          <p:cNvSpPr/>
          <p:nvPr/>
        </p:nvSpPr>
        <p:spPr>
          <a:xfrm>
            <a:off x="804672"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Every number carries provenance; every analysis and correction is logged — defensible and traceable.</a:t>
            </a:r>
            <a:endParaRPr lang="en-US" sz="950" dirty="0"/>
          </a:p>
        </p:txBody>
      </p:sp>
      <p:sp>
        <p:nvSpPr>
          <p:cNvPr id="35" name="Shape 33"/>
          <p:cNvSpPr/>
          <p:nvPr/>
        </p:nvSpPr>
        <p:spPr>
          <a:xfrm>
            <a:off x="4325112"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36" name="Shape 34"/>
          <p:cNvSpPr/>
          <p:nvPr/>
        </p:nvSpPr>
        <p:spPr>
          <a:xfrm>
            <a:off x="4325112" y="3657600"/>
            <a:ext cx="82296" cy="1600200"/>
          </a:xfrm>
          <a:prstGeom prst="rect">
            <a:avLst/>
          </a:prstGeom>
          <a:solidFill>
            <a:srgbClr val="E0900C"/>
          </a:solidFill>
          <a:ln/>
        </p:spPr>
      </p:sp>
      <p:sp>
        <p:nvSpPr>
          <p:cNvPr id="37" name="Shape 35"/>
          <p:cNvSpPr/>
          <p:nvPr/>
        </p:nvSpPr>
        <p:spPr>
          <a:xfrm>
            <a:off x="4562856" y="3858768"/>
            <a:ext cx="457200" cy="457200"/>
          </a:xfrm>
          <a:prstGeom prst="ellipse">
            <a:avLst/>
          </a:prstGeom>
          <a:solidFill>
            <a:srgbClr val="FEF6E7"/>
          </a:solidFill>
          <a:ln/>
        </p:spPr>
      </p:sp>
      <p:sp>
        <p:nvSpPr>
          <p:cNvPr id="38" name="Text 36"/>
          <p:cNvSpPr/>
          <p:nvPr/>
        </p:nvSpPr>
        <p:spPr>
          <a:xfrm>
            <a:off x="4562856" y="3849624"/>
            <a:ext cx="457200" cy="457200"/>
          </a:xfrm>
          <a:prstGeom prst="rect">
            <a:avLst/>
          </a:prstGeom>
          <a:noFill/>
          <a:ln/>
        </p:spPr>
        <p:txBody>
          <a:bodyPr wrap="square" lIns="0" tIns="0" rIns="0" bIns="0" rtlCol="0" anchor="ctr"/>
          <a:lstStyle/>
          <a:p>
            <a:pPr algn="ctr" indent="0" marL="0">
              <a:buNone/>
            </a:pPr>
            <a:r>
              <a:rPr lang="en-US" sz="1600" b="1" dirty="0">
                <a:solidFill>
                  <a:srgbClr val="E0900C"/>
                </a:solidFill>
                <a:latin typeface="Calibri" pitchFamily="34" charset="0"/>
                <a:ea typeface="Calibri" pitchFamily="34" charset="-122"/>
                <a:cs typeface="Calibri" pitchFamily="34" charset="-120"/>
              </a:rPr>
              <a:t>◎</a:t>
            </a:r>
            <a:endParaRPr lang="en-US" sz="1600" dirty="0"/>
          </a:p>
        </p:txBody>
      </p:sp>
      <p:sp>
        <p:nvSpPr>
          <p:cNvPr id="39" name="Text 37"/>
          <p:cNvSpPr/>
          <p:nvPr/>
        </p:nvSpPr>
        <p:spPr>
          <a:xfrm>
            <a:off x="5111496"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E0900C"/>
                </a:solidFill>
                <a:latin typeface="Calibri" pitchFamily="34" charset="0"/>
                <a:ea typeface="Calibri" pitchFamily="34" charset="-122"/>
                <a:cs typeface="Calibri" pitchFamily="34" charset="-120"/>
              </a:rPr>
              <a:t>Our IP, not a vendor's</a:t>
            </a:r>
            <a:endParaRPr lang="en-US" sz="1250" dirty="0"/>
          </a:p>
        </p:txBody>
      </p:sp>
      <p:sp>
        <p:nvSpPr>
          <p:cNvPr id="40" name="Text 38"/>
          <p:cNvSpPr/>
          <p:nvPr/>
        </p:nvSpPr>
        <p:spPr>
          <a:xfrm>
            <a:off x="4581144"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The accumulated costing intelligence is a proprietary company asset — it does not walk out with a subscription.</a:t>
            </a:r>
            <a:endParaRPr lang="en-US" sz="950" dirty="0"/>
          </a:p>
        </p:txBody>
      </p:sp>
      <p:sp>
        <p:nvSpPr>
          <p:cNvPr id="41" name="Shape 39"/>
          <p:cNvSpPr/>
          <p:nvPr/>
        </p:nvSpPr>
        <p:spPr>
          <a:xfrm>
            <a:off x="8101584" y="3657600"/>
            <a:ext cx="3520440" cy="1600200"/>
          </a:xfrm>
          <a:prstGeom prst="roundRect">
            <a:avLst>
              <a:gd name="adj" fmla="val 4000"/>
            </a:avLst>
          </a:prstGeom>
          <a:solidFill>
            <a:srgbClr val="FFFFFF"/>
          </a:solidFill>
          <a:ln w="12700">
            <a:solidFill>
              <a:srgbClr val="E4EAF2"/>
            </a:solidFill>
            <a:prstDash val="solid"/>
          </a:ln>
          <a:effectLst>
            <a:outerShdw sx="100000" sy="100000" kx="0" ky="0" algn="bl" rotWithShape="0" blurRad="Infinity" dist="Infinity" dir="Infinity">
              <a:srgbClr val="9DB0CC">
                <a:alpha val="Infinity"/>
              </a:srgbClr>
            </a:outerShdw>
          </a:effectLst>
        </p:spPr>
      </p:sp>
      <p:sp>
        <p:nvSpPr>
          <p:cNvPr id="42" name="Shape 40"/>
          <p:cNvSpPr/>
          <p:nvPr/>
        </p:nvSpPr>
        <p:spPr>
          <a:xfrm>
            <a:off x="8101584" y="3657600"/>
            <a:ext cx="82296" cy="1600200"/>
          </a:xfrm>
          <a:prstGeom prst="rect">
            <a:avLst/>
          </a:prstGeom>
          <a:solidFill>
            <a:srgbClr val="0DA5A0"/>
          </a:solidFill>
          <a:ln/>
        </p:spPr>
      </p:sp>
      <p:sp>
        <p:nvSpPr>
          <p:cNvPr id="43" name="Shape 41"/>
          <p:cNvSpPr/>
          <p:nvPr/>
        </p:nvSpPr>
        <p:spPr>
          <a:xfrm>
            <a:off x="8339328" y="3858768"/>
            <a:ext cx="457200" cy="457200"/>
          </a:xfrm>
          <a:prstGeom prst="ellipse">
            <a:avLst/>
          </a:prstGeom>
          <a:solidFill>
            <a:srgbClr val="E7F7F0"/>
          </a:solidFill>
          <a:ln/>
        </p:spPr>
      </p:sp>
      <p:sp>
        <p:nvSpPr>
          <p:cNvPr id="44" name="Text 42"/>
          <p:cNvSpPr/>
          <p:nvPr/>
        </p:nvSpPr>
        <p:spPr>
          <a:xfrm>
            <a:off x="8339328" y="3849624"/>
            <a:ext cx="457200" cy="457200"/>
          </a:xfrm>
          <a:prstGeom prst="rect">
            <a:avLst/>
          </a:prstGeom>
          <a:noFill/>
          <a:ln/>
        </p:spPr>
        <p:txBody>
          <a:bodyPr wrap="square" lIns="0" tIns="0" rIns="0" bIns="0" rtlCol="0" anchor="ctr"/>
          <a:lstStyle/>
          <a:p>
            <a:pPr algn="ctr" indent="0" marL="0">
              <a:buNone/>
            </a:pPr>
            <a:r>
              <a:rPr lang="en-US" sz="1600" b="1" dirty="0">
                <a:solidFill>
                  <a:srgbClr val="0DA5A0"/>
                </a:solidFill>
                <a:latin typeface="Calibri" pitchFamily="34" charset="0"/>
                <a:ea typeface="Calibri" pitchFamily="34" charset="-122"/>
                <a:cs typeface="Calibri" pitchFamily="34" charset="-120"/>
              </a:rPr>
              <a:t>✓</a:t>
            </a:r>
            <a:endParaRPr lang="en-US" sz="1600" dirty="0"/>
          </a:p>
        </p:txBody>
      </p:sp>
      <p:sp>
        <p:nvSpPr>
          <p:cNvPr id="45" name="Text 43"/>
          <p:cNvSpPr/>
          <p:nvPr/>
        </p:nvSpPr>
        <p:spPr>
          <a:xfrm>
            <a:off x="8887968" y="3895344"/>
            <a:ext cx="2606040" cy="457200"/>
          </a:xfrm>
          <a:prstGeom prst="rect">
            <a:avLst/>
          </a:prstGeom>
          <a:noFill/>
          <a:ln/>
        </p:spPr>
        <p:txBody>
          <a:bodyPr wrap="square" lIns="0" tIns="0" rIns="0" bIns="0" rtlCol="0" anchor="ctr"/>
          <a:lstStyle/>
          <a:p>
            <a:pPr indent="0" marL="0">
              <a:lnSpc>
                <a:spcPct val="95000"/>
              </a:lnSpc>
              <a:buNone/>
            </a:pPr>
            <a:r>
              <a:rPr lang="en-US" sz="1250" b="1" dirty="0">
                <a:solidFill>
                  <a:srgbClr val="0DA5A0"/>
                </a:solidFill>
                <a:latin typeface="Calibri" pitchFamily="34" charset="0"/>
                <a:ea typeface="Calibri" pitchFamily="34" charset="-122"/>
                <a:cs typeface="Calibri" pitchFamily="34" charset="-120"/>
              </a:rPr>
              <a:t>Access &amp; governance</a:t>
            </a:r>
            <a:endParaRPr lang="en-US" sz="1250" dirty="0"/>
          </a:p>
        </p:txBody>
      </p:sp>
      <p:sp>
        <p:nvSpPr>
          <p:cNvPr id="46" name="Text 44"/>
          <p:cNvSpPr/>
          <p:nvPr/>
        </p:nvSpPr>
        <p:spPr>
          <a:xfrm>
            <a:off x="8357616" y="4434840"/>
            <a:ext cx="3063240" cy="777240"/>
          </a:xfrm>
          <a:prstGeom prst="rect">
            <a:avLst/>
          </a:prstGeom>
          <a:noFill/>
          <a:ln/>
        </p:spPr>
        <p:txBody>
          <a:bodyPr wrap="square" lIns="0" tIns="0" rIns="0" bIns="0" rtlCol="0" anchor="t"/>
          <a:lstStyle/>
          <a:p>
            <a:pPr indent="0" marL="0">
              <a:lnSpc>
                <a:spcPct val="112000"/>
              </a:lnSpc>
              <a:buNone/>
            </a:pPr>
            <a:r>
              <a:rPr lang="en-US" sz="950" dirty="0">
                <a:solidFill>
                  <a:srgbClr val="3E4C63"/>
                </a:solidFill>
                <a:latin typeface="Calibri" pitchFamily="34" charset="0"/>
                <a:ea typeface="Calibri" pitchFamily="34" charset="-122"/>
                <a:cs typeface="Calibri" pitchFamily="34" charset="-120"/>
              </a:rPr>
              <a:t>Role-based access, on our identity and infrastructure, under our data-governance policy.</a:t>
            </a:r>
            <a:endParaRPr lang="en-US" sz="950" dirty="0"/>
          </a:p>
        </p:txBody>
      </p:sp>
      <p:sp>
        <p:nvSpPr>
          <p:cNvPr id="47" name="Shape 45"/>
          <p:cNvSpPr/>
          <p:nvPr/>
        </p:nvSpPr>
        <p:spPr>
          <a:xfrm>
            <a:off x="548640" y="5367528"/>
            <a:ext cx="11091672" cy="502920"/>
          </a:xfrm>
          <a:prstGeom prst="roundRect">
            <a:avLst>
              <a:gd name="adj" fmla="val 12727"/>
            </a:avLst>
          </a:prstGeom>
          <a:solidFill>
            <a:srgbClr val="E7F7F0"/>
          </a:solidFill>
          <a:ln w="12700">
            <a:solidFill>
              <a:srgbClr val="E4EAF2"/>
            </a:solidFill>
            <a:prstDash val="solid"/>
          </a:ln>
        </p:spPr>
      </p:sp>
      <p:sp>
        <p:nvSpPr>
          <p:cNvPr id="48" name="Shape 46"/>
          <p:cNvSpPr/>
          <p:nvPr/>
        </p:nvSpPr>
        <p:spPr>
          <a:xfrm>
            <a:off x="548640" y="5367528"/>
            <a:ext cx="82296" cy="502920"/>
          </a:xfrm>
          <a:prstGeom prst="rect">
            <a:avLst/>
          </a:prstGeom>
          <a:solidFill>
            <a:srgbClr val="0EA472"/>
          </a:solidFill>
          <a:ln/>
        </p:spPr>
      </p:sp>
      <p:sp>
        <p:nvSpPr>
          <p:cNvPr id="49" name="Text 47"/>
          <p:cNvSpPr/>
          <p:nvPr/>
        </p:nvSpPr>
        <p:spPr>
          <a:xfrm>
            <a:off x="914400" y="5367528"/>
            <a:ext cx="10332720" cy="502920"/>
          </a:xfrm>
          <a:prstGeom prst="rect">
            <a:avLst/>
          </a:prstGeom>
          <a:noFill/>
          <a:ln/>
        </p:spPr>
        <p:txBody>
          <a:bodyPr wrap="square" lIns="0" tIns="0" rIns="0" bIns="0" rtlCol="0" anchor="ctr"/>
          <a:lstStyle/>
          <a:p>
            <a:pPr indent="0" marL="0">
              <a:lnSpc>
                <a:spcPct val="105000"/>
              </a:lnSpc>
              <a:buNone/>
            </a:pPr>
            <a:r>
              <a:rPr lang="en-US" sz="1050" b="1" dirty="0">
                <a:solidFill>
                  <a:srgbClr val="0F1E3D"/>
                </a:solidFill>
                <a:latin typeface="Calibri" pitchFamily="34" charset="0"/>
                <a:ea typeface="Calibri" pitchFamily="34" charset="-122"/>
                <a:cs typeface="Calibri" pitchFamily="34" charset="-120"/>
              </a:rPr>
              <a:t>What actually leaves the building:  </a:t>
            </a:r>
            <a:pPr indent="0" marL="0">
              <a:lnSpc>
                <a:spcPct val="105000"/>
              </a:lnSpc>
              <a:buNone/>
            </a:pPr>
            <a:r>
              <a:rPr lang="en-US" sz="1050" dirty="0">
                <a:solidFill>
                  <a:srgbClr val="3E4C63"/>
                </a:solidFill>
                <a:latin typeface="Calibri" pitchFamily="34" charset="0"/>
                <a:ea typeface="Calibri" pitchFamily="34" charset="-122"/>
                <a:cs typeface="Calibri" pitchFamily="34" charset="-120"/>
              </a:rPr>
              <a:t>only the AI inference request, sent via our own server and not retained by the model provider — and in air-gapped / private-routing mode, not even that. Our data, our infrastructure, our IP.</a:t>
            </a:r>
            <a:endParaRPr lang="en-US" sz="1050" dirty="0"/>
          </a:p>
        </p:txBody>
      </p:sp>
      <p:sp>
        <p:nvSpPr>
          <p:cNvPr id="50" name="Shape 48"/>
          <p:cNvSpPr/>
          <p:nvPr/>
        </p:nvSpPr>
        <p:spPr>
          <a:xfrm>
            <a:off x="548640" y="6400800"/>
            <a:ext cx="11094415" cy="12802"/>
          </a:xfrm>
          <a:prstGeom prst="rect">
            <a:avLst/>
          </a:prstGeom>
          <a:solidFill>
            <a:srgbClr val="E4EAF2"/>
          </a:solidFill>
          <a:ln/>
        </p:spPr>
      </p:sp>
      <p:sp>
        <p:nvSpPr>
          <p:cNvPr id="51" name="Text 4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52" name="Text 5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31 / 33</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7C3AED"/>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7C3AED"/>
                </a:solidFill>
                <a:latin typeface="Calibri" pitchFamily="34" charset="0"/>
                <a:ea typeface="Calibri" pitchFamily="34" charset="-122"/>
                <a:cs typeface="Calibri" pitchFamily="34" charset="-120"/>
              </a:rPr>
              <a:t>DEMO · PRESENTER CUE</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Live demo — the 5-minute flow</a:t>
            </a:r>
            <a:endParaRPr lang="en-US" sz="2400" dirty="0"/>
          </a:p>
        </p:txBody>
      </p:sp>
      <p:sp>
        <p:nvSpPr>
          <p:cNvPr id="9" name="Shape 7"/>
          <p:cNvSpPr/>
          <p:nvPr/>
        </p:nvSpPr>
        <p:spPr>
          <a:xfrm>
            <a:off x="548640" y="1371600"/>
            <a:ext cx="1051560" cy="45720"/>
          </a:xfrm>
          <a:prstGeom prst="rect">
            <a:avLst/>
          </a:prstGeom>
          <a:solidFill>
            <a:srgbClr val="7C3AED"/>
          </a:solidFill>
          <a:ln/>
        </p:spPr>
      </p:sp>
      <p:sp>
        <p:nvSpPr>
          <p:cNvPr id="10" name="Text 8"/>
          <p:cNvSpPr/>
          <p:nvPr/>
        </p:nvSpPr>
        <p:spPr>
          <a:xfrm>
            <a:off x="548640" y="1554480"/>
            <a:ext cx="11064240" cy="365760"/>
          </a:xfrm>
          <a:prstGeom prst="rect">
            <a:avLst/>
          </a:prstGeom>
          <a:noFill/>
          <a:ln/>
        </p:spPr>
        <p:txBody>
          <a:bodyPr wrap="square" lIns="0" tIns="0" rIns="0" bIns="0" rtlCol="0" anchor="t"/>
          <a:lstStyle/>
          <a:p>
            <a:pPr indent="0" marL="0">
              <a:buNone/>
            </a:pPr>
            <a:r>
              <a:rPr lang="en-US" sz="1250" dirty="0">
                <a:solidFill>
                  <a:srgbClr val="3E4C63"/>
                </a:solidFill>
                <a:latin typeface="Calibri" pitchFamily="34" charset="0"/>
                <a:ea typeface="Calibri" pitchFamily="34" charset="-122"/>
                <a:cs typeface="Calibri" pitchFamily="34" charset="-120"/>
              </a:rPr>
              <a:t>A tight, high-impact path through the live system — click order, what to show, and the moment that lands.</a:t>
            </a:r>
            <a:endParaRPr lang="en-US" sz="1250" dirty="0"/>
          </a:p>
        </p:txBody>
      </p:sp>
      <p:sp>
        <p:nvSpPr>
          <p:cNvPr id="11" name="Shape 9"/>
          <p:cNvSpPr/>
          <p:nvPr/>
        </p:nvSpPr>
        <p:spPr>
          <a:xfrm>
            <a:off x="548640" y="2057400"/>
            <a:ext cx="7315200" cy="512064"/>
          </a:xfrm>
          <a:prstGeom prst="roundRect">
            <a:avLst>
              <a:gd name="adj" fmla="val 8929"/>
            </a:avLst>
          </a:prstGeom>
          <a:solidFill>
            <a:srgbClr val="F4F7FB"/>
          </a:solidFill>
          <a:ln w="12700">
            <a:solidFill>
              <a:srgbClr val="E4EAF2"/>
            </a:solidFill>
            <a:prstDash val="solid"/>
          </a:ln>
        </p:spPr>
      </p:sp>
      <p:sp>
        <p:nvSpPr>
          <p:cNvPr id="12" name="Shape 10"/>
          <p:cNvSpPr/>
          <p:nvPr/>
        </p:nvSpPr>
        <p:spPr>
          <a:xfrm>
            <a:off x="548640" y="2057400"/>
            <a:ext cx="73152" cy="512064"/>
          </a:xfrm>
          <a:prstGeom prst="rect">
            <a:avLst/>
          </a:prstGeom>
          <a:solidFill>
            <a:srgbClr val="0DA5A0"/>
          </a:solidFill>
          <a:ln/>
        </p:spPr>
      </p:sp>
      <p:sp>
        <p:nvSpPr>
          <p:cNvPr id="13" name="Shape 11"/>
          <p:cNvSpPr/>
          <p:nvPr/>
        </p:nvSpPr>
        <p:spPr>
          <a:xfrm>
            <a:off x="694944" y="2148840"/>
            <a:ext cx="329184" cy="329184"/>
          </a:xfrm>
          <a:prstGeom prst="ellipse">
            <a:avLst/>
          </a:prstGeom>
          <a:solidFill>
            <a:srgbClr val="0DA5A0"/>
          </a:solidFill>
          <a:ln/>
          <a:effectLst>
            <a:outerShdw sx="100000" sy="100000" kx="0" ky="0" algn="bl" rotWithShape="0" blurRad="2.289968664788388e+66" dist="6.86990599436516e+65" dir="2.5389989167104004e+78">
              <a:srgbClr val="A7B6CE">
                <a:alpha val="1.8000000000000003e+79"/>
              </a:srgbClr>
            </a:outerShdw>
          </a:effectLst>
        </p:spPr>
      </p:sp>
      <p:sp>
        <p:nvSpPr>
          <p:cNvPr id="14" name="Text 12"/>
          <p:cNvSpPr/>
          <p:nvPr/>
        </p:nvSpPr>
        <p:spPr>
          <a:xfrm>
            <a:off x="694944" y="214884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1</a:t>
            </a:r>
            <a:endParaRPr lang="en-US" sz="1224" dirty="0"/>
          </a:p>
        </p:txBody>
      </p:sp>
      <p:sp>
        <p:nvSpPr>
          <p:cNvPr id="15" name="Text 13"/>
          <p:cNvSpPr/>
          <p:nvPr/>
        </p:nvSpPr>
        <p:spPr>
          <a:xfrm>
            <a:off x="1152144" y="2057400"/>
            <a:ext cx="1645920" cy="512064"/>
          </a:xfrm>
          <a:prstGeom prst="rect">
            <a:avLst/>
          </a:prstGeom>
          <a:noFill/>
          <a:ln/>
        </p:spPr>
        <p:txBody>
          <a:bodyPr wrap="square" lIns="0" tIns="0" rIns="0" bIns="0" rtlCol="0" anchor="ctr"/>
          <a:lstStyle/>
          <a:p>
            <a:pPr indent="0" marL="0">
              <a:buNone/>
            </a:pPr>
            <a:r>
              <a:rPr lang="en-US" sz="1150" b="1" dirty="0">
                <a:solidFill>
                  <a:srgbClr val="0DA5A0"/>
                </a:solidFill>
                <a:latin typeface="Calibri" pitchFamily="34" charset="0"/>
                <a:ea typeface="Calibri" pitchFamily="34" charset="-122"/>
                <a:cs typeface="Calibri" pitchFamily="34" charset="-120"/>
              </a:rPr>
              <a:t>CAD → Cost</a:t>
            </a:r>
            <a:endParaRPr lang="en-US" sz="1150" dirty="0"/>
          </a:p>
        </p:txBody>
      </p:sp>
      <p:sp>
        <p:nvSpPr>
          <p:cNvPr id="16" name="Text 14"/>
          <p:cNvSpPr/>
          <p:nvPr/>
        </p:nvSpPr>
        <p:spPr>
          <a:xfrm>
            <a:off x="2834640" y="208483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Upload a STEP model → show the 3D viewer, geometry &amp; feature table → Calculate</a:t>
            </a:r>
            <a:endParaRPr lang="en-US" sz="900" dirty="0"/>
          </a:p>
        </p:txBody>
      </p:sp>
      <p:sp>
        <p:nvSpPr>
          <p:cNvPr id="17" name="Text 15"/>
          <p:cNvSpPr/>
          <p:nvPr/>
        </p:nvSpPr>
        <p:spPr>
          <a:xfrm>
            <a:off x="6080760" y="208483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should-cost + confidence band appear in ~30–60 s</a:t>
            </a:r>
            <a:endParaRPr lang="en-US" sz="850" dirty="0"/>
          </a:p>
        </p:txBody>
      </p:sp>
      <p:sp>
        <p:nvSpPr>
          <p:cNvPr id="18" name="Shape 16"/>
          <p:cNvSpPr/>
          <p:nvPr/>
        </p:nvSpPr>
        <p:spPr>
          <a:xfrm>
            <a:off x="548640" y="2660904"/>
            <a:ext cx="7315200" cy="512064"/>
          </a:xfrm>
          <a:prstGeom prst="roundRect">
            <a:avLst>
              <a:gd name="adj" fmla="val 8929"/>
            </a:avLst>
          </a:prstGeom>
          <a:solidFill>
            <a:srgbClr val="FFFFFF"/>
          </a:solidFill>
          <a:ln w="12700">
            <a:solidFill>
              <a:srgbClr val="E4EAF2"/>
            </a:solidFill>
            <a:prstDash val="solid"/>
          </a:ln>
        </p:spPr>
      </p:sp>
      <p:sp>
        <p:nvSpPr>
          <p:cNvPr id="19" name="Shape 17"/>
          <p:cNvSpPr/>
          <p:nvPr/>
        </p:nvSpPr>
        <p:spPr>
          <a:xfrm>
            <a:off x="548640" y="2660904"/>
            <a:ext cx="73152" cy="512064"/>
          </a:xfrm>
          <a:prstGeom prst="rect">
            <a:avLst/>
          </a:prstGeom>
          <a:solidFill>
            <a:srgbClr val="2563EB"/>
          </a:solidFill>
          <a:ln/>
        </p:spPr>
      </p:sp>
      <p:sp>
        <p:nvSpPr>
          <p:cNvPr id="20" name="Shape 18"/>
          <p:cNvSpPr/>
          <p:nvPr/>
        </p:nvSpPr>
        <p:spPr>
          <a:xfrm>
            <a:off x="694944" y="2752344"/>
            <a:ext cx="329184" cy="329184"/>
          </a:xfrm>
          <a:prstGeom prst="ellipse">
            <a:avLst/>
          </a:prstGeom>
          <a:solidFill>
            <a:srgbClr val="2563EB"/>
          </a:solidFill>
          <a:ln/>
          <a:effectLst>
            <a:outerShdw sx="100000" sy="100000" kx="0" ky="0" algn="bl" rotWithShape="0" blurRad="2.908260204281253e+70" dist="8.724780612843754e+69" dir="1.5233993500262402e+83">
              <a:srgbClr val="A7B6CE">
                <a:alpha val="1.8000000000000004e+84"/>
              </a:srgbClr>
            </a:outerShdw>
          </a:effectLst>
        </p:spPr>
      </p:sp>
      <p:sp>
        <p:nvSpPr>
          <p:cNvPr id="21" name="Text 19"/>
          <p:cNvSpPr/>
          <p:nvPr/>
        </p:nvSpPr>
        <p:spPr>
          <a:xfrm>
            <a:off x="694944" y="2752344"/>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2</a:t>
            </a:r>
            <a:endParaRPr lang="en-US" sz="1224" dirty="0"/>
          </a:p>
        </p:txBody>
      </p:sp>
      <p:sp>
        <p:nvSpPr>
          <p:cNvPr id="22" name="Text 20"/>
          <p:cNvSpPr/>
          <p:nvPr/>
        </p:nvSpPr>
        <p:spPr>
          <a:xfrm>
            <a:off x="1152144" y="2660904"/>
            <a:ext cx="1645920" cy="512064"/>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Add a 2D drawing</a:t>
            </a:r>
            <a:endParaRPr lang="en-US" sz="1150" dirty="0"/>
          </a:p>
        </p:txBody>
      </p:sp>
      <p:sp>
        <p:nvSpPr>
          <p:cNvPr id="23" name="Text 21"/>
          <p:cNvSpPr/>
          <p:nvPr/>
        </p:nvSpPr>
        <p:spPr>
          <a:xfrm>
            <a:off x="2834640" y="2688336"/>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Attach the engineering-drawing PDF → re-analyse</a:t>
            </a:r>
            <a:endParaRPr lang="en-US" sz="900" dirty="0"/>
          </a:p>
        </p:txBody>
      </p:sp>
      <p:sp>
        <p:nvSpPr>
          <p:cNvPr id="24" name="Text 22"/>
          <p:cNvSpPr/>
          <p:nvPr/>
        </p:nvSpPr>
        <p:spPr>
          <a:xfrm>
            <a:off x="6080760" y="2688336"/>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tolerances tighten the process route — accuracy improves live</a:t>
            </a:r>
            <a:endParaRPr lang="en-US" sz="850" dirty="0"/>
          </a:p>
        </p:txBody>
      </p:sp>
      <p:sp>
        <p:nvSpPr>
          <p:cNvPr id="25" name="Shape 23"/>
          <p:cNvSpPr/>
          <p:nvPr/>
        </p:nvSpPr>
        <p:spPr>
          <a:xfrm>
            <a:off x="548640" y="3264408"/>
            <a:ext cx="7315200" cy="512064"/>
          </a:xfrm>
          <a:prstGeom prst="roundRect">
            <a:avLst>
              <a:gd name="adj" fmla="val 8929"/>
            </a:avLst>
          </a:prstGeom>
          <a:solidFill>
            <a:srgbClr val="F4F7FB"/>
          </a:solidFill>
          <a:ln w="12700">
            <a:solidFill>
              <a:srgbClr val="E4EAF2"/>
            </a:solidFill>
            <a:prstDash val="solid"/>
          </a:ln>
        </p:spPr>
      </p:sp>
      <p:sp>
        <p:nvSpPr>
          <p:cNvPr id="26" name="Shape 24"/>
          <p:cNvSpPr/>
          <p:nvPr/>
        </p:nvSpPr>
        <p:spPr>
          <a:xfrm>
            <a:off x="548640" y="3264408"/>
            <a:ext cx="73152" cy="512064"/>
          </a:xfrm>
          <a:prstGeom prst="rect">
            <a:avLst/>
          </a:prstGeom>
          <a:solidFill>
            <a:srgbClr val="E0900C"/>
          </a:solidFill>
          <a:ln/>
        </p:spPr>
      </p:sp>
      <p:sp>
        <p:nvSpPr>
          <p:cNvPr id="27" name="Shape 25"/>
          <p:cNvSpPr/>
          <p:nvPr/>
        </p:nvSpPr>
        <p:spPr>
          <a:xfrm>
            <a:off x="694944" y="3355848"/>
            <a:ext cx="329184" cy="329184"/>
          </a:xfrm>
          <a:prstGeom prst="ellipse">
            <a:avLst/>
          </a:prstGeom>
          <a:solidFill>
            <a:srgbClr val="E0900C"/>
          </a:solidFill>
          <a:ln/>
          <a:effectLst>
            <a:outerShdw sx="100000" sy="100000" kx="0" ky="0" algn="bl" rotWithShape="0" blurRad="3.693490459437191e+74" dist="1.1080471378311567e+74" dir="9.14039610015744e+87">
              <a:srgbClr val="A7B6CE">
                <a:alpha val="1.8000000000000005e+89"/>
              </a:srgbClr>
            </a:outerShdw>
          </a:effectLst>
        </p:spPr>
      </p:sp>
      <p:sp>
        <p:nvSpPr>
          <p:cNvPr id="28" name="Text 26"/>
          <p:cNvSpPr/>
          <p:nvPr/>
        </p:nvSpPr>
        <p:spPr>
          <a:xfrm>
            <a:off x="694944" y="3355848"/>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3</a:t>
            </a:r>
            <a:endParaRPr lang="en-US" sz="1224" dirty="0"/>
          </a:p>
        </p:txBody>
      </p:sp>
      <p:sp>
        <p:nvSpPr>
          <p:cNvPr id="29" name="Text 27"/>
          <p:cNvSpPr/>
          <p:nvPr/>
        </p:nvSpPr>
        <p:spPr>
          <a:xfrm>
            <a:off x="1152144" y="3264408"/>
            <a:ext cx="1645920" cy="512064"/>
          </a:xfrm>
          <a:prstGeom prst="rect">
            <a:avLst/>
          </a:prstGeom>
          <a:noFill/>
          <a:ln/>
        </p:spPr>
        <p:txBody>
          <a:bodyPr wrap="square" lIns="0" tIns="0" rIns="0" bIns="0" rtlCol="0" anchor="ctr"/>
          <a:lstStyle/>
          <a:p>
            <a:pPr indent="0" marL="0">
              <a:buNone/>
            </a:pPr>
            <a:r>
              <a:rPr lang="en-US" sz="1150" b="1" dirty="0">
                <a:solidFill>
                  <a:srgbClr val="E0900C"/>
                </a:solidFill>
                <a:latin typeface="Calibri" pitchFamily="34" charset="0"/>
                <a:ea typeface="Calibri" pitchFamily="34" charset="-122"/>
                <a:cs typeface="Calibri" pitchFamily="34" charset="-120"/>
              </a:rPr>
              <a:t>Compare countries</a:t>
            </a:r>
            <a:endParaRPr lang="en-US" sz="1150" dirty="0"/>
          </a:p>
        </p:txBody>
      </p:sp>
      <p:sp>
        <p:nvSpPr>
          <p:cNvPr id="30" name="Text 28"/>
          <p:cNvSpPr/>
          <p:nvPr/>
        </p:nvSpPr>
        <p:spPr>
          <a:xfrm>
            <a:off x="2834640" y="3291840"/>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Switch the region selector / open the comparison</a:t>
            </a:r>
            <a:endParaRPr lang="en-US" sz="900" dirty="0"/>
          </a:p>
        </p:txBody>
      </p:sp>
      <p:sp>
        <p:nvSpPr>
          <p:cNvPr id="31" name="Text 29"/>
          <p:cNvSpPr/>
          <p:nvPr/>
        </p:nvSpPr>
        <p:spPr>
          <a:xfrm>
            <a:off x="6080760" y="3291840"/>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20-region spread — China vs Germany — in one click</a:t>
            </a:r>
            <a:endParaRPr lang="en-US" sz="850" dirty="0"/>
          </a:p>
        </p:txBody>
      </p:sp>
      <p:sp>
        <p:nvSpPr>
          <p:cNvPr id="32" name="Shape 30"/>
          <p:cNvSpPr/>
          <p:nvPr/>
        </p:nvSpPr>
        <p:spPr>
          <a:xfrm>
            <a:off x="548640" y="3867912"/>
            <a:ext cx="7315200" cy="512064"/>
          </a:xfrm>
          <a:prstGeom prst="roundRect">
            <a:avLst>
              <a:gd name="adj" fmla="val 8929"/>
            </a:avLst>
          </a:prstGeom>
          <a:solidFill>
            <a:srgbClr val="FFFFFF"/>
          </a:solidFill>
          <a:ln w="12700">
            <a:solidFill>
              <a:srgbClr val="E4EAF2"/>
            </a:solidFill>
            <a:prstDash val="solid"/>
          </a:ln>
        </p:spPr>
      </p:sp>
      <p:sp>
        <p:nvSpPr>
          <p:cNvPr id="33" name="Shape 31"/>
          <p:cNvSpPr/>
          <p:nvPr/>
        </p:nvSpPr>
        <p:spPr>
          <a:xfrm>
            <a:off x="548640" y="3867912"/>
            <a:ext cx="73152" cy="512064"/>
          </a:xfrm>
          <a:prstGeom prst="rect">
            <a:avLst/>
          </a:prstGeom>
          <a:solidFill>
            <a:srgbClr val="0E93B0"/>
          </a:solidFill>
          <a:ln/>
        </p:spPr>
      </p:sp>
      <p:sp>
        <p:nvSpPr>
          <p:cNvPr id="34" name="Shape 32"/>
          <p:cNvSpPr/>
          <p:nvPr/>
        </p:nvSpPr>
        <p:spPr>
          <a:xfrm>
            <a:off x="694944" y="3959352"/>
            <a:ext cx="329184" cy="329184"/>
          </a:xfrm>
          <a:prstGeom prst="ellipse">
            <a:avLst/>
          </a:prstGeom>
          <a:solidFill>
            <a:srgbClr val="0E93B0"/>
          </a:solidFill>
          <a:ln/>
          <a:effectLst>
            <a:outerShdw sx="100000" sy="100000" kx="0" ky="0" algn="bl" rotWithShape="0" blurRad="4.690732883485232e+78" dist="1.407219865045569e+78" dir="5.484237660094465e+92">
              <a:srgbClr val="A7B6CE">
                <a:alpha val="1.8000000000000007e+94"/>
              </a:srgbClr>
            </a:outerShdw>
          </a:effectLst>
        </p:spPr>
      </p:sp>
      <p:sp>
        <p:nvSpPr>
          <p:cNvPr id="35" name="Text 33"/>
          <p:cNvSpPr/>
          <p:nvPr/>
        </p:nvSpPr>
        <p:spPr>
          <a:xfrm>
            <a:off x="694944" y="3959352"/>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4</a:t>
            </a:r>
            <a:endParaRPr lang="en-US" sz="1224" dirty="0"/>
          </a:p>
        </p:txBody>
      </p:sp>
      <p:sp>
        <p:nvSpPr>
          <p:cNvPr id="36" name="Text 34"/>
          <p:cNvSpPr/>
          <p:nvPr/>
        </p:nvSpPr>
        <p:spPr>
          <a:xfrm>
            <a:off x="1152144" y="3867912"/>
            <a:ext cx="1645920" cy="512064"/>
          </a:xfrm>
          <a:prstGeom prst="rect">
            <a:avLst/>
          </a:prstGeom>
          <a:noFill/>
          <a:ln/>
        </p:spPr>
        <p:txBody>
          <a:bodyPr wrap="square" lIns="0" tIns="0" rIns="0" bIns="0" rtlCol="0" anchor="ctr"/>
          <a:lstStyle/>
          <a:p>
            <a:pPr indent="0" marL="0">
              <a:buNone/>
            </a:pPr>
            <a:r>
              <a:rPr lang="en-US" sz="1150" b="1" dirty="0">
                <a:solidFill>
                  <a:srgbClr val="0E93B0"/>
                </a:solidFill>
                <a:latin typeface="Calibri" pitchFamily="34" charset="0"/>
                <a:ea typeface="Calibri" pitchFamily="34" charset="-122"/>
                <a:cs typeface="Calibri" pitchFamily="34" charset="-120"/>
              </a:rPr>
              <a:t>PCB photo → BOM</a:t>
            </a:r>
            <a:endParaRPr lang="en-US" sz="1150" dirty="0"/>
          </a:p>
        </p:txBody>
      </p:sp>
      <p:sp>
        <p:nvSpPr>
          <p:cNvPr id="37" name="Text 35"/>
          <p:cNvSpPr/>
          <p:nvPr/>
        </p:nvSpPr>
        <p:spPr>
          <a:xfrm>
            <a:off x="2834640" y="3895344"/>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Drop a board photo → run analysis</a:t>
            </a:r>
            <a:endParaRPr lang="en-US" sz="900" dirty="0"/>
          </a:p>
        </p:txBody>
      </p:sp>
      <p:sp>
        <p:nvSpPr>
          <p:cNvPr id="38" name="Text 36"/>
          <p:cNvSpPr/>
          <p:nvPr/>
        </p:nvSpPr>
        <p:spPr>
          <a:xfrm>
            <a:off x="6080760" y="3895344"/>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a full costed BOM builds from a single picture</a:t>
            </a:r>
            <a:endParaRPr lang="en-US" sz="850" dirty="0"/>
          </a:p>
        </p:txBody>
      </p:sp>
      <p:sp>
        <p:nvSpPr>
          <p:cNvPr id="39" name="Shape 37"/>
          <p:cNvSpPr/>
          <p:nvPr/>
        </p:nvSpPr>
        <p:spPr>
          <a:xfrm>
            <a:off x="548640" y="4471416"/>
            <a:ext cx="7315200" cy="512064"/>
          </a:xfrm>
          <a:prstGeom prst="roundRect">
            <a:avLst>
              <a:gd name="adj" fmla="val 8929"/>
            </a:avLst>
          </a:prstGeom>
          <a:solidFill>
            <a:srgbClr val="F4F7FB"/>
          </a:solidFill>
          <a:ln w="12700">
            <a:solidFill>
              <a:srgbClr val="E4EAF2"/>
            </a:solidFill>
            <a:prstDash val="solid"/>
          </a:ln>
        </p:spPr>
      </p:sp>
      <p:sp>
        <p:nvSpPr>
          <p:cNvPr id="40" name="Shape 38"/>
          <p:cNvSpPr/>
          <p:nvPr/>
        </p:nvSpPr>
        <p:spPr>
          <a:xfrm>
            <a:off x="548640" y="4471416"/>
            <a:ext cx="73152" cy="512064"/>
          </a:xfrm>
          <a:prstGeom prst="rect">
            <a:avLst/>
          </a:prstGeom>
          <a:solidFill>
            <a:srgbClr val="7C3AED"/>
          </a:solidFill>
          <a:ln/>
        </p:spPr>
      </p:sp>
      <p:sp>
        <p:nvSpPr>
          <p:cNvPr id="41" name="Shape 39"/>
          <p:cNvSpPr/>
          <p:nvPr/>
        </p:nvSpPr>
        <p:spPr>
          <a:xfrm>
            <a:off x="694944" y="4562856"/>
            <a:ext cx="329184" cy="329184"/>
          </a:xfrm>
          <a:prstGeom prst="ellipse">
            <a:avLst/>
          </a:prstGeom>
          <a:solidFill>
            <a:srgbClr val="7C3AED"/>
          </a:solidFill>
          <a:ln/>
          <a:effectLst>
            <a:outerShdw sx="100000" sy="100000" kx="0" ky="0" algn="bl" rotWithShape="0" blurRad="5.957230762026245e+82" dist="1.7871692286078725e+82" dir="3.2905425960566786e+97">
              <a:srgbClr val="A7B6CE">
                <a:alpha val="1.8000000000000008e+99"/>
              </a:srgbClr>
            </a:outerShdw>
          </a:effectLst>
        </p:spPr>
      </p:sp>
      <p:sp>
        <p:nvSpPr>
          <p:cNvPr id="42" name="Text 40"/>
          <p:cNvSpPr/>
          <p:nvPr/>
        </p:nvSpPr>
        <p:spPr>
          <a:xfrm>
            <a:off x="694944" y="4562856"/>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5</a:t>
            </a:r>
            <a:endParaRPr lang="en-US" sz="1224" dirty="0"/>
          </a:p>
        </p:txBody>
      </p:sp>
      <p:sp>
        <p:nvSpPr>
          <p:cNvPr id="43" name="Text 41"/>
          <p:cNvSpPr/>
          <p:nvPr/>
        </p:nvSpPr>
        <p:spPr>
          <a:xfrm>
            <a:off x="1152144" y="4471416"/>
            <a:ext cx="1645920" cy="512064"/>
          </a:xfrm>
          <a:prstGeom prst="rect">
            <a:avLst/>
          </a:prstGeom>
          <a:noFill/>
          <a:ln/>
        </p:spPr>
        <p:txBody>
          <a:bodyPr wrap="square" lIns="0" tIns="0" rIns="0" bIns="0" rtlCol="0" anchor="ctr"/>
          <a:lstStyle/>
          <a:p>
            <a:pPr indent="0" marL="0">
              <a:buNone/>
            </a:pPr>
            <a:r>
              <a:rPr lang="en-US" sz="1150" b="1" dirty="0">
                <a:solidFill>
                  <a:srgbClr val="7C3AED"/>
                </a:solidFill>
                <a:latin typeface="Calibri" pitchFamily="34" charset="0"/>
                <a:ea typeface="Calibri" pitchFamily="34" charset="-122"/>
                <a:cs typeface="Calibri" pitchFamily="34" charset="-120"/>
              </a:rPr>
              <a:t>Negotiation</a:t>
            </a:r>
            <a:endParaRPr lang="en-US" sz="1150" dirty="0"/>
          </a:p>
        </p:txBody>
      </p:sp>
      <p:sp>
        <p:nvSpPr>
          <p:cNvPr id="44" name="Text 42"/>
          <p:cNvSpPr/>
          <p:nvPr/>
        </p:nvSpPr>
        <p:spPr>
          <a:xfrm>
            <a:off x="2834640" y="4498848"/>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Paste a supplier quote → generate pack</a:t>
            </a:r>
            <a:endParaRPr lang="en-US" sz="900" dirty="0"/>
          </a:p>
        </p:txBody>
      </p:sp>
      <p:sp>
        <p:nvSpPr>
          <p:cNvPr id="45" name="Text 43"/>
          <p:cNvSpPr/>
          <p:nvPr/>
        </p:nvSpPr>
        <p:spPr>
          <a:xfrm>
            <a:off x="6080760" y="4498848"/>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the gap teardown by driver + ready-to-send questions</a:t>
            </a:r>
            <a:endParaRPr lang="en-US" sz="850" dirty="0"/>
          </a:p>
        </p:txBody>
      </p:sp>
      <p:sp>
        <p:nvSpPr>
          <p:cNvPr id="46" name="Shape 44"/>
          <p:cNvSpPr/>
          <p:nvPr/>
        </p:nvSpPr>
        <p:spPr>
          <a:xfrm>
            <a:off x="548640" y="5074920"/>
            <a:ext cx="7315200" cy="512064"/>
          </a:xfrm>
          <a:prstGeom prst="roundRect">
            <a:avLst>
              <a:gd name="adj" fmla="val 8929"/>
            </a:avLst>
          </a:prstGeom>
          <a:solidFill>
            <a:srgbClr val="FFFFFF"/>
          </a:solidFill>
          <a:ln w="12700">
            <a:solidFill>
              <a:srgbClr val="E4EAF2"/>
            </a:solidFill>
            <a:prstDash val="solid"/>
          </a:ln>
        </p:spPr>
      </p:sp>
      <p:sp>
        <p:nvSpPr>
          <p:cNvPr id="47" name="Shape 45"/>
          <p:cNvSpPr/>
          <p:nvPr/>
        </p:nvSpPr>
        <p:spPr>
          <a:xfrm>
            <a:off x="548640" y="5074920"/>
            <a:ext cx="73152" cy="512064"/>
          </a:xfrm>
          <a:prstGeom prst="rect">
            <a:avLst/>
          </a:prstGeom>
          <a:solidFill>
            <a:srgbClr val="E5484D"/>
          </a:solidFill>
          <a:ln/>
        </p:spPr>
      </p:sp>
      <p:sp>
        <p:nvSpPr>
          <p:cNvPr id="48" name="Shape 46"/>
          <p:cNvSpPr/>
          <p:nvPr/>
        </p:nvSpPr>
        <p:spPr>
          <a:xfrm>
            <a:off x="694944" y="5166360"/>
            <a:ext cx="329184" cy="329184"/>
          </a:xfrm>
          <a:prstGeom prst="ellipse">
            <a:avLst/>
          </a:prstGeom>
          <a:solidFill>
            <a:srgbClr val="E5484D"/>
          </a:solidFill>
          <a:ln/>
          <a:effectLst>
            <a:outerShdw sx="100000" sy="100000" kx="0" ky="0" algn="bl" rotWithShape="0" blurRad="7.565683067773332e+86" dist="2.269704920331998e+86" dir="1.9743255576340073e+102">
              <a:srgbClr val="A7B6CE">
                <a:alpha val="1.800000000000001e+104"/>
              </a:srgbClr>
            </a:outerShdw>
          </a:effectLst>
        </p:spPr>
      </p:sp>
      <p:sp>
        <p:nvSpPr>
          <p:cNvPr id="49" name="Text 47"/>
          <p:cNvSpPr/>
          <p:nvPr/>
        </p:nvSpPr>
        <p:spPr>
          <a:xfrm>
            <a:off x="694944" y="5166360"/>
            <a:ext cx="329184" cy="329184"/>
          </a:xfrm>
          <a:prstGeom prst="rect">
            <a:avLst/>
          </a:prstGeom>
          <a:noFill/>
          <a:ln/>
        </p:spPr>
        <p:txBody>
          <a:bodyPr wrap="square" lIns="0" tIns="0" rIns="0" bIns="0" rtlCol="0" anchor="ctr"/>
          <a:lstStyle/>
          <a:p>
            <a:pPr algn="ctr" indent="0" marL="0">
              <a:buNone/>
            </a:pPr>
            <a:r>
              <a:rPr lang="en-US" sz="1224" b="1" dirty="0">
                <a:solidFill>
                  <a:srgbClr val="FFFFFF"/>
                </a:solidFill>
                <a:latin typeface="Calibri" pitchFamily="34" charset="0"/>
                <a:ea typeface="Calibri" pitchFamily="34" charset="-122"/>
                <a:cs typeface="Calibri" pitchFamily="34" charset="-120"/>
              </a:rPr>
              <a:t>6</a:t>
            </a:r>
            <a:endParaRPr lang="en-US" sz="1224" dirty="0"/>
          </a:p>
        </p:txBody>
      </p:sp>
      <p:sp>
        <p:nvSpPr>
          <p:cNvPr id="50" name="Text 48"/>
          <p:cNvSpPr/>
          <p:nvPr/>
        </p:nvSpPr>
        <p:spPr>
          <a:xfrm>
            <a:off x="1152144" y="5074920"/>
            <a:ext cx="1645920" cy="512064"/>
          </a:xfrm>
          <a:prstGeom prst="rect">
            <a:avLst/>
          </a:prstGeom>
          <a:noFill/>
          <a:ln/>
        </p:spPr>
        <p:txBody>
          <a:bodyPr wrap="square" lIns="0" tIns="0" rIns="0" bIns="0" rtlCol="0" anchor="ctr"/>
          <a:lstStyle/>
          <a:p>
            <a:pPr indent="0" marL="0">
              <a:buNone/>
            </a:pPr>
            <a:r>
              <a:rPr lang="en-US" sz="1150" b="1" dirty="0">
                <a:solidFill>
                  <a:srgbClr val="E5484D"/>
                </a:solidFill>
                <a:latin typeface="Calibri" pitchFamily="34" charset="0"/>
                <a:ea typeface="Calibri" pitchFamily="34" charset="-122"/>
                <a:cs typeface="Calibri" pitchFamily="34" charset="-120"/>
              </a:rPr>
              <a:t>Autonomous agent</a:t>
            </a:r>
            <a:endParaRPr lang="en-US" sz="1150" dirty="0"/>
          </a:p>
        </p:txBody>
      </p:sp>
      <p:sp>
        <p:nvSpPr>
          <p:cNvPr id="51" name="Text 49"/>
          <p:cNvSpPr/>
          <p:nvPr/>
        </p:nvSpPr>
        <p:spPr>
          <a:xfrm>
            <a:off x="2834640" y="5102352"/>
            <a:ext cx="3200400" cy="475488"/>
          </a:xfrm>
          <a:prstGeom prst="rect">
            <a:avLst/>
          </a:prstGeom>
          <a:noFill/>
          <a:ln/>
        </p:spPr>
        <p:txBody>
          <a:bodyPr wrap="square" lIns="0" tIns="0" rIns="0" bIns="0" rtlCol="0" anchor="ctr"/>
          <a:lstStyle/>
          <a:p>
            <a:pPr indent="0" marL="0">
              <a:lnSpc>
                <a:spcPct val="98000"/>
              </a:lnSpc>
              <a:buNone/>
            </a:pPr>
            <a:r>
              <a:rPr lang="en-US" sz="900" dirty="0">
                <a:solidFill>
                  <a:srgbClr val="3E4C63"/>
                </a:solidFill>
                <a:latin typeface="Calibri" pitchFamily="34" charset="0"/>
                <a:ea typeface="Calibri" pitchFamily="34" charset="-122"/>
                <a:cs typeface="Calibri" pitchFamily="34" charset="-120"/>
              </a:rPr>
              <a:t>Open the findings panel</a:t>
            </a:r>
            <a:endParaRPr lang="en-US" sz="900" dirty="0"/>
          </a:p>
        </p:txBody>
      </p:sp>
      <p:sp>
        <p:nvSpPr>
          <p:cNvPr id="52" name="Text 50"/>
          <p:cNvSpPr/>
          <p:nvPr/>
        </p:nvSpPr>
        <p:spPr>
          <a:xfrm>
            <a:off x="6080760" y="5102352"/>
            <a:ext cx="1737360" cy="475488"/>
          </a:xfrm>
          <a:prstGeom prst="rect">
            <a:avLst/>
          </a:prstGeom>
          <a:noFill/>
          <a:ln/>
        </p:spPr>
        <p:txBody>
          <a:bodyPr wrap="square" lIns="0" tIns="0" rIns="0" bIns="0" rtlCol="0" anchor="ctr"/>
          <a:lstStyle/>
          <a:p>
            <a:pPr indent="0" marL="0">
              <a:lnSpc>
                <a:spcPct val="98000"/>
              </a:lnSpc>
              <a:buNone/>
            </a:pPr>
            <a:r>
              <a:rPr lang="en-US" sz="850" i="1" dirty="0">
                <a:solidFill>
                  <a:srgbClr val="8A97A8"/>
                </a:solidFill>
                <a:latin typeface="Calibri" pitchFamily="34" charset="0"/>
                <a:ea typeface="Calibri" pitchFamily="34" charset="-122"/>
                <a:cs typeface="Calibri" pitchFamily="34" charset="-120"/>
              </a:rPr>
              <a:t>→ ~£512k/yr surfaced by itself — the "wow" close</a:t>
            </a:r>
            <a:endParaRPr lang="en-US" sz="850" dirty="0"/>
          </a:p>
        </p:txBody>
      </p:sp>
      <p:sp>
        <p:nvSpPr>
          <p:cNvPr id="53" name="Shape 51"/>
          <p:cNvSpPr/>
          <p:nvPr/>
        </p:nvSpPr>
        <p:spPr>
          <a:xfrm>
            <a:off x="8165592" y="2057400"/>
            <a:ext cx="3477463" cy="3529584"/>
          </a:xfrm>
          <a:prstGeom prst="roundRect">
            <a:avLst>
              <a:gd name="adj" fmla="val 1841"/>
            </a:avLst>
          </a:prstGeom>
          <a:solidFill>
            <a:srgbClr val="F3EEFE"/>
          </a:solidFill>
          <a:ln w="12700">
            <a:solidFill>
              <a:srgbClr val="E4EAF2"/>
            </a:solidFill>
            <a:prstDash val="solid"/>
          </a:ln>
        </p:spPr>
      </p:sp>
      <p:sp>
        <p:nvSpPr>
          <p:cNvPr id="54" name="Shape 52"/>
          <p:cNvSpPr/>
          <p:nvPr/>
        </p:nvSpPr>
        <p:spPr>
          <a:xfrm>
            <a:off x="8165592" y="2057400"/>
            <a:ext cx="82296" cy="3529584"/>
          </a:xfrm>
          <a:prstGeom prst="rect">
            <a:avLst/>
          </a:prstGeom>
          <a:solidFill>
            <a:srgbClr val="7C3AED"/>
          </a:solidFill>
          <a:ln/>
        </p:spPr>
      </p:sp>
      <p:sp>
        <p:nvSpPr>
          <p:cNvPr id="55" name="Text 53"/>
          <p:cNvSpPr/>
          <p:nvPr/>
        </p:nvSpPr>
        <p:spPr>
          <a:xfrm>
            <a:off x="8421624" y="2221992"/>
            <a:ext cx="3020263" cy="320040"/>
          </a:xfrm>
          <a:prstGeom prst="rect">
            <a:avLst/>
          </a:prstGeom>
          <a:noFill/>
          <a:ln/>
        </p:spPr>
        <p:txBody>
          <a:bodyPr wrap="square" lIns="0" tIns="0" rIns="0" bIns="0" rtlCol="0" anchor="t"/>
          <a:lstStyle/>
          <a:p>
            <a:pPr indent="0" marL="0">
              <a:buNone/>
            </a:pPr>
            <a:r>
              <a:rPr lang="en-US" sz="1300" b="1" dirty="0">
                <a:solidFill>
                  <a:srgbClr val="7C3AED"/>
                </a:solidFill>
                <a:latin typeface="Calibri" pitchFamily="34" charset="0"/>
                <a:ea typeface="Calibri" pitchFamily="34" charset="-122"/>
                <a:cs typeface="Calibri" pitchFamily="34" charset="-120"/>
              </a:rPr>
              <a:t>Before we start</a:t>
            </a:r>
            <a:endParaRPr lang="en-US" sz="1300" dirty="0"/>
          </a:p>
        </p:txBody>
      </p:sp>
      <p:sp>
        <p:nvSpPr>
          <p:cNvPr id="56" name="Shape 54"/>
          <p:cNvSpPr/>
          <p:nvPr/>
        </p:nvSpPr>
        <p:spPr>
          <a:xfrm>
            <a:off x="8403336" y="2624328"/>
            <a:ext cx="274320" cy="274320"/>
          </a:xfrm>
          <a:prstGeom prst="ellipse">
            <a:avLst/>
          </a:prstGeom>
          <a:solidFill>
            <a:srgbClr val="F3EEFE"/>
          </a:solidFill>
          <a:ln/>
        </p:spPr>
      </p:sp>
      <p:sp>
        <p:nvSpPr>
          <p:cNvPr id="57" name="Text 55"/>
          <p:cNvSpPr/>
          <p:nvPr/>
        </p:nvSpPr>
        <p:spPr>
          <a:xfrm>
            <a:off x="8403336" y="2615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58" name="Text 56"/>
          <p:cNvSpPr/>
          <p:nvPr/>
        </p:nvSpPr>
        <p:spPr>
          <a:xfrm>
            <a:off x="8750808" y="2606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sample STEP part loaded</a:t>
            </a:r>
            <a:endParaRPr lang="en-US" sz="980" dirty="0"/>
          </a:p>
        </p:txBody>
      </p:sp>
      <p:sp>
        <p:nvSpPr>
          <p:cNvPr id="59" name="Shape 57"/>
          <p:cNvSpPr/>
          <p:nvPr/>
        </p:nvSpPr>
        <p:spPr>
          <a:xfrm>
            <a:off x="8403336" y="3081528"/>
            <a:ext cx="274320" cy="274320"/>
          </a:xfrm>
          <a:prstGeom prst="ellipse">
            <a:avLst/>
          </a:prstGeom>
          <a:solidFill>
            <a:srgbClr val="F3EEFE"/>
          </a:solidFill>
          <a:ln/>
        </p:spPr>
      </p:sp>
      <p:sp>
        <p:nvSpPr>
          <p:cNvPr id="60" name="Text 58"/>
          <p:cNvSpPr/>
          <p:nvPr/>
        </p:nvSpPr>
        <p:spPr>
          <a:xfrm>
            <a:off x="8403336" y="30723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1" name="Text 59"/>
          <p:cNvSpPr/>
          <p:nvPr/>
        </p:nvSpPr>
        <p:spPr>
          <a:xfrm>
            <a:off x="8750808" y="30632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2D drawing PDF to hand</a:t>
            </a:r>
            <a:endParaRPr lang="en-US" sz="980" dirty="0"/>
          </a:p>
        </p:txBody>
      </p:sp>
      <p:sp>
        <p:nvSpPr>
          <p:cNvPr id="62" name="Shape 60"/>
          <p:cNvSpPr/>
          <p:nvPr/>
        </p:nvSpPr>
        <p:spPr>
          <a:xfrm>
            <a:off x="8403336" y="3538728"/>
            <a:ext cx="274320" cy="274320"/>
          </a:xfrm>
          <a:prstGeom prst="ellipse">
            <a:avLst/>
          </a:prstGeom>
          <a:solidFill>
            <a:srgbClr val="F3EEFE"/>
          </a:solidFill>
          <a:ln/>
        </p:spPr>
      </p:sp>
      <p:sp>
        <p:nvSpPr>
          <p:cNvPr id="63" name="Text 61"/>
          <p:cNvSpPr/>
          <p:nvPr/>
        </p:nvSpPr>
        <p:spPr>
          <a:xfrm>
            <a:off x="8403336" y="35295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4" name="Text 62"/>
          <p:cNvSpPr/>
          <p:nvPr/>
        </p:nvSpPr>
        <p:spPr>
          <a:xfrm>
            <a:off x="8750808" y="35204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board photo ready</a:t>
            </a:r>
            <a:endParaRPr lang="en-US" sz="980" dirty="0"/>
          </a:p>
        </p:txBody>
      </p:sp>
      <p:sp>
        <p:nvSpPr>
          <p:cNvPr id="65" name="Shape 63"/>
          <p:cNvSpPr/>
          <p:nvPr/>
        </p:nvSpPr>
        <p:spPr>
          <a:xfrm>
            <a:off x="8403336" y="3995928"/>
            <a:ext cx="274320" cy="274320"/>
          </a:xfrm>
          <a:prstGeom prst="ellipse">
            <a:avLst/>
          </a:prstGeom>
          <a:solidFill>
            <a:srgbClr val="F3EEFE"/>
          </a:solidFill>
          <a:ln/>
        </p:spPr>
      </p:sp>
      <p:sp>
        <p:nvSpPr>
          <p:cNvPr id="66" name="Text 64"/>
          <p:cNvSpPr/>
          <p:nvPr/>
        </p:nvSpPr>
        <p:spPr>
          <a:xfrm>
            <a:off x="8403336" y="39867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67" name="Text 65"/>
          <p:cNvSpPr/>
          <p:nvPr/>
        </p:nvSpPr>
        <p:spPr>
          <a:xfrm>
            <a:off x="8750808" y="39776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A supplier quote to paste</a:t>
            </a:r>
            <a:endParaRPr lang="en-US" sz="980" dirty="0"/>
          </a:p>
        </p:txBody>
      </p:sp>
      <p:sp>
        <p:nvSpPr>
          <p:cNvPr id="68" name="Shape 66"/>
          <p:cNvSpPr/>
          <p:nvPr/>
        </p:nvSpPr>
        <p:spPr>
          <a:xfrm>
            <a:off x="8403336" y="4453128"/>
            <a:ext cx="274320" cy="274320"/>
          </a:xfrm>
          <a:prstGeom prst="ellipse">
            <a:avLst/>
          </a:prstGeom>
          <a:solidFill>
            <a:srgbClr val="F3EEFE"/>
          </a:solidFill>
          <a:ln/>
        </p:spPr>
      </p:sp>
      <p:sp>
        <p:nvSpPr>
          <p:cNvPr id="69" name="Text 67"/>
          <p:cNvSpPr/>
          <p:nvPr/>
        </p:nvSpPr>
        <p:spPr>
          <a:xfrm>
            <a:off x="8403336" y="44439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0" name="Text 68"/>
          <p:cNvSpPr/>
          <p:nvPr/>
        </p:nvSpPr>
        <p:spPr>
          <a:xfrm>
            <a:off x="8750808" y="44348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Seeded memory for the agent</a:t>
            </a:r>
            <a:endParaRPr lang="en-US" sz="980" dirty="0"/>
          </a:p>
        </p:txBody>
      </p:sp>
      <p:sp>
        <p:nvSpPr>
          <p:cNvPr id="71" name="Shape 69"/>
          <p:cNvSpPr/>
          <p:nvPr/>
        </p:nvSpPr>
        <p:spPr>
          <a:xfrm>
            <a:off x="8403336" y="4910328"/>
            <a:ext cx="274320" cy="274320"/>
          </a:xfrm>
          <a:prstGeom prst="ellipse">
            <a:avLst/>
          </a:prstGeom>
          <a:solidFill>
            <a:srgbClr val="F3EEFE"/>
          </a:solidFill>
          <a:ln/>
        </p:spPr>
      </p:sp>
      <p:sp>
        <p:nvSpPr>
          <p:cNvPr id="72" name="Text 70"/>
          <p:cNvSpPr/>
          <p:nvPr/>
        </p:nvSpPr>
        <p:spPr>
          <a:xfrm>
            <a:off x="8403336" y="4901184"/>
            <a:ext cx="274320" cy="274320"/>
          </a:xfrm>
          <a:prstGeom prst="rect">
            <a:avLst/>
          </a:prstGeom>
          <a:noFill/>
          <a:ln/>
        </p:spPr>
        <p:txBody>
          <a:bodyPr wrap="square" lIns="0" tIns="0" rIns="0" bIns="0" rtlCol="0" anchor="ctr"/>
          <a:lstStyle/>
          <a:p>
            <a:pPr algn="ctr" indent="0" marL="0">
              <a:buNone/>
            </a:pPr>
            <a:r>
              <a:rPr lang="en-US" sz="1000" b="1" dirty="0">
                <a:solidFill>
                  <a:srgbClr val="7C3AED"/>
                </a:solidFill>
                <a:latin typeface="Calibri" pitchFamily="34" charset="0"/>
                <a:ea typeface="Calibri" pitchFamily="34" charset="-122"/>
                <a:cs typeface="Calibri" pitchFamily="34" charset="-120"/>
              </a:rPr>
              <a:t>✓</a:t>
            </a:r>
            <a:endParaRPr lang="en-US" sz="1000" dirty="0"/>
          </a:p>
        </p:txBody>
      </p:sp>
      <p:sp>
        <p:nvSpPr>
          <p:cNvPr id="73" name="Text 71"/>
          <p:cNvSpPr/>
          <p:nvPr/>
        </p:nvSpPr>
        <p:spPr>
          <a:xfrm>
            <a:off x="8750808" y="4892040"/>
            <a:ext cx="2654503" cy="384048"/>
          </a:xfrm>
          <a:prstGeom prst="rect">
            <a:avLst/>
          </a:prstGeom>
          <a:noFill/>
          <a:ln/>
        </p:spPr>
        <p:txBody>
          <a:bodyPr wrap="square" lIns="0" tIns="0" rIns="0" bIns="0" rtlCol="0" anchor="ctr"/>
          <a:lstStyle/>
          <a:p>
            <a:pPr indent="0" marL="0">
              <a:buNone/>
            </a:pPr>
            <a:r>
              <a:rPr lang="en-US" sz="980" dirty="0">
                <a:solidFill>
                  <a:srgbClr val="3E4C63"/>
                </a:solidFill>
                <a:latin typeface="Calibri" pitchFamily="34" charset="0"/>
                <a:ea typeface="Calibri" pitchFamily="34" charset="-122"/>
                <a:cs typeface="Calibri" pitchFamily="34" charset="-120"/>
              </a:rPr>
              <a:t>Cached runs as a fallback</a:t>
            </a:r>
            <a:endParaRPr lang="en-US" sz="980" dirty="0"/>
          </a:p>
        </p:txBody>
      </p:sp>
      <p:sp>
        <p:nvSpPr>
          <p:cNvPr id="74" name="Text 72"/>
          <p:cNvSpPr/>
          <p:nvPr/>
        </p:nvSpPr>
        <p:spPr>
          <a:xfrm>
            <a:off x="8421624" y="5221224"/>
            <a:ext cx="3020263" cy="320040"/>
          </a:xfrm>
          <a:prstGeom prst="rect">
            <a:avLst/>
          </a:prstGeom>
          <a:noFill/>
          <a:ln/>
        </p:spPr>
        <p:txBody>
          <a:bodyPr wrap="square" lIns="0" tIns="0" rIns="0" bIns="0" rtlCol="0" anchor="t"/>
          <a:lstStyle/>
          <a:p>
            <a:pPr indent="0" marL="0">
              <a:buNone/>
            </a:pPr>
            <a:r>
              <a:rPr lang="en-US" sz="950" b="1" i="1" dirty="0">
                <a:solidFill>
                  <a:srgbClr val="0F1E3D"/>
                </a:solidFill>
                <a:latin typeface="Calibri" pitchFamily="34" charset="0"/>
                <a:ea typeface="Calibri" pitchFamily="34" charset="-122"/>
                <a:cs typeface="Calibri" pitchFamily="34" charset="-120"/>
              </a:rPr>
              <a:t>Short on time? Do steps 1, 3 and 6.</a:t>
            </a:r>
            <a:endParaRPr lang="en-US" sz="950" dirty="0"/>
          </a:p>
        </p:txBody>
      </p:sp>
      <p:sp>
        <p:nvSpPr>
          <p:cNvPr id="75" name="Shape 73"/>
          <p:cNvSpPr/>
          <p:nvPr/>
        </p:nvSpPr>
        <p:spPr>
          <a:xfrm>
            <a:off x="548640" y="6400800"/>
            <a:ext cx="11094415" cy="12802"/>
          </a:xfrm>
          <a:prstGeom prst="rect">
            <a:avLst/>
          </a:prstGeom>
          <a:solidFill>
            <a:srgbClr val="E4EAF2"/>
          </a:solidFill>
          <a:ln/>
        </p:spPr>
      </p:sp>
      <p:sp>
        <p:nvSpPr>
          <p:cNvPr id="76" name="Text 74"/>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77" name="Text 75"/>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32 / 33</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0B1E3B"/>
          </a:solidFill>
          <a:ln/>
        </p:spPr>
      </p:sp>
      <p:pic>
        <p:nvPicPr>
          <p:cNvPr id="3" name="Image 0" descr="/tmp/claude-0/-home-user-leamington-marathi/8bf32d1a-7485-5bd6-9947-7843ee6c5644/scratchpad/art/hero-photo.png">    </p:cNvPr>
          <p:cNvPicPr>
            <a:picLocks noChangeAspect="1"/>
          </p:cNvPicPr>
          <p:nvPr/>
        </p:nvPicPr>
        <p:blipFill>
          <a:blip r:embed="rId1"/>
          <a:stretch>
            <a:fillRect/>
          </a:stretch>
        </p:blipFill>
        <p:spPr>
          <a:xfrm>
            <a:off x="0" y="0"/>
            <a:ext cx="12191695" cy="6858000"/>
          </a:xfrm>
          <a:prstGeom prst="rect">
            <a:avLst/>
          </a:prstGeom>
        </p:spPr>
      </p:pic>
      <p:sp>
        <p:nvSpPr>
          <p:cNvPr id="4" name="Shape 1"/>
          <p:cNvSpPr/>
          <p:nvPr/>
        </p:nvSpPr>
        <p:spPr>
          <a:xfrm>
            <a:off x="0" y="0"/>
            <a:ext cx="12191695" cy="6858000"/>
          </a:xfrm>
          <a:prstGeom prst="rect">
            <a:avLst/>
          </a:prstGeom>
          <a:solidFill>
            <a:srgbClr val="061024">
              <a:alpha val="74000"/>
            </a:srgbClr>
          </a:solidFill>
          <a:ln/>
        </p:spPr>
      </p:sp>
      <p:sp>
        <p:nvSpPr>
          <p:cNvPr id="5" name="Shape 2"/>
          <p:cNvSpPr/>
          <p:nvPr/>
        </p:nvSpPr>
        <p:spPr>
          <a:xfrm>
            <a:off x="0" y="3566160"/>
            <a:ext cx="12191695" cy="3291840"/>
          </a:xfrm>
          <a:prstGeom prst="rect">
            <a:avLst/>
          </a:prstGeom>
          <a:solidFill>
            <a:srgbClr val="061024">
              <a:alpha val="84000"/>
            </a:srgbClr>
          </a:solidFill>
          <a:ln/>
        </p:spPr>
      </p:sp>
      <p:sp>
        <p:nvSpPr>
          <p:cNvPr id="6" name="Shape 3"/>
          <p:cNvSpPr/>
          <p:nvPr/>
        </p:nvSpPr>
        <p:spPr>
          <a:xfrm>
            <a:off x="0" y="0"/>
            <a:ext cx="146304" cy="6858000"/>
          </a:xfrm>
          <a:prstGeom prst="rect">
            <a:avLst/>
          </a:prstGeom>
          <a:solidFill>
            <a:srgbClr val="4F46E5"/>
          </a:solidFill>
          <a:ln/>
        </p:spPr>
      </p:sp>
      <p:sp>
        <p:nvSpPr>
          <p:cNvPr id="7" name="Shape 4"/>
          <p:cNvSpPr/>
          <p:nvPr/>
        </p:nvSpPr>
        <p:spPr>
          <a:xfrm>
            <a:off x="0" y="6729984"/>
            <a:ext cx="12191695" cy="128016"/>
          </a:xfrm>
          <a:prstGeom prst="rect">
            <a:avLst/>
          </a:prstGeom>
          <a:solidFill>
            <a:srgbClr val="2563EB"/>
          </a:solidFill>
          <a:ln/>
        </p:spPr>
      </p:sp>
      <p:sp>
        <p:nvSpPr>
          <p:cNvPr id="8" name="Shape 5"/>
          <p:cNvSpPr/>
          <p:nvPr/>
        </p:nvSpPr>
        <p:spPr>
          <a:xfrm>
            <a:off x="822960" y="640080"/>
            <a:ext cx="457200" cy="457200"/>
          </a:xfrm>
          <a:prstGeom prst="roundRect">
            <a:avLst>
              <a:gd name="adj" fmla="val 24000"/>
            </a:avLst>
          </a:prstGeom>
          <a:solidFill>
            <a:srgbClr val="4F46E5"/>
          </a:solidFill>
          <a:ln/>
        </p:spPr>
      </p:sp>
      <p:sp>
        <p:nvSpPr>
          <p:cNvPr id="9" name="Text 6"/>
          <p:cNvSpPr/>
          <p:nvPr/>
        </p:nvSpPr>
        <p:spPr>
          <a:xfrm>
            <a:off x="822960" y="640080"/>
            <a:ext cx="457200" cy="457200"/>
          </a:xfrm>
          <a:prstGeom prst="rect">
            <a:avLst/>
          </a:prstGeom>
          <a:no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cv</a:t>
            </a:r>
            <a:endParaRPr lang="en-US" sz="1900" dirty="0"/>
          </a:p>
        </p:txBody>
      </p:sp>
      <p:sp>
        <p:nvSpPr>
          <p:cNvPr id="10" name="Text 7"/>
          <p:cNvSpPr/>
          <p:nvPr/>
        </p:nvSpPr>
        <p:spPr>
          <a:xfrm>
            <a:off x="1417320" y="658368"/>
            <a:ext cx="5486400" cy="41148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CostVision</a:t>
            </a:r>
            <a:endParaRPr lang="en-US" sz="1700" dirty="0"/>
          </a:p>
        </p:txBody>
      </p:sp>
      <p:sp>
        <p:nvSpPr>
          <p:cNvPr id="11" name="Text 8"/>
          <p:cNvSpPr/>
          <p:nvPr/>
        </p:nvSpPr>
        <p:spPr>
          <a:xfrm>
            <a:off x="822960" y="1828800"/>
            <a:ext cx="10789920" cy="1463040"/>
          </a:xfrm>
          <a:prstGeom prst="rect">
            <a:avLst/>
          </a:prstGeom>
          <a:noFill/>
          <a:ln/>
        </p:spPr>
        <p:txBody>
          <a:bodyPr wrap="square" lIns="0" tIns="0" rIns="0" bIns="0" rtlCol="0" anchor="t"/>
          <a:lstStyle/>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Any input in.</a:t>
            </a:r>
            <a:endParaRPr lang="en-US" sz="3400" dirty="0"/>
          </a:p>
          <a:p>
            <a:pPr indent="0" marL="0">
              <a:lnSpc>
                <a:spcPct val="106000"/>
              </a:lnSpc>
              <a:buNone/>
            </a:pPr>
            <a:r>
              <a:rPr lang="en-US" sz="3400" b="1" dirty="0">
                <a:solidFill>
                  <a:srgbClr val="FFFFFF"/>
                </a:solidFill>
                <a:latin typeface="Calibri" pitchFamily="34" charset="0"/>
                <a:ea typeface="Calibri" pitchFamily="34" charset="-122"/>
                <a:cs typeface="Calibri" pitchFamily="34" charset="-120"/>
              </a:rPr>
              <a:t>A defensible, self-improving should-cost out.</a:t>
            </a:r>
            <a:endParaRPr lang="en-US" sz="3400" dirty="0"/>
          </a:p>
        </p:txBody>
      </p:sp>
      <p:sp>
        <p:nvSpPr>
          <p:cNvPr id="12" name="Text 9"/>
          <p:cNvSpPr/>
          <p:nvPr/>
        </p:nvSpPr>
        <p:spPr>
          <a:xfrm>
            <a:off x="850392" y="3429000"/>
            <a:ext cx="10972800" cy="457200"/>
          </a:xfrm>
          <a:prstGeom prst="rect">
            <a:avLst/>
          </a:prstGeom>
          <a:noFill/>
          <a:ln/>
        </p:spPr>
        <p:txBody>
          <a:bodyPr wrap="square" lIns="0" tIns="0" rIns="0" bIns="0" rtlCol="0" anchor="t"/>
          <a:lstStyle/>
          <a:p>
            <a:pPr indent="0" marL="0">
              <a:buNone/>
            </a:pPr>
            <a:r>
              <a:rPr lang="en-US" sz="1600" dirty="0">
                <a:solidFill>
                  <a:srgbClr val="CFE0F5"/>
                </a:solidFill>
                <a:latin typeface="Calibri" pitchFamily="34" charset="0"/>
                <a:ea typeface="Calibri" pitchFamily="34" charset="-122"/>
                <a:cs typeface="Calibri" pitchFamily="34" charset="-120"/>
              </a:rPr>
              <a:t>Fast · explainable · self-improving · secure — and entirely ours.</a:t>
            </a:r>
            <a:endParaRPr lang="en-US" sz="1600" dirty="0"/>
          </a:p>
        </p:txBody>
      </p:sp>
      <p:sp>
        <p:nvSpPr>
          <p:cNvPr id="13" name="Text 10"/>
          <p:cNvSpPr/>
          <p:nvPr/>
        </p:nvSpPr>
        <p:spPr>
          <a:xfrm>
            <a:off x="850392" y="3840480"/>
            <a:ext cx="10058400" cy="274320"/>
          </a:xfrm>
          <a:prstGeom prst="rect">
            <a:avLst/>
          </a:prstGeom>
          <a:noFill/>
          <a:ln/>
        </p:spPr>
        <p:txBody>
          <a:bodyPr wrap="square" lIns="0" tIns="0" rIns="0" bIns="0" rtlCol="0" anchor="t"/>
          <a:lstStyle/>
          <a:p>
            <a:pPr indent="0" marL="0">
              <a:buNone/>
            </a:pPr>
            <a:r>
              <a:rPr lang="en-US" sz="1100" b="1" spc="150" kern="0" dirty="0">
                <a:solidFill>
                  <a:srgbClr val="8FB0D8"/>
                </a:solidFill>
                <a:latin typeface="Calibri" pitchFamily="34" charset="0"/>
                <a:ea typeface="Calibri" pitchFamily="34" charset="-122"/>
                <a:cs typeface="Calibri" pitchFamily="34" charset="-120"/>
              </a:rPr>
              <a:t>THE ASK — THREE SMALL DECISIONS</a:t>
            </a:r>
            <a:endParaRPr lang="en-US" sz="1100" dirty="0"/>
          </a:p>
        </p:txBody>
      </p:sp>
      <p:sp>
        <p:nvSpPr>
          <p:cNvPr id="14" name="Shape 11"/>
          <p:cNvSpPr/>
          <p:nvPr/>
        </p:nvSpPr>
        <p:spPr>
          <a:xfrm>
            <a:off x="822960" y="4206240"/>
            <a:ext cx="3383280" cy="1280160"/>
          </a:xfrm>
          <a:prstGeom prst="roundRect">
            <a:avLst>
              <a:gd name="adj" fmla="val 5714"/>
            </a:avLst>
          </a:prstGeom>
          <a:solidFill>
            <a:srgbClr val="FFFFFF">
              <a:alpha val="94000"/>
            </a:srgbClr>
          </a:solidFill>
          <a:ln/>
        </p:spPr>
      </p:sp>
      <p:sp>
        <p:nvSpPr>
          <p:cNvPr id="15" name="Shape 12"/>
          <p:cNvSpPr/>
          <p:nvPr/>
        </p:nvSpPr>
        <p:spPr>
          <a:xfrm>
            <a:off x="1097280" y="4434840"/>
            <a:ext cx="402336" cy="402336"/>
          </a:xfrm>
          <a:prstGeom prst="ellipse">
            <a:avLst/>
          </a:prstGeom>
          <a:solidFill>
            <a:srgbClr val="2E90FA"/>
          </a:solidFill>
          <a:ln/>
          <a:effectLst>
            <a:outerShdw sx="100000" sy="100000" kx="0" ky="0" algn="bl" rotWithShape="0" blurRad="9.608417496072131e+90" dist="2.8825252488216374e+90" dir="1.1845953345804043e+107">
              <a:srgbClr val="A7B6CE">
                <a:alpha val="1.800000000000001e+109"/>
              </a:srgbClr>
            </a:outerShdw>
          </a:effectLst>
        </p:spPr>
      </p:sp>
      <p:sp>
        <p:nvSpPr>
          <p:cNvPr id="16" name="Text 13"/>
          <p:cNvSpPr/>
          <p:nvPr/>
        </p:nvSpPr>
        <p:spPr>
          <a:xfrm>
            <a:off x="109728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1</a:t>
            </a:r>
            <a:endParaRPr lang="en-US" sz="1496" dirty="0"/>
          </a:p>
        </p:txBody>
      </p:sp>
      <p:sp>
        <p:nvSpPr>
          <p:cNvPr id="17" name="Text 14"/>
          <p:cNvSpPr/>
          <p:nvPr/>
        </p:nvSpPr>
        <p:spPr>
          <a:xfrm>
            <a:off x="160934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Approve a 6-week on-premise pilot</a:t>
            </a:r>
            <a:endParaRPr lang="en-US" sz="1200" dirty="0"/>
          </a:p>
        </p:txBody>
      </p:sp>
      <p:sp>
        <p:nvSpPr>
          <p:cNvPr id="18" name="Text 15"/>
          <p:cNvSpPr/>
          <p:nvPr/>
        </p:nvSpPr>
        <p:spPr>
          <a:xfrm>
            <a:off x="109728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seed it with our historic quotes</a:t>
            </a:r>
            <a:endParaRPr lang="en-US" sz="950" dirty="0"/>
          </a:p>
        </p:txBody>
      </p:sp>
      <p:sp>
        <p:nvSpPr>
          <p:cNvPr id="19" name="Shape 16"/>
          <p:cNvSpPr/>
          <p:nvPr/>
        </p:nvSpPr>
        <p:spPr>
          <a:xfrm>
            <a:off x="4434840" y="4206240"/>
            <a:ext cx="3383280" cy="1280160"/>
          </a:xfrm>
          <a:prstGeom prst="roundRect">
            <a:avLst>
              <a:gd name="adj" fmla="val 5714"/>
            </a:avLst>
          </a:prstGeom>
          <a:solidFill>
            <a:srgbClr val="FFFFFF">
              <a:alpha val="94000"/>
            </a:srgbClr>
          </a:solidFill>
          <a:ln/>
        </p:spPr>
      </p:sp>
      <p:sp>
        <p:nvSpPr>
          <p:cNvPr id="20" name="Shape 17"/>
          <p:cNvSpPr/>
          <p:nvPr/>
        </p:nvSpPr>
        <p:spPr>
          <a:xfrm>
            <a:off x="4709160" y="4434840"/>
            <a:ext cx="402336" cy="402336"/>
          </a:xfrm>
          <a:prstGeom prst="ellipse">
            <a:avLst/>
          </a:prstGeom>
          <a:solidFill>
            <a:srgbClr val="2E90FA"/>
          </a:solidFill>
          <a:ln/>
          <a:effectLst>
            <a:outerShdw sx="100000" sy="100000" kx="0" ky="0" algn="bl" rotWithShape="0" blurRad="1.2202690220011606e+95" dist="3.6608070660034796e+94" dir="7.107572007482426e+111">
              <a:srgbClr val="A7B6CE">
                <a:alpha val="1.800000000000001e+114"/>
              </a:srgbClr>
            </a:outerShdw>
          </a:effectLst>
        </p:spPr>
      </p:sp>
      <p:sp>
        <p:nvSpPr>
          <p:cNvPr id="21" name="Text 18"/>
          <p:cNvSpPr/>
          <p:nvPr/>
        </p:nvSpPr>
        <p:spPr>
          <a:xfrm>
            <a:off x="470916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2</a:t>
            </a:r>
            <a:endParaRPr lang="en-US" sz="1496" dirty="0"/>
          </a:p>
        </p:txBody>
      </p:sp>
      <p:sp>
        <p:nvSpPr>
          <p:cNvPr id="22" name="Text 19"/>
          <p:cNvSpPr/>
          <p:nvPr/>
        </p:nvSpPr>
        <p:spPr>
          <a:xfrm>
            <a:off x="522122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Pick a first part family</a:t>
            </a:r>
            <a:endParaRPr lang="en-US" sz="1200" dirty="0"/>
          </a:p>
        </p:txBody>
      </p:sp>
      <p:sp>
        <p:nvSpPr>
          <p:cNvPr id="23" name="Text 20"/>
          <p:cNvSpPr/>
          <p:nvPr/>
        </p:nvSpPr>
        <p:spPr>
          <a:xfrm>
            <a:off x="470916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a CAD part, a board, or a live RFQ</a:t>
            </a:r>
            <a:endParaRPr lang="en-US" sz="950" dirty="0"/>
          </a:p>
        </p:txBody>
      </p:sp>
      <p:sp>
        <p:nvSpPr>
          <p:cNvPr id="24" name="Shape 21"/>
          <p:cNvSpPr/>
          <p:nvPr/>
        </p:nvSpPr>
        <p:spPr>
          <a:xfrm>
            <a:off x="8046720" y="4206240"/>
            <a:ext cx="3383280" cy="1280160"/>
          </a:xfrm>
          <a:prstGeom prst="roundRect">
            <a:avLst>
              <a:gd name="adj" fmla="val 5714"/>
            </a:avLst>
          </a:prstGeom>
          <a:solidFill>
            <a:srgbClr val="FFFFFF">
              <a:alpha val="94000"/>
            </a:srgbClr>
          </a:solidFill>
          <a:ln/>
        </p:spPr>
      </p:sp>
      <p:sp>
        <p:nvSpPr>
          <p:cNvPr id="25" name="Shape 22"/>
          <p:cNvSpPr/>
          <p:nvPr/>
        </p:nvSpPr>
        <p:spPr>
          <a:xfrm>
            <a:off x="8321040" y="4434840"/>
            <a:ext cx="402336" cy="402336"/>
          </a:xfrm>
          <a:prstGeom prst="ellipse">
            <a:avLst/>
          </a:prstGeom>
          <a:solidFill>
            <a:srgbClr val="2E90FA"/>
          </a:solidFill>
          <a:ln/>
          <a:effectLst>
            <a:outerShdw sx="100000" sy="100000" kx="0" ky="0" algn="bl" rotWithShape="0" blurRad="1.549741657941474e+99" dist="4.649224973824419e+98" dir="4.2645432044894554e+116">
              <a:srgbClr val="A7B6CE">
                <a:alpha val="1.800000000000001e+119"/>
              </a:srgbClr>
            </a:outerShdw>
          </a:effectLst>
        </p:spPr>
      </p:sp>
      <p:sp>
        <p:nvSpPr>
          <p:cNvPr id="26" name="Text 23"/>
          <p:cNvSpPr/>
          <p:nvPr/>
        </p:nvSpPr>
        <p:spPr>
          <a:xfrm>
            <a:off x="8321040" y="4434840"/>
            <a:ext cx="402336" cy="402336"/>
          </a:xfrm>
          <a:prstGeom prst="rect">
            <a:avLst/>
          </a:prstGeom>
          <a:noFill/>
          <a:ln/>
        </p:spPr>
        <p:txBody>
          <a:bodyPr wrap="square" lIns="0" tIns="0" rIns="0" bIns="0" rtlCol="0" anchor="ctr"/>
          <a:lstStyle/>
          <a:p>
            <a:pPr algn="ctr" indent="0" marL="0">
              <a:buNone/>
            </a:pPr>
            <a:r>
              <a:rPr lang="en-US" sz="1496" b="1" dirty="0">
                <a:solidFill>
                  <a:srgbClr val="FFFFFF"/>
                </a:solidFill>
                <a:latin typeface="Calibri" pitchFamily="34" charset="0"/>
                <a:ea typeface="Calibri" pitchFamily="34" charset="-122"/>
                <a:cs typeface="Calibri" pitchFamily="34" charset="-120"/>
              </a:rPr>
              <a:t>3</a:t>
            </a:r>
            <a:endParaRPr lang="en-US" sz="1496" dirty="0"/>
          </a:p>
        </p:txBody>
      </p:sp>
      <p:sp>
        <p:nvSpPr>
          <p:cNvPr id="27" name="Text 24"/>
          <p:cNvSpPr/>
          <p:nvPr/>
        </p:nvSpPr>
        <p:spPr>
          <a:xfrm>
            <a:off x="8833104" y="4434840"/>
            <a:ext cx="2468880" cy="457200"/>
          </a:xfrm>
          <a:prstGeom prst="rect">
            <a:avLst/>
          </a:prstGeom>
          <a:noFill/>
          <a:ln/>
        </p:spPr>
        <p:txBody>
          <a:bodyPr wrap="square" lIns="0" tIns="0" rIns="0" bIns="0" rtlCol="0" anchor="ctr"/>
          <a:lstStyle/>
          <a:p>
            <a:pPr indent="0" marL="0">
              <a:lnSpc>
                <a:spcPct val="100000"/>
              </a:lnSpc>
              <a:buNone/>
            </a:pPr>
            <a:r>
              <a:rPr lang="en-US" sz="1200" b="1" dirty="0">
                <a:solidFill>
                  <a:srgbClr val="0B1E3B"/>
                </a:solidFill>
                <a:latin typeface="Calibri" pitchFamily="34" charset="0"/>
                <a:ea typeface="Calibri" pitchFamily="34" charset="-122"/>
                <a:cs typeface="Calibri" pitchFamily="34" charset="-120"/>
              </a:rPr>
              <a:t>Put agent findings on the agenda</a:t>
            </a:r>
            <a:endParaRPr lang="en-US" sz="1200" dirty="0"/>
          </a:p>
        </p:txBody>
      </p:sp>
      <p:sp>
        <p:nvSpPr>
          <p:cNvPr id="28" name="Text 25"/>
          <p:cNvSpPr/>
          <p:nvPr/>
        </p:nvSpPr>
        <p:spPr>
          <a:xfrm>
            <a:off x="8321040" y="5029200"/>
            <a:ext cx="2926080" cy="365760"/>
          </a:xfrm>
          <a:prstGeom prst="rect">
            <a:avLst/>
          </a:prstGeom>
          <a:noFill/>
          <a:ln/>
        </p:spPr>
        <p:txBody>
          <a:bodyPr wrap="square" lIns="0" tIns="0" rIns="0" bIns="0" rtlCol="0" anchor="t"/>
          <a:lstStyle/>
          <a:p>
            <a:pPr indent="0" marL="0">
              <a:lnSpc>
                <a:spcPct val="105000"/>
              </a:lnSpc>
              <a:buNone/>
            </a:pPr>
            <a:r>
              <a:rPr lang="en-US" sz="950" dirty="0">
                <a:solidFill>
                  <a:srgbClr val="AFC4E2"/>
                </a:solidFill>
                <a:latin typeface="Calibri" pitchFamily="34" charset="0"/>
                <a:ea typeface="Calibri" pitchFamily="34" charset="-122"/>
                <a:cs typeface="Calibri" pitchFamily="34" charset="-120"/>
              </a:rPr>
              <a:t>it is already finding money</a:t>
            </a:r>
            <a:endParaRPr lang="en-US" sz="950" dirty="0"/>
          </a:p>
        </p:txBody>
      </p:sp>
      <p:sp>
        <p:nvSpPr>
          <p:cNvPr id="29" name="Text 26"/>
          <p:cNvSpPr/>
          <p:nvPr/>
        </p:nvSpPr>
        <p:spPr>
          <a:xfrm>
            <a:off x="850392" y="5989320"/>
            <a:ext cx="10972800" cy="365760"/>
          </a:xfrm>
          <a:prstGeom prst="rect">
            <a:avLst/>
          </a:prstGeom>
          <a:noFill/>
          <a:ln/>
        </p:spPr>
        <p:txBody>
          <a:bodyPr wrap="square" lIns="0" tIns="0" rIns="0" bIns="0" rtlCol="0" anchor="t"/>
          <a:lstStyle/>
          <a:p>
            <a:pPr indent="0" marL="0">
              <a:buNone/>
            </a:pPr>
            <a:r>
              <a:rPr lang="en-US" sz="1200" dirty="0">
                <a:solidFill>
                  <a:srgbClr val="8FA6C6"/>
                </a:solidFill>
                <a:latin typeface="Calibri" pitchFamily="34" charset="0"/>
                <a:ea typeface="Calibri" pitchFamily="34" charset="-122"/>
                <a:cs typeface="Calibri" pitchFamily="34" charset="-120"/>
              </a:rPr>
              <a:t>Thank you  ·  happy to take questions, or run the live system now</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AFBFC"/>
          </a:solidFill>
          <a:ln/>
        </p:spPr>
      </p:sp>
      <p:sp>
        <p:nvSpPr>
          <p:cNvPr id="3" name="Shape 1"/>
          <p:cNvSpPr/>
          <p:nvPr/>
        </p:nvSpPr>
        <p:spPr>
          <a:xfrm>
            <a:off x="10088575" y="384048"/>
            <a:ext cx="310896" cy="310896"/>
          </a:xfrm>
          <a:prstGeom prst="roundRect">
            <a:avLst>
              <a:gd name="adj" fmla="val 29412"/>
            </a:avLst>
          </a:prstGeom>
          <a:solidFill>
            <a:srgbClr val="4F46E5"/>
          </a:solidFill>
          <a:ln/>
        </p:spPr>
      </p:sp>
      <p:sp>
        <p:nvSpPr>
          <p:cNvPr id="4" name="Text 2"/>
          <p:cNvSpPr/>
          <p:nvPr/>
        </p:nvSpPr>
        <p:spPr>
          <a:xfrm>
            <a:off x="10088575" y="384048"/>
            <a:ext cx="310896" cy="31089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cv</a:t>
            </a:r>
            <a:endParaRPr lang="en-US" sz="1300" dirty="0"/>
          </a:p>
        </p:txBody>
      </p:sp>
      <p:sp>
        <p:nvSpPr>
          <p:cNvPr id="5" name="Text 3"/>
          <p:cNvSpPr/>
          <p:nvPr/>
        </p:nvSpPr>
        <p:spPr>
          <a:xfrm>
            <a:off x="10454335" y="365760"/>
            <a:ext cx="1234440" cy="365760"/>
          </a:xfrm>
          <a:prstGeom prst="rect">
            <a:avLst/>
          </a:prstGeom>
          <a:noFill/>
          <a:ln/>
        </p:spPr>
        <p:txBody>
          <a:bodyPr wrap="square" lIns="0" tIns="0" rIns="0" bIns="0" rtlCol="0" anchor="ctr"/>
          <a:lstStyle/>
          <a:p>
            <a:pPr indent="0" marL="0">
              <a:buNone/>
            </a:pPr>
            <a:r>
              <a:rPr lang="en-US" sz="1400" b="1" dirty="0">
                <a:solidFill>
                  <a:srgbClr val="2563EB"/>
                </a:solidFill>
                <a:latin typeface="Calibri" pitchFamily="34" charset="0"/>
                <a:ea typeface="Calibri" pitchFamily="34" charset="-122"/>
                <a:cs typeface="Calibri" pitchFamily="34" charset="-120"/>
              </a:rPr>
              <a:t>CostVision</a:t>
            </a:r>
            <a:endParaRPr lang="en-US" sz="1400" dirty="0"/>
          </a:p>
        </p:txBody>
      </p:sp>
      <p:sp>
        <p:nvSpPr>
          <p:cNvPr id="6" name="Shape 4"/>
          <p:cNvSpPr/>
          <p:nvPr/>
        </p:nvSpPr>
        <p:spPr>
          <a:xfrm>
            <a:off x="548640" y="530352"/>
            <a:ext cx="201168" cy="201168"/>
          </a:xfrm>
          <a:prstGeom prst="rect">
            <a:avLst/>
          </a:prstGeom>
          <a:solidFill>
            <a:srgbClr val="0EA472"/>
          </a:solidFill>
          <a:ln/>
        </p:spPr>
      </p:sp>
      <p:sp>
        <p:nvSpPr>
          <p:cNvPr id="7" name="Text 5"/>
          <p:cNvSpPr/>
          <p:nvPr/>
        </p:nvSpPr>
        <p:spPr>
          <a:xfrm>
            <a:off x="859536" y="502920"/>
            <a:ext cx="9144000" cy="256032"/>
          </a:xfrm>
          <a:prstGeom prst="rect">
            <a:avLst/>
          </a:prstGeom>
          <a:noFill/>
          <a:ln/>
        </p:spPr>
        <p:txBody>
          <a:bodyPr wrap="square" lIns="0" tIns="0" rIns="0" bIns="0" rtlCol="0" anchor="ctr"/>
          <a:lstStyle/>
          <a:p>
            <a:pPr indent="0" marL="0">
              <a:buNone/>
            </a:pPr>
            <a:r>
              <a:rPr lang="en-US" sz="1100" b="1" spc="120" kern="0" dirty="0">
                <a:solidFill>
                  <a:srgbClr val="0EA472"/>
                </a:solidFill>
                <a:latin typeface="Calibri" pitchFamily="34" charset="0"/>
                <a:ea typeface="Calibri" pitchFamily="34" charset="-122"/>
                <a:cs typeface="Calibri" pitchFamily="34" charset="-120"/>
              </a:rPr>
              <a:t>PLATFORM · WHAT THE TOOL CAPTURES</a:t>
            </a:r>
            <a:endParaRPr lang="en-US" sz="1100" dirty="0"/>
          </a:p>
        </p:txBody>
      </p:sp>
      <p:sp>
        <p:nvSpPr>
          <p:cNvPr id="8" name="Text 6"/>
          <p:cNvSpPr/>
          <p:nvPr/>
        </p:nvSpPr>
        <p:spPr>
          <a:xfrm>
            <a:off x="548640" y="822960"/>
            <a:ext cx="11064240" cy="548640"/>
          </a:xfrm>
          <a:prstGeom prst="rect">
            <a:avLst/>
          </a:prstGeom>
          <a:noFill/>
          <a:ln/>
        </p:spPr>
        <p:txBody>
          <a:bodyPr wrap="square" lIns="0" tIns="0" rIns="0" bIns="0" rtlCol="0" anchor="t"/>
          <a:lstStyle/>
          <a:p>
            <a:pPr indent="0" marL="0">
              <a:buNone/>
            </a:pPr>
            <a:r>
              <a:rPr lang="en-US" sz="2400" b="1" dirty="0">
                <a:solidFill>
                  <a:srgbClr val="0F1E3D"/>
                </a:solidFill>
                <a:latin typeface="Calibri" pitchFamily="34" charset="0"/>
                <a:ea typeface="Calibri" pitchFamily="34" charset="-122"/>
                <a:cs typeface="Calibri" pitchFamily="34" charset="-120"/>
              </a:rPr>
              <a:t>Auto-captured by the tool — fed straight to the cost engine</a:t>
            </a:r>
            <a:endParaRPr lang="en-US" sz="2400" dirty="0"/>
          </a:p>
        </p:txBody>
      </p:sp>
      <p:sp>
        <p:nvSpPr>
          <p:cNvPr id="9" name="Shape 7"/>
          <p:cNvSpPr/>
          <p:nvPr/>
        </p:nvSpPr>
        <p:spPr>
          <a:xfrm>
            <a:off x="548640" y="1371600"/>
            <a:ext cx="1051560" cy="45720"/>
          </a:xfrm>
          <a:prstGeom prst="rect">
            <a:avLst/>
          </a:prstGeom>
          <a:solidFill>
            <a:srgbClr val="0EA472"/>
          </a:solidFill>
          <a:ln/>
        </p:spPr>
      </p:sp>
      <p:sp>
        <p:nvSpPr>
          <p:cNvPr id="10" name="Text 8"/>
          <p:cNvSpPr/>
          <p:nvPr/>
        </p:nvSpPr>
        <p:spPr>
          <a:xfrm>
            <a:off x="548640" y="1554480"/>
            <a:ext cx="11064240" cy="457200"/>
          </a:xfrm>
          <a:prstGeom prst="rect">
            <a:avLst/>
          </a:prstGeom>
          <a:noFill/>
          <a:ln/>
        </p:spPr>
        <p:txBody>
          <a:bodyPr wrap="square" lIns="0" tIns="0" rIns="0" bIns="0" rtlCol="0" anchor="t"/>
          <a:lstStyle/>
          <a:p>
            <a:pPr indent="0" marL="0">
              <a:lnSpc>
                <a:spcPct val="110000"/>
              </a:lnSpc>
              <a:buNone/>
            </a:pPr>
            <a:r>
              <a:rPr lang="en-US" sz="1250" dirty="0">
                <a:solidFill>
                  <a:srgbClr val="3E4C63"/>
                </a:solidFill>
                <a:latin typeface="Calibri" pitchFamily="34" charset="0"/>
                <a:ea typeface="Calibri" pitchFamily="34" charset="-122"/>
                <a:cs typeface="Calibri" pitchFamily="34" charset="-120"/>
              </a:rPr>
              <a:t>Whatever the input — a CAD model, a PCB photo or a plain description — the tool reads the facts; the deterministic engine turns them into cost.</a:t>
            </a:r>
            <a:endParaRPr lang="en-US" sz="1250" dirty="0"/>
          </a:p>
        </p:txBody>
      </p:sp>
      <p:sp>
        <p:nvSpPr>
          <p:cNvPr id="11" name="Shape 9"/>
          <p:cNvSpPr/>
          <p:nvPr/>
        </p:nvSpPr>
        <p:spPr>
          <a:xfrm>
            <a:off x="548640" y="2148840"/>
            <a:ext cx="7040880" cy="548640"/>
          </a:xfrm>
          <a:prstGeom prst="roundRect">
            <a:avLst>
              <a:gd name="adj" fmla="val 8333"/>
            </a:avLst>
          </a:prstGeom>
          <a:solidFill>
            <a:srgbClr val="F4F7FB"/>
          </a:solidFill>
          <a:ln w="12700">
            <a:solidFill>
              <a:srgbClr val="E4EAF2"/>
            </a:solidFill>
            <a:prstDash val="solid"/>
          </a:ln>
        </p:spPr>
      </p:sp>
      <p:sp>
        <p:nvSpPr>
          <p:cNvPr id="12" name="Shape 10"/>
          <p:cNvSpPr/>
          <p:nvPr/>
        </p:nvSpPr>
        <p:spPr>
          <a:xfrm>
            <a:off x="694944" y="2249424"/>
            <a:ext cx="347472" cy="347472"/>
          </a:xfrm>
          <a:prstGeom prst="ellipse">
            <a:avLst/>
          </a:prstGeom>
          <a:solidFill>
            <a:srgbClr val="0EA472"/>
          </a:solidFill>
          <a:ln/>
          <a:effectLst>
            <a:outerShdw sx="100000" sy="100000" kx="0" ky="0" algn="bl" rotWithShape="0" blurRad="5.457669265366968e+41" dist="1.6373007796100902e+41" dir="5.44195584e+49">
              <a:srgbClr val="A7B6CE">
                <a:alpha val="1.8e+49"/>
              </a:srgbClr>
            </a:outerShdw>
          </a:effectLst>
        </p:spPr>
      </p:sp>
      <p:sp>
        <p:nvSpPr>
          <p:cNvPr id="13" name="Text 11"/>
          <p:cNvSpPr/>
          <p:nvPr/>
        </p:nvSpPr>
        <p:spPr>
          <a:xfrm>
            <a:off x="694944" y="22494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1</a:t>
            </a:r>
            <a:endParaRPr lang="en-US" sz="1292" dirty="0"/>
          </a:p>
        </p:txBody>
      </p:sp>
      <p:sp>
        <p:nvSpPr>
          <p:cNvPr id="14" name="Text 12"/>
          <p:cNvSpPr/>
          <p:nvPr/>
        </p:nvSpPr>
        <p:spPr>
          <a:xfrm>
            <a:off x="1188720" y="21488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geometry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A true geometry engine (OCCT) measures volume, weight, bounding box, wall thickness and draft — the ground truth for material and machine sizing.</a:t>
            </a:r>
            <a:endParaRPr lang="en-US" sz="1060" dirty="0"/>
          </a:p>
        </p:txBody>
      </p:sp>
      <p:sp>
        <p:nvSpPr>
          <p:cNvPr id="15" name="Shape 13"/>
          <p:cNvSpPr/>
          <p:nvPr/>
        </p:nvSpPr>
        <p:spPr>
          <a:xfrm>
            <a:off x="548640" y="2788920"/>
            <a:ext cx="7040880" cy="548640"/>
          </a:xfrm>
          <a:prstGeom prst="roundRect">
            <a:avLst>
              <a:gd name="adj" fmla="val 8333"/>
            </a:avLst>
          </a:prstGeom>
          <a:solidFill>
            <a:srgbClr val="FFFFFF"/>
          </a:solidFill>
          <a:ln w="12700">
            <a:solidFill>
              <a:srgbClr val="E4EAF2"/>
            </a:solidFill>
            <a:prstDash val="solid"/>
          </a:ln>
        </p:spPr>
      </p:sp>
      <p:sp>
        <p:nvSpPr>
          <p:cNvPr id="16" name="Shape 14"/>
          <p:cNvSpPr/>
          <p:nvPr/>
        </p:nvSpPr>
        <p:spPr>
          <a:xfrm>
            <a:off x="694944" y="2889504"/>
            <a:ext cx="347472" cy="347472"/>
          </a:xfrm>
          <a:prstGeom prst="ellipse">
            <a:avLst/>
          </a:prstGeom>
          <a:solidFill>
            <a:srgbClr val="0EA472"/>
          </a:solidFill>
          <a:ln/>
          <a:effectLst>
            <a:outerShdw sx="100000" sy="100000" kx="0" ky="0" algn="bl" rotWithShape="0" blurRad="6.93123996701605e+45" dist="2.0793719901048145e+45" dir="3.2651735040000005e+54">
              <a:srgbClr val="A7B6CE">
                <a:alpha val="1.8e+54"/>
              </a:srgbClr>
            </a:outerShdw>
          </a:effectLst>
        </p:spPr>
      </p:sp>
      <p:sp>
        <p:nvSpPr>
          <p:cNvPr id="17" name="Text 15"/>
          <p:cNvSpPr/>
          <p:nvPr/>
        </p:nvSpPr>
        <p:spPr>
          <a:xfrm>
            <a:off x="694944" y="288950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2</a:t>
            </a:r>
            <a:endParaRPr lang="en-US" sz="1292" dirty="0"/>
          </a:p>
        </p:txBody>
      </p:sp>
      <p:sp>
        <p:nvSpPr>
          <p:cNvPr id="18" name="Text 16"/>
          <p:cNvSpPr/>
          <p:nvPr/>
        </p:nvSpPr>
        <p:spPr>
          <a:xfrm>
            <a:off x="1188720" y="278892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CAD features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Holes, pockets, slots, bosses and bends are recognised and counted — each one becomes a secondary-machining operation with its own cost line.</a:t>
            </a:r>
            <a:endParaRPr lang="en-US" sz="1060" dirty="0"/>
          </a:p>
        </p:txBody>
      </p:sp>
      <p:sp>
        <p:nvSpPr>
          <p:cNvPr id="19" name="Shape 17"/>
          <p:cNvSpPr/>
          <p:nvPr/>
        </p:nvSpPr>
        <p:spPr>
          <a:xfrm>
            <a:off x="548640" y="3429000"/>
            <a:ext cx="7040880" cy="548640"/>
          </a:xfrm>
          <a:prstGeom prst="roundRect">
            <a:avLst>
              <a:gd name="adj" fmla="val 8333"/>
            </a:avLst>
          </a:prstGeom>
          <a:solidFill>
            <a:srgbClr val="F4F7FB"/>
          </a:solidFill>
          <a:ln w="12700">
            <a:solidFill>
              <a:srgbClr val="E4EAF2"/>
            </a:solidFill>
            <a:prstDash val="solid"/>
          </a:ln>
        </p:spPr>
      </p:sp>
      <p:sp>
        <p:nvSpPr>
          <p:cNvPr id="20" name="Shape 18"/>
          <p:cNvSpPr/>
          <p:nvPr/>
        </p:nvSpPr>
        <p:spPr>
          <a:xfrm>
            <a:off x="694944" y="3529584"/>
            <a:ext cx="347472" cy="347472"/>
          </a:xfrm>
          <a:prstGeom prst="ellipse">
            <a:avLst/>
          </a:prstGeom>
          <a:solidFill>
            <a:srgbClr val="0EA472"/>
          </a:solidFill>
          <a:ln/>
          <a:effectLst>
            <a:outerShdw sx="100000" sy="100000" kx="0" ky="0" algn="bl" rotWithShape="0" blurRad="8.802674758110384e+49" dist="2.640802427433114e+49" dir="1.9591041024000004e+59">
              <a:srgbClr val="A7B6CE">
                <a:alpha val="1.8000000000000001e+59"/>
              </a:srgbClr>
            </a:outerShdw>
          </a:effectLst>
        </p:spPr>
      </p:sp>
      <p:sp>
        <p:nvSpPr>
          <p:cNvPr id="21" name="Text 19"/>
          <p:cNvSpPr/>
          <p:nvPr/>
        </p:nvSpPr>
        <p:spPr>
          <a:xfrm>
            <a:off x="694944" y="352958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3</a:t>
            </a:r>
            <a:endParaRPr lang="en-US" sz="1292" dirty="0"/>
          </a:p>
        </p:txBody>
      </p:sp>
      <p:sp>
        <p:nvSpPr>
          <p:cNvPr id="22" name="Text 20"/>
          <p:cNvSpPr/>
          <p:nvPr/>
        </p:nvSpPr>
        <p:spPr>
          <a:xfrm>
            <a:off x="1188720" y="342900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PCB from a photo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BOM lines, component packages (0402 · QFN · BGA) and placement count are read from the board image — driving component cost and SMT assembly.</a:t>
            </a:r>
            <a:endParaRPr lang="en-US" sz="1060" dirty="0"/>
          </a:p>
        </p:txBody>
      </p:sp>
      <p:sp>
        <p:nvSpPr>
          <p:cNvPr id="23" name="Shape 21"/>
          <p:cNvSpPr/>
          <p:nvPr/>
        </p:nvSpPr>
        <p:spPr>
          <a:xfrm>
            <a:off x="548640" y="4069080"/>
            <a:ext cx="7040880" cy="548640"/>
          </a:xfrm>
          <a:prstGeom prst="roundRect">
            <a:avLst>
              <a:gd name="adj" fmla="val 8333"/>
            </a:avLst>
          </a:prstGeom>
          <a:solidFill>
            <a:srgbClr val="FFFFFF"/>
          </a:solidFill>
          <a:ln w="12700">
            <a:solidFill>
              <a:srgbClr val="E4EAF2"/>
            </a:solidFill>
            <a:prstDash val="solid"/>
          </a:ln>
        </p:spPr>
      </p:sp>
      <p:sp>
        <p:nvSpPr>
          <p:cNvPr id="24" name="Shape 22"/>
          <p:cNvSpPr/>
          <p:nvPr/>
        </p:nvSpPr>
        <p:spPr>
          <a:xfrm>
            <a:off x="694944" y="4169664"/>
            <a:ext cx="347472" cy="347472"/>
          </a:xfrm>
          <a:prstGeom prst="ellipse">
            <a:avLst/>
          </a:prstGeom>
          <a:solidFill>
            <a:srgbClr val="0EA472"/>
          </a:solidFill>
          <a:ln/>
          <a:effectLst>
            <a:outerShdw sx="100000" sy="100000" kx="0" ky="0" algn="bl" rotWithShape="0" blurRad="1.1179396942800187e+54" dist="3.353819082840055e+53" dir="1.1754624614400003e+64">
              <a:srgbClr val="A7B6CE">
                <a:alpha val="1.8e+64"/>
              </a:srgbClr>
            </a:outerShdw>
          </a:effectLst>
        </p:spPr>
      </p:sp>
      <p:sp>
        <p:nvSpPr>
          <p:cNvPr id="25" name="Text 23"/>
          <p:cNvSpPr/>
          <p:nvPr/>
        </p:nvSpPr>
        <p:spPr>
          <a:xfrm>
            <a:off x="694944" y="416966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4</a:t>
            </a:r>
            <a:endParaRPr lang="en-US" sz="1292" dirty="0"/>
          </a:p>
        </p:txBody>
      </p:sp>
      <p:sp>
        <p:nvSpPr>
          <p:cNvPr id="26" name="Text 24"/>
          <p:cNvSpPr/>
          <p:nvPr/>
        </p:nvSpPr>
        <p:spPr>
          <a:xfrm>
            <a:off x="1188720" y="406908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PCB board spec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Board dimensions, layer count, surface finish, copper weight and ASIL class set the fabrication tier and the test &amp; quality overhead.</a:t>
            </a:r>
            <a:endParaRPr lang="en-US" sz="1060" dirty="0"/>
          </a:p>
        </p:txBody>
      </p:sp>
      <p:sp>
        <p:nvSpPr>
          <p:cNvPr id="27" name="Shape 25"/>
          <p:cNvSpPr/>
          <p:nvPr/>
        </p:nvSpPr>
        <p:spPr>
          <a:xfrm>
            <a:off x="548640" y="4709160"/>
            <a:ext cx="7040880" cy="548640"/>
          </a:xfrm>
          <a:prstGeom prst="roundRect">
            <a:avLst>
              <a:gd name="adj" fmla="val 8333"/>
            </a:avLst>
          </a:prstGeom>
          <a:solidFill>
            <a:srgbClr val="F4F7FB"/>
          </a:solidFill>
          <a:ln w="12700">
            <a:solidFill>
              <a:srgbClr val="E4EAF2"/>
            </a:solidFill>
            <a:prstDash val="solid"/>
          </a:ln>
        </p:spPr>
      </p:sp>
      <p:sp>
        <p:nvSpPr>
          <p:cNvPr id="28" name="Shape 26"/>
          <p:cNvSpPr/>
          <p:nvPr/>
        </p:nvSpPr>
        <p:spPr>
          <a:xfrm>
            <a:off x="694944" y="4809744"/>
            <a:ext cx="347472" cy="347472"/>
          </a:xfrm>
          <a:prstGeom prst="ellipse">
            <a:avLst/>
          </a:prstGeom>
          <a:solidFill>
            <a:srgbClr val="0EA472"/>
          </a:solidFill>
          <a:ln/>
          <a:effectLst>
            <a:outerShdw sx="100000" sy="100000" kx="0" ky="0" algn="bl" rotWithShape="0" blurRad="1.419783411735624e+58" dist="4.2593502352068695e+57" dir="7.052774768640002e+68">
              <a:srgbClr val="A7B6CE">
                <a:alpha val="1.8e+69"/>
              </a:srgbClr>
            </a:outerShdw>
          </a:effectLst>
        </p:spPr>
      </p:sp>
      <p:sp>
        <p:nvSpPr>
          <p:cNvPr id="29" name="Text 27"/>
          <p:cNvSpPr/>
          <p:nvPr/>
        </p:nvSpPr>
        <p:spPr>
          <a:xfrm>
            <a:off x="694944" y="480974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5</a:t>
            </a:r>
            <a:endParaRPr lang="en-US" sz="1292" dirty="0"/>
          </a:p>
        </p:txBody>
      </p:sp>
      <p:sp>
        <p:nvSpPr>
          <p:cNvPr id="30" name="Text 28"/>
          <p:cNvSpPr/>
          <p:nvPr/>
        </p:nvSpPr>
        <p:spPr>
          <a:xfrm>
            <a:off x="1188720" y="470916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Description or RFQ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From plain text the AI classifies material family, process route, quantity and region — pre-filling the engine drivers and the rate library.</a:t>
            </a:r>
            <a:endParaRPr lang="en-US" sz="1060" dirty="0"/>
          </a:p>
        </p:txBody>
      </p:sp>
      <p:sp>
        <p:nvSpPr>
          <p:cNvPr id="31" name="Shape 29"/>
          <p:cNvSpPr/>
          <p:nvPr/>
        </p:nvSpPr>
        <p:spPr>
          <a:xfrm>
            <a:off x="548640" y="5349240"/>
            <a:ext cx="7040880" cy="548640"/>
          </a:xfrm>
          <a:prstGeom prst="roundRect">
            <a:avLst>
              <a:gd name="adj" fmla="val 8333"/>
            </a:avLst>
          </a:prstGeom>
          <a:solidFill>
            <a:srgbClr val="FFFFFF"/>
          </a:solidFill>
          <a:ln w="12700">
            <a:solidFill>
              <a:srgbClr val="E4EAF2"/>
            </a:solidFill>
            <a:prstDash val="solid"/>
          </a:ln>
        </p:spPr>
      </p:sp>
      <p:sp>
        <p:nvSpPr>
          <p:cNvPr id="32" name="Shape 30"/>
          <p:cNvSpPr/>
          <p:nvPr/>
        </p:nvSpPr>
        <p:spPr>
          <a:xfrm>
            <a:off x="694944" y="5449824"/>
            <a:ext cx="347472" cy="347472"/>
          </a:xfrm>
          <a:prstGeom prst="ellipse">
            <a:avLst/>
          </a:prstGeom>
          <a:solidFill>
            <a:srgbClr val="0EA472"/>
          </a:solidFill>
          <a:ln/>
          <a:effectLst>
            <a:outerShdw sx="100000" sy="100000" kx="0" ky="0" algn="bl" rotWithShape="0" blurRad="1.8031249329042424e+62" dist="5.409374798712724e+61" dir="4.2316648611840007e+73">
              <a:srgbClr val="A7B6CE">
                <a:alpha val="1.8000000000000002e+74"/>
              </a:srgbClr>
            </a:outerShdw>
          </a:effectLst>
        </p:spPr>
      </p:sp>
      <p:sp>
        <p:nvSpPr>
          <p:cNvPr id="33" name="Text 31"/>
          <p:cNvSpPr/>
          <p:nvPr/>
        </p:nvSpPr>
        <p:spPr>
          <a:xfrm>
            <a:off x="694944" y="5449824"/>
            <a:ext cx="347472" cy="347472"/>
          </a:xfrm>
          <a:prstGeom prst="rect">
            <a:avLst/>
          </a:prstGeom>
          <a:noFill/>
          <a:ln/>
        </p:spPr>
        <p:txBody>
          <a:bodyPr wrap="square" lIns="0" tIns="0" rIns="0" bIns="0" rtlCol="0" anchor="ctr"/>
          <a:lstStyle/>
          <a:p>
            <a:pPr algn="ctr" indent="0" marL="0">
              <a:buNone/>
            </a:pPr>
            <a:r>
              <a:rPr lang="en-US" sz="1292" b="1" dirty="0">
                <a:solidFill>
                  <a:srgbClr val="FFFFFF"/>
                </a:solidFill>
                <a:latin typeface="Calibri" pitchFamily="34" charset="0"/>
                <a:ea typeface="Calibri" pitchFamily="34" charset="-122"/>
                <a:cs typeface="Calibri" pitchFamily="34" charset="-120"/>
              </a:rPr>
              <a:t>6</a:t>
            </a:r>
            <a:endParaRPr lang="en-US" sz="1292" dirty="0"/>
          </a:p>
        </p:txBody>
      </p:sp>
      <p:sp>
        <p:nvSpPr>
          <p:cNvPr id="34" name="Text 32"/>
          <p:cNvSpPr/>
          <p:nvPr/>
        </p:nvSpPr>
        <p:spPr>
          <a:xfrm>
            <a:off x="1188720" y="5349240"/>
            <a:ext cx="6217920" cy="548640"/>
          </a:xfrm>
          <a:prstGeom prst="rect">
            <a:avLst/>
          </a:prstGeom>
          <a:noFill/>
          <a:ln/>
        </p:spPr>
        <p:txBody>
          <a:bodyPr wrap="square" lIns="0" tIns="0" rIns="0" bIns="0" rtlCol="0" anchor="ctr"/>
          <a:lstStyle/>
          <a:p>
            <a:pPr indent="0" marL="0">
              <a:lnSpc>
                <a:spcPct val="102000"/>
              </a:lnSpc>
              <a:buNone/>
            </a:pPr>
            <a:r>
              <a:rPr lang="en-US" sz="1060" b="1" dirty="0">
                <a:solidFill>
                  <a:srgbClr val="0F1E3D"/>
                </a:solidFill>
                <a:latin typeface="Calibri" pitchFamily="34" charset="0"/>
                <a:ea typeface="Calibri" pitchFamily="34" charset="-122"/>
                <a:cs typeface="Calibri" pitchFamily="34" charset="-120"/>
              </a:rPr>
              <a:t>Provenance on every fact  —  </a:t>
            </a:r>
            <a:pPr indent="0" marL="0">
              <a:lnSpc>
                <a:spcPct val="102000"/>
              </a:lnSpc>
              <a:buNone/>
            </a:pPr>
            <a:r>
              <a:rPr lang="en-US" sz="1060" dirty="0">
                <a:solidFill>
                  <a:srgbClr val="3E4C63"/>
                </a:solidFill>
                <a:latin typeface="Calibri" pitchFamily="34" charset="0"/>
                <a:ea typeface="Calibri" pitchFamily="34" charset="-122"/>
                <a:cs typeface="Calibri" pitchFamily="34" charset="-120"/>
              </a:rPr>
              <a:t>Each captured value carries its source and a High/Medium/Low confidence, cross-checked against measured geometry before it can touch the price.</a:t>
            </a:r>
            <a:endParaRPr lang="en-US" sz="1060" dirty="0"/>
          </a:p>
        </p:txBody>
      </p:sp>
      <p:sp>
        <p:nvSpPr>
          <p:cNvPr id="35" name="Shape 33"/>
          <p:cNvSpPr/>
          <p:nvPr/>
        </p:nvSpPr>
        <p:spPr>
          <a:xfrm>
            <a:off x="7909560" y="2148840"/>
            <a:ext cx="3733495" cy="3749040"/>
          </a:xfrm>
          <a:prstGeom prst="roundRect">
            <a:avLst>
              <a:gd name="adj" fmla="val 1714"/>
            </a:avLst>
          </a:prstGeom>
          <a:solidFill>
            <a:srgbClr val="E7F7F0"/>
          </a:solidFill>
          <a:ln w="12700">
            <a:solidFill>
              <a:srgbClr val="E4EAF2"/>
            </a:solidFill>
            <a:prstDash val="solid"/>
          </a:ln>
        </p:spPr>
      </p:sp>
      <p:sp>
        <p:nvSpPr>
          <p:cNvPr id="36" name="Shape 34"/>
          <p:cNvSpPr/>
          <p:nvPr/>
        </p:nvSpPr>
        <p:spPr>
          <a:xfrm>
            <a:off x="7909560" y="2148840"/>
            <a:ext cx="82296" cy="3749040"/>
          </a:xfrm>
          <a:prstGeom prst="rect">
            <a:avLst/>
          </a:prstGeom>
          <a:solidFill>
            <a:srgbClr val="0EA472"/>
          </a:solidFill>
          <a:ln/>
        </p:spPr>
      </p:sp>
      <p:sp>
        <p:nvSpPr>
          <p:cNvPr id="37" name="Text 35"/>
          <p:cNvSpPr/>
          <p:nvPr/>
        </p:nvSpPr>
        <p:spPr>
          <a:xfrm>
            <a:off x="8183880" y="2350008"/>
            <a:ext cx="3276295" cy="320040"/>
          </a:xfrm>
          <a:prstGeom prst="rect">
            <a:avLst/>
          </a:prstGeom>
          <a:noFill/>
          <a:ln/>
        </p:spPr>
        <p:txBody>
          <a:bodyPr wrap="square" lIns="0" tIns="0" rIns="0" bIns="0" rtlCol="0" anchor="t"/>
          <a:lstStyle/>
          <a:p>
            <a:pPr indent="0" marL="0">
              <a:buNone/>
            </a:pPr>
            <a:r>
              <a:rPr lang="en-US" sz="1400" b="1" dirty="0">
                <a:solidFill>
                  <a:srgbClr val="0EA472"/>
                </a:solidFill>
                <a:latin typeface="Calibri" pitchFamily="34" charset="0"/>
                <a:ea typeface="Calibri" pitchFamily="34" charset="-122"/>
                <a:cs typeface="Calibri" pitchFamily="34" charset="-120"/>
              </a:rPr>
              <a:t>The golden rule</a:t>
            </a:r>
            <a:endParaRPr lang="en-US" sz="1400" dirty="0"/>
          </a:p>
        </p:txBody>
      </p:sp>
      <p:sp>
        <p:nvSpPr>
          <p:cNvPr id="38" name="Text 36"/>
          <p:cNvSpPr/>
          <p:nvPr/>
        </p:nvSpPr>
        <p:spPr>
          <a:xfrm>
            <a:off x="8183880" y="2834640"/>
            <a:ext cx="3230575" cy="731520"/>
          </a:xfrm>
          <a:prstGeom prst="rect">
            <a:avLst/>
          </a:prstGeom>
          <a:noFill/>
          <a:ln/>
        </p:spPr>
        <p:txBody>
          <a:bodyPr wrap="square" lIns="0" tIns="0" rIns="0" bIns="0" rtlCol="0" anchor="t"/>
          <a:lstStyle/>
          <a:p>
            <a:pPr indent="0" marL="0">
              <a:lnSpc>
                <a:spcPct val="115000"/>
              </a:lnSpc>
              <a:buNone/>
            </a:pPr>
            <a:r>
              <a:rPr lang="en-US" sz="1250" b="1" dirty="0">
                <a:solidFill>
                  <a:srgbClr val="0F1E3D"/>
                </a:solidFill>
                <a:latin typeface="Calibri" pitchFamily="34" charset="0"/>
                <a:ea typeface="Calibri" pitchFamily="34" charset="-122"/>
                <a:cs typeface="Calibri" pitchFamily="34" charset="-120"/>
              </a:rPr>
              <a:t>The AI reads and classifies — it never sets a price.</a:t>
            </a:r>
            <a:endParaRPr lang="en-US" sz="1250" dirty="0"/>
          </a:p>
        </p:txBody>
      </p:sp>
      <p:sp>
        <p:nvSpPr>
          <p:cNvPr id="39" name="Text 37"/>
          <p:cNvSpPr/>
          <p:nvPr/>
        </p:nvSpPr>
        <p:spPr>
          <a:xfrm>
            <a:off x="8183880" y="3749040"/>
            <a:ext cx="3230575" cy="1645920"/>
          </a:xfrm>
          <a:prstGeom prst="rect">
            <a:avLst/>
          </a:prstGeom>
          <a:noFill/>
          <a:ln/>
        </p:spPr>
        <p:txBody>
          <a:bodyPr wrap="square" lIns="0" tIns="0" rIns="0" bIns="0" rtlCol="0" anchor="t"/>
          <a:lstStyle/>
          <a:p>
            <a:pPr indent="0" marL="0">
              <a:lnSpc>
                <a:spcPct val="120000"/>
              </a:lnSpc>
              <a:buNone/>
            </a:pPr>
            <a:r>
              <a:rPr lang="en-US" sz="1150" dirty="0">
                <a:solidFill>
                  <a:srgbClr val="3E4C63"/>
                </a:solidFill>
                <a:latin typeface="Calibri" pitchFamily="34" charset="0"/>
                <a:ea typeface="Calibri" pitchFamily="34" charset="-122"/>
                <a:cs typeface="Calibri" pitchFamily="34" charset="-120"/>
              </a:rPr>
              <a:t>Every £ is deterministic arithmetic on the captured facts — bounded by a sanity layer, grounded to the rate library, and defensible line by line.</a:t>
            </a:r>
            <a:endParaRPr lang="en-US" sz="1150" dirty="0"/>
          </a:p>
        </p:txBody>
      </p:sp>
      <p:sp>
        <p:nvSpPr>
          <p:cNvPr id="40" name="Shape 38"/>
          <p:cNvSpPr/>
          <p:nvPr/>
        </p:nvSpPr>
        <p:spPr>
          <a:xfrm>
            <a:off x="548640" y="6400800"/>
            <a:ext cx="11094415" cy="12802"/>
          </a:xfrm>
          <a:prstGeom prst="rect">
            <a:avLst/>
          </a:prstGeom>
          <a:solidFill>
            <a:srgbClr val="E4EAF2"/>
          </a:solidFill>
          <a:ln/>
        </p:spPr>
      </p:sp>
      <p:sp>
        <p:nvSpPr>
          <p:cNvPr id="41" name="Text 39"/>
          <p:cNvSpPr/>
          <p:nvPr/>
        </p:nvSpPr>
        <p:spPr>
          <a:xfrm>
            <a:off x="548640" y="6473952"/>
            <a:ext cx="5486400" cy="256032"/>
          </a:xfrm>
          <a:prstGeom prst="rect">
            <a:avLst/>
          </a:prstGeom>
          <a:noFill/>
          <a:ln/>
        </p:spPr>
        <p:txBody>
          <a:bodyPr wrap="square" lIns="0" tIns="0" rIns="0" bIns="0" rtlCol="0" anchor="ctr"/>
          <a:lstStyle/>
          <a:p>
            <a:pPr indent="0" marL="0">
              <a:buNone/>
            </a:pPr>
            <a:r>
              <a:rPr lang="en-US" sz="850" dirty="0">
                <a:solidFill>
                  <a:srgbClr val="8A97A8"/>
                </a:solidFill>
                <a:latin typeface="Calibri" pitchFamily="34" charset="0"/>
                <a:ea typeface="Calibri" pitchFamily="34" charset="-122"/>
                <a:cs typeface="Calibri" pitchFamily="34" charset="-120"/>
              </a:rPr>
              <a:t>CostVision  ·  Executive Briefing</a:t>
            </a:r>
            <a:endParaRPr lang="en-US" sz="850" dirty="0"/>
          </a:p>
        </p:txBody>
      </p:sp>
      <p:sp>
        <p:nvSpPr>
          <p:cNvPr id="42" name="Text 40"/>
          <p:cNvSpPr/>
          <p:nvPr/>
        </p:nvSpPr>
        <p:spPr>
          <a:xfrm>
            <a:off x="10728655" y="6473952"/>
            <a:ext cx="914400" cy="256032"/>
          </a:xfrm>
          <a:prstGeom prst="rect">
            <a:avLst/>
          </a:prstGeom>
          <a:noFill/>
          <a:ln/>
        </p:spPr>
        <p:txBody>
          <a:bodyPr wrap="square" lIns="0" tIns="0" rIns="0" bIns="0" rtlCol="0" anchor="ctr"/>
          <a:lstStyle/>
          <a:p>
            <a:pPr algn="r" indent="0" marL="0">
              <a:buNone/>
            </a:pPr>
            <a:r>
              <a:rPr lang="en-US" sz="850" dirty="0">
                <a:solidFill>
                  <a:srgbClr val="8A97A8"/>
                </a:solidFill>
                <a:latin typeface="Calibri" pitchFamily="34" charset="0"/>
                <a:ea typeface="Calibri" pitchFamily="34" charset="-122"/>
                <a:cs typeface="Calibri" pitchFamily="34" charset="-120"/>
              </a:rPr>
              <a:t>5 / 15</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CostVision — AI Cost Intelligence Platform</dc:title>
  <dc:subject>PptxGenJS Presentation</dc:subject>
  <dc:creator>CostVision</dc:creator>
  <cp:lastModifiedBy>CostVision</cp:lastModifiedBy>
  <cp:revision>1</cp:revision>
  <dcterms:created xsi:type="dcterms:W3CDTF">2026-07-21T12:38:07Z</dcterms:created>
  <dcterms:modified xsi:type="dcterms:W3CDTF">2026-07-21T12:38:07Z</dcterms:modified>
</cp:coreProperties>
</file>