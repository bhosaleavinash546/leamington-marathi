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Built-in rate library 2.1.0 (16 June 2026) and coverage</c:v>
                </c:pt>
              </c:strCache>
            </c:strRef>
          </c:tx>
          <c:spPr>
            <a:solidFill>
              <a:srgbClr val="1D6FB8"/>
            </a:solidFill>
          </c:spPr>
          <c:cat>
            <c:strRef>
              <c:f>Sheet1!$A$2:$A$6</c:f>
              <c:strCache>
                <c:ptCount val="5"/>
                <c:pt idx="0">
                  <c:v>Materials</c:v>
                </c:pt>
                <c:pt idx="1">
                  <c:v>Machines</c:v>
                </c:pt>
                <c:pt idx="2">
                  <c:v>Labour grades</c:v>
                </c:pt>
                <c:pt idx="3">
                  <c:v>Regions</c:v>
                </c:pt>
                <c:pt idx="4">
                  <c:v>Processes</c:v>
                </c:pt>
              </c:strCache>
            </c:strRef>
          </c:cat>
          <c:val>
            <c:numRef>
              <c:f>Sheet1!$B$2:$B$6</c:f>
              <c:numCache>
                <c:formatCode>General</c:formatCode>
                <c:ptCount val="5"/>
                <c:pt idx="0">
                  <c:v>328</c:v>
                </c:pt>
                <c:pt idx="1">
                  <c:v>178</c:v>
                </c:pt>
                <c:pt idx="2">
                  <c:v>42</c:v>
                </c:pt>
                <c:pt idx="3">
                  <c:v>20</c:v>
                </c:pt>
                <c:pt idx="4">
                  <c:v>19</c:v>
                </c:pt>
              </c:numCache>
            </c:numRef>
          </c:val>
        </c:ser>
        <c:dLbls>
          <c:txPr>
            <a:bodyPr/>
            <a:lstStyle/>
            <a:p>
              <a:pPr>
                <a:defRPr sz="950" b="1"/>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95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900"/>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Thanks for making the time. This is the implementation blueprint for CostVision. It covers two things. First, how we run the tool safely inside the company, so CAD data never leaves our hands. Second, how it could plug into CAPEE, the should-cost software our teams already use. I want to be clear about where we are. The tool is built. The version JLR has runs on a single laptop, with no installer, no admin rights and no internet. The AI features are switched off in that build, because we don't have AI approval yet. The code is still there, and one setting can turn it back on later. Everything on these slides was checked against the code this month. Where something is a plan and not a thing that exists, I'll say so. At the end I'll ask for one decision: approval to start phases one and two.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have one ask today: approve the first two phases. That's the security assessment and the architecture design. My estimate is five to seven weeks with our existing teams, and no licence spend. Why now? The tool itself is built. It has two thousand four hundred and thirty-eight automated tests. What is left is deployment work, not building the tool. Why is it safe? The CAD file is measured on the same machine that runs the tool. Nothing is sent out. In the JLR build the AI is switched off, and the laptop version needs no internet at all. And why CAPEE? Because we are not replacing it. CAPEE stays the tool our teams open every day. The plan is for CostVision to sit behind it as the costing engine. To be clear, that connection is a plan. It is not built yet, and phase two is where we design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quick recap for anyone new. CostVision works out what a part should cost. It covers nineteen manufacturing processes and twenty regions, and it splits every cost into eight buckets. Every number is plain arithmetic you can trace back to a rate. You can upload a CAD file. The tool measures it, rules turn the measurements into cost inputs, and where the geometry can't decide something, like the process route, it asks the engineer. It also learns. If you log a real quote or PO price, then after three of them for a commodity, the uncertainty band is corrected by real data. The green bar is what is proven today. The arithmetic matches a hand calculation to under a hundredth of a percent. Six real production parts are pinned in a regression baseline. And there are 2,438 automated tests. What we have not done yet is compare an estimate with a price JLR actually paid. I'd rather say that now than have someone find it later.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slow down here, because people often mix these two layers up. On the left is what runs in the JLR build today. It's all rules and arithmetic, with no AI. The tool measures a CAD file and asks the engineer anything the geometry can't settle. A self-audit flags common mistakes, like the wrong machine size or tooling spread over the wrong volume. Logged prices tighten the uncertainty band. And the negotiation view compares a supplier quote with the should-cost, bucket by bucket. On the right is the optional AI mode. Reading a PCB photo, describing a part in words, the assistant and the agent. At JLR all of that is switched off and hidden. The code is still in the product, so a setting can turn it on later without a rebuild. If it is turned on, each user is rate-limited. The line at the bottom holds in both columns. AI never sets a price. At most it reads or classifies. The money is always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the checks and the learning that sit on top of the cost engine. None of it needs AI. The self-audit runs on every single result. It flags the mistakes we have actually seen, like a part on the wrong size of machine, or tooling spread over the wrong volume. It flags them. It doesn't quietly fix them behind your back. The learning is simple. You log a real quote or a PO price. Once there are three for a commodity, the uncertainty band is corrected by real data instead of assumptions. Negotiation puts a supplier quote next to the should-cost, bucket by bucket. The band on every result is a P10 to P90 range from a Monte Carlo run. Then two principles. The measured geometry wins, and when it can't decide, the tool asks. And every export matches the screen to the penny, with a traceability sheet in the Excel file. That is what makes a number defensible in a supplier meeting.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architecture, here are the five building blocks in plain words. The frontend is what you see in the browser. On the laptop build, the browser only talks to the laptop itself. The backend is the engine room. It runs the cost engines, the sign-in and the exports, and it is the same code on a laptop or a server. The database today is a local file. It holds the rates, each user's saved scenarios and any logged actuals. For a shared server, the plan is to move that to the corporate database IT already runs. That move is not done yet. The CAD engine is OpenCASCADE, the geometry software that measures the model. It runs inside the backend, not in anyone's cloud. And the AI layer. Every AI call has to pass through one control point in the code. At JLR it is switched off. If we ever get approval, the same control point can send calls to a private endpoint instead of the public 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requirement from IT Security is simple and absolute. No CAD files, drawings or images leave the company network. Here's what we found in the code. When you upload a CAD file, it is held in memory, written to a temp file on the same machine while the geometry engine measures it, and then deleted. It is never sent anywhere. I want to be precise about that temp file, because an earlier version of this deck said the file never touches disk, and that wasn't quite right. The only things that could ever go out are the AI layer and two optional public feeds, part pricing and news. In the JLR build, one setting switches all three off. The tool then says AI is switched off rather than asking for a key. We listed every outbound call in the source code, and there are automated tests for the AI-off setting. So the software side is in place. What's left is infrastructure and sign-off.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security story on one slide. On the left, in green, is what stays inside. That's the geometry measuring, the cost engines, the learning from actuals, and the Excel and PDF exports. That is nearly all of the tool. On the right, in amber, are the only three flows that could ever leave. The first is the AI layer, which would send photos or measured summaries. The second is live part pricing, which sends part numbers only. The third is the news feed, which pulls public news and sends no company data. In the JLR build, all three are off. One setting does that. The AI screens are hidden, and news simply doesn't load without internet. If AI is approved one day, the code can send those calls to a private endpoint of our choosing rather than the public internet. That's a future option, not how it runs today.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three ways to run this. Option A is what JLR runs today. The tool sits on a laptop or on our own server, with AI switched off. All the costing, the CAD measuring and the learning work. What you lose are the AI screens: the PCB photo reader, describing a part in words, and the assistant. Option B is a future option. The tool stays on our machines, and the AI calls go to a model in our own cloud account over a private link. The setting for that routing is already in the code. But it needs AI approval first, and a cloud sign-off, and we have neither today. Option C is the public AI service. I include it only to rule it out, because photos would cross the public internet. So my recommendation is to stay on A. If AI is approved later, we look at B. And the two can mix, with sensitive programmes staying on 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target for a shared server, and I want to stress it is a plan. Today JLR runs the laptop package. Everything in the grey box sits inside our network. Engineers, and later CAPEE, come in through the corporate gateway. The CostVision server runs from the Docker image, which already exists and includes the CAD kernel. The data would live in the corporate database. That move is still to do. The AI gateway at the bottom only matters if AI is ever approved. It would be the one door out, and it would be logged. Until then there is no door at all. On the right, the access rules. Two exist today. You must sign in to anything that holds data, and a password reset or sign out everywhere ends every old session. Two are plans: company single sign-on with roles, and a firewall that blocks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go function by function and ask where the CAD data actually goes. Opening and measuring the model, finding holes and walls, reading BOM files, working out the cost and learning from actuals. All of it happens inside the backend, on the same machine. We checked that in the code. The amber row is photo reading. That's an AI feature, and in the JLR build it is off and its screen is hidden. The last row is worth a word. The CAD file is not kept. While it is being measured it sits in a temp file on the same machine, and then it is deleted. Finally, security doesn't have to take my word for any of this. The AI-off setting has automated tests. They can also run their own witnessed firewall test and watch for traffic. Sending our logs to the corporate monitoring system is something we'd set up as part of the plan.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idea for CAPEE in one line. CostVision works behind CAPEE, not beside it. I want to be clear this is a plan. The connection is not built yet. CAPEE keeps what it does today: the workflow, the approvals and the reporting. Users keep opening CAPEE. The change is that CAPEE would ask CostVision for the cost and get the breakdown back. The six flows at the bottom are what we'd design in phase two. CAPEE sends a part and gets a should-cost. It sends a CAD file and gets the measured geometry and inputs back. It asks about a new part and gets similar past parts. The one I like most is PO prices. CAPEE already captures them. Each one could be logged as an actual, and after three for a commodity the tool's band is corrected by real data. That's also how we'd finally compare our estimates with prices JLR really paid. And one shared rate library keeps both tools on the same numbers.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scope of work, sized as honestly as I can. On the CostVision side there are six items. Two are done. The private AI routing setting is in the code. The AI-off switch is in the code, it has tests, and it's what the JLR build runs with today. Four are still to do. We need company single sign-on in place of local logins, and a move from the local database file to the corporate database. We need a clean API for CAPEE to call, and some audit hardening. On the CAPEE side the changes add things. They don't rip anything out. CAPEE needs a client to call CostVision, a should-cost panel on the costing screen, and to use the shared rate library. There's also a one-off import of past quotes so the learning has something to start from. My estimate for the remaining work is three to five engineering weeks. That's an estimate, not a promise, and phase two is where we firm it up.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compliance-minded, I've split each box into what exists today and what is a plan. Data handling. Today the CAD file is deleted after it's measured, and the laptop build only listens on the laptop itself. For a server we'd add encrypted connections and an encrypted database. Access. Today you must sign in to anything that holds data. Users only see their own saved scenarios, and a password reset or sign out everywhere ends every old session. Company single sign-on is the plan. Data loss. Today AI and the feeds are off in the JLR build. The firewall rule is for IT to add. Audit. Rate changes are logged against the user. And every page passes an automated WCAG 2.1 AA accessibility check. On standards, I'm not going to claim a certification we don't have. The mapping at the bottom is a starting point, and phase one is where IT Security confirms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phases. The first two, the assessment and the design, are what I'm asking you to approve today. Phase three is a sealed pilot with dummy CAD. Its exit gate is a test that security watches. The firewall blocks all outbound traffic, the full test suite passes, and there's no unexpected traffic. Phase four connects CAPEE. Its gate is a cost engineer doing a real costing from inside CAPEE. It's also where we first compare our estimates with prices JLR actually paid, which is the test that matters most and one we haven't done yet. Rollout and ongoing governance follow. I expect first value around week eight, when pilot users start costing real parts and checking supplier quotes bucket by bucket. Every timing on this slide is an estimate from the day of approval, and I'll update it after phase two.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my honest view of the risks. First, AI may never be approved. The impact is low, because we're already living with that. The JLR build runs with AI off, and the costing, the CAD measuring and the learning all work without it. Second, and this is the one I'd watch, we haven't yet compared an estimate with a price JLR actually paid. The arithmetic is checked against a hand calculation, and six real parts are pinned, but that only proves the tool is consistent. It doesn't prove it's right. Phase four fixes that, and logging actuals makes it ongoing. Third, the knowledge sits with one team. The tests, the real-parts baseline and the written docs help, and we'd train a maintainer on the CAPEE side. Fourth, adoption. If people stay in CAPEE, there's very little new to learn.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pull it together. Running the tool securely, with CAD kept in-house, is feasible. The CAD file stays on the machine that measures it, and the JLR build already runs with AI switched off. Connecting to CAPEE is feasible too. But it's a plan, not something built, and phase two designs it. Two of the six changes are done. My estimate for the rest is three to five weeks. Governance is simple. Someone owns the rate library, there's a monthly review, and a quarterly check of who has access. So the ask today is to approve phases one and two, the security assessment and the architecture design. The written plan and the security checklist are ready to hand to IT Security. One thing I'll repeat, because it matters. We have not yet compared an estimate with a price JLR paid. That's the first proof I want from the pilot. Thank you, and I'm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backup slide for when someone asks whether anyone else does this. The short answer is yes. Should-cost software is an established category. aPriori sells CAD-to-cost with process models to large manufacturers. Siemens has a costing product inside Teamcenter. Tset focuses on automotive costing, and a press release in June said A2MAC1 was buying it. Boothroyd Dewhurst is the classic method, and there are newer start-ups quoting from CAD files. Everything on this slide comes from those companies' own websites and press releases. I haven't tested any of their products, and I'm not claiming ours is better than theirs. So we are not inventing a new idea. The fair question is why we'd use our own tool instead of buying one. That's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if the market exists, why use our own? I'd give four reasons. One, it runs on a locked-down laptop. It's a folder you copy and double-click, with no installer, no admin rights, no internet and no AI. The CAD never leaves the machine. Two, it learns from our own prices. Log a quote or a PO price, and after three for a commodity, the band is corrected by our data rather than someone else's. Three, every number traces to a rate. The Excel export has a traceability sheet and matches the screen to the penny, which is what you want in a supplier meeting. Four, the breadth. Nineteen processes and twenty regions in one product, with no separate module licences. And the honest caveat. The big vendors have years of curated cost data, and we haven't yet compared our estimates with prices JLR paid. So I'm not saying we're better than aPriori. I'm saying we have a secure, in-house engine that can learn from our own prices.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backup slide answers the question, whose numbers are these? The answer is ours, whenever we want. The screenshot is the real rate library screen from July, after a company workbook was uploaded. An administrator downloads an Excel template, fills in our rates for materials, machines, labour, energy, exchange rates and overheads, and uploads it. Every row is checked, and then it becomes the active library. After that you can change any single rate on screen, and each change is logged against the person who made it. If you don't upload anything, the tool uses its built-in library. That's version 2.1.0, dated sixteenth of June 2026, with 328 materials, 178 machines and 42 labour grades. There are twenty regions with eight labour categories each. There's also a JLR Rate Converter workbook that turns JLR's own rate card into the tool's format with no macros. And you can switch back to the built-in rates at any time.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business case, and I'll keep it honest. On the cost side, my estimate is three to five weeks of engineering on CostVision, plus some small changes in CAPEE, all with existing teams. Today it runs on a laptop. For a shared server we'd need one virtual machine and the corporate database. AI costs nothing today, because it's off. And there's no licence spend, because we built it, so the code and the rate library are ours. On the return side, I've written 'could return' on purpose. We'd be able to check every supplier quote bucket by bucket. There's no annual fee for a commercial suite. Every engineer uses the same rates and rules. And the numbers are built on our own rates, so they can be traced. What I'm not doing is putting a savings number on this slide. We haven't compared an estimate with a price JLR paid yet. The pilot measures that first, and the business case gets built on real results.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evidence slide, for when someone asks whether it actually works. I want to answer it carefully. The chart shows what the numbers rest on. The built-in rate library has 328 materials, 178 machines and 42 labour grades. The tool covers twenty regions and nineteen processes. On the right is what's proven. The engine's arithmetic matches a hand calculation to under a hundredth of a percent on our reference machined bracket, which costs £24.34. Six real production parts are pinned in a baseline, so if a change moves any of them, the build fails. There are 2,438 automated tests, plus browser tests that cost every commodity, export Excel and PDF, and check accessibility. The last box is the honest one. None of this shows the tool is right about real prices. It shows the tool is consistent and does what it says. We haven't compared an estimate with a price JLR paid. That gets measured as actuals are logged, and I won't quote an accuracy figure until it has been.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written plan is a few months old, so here are four things built since then. First, CAD to Cost now runs on rules alone. No AI is needed. Thirteen commodities can be costed from a CAD file. When the geometry can't decide something, like the process route, the material, or the hole count on an STL file, the tool asks the engineer instead of guessing. Second, gears. Cost engineering and the plant asked for this. Gears used to go through the milling model, which can't see a tooth. Now gear cutting is its own process, and the cycle is worked out from the gear itself. Third, the Windows package. It's a folder you copy to a locked-down laptop and double-click. There's no installer, no admin rights and no internet, and it runs with AI off. Fourth, tooling is now spread over annual volume times programme life. And the amber bar is me being straight. The gear model runs on representative shop figures, and we haven't checked a gear against a known cost yet.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aimed squarely at the plant, and it's short on purpose. The gear model is built, and you can check its arithmetic line by line. What it doesn't have is your shop. Right now it runs on representative feeds, speeds and machines, and the estimate says so. I'd rather it under-claimed than quietly pretended. So I need three things, in order of how much each one moves the number. First, your gear machine list. That means the classes, the hourly rates and the size limits. Today the tool picks from machine classes I described, not machines you own. Second, feeds and speeds by material and module, and what a hob costs and how many parts it cuts between regrinds. Those drive the cycle time, and the cycle time drives the cost. Third, two gears where you already know the real cost. Ideally one just hobbed and one hardened and ground. Until we make that comparison, the model is consistent but unproven. It's about half a day of exports on your side.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backup for questions. Here are the five I expect, with straight answers. Why not just buy aPriori? A bought suite has an annual licence and may keep our CAD in a vendor's cloud. Ours runs in-house, learns from our own prices, and belongs to us. Is our data training a public AI? No. In the JLR build AI is switched off, so no AI calls happen at all. The tool tells you that on screen. What if the key developer leaves? There are 2,438 tests and six pinned real parts that define how it must behave. The design is written down, and phase four trains a maintainer on the CAPEE side. What does it cost to run? Today, a laptop. For a server, one virtual machine and the corporate database. And how do we know the numbers are right? Every pound traces to a rate, and the arithmetic matches a hand calculation. But we haven't compared it with a price JLR paid yet, and I'd rather say so.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and the next are about the PCB photo feature. I need to say up front that it's part of the optional AI mode, and in the JLR build it's switched off and hidden. I'm including it so you know what the code can do if AI is ever approved. An engineer uploads up to five photos of a board. The AI works out what kind of board it is, reads the printed markings, and lists the parts it can see. Step five is the important one for trust. From there it's plain code, not AI. It checks each line, caps prices against a catalogue, and adds the assembly and test cost. The bare board is priced as a bought-in price from fabricators' price tables, so no extra overhead or margin goes on top. And step six. The same photos give the same answer, because the result is stored against a fingerprint of the photos. The AI reads. It never sets the price.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same PCB feature from three angles. Again, this is the optional AI mode, and it is off at JLR. How it works. An AI vision model reads the photos. After that, plain code tidies the types, values and part numbers. The same photos always give the same answer. Live part pricing is optional, and it only sends part numbers, never images. The checks. Markings are read and then cross-checked. Code throws out part numbers that make no sense. Every line gets a confidence score, and prices are capped against a catalogue. The status at JLR is the column I'd point to. It's switched off and hidden. The code is kept, and one setting turns it on. If it's on, each user is rate-limited. And even with AI off, the PCB fab and PCBA forms still cost a board from inputs you type. The honest limit is that it only sees what's in the photo, so hidden parts need more photos.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CAD to Cost step by step. This one runs with AI off, so it's exactly what JLR has. You upload a STEP, IGES or STL file. Thirteen commodities can be costed this way. For sheet metal you can add a DXF flat pattern, and the measured blank is used instead of the bounding box. The geometry engine opens the file on the same machine. It sits in a temp file while it's measured, and then it's deleted. The engine measures volume, weight, size, walls, holes and features. Rules then turn those measurements into cost inputs. Where the geometry can't decide something, like the process route or the material family, the tool asks you rather than guessing. Then the cost engine does the arithmetic across the eight buckets, on our rates, for the region you pick. You get the breakdown, a self-audit, design warnings and an uncertainty band. Logging real prices tightens that band over time.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feature, three angles. How it works. OpenCASCADE, a proper geometry engine, measures the model. Rules, not AI, turn those measurements into inputs. The cost engines for nineteen processes do the arithmetic, on our rate library, across twenty regions. The checks. Volume and weight are measured, not guessed. Every figure traces to a rate. The arithmetic matches a hand calculation to under a hundredth of a percent, and six real parts are pinned so nothing moves by accident. Every result gets a self-audit and a P10 to P90 band. Engineer effort. The measuring is automatic. You answer the questions the geometry can't settle. One honest catch: an STL file has no feature table, so a machined STL needs you to type a cycle time before it will cost. And the green bar again. The file is measured on the same machine and deleted. At JLR, nothing goes out at all.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a simple question. What does the tool take off the model by itself, and where does each thing go? On the left is what it measures, and next to each is the cost driver it feeds. Volume and weight set the material cost. The envelope sizes the machine and the stock. Holes become drilling and tapping. Wall thickness helps choose the route. Draft and undercuts show tooling complexity, and face areas drive machining and paint area. The hole table and the CNC cycle estimate need a STEP or IGES file. An STL has no feature table. On the right is what it asks you. The geometry can't always tell the process route or the material family, so the tool asks instead of guessing. And a thick-walled part is only offered casting, forging or machining routes. At the bottom is the golden rule. AI never sets a price. At JLR it's off anyway. Rules and arithmetic do all of it, and every pound traces to a rate.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411480"/>
            <a:ext cx="480060" cy="480060"/>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125" b="1">
                <a:solidFill>
                  <a:srgbClr val="16325C"/>
                </a:solidFill>
                <a:latin typeface="Calibri"/>
              </a:rPr>
              <a:t>cv</a:t>
            </a:r>
          </a:p>
        </p:txBody>
      </p:sp>
      <p:sp>
        <p:nvSpPr>
          <p:cNvPr id="5" name="TextBox 4"/>
          <p:cNvSpPr txBox="1"/>
          <p:nvPr/>
        </p:nvSpPr>
        <p:spPr>
          <a:xfrm>
            <a:off x="1051560" y="377190"/>
            <a:ext cx="2377440" cy="292608"/>
          </a:xfrm>
          <a:prstGeom prst="rect">
            <a:avLst/>
          </a:prstGeom>
          <a:noFill/>
        </p:spPr>
        <p:txBody>
          <a:bodyPr wrap="square" anchor="t" lIns="0" rIns="0" tIns="0" bIns="0">
            <a:spAutoFit/>
          </a:bodyPr>
          <a:lstStyle/>
          <a:p>
            <a:pPr algn="l">
              <a:lnSpc>
                <a:spcPct val="100000"/>
              </a:lnSpc>
              <a:spcAft>
                <a:spcPts val="400"/>
              </a:spcAft>
            </a:pPr>
            <a:r>
              <a:rPr sz="2250" b="1" i="0">
                <a:solidFill>
                  <a:srgbClr val="FFFFFF"/>
                </a:solidFill>
                <a:latin typeface="Calibri"/>
              </a:rPr>
              <a:t>CostVision</a:t>
            </a:r>
          </a:p>
        </p:txBody>
      </p:sp>
      <p:sp>
        <p:nvSpPr>
          <p:cNvPr id="6" name="TextBox 5"/>
          <p:cNvSpPr txBox="1"/>
          <p:nvPr/>
        </p:nvSpPr>
        <p:spPr>
          <a:xfrm>
            <a:off x="1051560" y="685800"/>
            <a:ext cx="2560320" cy="201168"/>
          </a:xfrm>
          <a:prstGeom prst="rect">
            <a:avLst/>
          </a:prstGeom>
          <a:noFill/>
        </p:spPr>
        <p:txBody>
          <a:bodyPr wrap="square" anchor="t" lIns="0" rIns="0" tIns="0" bIns="0">
            <a:spAutoFit/>
          </a:bodyPr>
          <a:lstStyle/>
          <a:p>
            <a:pPr algn="l">
              <a:lnSpc>
                <a:spcPct val="100000"/>
              </a:lnSpc>
              <a:spcAft>
                <a:spcPts val="400"/>
              </a:spcAft>
            </a:pPr>
            <a:r>
              <a:rPr sz="937" b="0" i="0">
                <a:solidFill>
                  <a:srgbClr val="8FA3CC"/>
                </a:solidFill>
                <a:latin typeface="Calibri"/>
              </a:rPr>
              <a:t>SHOULD-COST  INTELLIGENCE</a:t>
            </a:r>
          </a:p>
        </p:txBody>
      </p:sp>
      <p:sp>
        <p:nvSpPr>
          <p:cNvPr id="7" name="TextBox 6"/>
          <p:cNvSpPr txBox="1"/>
          <p:nvPr/>
        </p:nvSpPr>
        <p:spPr>
          <a:xfrm>
            <a:off x="822960" y="1965960"/>
            <a:ext cx="10789920" cy="914400"/>
          </a:xfrm>
          <a:prstGeom prst="rect">
            <a:avLst/>
          </a:prstGeom>
          <a:noFill/>
        </p:spPr>
        <p:txBody>
          <a:bodyPr wrap="square" anchor="t" lIns="0" rIns="0" tIns="0" bIns="0">
            <a:spAutoFit/>
          </a:bodyPr>
          <a:lstStyle/>
          <a:p>
            <a:pPr algn="l">
              <a:lnSpc>
                <a:spcPct val="100000"/>
              </a:lnSpc>
              <a:spcAft>
                <a:spcPts val="400"/>
              </a:spcAft>
            </a:pPr>
            <a:r>
              <a:rPr sz="3600" b="1" i="0">
                <a:solidFill>
                  <a:srgbClr val="FFFFFF"/>
                </a:solidFill>
                <a:latin typeface="Cambria"/>
              </a:rPr>
              <a:t>CostVision Implementation Blueprint</a:t>
            </a:r>
          </a:p>
        </p:txBody>
      </p:sp>
      <p:sp>
        <p:nvSpPr>
          <p:cNvPr id="8" name="TextBox 7"/>
          <p:cNvSpPr txBox="1"/>
          <p:nvPr/>
        </p:nvSpPr>
        <p:spPr>
          <a:xfrm>
            <a:off x="822960" y="2834640"/>
            <a:ext cx="10424160" cy="822960"/>
          </a:xfrm>
          <a:prstGeom prst="rect">
            <a:avLst/>
          </a:prstGeom>
          <a:noFill/>
        </p:spPr>
        <p:txBody>
          <a:bodyPr wrap="square" anchor="t" lIns="0" rIns="0" tIns="0" bIns="0">
            <a:spAutoFit/>
          </a:bodyPr>
          <a:lstStyle/>
          <a:p>
            <a:pPr algn="l">
              <a:lnSpc>
                <a:spcPct val="100000"/>
              </a:lnSpc>
              <a:spcAft>
                <a:spcPts val="400"/>
              </a:spcAft>
            </a:pPr>
            <a:r>
              <a:rPr sz="1900" b="0" i="0">
                <a:solidFill>
                  <a:srgbClr val="CADCFC"/>
                </a:solidFill>
                <a:latin typeface="Calibri"/>
              </a:rPr>
              <a:t>How we run CostVision safely inside the company, and how it could plug into CAPEE.</a:t>
            </a:r>
          </a:p>
          <a:p>
            <a:pPr algn="l">
              <a:lnSpc>
                <a:spcPct val="100000"/>
              </a:lnSpc>
              <a:spcAft>
                <a:spcPts val="400"/>
              </a:spcAft>
            </a:pPr>
            <a:r>
              <a:rPr sz="1900" b="0" i="0">
                <a:solidFill>
                  <a:srgbClr val="CADCFC"/>
                </a:solidFill>
                <a:latin typeface="Calibri"/>
              </a:rPr>
              <a:t>CAD files stay on the machine that measures them. The JLR build runs with AI switched off.</a:t>
            </a:r>
          </a:p>
        </p:txBody>
      </p:sp>
      <p:sp>
        <p:nvSpPr>
          <p:cNvPr id="9" name="Rounded Rectangle 8"/>
          <p:cNvSpPr/>
          <p:nvPr/>
        </p:nvSpPr>
        <p:spPr>
          <a:xfrm>
            <a:off x="822960" y="4160520"/>
            <a:ext cx="246888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2A7F50"/>
                </a:solidFill>
                <a:latin typeface="Calibri"/>
              </a:rPr>
              <a:t>CAD stays in-house</a:t>
            </a:r>
          </a:p>
        </p:txBody>
      </p:sp>
      <p:sp>
        <p:nvSpPr>
          <p:cNvPr id="10" name="Rounded Rectangle 9"/>
          <p:cNvSpPr/>
          <p:nvPr/>
        </p:nvSpPr>
        <p:spPr>
          <a:xfrm>
            <a:off x="3520440" y="4160520"/>
            <a:ext cx="246888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1D6FB8"/>
                </a:solidFill>
                <a:latin typeface="Calibri"/>
              </a:rPr>
              <a:t>AI off in JLR build</a:t>
            </a:r>
          </a:p>
        </p:txBody>
      </p:sp>
      <p:sp>
        <p:nvSpPr>
          <p:cNvPr id="11" name="Rounded Rectangle 10"/>
          <p:cNvSpPr/>
          <p:nvPr/>
        </p:nvSpPr>
        <p:spPr>
          <a:xfrm>
            <a:off x="6217920" y="4160520"/>
            <a:ext cx="246888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6B3FA0"/>
                </a:solidFill>
                <a:latin typeface="Calibri"/>
              </a:rPr>
              <a:t>Runs on a laptop</a:t>
            </a:r>
          </a:p>
        </p:txBody>
      </p:sp>
      <p:sp>
        <p:nvSpPr>
          <p:cNvPr id="12" name="Rounded Rectangle 11"/>
          <p:cNvSpPr/>
          <p:nvPr/>
        </p:nvSpPr>
        <p:spPr>
          <a:xfrm>
            <a:off x="8915400" y="4160520"/>
            <a:ext cx="246888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D7D71"/>
                </a:solidFill>
                <a:latin typeface="Calibri"/>
              </a:rPr>
              <a:t>6-phase plan</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8FA3CC"/>
                </a:solidFill>
                <a:latin typeface="Calibri"/>
              </a:rPr>
              <a:t>Management briefing  ·  September 2026  ·  Checked against the code, app version V4.2</a:t>
            </a:r>
          </a:p>
        </p:txBody>
      </p:sp>
      <p:sp>
        <p:nvSpPr>
          <p:cNvPr id="14" name="Rectangle 13"/>
          <p:cNvSpPr/>
          <p:nvPr/>
        </p:nvSpPr>
        <p:spPr>
          <a:xfrm>
            <a:off x="0" y="6711696"/>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PURPOSE OF THIS MEETING</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decision we are asking for today</a:t>
            </a:r>
          </a:p>
        </p:txBody>
      </p:sp>
      <p:sp>
        <p:nvSpPr>
          <p:cNvPr id="9" name="Rounded Rectangle 8"/>
          <p:cNvSpPr/>
          <p:nvPr/>
        </p:nvSpPr>
        <p:spPr>
          <a:xfrm>
            <a:off x="411480" y="1920240"/>
            <a:ext cx="11384280" cy="1371600"/>
          </a:xfrm>
          <a:prstGeom prst="roundRect">
            <a:avLst>
              <a:gd name="adj" fmla="val 8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148840"/>
            <a:ext cx="10789920" cy="1005840"/>
          </a:xfrm>
          <a:prstGeom prst="rect">
            <a:avLst/>
          </a:prstGeom>
          <a:noFill/>
        </p:spPr>
        <p:txBody>
          <a:bodyPr wrap="square" anchor="t" lIns="0" rIns="0" tIns="0" bIns="0">
            <a:spAutoFit/>
          </a:bodyPr>
          <a:lstStyle/>
          <a:p>
            <a:pPr algn="l">
              <a:lnSpc>
                <a:spcPct val="120000"/>
              </a:lnSpc>
              <a:spcAft>
                <a:spcPts val="400"/>
              </a:spcAft>
            </a:pPr>
            <a:r>
              <a:rPr sz="1700" b="1" i="0">
                <a:solidFill>
                  <a:srgbClr val="1D6FB8"/>
                </a:solidFill>
                <a:latin typeface="Calibri"/>
              </a:rPr>
              <a:t>Approve Phases 1–2: </a:t>
            </a:r>
            <a:r>
              <a:rPr sz="1700" b="0" i="0">
                <a:solidFill>
                  <a:srgbClr val="3A4356"/>
                </a:solidFill>
                <a:latin typeface="Calibri"/>
              </a:rPr>
              <a:t>the IT-Security assessment and the architecture design for running CostVision on our network and connecting it to CAPEE.  (Our estimate: 5–7 weeks, existing teams, no licence spend.)</a:t>
            </a:r>
          </a:p>
        </p:txBody>
      </p:sp>
      <p:sp>
        <p:nvSpPr>
          <p:cNvPr id="11" name="Rounded Rectangle 10"/>
          <p:cNvSpPr/>
          <p:nvPr/>
        </p:nvSpPr>
        <p:spPr>
          <a:xfrm>
            <a:off x="411480" y="3657600"/>
            <a:ext cx="3657600" cy="219456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657600"/>
            <a:ext cx="3657600"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1D6FB8"/>
                </a:solidFill>
                <a:latin typeface="Calibri"/>
              </a:rPr>
              <a:t>Why now</a:t>
            </a:r>
          </a:p>
        </p:txBody>
      </p:sp>
      <p:sp>
        <p:nvSpPr>
          <p:cNvPr id="14" name="TextBox 13"/>
          <p:cNvSpPr txBox="1"/>
          <p:nvPr/>
        </p:nvSpPr>
        <p:spPr>
          <a:xfrm>
            <a:off x="6400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The tool is built and has 2,438 automated tests. What is left is deployment work, not building the tool.</a:t>
            </a:r>
          </a:p>
        </p:txBody>
      </p:sp>
      <p:sp>
        <p:nvSpPr>
          <p:cNvPr id="15" name="Rounded Rectangle 14"/>
          <p:cNvSpPr/>
          <p:nvPr/>
        </p:nvSpPr>
        <p:spPr>
          <a:xfrm>
            <a:off x="4297680" y="3657600"/>
            <a:ext cx="3657600" cy="219456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97680" y="3657600"/>
            <a:ext cx="3657600" cy="82296"/>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2A7F50"/>
                </a:solidFill>
                <a:latin typeface="Calibri"/>
              </a:rPr>
              <a:t>Why it is safe</a:t>
            </a:r>
          </a:p>
        </p:txBody>
      </p:sp>
      <p:sp>
        <p:nvSpPr>
          <p:cNvPr id="18" name="TextBox 17"/>
          <p:cNvSpPr txBox="1"/>
          <p:nvPr/>
        </p:nvSpPr>
        <p:spPr>
          <a:xfrm>
            <a:off x="45262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CAD is measured on the same machine. The JLR build has AI switched off. A laptop build needs no internet.</a:t>
            </a:r>
          </a:p>
        </p:txBody>
      </p:sp>
      <p:sp>
        <p:nvSpPr>
          <p:cNvPr id="19" name="Rounded Rectangle 18"/>
          <p:cNvSpPr/>
          <p:nvPr/>
        </p:nvSpPr>
        <p:spPr>
          <a:xfrm>
            <a:off x="8183879" y="3657600"/>
            <a:ext cx="3657600" cy="219456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83879" y="3657600"/>
            <a:ext cx="3657600" cy="822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9"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6B3FA0"/>
                </a:solidFill>
                <a:latin typeface="Calibri"/>
              </a:rPr>
              <a:t>Why CAPEE</a:t>
            </a:r>
          </a:p>
        </p:txBody>
      </p:sp>
      <p:sp>
        <p:nvSpPr>
          <p:cNvPr id="22" name="TextBox 21"/>
          <p:cNvSpPr txBox="1"/>
          <p:nvPr/>
        </p:nvSpPr>
        <p:spPr>
          <a:xfrm>
            <a:off x="8412479"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CAPEE stays the tool teams use. The plan is for CostVision to work behind it as the costing engine. Nothing is ripped out.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BACKGROUND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CostVision is — a quick recap</a:t>
            </a:r>
          </a:p>
        </p:txBody>
      </p:sp>
      <p:sp>
        <p:nvSpPr>
          <p:cNvPr id="9" name="Rounded Rectangle 8"/>
          <p:cNvSpPr/>
          <p:nvPr/>
        </p:nvSpPr>
        <p:spPr>
          <a:xfrm>
            <a:off x="411480" y="1874519"/>
            <a:ext cx="5577840" cy="129844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9844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1D6FB8"/>
                </a:solidFill>
                <a:latin typeface="Calibri"/>
              </a:rPr>
              <a:t>19 manufacturing processes</a:t>
            </a:r>
          </a:p>
        </p:txBody>
      </p:sp>
      <p:sp>
        <p:nvSpPr>
          <p:cNvPr id="12" name="TextBox 11"/>
          <p:cNvSpPr txBox="1"/>
          <p:nvPr/>
        </p:nvSpPr>
        <p:spPr>
          <a:xfrm>
            <a:off x="66751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Machining, casting, forging, moulding, sheet metal, PCB, harness and more. Every number traces to a rate.</a:t>
            </a:r>
          </a:p>
        </p:txBody>
      </p:sp>
      <p:sp>
        <p:nvSpPr>
          <p:cNvPr id="13" name="Rounded Rectangle 12"/>
          <p:cNvSpPr/>
          <p:nvPr/>
        </p:nvSpPr>
        <p:spPr>
          <a:xfrm>
            <a:off x="6217920" y="1874519"/>
            <a:ext cx="5577840" cy="129844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98448"/>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D7D71"/>
                </a:solidFill>
                <a:latin typeface="Calibri"/>
              </a:rPr>
              <a:t>CAD to Cost, on rules</a:t>
            </a:r>
          </a:p>
        </p:txBody>
      </p:sp>
      <p:sp>
        <p:nvSpPr>
          <p:cNvPr id="16" name="TextBox 15"/>
          <p:cNvSpPr txBox="1"/>
          <p:nvPr/>
        </p:nvSpPr>
        <p:spPr>
          <a:xfrm>
            <a:off x="647395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Measures STEP, IGES or STL files. Rules turn the measurements into inputs. It asks you when it cannot tell.</a:t>
            </a:r>
          </a:p>
        </p:txBody>
      </p:sp>
      <p:sp>
        <p:nvSpPr>
          <p:cNvPr id="17" name="Rounded Rectangle 16"/>
          <p:cNvSpPr/>
          <p:nvPr/>
        </p:nvSpPr>
        <p:spPr>
          <a:xfrm>
            <a:off x="411480" y="3355848"/>
            <a:ext cx="5577840" cy="129844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55848"/>
            <a:ext cx="82296" cy="129844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6B3FA0"/>
                </a:solidFill>
                <a:latin typeface="Calibri"/>
              </a:rPr>
              <a:t>20 regions, 8 cost buckets</a:t>
            </a:r>
          </a:p>
        </p:txBody>
      </p:sp>
      <p:sp>
        <p:nvSpPr>
          <p:cNvPr id="20" name="TextBox 19"/>
          <p:cNvSpPr txBox="1"/>
          <p:nvPr/>
        </p:nvSpPr>
        <p:spPr>
          <a:xfrm>
            <a:off x="66751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Material, process, labour, tooling, packaging, logistics, overhead, margin. Rate library dated 16 June 2026.</a:t>
            </a:r>
          </a:p>
        </p:txBody>
      </p:sp>
      <p:sp>
        <p:nvSpPr>
          <p:cNvPr id="21" name="Rounded Rectangle 20"/>
          <p:cNvSpPr/>
          <p:nvPr/>
        </p:nvSpPr>
        <p:spPr>
          <a:xfrm>
            <a:off x="6217920" y="3355848"/>
            <a:ext cx="5577840" cy="129844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55848"/>
            <a:ext cx="82296" cy="1298448"/>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A7F50"/>
                </a:solidFill>
                <a:latin typeface="Calibri"/>
              </a:rPr>
              <a:t>Learns from actuals</a:t>
            </a:r>
          </a:p>
        </p:txBody>
      </p:sp>
      <p:sp>
        <p:nvSpPr>
          <p:cNvPr id="24" name="TextBox 23"/>
          <p:cNvSpPr txBox="1"/>
          <p:nvPr/>
        </p:nvSpPr>
        <p:spPr>
          <a:xfrm>
            <a:off x="647395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Log a real quote or PO price. After 3 actuals for a commodity, the uncertainty band is corrected by real data.</a:t>
            </a:r>
          </a:p>
        </p:txBody>
      </p:sp>
      <p:sp>
        <p:nvSpPr>
          <p:cNvPr id="25" name="Rounded Rectangle 24"/>
          <p:cNvSpPr/>
          <p:nvPr/>
        </p:nvSpPr>
        <p:spPr>
          <a:xfrm>
            <a:off x="411480" y="5074920"/>
            <a:ext cx="11384280" cy="1188720"/>
          </a:xfrm>
          <a:prstGeom prst="roundRect">
            <a:avLst>
              <a:gd name="adj" fmla="val 8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257800"/>
            <a:ext cx="10789920" cy="868680"/>
          </a:xfrm>
          <a:prstGeom prst="rect">
            <a:avLst/>
          </a:prstGeom>
          <a:noFill/>
        </p:spPr>
        <p:txBody>
          <a:bodyPr wrap="square" anchor="t" lIns="0" rIns="0" tIns="0" bIns="0">
            <a:spAutoFit/>
          </a:bodyPr>
          <a:lstStyle/>
          <a:p>
            <a:pPr algn="l">
              <a:lnSpc>
                <a:spcPct val="120000"/>
              </a:lnSpc>
              <a:spcAft>
                <a:spcPts val="400"/>
              </a:spcAft>
            </a:pPr>
            <a:r>
              <a:rPr sz="1350" b="1" i="0">
                <a:solidFill>
                  <a:srgbClr val="2A7F50"/>
                </a:solidFill>
                <a:latin typeface="Calibri"/>
              </a:rPr>
              <a:t>What is proven:  </a:t>
            </a:r>
            <a:r>
              <a:rPr sz="1350" b="0" i="0">
                <a:solidFill>
                  <a:srgbClr val="3A4356"/>
                </a:solidFill>
                <a:latin typeface="Calibri"/>
              </a:rPr>
              <a:t>matches a hand calculation to under 0.01%  ·  6 real parts pinned in a baseline  ·  2,438 tests.  Not yet done: a comparison with a price JLR actually paid.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CONCEPT · EXPLAINED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Two layers — rules always on, AI optional</a:t>
            </a:r>
          </a:p>
        </p:txBody>
      </p:sp>
      <p:sp>
        <p:nvSpPr>
          <p:cNvPr id="9" name="TextBox 8"/>
          <p:cNvSpPr txBox="1"/>
          <p:nvPr/>
        </p:nvSpPr>
        <p:spPr>
          <a:xfrm>
            <a:off x="411480" y="1627632"/>
            <a:ext cx="11338560" cy="365760"/>
          </a:xfrm>
          <a:prstGeom prst="rect">
            <a:avLst/>
          </a:prstGeom>
          <a:noFill/>
        </p:spPr>
        <p:txBody>
          <a:bodyPr wrap="square" anchor="t" lIns="0" rIns="0" tIns="0" bIns="0">
            <a:spAutoFit/>
          </a:bodyPr>
          <a:lstStyle/>
          <a:p>
            <a:pPr algn="l">
              <a:lnSpc>
                <a:spcPct val="105000"/>
              </a:lnSpc>
              <a:spcAft>
                <a:spcPts val="400"/>
              </a:spcAft>
            </a:pPr>
            <a:r>
              <a:rPr sz="1250" b="0" i="1">
                <a:solidFill>
                  <a:srgbClr val="3A4356"/>
                </a:solidFill>
                <a:latin typeface="Calibri"/>
              </a:rPr>
              <a:t>Left: what runs in the JLR build today, with no AI. Right: the optional AI mode, switched off at JLR.</a:t>
            </a:r>
          </a:p>
        </p:txBody>
      </p:sp>
      <p:sp>
        <p:nvSpPr>
          <p:cNvPr id="10" name="Rounded Rectangle 9"/>
          <p:cNvSpPr/>
          <p:nvPr/>
        </p:nvSpPr>
        <p:spPr>
          <a:xfrm>
            <a:off x="411480" y="2084831"/>
            <a:ext cx="5559552" cy="3712463"/>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084831"/>
            <a:ext cx="73152" cy="3712463"/>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2231135"/>
            <a:ext cx="5102352" cy="310896"/>
          </a:xfrm>
          <a:prstGeom prst="rect">
            <a:avLst/>
          </a:prstGeom>
          <a:noFill/>
        </p:spPr>
        <p:txBody>
          <a:bodyPr wrap="square" anchor="t" lIns="0" rIns="0" tIns="0" bIns="0">
            <a:spAutoFit/>
          </a:bodyPr>
          <a:lstStyle/>
          <a:p>
            <a:pPr algn="l">
              <a:lnSpc>
                <a:spcPct val="100000"/>
              </a:lnSpc>
              <a:spcAft>
                <a:spcPts val="400"/>
              </a:spcAft>
            </a:pPr>
            <a:r>
              <a:rPr sz="1550" b="1" i="0">
                <a:solidFill>
                  <a:srgbClr val="1D6FB8"/>
                </a:solidFill>
                <a:latin typeface="Calibri"/>
              </a:rPr>
              <a:t>Rules and arithmetic</a:t>
            </a:r>
          </a:p>
        </p:txBody>
      </p:sp>
      <p:sp>
        <p:nvSpPr>
          <p:cNvPr id="13" name="TextBox 12"/>
          <p:cNvSpPr txBox="1"/>
          <p:nvPr/>
        </p:nvSpPr>
        <p:spPr>
          <a:xfrm>
            <a:off x="667512" y="2578607"/>
            <a:ext cx="5102352" cy="292608"/>
          </a:xfrm>
          <a:prstGeom prst="rect">
            <a:avLst/>
          </a:prstGeom>
          <a:noFill/>
        </p:spPr>
        <p:txBody>
          <a:bodyPr wrap="square" anchor="t" lIns="0" rIns="0" tIns="0" bIns="0">
            <a:spAutoFit/>
          </a:bodyPr>
          <a:lstStyle/>
          <a:p>
            <a:pPr algn="l">
              <a:lnSpc>
                <a:spcPct val="100000"/>
              </a:lnSpc>
              <a:spcAft>
                <a:spcPts val="400"/>
              </a:spcAft>
            </a:pPr>
            <a:r>
              <a:rPr sz="1050" b="0" i="1">
                <a:solidFill>
                  <a:srgbClr val="686F7D"/>
                </a:solidFill>
                <a:latin typeface="Calibri"/>
              </a:rPr>
              <a:t>Always on — this is the JLR build today</a:t>
            </a:r>
          </a:p>
        </p:txBody>
      </p:sp>
      <p:sp>
        <p:nvSpPr>
          <p:cNvPr id="14" name="Rounded Rectangle 13"/>
          <p:cNvSpPr/>
          <p:nvPr/>
        </p:nvSpPr>
        <p:spPr>
          <a:xfrm>
            <a:off x="630936" y="2980943"/>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 y="2980943"/>
            <a:ext cx="4572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2980943"/>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CAD to Cost   </a:t>
            </a:r>
            <a:r>
              <a:rPr sz="950" b="0" i="0">
                <a:solidFill>
                  <a:srgbClr val="686F7D"/>
                </a:solidFill>
                <a:latin typeface="Calibri"/>
              </a:rPr>
              <a:t>Measures the file. Asks you what geometry cannot decide.</a:t>
            </a:r>
          </a:p>
        </p:txBody>
      </p:sp>
      <p:sp>
        <p:nvSpPr>
          <p:cNvPr id="17" name="Rounded Rectangle 16"/>
          <p:cNvSpPr/>
          <p:nvPr/>
        </p:nvSpPr>
        <p:spPr>
          <a:xfrm>
            <a:off x="630936" y="3675887"/>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0936" y="3675887"/>
            <a:ext cx="4572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5528" y="3675887"/>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Self-audit   </a:t>
            </a:r>
            <a:r>
              <a:rPr sz="950" b="0" i="0">
                <a:solidFill>
                  <a:srgbClr val="686F7D"/>
                </a:solidFill>
                <a:latin typeface="Calibri"/>
              </a:rPr>
              <a:t>Flags a wrong machine size, wrong volume, odd cycle times.</a:t>
            </a:r>
          </a:p>
        </p:txBody>
      </p:sp>
      <p:sp>
        <p:nvSpPr>
          <p:cNvPr id="20" name="Rounded Rectangle 19"/>
          <p:cNvSpPr/>
          <p:nvPr/>
        </p:nvSpPr>
        <p:spPr>
          <a:xfrm>
            <a:off x="630936" y="4370831"/>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 y="4370831"/>
            <a:ext cx="4572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5528" y="4370831"/>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Learning from actuals   </a:t>
            </a:r>
            <a:r>
              <a:rPr sz="950" b="0" i="0">
                <a:solidFill>
                  <a:srgbClr val="686F7D"/>
                </a:solidFill>
                <a:latin typeface="Calibri"/>
              </a:rPr>
              <a:t>After 3 logged prices, the band uses real data.</a:t>
            </a:r>
          </a:p>
        </p:txBody>
      </p:sp>
      <p:sp>
        <p:nvSpPr>
          <p:cNvPr id="23" name="Rounded Rectangle 22"/>
          <p:cNvSpPr/>
          <p:nvPr/>
        </p:nvSpPr>
        <p:spPr>
          <a:xfrm>
            <a:off x="630936" y="5065775"/>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 y="5065775"/>
            <a:ext cx="4572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528" y="5065775"/>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Negotiation   </a:t>
            </a:r>
            <a:r>
              <a:rPr sz="950" b="0" i="0">
                <a:solidFill>
                  <a:srgbClr val="686F7D"/>
                </a:solidFill>
                <a:latin typeface="Calibri"/>
              </a:rPr>
              <a:t>Compares a supplier quote with should-cost, bucket by bucket.</a:t>
            </a:r>
          </a:p>
        </p:txBody>
      </p:sp>
      <p:sp>
        <p:nvSpPr>
          <p:cNvPr id="26" name="Rounded Rectangle 25"/>
          <p:cNvSpPr/>
          <p:nvPr/>
        </p:nvSpPr>
        <p:spPr>
          <a:xfrm>
            <a:off x="6217920" y="2084831"/>
            <a:ext cx="5559552" cy="3712463"/>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7920" y="2084831"/>
            <a:ext cx="73152" cy="3712463"/>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73952" y="2231135"/>
            <a:ext cx="5102352" cy="310896"/>
          </a:xfrm>
          <a:prstGeom prst="rect">
            <a:avLst/>
          </a:prstGeom>
          <a:noFill/>
        </p:spPr>
        <p:txBody>
          <a:bodyPr wrap="square" anchor="t" lIns="0" rIns="0" tIns="0" bIns="0">
            <a:spAutoFit/>
          </a:bodyPr>
          <a:lstStyle/>
          <a:p>
            <a:pPr algn="l">
              <a:lnSpc>
                <a:spcPct val="100000"/>
              </a:lnSpc>
              <a:spcAft>
                <a:spcPts val="400"/>
              </a:spcAft>
            </a:pPr>
            <a:r>
              <a:rPr sz="1550" b="1" i="0">
                <a:solidFill>
                  <a:srgbClr val="6B3FA0"/>
                </a:solidFill>
                <a:latin typeface="Calibri"/>
              </a:rPr>
              <a:t>Optional AI mode</a:t>
            </a:r>
          </a:p>
        </p:txBody>
      </p:sp>
      <p:sp>
        <p:nvSpPr>
          <p:cNvPr id="29" name="TextBox 28"/>
          <p:cNvSpPr txBox="1"/>
          <p:nvPr/>
        </p:nvSpPr>
        <p:spPr>
          <a:xfrm>
            <a:off x="6473952" y="2578607"/>
            <a:ext cx="5102352" cy="292608"/>
          </a:xfrm>
          <a:prstGeom prst="rect">
            <a:avLst/>
          </a:prstGeom>
          <a:noFill/>
        </p:spPr>
        <p:txBody>
          <a:bodyPr wrap="square" anchor="t" lIns="0" rIns="0" tIns="0" bIns="0">
            <a:spAutoFit/>
          </a:bodyPr>
          <a:lstStyle/>
          <a:p>
            <a:pPr algn="l">
              <a:lnSpc>
                <a:spcPct val="100000"/>
              </a:lnSpc>
              <a:spcAft>
                <a:spcPts val="400"/>
              </a:spcAft>
            </a:pPr>
            <a:r>
              <a:rPr sz="1050" b="0" i="1">
                <a:solidFill>
                  <a:srgbClr val="686F7D"/>
                </a:solidFill>
                <a:latin typeface="Calibri"/>
              </a:rPr>
              <a:t>Switched off at JLR — code kept, one setting turns it on</a:t>
            </a:r>
          </a:p>
        </p:txBody>
      </p:sp>
      <p:sp>
        <p:nvSpPr>
          <p:cNvPr id="30" name="Rounded Rectangle 29"/>
          <p:cNvSpPr/>
          <p:nvPr/>
        </p:nvSpPr>
        <p:spPr>
          <a:xfrm>
            <a:off x="6437376" y="2980943"/>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37376" y="2980943"/>
            <a:ext cx="4572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01968" y="2980943"/>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PCB photo to BOM   </a:t>
            </a:r>
            <a:r>
              <a:rPr sz="950" b="0" i="0">
                <a:solidFill>
                  <a:srgbClr val="686F7D"/>
                </a:solidFill>
                <a:latin typeface="Calibri"/>
              </a:rPr>
              <a:t>Reads a board photo and lists the parts.</a:t>
            </a:r>
          </a:p>
        </p:txBody>
      </p:sp>
      <p:sp>
        <p:nvSpPr>
          <p:cNvPr id="33" name="Rounded Rectangle 32"/>
          <p:cNvSpPr/>
          <p:nvPr/>
        </p:nvSpPr>
        <p:spPr>
          <a:xfrm>
            <a:off x="6437376" y="3675887"/>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37376" y="3675887"/>
            <a:ext cx="4572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01968" y="3675887"/>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Describe a part   </a:t>
            </a:r>
            <a:r>
              <a:rPr sz="950" b="0" i="0">
                <a:solidFill>
                  <a:srgbClr val="686F7D"/>
                </a:solidFill>
                <a:latin typeface="Calibri"/>
              </a:rPr>
              <a:t>Type a description; it suggests the inputs.</a:t>
            </a:r>
          </a:p>
        </p:txBody>
      </p:sp>
      <p:sp>
        <p:nvSpPr>
          <p:cNvPr id="36" name="Rounded Rectangle 35"/>
          <p:cNvSpPr/>
          <p:nvPr/>
        </p:nvSpPr>
        <p:spPr>
          <a:xfrm>
            <a:off x="6437376" y="4370831"/>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37376" y="4370831"/>
            <a:ext cx="4572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01968" y="4370831"/>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AI assistant and agent   </a:t>
            </a:r>
            <a:r>
              <a:rPr sz="950" b="0" i="0">
                <a:solidFill>
                  <a:srgbClr val="686F7D"/>
                </a:solidFill>
                <a:latin typeface="Calibri"/>
              </a:rPr>
              <a:t>Answers costing questions from your own rates.</a:t>
            </a:r>
          </a:p>
        </p:txBody>
      </p:sp>
      <p:sp>
        <p:nvSpPr>
          <p:cNvPr id="39" name="Rounded Rectangle 38"/>
          <p:cNvSpPr/>
          <p:nvPr/>
        </p:nvSpPr>
        <p:spPr>
          <a:xfrm>
            <a:off x="6437376" y="5065775"/>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37376" y="5065775"/>
            <a:ext cx="4572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01968" y="5065775"/>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Rate-limited   </a:t>
            </a:r>
            <a:r>
              <a:rPr sz="950" b="0" i="0">
                <a:solidFill>
                  <a:srgbClr val="686F7D"/>
                </a:solidFill>
                <a:latin typeface="Calibri"/>
              </a:rPr>
              <a:t>When on, every AI route is limited per user.</a:t>
            </a:r>
          </a:p>
        </p:txBody>
      </p:sp>
      <p:sp>
        <p:nvSpPr>
          <p:cNvPr id="42" name="Rounded Rectangle 41"/>
          <p:cNvSpPr/>
          <p:nvPr/>
        </p:nvSpPr>
        <p:spPr>
          <a:xfrm>
            <a:off x="411480" y="5943600"/>
            <a:ext cx="11365992" cy="621792"/>
          </a:xfrm>
          <a:prstGeom prst="roundRect">
            <a:avLst>
              <a:gd name="adj" fmla="val 8000"/>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13232" y="5943600"/>
            <a:ext cx="10881360" cy="621792"/>
          </a:xfrm>
          <a:prstGeom prst="rect">
            <a:avLst/>
          </a:prstGeom>
          <a:noFill/>
        </p:spPr>
        <p:txBody>
          <a:bodyPr wrap="square" anchor="ctr" lIns="0" rIns="0" tIns="0" bIns="0">
            <a:spAutoFit/>
          </a:bodyPr>
          <a:lstStyle/>
          <a:p>
            <a:pPr algn="l">
              <a:lnSpc>
                <a:spcPct val="100000"/>
              </a:lnSpc>
              <a:spcAft>
                <a:spcPts val="400"/>
              </a:spcAft>
            </a:pPr>
            <a:r>
              <a:rPr sz="1150" b="1" i="0">
                <a:solidFill>
                  <a:srgbClr val="FFFFFF"/>
                </a:solidFill>
                <a:latin typeface="Calibri"/>
              </a:rPr>
              <a:t>The rule in both columns:  </a:t>
            </a:r>
            <a:r>
              <a:rPr sz="1150" b="0" i="0">
                <a:solidFill>
                  <a:srgbClr val="E8EEFF"/>
                </a:solidFill>
                <a:latin typeface="Calibri"/>
              </a:rPr>
              <a:t>AI never sets a price, even when it is on. Every £ is arithmetic you can trace to a rate.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BACKGROUND · CHECKS AND LEARNING</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sits on top of the cost engine</a:t>
            </a:r>
          </a:p>
        </p:txBody>
      </p:sp>
      <p:sp>
        <p:nvSpPr>
          <p:cNvPr id="9" name="Rounded Rectangle 8"/>
          <p:cNvSpPr/>
          <p:nvPr/>
        </p:nvSpPr>
        <p:spPr>
          <a:xfrm>
            <a:off x="411480" y="1828800"/>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82296" cy="67665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20240"/>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Self-audit</a:t>
            </a:r>
          </a:p>
        </p:txBody>
      </p:sp>
      <p:sp>
        <p:nvSpPr>
          <p:cNvPr id="12" name="TextBox 11"/>
          <p:cNvSpPr txBox="1"/>
          <p:nvPr/>
        </p:nvSpPr>
        <p:spPr>
          <a:xfrm>
            <a:off x="3931920" y="1911096"/>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A4356"/>
                </a:solidFill>
                <a:latin typeface="Calibri"/>
              </a:rPr>
              <a:t>Runs on every result. Flags a wrong machine size, tooling spread over the wrong volume, a material-only costing, odd cycle times.</a:t>
            </a:r>
          </a:p>
        </p:txBody>
      </p:sp>
      <p:sp>
        <p:nvSpPr>
          <p:cNvPr id="13" name="Rounded Rectangle 12"/>
          <p:cNvSpPr/>
          <p:nvPr/>
        </p:nvSpPr>
        <p:spPr>
          <a:xfrm>
            <a:off x="411480" y="2578608"/>
            <a:ext cx="11384280" cy="676656"/>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578608"/>
            <a:ext cx="82296" cy="676656"/>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2670048"/>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2A7F50"/>
                </a:solidFill>
                <a:latin typeface="Calibri"/>
              </a:rPr>
              <a:t>Learns from actuals</a:t>
            </a:r>
          </a:p>
        </p:txBody>
      </p:sp>
      <p:sp>
        <p:nvSpPr>
          <p:cNvPr id="16" name="TextBox 15"/>
          <p:cNvSpPr txBox="1"/>
          <p:nvPr/>
        </p:nvSpPr>
        <p:spPr>
          <a:xfrm>
            <a:off x="3931920" y="2660904"/>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A4356"/>
                </a:solidFill>
                <a:latin typeface="Calibri"/>
              </a:rPr>
              <a:t>Log a real quote or PO price. After 3 actuals for a commodity, the band is corrected by real data.</a:t>
            </a:r>
          </a:p>
        </p:txBody>
      </p:sp>
      <p:sp>
        <p:nvSpPr>
          <p:cNvPr id="17" name="Rounded Rectangle 16"/>
          <p:cNvSpPr/>
          <p:nvPr/>
        </p:nvSpPr>
        <p:spPr>
          <a:xfrm>
            <a:off x="411480" y="3328415"/>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28415"/>
            <a:ext cx="82296" cy="67665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3419855"/>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Negotiation</a:t>
            </a:r>
          </a:p>
        </p:txBody>
      </p:sp>
      <p:sp>
        <p:nvSpPr>
          <p:cNvPr id="20" name="TextBox 19"/>
          <p:cNvSpPr txBox="1"/>
          <p:nvPr/>
        </p:nvSpPr>
        <p:spPr>
          <a:xfrm>
            <a:off x="3931920" y="3410711"/>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A4356"/>
                </a:solidFill>
                <a:latin typeface="Calibri"/>
              </a:rPr>
              <a:t>Compares a supplier quote with the should-cost, bucket by bucket, so you can see where the gap is.</a:t>
            </a:r>
          </a:p>
        </p:txBody>
      </p:sp>
      <p:sp>
        <p:nvSpPr>
          <p:cNvPr id="21" name="Rounded Rectangle 20"/>
          <p:cNvSpPr/>
          <p:nvPr/>
        </p:nvSpPr>
        <p:spPr>
          <a:xfrm>
            <a:off x="411480" y="4078224"/>
            <a:ext cx="11384280" cy="676656"/>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4078224"/>
            <a:ext cx="82296" cy="67665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 y="4169664"/>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6B3FA0"/>
                </a:solidFill>
                <a:latin typeface="Calibri"/>
              </a:rPr>
              <a:t>Uncertainty band</a:t>
            </a:r>
          </a:p>
        </p:txBody>
      </p:sp>
      <p:sp>
        <p:nvSpPr>
          <p:cNvPr id="24" name="TextBox 23"/>
          <p:cNvSpPr txBox="1"/>
          <p:nvPr/>
        </p:nvSpPr>
        <p:spPr>
          <a:xfrm>
            <a:off x="3931920" y="4160520"/>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A4356"/>
                </a:solidFill>
                <a:latin typeface="Calibri"/>
              </a:rPr>
              <a:t>Every result shows a P10–P90 range from a Monte Carlo run over every cost driver.</a:t>
            </a:r>
          </a:p>
        </p:txBody>
      </p:sp>
      <p:sp>
        <p:nvSpPr>
          <p:cNvPr id="25" name="Rounded Rectangle 24"/>
          <p:cNvSpPr/>
          <p:nvPr/>
        </p:nvSpPr>
        <p:spPr>
          <a:xfrm>
            <a:off x="411480" y="4828031"/>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828031"/>
            <a:ext cx="82296" cy="676656"/>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919471"/>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0D7D71"/>
                </a:solidFill>
                <a:latin typeface="Calibri"/>
              </a:rPr>
              <a:t>Geometry is the truth</a:t>
            </a:r>
          </a:p>
        </p:txBody>
      </p:sp>
      <p:sp>
        <p:nvSpPr>
          <p:cNvPr id="28" name="TextBox 27"/>
          <p:cNvSpPr txBox="1"/>
          <p:nvPr/>
        </p:nvSpPr>
        <p:spPr>
          <a:xfrm>
            <a:off x="3931920" y="4910327"/>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A4356"/>
                </a:solidFill>
                <a:latin typeface="Calibri"/>
              </a:rPr>
              <a:t>The measured part wins. Where it cannot decide, the tool asks the engineer instead of guessing.</a:t>
            </a:r>
          </a:p>
        </p:txBody>
      </p:sp>
      <p:sp>
        <p:nvSpPr>
          <p:cNvPr id="29" name="Rounded Rectangle 28"/>
          <p:cNvSpPr/>
          <p:nvPr/>
        </p:nvSpPr>
        <p:spPr>
          <a:xfrm>
            <a:off x="411480" y="5577840"/>
            <a:ext cx="11384280" cy="676656"/>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577840"/>
            <a:ext cx="82296" cy="676656"/>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 y="5669280"/>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99651A"/>
                </a:solidFill>
                <a:latin typeface="Calibri"/>
              </a:rPr>
              <a:t>Traceable exports</a:t>
            </a:r>
          </a:p>
        </p:txBody>
      </p:sp>
      <p:sp>
        <p:nvSpPr>
          <p:cNvPr id="32" name="TextBox 31"/>
          <p:cNvSpPr txBox="1"/>
          <p:nvPr/>
        </p:nvSpPr>
        <p:spPr>
          <a:xfrm>
            <a:off x="3931920" y="5660136"/>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A4356"/>
                </a:solidFill>
                <a:latin typeface="Calibri"/>
              </a:rPr>
              <a:t>Excel (6 sheets, with a traceability sheet), PDF and a negotiation pack. All match the screen to the penny.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TECHNOLOGY, SIMPLY EXPLAINED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the tool is made of — in plain words</a:t>
            </a:r>
          </a:p>
        </p:txBody>
      </p:sp>
      <p:sp>
        <p:nvSpPr>
          <p:cNvPr id="9" name="Rounded Rectangle 8"/>
          <p:cNvSpPr/>
          <p:nvPr/>
        </p:nvSpPr>
        <p:spPr>
          <a:xfrm>
            <a:off x="411480" y="1874519"/>
            <a:ext cx="11384280" cy="768096"/>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7680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6595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1D6FB8"/>
                </a:solidFill>
                <a:latin typeface="Calibri"/>
              </a:rPr>
              <a:t>Frontend</a:t>
            </a:r>
          </a:p>
        </p:txBody>
      </p:sp>
      <p:sp>
        <p:nvSpPr>
          <p:cNvPr id="12" name="TextBox 11"/>
          <p:cNvSpPr txBox="1"/>
          <p:nvPr/>
        </p:nvSpPr>
        <p:spPr>
          <a:xfrm>
            <a:off x="685800" y="230428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86F7D"/>
                </a:solidFill>
                <a:latin typeface="Calibri"/>
              </a:rPr>
              <a:t>What users see</a:t>
            </a:r>
          </a:p>
        </p:txBody>
      </p:sp>
      <p:sp>
        <p:nvSpPr>
          <p:cNvPr id="13" name="TextBox 12"/>
          <p:cNvSpPr txBox="1"/>
          <p:nvPr/>
        </p:nvSpPr>
        <p:spPr>
          <a:xfrm>
            <a:off x="2697480" y="198424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Forms, results and reports in the browser. On the laptop build the browser talks only to the laptop itself (127.0.0.1).</a:t>
            </a:r>
          </a:p>
        </p:txBody>
      </p:sp>
      <p:sp>
        <p:nvSpPr>
          <p:cNvPr id="14" name="Rounded Rectangle 13"/>
          <p:cNvSpPr/>
          <p:nvPr/>
        </p:nvSpPr>
        <p:spPr>
          <a:xfrm>
            <a:off x="411480" y="2743200"/>
            <a:ext cx="11384280" cy="768096"/>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743200"/>
            <a:ext cx="82296" cy="7680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83464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1D6FB8"/>
                </a:solidFill>
                <a:latin typeface="Calibri"/>
              </a:rPr>
              <a:t>Backend</a:t>
            </a:r>
          </a:p>
        </p:txBody>
      </p:sp>
      <p:sp>
        <p:nvSpPr>
          <p:cNvPr id="17" name="TextBox 16"/>
          <p:cNvSpPr txBox="1"/>
          <p:nvPr/>
        </p:nvSpPr>
        <p:spPr>
          <a:xfrm>
            <a:off x="685800" y="317296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86F7D"/>
                </a:solidFill>
                <a:latin typeface="Calibri"/>
              </a:rPr>
              <a:t>The engine room</a:t>
            </a:r>
          </a:p>
        </p:txBody>
      </p:sp>
      <p:sp>
        <p:nvSpPr>
          <p:cNvPr id="18" name="TextBox 17"/>
          <p:cNvSpPr txBox="1"/>
          <p:nvPr/>
        </p:nvSpPr>
        <p:spPr>
          <a:xfrm>
            <a:off x="2697480" y="285292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The server program that does the work: the cost engines for 19 processes, sign-in, exports. Same code on a laptop or a server.</a:t>
            </a:r>
          </a:p>
        </p:txBody>
      </p:sp>
      <p:sp>
        <p:nvSpPr>
          <p:cNvPr id="19" name="Rounded Rectangle 18"/>
          <p:cNvSpPr/>
          <p:nvPr/>
        </p:nvSpPr>
        <p:spPr>
          <a:xfrm>
            <a:off x="411480" y="3611879"/>
            <a:ext cx="11384280" cy="768096"/>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611879"/>
            <a:ext cx="82296" cy="7680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70331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6B3FA0"/>
                </a:solidFill>
                <a:latin typeface="Calibri"/>
              </a:rPr>
              <a:t>Database</a:t>
            </a:r>
          </a:p>
        </p:txBody>
      </p:sp>
      <p:sp>
        <p:nvSpPr>
          <p:cNvPr id="22" name="TextBox 21"/>
          <p:cNvSpPr txBox="1"/>
          <p:nvPr/>
        </p:nvSpPr>
        <p:spPr>
          <a:xfrm>
            <a:off x="685800" y="404164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86F7D"/>
                </a:solidFill>
                <a:latin typeface="Calibri"/>
              </a:rPr>
              <a:t>The memory</a:t>
            </a:r>
          </a:p>
        </p:txBody>
      </p:sp>
      <p:sp>
        <p:nvSpPr>
          <p:cNvPr id="23" name="TextBox 22"/>
          <p:cNvSpPr txBox="1"/>
          <p:nvPr/>
        </p:nvSpPr>
        <p:spPr>
          <a:xfrm>
            <a:off x="2697480" y="372160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Today: a local database file holding rates, saved scenarios and logged actuals. Plan: move to the corporate database for a shared server.</a:t>
            </a:r>
          </a:p>
        </p:txBody>
      </p:sp>
      <p:sp>
        <p:nvSpPr>
          <p:cNvPr id="24" name="Rounded Rectangle 23"/>
          <p:cNvSpPr/>
          <p:nvPr/>
        </p:nvSpPr>
        <p:spPr>
          <a:xfrm>
            <a:off x="411480" y="4480559"/>
            <a:ext cx="11384280" cy="768096"/>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80559"/>
            <a:ext cx="82296" cy="768096"/>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57199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D7D71"/>
                </a:solidFill>
                <a:latin typeface="Calibri"/>
              </a:rPr>
              <a:t>CAD engine</a:t>
            </a:r>
          </a:p>
        </p:txBody>
      </p:sp>
      <p:sp>
        <p:nvSpPr>
          <p:cNvPr id="27" name="TextBox 26"/>
          <p:cNvSpPr txBox="1"/>
          <p:nvPr/>
        </p:nvSpPr>
        <p:spPr>
          <a:xfrm>
            <a:off x="685800" y="491032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86F7D"/>
                </a:solidFill>
                <a:latin typeface="Calibri"/>
              </a:rPr>
              <a:t>The 3D model reader</a:t>
            </a:r>
          </a:p>
        </p:txBody>
      </p:sp>
      <p:sp>
        <p:nvSpPr>
          <p:cNvPr id="28" name="TextBox 27"/>
          <p:cNvSpPr txBox="1"/>
          <p:nvPr/>
        </p:nvSpPr>
        <p:spPr>
          <a:xfrm>
            <a:off x="2697480" y="459028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OpenCASCADE geometry software. Measures volume, weight, size, walls, holes and features. Runs inside the backend.</a:t>
            </a:r>
          </a:p>
        </p:txBody>
      </p:sp>
      <p:sp>
        <p:nvSpPr>
          <p:cNvPr id="29" name="Rounded Rectangle 28"/>
          <p:cNvSpPr/>
          <p:nvPr/>
        </p:nvSpPr>
        <p:spPr>
          <a:xfrm>
            <a:off x="411480" y="5349240"/>
            <a:ext cx="11384280" cy="768096"/>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349240"/>
            <a:ext cx="82296" cy="768096"/>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544068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A7F50"/>
                </a:solidFill>
                <a:latin typeface="Calibri"/>
              </a:rPr>
              <a:t>AI layer</a:t>
            </a:r>
          </a:p>
        </p:txBody>
      </p:sp>
      <p:sp>
        <p:nvSpPr>
          <p:cNvPr id="32" name="TextBox 31"/>
          <p:cNvSpPr txBox="1"/>
          <p:nvPr/>
        </p:nvSpPr>
        <p:spPr>
          <a:xfrm>
            <a:off x="685800" y="577900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86F7D"/>
                </a:solidFill>
                <a:latin typeface="Calibri"/>
              </a:rPr>
              <a:t>Optional, off at JLR</a:t>
            </a:r>
          </a:p>
        </p:txBody>
      </p:sp>
      <p:sp>
        <p:nvSpPr>
          <p:cNvPr id="33" name="TextBox 32"/>
          <p:cNvSpPr txBox="1"/>
          <p:nvPr/>
        </p:nvSpPr>
        <p:spPr>
          <a:xfrm>
            <a:off x="2697480" y="545896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Every AI call goes through one control point. It can be switched off (as at JLR) or pointed at a private endpoint.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SECURITY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security requirement — and the key finding</a:t>
            </a:r>
          </a:p>
        </p:txBody>
      </p:sp>
      <p:sp>
        <p:nvSpPr>
          <p:cNvPr id="9" name="Rounded Rectangle 8"/>
          <p:cNvSpPr/>
          <p:nvPr/>
        </p:nvSpPr>
        <p:spPr>
          <a:xfrm>
            <a:off x="411480" y="1874519"/>
            <a:ext cx="11384280" cy="1051560"/>
          </a:xfrm>
          <a:prstGeom prst="roundRect">
            <a:avLst>
              <a:gd name="adj" fmla="val 8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57400"/>
            <a:ext cx="10789920" cy="731520"/>
          </a:xfrm>
          <a:prstGeom prst="rect">
            <a:avLst/>
          </a:prstGeom>
          <a:noFill/>
        </p:spPr>
        <p:txBody>
          <a:bodyPr wrap="square" anchor="t" lIns="0" rIns="0" tIns="0" bIns="0">
            <a:spAutoFit/>
          </a:bodyPr>
          <a:lstStyle/>
          <a:p>
            <a:pPr algn="l">
              <a:lnSpc>
                <a:spcPct val="115000"/>
              </a:lnSpc>
              <a:spcAft>
                <a:spcPts val="400"/>
              </a:spcAft>
            </a:pPr>
            <a:r>
              <a:rPr sz="1500" b="1" i="0">
                <a:solidFill>
                  <a:srgbClr val="99651A"/>
                </a:solidFill>
                <a:latin typeface="Calibri"/>
              </a:rPr>
              <a:t>IT-Security requirement:  </a:t>
            </a:r>
            <a:r>
              <a:rPr sz="1500" b="1" i="0">
                <a:solidFill>
                  <a:srgbClr val="16325C"/>
                </a:solidFill>
                <a:latin typeface="Calibri"/>
              </a:rPr>
              <a:t>no CAD files, engineering drawings or images may leave the company network. Ever.</a:t>
            </a:r>
          </a:p>
        </p:txBody>
      </p:sp>
      <p:sp>
        <p:nvSpPr>
          <p:cNvPr id="11" name="Rounded Rectangle 10"/>
          <p:cNvSpPr/>
          <p:nvPr/>
        </p:nvSpPr>
        <p:spPr>
          <a:xfrm>
            <a:off x="411480" y="3200400"/>
            <a:ext cx="11384280" cy="1828800"/>
          </a:xfrm>
          <a:prstGeom prst="roundRect">
            <a:avLst>
              <a:gd name="adj" fmla="val 8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01568"/>
            <a:ext cx="10789920" cy="1463040"/>
          </a:xfrm>
          <a:prstGeom prst="rect">
            <a:avLst/>
          </a:prstGeom>
          <a:noFill/>
        </p:spPr>
        <p:txBody>
          <a:bodyPr wrap="square" anchor="t" lIns="0" rIns="0" tIns="0" bIns="0">
            <a:spAutoFit/>
          </a:bodyPr>
          <a:lstStyle/>
          <a:p>
            <a:pPr algn="l">
              <a:lnSpc>
                <a:spcPct val="120000"/>
              </a:lnSpc>
              <a:spcAft>
                <a:spcPts val="800"/>
              </a:spcAft>
            </a:pPr>
            <a:r>
              <a:rPr sz="1500" b="1" i="0">
                <a:solidFill>
                  <a:srgbClr val="2A7F50"/>
                </a:solidFill>
                <a:latin typeface="Calibri"/>
              </a:rPr>
              <a:t>The key finding from the code audit:  </a:t>
            </a:r>
            <a:r>
              <a:rPr sz="1500" b="1" i="0">
                <a:solidFill>
                  <a:srgbClr val="16325C"/>
                </a:solidFill>
                <a:latin typeface="Calibri"/>
              </a:rPr>
              <a:t>CAD files never leave the machine that runs the tool.</a:t>
            </a:r>
          </a:p>
          <a:p>
            <a:pPr algn="l">
              <a:lnSpc>
                <a:spcPct val="120000"/>
              </a:lnSpc>
              <a:spcAft>
                <a:spcPts val="800"/>
              </a:spcAft>
            </a:pPr>
            <a:r>
              <a:rPr sz="1300" b="0" i="0">
                <a:solidFill>
                  <a:srgbClr val="3A4356"/>
                </a:solidFill>
                <a:latin typeface="Calibri"/>
              </a:rPr>
              <a:t>The upload is held in memory, written to a local temp file while it is measured, then deleted. Nothing is sent anywhere. The only possible outbound flows are the AI layer and two optional public feeds, and the JLR build switches all of them off with one setting.</a:t>
            </a:r>
          </a:p>
        </p:txBody>
      </p:sp>
      <p:sp>
        <p:nvSpPr>
          <p:cNvPr id="13" name="TextBox 12"/>
          <p:cNvSpPr txBox="1"/>
          <p:nvPr/>
        </p:nvSpPr>
        <p:spPr>
          <a:xfrm>
            <a:off x="411480" y="5349240"/>
            <a:ext cx="11338560" cy="822960"/>
          </a:xfrm>
          <a:prstGeom prst="rect">
            <a:avLst/>
          </a:prstGeom>
          <a:noFill/>
        </p:spPr>
        <p:txBody>
          <a:bodyPr wrap="square" anchor="t" lIns="0" rIns="0" tIns="0" bIns="0">
            <a:spAutoFit/>
          </a:bodyPr>
          <a:lstStyle/>
          <a:p>
            <a:pPr algn="l">
              <a:lnSpc>
                <a:spcPct val="120000"/>
              </a:lnSpc>
              <a:spcAft>
                <a:spcPts val="400"/>
              </a:spcAft>
            </a:pPr>
            <a:r>
              <a:rPr sz="1250" b="1" i="0">
                <a:solidFill>
                  <a:srgbClr val="16325C"/>
                </a:solidFill>
                <a:latin typeface="Calibri"/>
              </a:rPr>
              <a:t>Why you can trust this: </a:t>
            </a:r>
            <a:r>
              <a:rPr sz="1250" b="0" i="0">
                <a:solidFill>
                  <a:srgbClr val="3A4356"/>
                </a:solidFill>
                <a:latin typeface="Calibri"/>
              </a:rPr>
              <a:t>we went through every outbound network call in the source code and listed each one. The list is in the written plan. Automated tests check the AI-off setting.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DATA-FLOW MAP</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Where data flows today — verified in the code</a:t>
            </a:r>
          </a:p>
        </p:txBody>
      </p:sp>
      <p:sp>
        <p:nvSpPr>
          <p:cNvPr id="9" name="Rounded Rectangle 8"/>
          <p:cNvSpPr/>
          <p:nvPr/>
        </p:nvSpPr>
        <p:spPr>
          <a:xfrm>
            <a:off x="411480" y="1828800"/>
            <a:ext cx="6858000" cy="4297680"/>
          </a:xfrm>
          <a:prstGeom prst="roundRect">
            <a:avLst>
              <a:gd name="adj" fmla="val 5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630936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A7F50"/>
                </a:solidFill>
                <a:latin typeface="Calibri"/>
              </a:rPr>
              <a:t>STAYS INSIDE</a:t>
            </a:r>
          </a:p>
        </p:txBody>
      </p:sp>
      <p:sp>
        <p:nvSpPr>
          <p:cNvPr id="11" name="Rectangle 10"/>
          <p:cNvSpPr/>
          <p:nvPr/>
        </p:nvSpPr>
        <p:spPr>
          <a:xfrm>
            <a:off x="685800" y="2468880"/>
            <a:ext cx="82296" cy="73152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46888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16325C"/>
                </a:solidFill>
                <a:latin typeface="Calibri"/>
              </a:rPr>
              <a:t>CAD / geometry measuring</a:t>
            </a:r>
          </a:p>
          <a:p>
            <a:pPr algn="l">
              <a:lnSpc>
                <a:spcPct val="105000"/>
              </a:lnSpc>
              <a:spcAft>
                <a:spcPts val="200"/>
              </a:spcAft>
            </a:pPr>
            <a:r>
              <a:rPr sz="1050" b="0" i="0">
                <a:solidFill>
                  <a:srgbClr val="3A4356"/>
                </a:solidFill>
                <a:latin typeface="Calibri"/>
              </a:rPr>
              <a:t>OpenCASCADE in the backend; temp file deleted after measuring</a:t>
            </a:r>
          </a:p>
        </p:txBody>
      </p:sp>
      <p:sp>
        <p:nvSpPr>
          <p:cNvPr id="13" name="Rectangle 12"/>
          <p:cNvSpPr/>
          <p:nvPr/>
        </p:nvSpPr>
        <p:spPr>
          <a:xfrm>
            <a:off x="685800" y="3337560"/>
            <a:ext cx="82296" cy="73152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33756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16325C"/>
                </a:solidFill>
                <a:latin typeface="Calibri"/>
              </a:rPr>
              <a:t>Cost engines for 19 processes</a:t>
            </a:r>
          </a:p>
          <a:p>
            <a:pPr algn="l">
              <a:lnSpc>
                <a:spcPct val="105000"/>
              </a:lnSpc>
              <a:spcAft>
                <a:spcPts val="200"/>
              </a:spcAft>
            </a:pPr>
            <a:r>
              <a:rPr sz="1050" b="0" i="0">
                <a:solidFill>
                  <a:srgbClr val="3A4356"/>
                </a:solidFill>
                <a:latin typeface="Calibri"/>
              </a:rPr>
              <a:t>Plain arithmetic on the rate library, fully local</a:t>
            </a:r>
          </a:p>
        </p:txBody>
      </p:sp>
      <p:sp>
        <p:nvSpPr>
          <p:cNvPr id="15" name="Rectangle 14"/>
          <p:cNvSpPr/>
          <p:nvPr/>
        </p:nvSpPr>
        <p:spPr>
          <a:xfrm>
            <a:off x="685800" y="4206240"/>
            <a:ext cx="82296" cy="73152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20624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16325C"/>
                </a:solidFill>
                <a:latin typeface="Calibri"/>
              </a:rPr>
              <a:t>Learning from actuals</a:t>
            </a:r>
          </a:p>
          <a:p>
            <a:pPr algn="l">
              <a:lnSpc>
                <a:spcPct val="105000"/>
              </a:lnSpc>
              <a:spcAft>
                <a:spcPts val="200"/>
              </a:spcAft>
            </a:pPr>
            <a:r>
              <a:rPr sz="1050" b="0" i="0">
                <a:solidFill>
                  <a:srgbClr val="3A4356"/>
                </a:solidFill>
                <a:latin typeface="Calibri"/>
              </a:rPr>
              <a:t>Logged prices, similar parts, calibration — local database</a:t>
            </a:r>
          </a:p>
        </p:txBody>
      </p:sp>
      <p:sp>
        <p:nvSpPr>
          <p:cNvPr id="17" name="Rectangle 16"/>
          <p:cNvSpPr/>
          <p:nvPr/>
        </p:nvSpPr>
        <p:spPr>
          <a:xfrm>
            <a:off x="685800" y="5074920"/>
            <a:ext cx="82296" cy="73152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07492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16325C"/>
                </a:solidFill>
                <a:latin typeface="Calibri"/>
              </a:rPr>
              <a:t>BOM files, exports, reports</a:t>
            </a:r>
          </a:p>
          <a:p>
            <a:pPr algn="l">
              <a:lnSpc>
                <a:spcPct val="105000"/>
              </a:lnSpc>
              <a:spcAft>
                <a:spcPts val="200"/>
              </a:spcAft>
            </a:pPr>
            <a:r>
              <a:rPr sz="1050" b="0" i="0">
                <a:solidFill>
                  <a:srgbClr val="3A4356"/>
                </a:solidFill>
                <a:latin typeface="Calibri"/>
              </a:rPr>
              <a:t>Local parsers; Excel and PDF made on the machine</a:t>
            </a:r>
          </a:p>
        </p:txBody>
      </p:sp>
      <p:sp>
        <p:nvSpPr>
          <p:cNvPr id="19" name="Rounded Rectangle 18"/>
          <p:cNvSpPr/>
          <p:nvPr/>
        </p:nvSpPr>
        <p:spPr>
          <a:xfrm>
            <a:off x="7589520" y="1828800"/>
            <a:ext cx="4206240" cy="4297680"/>
          </a:xfrm>
          <a:prstGeom prst="roundRect">
            <a:avLst>
              <a:gd name="adj" fmla="val 5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0" y="2011680"/>
            <a:ext cx="36576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99651A"/>
                </a:solidFill>
                <a:latin typeface="Calibri"/>
              </a:rPr>
              <a:t>COULD LEAVE — all off at JLR</a:t>
            </a:r>
          </a:p>
        </p:txBody>
      </p:sp>
      <p:sp>
        <p:nvSpPr>
          <p:cNvPr id="21" name="Rectangle 20"/>
          <p:cNvSpPr/>
          <p:nvPr/>
        </p:nvSpPr>
        <p:spPr>
          <a:xfrm>
            <a:off x="7863840" y="2468880"/>
            <a:ext cx="82296" cy="100584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92440" y="2468880"/>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16325C"/>
                </a:solidFill>
                <a:latin typeface="Calibri"/>
              </a:rPr>
              <a:t>AI calls (optional mode)</a:t>
            </a:r>
          </a:p>
          <a:p>
            <a:pPr algn="l">
              <a:lnSpc>
                <a:spcPct val="105000"/>
              </a:lnSpc>
              <a:spcAft>
                <a:spcPts val="200"/>
              </a:spcAft>
            </a:pPr>
            <a:r>
              <a:rPr sz="1050" b="0" i="0">
                <a:solidFill>
                  <a:srgbClr val="3A4356"/>
                </a:solidFill>
                <a:latin typeface="Calibri"/>
              </a:rPr>
              <a:t>Photos and measured summaries. Off at JLR. If turned on, can go to a private endpoint</a:t>
            </a:r>
          </a:p>
        </p:txBody>
      </p:sp>
      <p:sp>
        <p:nvSpPr>
          <p:cNvPr id="23" name="Rectangle 22"/>
          <p:cNvSpPr/>
          <p:nvPr/>
        </p:nvSpPr>
        <p:spPr>
          <a:xfrm>
            <a:off x="7863840" y="3639312"/>
            <a:ext cx="82296" cy="1005840"/>
          </a:xfrm>
          <a:prstGeom prst="rect">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92440" y="3639312"/>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16325C"/>
                </a:solidFill>
                <a:latin typeface="Calibri"/>
              </a:rPr>
              <a:t>Live part pricing (optional)</a:t>
            </a:r>
          </a:p>
          <a:p>
            <a:pPr algn="l">
              <a:lnSpc>
                <a:spcPct val="105000"/>
              </a:lnSpc>
              <a:spcAft>
                <a:spcPts val="200"/>
              </a:spcAft>
            </a:pPr>
            <a:r>
              <a:rPr sz="1050" b="0" i="0">
                <a:solidFill>
                  <a:srgbClr val="3A4356"/>
                </a:solidFill>
                <a:latin typeface="Calibri"/>
              </a:rPr>
              <a:t>Part-number text only. Off by default, and off with AI off</a:t>
            </a:r>
          </a:p>
        </p:txBody>
      </p:sp>
      <p:sp>
        <p:nvSpPr>
          <p:cNvPr id="25" name="Rectangle 24"/>
          <p:cNvSpPr/>
          <p:nvPr/>
        </p:nvSpPr>
        <p:spPr>
          <a:xfrm>
            <a:off x="7863840" y="4809744"/>
            <a:ext cx="82296" cy="1005840"/>
          </a:xfrm>
          <a:prstGeom prst="rect">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92440" y="4809744"/>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16325C"/>
                </a:solidFill>
                <a:latin typeface="Calibri"/>
              </a:rPr>
              <a:t>News feed</a:t>
            </a:r>
          </a:p>
          <a:p>
            <a:pPr algn="l">
              <a:lnSpc>
                <a:spcPct val="105000"/>
              </a:lnSpc>
              <a:spcAft>
                <a:spcPts val="200"/>
              </a:spcAft>
            </a:pPr>
            <a:r>
              <a:rPr sz="1050" b="0" i="0">
                <a:solidFill>
                  <a:srgbClr val="3A4356"/>
                </a:solidFill>
                <a:latin typeface="Calibri"/>
              </a:rPr>
              <a:t>Public news, no company data. Needs internet; off with AI off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Deployment options — our recommendation</a:t>
            </a:r>
          </a:p>
        </p:txBody>
      </p:sp>
      <p:sp>
        <p:nvSpPr>
          <p:cNvPr id="9" name="Rounded Rectangle 8"/>
          <p:cNvSpPr/>
          <p:nvPr/>
        </p:nvSpPr>
        <p:spPr>
          <a:xfrm>
            <a:off x="411480" y="1874519"/>
            <a:ext cx="3657600" cy="411480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3657600"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OPTION A  ·  TODAY</a:t>
            </a:r>
          </a:p>
        </p:txBody>
      </p:sp>
      <p:sp>
        <p:nvSpPr>
          <p:cNvPr id="12" name="TextBox 11"/>
          <p:cNvSpPr txBox="1"/>
          <p:nvPr/>
        </p:nvSpPr>
        <p:spPr>
          <a:xfrm>
            <a:off x="6400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16325C"/>
                </a:solidFill>
                <a:latin typeface="Calibri"/>
              </a:rPr>
              <a:t>AI off (air-gapped)</a:t>
            </a:r>
          </a:p>
        </p:txBody>
      </p:sp>
      <p:sp>
        <p:nvSpPr>
          <p:cNvPr id="13" name="TextBox 12"/>
          <p:cNvSpPr txBox="1"/>
          <p:nvPr/>
        </p:nvSpPr>
        <p:spPr>
          <a:xfrm>
            <a:off x="6400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What JLR runs now. Laptop package or our own server, AI switched off. All costing, CAD measuring and learning work.</a:t>
            </a:r>
          </a:p>
        </p:txBody>
      </p:sp>
      <p:sp>
        <p:nvSpPr>
          <p:cNvPr id="14" name="TextBox 13"/>
          <p:cNvSpPr txBox="1"/>
          <p:nvPr/>
        </p:nvSpPr>
        <p:spPr>
          <a:xfrm>
            <a:off x="6400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2A7F50"/>
                </a:solidFill>
                <a:latin typeface="Calibri"/>
              </a:rPr>
              <a:t>+ </a:t>
            </a:r>
            <a:r>
              <a:rPr sz="1100" b="0" i="0">
                <a:solidFill>
                  <a:srgbClr val="3A4356"/>
                </a:solidFill>
                <a:latin typeface="Calibri"/>
              </a:rPr>
              <a:t>No external connections; nothing to approve for AI</a:t>
            </a:r>
          </a:p>
        </p:txBody>
      </p:sp>
      <p:sp>
        <p:nvSpPr>
          <p:cNvPr id="15" name="TextBox 14"/>
          <p:cNvSpPr txBox="1"/>
          <p:nvPr/>
        </p:nvSpPr>
        <p:spPr>
          <a:xfrm>
            <a:off x="6400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B03A2E"/>
                </a:solidFill>
                <a:latin typeface="Calibri"/>
              </a:rPr>
              <a:t>– </a:t>
            </a:r>
            <a:r>
              <a:rPr sz="1100" b="0" i="0">
                <a:solidFill>
                  <a:srgbClr val="3A4356"/>
                </a:solidFill>
                <a:latin typeface="Calibri"/>
              </a:rPr>
              <a:t>No PCB photo, no describe-a-part, no assistant</a:t>
            </a:r>
          </a:p>
        </p:txBody>
      </p:sp>
      <p:sp>
        <p:nvSpPr>
          <p:cNvPr id="16" name="Rounded Rectangle 15"/>
          <p:cNvSpPr/>
          <p:nvPr/>
        </p:nvSpPr>
        <p:spPr>
          <a:xfrm>
            <a:off x="4297680" y="1874519"/>
            <a:ext cx="3657600" cy="41148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1874519"/>
            <a:ext cx="3657600" cy="822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62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6B3FA0"/>
                </a:solidFill>
                <a:latin typeface="Calibri"/>
              </a:rPr>
              <a:t>OPTION B  ·  FUTURE</a:t>
            </a:r>
          </a:p>
        </p:txBody>
      </p:sp>
      <p:sp>
        <p:nvSpPr>
          <p:cNvPr id="19" name="TextBox 18"/>
          <p:cNvSpPr txBox="1"/>
          <p:nvPr/>
        </p:nvSpPr>
        <p:spPr>
          <a:xfrm>
            <a:off x="45262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16325C"/>
                </a:solidFill>
                <a:latin typeface="Calibri"/>
              </a:rPr>
              <a:t>Private AI, core in-house</a:t>
            </a:r>
          </a:p>
        </p:txBody>
      </p:sp>
      <p:sp>
        <p:nvSpPr>
          <p:cNvPr id="20" name="TextBox 19"/>
          <p:cNvSpPr txBox="1"/>
          <p:nvPr/>
        </p:nvSpPr>
        <p:spPr>
          <a:xfrm>
            <a:off x="45262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Tool on our machines. AI calls go to a model in our own cloud account over a private link. Needs AI approval first.</a:t>
            </a:r>
          </a:p>
        </p:txBody>
      </p:sp>
      <p:sp>
        <p:nvSpPr>
          <p:cNvPr id="21" name="TextBox 20"/>
          <p:cNvSpPr txBox="1"/>
          <p:nvPr/>
        </p:nvSpPr>
        <p:spPr>
          <a:xfrm>
            <a:off x="45262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2A7F50"/>
                </a:solidFill>
                <a:latin typeface="Calibri"/>
              </a:rPr>
              <a:t>+ </a:t>
            </a:r>
            <a:r>
              <a:rPr sz="1100" b="0" i="0">
                <a:solidFill>
                  <a:srgbClr val="3A4356"/>
                </a:solidFill>
                <a:latin typeface="Calibri"/>
              </a:rPr>
              <a:t>Adds the AI screens back; routing setting already in the code</a:t>
            </a:r>
          </a:p>
        </p:txBody>
      </p:sp>
      <p:sp>
        <p:nvSpPr>
          <p:cNvPr id="22" name="TextBox 21"/>
          <p:cNvSpPr txBox="1"/>
          <p:nvPr/>
        </p:nvSpPr>
        <p:spPr>
          <a:xfrm>
            <a:off x="45262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B03A2E"/>
                </a:solidFill>
                <a:latin typeface="Calibri"/>
              </a:rPr>
              <a:t>– </a:t>
            </a:r>
            <a:r>
              <a:rPr sz="1100" b="0" i="0">
                <a:solidFill>
                  <a:srgbClr val="3A4356"/>
                </a:solidFill>
                <a:latin typeface="Calibri"/>
              </a:rPr>
              <a:t>Needs AI approval and cloud sign-off</a:t>
            </a:r>
          </a:p>
        </p:txBody>
      </p:sp>
      <p:sp>
        <p:nvSpPr>
          <p:cNvPr id="23" name="Rounded Rectangle 22"/>
          <p:cNvSpPr/>
          <p:nvPr/>
        </p:nvSpPr>
        <p:spPr>
          <a:xfrm>
            <a:off x="8183879" y="1874519"/>
            <a:ext cx="3657600" cy="41148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83879" y="1874519"/>
            <a:ext cx="3657600" cy="82296"/>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79"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B03A2E"/>
                </a:solidFill>
                <a:latin typeface="Calibri"/>
              </a:rPr>
              <a:t>OPTION C</a:t>
            </a:r>
          </a:p>
        </p:txBody>
      </p:sp>
      <p:sp>
        <p:nvSpPr>
          <p:cNvPr id="26" name="TextBox 25"/>
          <p:cNvSpPr txBox="1"/>
          <p:nvPr/>
        </p:nvSpPr>
        <p:spPr>
          <a:xfrm>
            <a:off x="8412479"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16325C"/>
                </a:solidFill>
                <a:latin typeface="Calibri"/>
              </a:rPr>
              <a:t>Public AI API</a:t>
            </a:r>
          </a:p>
        </p:txBody>
      </p:sp>
      <p:sp>
        <p:nvSpPr>
          <p:cNvPr id="27" name="TextBox 26"/>
          <p:cNvSpPr txBox="1"/>
          <p:nvPr/>
        </p:nvSpPr>
        <p:spPr>
          <a:xfrm>
            <a:off x="8412479"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Tool in-house, but AI calls go to the public API.</a:t>
            </a:r>
          </a:p>
        </p:txBody>
      </p:sp>
      <p:sp>
        <p:nvSpPr>
          <p:cNvPr id="28" name="TextBox 27"/>
          <p:cNvSpPr txBox="1"/>
          <p:nvPr/>
        </p:nvSpPr>
        <p:spPr>
          <a:xfrm>
            <a:off x="8412479"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2A7F50"/>
                </a:solidFill>
                <a:latin typeface="Calibri"/>
              </a:rPr>
              <a:t>+ </a:t>
            </a:r>
            <a:r>
              <a:rPr sz="1100" b="0" i="0">
                <a:solidFill>
                  <a:srgbClr val="3A4356"/>
                </a:solidFill>
                <a:latin typeface="Calibri"/>
              </a:rPr>
              <a:t>Simplest</a:t>
            </a:r>
          </a:p>
        </p:txBody>
      </p:sp>
      <p:sp>
        <p:nvSpPr>
          <p:cNvPr id="29" name="TextBox 28"/>
          <p:cNvSpPr txBox="1"/>
          <p:nvPr/>
        </p:nvSpPr>
        <p:spPr>
          <a:xfrm>
            <a:off x="8412479"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B03A2E"/>
                </a:solidFill>
                <a:latin typeface="Calibri"/>
              </a:rPr>
              <a:t>– </a:t>
            </a:r>
            <a:r>
              <a:rPr sz="1100" b="0" i="0">
                <a:solidFill>
                  <a:srgbClr val="3A4356"/>
                </a:solidFill>
                <a:latin typeface="Calibri"/>
              </a:rPr>
              <a:t>Fails our requirement — photos would cross a public API</a:t>
            </a:r>
          </a:p>
        </p:txBody>
      </p:sp>
      <p:sp>
        <p:nvSpPr>
          <p:cNvPr id="30" name="TextBox 29"/>
          <p:cNvSpPr txBox="1"/>
          <p:nvPr/>
        </p:nvSpPr>
        <p:spPr>
          <a:xfrm>
            <a:off x="411480" y="6172200"/>
            <a:ext cx="113385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Recommendation: stay on Option A. Consider B only once AI is approved. The code supports both.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ARCHITECTURE · PLAN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Target architecture for a shared server — the plan</a:t>
            </a:r>
          </a:p>
        </p:txBody>
      </p:sp>
      <p:sp>
        <p:nvSpPr>
          <p:cNvPr id="9" name="Rounded Rectangle 8"/>
          <p:cNvSpPr/>
          <p:nvPr/>
        </p:nvSpPr>
        <p:spPr>
          <a:xfrm>
            <a:off x="411480" y="1783080"/>
            <a:ext cx="8412480" cy="452628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874519"/>
            <a:ext cx="77724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686F7D"/>
                </a:solidFill>
                <a:latin typeface="Calibri"/>
              </a:rPr>
              <a:t>COMPANY INTERNAL NETWORK  ·  PLANNED</a:t>
            </a:r>
          </a:p>
        </p:txBody>
      </p:sp>
      <p:sp>
        <p:nvSpPr>
          <p:cNvPr id="11" name="Rounded Rectangle 10"/>
          <p:cNvSpPr/>
          <p:nvPr/>
        </p:nvSpPr>
        <p:spPr>
          <a:xfrm>
            <a:off x="777240" y="2240280"/>
            <a:ext cx="365760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1D6FB8"/>
                </a:solidFill>
                <a:latin typeface="Calibri"/>
              </a:rPr>
              <a:t>Engineers (browser)  +  CAPEE</a:t>
            </a:r>
          </a:p>
          <a:p>
            <a:pPr algn="l"/>
            <a:r>
              <a:rPr sz="950">
                <a:solidFill>
                  <a:srgbClr val="3A4356"/>
                </a:solidFill>
                <a:latin typeface="Calibri"/>
              </a:rPr>
              <a:t>company single sign-on (planned)</a:t>
            </a:r>
          </a:p>
        </p:txBody>
      </p:sp>
      <p:sp>
        <p:nvSpPr>
          <p:cNvPr id="12" name="Rectangle 11"/>
          <p:cNvSpPr/>
          <p:nvPr/>
        </p:nvSpPr>
        <p:spPr>
          <a:xfrm>
            <a:off x="777240" y="2240280"/>
            <a:ext cx="64008" cy="6858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709160" y="2240280"/>
            <a:ext cx="384048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1D6FB8"/>
                </a:solidFill>
                <a:latin typeface="Calibri"/>
              </a:rPr>
              <a:t>Corporate API Gateway</a:t>
            </a:r>
          </a:p>
          <a:p>
            <a:pPr algn="l"/>
            <a:r>
              <a:rPr sz="950">
                <a:solidFill>
                  <a:srgbClr val="3A4356"/>
                </a:solidFill>
                <a:latin typeface="Calibri"/>
              </a:rPr>
              <a:t>authentication · rate limits · audit logs</a:t>
            </a:r>
          </a:p>
        </p:txBody>
      </p:sp>
      <p:sp>
        <p:nvSpPr>
          <p:cNvPr id="14" name="Rectangle 13"/>
          <p:cNvSpPr/>
          <p:nvPr/>
        </p:nvSpPr>
        <p:spPr>
          <a:xfrm>
            <a:off x="4709160" y="2240280"/>
            <a:ext cx="64008" cy="6858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own Arrow 14"/>
          <p:cNvSpPr/>
          <p:nvPr/>
        </p:nvSpPr>
        <p:spPr>
          <a:xfrm>
            <a:off x="2468880" y="2999232"/>
            <a:ext cx="292608" cy="292608"/>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own Arrow 15"/>
          <p:cNvSpPr/>
          <p:nvPr/>
        </p:nvSpPr>
        <p:spPr>
          <a:xfrm>
            <a:off x="6492240" y="2999232"/>
            <a:ext cx="292608" cy="292608"/>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7240" y="3364992"/>
            <a:ext cx="7772400" cy="9601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6B3FA0"/>
                </a:solidFill>
                <a:latin typeface="Calibri"/>
              </a:rPr>
              <a:t>CostVision server (frontend + backend on our VM)</a:t>
            </a:r>
          </a:p>
          <a:p>
            <a:pPr algn="l"/>
            <a:r>
              <a:rPr sz="950">
                <a:solidFill>
                  <a:srgbClr val="3A4356"/>
                </a:solidFill>
                <a:latin typeface="Calibri"/>
              </a:rPr>
              <a:t>Docker image with the CAD kernel · 19 processes · learning from actuals · exports</a:t>
            </a:r>
          </a:p>
        </p:txBody>
      </p:sp>
      <p:sp>
        <p:nvSpPr>
          <p:cNvPr id="18" name="Rectangle 17"/>
          <p:cNvSpPr/>
          <p:nvPr/>
        </p:nvSpPr>
        <p:spPr>
          <a:xfrm>
            <a:off x="777240" y="3364992"/>
            <a:ext cx="64008" cy="96012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wn Arrow 18"/>
          <p:cNvSpPr/>
          <p:nvPr/>
        </p:nvSpPr>
        <p:spPr>
          <a:xfrm>
            <a:off x="2468880" y="4407408"/>
            <a:ext cx="292608" cy="292608"/>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6492240" y="4407408"/>
            <a:ext cx="292608" cy="292608"/>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7240" y="4773168"/>
            <a:ext cx="365760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D7D71"/>
                </a:solidFill>
                <a:latin typeface="Calibri"/>
              </a:rPr>
              <a:t>Corporate database</a:t>
            </a:r>
          </a:p>
          <a:p>
            <a:pPr algn="l"/>
            <a:r>
              <a:rPr sz="950">
                <a:solidFill>
                  <a:srgbClr val="3A4356"/>
                </a:solidFill>
                <a:latin typeface="Calibri"/>
              </a:rPr>
              <a:t>rates · scenarios · actuals · encrypted</a:t>
            </a:r>
          </a:p>
        </p:txBody>
      </p:sp>
      <p:sp>
        <p:nvSpPr>
          <p:cNvPr id="22" name="Rectangle 21"/>
          <p:cNvSpPr/>
          <p:nvPr/>
        </p:nvSpPr>
        <p:spPr>
          <a:xfrm>
            <a:off x="777240" y="4773168"/>
            <a:ext cx="64008" cy="777240"/>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09160" y="4773168"/>
            <a:ext cx="384048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99651A"/>
                </a:solidFill>
                <a:latin typeface="Calibri"/>
              </a:rPr>
              <a:t>Internal AI gateway (only if approved)</a:t>
            </a:r>
          </a:p>
          <a:p>
            <a:pPr algn="l"/>
            <a:r>
              <a:rPr sz="950">
                <a:solidFill>
                  <a:srgbClr val="3A4356"/>
                </a:solidFill>
                <a:latin typeface="Calibri"/>
              </a:rPr>
              <a:t>the only allowed exit · logged</a:t>
            </a:r>
          </a:p>
        </p:txBody>
      </p:sp>
      <p:sp>
        <p:nvSpPr>
          <p:cNvPr id="24" name="Rectangle 23"/>
          <p:cNvSpPr/>
          <p:nvPr/>
        </p:nvSpPr>
        <p:spPr>
          <a:xfrm>
            <a:off x="4709160" y="4773168"/>
            <a:ext cx="64008" cy="77724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144000" y="4480560"/>
            <a:ext cx="2651760" cy="1828800"/>
          </a:xfrm>
          <a:prstGeom prst="roundRect">
            <a:avLst>
              <a:gd name="adj" fmla="val 8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4617720"/>
            <a:ext cx="2286000" cy="1645920"/>
          </a:xfrm>
          <a:prstGeom prst="rect">
            <a:avLst/>
          </a:prstGeom>
          <a:noFill/>
        </p:spPr>
        <p:txBody>
          <a:bodyPr wrap="square" anchor="t" lIns="0" rIns="0" tIns="0" bIns="0">
            <a:spAutoFit/>
          </a:bodyPr>
          <a:lstStyle/>
          <a:p>
            <a:pPr algn="l">
              <a:lnSpc>
                <a:spcPct val="110000"/>
              </a:lnSpc>
              <a:spcAft>
                <a:spcPts val="400"/>
              </a:spcAft>
            </a:pPr>
            <a:r>
              <a:rPr sz="1250" b="1" i="0">
                <a:solidFill>
                  <a:srgbClr val="1D6FB8"/>
                </a:solidFill>
                <a:latin typeface="Calibri"/>
              </a:rPr>
              <a:t>Our cloud account (future)</a:t>
            </a:r>
          </a:p>
          <a:p>
            <a:pPr algn="l">
              <a:lnSpc>
                <a:spcPct val="110000"/>
              </a:lnSpc>
              <a:spcAft>
                <a:spcPts val="400"/>
              </a:spcAft>
            </a:pPr>
            <a:r>
              <a:rPr sz="1050" b="0" i="0">
                <a:solidFill>
                  <a:srgbClr val="3A4356"/>
                </a:solidFill>
                <a:latin typeface="Calibri"/>
              </a:rPr>
              <a:t>AI model, only after AI approval</a:t>
            </a:r>
          </a:p>
          <a:p>
            <a:pPr algn="l">
              <a:lnSpc>
                <a:spcPct val="110000"/>
              </a:lnSpc>
              <a:spcAft>
                <a:spcPts val="400"/>
              </a:spcAft>
            </a:pPr>
            <a:r>
              <a:rPr sz="1000" b="0" i="0">
                <a:solidFill>
                  <a:srgbClr val="686F7D"/>
                </a:solidFill>
                <a:latin typeface="Calibri"/>
              </a:rPr>
              <a:t>private link · no public internet · no data kept</a:t>
            </a:r>
          </a:p>
        </p:txBody>
      </p:sp>
      <p:sp>
        <p:nvSpPr>
          <p:cNvPr id="27" name="Right Arrow 26"/>
          <p:cNvSpPr/>
          <p:nvPr/>
        </p:nvSpPr>
        <p:spPr>
          <a:xfrm>
            <a:off x="8613648" y="5029200"/>
            <a:ext cx="502920" cy="274320"/>
          </a:xfrm>
          <a:prstGeom prst="rightArrow">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0" y="2240280"/>
            <a:ext cx="2651760" cy="2011680"/>
          </a:xfrm>
          <a:prstGeom prst="rect">
            <a:avLst/>
          </a:prstGeom>
          <a:noFill/>
        </p:spPr>
        <p:txBody>
          <a:bodyPr wrap="square" anchor="t" lIns="0" rIns="0" tIns="0" bIns="0">
            <a:spAutoFit/>
          </a:bodyPr>
          <a:lstStyle/>
          <a:p>
            <a:pPr algn="l">
              <a:lnSpc>
                <a:spcPct val="110000"/>
              </a:lnSpc>
              <a:spcAft>
                <a:spcPts val="400"/>
              </a:spcAft>
            </a:pPr>
            <a:r>
              <a:rPr sz="1250" b="1" i="0">
                <a:solidFill>
                  <a:srgbClr val="16325C"/>
                </a:solidFill>
                <a:latin typeface="Calibri"/>
              </a:rPr>
              <a:t>Access rules</a:t>
            </a:r>
          </a:p>
          <a:p>
            <a:pPr algn="l">
              <a:lnSpc>
                <a:spcPct val="110000"/>
              </a:lnSpc>
              <a:spcAft>
                <a:spcPts val="400"/>
              </a:spcAft>
            </a:pPr>
            <a:r>
              <a:rPr sz="1050" b="0" i="0">
                <a:solidFill>
                  <a:srgbClr val="3A4356"/>
                </a:solidFill>
                <a:latin typeface="Calibri"/>
              </a:rPr>
              <a:t>• Today: sign-in on everything that holds data</a:t>
            </a:r>
          </a:p>
          <a:p>
            <a:pPr algn="l">
              <a:lnSpc>
                <a:spcPct val="110000"/>
              </a:lnSpc>
              <a:spcAft>
                <a:spcPts val="400"/>
              </a:spcAft>
            </a:pPr>
            <a:r>
              <a:rPr sz="1050" b="0" i="0">
                <a:solidFill>
                  <a:srgbClr val="3A4356"/>
                </a:solidFill>
                <a:latin typeface="Calibri"/>
              </a:rPr>
              <a:t>• Today: sessions can be ended everywhere</a:t>
            </a:r>
          </a:p>
          <a:p>
            <a:pPr algn="l">
              <a:lnSpc>
                <a:spcPct val="110000"/>
              </a:lnSpc>
              <a:spcAft>
                <a:spcPts val="400"/>
              </a:spcAft>
            </a:pPr>
            <a:r>
              <a:rPr sz="1050" b="0" i="0">
                <a:solidFill>
                  <a:srgbClr val="3A4356"/>
                </a:solidFill>
                <a:latin typeface="Calibri"/>
              </a:rPr>
              <a:t>• Plan: company single sign-on and roles</a:t>
            </a:r>
          </a:p>
          <a:p>
            <a:pPr algn="l">
              <a:lnSpc>
                <a:spcPct val="110000"/>
              </a:lnSpc>
              <a:spcAft>
                <a:spcPts val="400"/>
              </a:spcAft>
            </a:pPr>
            <a:r>
              <a:rPr sz="1050" b="0" i="0">
                <a:solidFill>
                  <a:srgbClr val="3A4356"/>
                </a:solidFill>
                <a:latin typeface="Calibri"/>
              </a:rPr>
              <a:t>• Plan: block all other outbound traffic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CAD DATA PROTECTION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How CAD data is protected</a:t>
            </a:r>
          </a:p>
        </p:txBody>
      </p:sp>
      <p:sp>
        <p:nvSpPr>
          <p:cNvPr id="9" name="Rounded Rectangle 8"/>
          <p:cNvSpPr/>
          <p:nvPr/>
        </p:nvSpPr>
        <p:spPr>
          <a:xfrm>
            <a:off x="411480" y="1920240"/>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2996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CAD model opened and measured</a:t>
            </a:r>
          </a:p>
        </p:txBody>
      </p:sp>
      <p:sp>
        <p:nvSpPr>
          <p:cNvPr id="11" name="TextBox 10"/>
          <p:cNvSpPr txBox="1"/>
          <p:nvPr/>
        </p:nvSpPr>
        <p:spPr>
          <a:xfrm>
            <a:off x="5303520" y="202996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Inside the backend (OpenCASCADE)</a:t>
            </a:r>
          </a:p>
        </p:txBody>
      </p:sp>
      <p:sp>
        <p:nvSpPr>
          <p:cNvPr id="12" name="TextBox 11"/>
          <p:cNvSpPr txBox="1"/>
          <p:nvPr/>
        </p:nvSpPr>
        <p:spPr>
          <a:xfrm>
            <a:off x="8869680" y="202996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2A7F50"/>
                </a:solidFill>
                <a:latin typeface="Calibri"/>
              </a:rPr>
              <a:t>Local — checked in code</a:t>
            </a:r>
          </a:p>
        </p:txBody>
      </p:sp>
      <p:sp>
        <p:nvSpPr>
          <p:cNvPr id="13" name="Rounded Rectangle 12"/>
          <p:cNvSpPr/>
          <p:nvPr/>
        </p:nvSpPr>
        <p:spPr>
          <a:xfrm>
            <a:off x="411480" y="2587752"/>
            <a:ext cx="11384280" cy="566928"/>
          </a:xfrm>
          <a:prstGeom prst="roundRect">
            <a:avLst>
              <a:gd name="adj" fmla="val 14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97480"/>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Feature detection (holes, walls)</a:t>
            </a:r>
          </a:p>
        </p:txBody>
      </p:sp>
      <p:sp>
        <p:nvSpPr>
          <p:cNvPr id="15" name="TextBox 14"/>
          <p:cNvSpPr txBox="1"/>
          <p:nvPr/>
        </p:nvSpPr>
        <p:spPr>
          <a:xfrm>
            <a:off x="5303520" y="2697480"/>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Inside the backend</a:t>
            </a:r>
          </a:p>
        </p:txBody>
      </p:sp>
      <p:sp>
        <p:nvSpPr>
          <p:cNvPr id="16" name="TextBox 15"/>
          <p:cNvSpPr txBox="1"/>
          <p:nvPr/>
        </p:nvSpPr>
        <p:spPr>
          <a:xfrm>
            <a:off x="8869680" y="2697480"/>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2A7F50"/>
                </a:solidFill>
                <a:latin typeface="Calibri"/>
              </a:rPr>
              <a:t>Local — checked in code</a:t>
            </a:r>
          </a:p>
        </p:txBody>
      </p:sp>
      <p:sp>
        <p:nvSpPr>
          <p:cNvPr id="17" name="Rounded Rectangle 16"/>
          <p:cNvSpPr/>
          <p:nvPr/>
        </p:nvSpPr>
        <p:spPr>
          <a:xfrm>
            <a:off x="411480" y="3255264"/>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364992"/>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BOM files read</a:t>
            </a:r>
          </a:p>
        </p:txBody>
      </p:sp>
      <p:sp>
        <p:nvSpPr>
          <p:cNvPr id="19" name="TextBox 18"/>
          <p:cNvSpPr txBox="1"/>
          <p:nvPr/>
        </p:nvSpPr>
        <p:spPr>
          <a:xfrm>
            <a:off x="5303520" y="3364992"/>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Inside the backend (local parsers)</a:t>
            </a:r>
          </a:p>
        </p:txBody>
      </p:sp>
      <p:sp>
        <p:nvSpPr>
          <p:cNvPr id="20" name="TextBox 19"/>
          <p:cNvSpPr txBox="1"/>
          <p:nvPr/>
        </p:nvSpPr>
        <p:spPr>
          <a:xfrm>
            <a:off x="8869680" y="3364992"/>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2A7F50"/>
                </a:solidFill>
                <a:latin typeface="Calibri"/>
              </a:rPr>
              <a:t>Local — checked in code</a:t>
            </a:r>
          </a:p>
        </p:txBody>
      </p:sp>
      <p:sp>
        <p:nvSpPr>
          <p:cNvPr id="21" name="Rounded Rectangle 20"/>
          <p:cNvSpPr/>
          <p:nvPr/>
        </p:nvSpPr>
        <p:spPr>
          <a:xfrm>
            <a:off x="411480" y="3922776"/>
            <a:ext cx="11384280" cy="566928"/>
          </a:xfrm>
          <a:prstGeom prst="roundRect">
            <a:avLst>
              <a:gd name="adj" fmla="val 14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032504"/>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Cost calculation and learning</a:t>
            </a:r>
          </a:p>
        </p:txBody>
      </p:sp>
      <p:sp>
        <p:nvSpPr>
          <p:cNvPr id="23" name="TextBox 22"/>
          <p:cNvSpPr txBox="1"/>
          <p:nvPr/>
        </p:nvSpPr>
        <p:spPr>
          <a:xfrm>
            <a:off x="5303520" y="4032504"/>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Backend and local database</a:t>
            </a:r>
          </a:p>
        </p:txBody>
      </p:sp>
      <p:sp>
        <p:nvSpPr>
          <p:cNvPr id="24" name="TextBox 23"/>
          <p:cNvSpPr txBox="1"/>
          <p:nvPr/>
        </p:nvSpPr>
        <p:spPr>
          <a:xfrm>
            <a:off x="8869680" y="4032504"/>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2A7F50"/>
                </a:solidFill>
                <a:latin typeface="Calibri"/>
              </a:rPr>
              <a:t>Local — checked in code</a:t>
            </a:r>
          </a:p>
        </p:txBody>
      </p:sp>
      <p:sp>
        <p:nvSpPr>
          <p:cNvPr id="25" name="Rounded Rectangle 24"/>
          <p:cNvSpPr/>
          <p:nvPr/>
        </p:nvSpPr>
        <p:spPr>
          <a:xfrm>
            <a:off x="411480" y="4590288"/>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700016"/>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Photo reading (AI mode)</a:t>
            </a:r>
          </a:p>
        </p:txBody>
      </p:sp>
      <p:sp>
        <p:nvSpPr>
          <p:cNvPr id="27" name="TextBox 26"/>
          <p:cNvSpPr txBox="1"/>
          <p:nvPr/>
        </p:nvSpPr>
        <p:spPr>
          <a:xfrm>
            <a:off x="5303520" y="4700016"/>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Off in the JLR build</a:t>
            </a:r>
          </a:p>
        </p:txBody>
      </p:sp>
      <p:sp>
        <p:nvSpPr>
          <p:cNvPr id="28" name="TextBox 27"/>
          <p:cNvSpPr txBox="1"/>
          <p:nvPr/>
        </p:nvSpPr>
        <p:spPr>
          <a:xfrm>
            <a:off x="8869680" y="4700016"/>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99651A"/>
                </a:solidFill>
                <a:latin typeface="Calibri"/>
              </a:rPr>
              <a:t>Off — screens hidden</a:t>
            </a:r>
          </a:p>
        </p:txBody>
      </p:sp>
      <p:sp>
        <p:nvSpPr>
          <p:cNvPr id="29" name="Rounded Rectangle 28"/>
          <p:cNvSpPr/>
          <p:nvPr/>
        </p:nvSpPr>
        <p:spPr>
          <a:xfrm>
            <a:off x="411480" y="5257800"/>
            <a:ext cx="11384280" cy="566928"/>
          </a:xfrm>
          <a:prstGeom prst="roundRect">
            <a:avLst>
              <a:gd name="adj" fmla="val 14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536752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CAD file storage</a:t>
            </a:r>
          </a:p>
        </p:txBody>
      </p:sp>
      <p:sp>
        <p:nvSpPr>
          <p:cNvPr id="31" name="TextBox 30"/>
          <p:cNvSpPr txBox="1"/>
          <p:nvPr/>
        </p:nvSpPr>
        <p:spPr>
          <a:xfrm>
            <a:off x="5303520" y="536752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Temp file while measured</a:t>
            </a:r>
          </a:p>
        </p:txBody>
      </p:sp>
      <p:sp>
        <p:nvSpPr>
          <p:cNvPr id="32" name="TextBox 31"/>
          <p:cNvSpPr txBox="1"/>
          <p:nvPr/>
        </p:nvSpPr>
        <p:spPr>
          <a:xfrm>
            <a:off x="8869680" y="536752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2A7F50"/>
                </a:solidFill>
                <a:latin typeface="Calibri"/>
              </a:rPr>
              <a:t>Deleted after measuring</a:t>
            </a:r>
          </a:p>
        </p:txBody>
      </p:sp>
      <p:sp>
        <p:nvSpPr>
          <p:cNvPr id="33" name="TextBox 32"/>
          <p:cNvSpPr txBox="1"/>
          <p:nvPr/>
        </p:nvSpPr>
        <p:spPr>
          <a:xfrm>
            <a:off x="411480" y="6035040"/>
            <a:ext cx="11338560" cy="548640"/>
          </a:xfrm>
          <a:prstGeom prst="rect">
            <a:avLst/>
          </a:prstGeom>
          <a:noFill/>
        </p:spPr>
        <p:txBody>
          <a:bodyPr wrap="square" anchor="t" lIns="0" rIns="0" tIns="0" bIns="0">
            <a:spAutoFit/>
          </a:bodyPr>
          <a:lstStyle/>
          <a:p>
            <a:pPr algn="l">
              <a:lnSpc>
                <a:spcPct val="115000"/>
              </a:lnSpc>
              <a:spcAft>
                <a:spcPts val="400"/>
              </a:spcAft>
            </a:pPr>
            <a:r>
              <a:rPr sz="1200" b="0" i="1">
                <a:solidFill>
                  <a:srgbClr val="686F7D"/>
                </a:solidFill>
                <a:latin typeface="Calibri"/>
              </a:rPr>
              <a:t>Plus: the AI-off setting is covered by automated tests, and security can check it for themselves in a witnessed firewall test. Sending logs to the corporate SIEM is a plan.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INTEGRATION · PLAN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CostVision behind CAPEE — how it could connect</a:t>
            </a:r>
          </a:p>
        </p:txBody>
      </p:sp>
      <p:sp>
        <p:nvSpPr>
          <p:cNvPr id="9" name="Rounded Rectangle 8"/>
          <p:cNvSpPr/>
          <p:nvPr/>
        </p:nvSpPr>
        <p:spPr>
          <a:xfrm>
            <a:off x="411480" y="1828800"/>
            <a:ext cx="5120640" cy="19202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16325C"/>
                </a:solidFill>
                <a:latin typeface="Calibri"/>
              </a:rPr>
              <a:t>CAPEE  (existing should-cost software)</a:t>
            </a:r>
          </a:p>
          <a:p>
            <a:pPr algn="l">
              <a:lnSpc>
                <a:spcPct val="112000"/>
              </a:lnSpc>
              <a:spcAft>
                <a:spcPts val="500"/>
              </a:spcAft>
            </a:pPr>
            <a:r>
              <a:rPr sz="1200" b="0" i="0">
                <a:solidFill>
                  <a:srgbClr val="3A4356"/>
                </a:solidFill>
                <a:latin typeface="Calibri"/>
              </a:rPr>
              <a:t>• Should-cost workflow, approvals, reporting</a:t>
            </a:r>
          </a:p>
          <a:p>
            <a:pPr algn="l">
              <a:lnSpc>
                <a:spcPct val="112000"/>
              </a:lnSpc>
              <a:spcAft>
                <a:spcPts val="500"/>
              </a:spcAft>
            </a:pPr>
            <a:r>
              <a:rPr sz="1200" b="0" i="0">
                <a:solidFill>
                  <a:srgbClr val="3A4356"/>
                </a:solidFill>
                <a:latin typeface="Calibri"/>
              </a:rPr>
              <a:t>• System of record — unchanged for users</a:t>
            </a:r>
          </a:p>
          <a:p>
            <a:pPr algn="l">
              <a:lnSpc>
                <a:spcPct val="112000"/>
              </a:lnSpc>
              <a:spcAft>
                <a:spcPts val="500"/>
              </a:spcAft>
            </a:pPr>
            <a:r>
              <a:rPr sz="1200" b="0" i="0">
                <a:solidFill>
                  <a:srgbClr val="3A4356"/>
                </a:solidFill>
                <a:latin typeface="Calibri"/>
              </a:rPr>
              <a:t>• Plan: calls CostVision for the costing</a:t>
            </a:r>
          </a:p>
        </p:txBody>
      </p:sp>
      <p:sp>
        <p:nvSpPr>
          <p:cNvPr id="11" name="Rounded Rectangle 10"/>
          <p:cNvSpPr/>
          <p:nvPr/>
        </p:nvSpPr>
        <p:spPr>
          <a:xfrm>
            <a:off x="6675120" y="1828800"/>
            <a:ext cx="5120640" cy="192024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1D6FB8"/>
                </a:solidFill>
                <a:latin typeface="Calibri"/>
              </a:rPr>
              <a:t>CostVision  (the engine it plugs in)</a:t>
            </a:r>
          </a:p>
          <a:p>
            <a:pPr algn="l">
              <a:lnSpc>
                <a:spcPct val="112000"/>
              </a:lnSpc>
              <a:spcAft>
                <a:spcPts val="500"/>
              </a:spcAft>
            </a:pPr>
            <a:r>
              <a:rPr sz="1200" b="0" i="0">
                <a:solidFill>
                  <a:srgbClr val="3A4356"/>
                </a:solidFill>
                <a:latin typeface="Calibri"/>
              </a:rPr>
              <a:t>• 19 processes, CAD measured on rules</a:t>
            </a:r>
          </a:p>
          <a:p>
            <a:pPr algn="l">
              <a:lnSpc>
                <a:spcPct val="112000"/>
              </a:lnSpc>
              <a:spcAft>
                <a:spcPts val="500"/>
              </a:spcAft>
            </a:pPr>
            <a:r>
              <a:rPr sz="1200" b="0" i="0">
                <a:solidFill>
                  <a:srgbClr val="3A4356"/>
                </a:solidFill>
                <a:latin typeface="Calibri"/>
              </a:rPr>
              <a:t>• Similar parts, learning from actuals</a:t>
            </a:r>
          </a:p>
          <a:p>
            <a:pPr algn="l">
              <a:lnSpc>
                <a:spcPct val="112000"/>
              </a:lnSpc>
              <a:spcAft>
                <a:spcPts val="500"/>
              </a:spcAft>
            </a:pPr>
            <a:r>
              <a:rPr sz="1200" b="0" i="0">
                <a:solidFill>
                  <a:srgbClr val="3A4356"/>
                </a:solidFill>
                <a:latin typeface="Calibri"/>
              </a:rPr>
              <a:t>• Quote vs should-cost, bucket by bucket</a:t>
            </a:r>
          </a:p>
        </p:txBody>
      </p:sp>
      <p:sp>
        <p:nvSpPr>
          <p:cNvPr id="13" name="Right Arrow 12"/>
          <p:cNvSpPr/>
          <p:nvPr/>
        </p:nvSpPr>
        <p:spPr>
          <a:xfrm>
            <a:off x="5623560" y="2240280"/>
            <a:ext cx="960120" cy="365760"/>
          </a:xfrm>
          <a:prstGeom prst="rightArrow">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ft Arrow 13"/>
          <p:cNvSpPr/>
          <p:nvPr/>
        </p:nvSpPr>
        <p:spPr>
          <a:xfrm>
            <a:off x="5623560" y="2880360"/>
            <a:ext cx="960120" cy="365760"/>
          </a:xfrm>
          <a:prstGeom prst="leftArrow">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40680" y="19202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1D6FB8"/>
                </a:solidFill>
                <a:latin typeface="Calibri"/>
              </a:rPr>
              <a:t>requests</a:t>
            </a:r>
          </a:p>
        </p:txBody>
      </p:sp>
      <p:sp>
        <p:nvSpPr>
          <p:cNvPr id="16" name="TextBox 15"/>
          <p:cNvSpPr txBox="1"/>
          <p:nvPr/>
        </p:nvSpPr>
        <p:spPr>
          <a:xfrm>
            <a:off x="5440680" y="32918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2A7F50"/>
                </a:solidFill>
                <a:latin typeface="Calibri"/>
              </a:rPr>
              <a:t>costs back</a:t>
            </a:r>
          </a:p>
        </p:txBody>
      </p:sp>
      <p:sp>
        <p:nvSpPr>
          <p:cNvPr id="17" name="Rounded Rectangle 16"/>
          <p:cNvSpPr/>
          <p:nvPr/>
        </p:nvSpPr>
        <p:spPr>
          <a:xfrm>
            <a:off x="411480" y="4114800"/>
            <a:ext cx="11384280" cy="21031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297680"/>
            <a:ext cx="1088136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16325C"/>
                </a:solidFill>
                <a:latin typeface="Calibri"/>
              </a:rPr>
              <a:t>What would flow over the connection (not built yet)</a:t>
            </a:r>
          </a:p>
        </p:txBody>
      </p:sp>
      <p:sp>
        <p:nvSpPr>
          <p:cNvPr id="19" name="TextBox 18"/>
          <p:cNvSpPr txBox="1"/>
          <p:nvPr/>
        </p:nvSpPr>
        <p:spPr>
          <a:xfrm>
            <a:off x="68580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D6FB8"/>
                </a:solidFill>
                <a:latin typeface="Calibri"/>
              </a:rPr>
              <a:t>Cost a part → </a:t>
            </a:r>
            <a:r>
              <a:rPr sz="1150" b="0" i="0">
                <a:solidFill>
                  <a:srgbClr val="3A4356"/>
                </a:solidFill>
                <a:latin typeface="Calibri"/>
              </a:rPr>
              <a:t>full should-cost with breakdown</a:t>
            </a:r>
          </a:p>
        </p:txBody>
      </p:sp>
      <p:sp>
        <p:nvSpPr>
          <p:cNvPr id="20" name="TextBox 19"/>
          <p:cNvSpPr txBox="1"/>
          <p:nvPr/>
        </p:nvSpPr>
        <p:spPr>
          <a:xfrm>
            <a:off x="443484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D6FB8"/>
                </a:solidFill>
                <a:latin typeface="Calibri"/>
              </a:rPr>
              <a:t>CAD file → </a:t>
            </a:r>
            <a:r>
              <a:rPr sz="1150" b="0" i="0">
                <a:solidFill>
                  <a:srgbClr val="3A4356"/>
                </a:solidFill>
                <a:latin typeface="Calibri"/>
              </a:rPr>
              <a:t>measured geometry + inputs</a:t>
            </a:r>
          </a:p>
        </p:txBody>
      </p:sp>
      <p:sp>
        <p:nvSpPr>
          <p:cNvPr id="21" name="TextBox 20"/>
          <p:cNvSpPr txBox="1"/>
          <p:nvPr/>
        </p:nvSpPr>
        <p:spPr>
          <a:xfrm>
            <a:off x="8183879"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D6FB8"/>
                </a:solidFill>
                <a:latin typeface="Calibri"/>
              </a:rPr>
              <a:t>New part → </a:t>
            </a:r>
            <a:r>
              <a:rPr sz="1150" b="0" i="0">
                <a:solidFill>
                  <a:srgbClr val="3A4356"/>
                </a:solidFill>
                <a:latin typeface="Calibri"/>
              </a:rPr>
              <a:t>similar past parts</a:t>
            </a:r>
          </a:p>
        </p:txBody>
      </p:sp>
      <p:sp>
        <p:nvSpPr>
          <p:cNvPr id="22" name="TextBox 21"/>
          <p:cNvSpPr txBox="1"/>
          <p:nvPr/>
        </p:nvSpPr>
        <p:spPr>
          <a:xfrm>
            <a:off x="68580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D6FB8"/>
                </a:solidFill>
                <a:latin typeface="Calibri"/>
              </a:rPr>
              <a:t>PO price → </a:t>
            </a:r>
            <a:r>
              <a:rPr sz="1150" b="0" i="0">
                <a:solidFill>
                  <a:srgbClr val="3A4356"/>
                </a:solidFill>
                <a:latin typeface="Calibri"/>
              </a:rPr>
              <a:t>logged as an actual</a:t>
            </a:r>
          </a:p>
        </p:txBody>
      </p:sp>
      <p:sp>
        <p:nvSpPr>
          <p:cNvPr id="23" name="TextBox 22"/>
          <p:cNvSpPr txBox="1"/>
          <p:nvPr/>
        </p:nvSpPr>
        <p:spPr>
          <a:xfrm>
            <a:off x="443484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D6FB8"/>
                </a:solidFill>
                <a:latin typeface="Calibri"/>
              </a:rPr>
              <a:t>Quote ← </a:t>
            </a:r>
            <a:r>
              <a:rPr sz="1150" b="0" i="0">
                <a:solidFill>
                  <a:srgbClr val="3A4356"/>
                </a:solidFill>
                <a:latin typeface="Calibri"/>
              </a:rPr>
              <a:t>gap to should-cost, by bucket</a:t>
            </a:r>
          </a:p>
        </p:txBody>
      </p:sp>
      <p:sp>
        <p:nvSpPr>
          <p:cNvPr id="24" name="TextBox 23"/>
          <p:cNvSpPr txBox="1"/>
          <p:nvPr/>
        </p:nvSpPr>
        <p:spPr>
          <a:xfrm>
            <a:off x="8183879"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D6FB8"/>
                </a:solidFill>
                <a:latin typeface="Calibri"/>
              </a:rPr>
              <a:t>One shared → </a:t>
            </a:r>
            <a:r>
              <a:rPr sz="1150" b="0" i="0">
                <a:solidFill>
                  <a:srgbClr val="3A4356"/>
                </a:solidFill>
                <a:latin typeface="Calibri"/>
              </a:rPr>
              <a:t>rate library &amp; knowledge database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SCOPE OF WORK</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each side needs to change</a:t>
            </a:r>
          </a:p>
        </p:txBody>
      </p:sp>
      <p:sp>
        <p:nvSpPr>
          <p:cNvPr id="9" name="Rounded Rectangle 8"/>
          <p:cNvSpPr/>
          <p:nvPr/>
        </p:nvSpPr>
        <p:spPr>
          <a:xfrm>
            <a:off x="411480" y="1874519"/>
            <a:ext cx="5486400" cy="416052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1D6FB8"/>
                </a:solidFill>
                <a:latin typeface="Calibri"/>
              </a:rPr>
              <a:t>CostVision — 6 items (2 DONE)</a:t>
            </a:r>
          </a:p>
        </p:txBody>
      </p:sp>
      <p:sp>
        <p:nvSpPr>
          <p:cNvPr id="11" name="TextBox 10"/>
          <p:cNvSpPr txBox="1"/>
          <p:nvPr/>
        </p:nvSpPr>
        <p:spPr>
          <a:xfrm>
            <a:off x="685800" y="251460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2A7F50"/>
                </a:solidFill>
                <a:latin typeface="Calibri"/>
              </a:rPr>
              <a:t>1. Private AI routing — </a:t>
            </a:r>
            <a:r>
              <a:rPr sz="1100" b="0" i="0">
                <a:solidFill>
                  <a:srgbClr val="2A7F50"/>
                </a:solidFill>
                <a:latin typeface="Calibri"/>
              </a:rPr>
              <a:t>DONE — one setting sends AI calls to our endpoint</a:t>
            </a:r>
          </a:p>
        </p:txBody>
      </p:sp>
      <p:sp>
        <p:nvSpPr>
          <p:cNvPr id="12" name="TextBox 11"/>
          <p:cNvSpPr txBox="1"/>
          <p:nvPr/>
        </p:nvSpPr>
        <p:spPr>
          <a:xfrm>
            <a:off x="685800" y="3090672"/>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2A7F50"/>
                </a:solidFill>
                <a:latin typeface="Calibri"/>
              </a:rPr>
              <a:t>2. AI-off switch — </a:t>
            </a:r>
            <a:r>
              <a:rPr sz="1100" b="0" i="0">
                <a:solidFill>
                  <a:srgbClr val="2A7F50"/>
                </a:solidFill>
                <a:latin typeface="Calibri"/>
              </a:rPr>
              <a:t>DONE — used in the JLR build; has tests</a:t>
            </a:r>
          </a:p>
        </p:txBody>
      </p:sp>
      <p:sp>
        <p:nvSpPr>
          <p:cNvPr id="13" name="TextBox 12"/>
          <p:cNvSpPr txBox="1"/>
          <p:nvPr/>
        </p:nvSpPr>
        <p:spPr>
          <a:xfrm>
            <a:off x="685800" y="3666744"/>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16325C"/>
                </a:solidFill>
                <a:latin typeface="Calibri"/>
              </a:rPr>
              <a:t>3. Company sign-on — </a:t>
            </a:r>
            <a:r>
              <a:rPr sz="1100" b="0" i="0">
                <a:solidFill>
                  <a:srgbClr val="3A4356"/>
                </a:solidFill>
                <a:latin typeface="Calibri"/>
              </a:rPr>
              <a:t>swap local logins for company SSO</a:t>
            </a:r>
          </a:p>
        </p:txBody>
      </p:sp>
      <p:sp>
        <p:nvSpPr>
          <p:cNvPr id="14" name="TextBox 13"/>
          <p:cNvSpPr txBox="1"/>
          <p:nvPr/>
        </p:nvSpPr>
        <p:spPr>
          <a:xfrm>
            <a:off x="685800" y="4242816"/>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16325C"/>
                </a:solidFill>
                <a:latin typeface="Calibri"/>
              </a:rPr>
              <a:t>4. Corporate database — </a:t>
            </a:r>
            <a:r>
              <a:rPr sz="1100" b="0" i="0">
                <a:solidFill>
                  <a:srgbClr val="3A4356"/>
                </a:solidFill>
                <a:latin typeface="Calibri"/>
              </a:rPr>
              <a:t>move from the local file database</a:t>
            </a:r>
          </a:p>
        </p:txBody>
      </p:sp>
      <p:sp>
        <p:nvSpPr>
          <p:cNvPr id="15" name="TextBox 14"/>
          <p:cNvSpPr txBox="1"/>
          <p:nvPr/>
        </p:nvSpPr>
        <p:spPr>
          <a:xfrm>
            <a:off x="685800" y="4818888"/>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16325C"/>
                </a:solidFill>
                <a:latin typeface="Calibri"/>
              </a:rPr>
              <a:t>5. Cost API for CAPEE — </a:t>
            </a:r>
            <a:r>
              <a:rPr sz="1100" b="0" i="0">
                <a:solidFill>
                  <a:srgbClr val="3A4356"/>
                </a:solidFill>
                <a:latin typeface="Calibri"/>
              </a:rPr>
              <a:t>one clean endpoint per commodity</a:t>
            </a:r>
          </a:p>
        </p:txBody>
      </p:sp>
      <p:sp>
        <p:nvSpPr>
          <p:cNvPr id="16" name="TextBox 15"/>
          <p:cNvSpPr txBox="1"/>
          <p:nvPr/>
        </p:nvSpPr>
        <p:spPr>
          <a:xfrm>
            <a:off x="685800" y="539496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16325C"/>
                </a:solidFill>
                <a:latin typeface="Calibri"/>
              </a:rPr>
              <a:t>6. Audit hardening — </a:t>
            </a:r>
            <a:r>
              <a:rPr sz="1100" b="0" i="0">
                <a:solidFill>
                  <a:srgbClr val="3A4356"/>
                </a:solidFill>
                <a:latin typeface="Calibri"/>
              </a:rPr>
              <a:t>admin audit table, logs to SIEM</a:t>
            </a:r>
          </a:p>
        </p:txBody>
      </p:sp>
      <p:sp>
        <p:nvSpPr>
          <p:cNvPr id="17" name="Rounded Rectangle 16"/>
          <p:cNvSpPr/>
          <p:nvPr/>
        </p:nvSpPr>
        <p:spPr>
          <a:xfrm>
            <a:off x="6263640" y="1874519"/>
            <a:ext cx="5532120" cy="41605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6B3FA0"/>
                </a:solidFill>
                <a:latin typeface="Calibri"/>
              </a:rPr>
              <a:t>CAPEE — small, additive changes</a:t>
            </a:r>
          </a:p>
        </p:txBody>
      </p:sp>
      <p:sp>
        <p:nvSpPr>
          <p:cNvPr id="19" name="TextBox 18"/>
          <p:cNvSpPr txBox="1"/>
          <p:nvPr/>
        </p:nvSpPr>
        <p:spPr>
          <a:xfrm>
            <a:off x="6537960" y="2560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16325C"/>
                </a:solidFill>
                <a:latin typeface="Calibri"/>
              </a:rPr>
              <a:t>Backend  </a:t>
            </a:r>
            <a:r>
              <a:rPr sz="1100" b="1" i="0">
                <a:solidFill>
                  <a:srgbClr val="6B3FA0"/>
                </a:solidFill>
                <a:latin typeface="Calibri"/>
              </a:rPr>
              <a:t>· Small</a:t>
            </a:r>
          </a:p>
          <a:p>
            <a:pPr algn="l">
              <a:lnSpc>
                <a:spcPct val="112000"/>
              </a:lnSpc>
              <a:spcAft>
                <a:spcPts val="300"/>
              </a:spcAft>
            </a:pPr>
            <a:r>
              <a:rPr sz="1150" b="0" i="0">
                <a:solidFill>
                  <a:srgbClr val="3A4356"/>
                </a:solidFill>
                <a:latin typeface="Calibri"/>
              </a:rPr>
              <a:t>a client to call CostVision, with sign-in tokens; send PO prices in as actuals</a:t>
            </a:r>
          </a:p>
        </p:txBody>
      </p:sp>
      <p:sp>
        <p:nvSpPr>
          <p:cNvPr id="20" name="TextBox 19"/>
          <p:cNvSpPr txBox="1"/>
          <p:nvPr/>
        </p:nvSpPr>
        <p:spPr>
          <a:xfrm>
            <a:off x="6537960" y="3703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16325C"/>
                </a:solidFill>
                <a:latin typeface="Calibri"/>
              </a:rPr>
              <a:t>User interface  </a:t>
            </a:r>
            <a:r>
              <a:rPr sz="1100" b="1" i="0">
                <a:solidFill>
                  <a:srgbClr val="6B3FA0"/>
                </a:solidFill>
                <a:latin typeface="Calibri"/>
              </a:rPr>
              <a:t>· Medium</a:t>
            </a:r>
          </a:p>
          <a:p>
            <a:pPr algn="l">
              <a:lnSpc>
                <a:spcPct val="112000"/>
              </a:lnSpc>
              <a:spcAft>
                <a:spcPts val="300"/>
              </a:spcAft>
            </a:pPr>
            <a:r>
              <a:rPr sz="1150" b="0" i="0">
                <a:solidFill>
                  <a:srgbClr val="3A4356"/>
                </a:solidFill>
                <a:latin typeface="Calibri"/>
              </a:rPr>
              <a:t>a should-cost panel on the costing screen; a CAD upload button</a:t>
            </a:r>
          </a:p>
        </p:txBody>
      </p:sp>
      <p:sp>
        <p:nvSpPr>
          <p:cNvPr id="21" name="TextBox 20"/>
          <p:cNvSpPr txBox="1"/>
          <p:nvPr/>
        </p:nvSpPr>
        <p:spPr>
          <a:xfrm>
            <a:off x="6537960" y="4846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16325C"/>
                </a:solidFill>
                <a:latin typeface="Calibri"/>
              </a:rPr>
              <a:t>Data  </a:t>
            </a:r>
            <a:r>
              <a:rPr sz="1100" b="1" i="0">
                <a:solidFill>
                  <a:srgbClr val="6B3FA0"/>
                </a:solidFill>
                <a:latin typeface="Calibri"/>
              </a:rPr>
              <a:t>· Small–Medium</a:t>
            </a:r>
          </a:p>
          <a:p>
            <a:pPr algn="l">
              <a:lnSpc>
                <a:spcPct val="112000"/>
              </a:lnSpc>
              <a:spcAft>
                <a:spcPts val="300"/>
              </a:spcAft>
            </a:pPr>
            <a:r>
              <a:rPr sz="1150" b="0" i="0">
                <a:solidFill>
                  <a:srgbClr val="3A4356"/>
                </a:solidFill>
                <a:latin typeface="Calibri"/>
              </a:rPr>
              <a:t>use the shared rate library; a one-off import of past quotes as actuals</a:t>
            </a:r>
          </a:p>
        </p:txBody>
      </p:sp>
      <p:sp>
        <p:nvSpPr>
          <p:cNvPr id="22" name="TextBox 21"/>
          <p:cNvSpPr txBox="1"/>
          <p:nvPr/>
        </p:nvSpPr>
        <p:spPr>
          <a:xfrm>
            <a:off x="411480" y="6217920"/>
            <a:ext cx="11338560" cy="411480"/>
          </a:xfrm>
          <a:prstGeom prst="rect">
            <a:avLst/>
          </a:prstGeom>
          <a:noFill/>
        </p:spPr>
        <p:txBody>
          <a:bodyPr wrap="square" anchor="t" lIns="0" rIns="0" tIns="0" bIns="0">
            <a:spAutoFit/>
          </a:bodyPr>
          <a:lstStyle/>
          <a:p>
            <a:pPr algn="l">
              <a:lnSpc>
                <a:spcPct val="100000"/>
              </a:lnSpc>
              <a:spcAft>
                <a:spcPts val="400"/>
              </a:spcAft>
            </a:pPr>
            <a:r>
              <a:rPr sz="1350" b="1" i="0">
                <a:solidFill>
                  <a:srgbClr val="16325C"/>
                </a:solidFill>
                <a:latin typeface="Calibri"/>
              </a:rPr>
              <a:t>Items 1–2 are built. Our estimate for the rest: 3–5 engineering weeks. No major rework on either side.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COMPLIANCE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Security &amp; compliance — how we tick the boxes</a:t>
            </a:r>
          </a:p>
        </p:txBody>
      </p:sp>
      <p:sp>
        <p:nvSpPr>
          <p:cNvPr id="9" name="Rounded Rectangle 8"/>
          <p:cNvSpPr/>
          <p:nvPr/>
        </p:nvSpPr>
        <p:spPr>
          <a:xfrm>
            <a:off x="411480" y="1874519"/>
            <a:ext cx="5577840" cy="1234440"/>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3444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A7F50"/>
                </a:solidFill>
                <a:latin typeface="Calibri"/>
              </a:rPr>
              <a:t>Data handling</a:t>
            </a:r>
          </a:p>
        </p:txBody>
      </p:sp>
      <p:sp>
        <p:nvSpPr>
          <p:cNvPr id="12" name="TextBox 11"/>
          <p:cNvSpPr txBox="1"/>
          <p:nvPr/>
        </p:nvSpPr>
        <p:spPr>
          <a:xfrm>
            <a:off x="66751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Today: CAD deleted after measuring; laptop build listens on 127.0.0.1 only. Plan: TLS and an encrypted database on a server.</a:t>
            </a:r>
          </a:p>
        </p:txBody>
      </p:sp>
      <p:sp>
        <p:nvSpPr>
          <p:cNvPr id="13" name="Rounded Rectangle 12"/>
          <p:cNvSpPr/>
          <p:nvPr/>
        </p:nvSpPr>
        <p:spPr>
          <a:xfrm>
            <a:off x="6217920" y="1874519"/>
            <a:ext cx="5577840" cy="1234440"/>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344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1D6FB8"/>
                </a:solidFill>
                <a:latin typeface="Calibri"/>
              </a:rPr>
              <a:t>Access control</a:t>
            </a:r>
          </a:p>
        </p:txBody>
      </p:sp>
      <p:sp>
        <p:nvSpPr>
          <p:cNvPr id="16" name="TextBox 15"/>
          <p:cNvSpPr txBox="1"/>
          <p:nvPr/>
        </p:nvSpPr>
        <p:spPr>
          <a:xfrm>
            <a:off x="647395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Today: sign-in on everything; users see only their own scenarios; old sessions end on reset. Plan: company SSO.</a:t>
            </a:r>
          </a:p>
        </p:txBody>
      </p:sp>
      <p:sp>
        <p:nvSpPr>
          <p:cNvPr id="17" name="Rounded Rectangle 16"/>
          <p:cNvSpPr/>
          <p:nvPr/>
        </p:nvSpPr>
        <p:spPr>
          <a:xfrm>
            <a:off x="411480" y="3291839"/>
            <a:ext cx="5577840" cy="1234440"/>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291839"/>
            <a:ext cx="82296" cy="123444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99651A"/>
                </a:solidFill>
                <a:latin typeface="Calibri"/>
              </a:rPr>
              <a:t>Data-loss prevention</a:t>
            </a:r>
          </a:p>
        </p:txBody>
      </p:sp>
      <p:sp>
        <p:nvSpPr>
          <p:cNvPr id="20" name="TextBox 19"/>
          <p:cNvSpPr txBox="1"/>
          <p:nvPr/>
        </p:nvSpPr>
        <p:spPr>
          <a:xfrm>
            <a:off x="66751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Today: AI and feeds off in the JLR build. Plan: a firewall that blocks all other outbound traffic.</a:t>
            </a:r>
          </a:p>
        </p:txBody>
      </p:sp>
      <p:sp>
        <p:nvSpPr>
          <p:cNvPr id="21" name="Rounded Rectangle 20"/>
          <p:cNvSpPr/>
          <p:nvPr/>
        </p:nvSpPr>
        <p:spPr>
          <a:xfrm>
            <a:off x="6217920" y="3291839"/>
            <a:ext cx="5577840" cy="1234440"/>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291839"/>
            <a:ext cx="82296" cy="123444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6B3FA0"/>
                </a:solidFill>
                <a:latin typeface="Calibri"/>
              </a:rPr>
              <a:t>Audit and access</a:t>
            </a:r>
          </a:p>
        </p:txBody>
      </p:sp>
      <p:sp>
        <p:nvSpPr>
          <p:cNvPr id="24" name="TextBox 23"/>
          <p:cNvSpPr txBox="1"/>
          <p:nvPr/>
        </p:nvSpPr>
        <p:spPr>
          <a:xfrm>
            <a:off x="647395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Today: rate changes are logged with the user. Every page passes WCAG 2.1 AA (automated check).</a:t>
            </a:r>
          </a:p>
        </p:txBody>
      </p:sp>
      <p:sp>
        <p:nvSpPr>
          <p:cNvPr id="25" name="Rounded Rectangle 24"/>
          <p:cNvSpPr/>
          <p:nvPr/>
        </p:nvSpPr>
        <p:spPr>
          <a:xfrm>
            <a:off x="411480" y="4892040"/>
            <a:ext cx="11384280" cy="123444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74920"/>
            <a:ext cx="10881360" cy="960120"/>
          </a:xfrm>
          <a:prstGeom prst="rect">
            <a:avLst/>
          </a:prstGeom>
          <a:noFill/>
        </p:spPr>
        <p:txBody>
          <a:bodyPr wrap="square" anchor="t" lIns="0" rIns="0" tIns="0" bIns="0">
            <a:spAutoFit/>
          </a:bodyPr>
          <a:lstStyle/>
          <a:p>
            <a:pPr algn="l">
              <a:lnSpc>
                <a:spcPct val="125000"/>
              </a:lnSpc>
              <a:spcAft>
                <a:spcPts val="400"/>
              </a:spcAft>
            </a:pPr>
            <a:r>
              <a:rPr sz="1300" b="1" i="0">
                <a:solidFill>
                  <a:srgbClr val="16325C"/>
                </a:solidFill>
                <a:latin typeface="Calibri"/>
              </a:rPr>
              <a:t>Standards mapping:  </a:t>
            </a:r>
            <a:r>
              <a:rPr sz="1200" b="0" i="0">
                <a:solidFill>
                  <a:srgbClr val="3A4356"/>
                </a:solidFill>
                <a:latin typeface="Calibri"/>
              </a:rPr>
              <a:t>to be confirmed with IT Security in Phase 1.  ISO 27001 — add the tool to our ISMS scope  ·  GDPR — the tool holds little personal data (sign-in details)  ·  ISO/SAE 21434 — an engineering IT tool, outside the vehicle scope.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PLAN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Rollout — six phases, first value around week eight</a:t>
            </a:r>
          </a:p>
        </p:txBody>
      </p:sp>
      <p:sp>
        <p:nvSpPr>
          <p:cNvPr id="9" name="Chevron 8"/>
          <p:cNvSpPr/>
          <p:nvPr/>
        </p:nvSpPr>
        <p:spPr>
          <a:xfrm>
            <a:off x="365760" y="2103120"/>
            <a:ext cx="2048256" cy="1005840"/>
          </a:xfrm>
          <a:prstGeom prst="chevron">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1 · Security assessment</a:t>
            </a:r>
          </a:p>
          <a:p>
            <a:r>
              <a:rPr sz="950">
                <a:solidFill>
                  <a:srgbClr val="E8EEFF"/>
                </a:solidFill>
                <a:latin typeface="Calibri"/>
              </a:rPr>
              <a:t>2–3 wks</a:t>
            </a:r>
          </a:p>
        </p:txBody>
      </p:sp>
      <p:sp>
        <p:nvSpPr>
          <p:cNvPr id="10" name="Chevron 9"/>
          <p:cNvSpPr/>
          <p:nvPr/>
        </p:nvSpPr>
        <p:spPr>
          <a:xfrm>
            <a:off x="2127260" y="2103120"/>
            <a:ext cx="2048256" cy="1005840"/>
          </a:xfrm>
          <a:prstGeom prst="chevron">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2 · Architecture design</a:t>
            </a:r>
          </a:p>
          <a:p>
            <a:r>
              <a:rPr sz="950">
                <a:solidFill>
                  <a:srgbClr val="E8EEFF"/>
                </a:solidFill>
                <a:latin typeface="Calibri"/>
              </a:rPr>
              <a:t>3–4 wks</a:t>
            </a:r>
          </a:p>
        </p:txBody>
      </p:sp>
      <p:sp>
        <p:nvSpPr>
          <p:cNvPr id="11" name="Chevron 10"/>
          <p:cNvSpPr/>
          <p:nvPr/>
        </p:nvSpPr>
        <p:spPr>
          <a:xfrm>
            <a:off x="3888760" y="2103120"/>
            <a:ext cx="2048256" cy="1005840"/>
          </a:xfrm>
          <a:prstGeom prst="chevron">
            <a:avLst>
              <a:gd name="adj" fmla="val 28000"/>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3 · Pilot (dummy CAD)</a:t>
            </a:r>
          </a:p>
          <a:p>
            <a:r>
              <a:rPr sz="950">
                <a:solidFill>
                  <a:srgbClr val="E8EEFF"/>
                </a:solidFill>
                <a:latin typeface="Calibri"/>
              </a:rPr>
              <a:t>2 wks</a:t>
            </a:r>
          </a:p>
        </p:txBody>
      </p:sp>
      <p:sp>
        <p:nvSpPr>
          <p:cNvPr id="12" name="Chevron 11"/>
          <p:cNvSpPr/>
          <p:nvPr/>
        </p:nvSpPr>
        <p:spPr>
          <a:xfrm>
            <a:off x="5650260" y="2103120"/>
            <a:ext cx="2048256" cy="1005840"/>
          </a:xfrm>
          <a:prstGeom prst="chevron">
            <a:avLst>
              <a:gd name="adj" fmla="val 28000"/>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4 · CAPEE pilot</a:t>
            </a:r>
          </a:p>
          <a:p>
            <a:r>
              <a:rPr sz="950">
                <a:solidFill>
                  <a:srgbClr val="E8EEFF"/>
                </a:solidFill>
                <a:latin typeface="Calibri"/>
              </a:rPr>
              <a:t>4–6 wks</a:t>
            </a:r>
          </a:p>
        </p:txBody>
      </p:sp>
      <p:sp>
        <p:nvSpPr>
          <p:cNvPr id="13" name="Chevron 12"/>
          <p:cNvSpPr/>
          <p:nvPr/>
        </p:nvSpPr>
        <p:spPr>
          <a:xfrm>
            <a:off x="7411760" y="2103120"/>
            <a:ext cx="2048256" cy="1005840"/>
          </a:xfrm>
          <a:prstGeom prst="chevron">
            <a:avLst>
              <a:gd name="adj" fmla="val 28000"/>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5 · Enterprise rollout</a:t>
            </a:r>
          </a:p>
          <a:p>
            <a:r>
              <a:rPr sz="950">
                <a:solidFill>
                  <a:srgbClr val="E8EEFF"/>
                </a:solidFill>
                <a:latin typeface="Calibri"/>
              </a:rPr>
              <a:t>4 wks</a:t>
            </a:r>
          </a:p>
        </p:txBody>
      </p:sp>
      <p:sp>
        <p:nvSpPr>
          <p:cNvPr id="14" name="Chevron 13"/>
          <p:cNvSpPr/>
          <p:nvPr/>
        </p:nvSpPr>
        <p:spPr>
          <a:xfrm>
            <a:off x="9173260" y="2103120"/>
            <a:ext cx="2048256" cy="1005840"/>
          </a:xfrm>
          <a:prstGeom prst="chevron">
            <a:avLst>
              <a:gd name="adj" fmla="val 28000"/>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6 · Monitor &amp; govern</a:t>
            </a:r>
          </a:p>
          <a:p>
            <a:r>
              <a:rPr sz="950">
                <a:solidFill>
                  <a:srgbClr val="E8EEFF"/>
                </a:solidFill>
                <a:latin typeface="Calibri"/>
              </a:rPr>
              <a:t>ongoing</a:t>
            </a:r>
          </a:p>
        </p:txBody>
      </p:sp>
      <p:sp>
        <p:nvSpPr>
          <p:cNvPr id="15" name="Rounded Rectangle 14"/>
          <p:cNvSpPr/>
          <p:nvPr/>
        </p:nvSpPr>
        <p:spPr>
          <a:xfrm>
            <a:off x="411480" y="3566160"/>
            <a:ext cx="11384280" cy="749808"/>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566160"/>
            <a:ext cx="82296" cy="7498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65760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Phase 3 exit gate</a:t>
            </a:r>
          </a:p>
        </p:txBody>
      </p:sp>
      <p:sp>
        <p:nvSpPr>
          <p:cNvPr id="18" name="TextBox 17"/>
          <p:cNvSpPr txBox="1"/>
          <p:nvPr/>
        </p:nvSpPr>
        <p:spPr>
          <a:xfrm>
            <a:off x="3200400" y="365760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Security watches the test: firewall blocks all outbound traffic, the full test suite passes, no unexpected traffic.</a:t>
            </a:r>
          </a:p>
        </p:txBody>
      </p:sp>
      <p:sp>
        <p:nvSpPr>
          <p:cNvPr id="19" name="Rounded Rectangle 18"/>
          <p:cNvSpPr/>
          <p:nvPr/>
        </p:nvSpPr>
        <p:spPr>
          <a:xfrm>
            <a:off x="411480" y="4434840"/>
            <a:ext cx="11384280" cy="749808"/>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434840"/>
            <a:ext cx="82296" cy="7498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52628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Phase 4 exit gate</a:t>
            </a:r>
          </a:p>
        </p:txBody>
      </p:sp>
      <p:sp>
        <p:nvSpPr>
          <p:cNvPr id="22" name="TextBox 21"/>
          <p:cNvSpPr txBox="1"/>
          <p:nvPr/>
        </p:nvSpPr>
        <p:spPr>
          <a:xfrm>
            <a:off x="3200400" y="452628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A cost engineer does a real costing from inside CAPEE. First estimates compared with prices JLR paid.</a:t>
            </a:r>
          </a:p>
        </p:txBody>
      </p:sp>
      <p:sp>
        <p:nvSpPr>
          <p:cNvPr id="23" name="Rounded Rectangle 22"/>
          <p:cNvSpPr/>
          <p:nvPr/>
        </p:nvSpPr>
        <p:spPr>
          <a:xfrm>
            <a:off x="411480" y="5303520"/>
            <a:ext cx="11384280" cy="749808"/>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5303520"/>
            <a:ext cx="82296" cy="7498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39496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First value</a:t>
            </a:r>
          </a:p>
        </p:txBody>
      </p:sp>
      <p:sp>
        <p:nvSpPr>
          <p:cNvPr id="26" name="TextBox 25"/>
          <p:cNvSpPr txBox="1"/>
          <p:nvPr/>
        </p:nvSpPr>
        <p:spPr>
          <a:xfrm>
            <a:off x="3200400" y="539496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Around week 8: pilot users cost real parts and check supplier quotes bucket by bucket.</a:t>
            </a:r>
          </a:p>
        </p:txBody>
      </p:sp>
      <p:sp>
        <p:nvSpPr>
          <p:cNvPr id="27" name="TextBox 26"/>
          <p:cNvSpPr txBox="1"/>
          <p:nvPr/>
        </p:nvSpPr>
        <p:spPr>
          <a:xfrm>
            <a:off x="411480" y="6236208"/>
            <a:ext cx="11338560" cy="457200"/>
          </a:xfrm>
          <a:prstGeom prst="rect">
            <a:avLst/>
          </a:prstGeom>
          <a:noFill/>
        </p:spPr>
        <p:txBody>
          <a:bodyPr wrap="square" anchor="t" lIns="0" rIns="0" tIns="0" bIns="0">
            <a:spAutoFit/>
          </a:bodyPr>
          <a:lstStyle/>
          <a:p>
            <a:pPr algn="l">
              <a:lnSpc>
                <a:spcPct val="100000"/>
              </a:lnSpc>
              <a:spcAft>
                <a:spcPts val="400"/>
              </a:spcAft>
            </a:pPr>
            <a:r>
              <a:rPr sz="1150" b="1" i="0">
                <a:solidFill>
                  <a:srgbClr val="16325C"/>
                </a:solidFill>
                <a:latin typeface="Calibri"/>
              </a:rPr>
              <a:t>After go-live we track: </a:t>
            </a:r>
            <a:r>
              <a:rPr sz="1150" b="0" i="0">
                <a:solidFill>
                  <a:srgbClr val="3A4356"/>
                </a:solidFill>
                <a:latin typeface="Calibri"/>
              </a:rPr>
              <a:t>estimate vs PO price · costings via CAPEE · quote gaps acted on · adoption.   All timings are estimates from approval.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HONEST VIEW</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Risks — and how we manage them</a:t>
            </a:r>
          </a:p>
        </p:txBody>
      </p:sp>
      <p:sp>
        <p:nvSpPr>
          <p:cNvPr id="9" name="Rounded Rectangle 8"/>
          <p:cNvSpPr/>
          <p:nvPr/>
        </p:nvSpPr>
        <p:spPr>
          <a:xfrm>
            <a:off x="411480" y="1874519"/>
            <a:ext cx="11384280" cy="93268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932688"/>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84247"/>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AI is never approved</a:t>
            </a:r>
          </a:p>
        </p:txBody>
      </p:sp>
      <p:sp>
        <p:nvSpPr>
          <p:cNvPr id="12" name="TextBox 11"/>
          <p:cNvSpPr txBox="1"/>
          <p:nvPr/>
        </p:nvSpPr>
        <p:spPr>
          <a:xfrm>
            <a:off x="685800" y="2377439"/>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99651A"/>
                </a:solidFill>
                <a:latin typeface="Calibri"/>
              </a:rPr>
              <a:t>Likelihood: Medium</a:t>
            </a:r>
          </a:p>
        </p:txBody>
      </p:sp>
      <p:sp>
        <p:nvSpPr>
          <p:cNvPr id="13" name="TextBox 12"/>
          <p:cNvSpPr txBox="1"/>
          <p:nvPr/>
        </p:nvSpPr>
        <p:spPr>
          <a:xfrm>
            <a:off x="4846320" y="1984247"/>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16325C"/>
                </a:solidFill>
                <a:latin typeface="Calibri"/>
              </a:rPr>
              <a:t>Mitigation:  </a:t>
            </a:r>
            <a:r>
              <a:rPr sz="1150" b="0" i="0">
                <a:solidFill>
                  <a:srgbClr val="3A4356"/>
                </a:solidFill>
                <a:latin typeface="Calibri"/>
              </a:rPr>
              <a:t>We are already on Option A. The JLR build runs with AI off; costing, CAD measuring and learning all work without it.</a:t>
            </a:r>
          </a:p>
        </p:txBody>
      </p:sp>
      <p:sp>
        <p:nvSpPr>
          <p:cNvPr id="14" name="Rounded Rectangle 13"/>
          <p:cNvSpPr/>
          <p:nvPr/>
        </p:nvSpPr>
        <p:spPr>
          <a:xfrm>
            <a:off x="411480" y="2953511"/>
            <a:ext cx="11384280" cy="93268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953511"/>
            <a:ext cx="82296" cy="93268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063239"/>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Not yet checked against JLR prices</a:t>
            </a:r>
          </a:p>
        </p:txBody>
      </p:sp>
      <p:sp>
        <p:nvSpPr>
          <p:cNvPr id="17" name="TextBox 16"/>
          <p:cNvSpPr txBox="1"/>
          <p:nvPr/>
        </p:nvSpPr>
        <p:spPr>
          <a:xfrm>
            <a:off x="685800" y="3456431"/>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1D6FB8"/>
                </a:solidFill>
                <a:latin typeface="Calibri"/>
              </a:rPr>
              <a:t>Likelihood: Medium</a:t>
            </a:r>
          </a:p>
        </p:txBody>
      </p:sp>
      <p:sp>
        <p:nvSpPr>
          <p:cNvPr id="18" name="TextBox 17"/>
          <p:cNvSpPr txBox="1"/>
          <p:nvPr/>
        </p:nvSpPr>
        <p:spPr>
          <a:xfrm>
            <a:off x="4846320" y="3063239"/>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16325C"/>
                </a:solidFill>
                <a:latin typeface="Calibri"/>
              </a:rPr>
              <a:t>Mitigation:  </a:t>
            </a:r>
            <a:r>
              <a:rPr sz="1150" b="0" i="0">
                <a:solidFill>
                  <a:srgbClr val="3A4356"/>
                </a:solidFill>
                <a:latin typeface="Calibri"/>
              </a:rPr>
              <a:t>No estimate has been compared with a price JLR paid. Phase 4 does that. Log actuals; after 3, the band uses real data.</a:t>
            </a:r>
          </a:p>
        </p:txBody>
      </p:sp>
      <p:sp>
        <p:nvSpPr>
          <p:cNvPr id="19" name="Rounded Rectangle 18"/>
          <p:cNvSpPr/>
          <p:nvPr/>
        </p:nvSpPr>
        <p:spPr>
          <a:xfrm>
            <a:off x="411480" y="4032504"/>
            <a:ext cx="11384280" cy="93268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032504"/>
            <a:ext cx="82296" cy="93268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142232"/>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Knowledge sits with one team</a:t>
            </a:r>
          </a:p>
        </p:txBody>
      </p:sp>
      <p:sp>
        <p:nvSpPr>
          <p:cNvPr id="22" name="TextBox 21"/>
          <p:cNvSpPr txBox="1"/>
          <p:nvPr/>
        </p:nvSpPr>
        <p:spPr>
          <a:xfrm>
            <a:off x="685800" y="4535424"/>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6B3FA0"/>
                </a:solidFill>
                <a:latin typeface="Calibri"/>
              </a:rPr>
              <a:t>Likelihood: Low–Med</a:t>
            </a:r>
          </a:p>
        </p:txBody>
      </p:sp>
      <p:sp>
        <p:nvSpPr>
          <p:cNvPr id="23" name="TextBox 22"/>
          <p:cNvSpPr txBox="1"/>
          <p:nvPr/>
        </p:nvSpPr>
        <p:spPr>
          <a:xfrm>
            <a:off x="4846320" y="4142232"/>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16325C"/>
                </a:solidFill>
                <a:latin typeface="Calibri"/>
              </a:rPr>
              <a:t>Mitigation:  </a:t>
            </a:r>
            <a:r>
              <a:rPr sz="1150" b="0" i="0">
                <a:solidFill>
                  <a:srgbClr val="3A4356"/>
                </a:solidFill>
                <a:latin typeface="Calibri"/>
              </a:rPr>
              <a:t>2,438 automated tests, 6 real parts pinned in a baseline, written docs, and a CAPEE-side maintainer trained in Phase 4.</a:t>
            </a:r>
          </a:p>
        </p:txBody>
      </p:sp>
      <p:sp>
        <p:nvSpPr>
          <p:cNvPr id="24" name="Rounded Rectangle 23"/>
          <p:cNvSpPr/>
          <p:nvPr/>
        </p:nvSpPr>
        <p:spPr>
          <a:xfrm>
            <a:off x="411480" y="5111496"/>
            <a:ext cx="11384280" cy="93268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82296" cy="932688"/>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221224"/>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Adoption ("another tool")</a:t>
            </a:r>
          </a:p>
        </p:txBody>
      </p:sp>
      <p:sp>
        <p:nvSpPr>
          <p:cNvPr id="27" name="TextBox 26"/>
          <p:cNvSpPr txBox="1"/>
          <p:nvPr/>
        </p:nvSpPr>
        <p:spPr>
          <a:xfrm>
            <a:off x="685800" y="5614416"/>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2A7F50"/>
                </a:solidFill>
                <a:latin typeface="Calibri"/>
              </a:rPr>
              <a:t>Likelihood: Low</a:t>
            </a:r>
          </a:p>
        </p:txBody>
      </p:sp>
      <p:sp>
        <p:nvSpPr>
          <p:cNvPr id="28" name="TextBox 27"/>
          <p:cNvSpPr txBox="1"/>
          <p:nvPr/>
        </p:nvSpPr>
        <p:spPr>
          <a:xfrm>
            <a:off x="4846320" y="5221224"/>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16325C"/>
                </a:solidFill>
                <a:latin typeface="Calibri"/>
              </a:rPr>
              <a:t>Mitigation:  </a:t>
            </a:r>
            <a:r>
              <a:rPr sz="1150" b="0" i="0">
                <a:solidFill>
                  <a:srgbClr val="3A4356"/>
                </a:solidFill>
                <a:latin typeface="Calibri"/>
              </a:rPr>
              <a:t>The plan keeps users in CAPEE, with CostVision behind it. Little new to learn.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Feasibility verdict — and the ask</a:t>
            </a:r>
          </a:p>
        </p:txBody>
      </p:sp>
      <p:sp>
        <p:nvSpPr>
          <p:cNvPr id="9" name="Rounded Rectangle 8"/>
          <p:cNvSpPr/>
          <p:nvPr/>
        </p:nvSpPr>
        <p:spPr>
          <a:xfrm>
            <a:off x="411480" y="1874519"/>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11679"/>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Secure deployment, CAD in-house</a:t>
            </a:r>
          </a:p>
        </p:txBody>
      </p:sp>
      <p:sp>
        <p:nvSpPr>
          <p:cNvPr id="11" name="TextBox 10"/>
          <p:cNvSpPr txBox="1"/>
          <p:nvPr/>
        </p:nvSpPr>
        <p:spPr>
          <a:xfrm>
            <a:off x="5029200" y="2011679"/>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A7F50"/>
                </a:solidFill>
                <a:latin typeface="Calibri"/>
              </a:rPr>
              <a:t>FEASIBLE — CAD stays on the machine; AI off at JLR</a:t>
            </a:r>
          </a:p>
        </p:txBody>
      </p:sp>
      <p:sp>
        <p:nvSpPr>
          <p:cNvPr id="12" name="Rounded Rectangle 11"/>
          <p:cNvSpPr/>
          <p:nvPr/>
        </p:nvSpPr>
        <p:spPr>
          <a:xfrm>
            <a:off x="411480" y="2624327"/>
            <a:ext cx="11384280" cy="640080"/>
          </a:xfrm>
          <a:prstGeom prst="roundRect">
            <a:avLst>
              <a:gd name="adj" fmla="val 13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761487"/>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Connecting to CAPEE</a:t>
            </a:r>
          </a:p>
        </p:txBody>
      </p:sp>
      <p:sp>
        <p:nvSpPr>
          <p:cNvPr id="14" name="TextBox 13"/>
          <p:cNvSpPr txBox="1"/>
          <p:nvPr/>
        </p:nvSpPr>
        <p:spPr>
          <a:xfrm>
            <a:off x="5029200" y="2761487"/>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A7F50"/>
                </a:solidFill>
                <a:latin typeface="Calibri"/>
              </a:rPr>
              <a:t>FEASIBLE — a plan: CAPEE calls CostVision for the cost</a:t>
            </a:r>
          </a:p>
        </p:txBody>
      </p:sp>
      <p:sp>
        <p:nvSpPr>
          <p:cNvPr id="15" name="Rounded Rectangle 14"/>
          <p:cNvSpPr/>
          <p:nvPr/>
        </p:nvSpPr>
        <p:spPr>
          <a:xfrm>
            <a:off x="411480" y="3374135"/>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511295"/>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Changes required</a:t>
            </a:r>
          </a:p>
        </p:txBody>
      </p:sp>
      <p:sp>
        <p:nvSpPr>
          <p:cNvPr id="17" name="TextBox 16"/>
          <p:cNvSpPr txBox="1"/>
          <p:nvPr/>
        </p:nvSpPr>
        <p:spPr>
          <a:xfrm>
            <a:off x="5029200" y="3511295"/>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2 of 6 items built — our estimate: 3–5 weeks remain</a:t>
            </a:r>
          </a:p>
        </p:txBody>
      </p:sp>
      <p:sp>
        <p:nvSpPr>
          <p:cNvPr id="18" name="Rounded Rectangle 17"/>
          <p:cNvSpPr/>
          <p:nvPr/>
        </p:nvSpPr>
        <p:spPr>
          <a:xfrm>
            <a:off x="411480" y="4123944"/>
            <a:ext cx="11384280" cy="640080"/>
          </a:xfrm>
          <a:prstGeom prst="roundRect">
            <a:avLst>
              <a:gd name="adj" fmla="val 13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261104"/>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Long-term governance</a:t>
            </a:r>
          </a:p>
        </p:txBody>
      </p:sp>
      <p:sp>
        <p:nvSpPr>
          <p:cNvPr id="20" name="TextBox 19"/>
          <p:cNvSpPr txBox="1"/>
          <p:nvPr/>
        </p:nvSpPr>
        <p:spPr>
          <a:xfrm>
            <a:off x="5029200" y="4261104"/>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6B3FA0"/>
                </a:solidFill>
                <a:latin typeface="Calibri"/>
              </a:rPr>
              <a:t>Rate-library owner · monthly review · quarterly access audit</a:t>
            </a:r>
          </a:p>
        </p:txBody>
      </p:sp>
      <p:sp>
        <p:nvSpPr>
          <p:cNvPr id="21" name="Rounded Rectangle 20"/>
          <p:cNvSpPr/>
          <p:nvPr/>
        </p:nvSpPr>
        <p:spPr>
          <a:xfrm>
            <a:off x="411480" y="5120640"/>
            <a:ext cx="11384280" cy="1143000"/>
          </a:xfrm>
          <a:prstGeom prst="roundRect">
            <a:avLst>
              <a:gd name="adj" fmla="val 7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303520"/>
            <a:ext cx="10789920" cy="822960"/>
          </a:xfrm>
          <a:prstGeom prst="rect">
            <a:avLst/>
          </a:prstGeom>
          <a:noFill/>
        </p:spPr>
        <p:txBody>
          <a:bodyPr wrap="square" anchor="t" lIns="0" rIns="0" tIns="0" bIns="0">
            <a:spAutoFit/>
          </a:bodyPr>
          <a:lstStyle/>
          <a:p>
            <a:pPr algn="l">
              <a:lnSpc>
                <a:spcPct val="120000"/>
              </a:lnSpc>
              <a:spcAft>
                <a:spcPts val="400"/>
              </a:spcAft>
            </a:pPr>
            <a:r>
              <a:rPr sz="1600" b="1" i="0">
                <a:solidFill>
                  <a:srgbClr val="1D6FB8"/>
                </a:solidFill>
                <a:latin typeface="Calibri"/>
              </a:rPr>
              <a:t>The ask today:  </a:t>
            </a:r>
            <a:r>
              <a:rPr sz="1400" b="0" i="0">
                <a:solidFill>
                  <a:srgbClr val="3A4356"/>
                </a:solidFill>
                <a:latin typeface="Calibri"/>
              </a:rPr>
              <a:t>approve Phase 1 (IT-Security assessment) and Phase 2 (architecture design). Our estimate is 5–7 weeks with existing teams. The written plan and security checklist are ready.</a:t>
            </a:r>
          </a:p>
        </p:txBody>
      </p:sp>
      <p:sp>
        <p:nvSpPr>
          <p:cNvPr id="23" name="Rectangle 22"/>
          <p:cNvSpPr/>
          <p:nvPr/>
        </p:nvSpPr>
        <p:spPr>
          <a:xfrm>
            <a:off x="0" y="6711696"/>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MARKET LANDSCAPE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Has anyone done this? Yes — the market is real</a:t>
            </a:r>
          </a:p>
        </p:txBody>
      </p:sp>
      <p:sp>
        <p:nvSpPr>
          <p:cNvPr id="9" name="Rounded Rectangle 8"/>
          <p:cNvSpPr/>
          <p:nvPr/>
        </p:nvSpPr>
        <p:spPr>
          <a:xfrm>
            <a:off x="411480" y="1810512"/>
            <a:ext cx="11384280" cy="71323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10512"/>
            <a:ext cx="82296" cy="71323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83664"/>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1D6FB8"/>
                </a:solidFill>
                <a:latin typeface="Calibri"/>
              </a:rPr>
              <a:t>aPriori</a:t>
            </a:r>
          </a:p>
        </p:txBody>
      </p:sp>
      <p:sp>
        <p:nvSpPr>
          <p:cNvPr id="12" name="TextBox 11"/>
          <p:cNvSpPr txBox="1"/>
          <p:nvPr/>
        </p:nvSpPr>
        <p:spPr>
          <a:xfrm>
            <a:off x="685800" y="2212848"/>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86F7D"/>
                </a:solidFill>
                <a:latin typeface="Calibri"/>
              </a:rPr>
              <a:t>Established vendor (US)</a:t>
            </a:r>
          </a:p>
        </p:txBody>
      </p:sp>
      <p:sp>
        <p:nvSpPr>
          <p:cNvPr id="13" name="TextBox 12"/>
          <p:cNvSpPr txBox="1"/>
          <p:nvPr/>
        </p:nvSpPr>
        <p:spPr>
          <a:xfrm>
            <a:off x="3154680" y="1883664"/>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A4356"/>
                </a:solidFill>
                <a:latin typeface="Calibri"/>
              </a:rPr>
              <a:t>CAD-to-cost with process models and regional cost data. Sold to large OEMs and Tier-1 suppliers, per its website.</a:t>
            </a:r>
          </a:p>
        </p:txBody>
      </p:sp>
      <p:sp>
        <p:nvSpPr>
          <p:cNvPr id="14" name="TextBox 13"/>
          <p:cNvSpPr txBox="1"/>
          <p:nvPr/>
        </p:nvSpPr>
        <p:spPr>
          <a:xfrm>
            <a:off x="3154680" y="2313432"/>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86F7D"/>
                </a:solidFill>
                <a:latin typeface="Calibri"/>
              </a:rPr>
              <a:t>Source: apriori.com</a:t>
            </a:r>
          </a:p>
        </p:txBody>
      </p:sp>
      <p:sp>
        <p:nvSpPr>
          <p:cNvPr id="15" name="Rounded Rectangle 14"/>
          <p:cNvSpPr/>
          <p:nvPr/>
        </p:nvSpPr>
        <p:spPr>
          <a:xfrm>
            <a:off x="411480" y="2606040"/>
            <a:ext cx="11384280" cy="71323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606040"/>
            <a:ext cx="82296" cy="71323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679192"/>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1D6FB8"/>
                </a:solidFill>
                <a:latin typeface="Calibri"/>
              </a:rPr>
              <a:t>Siemens PCM</a:t>
            </a:r>
          </a:p>
        </p:txBody>
      </p:sp>
      <p:sp>
        <p:nvSpPr>
          <p:cNvPr id="18" name="TextBox 17"/>
          <p:cNvSpPr txBox="1"/>
          <p:nvPr/>
        </p:nvSpPr>
        <p:spPr>
          <a:xfrm>
            <a:off x="685800" y="3008376"/>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86F7D"/>
                </a:solidFill>
                <a:latin typeface="Calibri"/>
              </a:rPr>
              <a:t>Part of Teamcenter</a:t>
            </a:r>
          </a:p>
        </p:txBody>
      </p:sp>
      <p:sp>
        <p:nvSpPr>
          <p:cNvPr id="19" name="TextBox 18"/>
          <p:cNvSpPr txBox="1"/>
          <p:nvPr/>
        </p:nvSpPr>
        <p:spPr>
          <a:xfrm>
            <a:off x="3154680" y="2679192"/>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A4356"/>
                </a:solidFill>
                <a:latin typeface="Calibri"/>
              </a:rPr>
              <a:t>Bottom-up should-costing with process models, inside the Siemens PLM suite.</a:t>
            </a:r>
          </a:p>
        </p:txBody>
      </p:sp>
      <p:sp>
        <p:nvSpPr>
          <p:cNvPr id="20" name="TextBox 19"/>
          <p:cNvSpPr txBox="1"/>
          <p:nvPr/>
        </p:nvSpPr>
        <p:spPr>
          <a:xfrm>
            <a:off x="3154680" y="3108960"/>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86F7D"/>
                </a:solidFill>
                <a:latin typeface="Calibri"/>
              </a:rPr>
              <a:t>Source: siemens.com/teamcenter</a:t>
            </a:r>
          </a:p>
        </p:txBody>
      </p:sp>
      <p:sp>
        <p:nvSpPr>
          <p:cNvPr id="21" name="Rounded Rectangle 20"/>
          <p:cNvSpPr/>
          <p:nvPr/>
        </p:nvSpPr>
        <p:spPr>
          <a:xfrm>
            <a:off x="411480" y="3401568"/>
            <a:ext cx="11384280" cy="71323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401568"/>
            <a:ext cx="82296" cy="71323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474720"/>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B3FA0"/>
                </a:solidFill>
                <a:latin typeface="Calibri"/>
              </a:rPr>
              <a:t>Tset</a:t>
            </a:r>
          </a:p>
        </p:txBody>
      </p:sp>
      <p:sp>
        <p:nvSpPr>
          <p:cNvPr id="24" name="TextBox 23"/>
          <p:cNvSpPr txBox="1"/>
          <p:nvPr/>
        </p:nvSpPr>
        <p:spPr>
          <a:xfrm>
            <a:off x="685800" y="3803904"/>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86F7D"/>
                </a:solidFill>
                <a:latin typeface="Calibri"/>
              </a:rPr>
              <a:t>Automotive costing (Austria)</a:t>
            </a:r>
          </a:p>
        </p:txBody>
      </p:sp>
      <p:sp>
        <p:nvSpPr>
          <p:cNvPr id="25" name="TextBox 24"/>
          <p:cNvSpPr txBox="1"/>
          <p:nvPr/>
        </p:nvSpPr>
        <p:spPr>
          <a:xfrm>
            <a:off x="3154680" y="3474720"/>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A4356"/>
                </a:solidFill>
                <a:latin typeface="Calibri"/>
              </a:rPr>
              <a:t>Costing from 3D models and BOMs, with CO2. A June 2026 press release announced its purchase by A2MAC1.</a:t>
            </a:r>
          </a:p>
        </p:txBody>
      </p:sp>
      <p:sp>
        <p:nvSpPr>
          <p:cNvPr id="26" name="TextBox 25"/>
          <p:cNvSpPr txBox="1"/>
          <p:nvPr/>
        </p:nvSpPr>
        <p:spPr>
          <a:xfrm>
            <a:off x="3154680" y="3904488"/>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86F7D"/>
                </a:solidFill>
                <a:latin typeface="Calibri"/>
              </a:rPr>
              <a:t>Source: tset.com · globenewswire.com (18 Jun 2026)</a:t>
            </a:r>
          </a:p>
        </p:txBody>
      </p:sp>
      <p:sp>
        <p:nvSpPr>
          <p:cNvPr id="27" name="Rounded Rectangle 26"/>
          <p:cNvSpPr/>
          <p:nvPr/>
        </p:nvSpPr>
        <p:spPr>
          <a:xfrm>
            <a:off x="411480" y="4197096"/>
            <a:ext cx="11384280" cy="71323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97096"/>
            <a:ext cx="82296" cy="713232"/>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270248"/>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D7D71"/>
                </a:solidFill>
                <a:latin typeface="Calibri"/>
              </a:rPr>
              <a:t>Boothroyd DFMA</a:t>
            </a:r>
          </a:p>
        </p:txBody>
      </p:sp>
      <p:sp>
        <p:nvSpPr>
          <p:cNvPr id="30" name="TextBox 29"/>
          <p:cNvSpPr txBox="1"/>
          <p:nvPr/>
        </p:nvSpPr>
        <p:spPr>
          <a:xfrm>
            <a:off x="685800" y="4599432"/>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86F7D"/>
                </a:solidFill>
                <a:latin typeface="Calibri"/>
              </a:rPr>
              <a:t>The classic (Dewhurst)</a:t>
            </a:r>
          </a:p>
        </p:txBody>
      </p:sp>
      <p:sp>
        <p:nvSpPr>
          <p:cNvPr id="31" name="TextBox 30"/>
          <p:cNvSpPr txBox="1"/>
          <p:nvPr/>
        </p:nvSpPr>
        <p:spPr>
          <a:xfrm>
            <a:off x="3154680" y="4270248"/>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A4356"/>
                </a:solidFill>
                <a:latin typeface="Calibri"/>
              </a:rPr>
              <a:t>Design for manufacture and early costing. The method many textbooks use, in use for decades.</a:t>
            </a:r>
          </a:p>
        </p:txBody>
      </p:sp>
      <p:sp>
        <p:nvSpPr>
          <p:cNvPr id="32" name="TextBox 31"/>
          <p:cNvSpPr txBox="1"/>
          <p:nvPr/>
        </p:nvSpPr>
        <p:spPr>
          <a:xfrm>
            <a:off x="3154680" y="4700016"/>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86F7D"/>
                </a:solidFill>
                <a:latin typeface="Calibri"/>
              </a:rPr>
              <a:t>Source: dfma.com</a:t>
            </a:r>
          </a:p>
        </p:txBody>
      </p:sp>
      <p:sp>
        <p:nvSpPr>
          <p:cNvPr id="33" name="Rounded Rectangle 32"/>
          <p:cNvSpPr/>
          <p:nvPr/>
        </p:nvSpPr>
        <p:spPr>
          <a:xfrm>
            <a:off x="411480" y="4992624"/>
            <a:ext cx="11384280" cy="71323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1480" y="4992624"/>
            <a:ext cx="82296" cy="713232"/>
          </a:xfrm>
          <a:prstGeom prst="rect">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5065776"/>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86F7D"/>
                </a:solidFill>
                <a:latin typeface="Calibri"/>
              </a:rPr>
              <a:t>Newer entrants</a:t>
            </a:r>
          </a:p>
        </p:txBody>
      </p:sp>
      <p:sp>
        <p:nvSpPr>
          <p:cNvPr id="36" name="TextBox 35"/>
          <p:cNvSpPr txBox="1"/>
          <p:nvPr/>
        </p:nvSpPr>
        <p:spPr>
          <a:xfrm>
            <a:off x="685800" y="5394960"/>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86F7D"/>
                </a:solidFill>
                <a:latin typeface="Calibri"/>
              </a:rPr>
              <a:t>Start-ups</a:t>
            </a:r>
          </a:p>
        </p:txBody>
      </p:sp>
      <p:sp>
        <p:nvSpPr>
          <p:cNvPr id="37" name="TextBox 36"/>
          <p:cNvSpPr txBox="1"/>
          <p:nvPr/>
        </p:nvSpPr>
        <p:spPr>
          <a:xfrm>
            <a:off x="3154680" y="5065776"/>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A4356"/>
                </a:solidFill>
                <a:latin typeface="Calibri"/>
              </a:rPr>
              <a:t>Several start-ups, such as Emithran, offer quotes from CAD files.</a:t>
            </a:r>
          </a:p>
        </p:txBody>
      </p:sp>
      <p:sp>
        <p:nvSpPr>
          <p:cNvPr id="38" name="TextBox 37"/>
          <p:cNvSpPr txBox="1"/>
          <p:nvPr/>
        </p:nvSpPr>
        <p:spPr>
          <a:xfrm>
            <a:off x="3154680" y="5495544"/>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86F7D"/>
                </a:solidFill>
                <a:latin typeface="Calibri"/>
              </a:rPr>
              <a:t>Source: emithran.com</a:t>
            </a:r>
          </a:p>
        </p:txBody>
      </p:sp>
      <p:sp>
        <p:nvSpPr>
          <p:cNvPr id="39" name="Rounded Rectangle 38"/>
          <p:cNvSpPr/>
          <p:nvPr/>
        </p:nvSpPr>
        <p:spPr>
          <a:xfrm>
            <a:off x="411480" y="5897880"/>
            <a:ext cx="11384280" cy="685800"/>
          </a:xfrm>
          <a:prstGeom prst="roundRect">
            <a:avLst>
              <a:gd name="adj" fmla="val 1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 y="6016752"/>
            <a:ext cx="10881360" cy="502920"/>
          </a:xfrm>
          <a:prstGeom prst="rect">
            <a:avLst/>
          </a:prstGeom>
          <a:noFill/>
        </p:spPr>
        <p:txBody>
          <a:bodyPr wrap="square" anchor="t" lIns="0" rIns="0" tIns="0" bIns="0">
            <a:spAutoFit/>
          </a:bodyPr>
          <a:lstStyle/>
          <a:p>
            <a:pPr algn="l">
              <a:lnSpc>
                <a:spcPct val="112000"/>
              </a:lnSpc>
              <a:spcAft>
                <a:spcPts val="400"/>
              </a:spcAft>
            </a:pPr>
            <a:r>
              <a:rPr sz="1200" b="1" i="0">
                <a:solidFill>
                  <a:srgbClr val="1D6FB8"/>
                </a:solidFill>
                <a:latin typeface="Calibri"/>
              </a:rPr>
              <a:t>Takeaway: </a:t>
            </a:r>
            <a:r>
              <a:rPr sz="1200" b="0" i="0">
                <a:solidFill>
                  <a:srgbClr val="3A4356"/>
                </a:solidFill>
                <a:latin typeface="Calibri"/>
              </a:rPr>
              <a:t>should-cost software is an established category. The real question is why ours fits us: it runs in-house, it learns from our own prices, and it can sit behind CAPEE (next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DIFFERENTIATION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Why ours — what no vendor offers today</a:t>
            </a:r>
          </a:p>
        </p:txBody>
      </p:sp>
      <p:sp>
        <p:nvSpPr>
          <p:cNvPr id="9" name="Rounded Rectangle 8"/>
          <p:cNvSpPr/>
          <p:nvPr/>
        </p:nvSpPr>
        <p:spPr>
          <a:xfrm>
            <a:off x="411480" y="1828800"/>
            <a:ext cx="5577840" cy="1325880"/>
          </a:xfrm>
          <a:prstGeom prst="roundRect">
            <a:avLst>
              <a:gd name="adj" fmla="val 9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82296" cy="13258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2A7F50"/>
                </a:solidFill>
                <a:latin typeface="Calibri"/>
              </a:rPr>
              <a:t>Runs on a locked-down laptop</a:t>
            </a:r>
          </a:p>
        </p:txBody>
      </p:sp>
      <p:sp>
        <p:nvSpPr>
          <p:cNvPr id="12" name="TextBox 11"/>
          <p:cNvSpPr txBox="1"/>
          <p:nvPr/>
        </p:nvSpPr>
        <p:spPr>
          <a:xfrm>
            <a:off x="66751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A4356"/>
                </a:solidFill>
                <a:latin typeface="Calibri"/>
              </a:rPr>
              <a:t>A folder you copy and double-click. No installer, no admin rights, no internet, no AI. CAD never leaves the machine.</a:t>
            </a:r>
          </a:p>
        </p:txBody>
      </p:sp>
      <p:sp>
        <p:nvSpPr>
          <p:cNvPr id="13" name="Rounded Rectangle 12"/>
          <p:cNvSpPr/>
          <p:nvPr/>
        </p:nvSpPr>
        <p:spPr>
          <a:xfrm>
            <a:off x="6217920" y="1828800"/>
            <a:ext cx="5577840" cy="1325880"/>
          </a:xfrm>
          <a:prstGeom prst="roundRect">
            <a:avLst>
              <a:gd name="adj" fmla="val 9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28800"/>
            <a:ext cx="82296" cy="13258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2A7F50"/>
                </a:solidFill>
                <a:latin typeface="Calibri"/>
              </a:rPr>
              <a:t>Learns from our own prices</a:t>
            </a:r>
          </a:p>
        </p:txBody>
      </p:sp>
      <p:sp>
        <p:nvSpPr>
          <p:cNvPr id="16" name="TextBox 15"/>
          <p:cNvSpPr txBox="1"/>
          <p:nvPr/>
        </p:nvSpPr>
        <p:spPr>
          <a:xfrm>
            <a:off x="647395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A4356"/>
                </a:solidFill>
                <a:latin typeface="Calibri"/>
              </a:rPr>
              <a:t>Log a quote or PO price. After 3 actuals for a commodity, the band is corrected by our own data.</a:t>
            </a:r>
          </a:p>
        </p:txBody>
      </p:sp>
      <p:sp>
        <p:nvSpPr>
          <p:cNvPr id="17" name="Rounded Rectangle 16"/>
          <p:cNvSpPr/>
          <p:nvPr/>
        </p:nvSpPr>
        <p:spPr>
          <a:xfrm>
            <a:off x="411480" y="3310128"/>
            <a:ext cx="5577840" cy="1325880"/>
          </a:xfrm>
          <a:prstGeom prst="roundRect">
            <a:avLst>
              <a:gd name="adj" fmla="val 9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10128"/>
            <a:ext cx="82296" cy="13258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2A7F50"/>
                </a:solidFill>
                <a:latin typeface="Calibri"/>
              </a:rPr>
              <a:t>Every number traces to a rate</a:t>
            </a:r>
          </a:p>
        </p:txBody>
      </p:sp>
      <p:sp>
        <p:nvSpPr>
          <p:cNvPr id="20" name="TextBox 19"/>
          <p:cNvSpPr txBox="1"/>
          <p:nvPr/>
        </p:nvSpPr>
        <p:spPr>
          <a:xfrm>
            <a:off x="66751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A4356"/>
                </a:solidFill>
                <a:latin typeface="Calibri"/>
              </a:rPr>
              <a:t>Plain arithmetic on our rate library. Excel export has a traceability sheet and matches the screen to the penny.</a:t>
            </a:r>
          </a:p>
        </p:txBody>
      </p:sp>
      <p:sp>
        <p:nvSpPr>
          <p:cNvPr id="21" name="Rounded Rectangle 20"/>
          <p:cNvSpPr/>
          <p:nvPr/>
        </p:nvSpPr>
        <p:spPr>
          <a:xfrm>
            <a:off x="6217920" y="3310128"/>
            <a:ext cx="5577840" cy="1325880"/>
          </a:xfrm>
          <a:prstGeom prst="roundRect">
            <a:avLst>
              <a:gd name="adj" fmla="val 9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10128"/>
            <a:ext cx="82296" cy="13258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2A7F50"/>
                </a:solidFill>
                <a:latin typeface="Calibri"/>
              </a:rPr>
              <a:t>One tool, no module licences</a:t>
            </a:r>
          </a:p>
        </p:txBody>
      </p:sp>
      <p:sp>
        <p:nvSpPr>
          <p:cNvPr id="24" name="TextBox 23"/>
          <p:cNvSpPr txBox="1"/>
          <p:nvPr/>
        </p:nvSpPr>
        <p:spPr>
          <a:xfrm>
            <a:off x="647395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A4356"/>
                </a:solidFill>
                <a:latin typeface="Calibri"/>
              </a:rPr>
              <a:t>19 manufacturing processes, 20 regions, plus an assembly roll-up and a software cost model, in one product.</a:t>
            </a:r>
          </a:p>
        </p:txBody>
      </p:sp>
      <p:sp>
        <p:nvSpPr>
          <p:cNvPr id="25" name="Rounded Rectangle 24"/>
          <p:cNvSpPr/>
          <p:nvPr/>
        </p:nvSpPr>
        <p:spPr>
          <a:xfrm>
            <a:off x="411480" y="4937760"/>
            <a:ext cx="11384280" cy="914400"/>
          </a:xfrm>
          <a:prstGeom prst="roundRect">
            <a:avLst>
              <a:gd name="adj" fmla="val 8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56632"/>
            <a:ext cx="10881360" cy="731520"/>
          </a:xfrm>
          <a:prstGeom prst="rect">
            <a:avLst/>
          </a:prstGeom>
          <a:noFill/>
        </p:spPr>
        <p:txBody>
          <a:bodyPr wrap="square" anchor="t" lIns="0" rIns="0" tIns="0" bIns="0">
            <a:spAutoFit/>
          </a:bodyPr>
          <a:lstStyle/>
          <a:p>
            <a:pPr algn="l">
              <a:lnSpc>
                <a:spcPct val="115000"/>
              </a:lnSpc>
              <a:spcAft>
                <a:spcPts val="400"/>
              </a:spcAft>
            </a:pPr>
            <a:r>
              <a:rPr sz="1200" b="1" i="0">
                <a:solidFill>
                  <a:srgbClr val="99651A"/>
                </a:solidFill>
                <a:latin typeface="Calibri"/>
              </a:rPr>
              <a:t>Honest caveat: </a:t>
            </a:r>
            <a:r>
              <a:rPr sz="1150" b="0" i="0">
                <a:solidFill>
                  <a:srgbClr val="3A4356"/>
                </a:solidFill>
                <a:latin typeface="Calibri"/>
              </a:rPr>
              <a:t>established vendors have years of curated cost data. We have not yet compared our estimates with prices JLR paid. Our answer is to log actuals, so our own history builds up over time.</a:t>
            </a:r>
          </a:p>
        </p:txBody>
      </p:sp>
      <p:sp>
        <p:nvSpPr>
          <p:cNvPr id="27" name="TextBox 26"/>
          <p:cNvSpPr txBox="1"/>
          <p:nvPr/>
        </p:nvSpPr>
        <p:spPr>
          <a:xfrm>
            <a:off x="411480" y="5989320"/>
            <a:ext cx="1133856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16325C"/>
                </a:solidFill>
                <a:latin typeface="Calibri"/>
              </a:rPr>
              <a:t>Positioning: not "better than aPriori" — a secure, in-house engine behind CAPEE that learns from our own prices.</a:t>
            </a:r>
          </a:p>
        </p:txBody>
      </p:sp>
      <p:sp>
        <p:nvSpPr>
          <p:cNvPr id="28" name="TextBox 27"/>
          <p:cNvSpPr txBox="1"/>
          <p:nvPr/>
        </p:nvSpPr>
        <p:spPr>
          <a:xfrm>
            <a:off x="411480" y="6355080"/>
            <a:ext cx="11338560" cy="228600"/>
          </a:xfrm>
          <a:prstGeom prst="rect">
            <a:avLst/>
          </a:prstGeom>
          <a:noFill/>
        </p:spPr>
        <p:txBody>
          <a:bodyPr wrap="square" anchor="t" lIns="0" rIns="0" tIns="0" bIns="0">
            <a:spAutoFit/>
          </a:bodyPr>
          <a:lstStyle/>
          <a:p>
            <a:pPr algn="l">
              <a:lnSpc>
                <a:spcPct val="100000"/>
              </a:lnSpc>
              <a:spcAft>
                <a:spcPts val="400"/>
              </a:spcAft>
            </a:pPr>
            <a:r>
              <a:rPr sz="850" b="0" i="1">
                <a:solidFill>
                  <a:srgbClr val="686F7D"/>
                </a:solidFill>
                <a:latin typeface="Calibri"/>
              </a:rPr>
              <a:t>Vendor sources: apriori.com · siemens.com/teamcenter · tset.com · globenewswire.com (A2MAC1-Tset, 18 Jun 2026) · dfma.com · emithran.com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COMPANY COST DATABASE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Our rates, not vendor rates — already built</a:t>
            </a:r>
          </a:p>
        </p:txBody>
      </p:sp>
      <p:pic>
        <p:nvPicPr>
          <p:cNvPr id="9" name="Picture 8" descr="rate-library-upload-proof.png"/>
          <p:cNvPicPr>
            <a:picLocks noChangeAspect="1"/>
          </p:cNvPicPr>
          <p:nvPr/>
        </p:nvPicPr>
        <p:blipFill>
          <a:blip r:embed="rId2"/>
          <a:stretch>
            <a:fillRect/>
          </a:stretch>
        </p:blipFill>
        <p:spPr>
          <a:xfrm>
            <a:off x="411480" y="1828800"/>
            <a:ext cx="6309360" cy="4234893"/>
          </a:xfrm>
          <a:prstGeom prst="rect">
            <a:avLst/>
          </a:prstGeom>
          <a:ln w="12700">
            <a:solidFill>
              <a:srgbClr val="DCE3EE"/>
            </a:solidFill>
          </a:ln>
        </p:spPr>
      </p:pic>
      <p:sp>
        <p:nvSpPr>
          <p:cNvPr id="10" name="TextBox 9"/>
          <p:cNvSpPr txBox="1"/>
          <p:nvPr/>
        </p:nvSpPr>
        <p:spPr>
          <a:xfrm>
            <a:off x="411480" y="6144768"/>
            <a:ext cx="6309360" cy="457200"/>
          </a:xfrm>
          <a:prstGeom prst="rect">
            <a:avLst/>
          </a:prstGeom>
          <a:noFill/>
        </p:spPr>
        <p:txBody>
          <a:bodyPr wrap="square" anchor="t" lIns="0" rIns="0" tIns="0" bIns="0">
            <a:spAutoFit/>
          </a:bodyPr>
          <a:lstStyle/>
          <a:p>
            <a:pPr algn="l">
              <a:lnSpc>
                <a:spcPct val="110000"/>
              </a:lnSpc>
              <a:spcAft>
                <a:spcPts val="400"/>
              </a:spcAft>
            </a:pPr>
            <a:r>
              <a:rPr sz="950" b="0" i="1">
                <a:solidFill>
                  <a:srgbClr val="686F7D"/>
                </a:solidFill>
                <a:latin typeface="Calibri"/>
              </a:rPr>
              <a:t>Screenshot (July 2026): the Rate Library screen after a company workbook upload. The badge reads "Company rates active".</a:t>
            </a:r>
          </a:p>
        </p:txBody>
      </p:sp>
      <p:sp>
        <p:nvSpPr>
          <p:cNvPr id="11" name="TextBox 10"/>
          <p:cNvSpPr txBox="1"/>
          <p:nvPr/>
        </p:nvSpPr>
        <p:spPr>
          <a:xfrm>
            <a:off x="6949440" y="1828800"/>
            <a:ext cx="4846320" cy="2194560"/>
          </a:xfrm>
          <a:prstGeom prst="rect">
            <a:avLst/>
          </a:prstGeom>
          <a:noFill/>
        </p:spPr>
        <p:txBody>
          <a:bodyPr wrap="square" anchor="t" lIns="0" rIns="0" tIns="0" bIns="0">
            <a:spAutoFit/>
          </a:bodyPr>
          <a:lstStyle/>
          <a:p>
            <a:pPr algn="l">
              <a:lnSpc>
                <a:spcPct val="115000"/>
              </a:lnSpc>
              <a:spcAft>
                <a:spcPts val="700"/>
              </a:spcAft>
            </a:pPr>
            <a:r>
              <a:rPr sz="1400" b="1" i="0">
                <a:solidFill>
                  <a:srgbClr val="1D6FB8"/>
                </a:solidFill>
                <a:latin typeface="Calibri"/>
              </a:rPr>
              <a:t>How admins load company data</a:t>
            </a:r>
          </a:p>
          <a:p>
            <a:pPr algn="l">
              <a:lnSpc>
                <a:spcPct val="115000"/>
              </a:lnSpc>
              <a:spcAft>
                <a:spcPts val="700"/>
              </a:spcAft>
            </a:pPr>
            <a:r>
              <a:rPr sz="1150" b="0" i="0">
                <a:solidFill>
                  <a:srgbClr val="3A4356"/>
                </a:solidFill>
                <a:latin typeface="Calibri"/>
              </a:rPr>
              <a:t>1.  Download the Excel template: materials, machines, labour, energy, FX, overhead.</a:t>
            </a:r>
          </a:p>
          <a:p>
            <a:pPr algn="l">
              <a:lnSpc>
                <a:spcPct val="115000"/>
              </a:lnSpc>
              <a:spcAft>
                <a:spcPts val="700"/>
              </a:spcAft>
            </a:pPr>
            <a:r>
              <a:rPr sz="1150" b="0" i="0">
                <a:solidFill>
                  <a:srgbClr val="3A4356"/>
                </a:solidFill>
                <a:latin typeface="Calibri"/>
              </a:rPr>
              <a:t>2.  Fill in our rates and upload. Every row is checked, then the file becomes the active library.</a:t>
            </a:r>
          </a:p>
          <a:p>
            <a:pPr algn="l">
              <a:lnSpc>
                <a:spcPct val="115000"/>
              </a:lnSpc>
              <a:spcAft>
                <a:spcPts val="700"/>
              </a:spcAft>
            </a:pPr>
            <a:r>
              <a:rPr sz="1150" b="0" i="0">
                <a:solidFill>
                  <a:srgbClr val="3A4356"/>
                </a:solidFill>
                <a:latin typeface="Calibri"/>
              </a:rPr>
              <a:t>3.  Change any single rate on screen. Each change is logged against the user.</a:t>
            </a:r>
          </a:p>
        </p:txBody>
      </p:sp>
      <p:sp>
        <p:nvSpPr>
          <p:cNvPr id="12" name="Rounded Rectangle 11"/>
          <p:cNvSpPr/>
          <p:nvPr/>
        </p:nvSpPr>
        <p:spPr>
          <a:xfrm>
            <a:off x="6949440" y="3977639"/>
            <a:ext cx="4846320" cy="1051560"/>
          </a:xfrm>
          <a:prstGeom prst="roundRect">
            <a:avLst>
              <a:gd name="adj" fmla="val 10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78040" y="4114800"/>
            <a:ext cx="4434840" cy="822960"/>
          </a:xfrm>
          <a:prstGeom prst="rect">
            <a:avLst/>
          </a:prstGeom>
          <a:noFill/>
        </p:spPr>
        <p:txBody>
          <a:bodyPr wrap="square" anchor="t" lIns="0" rIns="0" tIns="0" bIns="0">
            <a:spAutoFit/>
          </a:bodyPr>
          <a:lstStyle/>
          <a:p>
            <a:pPr algn="l">
              <a:lnSpc>
                <a:spcPct val="115000"/>
              </a:lnSpc>
              <a:spcAft>
                <a:spcPts val="400"/>
              </a:spcAft>
            </a:pPr>
            <a:r>
              <a:rPr sz="1150" b="1" i="0">
                <a:solidFill>
                  <a:srgbClr val="2A7F50"/>
                </a:solidFill>
                <a:latin typeface="Calibri"/>
              </a:rPr>
              <a:t>Built-in library:  </a:t>
            </a:r>
            <a:r>
              <a:rPr sz="1100" b="0" i="0">
                <a:solidFill>
                  <a:srgbClr val="3A4356"/>
                </a:solidFill>
                <a:latin typeface="Calibri"/>
              </a:rPr>
              <a:t>version 2.1.0, dated 16 June 2026 — 328 materials, 178 machines, 42 labour grades. Editable and versioned.</a:t>
            </a:r>
          </a:p>
        </p:txBody>
      </p:sp>
      <p:sp>
        <p:nvSpPr>
          <p:cNvPr id="14" name="TextBox 13"/>
          <p:cNvSpPr txBox="1"/>
          <p:nvPr/>
        </p:nvSpPr>
        <p:spPr>
          <a:xfrm>
            <a:off x="6949440" y="5212080"/>
            <a:ext cx="4846320" cy="1280160"/>
          </a:xfrm>
          <a:prstGeom prst="rect">
            <a:avLst/>
          </a:prstGeom>
          <a:noFill/>
        </p:spPr>
        <p:txBody>
          <a:bodyPr wrap="square" anchor="t" lIns="0" rIns="0" tIns="0" bIns="0">
            <a:spAutoFit/>
          </a:bodyPr>
          <a:lstStyle/>
          <a:p>
            <a:pPr algn="l">
              <a:lnSpc>
                <a:spcPct val="112000"/>
              </a:lnSpc>
              <a:spcAft>
                <a:spcPts val="300"/>
              </a:spcAft>
            </a:pPr>
            <a:r>
              <a:rPr sz="1200" b="1" i="0">
                <a:solidFill>
                  <a:srgbClr val="16325C"/>
                </a:solidFill>
                <a:latin typeface="Calibri"/>
              </a:rPr>
              <a:t>Also built in:</a:t>
            </a:r>
          </a:p>
          <a:p>
            <a:pPr algn="l">
              <a:lnSpc>
                <a:spcPct val="112000"/>
              </a:lnSpc>
              <a:spcAft>
                <a:spcPts val="300"/>
              </a:spcAft>
            </a:pPr>
            <a:r>
              <a:rPr sz="1100" b="0" i="0">
                <a:solidFill>
                  <a:srgbClr val="3A4356"/>
                </a:solidFill>
                <a:latin typeface="Calibri"/>
              </a:rPr>
              <a:t>• 20 regions, 8 labour categories each</a:t>
            </a:r>
          </a:p>
          <a:p>
            <a:pPr algn="l">
              <a:lnSpc>
                <a:spcPct val="112000"/>
              </a:lnSpc>
              <a:spcAft>
                <a:spcPts val="300"/>
              </a:spcAft>
            </a:pPr>
            <a:r>
              <a:rPr sz="1100" b="0" i="0">
                <a:solidFill>
                  <a:srgbClr val="3A4356"/>
                </a:solidFill>
                <a:latin typeface="Calibri"/>
              </a:rPr>
              <a:t>• JLR Rate Converter workbook, no macros</a:t>
            </a:r>
          </a:p>
          <a:p>
            <a:pPr algn="l">
              <a:lnSpc>
                <a:spcPct val="112000"/>
              </a:lnSpc>
              <a:spcAft>
                <a:spcPts val="300"/>
              </a:spcAft>
            </a:pPr>
            <a:r>
              <a:rPr sz="1100" b="0" i="0">
                <a:solidFill>
                  <a:srgbClr val="3A4356"/>
                </a:solidFill>
                <a:latin typeface="Calibri"/>
              </a:rPr>
              <a:t>• PCB country cost table, admin-editable</a:t>
            </a:r>
          </a:p>
          <a:p>
            <a:pPr algn="l">
              <a:lnSpc>
                <a:spcPct val="112000"/>
              </a:lnSpc>
              <a:spcAft>
                <a:spcPts val="300"/>
              </a:spcAft>
            </a:pPr>
            <a:r>
              <a:rPr sz="1100" b="0" i="0">
                <a:solidFill>
                  <a:srgbClr val="3A4356"/>
                </a:solidFill>
                <a:latin typeface="Calibri"/>
              </a:rPr>
              <a:t>• Switch back to built-in rates at any time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BUSINESS CASE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it costs, and what it could return</a:t>
            </a:r>
          </a:p>
        </p:txBody>
      </p:sp>
      <p:sp>
        <p:nvSpPr>
          <p:cNvPr id="9" name="Rounded Rectangle 8"/>
          <p:cNvSpPr/>
          <p:nvPr/>
        </p:nvSpPr>
        <p:spPr>
          <a:xfrm>
            <a:off x="411480" y="1828800"/>
            <a:ext cx="5486400" cy="3200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993392"/>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What it costs</a:t>
            </a:r>
          </a:p>
        </p:txBody>
      </p:sp>
      <p:sp>
        <p:nvSpPr>
          <p:cNvPr id="11" name="TextBox 10"/>
          <p:cNvSpPr txBox="1"/>
          <p:nvPr/>
        </p:nvSpPr>
        <p:spPr>
          <a:xfrm>
            <a:off x="685800" y="2432304"/>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6325C"/>
                </a:solidFill>
                <a:latin typeface="Calibri"/>
              </a:rPr>
              <a:t>Engineering — </a:t>
            </a:r>
            <a:r>
              <a:rPr sz="1100" b="0" i="0">
                <a:solidFill>
                  <a:srgbClr val="3A4356"/>
                </a:solidFill>
                <a:latin typeface="Calibri"/>
              </a:rPr>
              <a:t>our estimate: 3–5 weeks on CostVision, plus small CAPEE changes, existing teams</a:t>
            </a:r>
          </a:p>
        </p:txBody>
      </p:sp>
      <p:sp>
        <p:nvSpPr>
          <p:cNvPr id="12" name="TextBox 11"/>
          <p:cNvSpPr txBox="1"/>
          <p:nvPr/>
        </p:nvSpPr>
        <p:spPr>
          <a:xfrm>
            <a:off x="685800" y="3090672"/>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6325C"/>
                </a:solidFill>
                <a:latin typeface="Calibri"/>
              </a:rPr>
              <a:t>Infrastructure — </a:t>
            </a:r>
            <a:r>
              <a:rPr sz="1100" b="0" i="0">
                <a:solidFill>
                  <a:srgbClr val="3A4356"/>
                </a:solidFill>
                <a:latin typeface="Calibri"/>
              </a:rPr>
              <a:t>laptop package today; for a server, one VM and the corporate database</a:t>
            </a:r>
          </a:p>
        </p:txBody>
      </p:sp>
      <p:sp>
        <p:nvSpPr>
          <p:cNvPr id="13" name="TextBox 12"/>
          <p:cNvSpPr txBox="1"/>
          <p:nvPr/>
        </p:nvSpPr>
        <p:spPr>
          <a:xfrm>
            <a:off x="685800" y="3749039"/>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6325C"/>
                </a:solidFill>
                <a:latin typeface="Calibri"/>
              </a:rPr>
              <a:t>AI usage — </a:t>
            </a:r>
            <a:r>
              <a:rPr sz="1100" b="0" i="0">
                <a:solidFill>
                  <a:srgbClr val="3A4356"/>
                </a:solidFill>
                <a:latin typeface="Calibri"/>
              </a:rPr>
              <a:t>£0 today — AI is off at JLR. Only a cost if AI is ever approved</a:t>
            </a:r>
          </a:p>
        </p:txBody>
      </p:sp>
      <p:sp>
        <p:nvSpPr>
          <p:cNvPr id="14" name="TextBox 13"/>
          <p:cNvSpPr txBox="1"/>
          <p:nvPr/>
        </p:nvSpPr>
        <p:spPr>
          <a:xfrm>
            <a:off x="685800" y="4407408"/>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6325C"/>
                </a:solidFill>
                <a:latin typeface="Calibri"/>
              </a:rPr>
              <a:t>Licence spend — </a:t>
            </a:r>
            <a:r>
              <a:rPr sz="1100" b="0" i="0">
                <a:solidFill>
                  <a:srgbClr val="3A4356"/>
                </a:solidFill>
                <a:latin typeface="Calibri"/>
              </a:rPr>
              <a:t>£0 — built in-house, nothing to buy or renew</a:t>
            </a:r>
          </a:p>
        </p:txBody>
      </p:sp>
      <p:sp>
        <p:nvSpPr>
          <p:cNvPr id="15" name="Rounded Rectangle 14"/>
          <p:cNvSpPr/>
          <p:nvPr/>
        </p:nvSpPr>
        <p:spPr>
          <a:xfrm>
            <a:off x="6263640" y="1828800"/>
            <a:ext cx="5532120" cy="3200400"/>
          </a:xfrm>
          <a:prstGeom prst="roundRect">
            <a:avLst>
              <a:gd name="adj" fmla="val 5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1993392"/>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A7F50"/>
                </a:solidFill>
                <a:latin typeface="Calibri"/>
              </a:rPr>
              <a:t>What it could return</a:t>
            </a:r>
          </a:p>
        </p:txBody>
      </p:sp>
      <p:sp>
        <p:nvSpPr>
          <p:cNvPr id="17" name="TextBox 16"/>
          <p:cNvSpPr txBox="1"/>
          <p:nvPr/>
        </p:nvSpPr>
        <p:spPr>
          <a:xfrm>
            <a:off x="6537960" y="2432304"/>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A7F50"/>
                </a:solidFill>
                <a:latin typeface="Calibri"/>
              </a:rPr>
              <a:t>Quote checks — </a:t>
            </a:r>
            <a:r>
              <a:rPr sz="1100" b="0" i="0">
                <a:solidFill>
                  <a:srgbClr val="3A4356"/>
                </a:solidFill>
                <a:latin typeface="Calibri"/>
              </a:rPr>
              <a:t>a supplier quote set against the should-cost, bucket by bucket</a:t>
            </a:r>
          </a:p>
        </p:txBody>
      </p:sp>
      <p:sp>
        <p:nvSpPr>
          <p:cNvPr id="18" name="TextBox 17"/>
          <p:cNvSpPr txBox="1"/>
          <p:nvPr/>
        </p:nvSpPr>
        <p:spPr>
          <a:xfrm>
            <a:off x="6537960" y="3090672"/>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A7F50"/>
                </a:solidFill>
                <a:latin typeface="Calibri"/>
              </a:rPr>
              <a:t>Licence avoided — </a:t>
            </a:r>
            <a:r>
              <a:rPr sz="1100" b="0" i="0">
                <a:solidFill>
                  <a:srgbClr val="3A4356"/>
                </a:solidFill>
                <a:latin typeface="Calibri"/>
              </a:rPr>
              <a:t>no annual fee for a commercial should-cost suite</a:t>
            </a:r>
          </a:p>
        </p:txBody>
      </p:sp>
      <p:sp>
        <p:nvSpPr>
          <p:cNvPr id="19" name="TextBox 18"/>
          <p:cNvSpPr txBox="1"/>
          <p:nvPr/>
        </p:nvSpPr>
        <p:spPr>
          <a:xfrm>
            <a:off x="6537960" y="3749039"/>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A7F50"/>
                </a:solidFill>
                <a:latin typeface="Calibri"/>
              </a:rPr>
              <a:t>Consistency — </a:t>
            </a:r>
            <a:r>
              <a:rPr sz="1100" b="0" i="0">
                <a:solidFill>
                  <a:srgbClr val="3A4356"/>
                </a:solidFill>
                <a:latin typeface="Calibri"/>
              </a:rPr>
              <a:t>the same rates and rules for every engineer, every part</a:t>
            </a:r>
          </a:p>
        </p:txBody>
      </p:sp>
      <p:sp>
        <p:nvSpPr>
          <p:cNvPr id="20" name="TextBox 19"/>
          <p:cNvSpPr txBox="1"/>
          <p:nvPr/>
        </p:nvSpPr>
        <p:spPr>
          <a:xfrm>
            <a:off x="6537960" y="4407408"/>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A7F50"/>
                </a:solidFill>
                <a:latin typeface="Calibri"/>
              </a:rPr>
              <a:t>Leverage — </a:t>
            </a:r>
            <a:r>
              <a:rPr sz="1100" b="0" i="0">
                <a:solidFill>
                  <a:srgbClr val="3A4356"/>
                </a:solidFill>
                <a:latin typeface="Calibri"/>
              </a:rPr>
              <a:t>bottom-up numbers on our own rates, traceable line by line</a:t>
            </a:r>
          </a:p>
        </p:txBody>
      </p:sp>
      <p:sp>
        <p:nvSpPr>
          <p:cNvPr id="21" name="Rounded Rectangle 20"/>
          <p:cNvSpPr/>
          <p:nvPr/>
        </p:nvSpPr>
        <p:spPr>
          <a:xfrm>
            <a:off x="411480" y="5193792"/>
            <a:ext cx="11384280" cy="566928"/>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193792"/>
            <a:ext cx="82296" cy="566928"/>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330952"/>
            <a:ext cx="10881360" cy="365760"/>
          </a:xfrm>
          <a:prstGeom prst="rect">
            <a:avLst/>
          </a:prstGeom>
          <a:noFill/>
        </p:spPr>
        <p:txBody>
          <a:bodyPr wrap="square" anchor="t" lIns="0" rIns="0" tIns="0" bIns="0">
            <a:spAutoFit/>
          </a:bodyPr>
          <a:lstStyle/>
          <a:p>
            <a:pPr algn="l">
              <a:lnSpc>
                <a:spcPct val="100000"/>
              </a:lnSpc>
              <a:spcAft>
                <a:spcPts val="400"/>
              </a:spcAft>
            </a:pPr>
            <a:r>
              <a:rPr sz="1350" b="1" i="0">
                <a:solidFill>
                  <a:srgbClr val="2A7F50"/>
                </a:solidFill>
                <a:latin typeface="Calibri"/>
              </a:rPr>
              <a:t>OUR IP:  </a:t>
            </a:r>
            <a:r>
              <a:rPr sz="1350" b="1" i="0">
                <a:solidFill>
                  <a:srgbClr val="16325C"/>
                </a:solidFill>
                <a:latin typeface="Calibri"/>
              </a:rPr>
              <a:t>built in-house — the code and the rate library are ours. No vendor owns any part of it.</a:t>
            </a:r>
          </a:p>
        </p:txBody>
      </p:sp>
      <p:sp>
        <p:nvSpPr>
          <p:cNvPr id="24" name="Rounded Rectangle 23"/>
          <p:cNvSpPr/>
          <p:nvPr/>
        </p:nvSpPr>
        <p:spPr>
          <a:xfrm>
            <a:off x="411480" y="5888736"/>
            <a:ext cx="11384280" cy="777240"/>
          </a:xfrm>
          <a:prstGeom prst="roundRect">
            <a:avLst>
              <a:gd name="adj" fmla="val 8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989320"/>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99651A"/>
                </a:solidFill>
                <a:latin typeface="Calibri"/>
              </a:rPr>
              <a:t>Honest numbers: </a:t>
            </a:r>
            <a:r>
              <a:rPr sz="1150" b="0" i="0">
                <a:solidFill>
                  <a:srgbClr val="3A4356"/>
                </a:solidFill>
                <a:latin typeface="Calibri"/>
              </a:rPr>
              <a:t>we are not claiming a savings figure yet. No estimate has been compared with a price JLR paid. The pilot measures that first, then we build the business case on real results.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EVIDENCE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Does it work? What is proven, and what is not</a:t>
            </a:r>
          </a:p>
        </p:txBody>
      </p:sp>
      <p:graphicFrame>
        <p:nvGraphicFramePr>
          <p:cNvPr id="9" name="Chart 8"/>
          <p:cNvGraphicFramePr>
            <a:graphicFrameLocks noGrp="1"/>
          </p:cNvGraphicFramePr>
          <p:nvPr/>
        </p:nvGraphicFramePr>
        <p:xfrm>
          <a:off x="411480" y="1828800"/>
          <a:ext cx="6675120" cy="4023360"/>
        </p:xfrm>
        <a:graphic>
          <a:graphicData uri="http://schemas.openxmlformats.org/drawingml/2006/chart">
            <c:chart xmlns:c="http://schemas.openxmlformats.org/drawingml/2006/chart" r:id="rId2"/>
          </a:graphicData>
        </a:graphic>
      </p:graphicFrame>
      <p:sp>
        <p:nvSpPr>
          <p:cNvPr id="10" name="TextBox 9"/>
          <p:cNvSpPr txBox="1"/>
          <p:nvPr/>
        </p:nvSpPr>
        <p:spPr>
          <a:xfrm>
            <a:off x="411480" y="5943600"/>
            <a:ext cx="6675120" cy="548640"/>
          </a:xfrm>
          <a:prstGeom prst="rect">
            <a:avLst/>
          </a:prstGeom>
          <a:noFill/>
        </p:spPr>
        <p:txBody>
          <a:bodyPr wrap="square" anchor="t" lIns="0" rIns="0" tIns="0" bIns="0">
            <a:spAutoFit/>
          </a:bodyPr>
          <a:lstStyle/>
          <a:p>
            <a:pPr algn="l">
              <a:lnSpc>
                <a:spcPct val="110000"/>
              </a:lnSpc>
              <a:spcAft>
                <a:spcPts val="400"/>
              </a:spcAft>
            </a:pPr>
            <a:r>
              <a:rPr sz="1000" b="0" i="1">
                <a:solidFill>
                  <a:srgbClr val="686F7D"/>
                </a:solidFill>
                <a:latin typeface="Calibri"/>
              </a:rPr>
              <a:t>Built-in rate library 2.1.0 (16 June 2026): materials, machines and labour grades, plus the regions and processes covered.</a:t>
            </a:r>
          </a:p>
        </p:txBody>
      </p:sp>
      <p:sp>
        <p:nvSpPr>
          <p:cNvPr id="11" name="Rounded Rectangle 10"/>
          <p:cNvSpPr/>
          <p:nvPr/>
        </p:nvSpPr>
        <p:spPr>
          <a:xfrm>
            <a:off x="7406640" y="1828800"/>
            <a:ext cx="4389120" cy="9875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06640" y="1828800"/>
            <a:ext cx="82296" cy="98755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0" y="1938528"/>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1D6FB8"/>
                </a:solidFill>
                <a:latin typeface="Calibri"/>
              </a:rPr>
              <a:t>&lt;0.01%</a:t>
            </a:r>
          </a:p>
        </p:txBody>
      </p:sp>
      <p:sp>
        <p:nvSpPr>
          <p:cNvPr id="14" name="TextBox 13"/>
          <p:cNvSpPr txBox="1"/>
          <p:nvPr/>
        </p:nvSpPr>
        <p:spPr>
          <a:xfrm>
            <a:off x="9189720" y="1956816"/>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A4356"/>
                </a:solidFill>
                <a:latin typeface="Calibri"/>
              </a:rPr>
              <a:t>gap to a hand calculation on the reference machined bracket (£24.34)</a:t>
            </a:r>
          </a:p>
        </p:txBody>
      </p:sp>
      <p:sp>
        <p:nvSpPr>
          <p:cNvPr id="15" name="Rounded Rectangle 14"/>
          <p:cNvSpPr/>
          <p:nvPr/>
        </p:nvSpPr>
        <p:spPr>
          <a:xfrm>
            <a:off x="7406640" y="2953512"/>
            <a:ext cx="4389120" cy="9875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06640" y="2953512"/>
            <a:ext cx="82296" cy="98755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0" y="3063240"/>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6B3FA0"/>
                </a:solidFill>
                <a:latin typeface="Calibri"/>
              </a:rPr>
              <a:t>6 parts</a:t>
            </a:r>
          </a:p>
        </p:txBody>
      </p:sp>
      <p:sp>
        <p:nvSpPr>
          <p:cNvPr id="18" name="TextBox 17"/>
          <p:cNvSpPr txBox="1"/>
          <p:nvPr/>
        </p:nvSpPr>
        <p:spPr>
          <a:xfrm>
            <a:off x="9189720" y="3081528"/>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A4356"/>
                </a:solidFill>
                <a:latin typeface="Calibri"/>
              </a:rPr>
              <a:t>real production parts pinned in a baseline; a change that moves one fails the build</a:t>
            </a:r>
          </a:p>
        </p:txBody>
      </p:sp>
      <p:sp>
        <p:nvSpPr>
          <p:cNvPr id="19" name="Rounded Rectangle 18"/>
          <p:cNvSpPr/>
          <p:nvPr/>
        </p:nvSpPr>
        <p:spPr>
          <a:xfrm>
            <a:off x="7406640" y="4078224"/>
            <a:ext cx="4389120" cy="9875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06640" y="4078224"/>
            <a:ext cx="82296" cy="987552"/>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0" y="4187952"/>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2A7F50"/>
                </a:solidFill>
                <a:latin typeface="Calibri"/>
              </a:rPr>
              <a:t>2,438</a:t>
            </a:r>
          </a:p>
        </p:txBody>
      </p:sp>
      <p:sp>
        <p:nvSpPr>
          <p:cNvPr id="22" name="TextBox 21"/>
          <p:cNvSpPr txBox="1"/>
          <p:nvPr/>
        </p:nvSpPr>
        <p:spPr>
          <a:xfrm>
            <a:off x="9189720" y="4206240"/>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A4356"/>
                </a:solidFill>
                <a:latin typeface="Calibri"/>
              </a:rPr>
              <a:t>automated tests, plus browser tests of every commodity, exports and accessibility</a:t>
            </a:r>
          </a:p>
        </p:txBody>
      </p:sp>
      <p:sp>
        <p:nvSpPr>
          <p:cNvPr id="23" name="Rounded Rectangle 22"/>
          <p:cNvSpPr/>
          <p:nvPr/>
        </p:nvSpPr>
        <p:spPr>
          <a:xfrm>
            <a:off x="7406640" y="5202936"/>
            <a:ext cx="4389120" cy="9875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406640" y="5202936"/>
            <a:ext cx="82296" cy="987552"/>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0" y="5312664"/>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99651A"/>
                </a:solidFill>
                <a:latin typeface="Calibri"/>
              </a:rPr>
              <a:t>Not yet</a:t>
            </a:r>
          </a:p>
        </p:txBody>
      </p:sp>
      <p:sp>
        <p:nvSpPr>
          <p:cNvPr id="26" name="TextBox 25"/>
          <p:cNvSpPr txBox="1"/>
          <p:nvPr/>
        </p:nvSpPr>
        <p:spPr>
          <a:xfrm>
            <a:off x="9189720" y="5330952"/>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A4356"/>
                </a:solidFill>
                <a:latin typeface="Calibri"/>
              </a:rPr>
              <a:t>compared with a price JLR actually paid. Measured as actuals are logged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WHAT CHANGED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Built since this plan was written</a:t>
            </a:r>
          </a:p>
        </p:txBody>
      </p:sp>
      <p:sp>
        <p:nvSpPr>
          <p:cNvPr id="9" name="Rounded Rectangle 8"/>
          <p:cNvSpPr/>
          <p:nvPr/>
        </p:nvSpPr>
        <p:spPr>
          <a:xfrm>
            <a:off x="411480" y="1783080"/>
            <a:ext cx="11384280" cy="98755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83080"/>
            <a:ext cx="82296" cy="987552"/>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74520"/>
            <a:ext cx="10881360" cy="292608"/>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CAD to Cost runs on rules, and asks when it cannot tell</a:t>
            </a:r>
          </a:p>
        </p:txBody>
      </p:sp>
      <p:sp>
        <p:nvSpPr>
          <p:cNvPr id="12" name="TextBox 11"/>
          <p:cNvSpPr txBox="1"/>
          <p:nvPr/>
        </p:nvSpPr>
        <p:spPr>
          <a:xfrm>
            <a:off x="685800" y="2185416"/>
            <a:ext cx="10881360" cy="530352"/>
          </a:xfrm>
          <a:prstGeom prst="rect">
            <a:avLst/>
          </a:prstGeom>
          <a:noFill/>
        </p:spPr>
        <p:txBody>
          <a:bodyPr wrap="square" anchor="t" lIns="0" rIns="0" tIns="0" bIns="0">
            <a:spAutoFit/>
          </a:bodyPr>
          <a:lstStyle/>
          <a:p>
            <a:pPr algn="l">
              <a:lnSpc>
                <a:spcPct val="112000"/>
              </a:lnSpc>
              <a:spcAft>
                <a:spcPts val="400"/>
              </a:spcAft>
            </a:pPr>
            <a:r>
              <a:rPr sz="1050" b="0" i="0">
                <a:solidFill>
                  <a:srgbClr val="3A4356"/>
                </a:solidFill>
                <a:latin typeface="Calibri"/>
              </a:rPr>
              <a:t>No AI needed. 13 commodities can be costed from CAD. Where geometry cannot decide the route, the material or a hole count on an STL, the tool asks the engineer.</a:t>
            </a:r>
          </a:p>
        </p:txBody>
      </p:sp>
      <p:sp>
        <p:nvSpPr>
          <p:cNvPr id="13" name="Rounded Rectangle 12"/>
          <p:cNvSpPr/>
          <p:nvPr/>
        </p:nvSpPr>
        <p:spPr>
          <a:xfrm>
            <a:off x="411480" y="2898648"/>
            <a:ext cx="11384280" cy="98755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898648"/>
            <a:ext cx="82296" cy="98755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990088"/>
            <a:ext cx="10881360" cy="292608"/>
          </a:xfrm>
          <a:prstGeom prst="rect">
            <a:avLst/>
          </a:prstGeom>
          <a:noFill/>
        </p:spPr>
        <p:txBody>
          <a:bodyPr wrap="square" anchor="t" lIns="0" rIns="0" tIns="0" bIns="0">
            <a:spAutoFit/>
          </a:bodyPr>
          <a:lstStyle/>
          <a:p>
            <a:pPr algn="l">
              <a:lnSpc>
                <a:spcPct val="100000"/>
              </a:lnSpc>
              <a:spcAft>
                <a:spcPts val="400"/>
              </a:spcAft>
            </a:pPr>
            <a:r>
              <a:rPr sz="1300" b="1" i="0">
                <a:solidFill>
                  <a:srgbClr val="1D6FB8"/>
                </a:solidFill>
                <a:latin typeface="Calibri"/>
              </a:rPr>
              <a:t>Gear cutting is its own process</a:t>
            </a:r>
          </a:p>
        </p:txBody>
      </p:sp>
      <p:sp>
        <p:nvSpPr>
          <p:cNvPr id="16" name="TextBox 15"/>
          <p:cNvSpPr txBox="1"/>
          <p:nvPr/>
        </p:nvSpPr>
        <p:spPr>
          <a:xfrm>
            <a:off x="685800" y="3300984"/>
            <a:ext cx="10881360" cy="530352"/>
          </a:xfrm>
          <a:prstGeom prst="rect">
            <a:avLst/>
          </a:prstGeom>
          <a:noFill/>
        </p:spPr>
        <p:txBody>
          <a:bodyPr wrap="square" anchor="t" lIns="0" rIns="0" tIns="0" bIns="0">
            <a:spAutoFit/>
          </a:bodyPr>
          <a:lstStyle/>
          <a:p>
            <a:pPr algn="l">
              <a:lnSpc>
                <a:spcPct val="112000"/>
              </a:lnSpc>
              <a:spcAft>
                <a:spcPts val="400"/>
              </a:spcAft>
            </a:pPr>
            <a:r>
              <a:rPr sz="1050" b="0" i="0">
                <a:solidFill>
                  <a:srgbClr val="3A4356"/>
                </a:solidFill>
                <a:latin typeface="Calibri"/>
              </a:rPr>
              <a:t>Asked for by cost engineering and the plant. Gears no longer go through the milling model. The cycle is worked out from the gear itself.</a:t>
            </a:r>
          </a:p>
        </p:txBody>
      </p:sp>
      <p:sp>
        <p:nvSpPr>
          <p:cNvPr id="17" name="Rounded Rectangle 16"/>
          <p:cNvSpPr/>
          <p:nvPr/>
        </p:nvSpPr>
        <p:spPr>
          <a:xfrm>
            <a:off x="411480" y="4014215"/>
            <a:ext cx="11384280" cy="98755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014215"/>
            <a:ext cx="82296" cy="98755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105655"/>
            <a:ext cx="10881360" cy="292608"/>
          </a:xfrm>
          <a:prstGeom prst="rect">
            <a:avLst/>
          </a:prstGeom>
          <a:noFill/>
        </p:spPr>
        <p:txBody>
          <a:bodyPr wrap="square" anchor="t" lIns="0" rIns="0" tIns="0" bIns="0">
            <a:spAutoFit/>
          </a:bodyPr>
          <a:lstStyle/>
          <a:p>
            <a:pPr algn="l">
              <a:lnSpc>
                <a:spcPct val="100000"/>
              </a:lnSpc>
              <a:spcAft>
                <a:spcPts val="400"/>
              </a:spcAft>
            </a:pPr>
            <a:r>
              <a:rPr sz="1300" b="1" i="0">
                <a:solidFill>
                  <a:srgbClr val="6B3FA0"/>
                </a:solidFill>
                <a:latin typeface="Calibri"/>
              </a:rPr>
              <a:t>A Windows package for locked-down laptops</a:t>
            </a:r>
          </a:p>
        </p:txBody>
      </p:sp>
      <p:sp>
        <p:nvSpPr>
          <p:cNvPr id="20" name="TextBox 19"/>
          <p:cNvSpPr txBox="1"/>
          <p:nvPr/>
        </p:nvSpPr>
        <p:spPr>
          <a:xfrm>
            <a:off x="685800" y="4416551"/>
            <a:ext cx="10881360" cy="530352"/>
          </a:xfrm>
          <a:prstGeom prst="rect">
            <a:avLst/>
          </a:prstGeom>
          <a:noFill/>
        </p:spPr>
        <p:txBody>
          <a:bodyPr wrap="square" anchor="t" lIns="0" rIns="0" tIns="0" bIns="0">
            <a:spAutoFit/>
          </a:bodyPr>
          <a:lstStyle/>
          <a:p>
            <a:pPr algn="l">
              <a:lnSpc>
                <a:spcPct val="112000"/>
              </a:lnSpc>
              <a:spcAft>
                <a:spcPts val="400"/>
              </a:spcAft>
            </a:pPr>
            <a:r>
              <a:rPr sz="1050" b="0" i="0">
                <a:solidFill>
                  <a:srgbClr val="3A4356"/>
                </a:solidFill>
                <a:latin typeface="Calibri"/>
              </a:rPr>
              <a:t>A folder you copy and double-click. No installer, no admin rights, no internet. It includes the geometry kernel and runs with AI off.</a:t>
            </a:r>
          </a:p>
        </p:txBody>
      </p:sp>
      <p:sp>
        <p:nvSpPr>
          <p:cNvPr id="21" name="Rounded Rectangle 20"/>
          <p:cNvSpPr/>
          <p:nvPr/>
        </p:nvSpPr>
        <p:spPr>
          <a:xfrm>
            <a:off x="411480" y="5129784"/>
            <a:ext cx="11384280" cy="98755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129784"/>
            <a:ext cx="82296" cy="987552"/>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221224"/>
            <a:ext cx="10881360" cy="292608"/>
          </a:xfrm>
          <a:prstGeom prst="rect">
            <a:avLst/>
          </a:prstGeom>
          <a:noFill/>
        </p:spPr>
        <p:txBody>
          <a:bodyPr wrap="square" anchor="t" lIns="0" rIns="0" tIns="0" bIns="0">
            <a:spAutoFit/>
          </a:bodyPr>
          <a:lstStyle/>
          <a:p>
            <a:pPr algn="l">
              <a:lnSpc>
                <a:spcPct val="100000"/>
              </a:lnSpc>
              <a:spcAft>
                <a:spcPts val="400"/>
              </a:spcAft>
            </a:pPr>
            <a:r>
              <a:rPr sz="1300" b="1" i="0">
                <a:solidFill>
                  <a:srgbClr val="0D7D71"/>
                </a:solidFill>
                <a:latin typeface="Calibri"/>
              </a:rPr>
              <a:t>Long-term agreements priced correctly</a:t>
            </a:r>
          </a:p>
        </p:txBody>
      </p:sp>
      <p:sp>
        <p:nvSpPr>
          <p:cNvPr id="24" name="TextBox 23"/>
          <p:cNvSpPr txBox="1"/>
          <p:nvPr/>
        </p:nvSpPr>
        <p:spPr>
          <a:xfrm>
            <a:off x="685800" y="5532120"/>
            <a:ext cx="10881360" cy="530352"/>
          </a:xfrm>
          <a:prstGeom prst="rect">
            <a:avLst/>
          </a:prstGeom>
          <a:noFill/>
        </p:spPr>
        <p:txBody>
          <a:bodyPr wrap="square" anchor="t" lIns="0" rIns="0" tIns="0" bIns="0">
            <a:spAutoFit/>
          </a:bodyPr>
          <a:lstStyle/>
          <a:p>
            <a:pPr algn="l">
              <a:lnSpc>
                <a:spcPct val="112000"/>
              </a:lnSpc>
              <a:spcAft>
                <a:spcPts val="400"/>
              </a:spcAft>
            </a:pPr>
            <a:r>
              <a:rPr sz="1050" b="0" i="0">
                <a:solidFill>
                  <a:srgbClr val="3A4356"/>
                </a:solidFill>
                <a:latin typeface="Calibri"/>
              </a:rPr>
              <a:t>Tooling is spread over annual volume × programme life, so a five-year award is not priced as if it were all bought in year one.</a:t>
            </a:r>
          </a:p>
        </p:txBody>
      </p:sp>
      <p:sp>
        <p:nvSpPr>
          <p:cNvPr id="25" name="Rounded Rectangle 24"/>
          <p:cNvSpPr/>
          <p:nvPr/>
        </p:nvSpPr>
        <p:spPr>
          <a:xfrm>
            <a:off x="411480" y="6263640"/>
            <a:ext cx="11384280" cy="384048"/>
          </a:xfrm>
          <a:prstGeom prst="roundRect">
            <a:avLst>
              <a:gd name="adj" fmla="val 6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6263640"/>
            <a:ext cx="10881360" cy="384048"/>
          </a:xfrm>
          <a:prstGeom prst="rect">
            <a:avLst/>
          </a:prstGeom>
          <a:noFill/>
        </p:spPr>
        <p:txBody>
          <a:bodyPr wrap="square" anchor="ctr" lIns="0" rIns="0" tIns="0" bIns="0">
            <a:spAutoFit/>
          </a:bodyPr>
          <a:lstStyle/>
          <a:p>
            <a:pPr algn="l">
              <a:lnSpc>
                <a:spcPct val="110000"/>
              </a:lnSpc>
              <a:spcAft>
                <a:spcPts val="400"/>
              </a:spcAft>
            </a:pPr>
            <a:r>
              <a:rPr sz="1050" b="1" i="0">
                <a:solidFill>
                  <a:srgbClr val="99651A"/>
                </a:solidFill>
                <a:latin typeface="Calibri"/>
              </a:rPr>
              <a:t>Straight about the gap: </a:t>
            </a:r>
            <a:r>
              <a:rPr sz="1050" b="0" i="0">
                <a:solidFill>
                  <a:srgbClr val="3A4356"/>
                </a:solidFill>
                <a:latin typeface="Calibri"/>
              </a:rPr>
              <a:t>the gear model uses representative shop figures until the plant supplies its own. No gear has been checked against a known cost yet.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THE ASK</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need from the plant to make this quotable</a:t>
            </a:r>
          </a:p>
        </p:txBody>
      </p:sp>
      <p:sp>
        <p:nvSpPr>
          <p:cNvPr id="9" name="TextBox 8"/>
          <p:cNvSpPr txBox="1"/>
          <p:nvPr/>
        </p:nvSpPr>
        <p:spPr>
          <a:xfrm>
            <a:off x="411480" y="1737360"/>
            <a:ext cx="11384280" cy="457200"/>
          </a:xfrm>
          <a:prstGeom prst="rect">
            <a:avLst/>
          </a:prstGeom>
          <a:noFill/>
        </p:spPr>
        <p:txBody>
          <a:bodyPr wrap="square" anchor="t" lIns="0" rIns="0" tIns="0" bIns="0">
            <a:spAutoFit/>
          </a:bodyPr>
          <a:lstStyle/>
          <a:p>
            <a:pPr algn="l">
              <a:lnSpc>
                <a:spcPct val="115000"/>
              </a:lnSpc>
              <a:spcAft>
                <a:spcPts val="400"/>
              </a:spcAft>
            </a:pPr>
            <a:r>
              <a:rPr sz="1250" b="0" i="0">
                <a:solidFill>
                  <a:srgbClr val="3A4356"/>
                </a:solidFill>
                <a:latin typeface="Calibri"/>
              </a:rPr>
              <a:t>The engine is built and the arithmetic is auditable. What it does not yet have is </a:t>
            </a:r>
            <a:r>
              <a:rPr sz="1250" b="1" i="0">
                <a:solidFill>
                  <a:srgbClr val="16325C"/>
                </a:solidFill>
                <a:latin typeface="Calibri"/>
              </a:rPr>
              <a:t>your</a:t>
            </a:r>
            <a:r>
              <a:rPr sz="1250" b="0" i="0">
                <a:solidFill>
                  <a:srgbClr val="3A4356"/>
                </a:solidFill>
                <a:latin typeface="Calibri"/>
              </a:rPr>
              <a:t> shop data — and until it does, a gear estimate is directional, not quotable. Three things close that gap.</a:t>
            </a:r>
          </a:p>
        </p:txBody>
      </p:sp>
      <p:sp>
        <p:nvSpPr>
          <p:cNvPr id="10" name="Rounded Rectangle 9"/>
          <p:cNvSpPr/>
          <p:nvPr/>
        </p:nvSpPr>
        <p:spPr>
          <a:xfrm>
            <a:off x="411480" y="2377440"/>
            <a:ext cx="1138428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377440"/>
            <a:ext cx="82296" cy="10972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8368" y="2651760"/>
            <a:ext cx="548640" cy="548640"/>
          </a:xfrm>
          <a:prstGeom prst="roundRect">
            <a:avLst>
              <a:gd name="adj" fmla="val 30000"/>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651760"/>
            <a:ext cx="548640" cy="548640"/>
          </a:xfrm>
          <a:prstGeom prst="rect">
            <a:avLst/>
          </a:prstGeom>
          <a:noFill/>
        </p:spPr>
        <p:txBody>
          <a:bodyPr wrap="square" anchor="ctr" lIns="0" rIns="0" tIns="0" bIns="0">
            <a:spAutoFit/>
          </a:bodyPr>
          <a:lstStyle/>
          <a:p>
            <a:pPr algn="ctr">
              <a:lnSpc>
                <a:spcPct val="100000"/>
              </a:lnSpc>
              <a:spcAft>
                <a:spcPts val="400"/>
              </a:spcAft>
            </a:pPr>
            <a:r>
              <a:rPr sz="2000" b="1" i="0">
                <a:solidFill>
                  <a:srgbClr val="FFFFFF"/>
                </a:solidFill>
                <a:latin typeface="Calibri"/>
              </a:rPr>
              <a:t>1</a:t>
            </a:r>
          </a:p>
        </p:txBody>
      </p:sp>
      <p:sp>
        <p:nvSpPr>
          <p:cNvPr id="14" name="TextBox 13"/>
          <p:cNvSpPr txBox="1"/>
          <p:nvPr/>
        </p:nvSpPr>
        <p:spPr>
          <a:xfrm>
            <a:off x="1417320" y="2523744"/>
            <a:ext cx="6400800" cy="310896"/>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The gear machine list</a:t>
            </a:r>
          </a:p>
        </p:txBody>
      </p:sp>
      <p:sp>
        <p:nvSpPr>
          <p:cNvPr id="15" name="Rounded Rectangle 14"/>
          <p:cNvSpPr/>
          <p:nvPr/>
        </p:nvSpPr>
        <p:spPr>
          <a:xfrm>
            <a:off x="9692640" y="2542032"/>
            <a:ext cx="1920240" cy="274320"/>
          </a:xfrm>
          <a:prstGeom prst="roundRect">
            <a:avLst>
              <a:gd name="adj" fmla="val 15000"/>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92640" y="2542032"/>
            <a:ext cx="1920240" cy="274320"/>
          </a:xfrm>
          <a:prstGeom prst="rect">
            <a:avLst/>
          </a:prstGeom>
          <a:noFill/>
        </p:spPr>
        <p:txBody>
          <a:bodyPr wrap="square" anchor="ctr" lIns="0" rIns="0" tIns="0" bIns="0">
            <a:spAutoFit/>
          </a:bodyPr>
          <a:lstStyle/>
          <a:p>
            <a:pPr algn="ctr">
              <a:lnSpc>
                <a:spcPct val="100000"/>
              </a:lnSpc>
              <a:spcAft>
                <a:spcPts val="400"/>
              </a:spcAft>
            </a:pPr>
            <a:r>
              <a:rPr sz="1000" b="1" i="0">
                <a:solidFill>
                  <a:srgbClr val="FFFFFF"/>
                </a:solidFill>
                <a:latin typeface="Calibri"/>
              </a:rPr>
              <a:t>Highest impact</a:t>
            </a:r>
          </a:p>
        </p:txBody>
      </p:sp>
      <p:sp>
        <p:nvSpPr>
          <p:cNvPr id="17" name="TextBox 16"/>
          <p:cNvSpPr txBox="1"/>
          <p:nvPr/>
        </p:nvSpPr>
        <p:spPr>
          <a:xfrm>
            <a:off x="1417320" y="2889504"/>
            <a:ext cx="10149840" cy="512064"/>
          </a:xfrm>
          <a:prstGeom prst="rect">
            <a:avLst/>
          </a:prstGeom>
          <a:noFill/>
        </p:spPr>
        <p:txBody>
          <a:bodyPr wrap="square" anchor="t" lIns="0" rIns="0" tIns="0" bIns="0">
            <a:spAutoFit/>
          </a:bodyPr>
          <a:lstStyle/>
          <a:p>
            <a:pPr algn="l">
              <a:lnSpc>
                <a:spcPct val="114000"/>
              </a:lnSpc>
              <a:spcAft>
                <a:spcPts val="400"/>
              </a:spcAft>
            </a:pPr>
            <a:r>
              <a:rPr sz="1050" b="0" i="0">
                <a:solidFill>
                  <a:srgbClr val="3A4356"/>
                </a:solidFill>
                <a:latin typeface="Calibri"/>
              </a:rPr>
              <a:t>Machine class, £/hr, and the capacity limits — biggest module, largest diameter, widest face. Today the tool picks from a set of representative machine classes; yours replace them.</a:t>
            </a:r>
          </a:p>
        </p:txBody>
      </p:sp>
      <p:sp>
        <p:nvSpPr>
          <p:cNvPr id="18" name="Rounded Rectangle 17"/>
          <p:cNvSpPr/>
          <p:nvPr/>
        </p:nvSpPr>
        <p:spPr>
          <a:xfrm>
            <a:off x="411480" y="3602736"/>
            <a:ext cx="1138428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3602736"/>
            <a:ext cx="82296" cy="10972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58368" y="3877056"/>
            <a:ext cx="548640" cy="548640"/>
          </a:xfrm>
          <a:prstGeom prst="roundRect">
            <a:avLst>
              <a:gd name="adj" fmla="val 30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877056"/>
            <a:ext cx="548640" cy="548640"/>
          </a:xfrm>
          <a:prstGeom prst="rect">
            <a:avLst/>
          </a:prstGeom>
          <a:noFill/>
        </p:spPr>
        <p:txBody>
          <a:bodyPr wrap="square" anchor="ctr" lIns="0" rIns="0" tIns="0" bIns="0">
            <a:spAutoFit/>
          </a:bodyPr>
          <a:lstStyle/>
          <a:p>
            <a:pPr algn="ctr">
              <a:lnSpc>
                <a:spcPct val="100000"/>
              </a:lnSpc>
              <a:spcAft>
                <a:spcPts val="400"/>
              </a:spcAft>
            </a:pPr>
            <a:r>
              <a:rPr sz="2000" b="1" i="0">
                <a:solidFill>
                  <a:srgbClr val="FFFFFF"/>
                </a:solidFill>
                <a:latin typeface="Calibri"/>
              </a:rPr>
              <a:t>2</a:t>
            </a:r>
          </a:p>
        </p:txBody>
      </p:sp>
      <p:sp>
        <p:nvSpPr>
          <p:cNvPr id="22" name="TextBox 21"/>
          <p:cNvSpPr txBox="1"/>
          <p:nvPr/>
        </p:nvSpPr>
        <p:spPr>
          <a:xfrm>
            <a:off x="1417320" y="3749040"/>
            <a:ext cx="6400800" cy="310896"/>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Feeds, speeds and tool life</a:t>
            </a:r>
          </a:p>
        </p:txBody>
      </p:sp>
      <p:sp>
        <p:nvSpPr>
          <p:cNvPr id="23" name="Rounded Rectangle 22"/>
          <p:cNvSpPr/>
          <p:nvPr/>
        </p:nvSpPr>
        <p:spPr>
          <a:xfrm>
            <a:off x="9692640" y="3767328"/>
            <a:ext cx="1920240" cy="274320"/>
          </a:xfrm>
          <a:prstGeom prst="roundRect">
            <a:avLst>
              <a:gd name="adj" fmla="val 15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0" y="3767328"/>
            <a:ext cx="1920240" cy="274320"/>
          </a:xfrm>
          <a:prstGeom prst="rect">
            <a:avLst/>
          </a:prstGeom>
          <a:noFill/>
        </p:spPr>
        <p:txBody>
          <a:bodyPr wrap="square" anchor="ctr" lIns="0" rIns="0" tIns="0" bIns="0">
            <a:spAutoFit/>
          </a:bodyPr>
          <a:lstStyle/>
          <a:p>
            <a:pPr algn="ctr">
              <a:lnSpc>
                <a:spcPct val="100000"/>
              </a:lnSpc>
              <a:spcAft>
                <a:spcPts val="400"/>
              </a:spcAft>
            </a:pPr>
            <a:r>
              <a:rPr sz="1000" b="1" i="0">
                <a:solidFill>
                  <a:srgbClr val="FFFFFF"/>
                </a:solidFill>
                <a:latin typeface="Calibri"/>
              </a:rPr>
              <a:t>Second</a:t>
            </a:r>
          </a:p>
        </p:txBody>
      </p:sp>
      <p:sp>
        <p:nvSpPr>
          <p:cNvPr id="25" name="TextBox 24"/>
          <p:cNvSpPr txBox="1"/>
          <p:nvPr/>
        </p:nvSpPr>
        <p:spPr>
          <a:xfrm>
            <a:off x="1417320" y="4114800"/>
            <a:ext cx="10149840" cy="512064"/>
          </a:xfrm>
          <a:prstGeom prst="rect">
            <a:avLst/>
          </a:prstGeom>
          <a:noFill/>
        </p:spPr>
        <p:txBody>
          <a:bodyPr wrap="square" anchor="t" lIns="0" rIns="0" tIns="0" bIns="0">
            <a:spAutoFit/>
          </a:bodyPr>
          <a:lstStyle/>
          <a:p>
            <a:pPr algn="l">
              <a:lnSpc>
                <a:spcPct val="114000"/>
              </a:lnSpc>
              <a:spcAft>
                <a:spcPts val="400"/>
              </a:spcAft>
            </a:pPr>
            <a:r>
              <a:rPr sz="1050" b="0" i="0">
                <a:solidFill>
                  <a:srgbClr val="3A4356"/>
                </a:solidFill>
                <a:latin typeface="Calibri"/>
              </a:rPr>
              <a:t>Cutting speed and axial feed by material and module band, hob and cutter price, and parts between regrinds. These drive the cycle time, and the cycle time drives the cost.</a:t>
            </a:r>
          </a:p>
        </p:txBody>
      </p:sp>
      <p:sp>
        <p:nvSpPr>
          <p:cNvPr id="26" name="Rounded Rectangle 25"/>
          <p:cNvSpPr/>
          <p:nvPr/>
        </p:nvSpPr>
        <p:spPr>
          <a:xfrm>
            <a:off x="411480" y="4828032"/>
            <a:ext cx="1138428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828032"/>
            <a:ext cx="82296" cy="10972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58368" y="5102352"/>
            <a:ext cx="548640" cy="548640"/>
          </a:xfrm>
          <a:prstGeom prst="roundRect">
            <a:avLst>
              <a:gd name="adj" fmla="val 30000"/>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102352"/>
            <a:ext cx="548640" cy="548640"/>
          </a:xfrm>
          <a:prstGeom prst="rect">
            <a:avLst/>
          </a:prstGeom>
          <a:noFill/>
        </p:spPr>
        <p:txBody>
          <a:bodyPr wrap="square" anchor="ctr" lIns="0" rIns="0" tIns="0" bIns="0">
            <a:spAutoFit/>
          </a:bodyPr>
          <a:lstStyle/>
          <a:p>
            <a:pPr algn="ctr">
              <a:lnSpc>
                <a:spcPct val="100000"/>
              </a:lnSpc>
              <a:spcAft>
                <a:spcPts val="400"/>
              </a:spcAft>
            </a:pPr>
            <a:r>
              <a:rPr sz="2000" b="1" i="0">
                <a:solidFill>
                  <a:srgbClr val="FFFFFF"/>
                </a:solidFill>
                <a:latin typeface="Calibri"/>
              </a:rPr>
              <a:t>3</a:t>
            </a:r>
          </a:p>
        </p:txBody>
      </p:sp>
      <p:sp>
        <p:nvSpPr>
          <p:cNvPr id="30" name="TextBox 29"/>
          <p:cNvSpPr txBox="1"/>
          <p:nvPr/>
        </p:nvSpPr>
        <p:spPr>
          <a:xfrm>
            <a:off x="1417320" y="4974336"/>
            <a:ext cx="6400800" cy="310896"/>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Two gears you already know the cost of</a:t>
            </a:r>
          </a:p>
        </p:txBody>
      </p:sp>
      <p:sp>
        <p:nvSpPr>
          <p:cNvPr id="31" name="Rounded Rectangle 30"/>
          <p:cNvSpPr/>
          <p:nvPr/>
        </p:nvSpPr>
        <p:spPr>
          <a:xfrm>
            <a:off x="9692640" y="4992624"/>
            <a:ext cx="1920240" cy="274320"/>
          </a:xfrm>
          <a:prstGeom prst="roundRect">
            <a:avLst>
              <a:gd name="adj" fmla="val 15000"/>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92640" y="4992624"/>
            <a:ext cx="1920240" cy="274320"/>
          </a:xfrm>
          <a:prstGeom prst="rect">
            <a:avLst/>
          </a:prstGeom>
          <a:noFill/>
        </p:spPr>
        <p:txBody>
          <a:bodyPr wrap="square" anchor="ctr" lIns="0" rIns="0" tIns="0" bIns="0">
            <a:spAutoFit/>
          </a:bodyPr>
          <a:lstStyle/>
          <a:p>
            <a:pPr algn="ctr">
              <a:lnSpc>
                <a:spcPct val="100000"/>
              </a:lnSpc>
              <a:spcAft>
                <a:spcPts val="400"/>
              </a:spcAft>
            </a:pPr>
            <a:r>
              <a:rPr sz="1000" b="1" i="0">
                <a:solidFill>
                  <a:srgbClr val="FFFFFF"/>
                </a:solidFill>
                <a:latin typeface="Calibri"/>
              </a:rPr>
              <a:t>The proof</a:t>
            </a:r>
          </a:p>
        </p:txBody>
      </p:sp>
      <p:sp>
        <p:nvSpPr>
          <p:cNvPr id="33" name="TextBox 32"/>
          <p:cNvSpPr txBox="1"/>
          <p:nvPr/>
        </p:nvSpPr>
        <p:spPr>
          <a:xfrm>
            <a:off x="1417320" y="5340096"/>
            <a:ext cx="10149840" cy="512064"/>
          </a:xfrm>
          <a:prstGeom prst="rect">
            <a:avLst/>
          </a:prstGeom>
          <a:noFill/>
        </p:spPr>
        <p:txBody>
          <a:bodyPr wrap="square" anchor="t" lIns="0" rIns="0" tIns="0" bIns="0">
            <a:spAutoFit/>
          </a:bodyPr>
          <a:lstStyle/>
          <a:p>
            <a:pPr algn="l">
              <a:lnSpc>
                <a:spcPct val="114000"/>
              </a:lnSpc>
              <a:spcAft>
                <a:spcPts val="400"/>
              </a:spcAft>
            </a:pPr>
            <a:r>
              <a:rPr sz="1050" b="0" i="0">
                <a:solidFill>
                  <a:srgbClr val="3A4356"/>
                </a:solidFill>
                <a:latin typeface="Calibri"/>
              </a:rPr>
              <a:t>Ideally one hobbed-only and one hardened-and-ground. Without them nothing above is validated — the model is internally consistent but unproven against reality.</a:t>
            </a:r>
          </a:p>
        </p:txBody>
      </p:sp>
      <p:sp>
        <p:nvSpPr>
          <p:cNvPr id="34" name="Rounded Rectangle 33"/>
          <p:cNvSpPr/>
          <p:nvPr/>
        </p:nvSpPr>
        <p:spPr>
          <a:xfrm>
            <a:off x="411480" y="6108192"/>
            <a:ext cx="11384280" cy="457200"/>
          </a:xfrm>
          <a:prstGeom prst="roundRect">
            <a:avLst>
              <a:gd name="adj" fmla="val 7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6108192"/>
            <a:ext cx="10881360" cy="457200"/>
          </a:xfrm>
          <a:prstGeom prst="rect">
            <a:avLst/>
          </a:prstGeom>
          <a:noFill/>
        </p:spPr>
        <p:txBody>
          <a:bodyPr wrap="square" anchor="ctr" lIns="0" rIns="0" tIns="0" bIns="0">
            <a:spAutoFit/>
          </a:bodyPr>
          <a:lstStyle/>
          <a:p>
            <a:pPr algn="l">
              <a:lnSpc>
                <a:spcPct val="110000"/>
              </a:lnSpc>
              <a:spcAft>
                <a:spcPts val="400"/>
              </a:spcAft>
            </a:pPr>
            <a:r>
              <a:rPr sz="1100" b="1" i="0">
                <a:solidFill>
                  <a:srgbClr val="2A7F50"/>
                </a:solidFill>
                <a:latin typeface="Calibri"/>
              </a:rPr>
              <a:t>Effort on your side: </a:t>
            </a:r>
            <a:r>
              <a:rPr sz="1100" b="0" i="0">
                <a:solidFill>
                  <a:srgbClr val="3A4356"/>
                </a:solidFill>
                <a:latin typeface="Calibri"/>
              </a:rPr>
              <a:t>roughly half a day to export the machine list and the feeds table, plus two costings you have already done. Nothing new has to be measured.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STRAIGHT ANSWERS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Questions you may be asking</a:t>
            </a:r>
          </a:p>
        </p:txBody>
      </p:sp>
      <p:sp>
        <p:nvSpPr>
          <p:cNvPr id="9" name="Rounded Rectangle 8"/>
          <p:cNvSpPr/>
          <p:nvPr/>
        </p:nvSpPr>
        <p:spPr>
          <a:xfrm>
            <a:off x="411480" y="1828800"/>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20240"/>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1D6FB8"/>
                </a:solidFill>
                <a:latin typeface="Calibri"/>
              </a:rPr>
              <a:t>Why not just buy aPriori?</a:t>
            </a:r>
          </a:p>
        </p:txBody>
      </p:sp>
      <p:sp>
        <p:nvSpPr>
          <p:cNvPr id="11" name="TextBox 10"/>
          <p:cNvSpPr txBox="1"/>
          <p:nvPr/>
        </p:nvSpPr>
        <p:spPr>
          <a:xfrm>
            <a:off x="4480560" y="1920240"/>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A4356"/>
                </a:solidFill>
                <a:latin typeface="Calibri"/>
              </a:rPr>
              <a:t>A bought suite carries an annual licence and may keep our CAD in a vendor cloud. CostVision runs in-house, learns from our own prices, and is ours.</a:t>
            </a:r>
          </a:p>
        </p:txBody>
      </p:sp>
      <p:sp>
        <p:nvSpPr>
          <p:cNvPr id="12" name="Rounded Rectangle 11"/>
          <p:cNvSpPr/>
          <p:nvPr/>
        </p:nvSpPr>
        <p:spPr>
          <a:xfrm>
            <a:off x="411480" y="2724912"/>
            <a:ext cx="11384280" cy="786384"/>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816352"/>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1D6FB8"/>
                </a:solidFill>
                <a:latin typeface="Calibri"/>
              </a:rPr>
              <a:t>Is our data training a public AI?</a:t>
            </a:r>
          </a:p>
        </p:txBody>
      </p:sp>
      <p:sp>
        <p:nvSpPr>
          <p:cNvPr id="14" name="TextBox 13"/>
          <p:cNvSpPr txBox="1"/>
          <p:nvPr/>
        </p:nvSpPr>
        <p:spPr>
          <a:xfrm>
            <a:off x="4480560" y="2816352"/>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A4356"/>
                </a:solidFill>
                <a:latin typeface="Calibri"/>
              </a:rPr>
              <a:t>No. The JLR build has AI switched off, so no AI calls are made at all. The tool says "AI is switched off in this installation".</a:t>
            </a:r>
          </a:p>
        </p:txBody>
      </p:sp>
      <p:sp>
        <p:nvSpPr>
          <p:cNvPr id="15" name="Rounded Rectangle 14"/>
          <p:cNvSpPr/>
          <p:nvPr/>
        </p:nvSpPr>
        <p:spPr>
          <a:xfrm>
            <a:off x="411480" y="3621024"/>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712464"/>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1D6FB8"/>
                </a:solidFill>
                <a:latin typeface="Calibri"/>
              </a:rPr>
              <a:t>What if the key developer leaves?</a:t>
            </a:r>
          </a:p>
        </p:txBody>
      </p:sp>
      <p:sp>
        <p:nvSpPr>
          <p:cNvPr id="17" name="TextBox 16"/>
          <p:cNvSpPr txBox="1"/>
          <p:nvPr/>
        </p:nvSpPr>
        <p:spPr>
          <a:xfrm>
            <a:off x="4480560" y="3712464"/>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A4356"/>
                </a:solidFill>
                <a:latin typeface="Calibri"/>
              </a:rPr>
              <a:t>2,438 automated tests and 6 pinned real parts define how it must behave. The design is written down, and Phase 4 trains a CAPEE-side maintainer.</a:t>
            </a:r>
          </a:p>
        </p:txBody>
      </p:sp>
      <p:sp>
        <p:nvSpPr>
          <p:cNvPr id="18" name="Rounded Rectangle 17"/>
          <p:cNvSpPr/>
          <p:nvPr/>
        </p:nvSpPr>
        <p:spPr>
          <a:xfrm>
            <a:off x="411480" y="4517136"/>
            <a:ext cx="11384280" cy="786384"/>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608576"/>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1D6FB8"/>
                </a:solidFill>
                <a:latin typeface="Calibri"/>
              </a:rPr>
              <a:t>What does it cost to run?</a:t>
            </a:r>
          </a:p>
        </p:txBody>
      </p:sp>
      <p:sp>
        <p:nvSpPr>
          <p:cNvPr id="20" name="TextBox 19"/>
          <p:cNvSpPr txBox="1"/>
          <p:nvPr/>
        </p:nvSpPr>
        <p:spPr>
          <a:xfrm>
            <a:off x="4480560" y="4608576"/>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A4356"/>
                </a:solidFill>
                <a:latin typeface="Calibri"/>
              </a:rPr>
              <a:t>Today: a laptop, no internet, no AI. For a server: one VM and the corporate database. No licences, no per-seat fees.</a:t>
            </a:r>
          </a:p>
        </p:txBody>
      </p:sp>
      <p:sp>
        <p:nvSpPr>
          <p:cNvPr id="21" name="Rounded Rectangle 20"/>
          <p:cNvSpPr/>
          <p:nvPr/>
        </p:nvSpPr>
        <p:spPr>
          <a:xfrm>
            <a:off x="411480" y="5413248"/>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504688"/>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1D6FB8"/>
                </a:solidFill>
                <a:latin typeface="Calibri"/>
              </a:rPr>
              <a:t>How do we know the numbers are right?</a:t>
            </a:r>
          </a:p>
        </p:txBody>
      </p:sp>
      <p:sp>
        <p:nvSpPr>
          <p:cNvPr id="23" name="TextBox 22"/>
          <p:cNvSpPr txBox="1"/>
          <p:nvPr/>
        </p:nvSpPr>
        <p:spPr>
          <a:xfrm>
            <a:off x="4480560" y="5504688"/>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A4356"/>
                </a:solidFill>
                <a:latin typeface="Calibri"/>
              </a:rPr>
              <a:t>Every £ traces to a rate. It matches a hand calculation to under 0.01%. We have not yet compared it with a price JLR paid; that is measured as actuals are logged.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OPTIONAL AI MODE · OFF AT JLR</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PCB photo to costed BOM — step by step</a:t>
            </a:r>
          </a:p>
        </p:txBody>
      </p:sp>
      <p:sp>
        <p:nvSpPr>
          <p:cNvPr id="9" name="Rounded Rectangle 8"/>
          <p:cNvSpPr/>
          <p:nvPr/>
        </p:nvSpPr>
        <p:spPr>
          <a:xfrm>
            <a:off x="411480" y="1783080"/>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1D6FB8"/>
                </a:solidFill>
                <a:latin typeface="Calibri"/>
              </a:rPr>
              <a:t>1 · Upload photos</a:t>
            </a:r>
          </a:p>
          <a:p>
            <a:pPr algn="l"/>
            <a:r>
              <a:rPr sz="950">
                <a:solidFill>
                  <a:srgbClr val="3A4356"/>
                </a:solidFill>
                <a:latin typeface="Calibri"/>
              </a:rPr>
              <a:t>Up to 5 photos of the board, plus an optional BOM or pick-and-place file. Only when AI mode is on.</a:t>
            </a:r>
          </a:p>
        </p:txBody>
      </p:sp>
      <p:sp>
        <p:nvSpPr>
          <p:cNvPr id="10" name="Rectangle 9"/>
          <p:cNvSpPr/>
          <p:nvPr/>
        </p:nvSpPr>
        <p:spPr>
          <a:xfrm>
            <a:off x="411480" y="1783080"/>
            <a:ext cx="64008" cy="62179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wn Arrow 10"/>
          <p:cNvSpPr/>
          <p:nvPr/>
        </p:nvSpPr>
        <p:spPr>
          <a:xfrm>
            <a:off x="5943600" y="2418588"/>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2569464"/>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1D6FB8"/>
                </a:solidFill>
                <a:latin typeface="Calibri"/>
              </a:rPr>
              <a:t>2 · Board type (AI)</a:t>
            </a:r>
          </a:p>
          <a:p>
            <a:pPr algn="l"/>
            <a:r>
              <a:rPr sz="950">
                <a:solidFill>
                  <a:srgbClr val="3A4356"/>
                </a:solidFill>
                <a:latin typeface="Calibri"/>
              </a:rPr>
              <a:t>The AI classifies the board, for example automotive or consumer, so the right cost assumptions apply.</a:t>
            </a:r>
          </a:p>
        </p:txBody>
      </p:sp>
      <p:sp>
        <p:nvSpPr>
          <p:cNvPr id="13" name="Rectangle 12"/>
          <p:cNvSpPr/>
          <p:nvPr/>
        </p:nvSpPr>
        <p:spPr>
          <a:xfrm>
            <a:off x="411480" y="2569464"/>
            <a:ext cx="64008" cy="62179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13"/>
          <p:cNvSpPr/>
          <p:nvPr/>
        </p:nvSpPr>
        <p:spPr>
          <a:xfrm>
            <a:off x="5943600" y="3204972"/>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11480" y="3355848"/>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6B3FA0"/>
                </a:solidFill>
                <a:latin typeface="Calibri"/>
              </a:rPr>
              <a:t>3 · Read the markings (AI)</a:t>
            </a:r>
          </a:p>
          <a:p>
            <a:pPr algn="l"/>
            <a:r>
              <a:rPr sz="950">
                <a:solidFill>
                  <a:srgbClr val="3A4356"/>
                </a:solidFill>
                <a:latin typeface="Calibri"/>
              </a:rPr>
              <a:t>Printed part numbers and references on the chips are read from the photo.</a:t>
            </a:r>
          </a:p>
        </p:txBody>
      </p:sp>
      <p:sp>
        <p:nvSpPr>
          <p:cNvPr id="16" name="Rectangle 15"/>
          <p:cNvSpPr/>
          <p:nvPr/>
        </p:nvSpPr>
        <p:spPr>
          <a:xfrm>
            <a:off x="411480" y="3355848"/>
            <a:ext cx="64008" cy="62179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5943600" y="3991356"/>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1480" y="4142232"/>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D7D71"/>
                </a:solidFill>
                <a:latin typeface="Calibri"/>
              </a:rPr>
              <a:t>4 · List the parts (AI)</a:t>
            </a:r>
          </a:p>
          <a:p>
            <a:pPr algn="l"/>
            <a:r>
              <a:rPr sz="950">
                <a:solidFill>
                  <a:srgbClr val="3A4356"/>
                </a:solidFill>
                <a:latin typeface="Calibri"/>
              </a:rPr>
              <a:t>The AI lists each visible part: type, package, value and part number where it can.</a:t>
            </a:r>
          </a:p>
        </p:txBody>
      </p:sp>
      <p:sp>
        <p:nvSpPr>
          <p:cNvPr id="19" name="Rectangle 18"/>
          <p:cNvSpPr/>
          <p:nvPr/>
        </p:nvSpPr>
        <p:spPr>
          <a:xfrm>
            <a:off x="411480" y="4142232"/>
            <a:ext cx="64008" cy="621792"/>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5943600" y="4777740"/>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11480" y="4928616"/>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A7F50"/>
                </a:solidFill>
                <a:latin typeface="Calibri"/>
              </a:rPr>
              <a:t>5 · Rules clean up and cost it</a:t>
            </a:r>
          </a:p>
          <a:p>
            <a:pPr algn="l"/>
            <a:r>
              <a:rPr sz="950">
                <a:solidFill>
                  <a:srgbClr val="3A4356"/>
                </a:solidFill>
                <a:latin typeface="Calibri"/>
              </a:rPr>
              <a:t>Plain code, not AI, checks each line, caps prices against a catalogue, and adds assembly and test. Board fab is a bought-in price.</a:t>
            </a:r>
          </a:p>
        </p:txBody>
      </p:sp>
      <p:sp>
        <p:nvSpPr>
          <p:cNvPr id="22" name="Rectangle 21"/>
          <p:cNvSpPr/>
          <p:nvPr/>
        </p:nvSpPr>
        <p:spPr>
          <a:xfrm>
            <a:off x="411480" y="4928616"/>
            <a:ext cx="64008" cy="621792"/>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wn Arrow 22"/>
          <p:cNvSpPr/>
          <p:nvPr/>
        </p:nvSpPr>
        <p:spPr>
          <a:xfrm>
            <a:off x="5943600" y="5564124"/>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1480" y="5715000"/>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99651A"/>
                </a:solidFill>
                <a:latin typeface="Calibri"/>
              </a:rPr>
              <a:t>6 · Same photos, same answer</a:t>
            </a:r>
          </a:p>
          <a:p>
            <a:pPr algn="l"/>
            <a:r>
              <a:rPr sz="950">
                <a:solidFill>
                  <a:srgbClr val="3A4356"/>
                </a:solidFill>
                <a:latin typeface="Calibri"/>
              </a:rPr>
              <a:t>The result is stored against a fingerprint of the photos, so the same photos give the same BOM.</a:t>
            </a:r>
          </a:p>
        </p:txBody>
      </p:sp>
      <p:sp>
        <p:nvSpPr>
          <p:cNvPr id="25" name="Rectangle 24"/>
          <p:cNvSpPr/>
          <p:nvPr/>
        </p:nvSpPr>
        <p:spPr>
          <a:xfrm>
            <a:off x="411480" y="5715000"/>
            <a:ext cx="64008" cy="621792"/>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OPTIONAL AI MODE · OFF AT JLR</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PCB photo to BOM — how it works, checks, status</a:t>
            </a:r>
          </a:p>
        </p:txBody>
      </p:sp>
      <p:sp>
        <p:nvSpPr>
          <p:cNvPr id="9" name="Rounded Rectangle 8"/>
          <p:cNvSpPr/>
          <p:nvPr/>
        </p:nvSpPr>
        <p:spPr>
          <a:xfrm>
            <a:off x="411480" y="1828800"/>
            <a:ext cx="3657600" cy="379476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1D6FB8"/>
                </a:solidFill>
                <a:latin typeface="Calibri"/>
              </a:rPr>
              <a:t>How it works</a:t>
            </a:r>
          </a:p>
        </p:txBody>
      </p:sp>
      <p:sp>
        <p:nvSpPr>
          <p:cNvPr id="12" name="TextBox 11"/>
          <p:cNvSpPr txBox="1"/>
          <p:nvPr/>
        </p:nvSpPr>
        <p:spPr>
          <a:xfrm>
            <a:off x="640080" y="2450592"/>
            <a:ext cx="3246120" cy="3108960"/>
          </a:xfrm>
          <a:prstGeom prst="rect">
            <a:avLst/>
          </a:prstGeom>
          <a:noFill/>
        </p:spPr>
        <p:txBody>
          <a:bodyPr wrap="square" anchor="t" lIns="0" rIns="0" tIns="0" bIns="0">
            <a:spAutoFit/>
          </a:bodyPr>
          <a:lstStyle/>
          <a:p>
            <a:pPr algn="l">
              <a:lnSpc>
                <a:spcPct val="115000"/>
              </a:lnSpc>
              <a:spcAft>
                <a:spcPts val="1000"/>
              </a:spcAft>
            </a:pPr>
            <a:r>
              <a:rPr sz="1150" b="0" i="0">
                <a:solidFill>
                  <a:srgbClr val="3A4356"/>
                </a:solidFill>
                <a:latin typeface="Calibri"/>
              </a:rPr>
              <a:t>• An AI vision model reads the photos</a:t>
            </a:r>
          </a:p>
          <a:p>
            <a:pPr algn="l">
              <a:lnSpc>
                <a:spcPct val="115000"/>
              </a:lnSpc>
              <a:spcAft>
                <a:spcPts val="1000"/>
              </a:spcAft>
            </a:pPr>
            <a:r>
              <a:rPr sz="1150" b="0" i="0">
                <a:solidFill>
                  <a:srgbClr val="3A4356"/>
                </a:solidFill>
                <a:latin typeface="Calibri"/>
              </a:rPr>
              <a:t>• Steps: classify, read, list, cost, store</a:t>
            </a:r>
          </a:p>
          <a:p>
            <a:pPr algn="l">
              <a:lnSpc>
                <a:spcPct val="115000"/>
              </a:lnSpc>
              <a:spcAft>
                <a:spcPts val="1000"/>
              </a:spcAft>
            </a:pPr>
            <a:r>
              <a:rPr sz="1150" b="0" i="0">
                <a:solidFill>
                  <a:srgbClr val="3A4356"/>
                </a:solidFill>
                <a:latin typeface="Calibri"/>
              </a:rPr>
              <a:t>• Plain code tidies types, values, part numbers</a:t>
            </a:r>
          </a:p>
          <a:p>
            <a:pPr algn="l">
              <a:lnSpc>
                <a:spcPct val="115000"/>
              </a:lnSpc>
              <a:spcAft>
                <a:spcPts val="1000"/>
              </a:spcAft>
            </a:pPr>
            <a:r>
              <a:rPr sz="1150" b="0" i="0">
                <a:solidFill>
                  <a:srgbClr val="3A4356"/>
                </a:solidFill>
                <a:latin typeface="Calibri"/>
              </a:rPr>
              <a:t>• Same photos give the same answer</a:t>
            </a:r>
          </a:p>
          <a:p>
            <a:pPr algn="l">
              <a:lnSpc>
                <a:spcPct val="115000"/>
              </a:lnSpc>
              <a:spcAft>
                <a:spcPts val="1000"/>
              </a:spcAft>
            </a:pPr>
            <a:r>
              <a:rPr sz="1150" b="0" i="0">
                <a:solidFill>
                  <a:srgbClr val="3A4356"/>
                </a:solidFill>
                <a:latin typeface="Calibri"/>
              </a:rPr>
              <a:t>• Live part pricing is optional: part numbers only</a:t>
            </a:r>
          </a:p>
        </p:txBody>
      </p:sp>
      <p:sp>
        <p:nvSpPr>
          <p:cNvPr id="13" name="Rounded Rectangle 12"/>
          <p:cNvSpPr/>
          <p:nvPr/>
        </p:nvSpPr>
        <p:spPr>
          <a:xfrm>
            <a:off x="4297680" y="1828800"/>
            <a:ext cx="3657600" cy="3794760"/>
          </a:xfrm>
          <a:prstGeom prst="roundRect">
            <a:avLst>
              <a:gd name="adj" fmla="val 6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828800"/>
            <a:ext cx="3657600" cy="82296"/>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A7F50"/>
                </a:solidFill>
                <a:latin typeface="Calibri"/>
              </a:rPr>
              <a:t>Checks</a:t>
            </a:r>
          </a:p>
        </p:txBody>
      </p:sp>
      <p:sp>
        <p:nvSpPr>
          <p:cNvPr id="16" name="TextBox 15"/>
          <p:cNvSpPr txBox="1"/>
          <p:nvPr/>
        </p:nvSpPr>
        <p:spPr>
          <a:xfrm>
            <a:off x="4526280" y="2450592"/>
            <a:ext cx="3246120" cy="3108960"/>
          </a:xfrm>
          <a:prstGeom prst="rect">
            <a:avLst/>
          </a:prstGeom>
          <a:noFill/>
        </p:spPr>
        <p:txBody>
          <a:bodyPr wrap="square" anchor="t" lIns="0" rIns="0" tIns="0" bIns="0">
            <a:spAutoFit/>
          </a:bodyPr>
          <a:lstStyle/>
          <a:p>
            <a:pPr algn="l">
              <a:lnSpc>
                <a:spcPct val="115000"/>
              </a:lnSpc>
              <a:spcAft>
                <a:spcPts val="1000"/>
              </a:spcAft>
            </a:pPr>
            <a:r>
              <a:rPr sz="1150" b="0" i="0">
                <a:solidFill>
                  <a:srgbClr val="3A4356"/>
                </a:solidFill>
                <a:latin typeface="Calibri"/>
              </a:rPr>
              <a:t>• Markings are read, then cross-checked</a:t>
            </a:r>
          </a:p>
          <a:p>
            <a:pPr algn="l">
              <a:lnSpc>
                <a:spcPct val="115000"/>
              </a:lnSpc>
              <a:spcAft>
                <a:spcPts val="1000"/>
              </a:spcAft>
            </a:pPr>
            <a:r>
              <a:rPr sz="1150" b="0" i="0">
                <a:solidFill>
                  <a:srgbClr val="3A4356"/>
                </a:solidFill>
                <a:latin typeface="Calibri"/>
              </a:rPr>
              <a:t>• Code rejects part numbers that make no sense</a:t>
            </a:r>
          </a:p>
          <a:p>
            <a:pPr algn="l">
              <a:lnSpc>
                <a:spcPct val="115000"/>
              </a:lnSpc>
              <a:spcAft>
                <a:spcPts val="1000"/>
              </a:spcAft>
            </a:pPr>
            <a:r>
              <a:rPr sz="1150" b="0" i="0">
                <a:solidFill>
                  <a:srgbClr val="3A4356"/>
                </a:solidFill>
                <a:latin typeface="Calibri"/>
              </a:rPr>
              <a:t>• Each line has a confidence score</a:t>
            </a:r>
          </a:p>
          <a:p>
            <a:pPr algn="l">
              <a:lnSpc>
                <a:spcPct val="115000"/>
              </a:lnSpc>
              <a:spcAft>
                <a:spcPts val="1000"/>
              </a:spcAft>
            </a:pPr>
            <a:r>
              <a:rPr sz="1150" b="0" i="0">
                <a:solidFill>
                  <a:srgbClr val="3A4356"/>
                </a:solidFill>
                <a:latin typeface="Calibri"/>
              </a:rPr>
              <a:t>• Prices are capped against a catalogue</a:t>
            </a:r>
          </a:p>
          <a:p>
            <a:pPr algn="l">
              <a:lnSpc>
                <a:spcPct val="115000"/>
              </a:lnSpc>
              <a:spcAft>
                <a:spcPts val="1000"/>
              </a:spcAft>
            </a:pPr>
            <a:r>
              <a:rPr sz="1150" b="0" i="0">
                <a:solidFill>
                  <a:srgbClr val="3A4356"/>
                </a:solidFill>
                <a:latin typeface="Calibri"/>
              </a:rPr>
              <a:t>• Board fab is a bought-in price, no margin on top</a:t>
            </a:r>
          </a:p>
        </p:txBody>
      </p:sp>
      <p:sp>
        <p:nvSpPr>
          <p:cNvPr id="17" name="Rounded Rectangle 16"/>
          <p:cNvSpPr/>
          <p:nvPr/>
        </p:nvSpPr>
        <p:spPr>
          <a:xfrm>
            <a:off x="8183879" y="1828800"/>
            <a:ext cx="3657600" cy="37947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83879" y="1828800"/>
            <a:ext cx="3657600" cy="822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9"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6B3FA0"/>
                </a:solidFill>
                <a:latin typeface="Calibri"/>
              </a:rPr>
              <a:t>Status at JLR</a:t>
            </a:r>
          </a:p>
        </p:txBody>
      </p:sp>
      <p:sp>
        <p:nvSpPr>
          <p:cNvPr id="20" name="TextBox 19"/>
          <p:cNvSpPr txBox="1"/>
          <p:nvPr/>
        </p:nvSpPr>
        <p:spPr>
          <a:xfrm>
            <a:off x="8412479" y="2450592"/>
            <a:ext cx="3246120" cy="3108960"/>
          </a:xfrm>
          <a:prstGeom prst="rect">
            <a:avLst/>
          </a:prstGeom>
          <a:noFill/>
        </p:spPr>
        <p:txBody>
          <a:bodyPr wrap="square" anchor="t" lIns="0" rIns="0" tIns="0" bIns="0">
            <a:spAutoFit/>
          </a:bodyPr>
          <a:lstStyle/>
          <a:p>
            <a:pPr algn="l">
              <a:lnSpc>
                <a:spcPct val="115000"/>
              </a:lnSpc>
              <a:spcAft>
                <a:spcPts val="1000"/>
              </a:spcAft>
            </a:pPr>
            <a:r>
              <a:rPr sz="1150" b="0" i="0">
                <a:solidFill>
                  <a:srgbClr val="3A4356"/>
                </a:solidFill>
                <a:latin typeface="Calibri"/>
              </a:rPr>
              <a:t>• Switched off; the screen is hidden</a:t>
            </a:r>
          </a:p>
          <a:p>
            <a:pPr algn="l">
              <a:lnSpc>
                <a:spcPct val="115000"/>
              </a:lnSpc>
              <a:spcAft>
                <a:spcPts val="1000"/>
              </a:spcAft>
            </a:pPr>
            <a:r>
              <a:rPr sz="1150" b="0" i="0">
                <a:solidFill>
                  <a:srgbClr val="3A4356"/>
                </a:solidFill>
                <a:latin typeface="Calibri"/>
              </a:rPr>
              <a:t>• Code kept; one setting turns it on</a:t>
            </a:r>
          </a:p>
          <a:p>
            <a:pPr algn="l">
              <a:lnSpc>
                <a:spcPct val="115000"/>
              </a:lnSpc>
              <a:spcAft>
                <a:spcPts val="1000"/>
              </a:spcAft>
            </a:pPr>
            <a:r>
              <a:rPr sz="1150" b="0" i="0">
                <a:solidFill>
                  <a:srgbClr val="3A4356"/>
                </a:solidFill>
                <a:latin typeface="Calibri"/>
              </a:rPr>
              <a:t>• When on, rate-limited per user</a:t>
            </a:r>
          </a:p>
          <a:p>
            <a:pPr algn="l">
              <a:lnSpc>
                <a:spcPct val="115000"/>
              </a:lnSpc>
              <a:spcAft>
                <a:spcPts val="1000"/>
              </a:spcAft>
            </a:pPr>
            <a:r>
              <a:rPr sz="1150" b="0" i="0">
                <a:solidFill>
                  <a:srgbClr val="3A4356"/>
                </a:solidFill>
                <a:latin typeface="Calibri"/>
              </a:rPr>
              <a:t>• AI reads only; it never sets a price</a:t>
            </a:r>
          </a:p>
          <a:p>
            <a:pPr algn="l">
              <a:lnSpc>
                <a:spcPct val="115000"/>
              </a:lnSpc>
              <a:spcAft>
                <a:spcPts val="1000"/>
              </a:spcAft>
            </a:pPr>
            <a:r>
              <a:rPr sz="1150" b="0" i="0">
                <a:solidFill>
                  <a:srgbClr val="3A4356"/>
                </a:solidFill>
                <a:latin typeface="Calibri"/>
              </a:rPr>
              <a:t>• PCB fab and PCBA forms still cost boards</a:t>
            </a:r>
          </a:p>
        </p:txBody>
      </p:sp>
      <p:sp>
        <p:nvSpPr>
          <p:cNvPr id="21" name="Rounded Rectangle 20"/>
          <p:cNvSpPr/>
          <p:nvPr/>
        </p:nvSpPr>
        <p:spPr>
          <a:xfrm>
            <a:off x="411480" y="5870448"/>
            <a:ext cx="11384280" cy="777240"/>
          </a:xfrm>
          <a:prstGeom prst="roundRect">
            <a:avLst>
              <a:gd name="adj" fmla="val 8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971032"/>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99651A"/>
                </a:solidFill>
                <a:latin typeface="Calibri"/>
              </a:rPr>
              <a:t>Honest limits: </a:t>
            </a:r>
            <a:r>
              <a:rPr sz="1150" b="0" i="0">
                <a:solidFill>
                  <a:srgbClr val="3A4356"/>
                </a:solidFill>
                <a:latin typeface="Calibri"/>
              </a:rPr>
              <a:t>a photo BOM is a first pass, not the final answer. Hidden or underside parts need more photos, and low-confidence lines are flagged for a human check.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CAD file to cost — how it works, step by step</a:t>
            </a:r>
          </a:p>
        </p:txBody>
      </p:sp>
      <p:sp>
        <p:nvSpPr>
          <p:cNvPr id="9" name="Rounded Rectangle 8"/>
          <p:cNvSpPr/>
          <p:nvPr/>
        </p:nvSpPr>
        <p:spPr>
          <a:xfrm>
            <a:off x="411480" y="1783080"/>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1D6FB8"/>
                </a:solidFill>
                <a:latin typeface="Calibri"/>
              </a:rPr>
              <a:t>1 · Upload a CAD model</a:t>
            </a:r>
          </a:p>
          <a:p>
            <a:pPr algn="l"/>
            <a:r>
              <a:rPr sz="950">
                <a:solidFill>
                  <a:srgbClr val="3A4356"/>
                </a:solidFill>
                <a:latin typeface="Calibri"/>
              </a:rPr>
              <a:t>STEP, IGES or STL. 13 commodities can be costed from CAD. A DXF flat pattern can go with a sheet-metal STEP.</a:t>
            </a:r>
          </a:p>
        </p:txBody>
      </p:sp>
      <p:sp>
        <p:nvSpPr>
          <p:cNvPr id="10" name="Rectangle 9"/>
          <p:cNvSpPr/>
          <p:nvPr/>
        </p:nvSpPr>
        <p:spPr>
          <a:xfrm>
            <a:off x="411480" y="1783080"/>
            <a:ext cx="64008" cy="62179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wn Arrow 10"/>
          <p:cNvSpPr/>
          <p:nvPr/>
        </p:nvSpPr>
        <p:spPr>
          <a:xfrm>
            <a:off x="5943600" y="2418588"/>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2569464"/>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1D6FB8"/>
                </a:solidFill>
                <a:latin typeface="Calibri"/>
              </a:rPr>
              <a:t>2 · Opened on the same machine</a:t>
            </a:r>
          </a:p>
          <a:p>
            <a:pPr algn="l"/>
            <a:r>
              <a:rPr sz="950">
                <a:solidFill>
                  <a:srgbClr val="3A4356"/>
                </a:solidFill>
                <a:latin typeface="Calibri"/>
              </a:rPr>
              <a:t>The OpenCASCADE geometry engine reads the file from a local temp file, then it is deleted. It never leaves the machine.</a:t>
            </a:r>
          </a:p>
        </p:txBody>
      </p:sp>
      <p:sp>
        <p:nvSpPr>
          <p:cNvPr id="13" name="Rectangle 12"/>
          <p:cNvSpPr/>
          <p:nvPr/>
        </p:nvSpPr>
        <p:spPr>
          <a:xfrm>
            <a:off x="411480" y="2569464"/>
            <a:ext cx="64008" cy="62179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13"/>
          <p:cNvSpPr/>
          <p:nvPr/>
        </p:nvSpPr>
        <p:spPr>
          <a:xfrm>
            <a:off x="5943600" y="3204972"/>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11480" y="3355848"/>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6B3FA0"/>
                </a:solidFill>
                <a:latin typeface="Calibri"/>
              </a:rPr>
              <a:t>3 · The model is measured</a:t>
            </a:r>
          </a:p>
          <a:p>
            <a:pPr algn="l"/>
            <a:r>
              <a:rPr sz="950">
                <a:solidFill>
                  <a:srgbClr val="3A4356"/>
                </a:solidFill>
                <a:latin typeface="Calibri"/>
              </a:rPr>
              <a:t>Volume, weight, size, wall thickness, holes and features, measured from the geometry, not typed from a drawing.</a:t>
            </a:r>
          </a:p>
        </p:txBody>
      </p:sp>
      <p:sp>
        <p:nvSpPr>
          <p:cNvPr id="16" name="Rectangle 15"/>
          <p:cNvSpPr/>
          <p:nvPr/>
        </p:nvSpPr>
        <p:spPr>
          <a:xfrm>
            <a:off x="411480" y="3355848"/>
            <a:ext cx="64008" cy="62179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5943600" y="3991356"/>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1480" y="4142232"/>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D7D71"/>
                </a:solidFill>
                <a:latin typeface="Calibri"/>
              </a:rPr>
              <a:t>4 · Rules fill the inputs, and it asks</a:t>
            </a:r>
          </a:p>
          <a:p>
            <a:pPr algn="l"/>
            <a:r>
              <a:rPr sz="950">
                <a:solidFill>
                  <a:srgbClr val="3A4356"/>
                </a:solidFill>
                <a:latin typeface="Calibri"/>
              </a:rPr>
              <a:t>Rules turn the measurements into cost inputs. Where geometry cannot decide (route, material), it asks you.</a:t>
            </a:r>
          </a:p>
        </p:txBody>
      </p:sp>
      <p:sp>
        <p:nvSpPr>
          <p:cNvPr id="19" name="Rectangle 18"/>
          <p:cNvSpPr/>
          <p:nvPr/>
        </p:nvSpPr>
        <p:spPr>
          <a:xfrm>
            <a:off x="411480" y="4142232"/>
            <a:ext cx="64008" cy="621792"/>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5943600" y="4777740"/>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11480" y="4928616"/>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A7F50"/>
                </a:solidFill>
                <a:latin typeface="Calibri"/>
              </a:rPr>
              <a:t>5 · The engine costs it</a:t>
            </a:r>
          </a:p>
          <a:p>
            <a:pPr algn="l"/>
            <a:r>
              <a:rPr sz="950">
                <a:solidFill>
                  <a:srgbClr val="3A4356"/>
                </a:solidFill>
                <a:latin typeface="Calibri"/>
              </a:rPr>
              <a:t>Material, process, labour, tooling, packaging, logistics, overhead and margin, on our rates for the chosen region.</a:t>
            </a:r>
          </a:p>
        </p:txBody>
      </p:sp>
      <p:sp>
        <p:nvSpPr>
          <p:cNvPr id="22" name="Rectangle 21"/>
          <p:cNvSpPr/>
          <p:nvPr/>
        </p:nvSpPr>
        <p:spPr>
          <a:xfrm>
            <a:off x="411480" y="4928616"/>
            <a:ext cx="64008" cy="621792"/>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wn Arrow 22"/>
          <p:cNvSpPr/>
          <p:nvPr/>
        </p:nvSpPr>
        <p:spPr>
          <a:xfrm>
            <a:off x="5943600" y="5564124"/>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1480" y="5715000"/>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99651A"/>
                </a:solidFill>
                <a:latin typeface="Calibri"/>
              </a:rPr>
              <a:t>6 · A result you can defend</a:t>
            </a:r>
          </a:p>
          <a:p>
            <a:pPr algn="l"/>
            <a:r>
              <a:rPr sz="950">
                <a:solidFill>
                  <a:srgbClr val="3A4356"/>
                </a:solidFill>
                <a:latin typeface="Calibri"/>
              </a:rPr>
              <a:t>The 8-bucket breakdown, a self-audit, design warnings and a P10–P90 band. Logged actuals tighten the band.</a:t>
            </a:r>
          </a:p>
        </p:txBody>
      </p:sp>
      <p:sp>
        <p:nvSpPr>
          <p:cNvPr id="25" name="Rectangle 24"/>
          <p:cNvSpPr/>
          <p:nvPr/>
        </p:nvSpPr>
        <p:spPr>
          <a:xfrm>
            <a:off x="411480" y="5715000"/>
            <a:ext cx="64008" cy="621792"/>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CAD file to cost — how it works, checks, effort</a:t>
            </a:r>
          </a:p>
        </p:txBody>
      </p:sp>
      <p:sp>
        <p:nvSpPr>
          <p:cNvPr id="9" name="Rounded Rectangle 8"/>
          <p:cNvSpPr/>
          <p:nvPr/>
        </p:nvSpPr>
        <p:spPr>
          <a:xfrm>
            <a:off x="411480" y="1828800"/>
            <a:ext cx="3657600" cy="379476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1D6FB8"/>
                </a:solidFill>
                <a:latin typeface="Calibri"/>
              </a:rPr>
              <a:t>How it works</a:t>
            </a:r>
          </a:p>
        </p:txBody>
      </p:sp>
      <p:sp>
        <p:nvSpPr>
          <p:cNvPr id="12" name="TextBox 11"/>
          <p:cNvSpPr txBox="1"/>
          <p:nvPr/>
        </p:nvSpPr>
        <p:spPr>
          <a:xfrm>
            <a:off x="640080" y="2450592"/>
            <a:ext cx="3246120" cy="3108960"/>
          </a:xfrm>
          <a:prstGeom prst="rect">
            <a:avLst/>
          </a:prstGeom>
          <a:noFill/>
        </p:spPr>
        <p:txBody>
          <a:bodyPr wrap="square" anchor="t" lIns="0" rIns="0" tIns="0" bIns="0">
            <a:spAutoFit/>
          </a:bodyPr>
          <a:lstStyle/>
          <a:p>
            <a:pPr algn="l">
              <a:lnSpc>
                <a:spcPct val="115000"/>
              </a:lnSpc>
              <a:spcAft>
                <a:spcPts val="1000"/>
              </a:spcAft>
            </a:pPr>
            <a:r>
              <a:rPr sz="1150" b="0" i="0">
                <a:solidFill>
                  <a:srgbClr val="3A4356"/>
                </a:solidFill>
                <a:latin typeface="Calibri"/>
              </a:rPr>
              <a:t>• OpenCASCADE measures the geometry</a:t>
            </a:r>
          </a:p>
          <a:p>
            <a:pPr algn="l">
              <a:lnSpc>
                <a:spcPct val="115000"/>
              </a:lnSpc>
              <a:spcAft>
                <a:spcPts val="1000"/>
              </a:spcAft>
            </a:pPr>
            <a:r>
              <a:rPr sz="1150" b="0" i="0">
                <a:solidFill>
                  <a:srgbClr val="3A4356"/>
                </a:solidFill>
                <a:latin typeface="Calibri"/>
              </a:rPr>
              <a:t>• Rules, not AI, turn it into inputs</a:t>
            </a:r>
          </a:p>
          <a:p>
            <a:pPr algn="l">
              <a:lnSpc>
                <a:spcPct val="115000"/>
              </a:lnSpc>
              <a:spcAft>
                <a:spcPts val="1000"/>
              </a:spcAft>
            </a:pPr>
            <a:r>
              <a:rPr sz="1150" b="0" i="0">
                <a:solidFill>
                  <a:srgbClr val="3A4356"/>
                </a:solidFill>
                <a:latin typeface="Calibri"/>
              </a:rPr>
              <a:t>• Cost engines for 19 processes</a:t>
            </a:r>
          </a:p>
          <a:p>
            <a:pPr algn="l">
              <a:lnSpc>
                <a:spcPct val="115000"/>
              </a:lnSpc>
              <a:spcAft>
                <a:spcPts val="1000"/>
              </a:spcAft>
            </a:pPr>
            <a:r>
              <a:rPr sz="1150" b="0" i="0">
                <a:solidFill>
                  <a:srgbClr val="3A4356"/>
                </a:solidFill>
                <a:latin typeface="Calibri"/>
              </a:rPr>
              <a:t>• Our own rate library, 20 regions</a:t>
            </a:r>
          </a:p>
        </p:txBody>
      </p:sp>
      <p:sp>
        <p:nvSpPr>
          <p:cNvPr id="13" name="Rounded Rectangle 12"/>
          <p:cNvSpPr/>
          <p:nvPr/>
        </p:nvSpPr>
        <p:spPr>
          <a:xfrm>
            <a:off x="4297680" y="1828800"/>
            <a:ext cx="3657600" cy="3794760"/>
          </a:xfrm>
          <a:prstGeom prst="roundRect">
            <a:avLst>
              <a:gd name="adj" fmla="val 6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828800"/>
            <a:ext cx="3657600" cy="82296"/>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A7F50"/>
                </a:solidFill>
                <a:latin typeface="Calibri"/>
              </a:rPr>
              <a:t>Checks</a:t>
            </a:r>
          </a:p>
        </p:txBody>
      </p:sp>
      <p:sp>
        <p:nvSpPr>
          <p:cNvPr id="16" name="TextBox 15"/>
          <p:cNvSpPr txBox="1"/>
          <p:nvPr/>
        </p:nvSpPr>
        <p:spPr>
          <a:xfrm>
            <a:off x="4526280" y="2450592"/>
            <a:ext cx="3246120" cy="3108960"/>
          </a:xfrm>
          <a:prstGeom prst="rect">
            <a:avLst/>
          </a:prstGeom>
          <a:noFill/>
        </p:spPr>
        <p:txBody>
          <a:bodyPr wrap="square" anchor="t" lIns="0" rIns="0" tIns="0" bIns="0">
            <a:spAutoFit/>
          </a:bodyPr>
          <a:lstStyle/>
          <a:p>
            <a:pPr algn="l">
              <a:lnSpc>
                <a:spcPct val="115000"/>
              </a:lnSpc>
              <a:spcAft>
                <a:spcPts val="1000"/>
              </a:spcAft>
            </a:pPr>
            <a:r>
              <a:rPr sz="1150" b="0" i="0">
                <a:solidFill>
                  <a:srgbClr val="3A4356"/>
                </a:solidFill>
                <a:latin typeface="Calibri"/>
              </a:rPr>
              <a:t>• Measured volume and weight</a:t>
            </a:r>
          </a:p>
          <a:p>
            <a:pPr algn="l">
              <a:lnSpc>
                <a:spcPct val="115000"/>
              </a:lnSpc>
              <a:spcAft>
                <a:spcPts val="1000"/>
              </a:spcAft>
            </a:pPr>
            <a:r>
              <a:rPr sz="1150" b="0" i="0">
                <a:solidFill>
                  <a:srgbClr val="3A4356"/>
                </a:solidFill>
                <a:latin typeface="Calibri"/>
              </a:rPr>
              <a:t>• Every figure traces to a rate</a:t>
            </a:r>
          </a:p>
          <a:p>
            <a:pPr algn="l">
              <a:lnSpc>
                <a:spcPct val="115000"/>
              </a:lnSpc>
              <a:spcAft>
                <a:spcPts val="1000"/>
              </a:spcAft>
            </a:pPr>
            <a:r>
              <a:rPr sz="1150" b="0" i="0">
                <a:solidFill>
                  <a:srgbClr val="3A4356"/>
                </a:solidFill>
                <a:latin typeface="Calibri"/>
              </a:rPr>
              <a:t>• Hand calc matched to under 0.01%</a:t>
            </a:r>
          </a:p>
          <a:p>
            <a:pPr algn="l">
              <a:lnSpc>
                <a:spcPct val="115000"/>
              </a:lnSpc>
              <a:spcAft>
                <a:spcPts val="1000"/>
              </a:spcAft>
            </a:pPr>
            <a:r>
              <a:rPr sz="1150" b="0" i="0">
                <a:solidFill>
                  <a:srgbClr val="3A4356"/>
                </a:solidFill>
                <a:latin typeface="Calibri"/>
              </a:rPr>
              <a:t>• 6 real parts pinned in a baseline</a:t>
            </a:r>
          </a:p>
          <a:p>
            <a:pPr algn="l">
              <a:lnSpc>
                <a:spcPct val="115000"/>
              </a:lnSpc>
              <a:spcAft>
                <a:spcPts val="1000"/>
              </a:spcAft>
            </a:pPr>
            <a:r>
              <a:rPr sz="1150" b="0" i="0">
                <a:solidFill>
                  <a:srgbClr val="3A4356"/>
                </a:solidFill>
                <a:latin typeface="Calibri"/>
              </a:rPr>
              <a:t>• Self-audit and a P10–P90 band</a:t>
            </a:r>
          </a:p>
        </p:txBody>
      </p:sp>
      <p:sp>
        <p:nvSpPr>
          <p:cNvPr id="17" name="Rounded Rectangle 16"/>
          <p:cNvSpPr/>
          <p:nvPr/>
        </p:nvSpPr>
        <p:spPr>
          <a:xfrm>
            <a:off x="8183879" y="1828800"/>
            <a:ext cx="3657600" cy="37947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83879" y="1828800"/>
            <a:ext cx="3657600" cy="822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9"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6B3FA0"/>
                </a:solidFill>
                <a:latin typeface="Calibri"/>
              </a:rPr>
              <a:t>Engineer effort</a:t>
            </a:r>
          </a:p>
        </p:txBody>
      </p:sp>
      <p:sp>
        <p:nvSpPr>
          <p:cNvPr id="20" name="TextBox 19"/>
          <p:cNvSpPr txBox="1"/>
          <p:nvPr/>
        </p:nvSpPr>
        <p:spPr>
          <a:xfrm>
            <a:off x="8412479" y="2450592"/>
            <a:ext cx="3246120" cy="3108960"/>
          </a:xfrm>
          <a:prstGeom prst="rect">
            <a:avLst/>
          </a:prstGeom>
          <a:noFill/>
        </p:spPr>
        <p:txBody>
          <a:bodyPr wrap="square" anchor="t" lIns="0" rIns="0" tIns="0" bIns="0">
            <a:spAutoFit/>
          </a:bodyPr>
          <a:lstStyle/>
          <a:p>
            <a:pPr algn="l">
              <a:lnSpc>
                <a:spcPct val="115000"/>
              </a:lnSpc>
              <a:spcAft>
                <a:spcPts val="1000"/>
              </a:spcAft>
            </a:pPr>
            <a:r>
              <a:rPr sz="1150" b="0" i="0">
                <a:solidFill>
                  <a:srgbClr val="3A4356"/>
                </a:solidFill>
                <a:latin typeface="Calibri"/>
              </a:rPr>
              <a:t>• Measuring is automatic</a:t>
            </a:r>
          </a:p>
          <a:p>
            <a:pPr algn="l">
              <a:lnSpc>
                <a:spcPct val="115000"/>
              </a:lnSpc>
              <a:spcAft>
                <a:spcPts val="1000"/>
              </a:spcAft>
            </a:pPr>
            <a:r>
              <a:rPr sz="1150" b="0" i="0">
                <a:solidFill>
                  <a:srgbClr val="3A4356"/>
                </a:solidFill>
                <a:latin typeface="Calibri"/>
              </a:rPr>
              <a:t>• You answer what geometry cannot</a:t>
            </a:r>
          </a:p>
          <a:p>
            <a:pPr algn="l">
              <a:lnSpc>
                <a:spcPct val="115000"/>
              </a:lnSpc>
              <a:spcAft>
                <a:spcPts val="1000"/>
              </a:spcAft>
            </a:pPr>
            <a:r>
              <a:rPr sz="1150" b="0" i="0">
                <a:solidFill>
                  <a:srgbClr val="3A4356"/>
                </a:solidFill>
                <a:latin typeface="Calibri"/>
              </a:rPr>
              <a:t>• A machined STL needs a typed cycle time</a:t>
            </a:r>
          </a:p>
          <a:p>
            <a:pPr algn="l">
              <a:lnSpc>
                <a:spcPct val="115000"/>
              </a:lnSpc>
              <a:spcAft>
                <a:spcPts val="1000"/>
              </a:spcAft>
            </a:pPr>
            <a:r>
              <a:rPr sz="1150" b="0" i="0">
                <a:solidFill>
                  <a:srgbClr val="3A4356"/>
                </a:solidFill>
                <a:latin typeface="Calibri"/>
              </a:rPr>
              <a:t>• Same flow for all 13 CAD commodities</a:t>
            </a:r>
          </a:p>
        </p:txBody>
      </p:sp>
      <p:sp>
        <p:nvSpPr>
          <p:cNvPr id="21" name="Rounded Rectangle 20"/>
          <p:cNvSpPr/>
          <p:nvPr/>
        </p:nvSpPr>
        <p:spPr>
          <a:xfrm>
            <a:off x="411480" y="5870448"/>
            <a:ext cx="11384280" cy="777240"/>
          </a:xfrm>
          <a:prstGeom prst="roundRect">
            <a:avLst>
              <a:gd name="adj" fmla="val 8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971032"/>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2A7F50"/>
                </a:solidFill>
                <a:latin typeface="Calibri"/>
              </a:rPr>
              <a:t>Security, restated: </a:t>
            </a:r>
            <a:r>
              <a:rPr sz="1150" b="1" i="0">
                <a:solidFill>
                  <a:srgbClr val="3A4356"/>
                </a:solidFill>
                <a:latin typeface="Calibri"/>
              </a:rPr>
              <a:t>the CAD file is measured on the same machine and deleted afterwards. It is never sent anywhere. In the JLR build, AI is off, so no geometry summary goes out either.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CAD-TO-COST · MEASURED, THEN CHECKED BY YOU</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the tool measures — and where it goes</a:t>
            </a:r>
          </a:p>
        </p:txBody>
      </p:sp>
      <p:sp>
        <p:nvSpPr>
          <p:cNvPr id="9" name="Rounded Rectangle 8"/>
          <p:cNvSpPr/>
          <p:nvPr/>
        </p:nvSpPr>
        <p:spPr>
          <a:xfrm>
            <a:off x="411480" y="1572768"/>
            <a:ext cx="6720840" cy="365760"/>
          </a:xfrm>
          <a:prstGeom prst="roundRect">
            <a:avLst>
              <a:gd name="adj" fmla="val 8000"/>
            </a:avLst>
          </a:prstGeom>
          <a:solidFill>
            <a:srgbClr val="E8F1FA"/>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27632"/>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6325C"/>
                </a:solidFill>
                <a:latin typeface="Calibri"/>
              </a:rPr>
              <a:t>Measured from the geometry</a:t>
            </a:r>
          </a:p>
        </p:txBody>
      </p:sp>
      <p:sp>
        <p:nvSpPr>
          <p:cNvPr id="11" name="TextBox 10"/>
          <p:cNvSpPr txBox="1"/>
          <p:nvPr/>
        </p:nvSpPr>
        <p:spPr>
          <a:xfrm>
            <a:off x="4297680" y="1627632"/>
            <a:ext cx="283464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 Feeds this cost driver</a:t>
            </a:r>
          </a:p>
        </p:txBody>
      </p:sp>
      <p:sp>
        <p:nvSpPr>
          <p:cNvPr id="12" name="Rounded Rectangle 11"/>
          <p:cNvSpPr/>
          <p:nvPr/>
        </p:nvSpPr>
        <p:spPr>
          <a:xfrm>
            <a:off x="411480" y="1993392"/>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66544"/>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Volume (OpenCASCADE)</a:t>
            </a:r>
          </a:p>
        </p:txBody>
      </p:sp>
      <p:sp>
        <p:nvSpPr>
          <p:cNvPr id="14" name="TextBox 13"/>
          <p:cNvSpPr txBox="1"/>
          <p:nvPr/>
        </p:nvSpPr>
        <p:spPr>
          <a:xfrm>
            <a:off x="4297680" y="2066544"/>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Material mass · stock size</a:t>
            </a:r>
          </a:p>
        </p:txBody>
      </p:sp>
      <p:sp>
        <p:nvSpPr>
          <p:cNvPr id="15" name="Rounded Rectangle 14"/>
          <p:cNvSpPr/>
          <p:nvPr/>
        </p:nvSpPr>
        <p:spPr>
          <a:xfrm>
            <a:off x="411480" y="2414016"/>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487168"/>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Weight = volume × density</a:t>
            </a:r>
          </a:p>
        </p:txBody>
      </p:sp>
      <p:sp>
        <p:nvSpPr>
          <p:cNvPr id="17" name="TextBox 16"/>
          <p:cNvSpPr txBox="1"/>
          <p:nvPr/>
        </p:nvSpPr>
        <p:spPr>
          <a:xfrm>
            <a:off x="4297680" y="2487168"/>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Raw-material £</a:t>
            </a:r>
          </a:p>
        </p:txBody>
      </p:sp>
      <p:sp>
        <p:nvSpPr>
          <p:cNvPr id="18" name="Rounded Rectangle 17"/>
          <p:cNvSpPr/>
          <p:nvPr/>
        </p:nvSpPr>
        <p:spPr>
          <a:xfrm>
            <a:off x="411480" y="2834640"/>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907792"/>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Bounding box / envelope</a:t>
            </a:r>
          </a:p>
        </p:txBody>
      </p:sp>
      <p:sp>
        <p:nvSpPr>
          <p:cNvPr id="20" name="TextBox 19"/>
          <p:cNvSpPr txBox="1"/>
          <p:nvPr/>
        </p:nvSpPr>
        <p:spPr>
          <a:xfrm>
            <a:off x="4297680" y="2907792"/>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Machine sizing · stock · setups</a:t>
            </a:r>
          </a:p>
        </p:txBody>
      </p:sp>
      <p:sp>
        <p:nvSpPr>
          <p:cNvPr id="21" name="Rounded Rectangle 20"/>
          <p:cNvSpPr/>
          <p:nvPr/>
        </p:nvSpPr>
        <p:spPr>
          <a:xfrm>
            <a:off x="411480" y="3255264"/>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328416"/>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Body count</a:t>
            </a:r>
          </a:p>
        </p:txBody>
      </p:sp>
      <p:sp>
        <p:nvSpPr>
          <p:cNvPr id="23" name="TextBox 22"/>
          <p:cNvSpPr txBox="1"/>
          <p:nvPr/>
        </p:nvSpPr>
        <p:spPr>
          <a:xfrm>
            <a:off x="4297680" y="3328416"/>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Assembly cost · BOM line count</a:t>
            </a:r>
          </a:p>
        </p:txBody>
      </p:sp>
      <p:sp>
        <p:nvSpPr>
          <p:cNvPr id="24" name="Rounded Rectangle 23"/>
          <p:cNvSpPr/>
          <p:nvPr/>
        </p:nvSpPr>
        <p:spPr>
          <a:xfrm>
            <a:off x="411480" y="3675888"/>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749040"/>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Hole and boss table (STEP, IGES)</a:t>
            </a:r>
          </a:p>
        </p:txBody>
      </p:sp>
      <p:sp>
        <p:nvSpPr>
          <p:cNvPr id="26" name="TextBox 25"/>
          <p:cNvSpPr txBox="1"/>
          <p:nvPr/>
        </p:nvSpPr>
        <p:spPr>
          <a:xfrm>
            <a:off x="4297680" y="3749040"/>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Drill / bore / tap operations</a:t>
            </a:r>
          </a:p>
        </p:txBody>
      </p:sp>
      <p:sp>
        <p:nvSpPr>
          <p:cNvPr id="27" name="Rounded Rectangle 26"/>
          <p:cNvSpPr/>
          <p:nvPr/>
        </p:nvSpPr>
        <p:spPr>
          <a:xfrm>
            <a:off x="411480" y="4096512"/>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4169664"/>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Wall thickness</a:t>
            </a:r>
          </a:p>
        </p:txBody>
      </p:sp>
      <p:sp>
        <p:nvSpPr>
          <p:cNvPr id="29" name="TextBox 28"/>
          <p:cNvSpPr txBox="1"/>
          <p:nvPr/>
        </p:nvSpPr>
        <p:spPr>
          <a:xfrm>
            <a:off x="4297680" y="4169664"/>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Route choice · mould and cast checks</a:t>
            </a:r>
          </a:p>
        </p:txBody>
      </p:sp>
      <p:sp>
        <p:nvSpPr>
          <p:cNvPr id="30" name="Rounded Rectangle 29"/>
          <p:cNvSpPr/>
          <p:nvPr/>
        </p:nvSpPr>
        <p:spPr>
          <a:xfrm>
            <a:off x="411480" y="4517136"/>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4590288"/>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Draft and undercuts</a:t>
            </a:r>
          </a:p>
        </p:txBody>
      </p:sp>
      <p:sp>
        <p:nvSpPr>
          <p:cNvPr id="32" name="TextBox 31"/>
          <p:cNvSpPr txBox="1"/>
          <p:nvPr/>
        </p:nvSpPr>
        <p:spPr>
          <a:xfrm>
            <a:off x="4297680" y="4590288"/>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Tooling complexity</a:t>
            </a:r>
          </a:p>
        </p:txBody>
      </p:sp>
      <p:sp>
        <p:nvSpPr>
          <p:cNvPr id="33" name="Rounded Rectangle 32"/>
          <p:cNvSpPr/>
          <p:nvPr/>
        </p:nvSpPr>
        <p:spPr>
          <a:xfrm>
            <a:off x="411480" y="4937760"/>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5010912"/>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Face-type areas</a:t>
            </a:r>
          </a:p>
        </p:txBody>
      </p:sp>
      <p:sp>
        <p:nvSpPr>
          <p:cNvPr id="35" name="TextBox 34"/>
          <p:cNvSpPr txBox="1"/>
          <p:nvPr/>
        </p:nvSpPr>
        <p:spPr>
          <a:xfrm>
            <a:off x="4297680" y="5010912"/>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Machining area · paint area</a:t>
            </a:r>
          </a:p>
        </p:txBody>
      </p:sp>
      <p:sp>
        <p:nvSpPr>
          <p:cNvPr id="36" name="Rounded Rectangle 35"/>
          <p:cNvSpPr/>
          <p:nvPr/>
        </p:nvSpPr>
        <p:spPr>
          <a:xfrm>
            <a:off x="411480" y="5358384"/>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5431536"/>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CNC cycle estimate (STEP, IGES)</a:t>
            </a:r>
          </a:p>
        </p:txBody>
      </p:sp>
      <p:sp>
        <p:nvSpPr>
          <p:cNvPr id="38" name="TextBox 37"/>
          <p:cNvSpPr txBox="1"/>
          <p:nvPr/>
        </p:nvSpPr>
        <p:spPr>
          <a:xfrm>
            <a:off x="4297680" y="5431536"/>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Process-time baseline</a:t>
            </a:r>
          </a:p>
        </p:txBody>
      </p:sp>
      <p:sp>
        <p:nvSpPr>
          <p:cNvPr id="39" name="Rounded Rectangle 38"/>
          <p:cNvSpPr/>
          <p:nvPr/>
        </p:nvSpPr>
        <p:spPr>
          <a:xfrm>
            <a:off x="7360920" y="1572768"/>
            <a:ext cx="4434840" cy="25146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360920" y="1572768"/>
            <a:ext cx="64008" cy="25146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543800" y="1682496"/>
            <a:ext cx="4142232"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6325C"/>
                </a:solidFill>
                <a:latin typeface="Calibri"/>
              </a:rPr>
              <a:t>What the tool asks you</a:t>
            </a:r>
          </a:p>
        </p:txBody>
      </p:sp>
      <p:sp>
        <p:nvSpPr>
          <p:cNvPr id="42" name="TextBox 41"/>
          <p:cNvSpPr txBox="1"/>
          <p:nvPr/>
        </p:nvSpPr>
        <p:spPr>
          <a:xfrm>
            <a:off x="7543800" y="2029968"/>
            <a:ext cx="4142232" cy="1920240"/>
          </a:xfrm>
          <a:prstGeom prst="rect">
            <a:avLst/>
          </a:prstGeom>
          <a:noFill/>
        </p:spPr>
        <p:txBody>
          <a:bodyPr wrap="square" anchor="t" lIns="0" rIns="0" tIns="0" bIns="0">
            <a:spAutoFit/>
          </a:bodyPr>
          <a:lstStyle/>
          <a:p>
            <a:pPr algn="l">
              <a:lnSpc>
                <a:spcPct val="105000"/>
              </a:lnSpc>
              <a:spcAft>
                <a:spcPts val="400"/>
              </a:spcAft>
            </a:pPr>
            <a:r>
              <a:rPr sz="950" b="0" i="0">
                <a:solidFill>
                  <a:srgbClr val="3A4356"/>
                </a:solidFill>
                <a:latin typeface="Calibri"/>
              </a:rPr>
              <a:t>Where geometry cannot decide, it asks:</a:t>
            </a:r>
          </a:p>
          <a:p>
            <a:pPr algn="l">
              <a:lnSpc>
                <a:spcPct val="105000"/>
              </a:lnSpc>
              <a:spcAft>
                <a:spcPts val="400"/>
              </a:spcAft>
            </a:pPr>
            <a:r>
              <a:rPr sz="950" b="1" i="0">
                <a:solidFill>
                  <a:srgbClr val="16325C"/>
                </a:solidFill>
                <a:latin typeface="Calibri"/>
              </a:rPr>
              <a:t>   Process route, e.g. cast, forge or machine</a:t>
            </a:r>
          </a:p>
          <a:p>
            <a:pPr algn="l">
              <a:lnSpc>
                <a:spcPct val="105000"/>
              </a:lnSpc>
              <a:spcAft>
                <a:spcPts val="400"/>
              </a:spcAft>
            </a:pPr>
            <a:r>
              <a:rPr sz="950" b="1" i="0">
                <a:solidFill>
                  <a:srgbClr val="16325C"/>
                </a:solidFill>
                <a:latin typeface="Calibri"/>
              </a:rPr>
              <a:t>   Material family</a:t>
            </a:r>
          </a:p>
          <a:p>
            <a:pPr algn="l">
              <a:lnSpc>
                <a:spcPct val="105000"/>
              </a:lnSpc>
              <a:spcAft>
                <a:spcPts val="400"/>
              </a:spcAft>
            </a:pPr>
            <a:r>
              <a:rPr sz="950" b="1" i="0">
                <a:solidFill>
                  <a:srgbClr val="16325C"/>
                </a:solidFill>
                <a:latin typeface="Calibri"/>
              </a:rPr>
              <a:t>   Hole count or cycle time on an STL</a:t>
            </a:r>
          </a:p>
          <a:p>
            <a:pPr algn="l">
              <a:lnSpc>
                <a:spcPct val="105000"/>
              </a:lnSpc>
              <a:spcAft>
                <a:spcPts val="400"/>
              </a:spcAft>
            </a:pPr>
            <a:r>
              <a:rPr sz="950" b="0" i="0">
                <a:solidFill>
                  <a:srgbClr val="3A4356"/>
                </a:solidFill>
                <a:latin typeface="Calibri"/>
              </a:rPr>
              <a:t>Walls over ~6 mm are offered casting, forging,</a:t>
            </a:r>
          </a:p>
          <a:p>
            <a:pPr algn="l">
              <a:lnSpc>
                <a:spcPct val="105000"/>
              </a:lnSpc>
              <a:spcAft>
                <a:spcPts val="400"/>
              </a:spcAft>
            </a:pPr>
            <a:r>
              <a:rPr sz="950" b="0" i="0">
                <a:solidFill>
                  <a:srgbClr val="3A4356"/>
                </a:solidFill>
                <a:latin typeface="Calibri"/>
              </a:rPr>
              <a:t>cast + machine or machining — never sheet metal</a:t>
            </a:r>
          </a:p>
          <a:p>
            <a:pPr algn="l">
              <a:lnSpc>
                <a:spcPct val="105000"/>
              </a:lnSpc>
              <a:spcAft>
                <a:spcPts val="400"/>
              </a:spcAft>
            </a:pPr>
            <a:r>
              <a:rPr sz="950" b="0" i="0">
                <a:solidFill>
                  <a:srgbClr val="3A4356"/>
                </a:solidFill>
                <a:latin typeface="Calibri"/>
              </a:rPr>
              <a:t>or moulding.</a:t>
            </a:r>
          </a:p>
        </p:txBody>
      </p:sp>
      <p:sp>
        <p:nvSpPr>
          <p:cNvPr id="43" name="Rounded Rectangle 42"/>
          <p:cNvSpPr/>
          <p:nvPr/>
        </p:nvSpPr>
        <p:spPr>
          <a:xfrm>
            <a:off x="7360920" y="4206240"/>
            <a:ext cx="4434840" cy="1600200"/>
          </a:xfrm>
          <a:prstGeom prst="roundRect">
            <a:avLst>
              <a:gd name="adj" fmla="val 5000"/>
            </a:avLst>
          </a:prstGeom>
          <a:solidFill>
            <a:srgbClr val="E8F1FA"/>
          </a:solidFill>
          <a:ln w="9525">
            <a:solidFill>
              <a:srgbClr val="2A7F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360920" y="4206240"/>
            <a:ext cx="64008" cy="160020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43800" y="4315968"/>
            <a:ext cx="4142232"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A7F50"/>
                </a:solidFill>
                <a:latin typeface="Calibri"/>
              </a:rPr>
              <a:t>The golden rule</a:t>
            </a:r>
          </a:p>
        </p:txBody>
      </p:sp>
      <p:sp>
        <p:nvSpPr>
          <p:cNvPr id="46" name="TextBox 45"/>
          <p:cNvSpPr txBox="1"/>
          <p:nvPr/>
        </p:nvSpPr>
        <p:spPr>
          <a:xfrm>
            <a:off x="7543800" y="4645152"/>
            <a:ext cx="4142232" cy="1097280"/>
          </a:xfrm>
          <a:prstGeom prst="rect">
            <a:avLst/>
          </a:prstGeom>
          <a:noFill/>
        </p:spPr>
        <p:txBody>
          <a:bodyPr wrap="square" anchor="t" lIns="0" rIns="0" tIns="0" bIns="0">
            <a:spAutoFit/>
          </a:bodyPr>
          <a:lstStyle/>
          <a:p>
            <a:pPr algn="l">
              <a:lnSpc>
                <a:spcPct val="105000"/>
              </a:lnSpc>
              <a:spcAft>
                <a:spcPts val="400"/>
              </a:spcAft>
            </a:pPr>
            <a:r>
              <a:rPr sz="950" b="0" i="0">
                <a:solidFill>
                  <a:srgbClr val="3A4356"/>
                </a:solidFill>
                <a:latin typeface="Calibri"/>
              </a:rPr>
              <a:t>AI never sets a price, even when it is on. At JLR it is off: rules turn the measurements into inputs, and every £ is arithmetic you can trace to the rate library.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