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it stays the should-cost software our teams already use; CostVision integrates into it and upgrades its engine with AI, physics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For a deployment audience that matters twice over: autonomy here never means the AI quietly sets a price, and nothing it does happens off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in one line: CostVision integrates INTO CAPEE, the should-cost software our teams already use — it doesn't sit beside it. CAPEE keeps the workflow, the approvals and the reporting; what changes is that its costing engine is now powered by CostVision underneath, called over internal APIs that already exist. So users open CAPEE exactly as they do today and simply get better should-cost numbers.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own data makes the engine smarter without anyone lifting a finger. One shared rate library and knowledge database means one version of the truth across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Integrating into CAPEE is feasible and high-value: CostVision plugs in as the should-cost engine while CAPEE stays the tool teams work in.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one thousand seven hundred and seventy-seven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here because the plan you approved is a few months old now, and four things have been built since that are worth knowing about. First, and the one your engineers pushed hardest for: the design-for-manufacture advice used to look at the finished cost and guess backwards. They told me that was too generic, and they were right. It now opens the 3D model and measures every face on the part. Nineteen rules, every one citing a published standard rather than my opinion, and when it flags something it shows you exactly which faces on the model are the problem. Second, gears. Cost engineering and the plant asked for this directly. Gears used to go through the tool as ordinary milled parts, which cannot see a tooth. Now the tool picks the manufacturing process from the geometry itself and works the cycle time out from the machine kinematics. Third, landed cost. A should-cost now includes duty, carbon border tax and origin rules, so the number is what the part costs at our door rather than at the supplier's gate. Fourth, long-term agreements are now priced properly — the annual quantity and the programme lifetime are separate, which they always should have been. And the amber bar is me being straight. The gear model is structurally right but it is running on representative shop figures, not yours, and we have not yet checked a gear against a cost we know. The tool says so itself on every estimate. Give me your machine list and two costed gears and that gap closes.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aimed squarely at you, and it is short on purpose. The gear model is built. The arithmetic behind the cycle times is the gear-train maths, and you can check it line by line — the tool prints the sum. What it does not have is your shop. Right now it is running on representative feeds and speeds and a representative machine list, and it says so on every single estimate it produces. I would rather it under-claim than have it quietly pretend. So there are three things I need, and they are in order of how much each one moves the number. First, your gear machine list — the classes, the hourly rates, and the capacity limits. That is the single biggest one, because right now the tool is choosing between fourteen machine classes I have described rather than fourteen machines you actually own. Second, the feeds and speeds by material and module, plus what a hob costs and how many parts it cuts between regrinds. Those drive the cycle time, and the cycle time drives the cost. Third, and this is the one that turns it from a model into a proven model — two gears where you already know the real cost. Ideally one that is just hobbed and one that is hardened and ground, because those are the two ends of the range. Until we do that comparison, everything I have shown you is internally consistent but unproven. The effort is about half a day of exports plus two costings you have already done. Nothing new has to be measured, and nothing has to be created for 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question directly: what does the tool pull off the model on its own, and where does each thing go. Left, every item is measured with nothing typed; right, the cost driver it feeds. Volume and weight from the kernel make material exact; the envelope sizes machine and stock; body count is assembly and BOM scope; holes become drilling; wall thickness decides mould and cast feasibility; draft flags undercuts that need slides; face areas drive machining and paint. On the right, the real gear — two kilos of gear steel, about twenty-two pounds ex-works from India, in sterling. And the guardrail: the AI never sets the price. It classifies; the engine does deterministic maths on the geometry, every rate traceable.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deployment inside our network — integrated into CAPEE, our existing should-cost software.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(1,777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is our existing should-cost software; CostVision plugs into it to upgrade its engine with AI, physics and memory. No rip-and-replace.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1,777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Agentic vs autonomous agentic — with examples</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34155"/>
                </a:solidFill>
                <a:latin typeface="Calibri"/>
              </a:rPr>
              <a:t>Two levels of "agentic". On the left the AI acts because you asked and you stay in the loop; on the right it acts on its own, unattended, within limits you set.</a:t>
            </a:r>
          </a:p>
        </p:txBody>
      </p:sp>
      <p:sp>
        <p:nvSpPr>
          <p:cNvPr id="10" name="Rounded Rectangle 9"/>
          <p:cNvSpPr/>
          <p:nvPr/>
        </p:nvSpPr>
        <p:spPr>
          <a:xfrm>
            <a:off x="411480" y="2084831"/>
            <a:ext cx="5559552" cy="3712463"/>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Agentic AI</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Assisted — you trigger it and stay in the loop; a human approves</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AI Agent   </a:t>
            </a:r>
            <a:r>
              <a:rPr sz="950" b="0" i="0">
                <a:solidFill>
                  <a:srgbClr val="64748B"/>
                </a:solidFill>
                <a:latin typeface="Calibri"/>
              </a:rPr>
              <a:t>Describe a part in plain English — it builds the full cost model for you.</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CAD / photo → cost   </a:t>
            </a:r>
            <a:r>
              <a:rPr sz="950" b="0" i="0">
                <a:solidFill>
                  <a:srgbClr val="64748B"/>
                </a:solidFill>
                <a:latin typeface="Calibri"/>
              </a:rPr>
              <a:t>Upload a STEP file — it measures the geometry and interprets material &amp; process.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Negotiation coach   </a:t>
            </a:r>
            <a:r>
              <a:rPr sz="950" b="0" i="0">
                <a:solidFill>
                  <a:srgbClr val="64748B"/>
                </a:solidFill>
                <a:latin typeface="Calibri"/>
              </a:rPr>
              <a:t>Open a part — it drafts the buyer's counter-argument and target price.</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Rate-data assistant   </a:t>
            </a:r>
            <a:r>
              <a:rPr sz="950" b="0" i="0">
                <a:solidFill>
                  <a:srgbClr val="64748B"/>
                </a:solidFill>
                <a:latin typeface="Calibri"/>
              </a:rPr>
              <a:t>Ask a costing question — it answers from your own rates, with citations.</a:t>
            </a:r>
          </a:p>
        </p:txBody>
      </p:sp>
      <p:sp>
        <p:nvSpPr>
          <p:cNvPr id="26" name="Rounded Rectangle 25"/>
          <p:cNvSpPr/>
          <p:nvPr/>
        </p:nvSpPr>
        <p:spPr>
          <a:xfrm>
            <a:off x="6217920" y="2084831"/>
            <a:ext cx="5559552" cy="3712463"/>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Autonomous Agentic AI</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Self-directed — runs unattended on a schedule, within limits you set</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Savings monitor   </a:t>
            </a:r>
            <a:r>
              <a:rPr sz="950" b="0" i="0">
                <a:solidFill>
                  <a:srgbClr val="64748B"/>
                </a:solidFill>
                <a:latin typeface="Calibri"/>
              </a:rPr>
              <a:t>Runs on the server, compares paid vs should-cost, opens findings itself — £0.5M/yr found unattended.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Self-audit   </a:t>
            </a:r>
            <a:r>
              <a:rPr sz="950" b="0" i="0">
                <a:solidFill>
                  <a:srgbClr val="64748B"/>
                </a:solidFill>
                <a:latin typeface="Calibri"/>
              </a:rPr>
              <a:t>Re-checks every estimate for known errors and corrects within bounds — nobody asks it to.</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Calibration &amp; drift   </a:t>
            </a:r>
            <a:r>
              <a:rPr sz="950" b="0" i="0">
                <a:solidFill>
                  <a:srgbClr val="64748B"/>
                </a:solidFill>
                <a:latin typeface="Calibri"/>
              </a:rPr>
              <a:t>Learns from logged quotes, re-derives factors, and watches for drift continuously.</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Outcome-weighted ranking   </a:t>
            </a:r>
            <a:r>
              <a:rPr sz="950" b="0" i="0">
                <a:solidFill>
                  <a:srgbClr val="64748B"/>
                </a:solidFill>
                <a:latin typeface="Calibri"/>
              </a:rPr>
              <a:t>Learns which findings actually convert and re-prioritises the queue on its own.</a:t>
            </a:r>
          </a:p>
        </p:txBody>
      </p:sp>
      <p:sp>
        <p:nvSpPr>
          <p:cNvPr id="42" name="Rounded Rectangle 41"/>
          <p:cNvSpPr/>
          <p:nvPr/>
        </p:nvSpPr>
        <p:spPr>
          <a:xfrm>
            <a:off x="411480" y="5943600"/>
            <a:ext cx="11365992" cy="621792"/>
          </a:xfrm>
          <a:prstGeom prst="roundRect">
            <a:avLst>
              <a:gd name="adj" fmla="val 8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common thread:  </a:t>
            </a:r>
            <a:r>
              <a:rPr sz="1150" b="0" i="0">
                <a:solidFill>
                  <a:srgbClr val="E8EEFF"/>
                </a:solidFill>
                <a:latin typeface="Calibri"/>
              </a:rPr>
              <a:t>you set the boundaries and every action stays glass-box and auditable — autonomy never means the AI sets a price in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4F46E5"/>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891B2"/>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Every learned or derived number stays auditable — no black-box weight ever touches the price. The competitor edge is the opposite.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a:t>
            </a:r>
            <a:r>
              <a:rPr sz="1200" b="1" i="0">
                <a:solidFill>
                  <a:srgbClr val="2563EB"/>
                </a:solidFill>
                <a:latin typeface="Segoe UI Emoji"/>
              </a:rPr>
              <a:t>★</a:t>
            </a:r>
            <a:r>
              <a:rPr sz="1200" b="1" i="0">
                <a:solidFill>
                  <a:srgbClr val="2563EB"/>
                </a:solidFill>
                <a:latin typeface="Calibri"/>
              </a:rPr>
              <a:t>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CostVision inside CAPEE — should-cost, upgraded</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(existing should-cost software)</a:t>
            </a:r>
          </a:p>
          <a:p>
            <a:pPr algn="l">
              <a:lnSpc>
                <a:spcPct val="112000"/>
              </a:lnSpc>
              <a:spcAft>
                <a:spcPts val="500"/>
              </a:spcAft>
            </a:pPr>
            <a:r>
              <a:rPr sz="1200" b="0" i="0">
                <a:solidFill>
                  <a:srgbClr val="334155"/>
                </a:solidFill>
                <a:latin typeface="Calibri"/>
              </a:rPr>
              <a:t>• Should-cost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Its costing engine now powered by CostVision</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it plugs in)</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1,777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Integration into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plugs into CAPEE as its should-cost engine, no rip-and-replace</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19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171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1,777</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WHAT CHANGED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Built since this plan was written</a:t>
            </a:r>
          </a:p>
        </p:txBody>
      </p:sp>
      <p:sp>
        <p:nvSpPr>
          <p:cNvPr id="9" name="Rounded Rectangle 8"/>
          <p:cNvSpPr/>
          <p:nvPr/>
        </p:nvSpPr>
        <p:spPr>
          <a:xfrm>
            <a:off x="411480" y="1783080"/>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20"/>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Geometric DFM — the tool reads the part, not the price</a:t>
            </a:r>
          </a:p>
        </p:txBody>
      </p:sp>
      <p:sp>
        <p:nvSpPr>
          <p:cNvPr id="12" name="TextBox 11"/>
          <p:cNvSpPr txBox="1"/>
          <p:nvPr/>
        </p:nvSpPr>
        <p:spPr>
          <a:xfrm>
            <a:off x="685800" y="2185416"/>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Engineering said the old design advice was too generic, because it inferred problems from the finished cost. A second layer now opens the 3D model and measures every face. 19 rules across 6 commodity packs, each citing a published standard. A finding names the exact faces that cause it, and the model highlights them on screen.</a:t>
            </a:r>
          </a:p>
        </p:txBody>
      </p:sp>
      <p:sp>
        <p:nvSpPr>
          <p:cNvPr id="13" name="Rounded Rectangle 12"/>
          <p:cNvSpPr/>
          <p:nvPr/>
        </p:nvSpPr>
        <p:spPr>
          <a:xfrm>
            <a:off x="411480" y="2898648"/>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98648"/>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0088"/>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Gear cutting as its own commodity</a:t>
            </a:r>
          </a:p>
        </p:txBody>
      </p:sp>
      <p:sp>
        <p:nvSpPr>
          <p:cNvPr id="16" name="TextBox 15"/>
          <p:cNvSpPr txBox="1"/>
          <p:nvPr/>
        </p:nvSpPr>
        <p:spPr>
          <a:xfrm>
            <a:off x="685800" y="3300984"/>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Requested by cost engineering and the plant. Gears no longer go through the milling model. The tool picks the process from the geometry — hobbing, shaping, power skiving, broaching — sizes the machine, and derives the cycle from gear-generation arithmetic rather than a rule of thumb.</a:t>
            </a:r>
          </a:p>
        </p:txBody>
      </p:sp>
      <p:sp>
        <p:nvSpPr>
          <p:cNvPr id="17" name="Rounded Rectangle 16"/>
          <p:cNvSpPr/>
          <p:nvPr/>
        </p:nvSpPr>
        <p:spPr>
          <a:xfrm>
            <a:off x="411480" y="4014215"/>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14215"/>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05655"/>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Landed cost, duty and customs</a:t>
            </a:r>
          </a:p>
        </p:txBody>
      </p:sp>
      <p:sp>
        <p:nvSpPr>
          <p:cNvPr id="20" name="TextBox 19"/>
          <p:cNvSpPr txBox="1"/>
          <p:nvPr/>
        </p:nvSpPr>
        <p:spPr>
          <a:xfrm>
            <a:off x="685800" y="4416551"/>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Duty on customs value, CBAM, rules of origin, incoterms and a customs verification sign-off sheet. A should-cost now lands at your door, not at the supplier gate.</a:t>
            </a:r>
          </a:p>
        </p:txBody>
      </p:sp>
      <p:sp>
        <p:nvSpPr>
          <p:cNvPr id="21" name="Rounded Rectangle 20"/>
          <p:cNvSpPr/>
          <p:nvPr/>
        </p:nvSpPr>
        <p:spPr>
          <a:xfrm>
            <a:off x="411480" y="5129784"/>
            <a:ext cx="11384280" cy="98755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29784"/>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221224"/>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Long-term agreements priced correctly</a:t>
            </a:r>
          </a:p>
        </p:txBody>
      </p:sp>
      <p:sp>
        <p:nvSpPr>
          <p:cNvPr id="24" name="TextBox 23"/>
          <p:cNvSpPr txBox="1"/>
          <p:nvPr/>
        </p:nvSpPr>
        <p:spPr>
          <a:xfrm>
            <a:off x="685800" y="5532120"/>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Annual buy rate and programme lifetime are now separate inputs. A five-year award no longer prices every component as if the whole programme were bought in year one.</a:t>
            </a:r>
          </a:p>
        </p:txBody>
      </p:sp>
      <p:sp>
        <p:nvSpPr>
          <p:cNvPr id="25" name="Rounded Rectangle 24"/>
          <p:cNvSpPr/>
          <p:nvPr/>
        </p:nvSpPr>
        <p:spPr>
          <a:xfrm>
            <a:off x="411480" y="6263640"/>
            <a:ext cx="11384280" cy="384048"/>
          </a:xfrm>
          <a:prstGeom prst="roundRect">
            <a:avLst>
              <a:gd name="adj" fmla="val 6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263640"/>
            <a:ext cx="10881360" cy="384048"/>
          </a:xfrm>
          <a:prstGeom prst="rect">
            <a:avLst/>
          </a:prstGeom>
          <a:noFill/>
        </p:spPr>
        <p:txBody>
          <a:bodyPr wrap="square" anchor="ctr" lIns="0" rIns="0" tIns="0" bIns="0">
            <a:spAutoFit/>
          </a:bodyPr>
          <a:lstStyle/>
          <a:p>
            <a:pPr algn="l">
              <a:lnSpc>
                <a:spcPct val="110000"/>
              </a:lnSpc>
              <a:spcAft>
                <a:spcPts val="400"/>
              </a:spcAft>
            </a:pPr>
            <a:r>
              <a:rPr sz="1050" b="1" i="0">
                <a:solidFill>
                  <a:srgbClr val="D97706"/>
                </a:solidFill>
                <a:latin typeface="Calibri"/>
              </a:rPr>
              <a:t>Straight about the gap: </a:t>
            </a:r>
            <a:r>
              <a:rPr sz="1050" b="0" i="0">
                <a:solidFill>
                  <a:srgbClr val="334155"/>
                </a:solidFill>
                <a:latin typeface="Calibri"/>
              </a:rPr>
              <a:t>the gear model runs on representative shop figures until the plant supplies its own, and no gear has yet been checked against a known actual cost. The tool prints that on every gear estimate.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THE ASK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we need from the plant to make this quotable</a:t>
            </a:r>
          </a:p>
        </p:txBody>
      </p:sp>
      <p:sp>
        <p:nvSpPr>
          <p:cNvPr id="9" name="TextBox 8"/>
          <p:cNvSpPr txBox="1"/>
          <p:nvPr/>
        </p:nvSpPr>
        <p:spPr>
          <a:xfrm>
            <a:off x="411480" y="1737360"/>
            <a:ext cx="11384280" cy="45720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The engine is built and the arithmetic is auditable. What it does not yet have is </a:t>
            </a:r>
            <a:r>
              <a:rPr sz="1250" b="1" i="0">
                <a:solidFill>
                  <a:srgbClr val="0F172A"/>
                </a:solidFill>
                <a:latin typeface="Calibri"/>
              </a:rPr>
              <a:t>your</a:t>
            </a:r>
            <a:r>
              <a:rPr sz="1250" b="0" i="0">
                <a:solidFill>
                  <a:srgbClr val="334155"/>
                </a:solidFill>
                <a:latin typeface="Calibri"/>
              </a:rPr>
              <a:t> shop data — and until it does, a gear estimate is directional, not quotable. Three things close that gap.</a:t>
            </a:r>
          </a:p>
        </p:txBody>
      </p:sp>
      <p:sp>
        <p:nvSpPr>
          <p:cNvPr id="10" name="Rounded Rectangle 9"/>
          <p:cNvSpPr/>
          <p:nvPr/>
        </p:nvSpPr>
        <p:spPr>
          <a:xfrm>
            <a:off x="411480" y="2377440"/>
            <a:ext cx="11384280" cy="10972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377440"/>
            <a:ext cx="82296" cy="10972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51760"/>
            <a:ext cx="548640" cy="548640"/>
          </a:xfrm>
          <a:prstGeom prst="roundRect">
            <a:avLst>
              <a:gd name="adj" fmla="val 3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51760"/>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1</a:t>
            </a:r>
          </a:p>
        </p:txBody>
      </p:sp>
      <p:sp>
        <p:nvSpPr>
          <p:cNvPr id="14" name="TextBox 13"/>
          <p:cNvSpPr txBox="1"/>
          <p:nvPr/>
        </p:nvSpPr>
        <p:spPr>
          <a:xfrm>
            <a:off x="1417320" y="2523744"/>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The gear machine list</a:t>
            </a:r>
          </a:p>
        </p:txBody>
      </p:sp>
      <p:sp>
        <p:nvSpPr>
          <p:cNvPr id="15" name="Rounded Rectangle 14"/>
          <p:cNvSpPr/>
          <p:nvPr/>
        </p:nvSpPr>
        <p:spPr>
          <a:xfrm>
            <a:off x="9692640" y="2542032"/>
            <a:ext cx="1920240" cy="274320"/>
          </a:xfrm>
          <a:prstGeom prst="roundRect">
            <a:avLst>
              <a:gd name="adj" fmla="val 15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2542032"/>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Highest impact</a:t>
            </a:r>
          </a:p>
        </p:txBody>
      </p:sp>
      <p:sp>
        <p:nvSpPr>
          <p:cNvPr id="17" name="TextBox 16"/>
          <p:cNvSpPr txBox="1"/>
          <p:nvPr/>
        </p:nvSpPr>
        <p:spPr>
          <a:xfrm>
            <a:off x="1417320" y="2889504"/>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34155"/>
                </a:solidFill>
                <a:latin typeface="Calibri"/>
              </a:rPr>
              <a:t>Machine class, £/hr, and the capacity limits — biggest module, largest diameter, widest face. The tool currently picks from 14 representative machine classes; yours replace them outright.</a:t>
            </a:r>
          </a:p>
        </p:txBody>
      </p:sp>
      <p:sp>
        <p:nvSpPr>
          <p:cNvPr id="18" name="Rounded Rectangle 17"/>
          <p:cNvSpPr/>
          <p:nvPr/>
        </p:nvSpPr>
        <p:spPr>
          <a:xfrm>
            <a:off x="411480" y="3602736"/>
            <a:ext cx="11384280" cy="10972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3602736"/>
            <a:ext cx="82296" cy="10972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8368" y="3877056"/>
            <a:ext cx="548640" cy="548640"/>
          </a:xfrm>
          <a:prstGeom prst="roundRect">
            <a:avLst>
              <a:gd name="adj" fmla="val 3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77056"/>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2</a:t>
            </a:r>
          </a:p>
        </p:txBody>
      </p:sp>
      <p:sp>
        <p:nvSpPr>
          <p:cNvPr id="22" name="TextBox 21"/>
          <p:cNvSpPr txBox="1"/>
          <p:nvPr/>
        </p:nvSpPr>
        <p:spPr>
          <a:xfrm>
            <a:off x="1417320" y="3749040"/>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Feeds, speeds and tool life</a:t>
            </a:r>
          </a:p>
        </p:txBody>
      </p:sp>
      <p:sp>
        <p:nvSpPr>
          <p:cNvPr id="23" name="Rounded Rectangle 22"/>
          <p:cNvSpPr/>
          <p:nvPr/>
        </p:nvSpPr>
        <p:spPr>
          <a:xfrm>
            <a:off x="9692640" y="3767328"/>
            <a:ext cx="1920240" cy="274320"/>
          </a:xfrm>
          <a:prstGeom prst="roundRect">
            <a:avLst>
              <a:gd name="adj" fmla="val 15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767328"/>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Second</a:t>
            </a:r>
          </a:p>
        </p:txBody>
      </p:sp>
      <p:sp>
        <p:nvSpPr>
          <p:cNvPr id="25" name="TextBox 24"/>
          <p:cNvSpPr txBox="1"/>
          <p:nvPr/>
        </p:nvSpPr>
        <p:spPr>
          <a:xfrm>
            <a:off x="1417320" y="4114800"/>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34155"/>
                </a:solidFill>
                <a:latin typeface="Calibri"/>
              </a:rPr>
              <a:t>Cutting speed and axial feed by material and module band, hob and cutter price, and parts between regrinds. These drive the cycle time, and the cycle time drives the cost.</a:t>
            </a:r>
          </a:p>
        </p:txBody>
      </p:sp>
      <p:sp>
        <p:nvSpPr>
          <p:cNvPr id="26" name="Rounded Rectangle 25"/>
          <p:cNvSpPr/>
          <p:nvPr/>
        </p:nvSpPr>
        <p:spPr>
          <a:xfrm>
            <a:off x="411480" y="4828032"/>
            <a:ext cx="11384280" cy="10972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28032"/>
            <a:ext cx="82296" cy="10972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 y="5102352"/>
            <a:ext cx="548640" cy="548640"/>
          </a:xfrm>
          <a:prstGeom prst="roundRect">
            <a:avLst>
              <a:gd name="adj" fmla="val 3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102352"/>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3</a:t>
            </a:r>
          </a:p>
        </p:txBody>
      </p:sp>
      <p:sp>
        <p:nvSpPr>
          <p:cNvPr id="30" name="TextBox 29"/>
          <p:cNvSpPr txBox="1"/>
          <p:nvPr/>
        </p:nvSpPr>
        <p:spPr>
          <a:xfrm>
            <a:off x="1417320" y="4974336"/>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Two gears you already know the cost of</a:t>
            </a:r>
          </a:p>
        </p:txBody>
      </p:sp>
      <p:sp>
        <p:nvSpPr>
          <p:cNvPr id="31" name="Rounded Rectangle 30"/>
          <p:cNvSpPr/>
          <p:nvPr/>
        </p:nvSpPr>
        <p:spPr>
          <a:xfrm>
            <a:off x="9692640" y="4992624"/>
            <a:ext cx="1920240" cy="274320"/>
          </a:xfrm>
          <a:prstGeom prst="roundRect">
            <a:avLst>
              <a:gd name="adj" fmla="val 15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0" y="4992624"/>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The proof</a:t>
            </a:r>
          </a:p>
        </p:txBody>
      </p:sp>
      <p:sp>
        <p:nvSpPr>
          <p:cNvPr id="33" name="TextBox 32"/>
          <p:cNvSpPr txBox="1"/>
          <p:nvPr/>
        </p:nvSpPr>
        <p:spPr>
          <a:xfrm>
            <a:off x="1417320" y="5340096"/>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34155"/>
                </a:solidFill>
                <a:latin typeface="Calibri"/>
              </a:rPr>
              <a:t>Ideally one hobbed-only and one hardened-and-ground. Without them nothing above is validated — the model is internally consistent but unproven against reality.</a:t>
            </a:r>
          </a:p>
        </p:txBody>
      </p:sp>
      <p:sp>
        <p:nvSpPr>
          <p:cNvPr id="34" name="Rounded Rectangle 33"/>
          <p:cNvSpPr/>
          <p:nvPr/>
        </p:nvSpPr>
        <p:spPr>
          <a:xfrm>
            <a:off x="411480" y="6108192"/>
            <a:ext cx="11384280" cy="457200"/>
          </a:xfrm>
          <a:prstGeom prst="roundRect">
            <a:avLst>
              <a:gd name="adj" fmla="val 7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6108192"/>
            <a:ext cx="10881360" cy="457200"/>
          </a:xfrm>
          <a:prstGeom prst="rect">
            <a:avLst/>
          </a:prstGeom>
          <a:noFill/>
        </p:spPr>
        <p:txBody>
          <a:bodyPr wrap="square" anchor="ctr" lIns="0" rIns="0" tIns="0" bIns="0">
            <a:spAutoFit/>
          </a:bodyPr>
          <a:lstStyle/>
          <a:p>
            <a:pPr algn="l">
              <a:lnSpc>
                <a:spcPct val="110000"/>
              </a:lnSpc>
              <a:spcAft>
                <a:spcPts val="400"/>
              </a:spcAft>
            </a:pPr>
            <a:r>
              <a:rPr sz="1100" b="1" i="0">
                <a:solidFill>
                  <a:srgbClr val="059669"/>
                </a:solidFill>
                <a:latin typeface="Calibri"/>
              </a:rPr>
              <a:t>Effort on your side: </a:t>
            </a:r>
            <a:r>
              <a:rPr sz="1100" b="0" i="0">
                <a:solidFill>
                  <a:srgbClr val="334155"/>
                </a:solidFill>
                <a:latin typeface="Calibri"/>
              </a:rPr>
              <a:t>roughly half a day to export the machine list and the feeds table, plus two costings you have already done. Nothing new has to be 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1,777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CAD-TO-COST · ZERO MANUAL ENTRY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What's Auto-Captured — Fed to the Cost Engine</a:t>
            </a:r>
          </a:p>
        </p:txBody>
      </p:sp>
      <p:sp>
        <p:nvSpPr>
          <p:cNvPr id="9" name="Rounded Rectangle 8"/>
          <p:cNvSpPr/>
          <p:nvPr/>
        </p:nvSpPr>
        <p:spPr>
          <a:xfrm>
            <a:off x="411480" y="1572768"/>
            <a:ext cx="6720840" cy="365760"/>
          </a:xfrm>
          <a:prstGeom prst="roundRect">
            <a:avLst>
              <a:gd name="adj" fmla="val 8000"/>
            </a:avLst>
          </a:prstGeom>
          <a:solidFill>
            <a:srgbClr val="EFF6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0F172A"/>
                </a:solidFill>
                <a:latin typeface="Calibri"/>
              </a:rPr>
              <a:t>Auto-captured from geometry (no typing)</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2563EB"/>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Volume — exact (OCCT kernel)</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Raw-material £ (Al/steel/iron/Cu/Ti)</a:t>
            </a:r>
          </a:p>
        </p:txBody>
      </p:sp>
      <p:sp>
        <p:nvSpPr>
          <p:cNvPr id="18" name="Rounded Rectangle 17"/>
          <p:cNvSpPr/>
          <p:nvPr/>
        </p:nvSpPr>
        <p:spPr>
          <a:xfrm>
            <a:off x="411480" y="2834640"/>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Body / component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Hole &amp; boss table — Ø, depth, count</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Wall thickness — min/mean/heatmap</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Mould &amp; cast feasibility · cooling</a:t>
            </a:r>
          </a:p>
        </p:txBody>
      </p:sp>
      <p:sp>
        <p:nvSpPr>
          <p:cNvPr id="30" name="Rounded Rectangle 29"/>
          <p:cNvSpPr/>
          <p:nvPr/>
        </p:nvSpPr>
        <p:spPr>
          <a:xfrm>
            <a:off x="411480" y="4517136"/>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Draft &amp; undercut analysis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Tooling complexity — slides</a:t>
            </a:r>
          </a:p>
        </p:txBody>
      </p:sp>
      <p:sp>
        <p:nvSpPr>
          <p:cNvPr id="33" name="Rounded Rectangle 32"/>
          <p:cNvSpPr/>
          <p:nvPr/>
        </p:nvSpPr>
        <p:spPr>
          <a:xfrm>
            <a:off x="411480" y="4937760"/>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Face-type areas (planar/cyl)</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4F46E5"/>
                </a:solidFill>
                <a:latin typeface="Calibri"/>
              </a:rPr>
              <a:t>CNC cycle-time &amp; setup estimate</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34155"/>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F172A"/>
                </a:solidFill>
                <a:latin typeface="Segoe UI Emoji"/>
              </a:rPr>
              <a:t>⚙</a:t>
            </a:r>
            <a:r>
              <a:rPr sz="1100" b="1" i="0">
                <a:solidFill>
                  <a:srgbClr val="0F172A"/>
                </a:solidFill>
                <a:latin typeface="Calibri"/>
              </a:rPr>
              <a:t>  Worked example — Spur Gear (m3 · z38)</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34155"/>
                </a:solidFill>
                <a:latin typeface="Calibri"/>
              </a:rPr>
              <a:t>20MnCr5 case-hardening steel — captured automatically:</a:t>
            </a:r>
          </a:p>
          <a:p>
            <a:pPr algn="l">
              <a:lnSpc>
                <a:spcPct val="105000"/>
              </a:lnSpc>
              <a:spcAft>
                <a:spcPts val="400"/>
              </a:spcAft>
            </a:pPr>
            <a:r>
              <a:rPr sz="950" b="1" i="0">
                <a:solidFill>
                  <a:srgbClr val="0F172A"/>
                </a:solidFill>
                <a:latin typeface="Calibri"/>
              </a:rPr>
              <a:t>   Volume 264.9 cm³  ·  Weight 2.08 kg</a:t>
            </a:r>
          </a:p>
          <a:p>
            <a:pPr algn="l">
              <a:lnSpc>
                <a:spcPct val="105000"/>
              </a:lnSpc>
              <a:spcAft>
                <a:spcPts val="400"/>
              </a:spcAft>
            </a:pPr>
            <a:r>
              <a:rPr sz="950" b="0" i="0">
                <a:solidFill>
                  <a:srgbClr val="334155"/>
                </a:solidFill>
                <a:latin typeface="Calibri"/>
              </a:rPr>
              <a:t>   Envelope 120 × 120 × 30 mm  ·  1 body</a:t>
            </a:r>
          </a:p>
          <a:p>
            <a:pPr algn="l">
              <a:lnSpc>
                <a:spcPct val="105000"/>
              </a:lnSpc>
              <a:spcAft>
                <a:spcPts val="400"/>
              </a:spcAft>
            </a:pPr>
            <a:r>
              <a:rPr sz="950" b="1" i="0">
                <a:solidFill>
                  <a:srgbClr val="059669"/>
                </a:solidFill>
                <a:latin typeface="Calibri"/>
              </a:rPr>
              <a:t>→ Should-cost, India ex-works (GBP):</a:t>
            </a:r>
          </a:p>
          <a:p>
            <a:pPr algn="l">
              <a:lnSpc>
                <a:spcPct val="105000"/>
              </a:lnSpc>
              <a:spcAft>
                <a:spcPts val="400"/>
              </a:spcAft>
            </a:pPr>
            <a:r>
              <a:rPr sz="950" b="0" i="0">
                <a:solidFill>
                  <a:srgbClr val="334155"/>
                </a:solidFill>
                <a:latin typeface="Calibri"/>
              </a:rPr>
              <a:t>   Material £3.36 · Process £11.40 · Labour £1.36</a:t>
            </a:r>
          </a:p>
          <a:p>
            <a:pPr algn="l">
              <a:lnSpc>
                <a:spcPct val="105000"/>
              </a:lnSpc>
              <a:spcAft>
                <a:spcPts val="400"/>
              </a:spcAft>
            </a:pPr>
            <a:r>
              <a:rPr sz="950" b="0" i="0">
                <a:solidFill>
                  <a:srgbClr val="334155"/>
                </a:solidFill>
                <a:latin typeface="Calibri"/>
              </a:rPr>
              <a:t>   Overhead £1.95 · Margin £1.83  + heat-treat £1.77</a:t>
            </a:r>
          </a:p>
          <a:p>
            <a:pPr algn="l">
              <a:lnSpc>
                <a:spcPct val="105000"/>
              </a:lnSpc>
              <a:spcAft>
                <a:spcPts val="400"/>
              </a:spcAft>
            </a:pPr>
            <a:r>
              <a:rPr sz="1000" b="1" i="0">
                <a:solidFill>
                  <a:srgbClr val="0F172A"/>
                </a:solidFill>
                <a:latin typeface="Calibri"/>
              </a:rPr>
              <a:t>   =  £21.90 / part  (≈ ₹2,398)  ·  £10.53 / kg</a:t>
            </a:r>
          </a:p>
        </p:txBody>
      </p:sp>
      <p:sp>
        <p:nvSpPr>
          <p:cNvPr id="43" name="Rounded Rectangle 42"/>
          <p:cNvSpPr/>
          <p:nvPr/>
        </p:nvSpPr>
        <p:spPr>
          <a:xfrm>
            <a:off x="7360920" y="4206240"/>
            <a:ext cx="4434840" cy="1600200"/>
          </a:xfrm>
          <a:prstGeom prst="roundRect">
            <a:avLst>
              <a:gd name="adj" fmla="val 5000"/>
            </a:avLst>
          </a:prstGeom>
          <a:solidFill>
            <a:srgbClr val="EFF6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Segoe UI Emoji"/>
              </a:rPr>
              <a:t>🔒</a:t>
            </a:r>
            <a:r>
              <a:rPr sz="1100" b="1" i="0">
                <a:solidFill>
                  <a:srgbClr val="059669"/>
                </a:solidFill>
                <a:latin typeface="Calibri"/>
              </a:rPr>
              <a:t>  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34155"/>
                </a:solidFill>
                <a:latin typeface="Calibri"/>
              </a:rPr>
              <a:t>AI never sets a price. It only classifies material &amp; process; every £ is deterministic arithmetic on the measured geometry, bounded and traceable to the rate library — which is what makes the output defensible.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