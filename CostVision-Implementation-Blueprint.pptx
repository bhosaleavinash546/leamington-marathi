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it stays the should-cost software our teams already use; CostVision integrates into it and upgrades its engine with AI, physics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For a deployment audience that matters twice over: autonomy here never means the AI quietly sets a price, and nothing it does happens off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Six upgrades shipped in 2026, all built and tested. The one I'd start with is the self-audit: a deterministic layer that re-checks every single estimate against a list of mistakes we've actually seen, and corrects them within bounds — and I can prove it, because we ran it on five real automotive CAD parts and it caught every one, a fuel tank alone falling from two hundred and seventeen pounds to twenty-five. The tool now also learns from your own logged quotes, building per-segment calibration and watching for drift, so it gets tighter on your parts over time. Alongside those, the machine-sizing that used to be hard-coded is now universal across commodities. The negotiation coach names the commodity driving a cost and writes the buyer's counter-argument; the autonomous agent prioritises the savings we can really recover; and the what-if engine answers 'if a commodity moves, what happens' as a defensible conditional. Underneath all of it, everything stays glass-box — every learned number is auditable, nothing is a black box — and the whole thing, CAD engine included, ships in a container whose build is verified in our CI pipeline. That is exactly the combination — checked, learned-from-data, and auditable — that makes these numbers safe to deploy and defend.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in one line: CostVision integrates INTO CAPEE, the should-cost software our teams already use — it doesn't sit beside it. CAPEE keeps the workflow, the approvals and the reporting; what changes is that its costing engine is now powered by CostVision underneath, called over internal APIs that already exist. So users open CAPEE exactly as they do today and simply get better should-cost numbers.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own data makes the engine smarter without anyone lifting a finger. One shared rate library and knowledge database means one version of the truth across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Integrating into CAPEE is feasible and high-value: CostVision plugs in as the should-cost engine while CAPEE stays the tool teams work in.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seven hundred and ninety-three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deployment inside our network — integrated into CAPEE, our existing should-cost software.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(1,005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is our existing should-cost software; CostVision plugs into it to upgrade its engine with AI, physics and memory. No rip-and-replace.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1,005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Agentic vs autonomous agentic — with examples</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34155"/>
                </a:solidFill>
                <a:latin typeface="Calibri"/>
              </a:rPr>
              <a:t>Two levels of "agentic". On the left the AI acts because you asked and you stay in the loop; on the right it acts on its own, unattended, within limits you set.</a:t>
            </a:r>
          </a:p>
        </p:txBody>
      </p:sp>
      <p:sp>
        <p:nvSpPr>
          <p:cNvPr id="10" name="Rounded Rectangle 9"/>
          <p:cNvSpPr/>
          <p:nvPr/>
        </p:nvSpPr>
        <p:spPr>
          <a:xfrm>
            <a:off x="411480" y="2084831"/>
            <a:ext cx="5559552" cy="3712463"/>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Agentic AI</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Assisted — you trigger it and stay in the loop; a human approves</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AI Agent   </a:t>
            </a:r>
            <a:r>
              <a:rPr sz="950" b="0" i="0">
                <a:solidFill>
                  <a:srgbClr val="64748B"/>
                </a:solidFill>
                <a:latin typeface="Calibri"/>
              </a:rPr>
              <a:t>Describe a part in plain English — it builds the full cost model for you.</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CAD / photo → cost   </a:t>
            </a:r>
            <a:r>
              <a:rPr sz="950" b="0" i="0">
                <a:solidFill>
                  <a:srgbClr val="64748B"/>
                </a:solidFill>
                <a:latin typeface="Calibri"/>
              </a:rPr>
              <a:t>Upload a STEP file — it measures the geometry and interprets material &amp; process.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Negotiation coach   </a:t>
            </a:r>
            <a:r>
              <a:rPr sz="950" b="0" i="0">
                <a:solidFill>
                  <a:srgbClr val="64748B"/>
                </a:solidFill>
                <a:latin typeface="Calibri"/>
              </a:rPr>
              <a:t>Open a part — it drafts the buyer's counter-argument and target price.</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Rate-data assistant   </a:t>
            </a:r>
            <a:r>
              <a:rPr sz="950" b="0" i="0">
                <a:solidFill>
                  <a:srgbClr val="64748B"/>
                </a:solidFill>
                <a:latin typeface="Calibri"/>
              </a:rPr>
              <a:t>Ask a costing question — it answers from your own rates, with citations.</a:t>
            </a:r>
          </a:p>
        </p:txBody>
      </p:sp>
      <p:sp>
        <p:nvSpPr>
          <p:cNvPr id="26" name="Rounded Rectangle 25"/>
          <p:cNvSpPr/>
          <p:nvPr/>
        </p:nvSpPr>
        <p:spPr>
          <a:xfrm>
            <a:off x="6217920" y="2084831"/>
            <a:ext cx="5559552" cy="3712463"/>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Autonomous Agentic AI</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Self-directed — runs unattended on a schedule, within limits you set</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Savings monitor   </a:t>
            </a:r>
            <a:r>
              <a:rPr sz="950" b="0" i="0">
                <a:solidFill>
                  <a:srgbClr val="64748B"/>
                </a:solidFill>
                <a:latin typeface="Calibri"/>
              </a:rPr>
              <a:t>Runs on the server, compares paid vs should-cost, opens findings itself — £0.5M/yr found unattended.</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Self-audit   </a:t>
            </a:r>
            <a:r>
              <a:rPr sz="950" b="0" i="0">
                <a:solidFill>
                  <a:srgbClr val="64748B"/>
                </a:solidFill>
                <a:latin typeface="Calibri"/>
              </a:rPr>
              <a:t>Re-checks every estimate for known errors and corrects within bounds — nobody asks it to.</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Calibration &amp; drift   </a:t>
            </a:r>
            <a:r>
              <a:rPr sz="950" b="0" i="0">
                <a:solidFill>
                  <a:srgbClr val="64748B"/>
                </a:solidFill>
                <a:latin typeface="Calibri"/>
              </a:rPr>
              <a:t>Learns from logged quotes, re-derives factors, and watches for drift continuously.</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Outcome-weighted ranking   </a:t>
            </a:r>
            <a:r>
              <a:rPr sz="950" b="0" i="0">
                <a:solidFill>
                  <a:srgbClr val="64748B"/>
                </a:solidFill>
                <a:latin typeface="Calibri"/>
              </a:rPr>
              <a:t>Learns which findings actually convert and re-prioritises the queue on its own.</a:t>
            </a:r>
          </a:p>
        </p:txBody>
      </p:sp>
      <p:sp>
        <p:nvSpPr>
          <p:cNvPr id="42" name="Rounded Rectangle 41"/>
          <p:cNvSpPr/>
          <p:nvPr/>
        </p:nvSpPr>
        <p:spPr>
          <a:xfrm>
            <a:off x="411480" y="5943600"/>
            <a:ext cx="11365992" cy="621792"/>
          </a:xfrm>
          <a:prstGeom prst="roundRect">
            <a:avLst>
              <a:gd name="adj" fmla="val 8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common thread:  </a:t>
            </a:r>
            <a:r>
              <a:rPr sz="1150" b="0" i="0">
                <a:solidFill>
                  <a:srgbClr val="E8EEFF"/>
                </a:solidFill>
                <a:latin typeface="Calibri"/>
              </a:rPr>
              <a:t>you set the boundaries and every action stays glass-box and auditable — autonomy never means the AI sets a price in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Latest intelligence — six upgrades that widen the moat</a:t>
            </a:r>
          </a:p>
        </p:txBody>
      </p:sp>
      <p:sp>
        <p:nvSpPr>
          <p:cNvPr id="9" name="Rounded Rectangle 8"/>
          <p:cNvSpPr/>
          <p:nvPr/>
        </p:nvSpPr>
        <p:spPr>
          <a:xfrm>
            <a:off x="411480" y="1828800"/>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4F46E5"/>
                </a:solidFill>
                <a:latin typeface="Calibri"/>
              </a:rPr>
              <a:t>Self-audit &amp; guardrails</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A deterministic layer re-checks every estimate for known errors and applies bounded corrections — proven on five real automotive CAD parts (a fuel tank fell from £217 to £25). Geometry stays ground truth; the AI never overrules it.</a:t>
            </a:r>
          </a:p>
        </p:txBody>
      </p:sp>
      <p:sp>
        <p:nvSpPr>
          <p:cNvPr id="13" name="Rounded Rectangle 12"/>
          <p:cNvSpPr/>
          <p:nvPr/>
        </p:nvSpPr>
        <p:spPr>
          <a:xfrm>
            <a:off x="411480" y="2578608"/>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Learns from your quotes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Bulk-import logged actuals; the engine builds per-segment calibration and watches for drift, so the number tightens as your own history grows — and status rides on every estimate.</a:t>
            </a:r>
          </a:p>
        </p:txBody>
      </p:sp>
      <p:sp>
        <p:nvSpPr>
          <p:cNvPr id="17" name="Rounded Rectangle 16"/>
          <p:cNvSpPr/>
          <p:nvPr/>
        </p:nvSpPr>
        <p:spPr>
          <a:xfrm>
            <a:off x="411480" y="3328415"/>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Negotiation coach</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Names the cost driver and writes the counter: "a quote of £95 implies aluminium +14% above spot — hold at £86.34."</a:t>
            </a:r>
          </a:p>
        </p:txBody>
      </p:sp>
      <p:sp>
        <p:nvSpPr>
          <p:cNvPr id="21" name="Rounded Rectangle 20"/>
          <p:cNvSpPr/>
          <p:nvPr/>
        </p:nvSpPr>
        <p:spPr>
          <a:xfrm>
            <a:off x="411480" y="4078224"/>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Outcome-weighted findings</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The agent learns which findings convert and ranks by money it can really recover — a £100k gap that closes beats a £200k gap that never does.</a:t>
            </a:r>
          </a:p>
        </p:txBody>
      </p:sp>
      <p:sp>
        <p:nvSpPr>
          <p:cNvPr id="25" name="Rounded Rectangle 24"/>
          <p:cNvSpPr/>
          <p:nvPr/>
        </p:nvSpPr>
        <p:spPr>
          <a:xfrm>
            <a:off x="411480" y="4828031"/>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891B2"/>
                </a:solidFill>
                <a:latin typeface="Calibri"/>
              </a:rPr>
              <a:t>What-if engine</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Drag a commodity ±20% and the price recomputes live; run it across the whole portfolio ("if steel +10%, 7 parts go underwater").</a:t>
            </a:r>
          </a:p>
        </p:txBody>
      </p:sp>
      <p:sp>
        <p:nvSpPr>
          <p:cNvPr id="29" name="Rounded Rectangle 28"/>
          <p:cNvSpPr/>
          <p:nvPr/>
        </p:nvSpPr>
        <p:spPr>
          <a:xfrm>
            <a:off x="411480" y="557784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Glass-box by design</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Every learned or derived number stays auditable — no black-box weight ever touches the price. The competitor edge is the opposite.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CostVision inside CAPEE — should-cost, upgraded</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(existing should-cost software)</a:t>
            </a:r>
          </a:p>
          <a:p>
            <a:pPr algn="l">
              <a:lnSpc>
                <a:spcPct val="112000"/>
              </a:lnSpc>
              <a:spcAft>
                <a:spcPts val="500"/>
              </a:spcAft>
            </a:pPr>
            <a:r>
              <a:rPr sz="1200" b="0" i="0">
                <a:solidFill>
                  <a:srgbClr val="334155"/>
                </a:solidFill>
                <a:latin typeface="Calibri"/>
              </a:rPr>
              <a:t>• Should-cost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Its costing engine now powered by CostVision</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it plugs in)</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1,005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Integration into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plugs into CAPEE as its should-cost engine, no rip-and-replace</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1,005</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1,005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photos</a:t>
            </a:r>
          </a:p>
          <a:p>
            <a:pPr algn="l"/>
            <a:r>
              <a:rPr sz="950">
                <a:solidFill>
                  <a:srgbClr val="334155"/>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Board classification</a:t>
            </a:r>
          </a:p>
          <a:p>
            <a:pPr algn="l"/>
            <a:r>
              <a:rPr sz="950">
                <a:solidFill>
                  <a:srgbClr val="334155"/>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OCR text pass</a:t>
            </a:r>
          </a:p>
          <a:p>
            <a:pPr algn="l"/>
            <a:r>
              <a:rPr sz="950">
                <a:solidFill>
                  <a:srgbClr val="334155"/>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Full vision BOM extraction</a:t>
            </a:r>
          </a:p>
          <a:p>
            <a:pPr algn="l"/>
            <a:r>
              <a:rPr sz="950">
                <a:solidFill>
                  <a:srgbClr val="334155"/>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Deterministic clean-up &amp; costing</a:t>
            </a:r>
          </a:p>
          <a:p>
            <a:pPr algn="l"/>
            <a:r>
              <a:rPr sz="950">
                <a:solidFill>
                  <a:srgbClr val="334155"/>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Same photos, same answer</a:t>
            </a:r>
          </a:p>
          <a:p>
            <a:pPr algn="l"/>
            <a:r>
              <a:rPr sz="950">
                <a:solidFill>
                  <a:srgbClr val="334155"/>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Claude vision model — via our controlled endpoint (Option B) </a:t>
            </a:r>
          </a:p>
          <a:p>
            <a:pPr algn="l">
              <a:lnSpc>
                <a:spcPct val="112000"/>
              </a:lnSpc>
              <a:spcAft>
                <a:spcPts val="700"/>
              </a:spcAft>
            </a:pPr>
            <a:r>
              <a:rPr sz="1050" b="0" i="0">
                <a:solidFill>
                  <a:srgbClr val="334155"/>
                </a:solidFill>
                <a:latin typeface="Calibri"/>
              </a:rPr>
              <a:t>• 5-stage pipeline: classify → OCR → extract → cost → cache</a:t>
            </a:r>
          </a:p>
          <a:p>
            <a:pPr algn="l">
              <a:lnSpc>
                <a:spcPct val="112000"/>
              </a:lnSpc>
              <a:spcAft>
                <a:spcPts val="700"/>
              </a:spcAft>
            </a:pPr>
            <a:r>
              <a:rPr sz="1050" b="0" i="0">
                <a:solidFill>
                  <a:srgbClr val="334155"/>
                </a:solidFill>
                <a:latin typeface="Calibri"/>
              </a:rPr>
              <a:t>• Deterministic TypeScript post-processor for types, values, MPNs</a:t>
            </a:r>
          </a:p>
          <a:p>
            <a:pPr algn="l">
              <a:lnSpc>
                <a:spcPct val="112000"/>
              </a:lnSpc>
              <a:spcAft>
                <a:spcPts val="700"/>
              </a:spcAft>
            </a:pPr>
            <a:r>
              <a:rPr sz="1050" b="0" i="0">
                <a:solidFill>
                  <a:srgbClr val="334155"/>
                </a:solidFill>
                <a:latin typeface="Calibri"/>
              </a:rPr>
              <a:t>• SHA-256 result cache — repeatable, auditable output</a:t>
            </a:r>
          </a:p>
          <a:p>
            <a:pPr algn="l">
              <a:lnSpc>
                <a:spcPct val="112000"/>
              </a:lnSpc>
              <a:spcAft>
                <a:spcPts val="700"/>
              </a:spcAft>
            </a:pPr>
            <a:r>
              <a:rPr sz="1050" b="0" i="0">
                <a:solidFill>
                  <a:srgbClr val="334155"/>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OCR evidence + vision cross-check — read, not guessed</a:t>
            </a:r>
          </a:p>
          <a:p>
            <a:pPr algn="l">
              <a:lnSpc>
                <a:spcPct val="112000"/>
              </a:lnSpc>
              <a:spcAft>
                <a:spcPts val="700"/>
              </a:spcAft>
            </a:pPr>
            <a:r>
              <a:rPr sz="1050" b="0" i="0">
                <a:solidFill>
                  <a:srgbClr val="334155"/>
                </a:solidFill>
                <a:latin typeface="Calibri"/>
              </a:rPr>
              <a:t>• Code normalises every line; implausible part numbers rejected</a:t>
            </a:r>
          </a:p>
          <a:p>
            <a:pPr algn="l">
              <a:lnSpc>
                <a:spcPct val="112000"/>
              </a:lnSpc>
              <a:spcAft>
                <a:spcPts val="700"/>
              </a:spcAft>
            </a:pPr>
            <a:r>
              <a:rPr sz="1050" b="0" i="0">
                <a:solidFill>
                  <a:srgbClr val="334155"/>
                </a:solidFill>
                <a:latin typeface="Calibri"/>
              </a:rPr>
              <a:t>• Per-line confidence score — low lines flagged for engineer review</a:t>
            </a:r>
          </a:p>
          <a:p>
            <a:pPr algn="l">
              <a:lnSpc>
                <a:spcPct val="112000"/>
              </a:lnSpc>
              <a:spcAft>
                <a:spcPts val="700"/>
              </a:spcAft>
            </a:pPr>
            <a:r>
              <a:rPr sz="1050" b="0" i="0">
                <a:solidFill>
                  <a:srgbClr val="334155"/>
                </a:solidFill>
                <a:latin typeface="Calibri"/>
              </a:rPr>
              <a:t>• Prices grounded against the distributor catalogue, shown as ranges</a:t>
            </a:r>
          </a:p>
          <a:p>
            <a:pPr algn="l">
              <a:lnSpc>
                <a:spcPct val="112000"/>
              </a:lnSpc>
              <a:spcAft>
                <a:spcPts val="700"/>
              </a:spcAft>
            </a:pPr>
            <a:r>
              <a:rPr sz="1050" b="0" i="0">
                <a:solidFill>
                  <a:srgbClr val="334155"/>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Main AI pass: ~20 seconds</a:t>
            </a:r>
          </a:p>
          <a:p>
            <a:pPr algn="l">
              <a:lnSpc>
                <a:spcPct val="112000"/>
              </a:lnSpc>
              <a:spcAft>
                <a:spcPts val="700"/>
              </a:spcAft>
            </a:pPr>
            <a:r>
              <a:rPr sz="1050" b="0" i="0">
                <a:solidFill>
                  <a:srgbClr val="334155"/>
                </a:solidFill>
                <a:latin typeface="Calibri"/>
              </a:rPr>
              <a:t>• Full costed BOM: typically under a minute</a:t>
            </a:r>
          </a:p>
          <a:p>
            <a:pPr algn="l">
              <a:lnSpc>
                <a:spcPct val="112000"/>
              </a:lnSpc>
              <a:spcAft>
                <a:spcPts val="700"/>
              </a:spcAft>
            </a:pPr>
            <a:r>
              <a:rPr sz="1050" b="0" i="0">
                <a:solidFill>
                  <a:srgbClr val="334155"/>
                </a:solidFill>
                <a:latin typeface="Calibri"/>
              </a:rPr>
              <a:t>• Repeat of the same board: instant (cache)</a:t>
            </a:r>
          </a:p>
          <a:p>
            <a:pPr algn="l">
              <a:lnSpc>
                <a:spcPct val="112000"/>
              </a:lnSpc>
              <a:spcAft>
                <a:spcPts val="700"/>
              </a:spcAft>
            </a:pPr>
            <a:r>
              <a:rPr sz="1050" b="0" i="0">
                <a:solidFill>
                  <a:srgbClr val="334155"/>
                </a:solidFill>
                <a:latin typeface="Calibri"/>
              </a:rPr>
              <a:t>• Manual alternative: hours to days per board</a:t>
            </a:r>
          </a:p>
          <a:p>
            <a:pPr algn="l">
              <a:lnSpc>
                <a:spcPct val="112000"/>
              </a:lnSpc>
              <a:spcAft>
                <a:spcPts val="700"/>
              </a:spcAft>
            </a:pPr>
            <a:r>
              <a:rPr sz="1050" b="0" i="0">
                <a:solidFill>
                  <a:srgbClr val="334155"/>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limits: </a:t>
            </a:r>
            <a:r>
              <a:rPr sz="1150" b="0" i="0">
                <a:solidFill>
                  <a:srgbClr val="334155"/>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a CAD model</a:t>
            </a:r>
          </a:p>
          <a:p>
            <a:pPr algn="l"/>
            <a:r>
              <a:rPr sz="950">
                <a:solidFill>
                  <a:srgbClr val="334155"/>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Opened in memory, inside our server</a:t>
            </a:r>
          </a:p>
          <a:p>
            <a:pPr algn="l"/>
            <a:r>
              <a:rPr sz="950">
                <a:solidFill>
                  <a:srgbClr val="334155"/>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The model is measured</a:t>
            </a:r>
          </a:p>
          <a:p>
            <a:pPr algn="l"/>
            <a:r>
              <a:rPr sz="950">
                <a:solidFill>
                  <a:srgbClr val="334155"/>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Inputs auto-filled</a:t>
            </a:r>
          </a:p>
          <a:p>
            <a:pPr algn="l"/>
            <a:r>
              <a:rPr sz="950">
                <a:solidFill>
                  <a:srgbClr val="334155"/>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Physics engines cost it</a:t>
            </a:r>
          </a:p>
          <a:p>
            <a:pPr algn="l"/>
            <a:r>
              <a:rPr sz="950">
                <a:solidFill>
                  <a:srgbClr val="334155"/>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Defensible result</a:t>
            </a:r>
          </a:p>
          <a:p>
            <a:pPr algn="l"/>
            <a:r>
              <a:rPr sz="950">
                <a:solidFill>
                  <a:srgbClr val="334155"/>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OCCT (Open CASCADE) geometry kernel — runs inside our backend</a:t>
            </a:r>
          </a:p>
          <a:p>
            <a:pPr algn="l">
              <a:lnSpc>
                <a:spcPct val="112000"/>
              </a:lnSpc>
              <a:spcAft>
                <a:spcPts val="700"/>
              </a:spcAft>
            </a:pPr>
            <a:r>
              <a:rPr sz="1050" b="0" i="0">
                <a:solidFill>
                  <a:srgbClr val="334155"/>
                </a:solidFill>
                <a:latin typeface="Calibri"/>
              </a:rPr>
              <a:t>• Pure-TypeScript STL fast path — no external process at all</a:t>
            </a:r>
          </a:p>
          <a:p>
            <a:pPr algn="l">
              <a:lnSpc>
                <a:spcPct val="112000"/>
              </a:lnSpc>
              <a:spcAft>
                <a:spcPts val="700"/>
              </a:spcAft>
            </a:pPr>
            <a:r>
              <a:rPr sz="1050" b="0" i="0">
                <a:solidFill>
                  <a:srgbClr val="334155"/>
                </a:solidFill>
                <a:latin typeface="Calibri"/>
              </a:rPr>
              <a:t>• 18 deterministic physics cost engines do the actual costing</a:t>
            </a:r>
          </a:p>
          <a:p>
            <a:pPr algn="l">
              <a:lnSpc>
                <a:spcPct val="112000"/>
              </a:lnSpc>
              <a:spcAft>
                <a:spcPts val="700"/>
              </a:spcAft>
            </a:pPr>
            <a:r>
              <a:rPr sz="1050" b="0" i="0">
                <a:solidFill>
                  <a:srgbClr val="334155"/>
                </a:solidFill>
                <a:latin typeface="Calibri"/>
              </a:rPr>
              <a:t>• AI translates the measured geometry into process inputs — it never receives the CAD file itself</a:t>
            </a:r>
          </a:p>
          <a:p>
            <a:pPr algn="l">
              <a:lnSpc>
                <a:spcPct val="112000"/>
              </a:lnSpc>
              <a:spcAft>
                <a:spcPts val="700"/>
              </a:spcAft>
            </a:pPr>
            <a:r>
              <a:rPr sz="1050" b="0" i="0">
                <a:solidFill>
                  <a:srgbClr val="334155"/>
                </a:solidFill>
                <a:latin typeface="Calibri"/>
              </a:rPr>
              <a:t>• Rate library + 20-country regional rates drive every figure</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Measured, not estimated — exact volume → exact material mass</a:t>
            </a:r>
          </a:p>
          <a:p>
            <a:pPr algn="l">
              <a:lnSpc>
                <a:spcPct val="112000"/>
              </a:lnSpc>
              <a:spcAft>
                <a:spcPts val="700"/>
              </a:spcAft>
            </a:pPr>
            <a:r>
              <a:rPr sz="1050" b="0" i="0">
                <a:solidFill>
                  <a:srgbClr val="334155"/>
                </a:solidFill>
                <a:latin typeface="Calibri"/>
              </a:rPr>
              <a:t>• Physics build-ups traceable line by line (no black box)</a:t>
            </a:r>
          </a:p>
          <a:p>
            <a:pPr algn="l">
              <a:lnSpc>
                <a:spcPct val="112000"/>
              </a:lnSpc>
              <a:spcAft>
                <a:spcPts val="700"/>
              </a:spcAft>
            </a:pPr>
            <a:r>
              <a:rPr sz="1050" b="0" i="0">
                <a:solidFill>
                  <a:srgbClr val="334155"/>
                </a:solidFill>
                <a:latin typeface="Calibri"/>
              </a:rPr>
              <a:t>• DFM sanity checks: wall thickness, clamp tonnage, press force</a:t>
            </a:r>
          </a:p>
          <a:p>
            <a:pPr algn="l">
              <a:lnSpc>
                <a:spcPct val="112000"/>
              </a:lnSpc>
              <a:spcAft>
                <a:spcPts val="700"/>
              </a:spcAft>
            </a:pPr>
            <a:r>
              <a:rPr sz="1050" b="0" i="0">
                <a:solidFill>
                  <a:srgbClr val="334155"/>
                </a:solidFill>
                <a:latin typeface="Calibri"/>
              </a:rPr>
              <a:t>• Honest uncertainty band shown with every result</a:t>
            </a:r>
          </a:p>
          <a:p>
            <a:pPr algn="l">
              <a:lnSpc>
                <a:spcPct val="112000"/>
              </a:lnSpc>
              <a:spcAft>
                <a:spcPts val="700"/>
              </a:spcAft>
            </a:pPr>
            <a:r>
              <a:rPr sz="1050" b="0" i="0">
                <a:solidFill>
                  <a:srgbClr val="334155"/>
                </a:solidFill>
                <a:latin typeface="Calibri"/>
              </a:rPr>
              <a:t>• Calibration on 3 real quotes took machining error 10.9% → 0.3%</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Geometry read and measured in seconds</a:t>
            </a:r>
          </a:p>
          <a:p>
            <a:pPr algn="l">
              <a:lnSpc>
                <a:spcPct val="112000"/>
              </a:lnSpc>
              <a:spcAft>
                <a:spcPts val="700"/>
              </a:spcAft>
            </a:pPr>
            <a:r>
              <a:rPr sz="1050" b="0" i="0">
                <a:solidFill>
                  <a:srgbClr val="334155"/>
                </a:solidFill>
                <a:latin typeface="Calibri"/>
              </a:rPr>
              <a:t>• Costing computes instantly once inputs are filled</a:t>
            </a:r>
          </a:p>
          <a:p>
            <a:pPr algn="l">
              <a:lnSpc>
                <a:spcPct val="112000"/>
              </a:lnSpc>
              <a:spcAft>
                <a:spcPts val="700"/>
              </a:spcAft>
            </a:pPr>
            <a:r>
              <a:rPr sz="1050" b="0" i="0">
                <a:solidFill>
                  <a:srgbClr val="334155"/>
                </a:solidFill>
                <a:latin typeface="Calibri"/>
              </a:rPr>
              <a:t>• Model-to-first-price: a few minutes, mostly review time</a:t>
            </a:r>
          </a:p>
          <a:p>
            <a:pPr algn="l">
              <a:lnSpc>
                <a:spcPct val="112000"/>
              </a:lnSpc>
              <a:spcAft>
                <a:spcPts val="700"/>
              </a:spcAft>
            </a:pPr>
            <a:r>
              <a:rPr sz="1050" b="0" i="0">
                <a:solidFill>
                  <a:srgbClr val="334155"/>
                </a:solidFill>
                <a:latin typeface="Calibri"/>
              </a:rPr>
              <a:t>• Manual alternative: hours of take-off per part</a:t>
            </a:r>
          </a:p>
          <a:p>
            <a:pPr algn="l">
              <a:lnSpc>
                <a:spcPct val="112000"/>
              </a:lnSpc>
              <a:spcAft>
                <a:spcPts val="700"/>
              </a:spcAft>
            </a:pPr>
            <a:r>
              <a:rPr sz="1050" b="0" i="0">
                <a:solidFill>
                  <a:srgbClr val="334155"/>
                </a:solidFill>
                <a:latin typeface="Calibri"/>
              </a:rPr>
              <a:t>•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059669"/>
                </a:solidFill>
                <a:latin typeface="Calibri"/>
              </a:rPr>
              <a:t>Security, restated: </a:t>
            </a:r>
            <a:r>
              <a:rPr sz="1150" b="1" i="0">
                <a:solidFill>
                  <a:srgbClr val="334155"/>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