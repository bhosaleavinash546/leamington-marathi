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Before learning</c:v>
                </c:pt>
              </c:strCache>
            </c:strRef>
          </c:tx>
          <c:spPr>
            <a:solidFill>
              <a:srgbClr val="686F7D"/>
            </a:solidFill>
          </c:spPr>
          <c:cat>
            <c:strRef>
              <c:f>Sheet1!$A$2:$A$4</c:f>
              <c:strCache>
                <c:ptCount val="3"/>
                <c:pt idx="0">
                  <c:v>Machining error %</c:v>
                </c:pt>
                <c:pt idx="1">
                  <c:v>Casting error %</c:v>
                </c:pt>
                <c:pt idx="2">
                  <c:v>Uncertainty band ±%</c:v>
                </c:pt>
              </c:strCache>
            </c:strRef>
          </c:cat>
          <c:val>
            <c:numRef>
              <c:f>Sheet1!$B$2:$B$4</c:f>
              <c:numCache>
                <c:formatCode>General</c:formatCode>
                <c:ptCount val="3"/>
                <c:pt idx="0">
                  <c:v>10.9</c:v>
                </c:pt>
                <c:pt idx="1">
                  <c:v>8.7</c:v>
                </c:pt>
                <c:pt idx="2">
                  <c:v>20.4</c:v>
                </c:pt>
              </c:numCache>
            </c:numRef>
          </c:val>
        </c:ser>
        <c:ser>
          <c:idx val="1"/>
          <c:order val="1"/>
          <c:tx>
            <c:strRef>
              <c:f>Sheet1!$C$1</c:f>
              <c:strCache>
                <c:ptCount val="1"/>
                <c:pt idx="0">
                  <c:v>After 3 real quotes</c:v>
                </c:pt>
              </c:strCache>
            </c:strRef>
          </c:tx>
          <c:spPr>
            <a:solidFill>
              <a:srgbClr val="2A7F50"/>
            </a:solidFill>
          </c:spPr>
          <c:cat>
            <c:strRef>
              <c:f>Sheet1!$A$2:$A$4</c:f>
              <c:strCache>
                <c:ptCount val="3"/>
                <c:pt idx="0">
                  <c:v>Machining error %</c:v>
                </c:pt>
                <c:pt idx="1">
                  <c:v>Casting error %</c:v>
                </c:pt>
                <c:pt idx="2">
                  <c:v>Uncertainty band ±%</c:v>
                </c:pt>
              </c:strCache>
            </c:strRef>
          </c:cat>
          <c:val>
            <c:numRef>
              <c:f>Sheet1!$C$2:$C$4</c:f>
              <c:numCache>
                <c:formatCode>General</c:formatCode>
                <c:ptCount val="3"/>
                <c:pt idx="0">
                  <c:v>0.3</c:v>
                </c:pt>
                <c:pt idx="1">
                  <c:v>0.6</c:v>
                </c:pt>
                <c:pt idx="2">
                  <c:v>2.8</c:v>
                </c:pt>
              </c:numCache>
            </c:numRef>
          </c:val>
        </c:ser>
        <c:dLbls>
          <c:txPr>
            <a:bodyPr/>
            <a:lstStyle/>
            <a:p>
              <a:pPr>
                <a:defRPr sz="950" b="1"/>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95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pPr>
          </a:p>
        </c:txPr>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session is the implementation blueprint for CostVision: how we deploy it securely so that no CAD data ever leaves our network, and how we integrate it with our existing CAPEE costing tool. Everything in this deck comes from an actual audit of the platform's code — not vendor promises. One important update since the written plan: the two security controls at the heart of this blueprint — private AI routing and the air-gapped switch — have now been BUILT into the platform and tested live. By the end I'll ask for one decision: approval to start Phase 1 and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clear ask: approve the first two phases — the security assessment and the architecture design. That's five to seven weeks with existing teams and no new licence spend. Why now? Because the tool itself is finished and proven; what remains is deployment. Why is it safe? Because CAD processing already happens entirely inside the server — we verified this in the code — and the two security controls this plan called for, private AI routing and the air-gapped switch, are now built into the platform and tested live. And why does CAPEE win? Because we are not replacing CAPEE — it stays the should-cost software our teams already use; CostVision integrates into it and upgrades its engine with AI, physics and a memory.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of background for anyone new. CostVision costs parts bottom-up with physics across 18 manufacturing processes. It reads CAD files directly, it can cost a circuit board from photographs, and — the newest layer — it learns: from every analysis and every real supplier quote, getting measurably more accurate and even raising savings findings on its own. The green bar shows verified results from live runs, including half a million pounds a year of findings surfaced autonomously in our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if the room is new to the word 'agentic', because there are really two levels and people run them together. On the LEFT is agentic AI in the everyday sense: the AI takes actions and uses tools, but you started the task and you stay in the loop. You describe a part and it builds the cost model; you upload a CAD file and it reads the geometry and picks the process; you open a part and it drafts the negotiation argument; you ask a question and it answers from our own rate data, with citations. Useful — but it's waiting for you to ask. On the RIGHT is the step that surprises people: autonomous agentic AI, where nobody is at the keyboard. A monitor runs on our server on a schedule, compares what we pay against what things should cost, and opens findings on its own — that's the half a million pounds a year it surfaced unattended in the demo. The self-audit re-checks every estimate for known mistakes and corrects them without being asked. The calibration keeps learning from logged quotes and watches for drift. The agent even re-prioritises its own queue toward the findings that actually convert to cash. The line at the bottom is the one I'd underline: the difference between the two columns is only who starts the action — in BOTH, the human sets the boundaries and every action stays glass-box and auditable. For a deployment audience that matters twice over: autonomy here never means the AI quietly sets a price, and nothing it does happens off the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on what's newest, because it directly strengthens the security-and-defensibility case this deck makes. Six upgrades shipped in 2026, all built and tested. The one I'd start with is the self-audit: a deterministic layer that re-checks every single estimate against a list of mistakes we've actually seen, and corrects them within bounds — and I can prove it, because we ran it on five real automotive CAD parts and it caught every one, a fuel tank alone falling from two hundred and seventeen pounds to twenty-five. The tool now also learns from your own logged quotes, building per-segment calibration and watching for drift, so it gets tighter on your parts over time. Alongside those, the machine-sizing that used to be hard-coded is now universal across commodities. The negotiation coach names the commodity driving a cost and writes the buyer's counter-argument; the autonomous agent prioritises the savings we can really recover; and the what-if engine answers 'if a commodity moves, what happens' as a defensible conditional. Underneath all of it, everything stays glass-box — every learned number is auditable, nothing is a black box — and the whole thing, CAD engine included, ships in a container whose build is verified in our CI pipeline. That is exactly the combination — checked, learned-from-data, and auditable — that makes these numbers safe to deploy and defend.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architecture, the five building blocks in plain words. The FRONTEND is simply what users see in their browser — nothing installs on laptops. The BACKEND is the engine room on our server, where all calculations happen. The DATABASE is the memory — a standard corporate database our IT already knows how to run and back up. The GEOMETRY ENGINE is the specialist CAD reader — and note, it runs inside our backend, not in any cloud. The AI LAYER is the only piece that talks to an external service — and the control for that is now BUILT into the platform: a single switchboard that every AI call must pass through. Point it at a private endpoint with one setting, or flip the air-gapped switch and it makes no external calls at all. We tested all three modes live and the server announces its mode at start-up for audit.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requirement is absolute: CAD data must never leave our network. Here is the finding that makes this project straightforward: it already doesn't. We audited every outbound connection in the source code. CAD models are processed in memory, inside our server, by the local geometry engine — they are not even saved to disk. The only traffic that leaves today is the AI layer — photographs and derived summaries — plus two optional public feeds. And here is the update since the written plan: the controls that close this gap are already built. Every AI call now goes through one switchboard that can be pointed at a private endpoint or switched off entirely, and we tested all three modes live. So the job is not a redesign — the software side is done; what remains is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security story on one slide. Green, left: what already stays inside — CAD processing, all cost engines, the learning loop, reports. That is the overwhelming majority of the platform. Amber, right: the three flows that go out — and all three are now under our control in the shipped code. The AI layer is the one that matters — photos and derived summaries — and its private routing is built: one setting points every call at our own endpoint. The other two are optional conveniences, and the new air-gapped switch silences them along with everything else, which we verified 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deploy. Option A: fully air-gapped — everything on our machines, zero external connections, and the switch that enforces it is already implemented and tested; but the vision AI features are reduced. Option C is the public API — I include it only to reject it, because photos would traverse a public endpoint. Option B is our recommendation: the platform runs on-premise, and the AI model runs in OUR OWN cloud tenancy, reached over a private link with a no-data-retention configuration. The routing for this is also already built — a single setting points every AI call at our endpoint; we demonstrated it live. So the software work for both A and B is done; the remaining effort is infrastructure and sign-off. And note — the two options combine: the most sensitive programmes can run air-gapped while the rest use 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architecture. Everything in the grey box is inside our network: engineers and CAPEE come through the corporate gateway with single sign-on; the CostVision server — frontend and backend — runs on our virtual machine, with the CAD geometry engine inside it; the database is our standard encrypted PostgreSQL. The only permitted exit is the internal AI gateway at the bottom — one door, inspected and logged — which connects over a private link to the AI model running in our own cloud tenancy with zero data retention. On the right, the zero-trust rules: authenticate everything, deny all other egress, role-based access, and CAD comes from the PLM vault and is never stored. If presenting live, a simple Fade animation on each layer of this diagram works well.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by function: where does CAD data actually go? Opening and measuring the model, detecting features, extracting BOMs, calculating cost — all of it already happens inside our backend, verified in code. The single amber row is photo analysis and AI narrative — and the routing for it is now built: one configuration value points it at the private endpoint. And note the last row — CostVision never stores CAD files at all; they are processed in memory and released. Finally, the air-gapped switch is no longer a promise — it is built and tested, so security can prove zero egress in a witnessed firewall test rather than take our word for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philosophy in one line: CostVision integrates INTO CAPEE, the should-cost software our teams already use — it doesn't sit beside it. CAPEE keeps the workflow, the approvals and the reporting; what changes is that its costing engine is now powered by CostVision underneath, called over internal APIs that already exist. So users open CAPEE exactly as they do today and simply get better should-cost numbers. The six flows that matter: CAPEE sends a part, gets a full should-cost back. It sends a CAD file, gets auto-filled inputs. It asks about a new part, gets similar history and suggestions. And the best one: every PO price CAPEE already captures feeds the learning loop automatically — CAPEE's own data makes the engine smarter without anyone lifting a finger. One shared rate library and knowledge database means one version of the truth across both.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scope of work, honestly sized. CostVision needed six bounded changes — and the first two, private AI routing and the air-gap switch, are already done: built, covered by automated tests, and demonstrated live in all three deployment modes. What remains on the CostVision side is company single sign-on, the corporate database, a clean API wrapper for CAPEE, and audit hardening. CAPEE's changes are additive, not invasive: a client in the backend, an AI-insights panel in the UI, and adopting the shared rate library — plus a one-off import of historical quotes so the memory starts smart. Remaining critical path: roughly three to five engineering weeks. Nothing here is architectural surgery.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compliance-minded: encryption everywhere, and the strongest control of all for CAD — it is never stored. Access is company single sign-on with role mapping. Data-loss prevention comes down to one inspected exit door and a firewall that denies everything else — and security can witness the air-gap test themselves. Full audit trails to our SIEM. On standards: ISO 27001 is covered by these controls; SOC 2 is inherited from the certified cloud services; GDPR exposure is minimal with zero-retention AI in the EU region; and for automotive cyber, this is an engineering IT tool outside the vehicle scope, with supply-chain checks built into the build pipeline.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phases. The first two — assessment and design — are what we're asking approval for today. Phase three is a sealed pilot with dummy CAD data, and its exit gate is a security-witnessed test: firewall blocking everything, full test suite passing, zero unexpected traffic. Phase four connects CAPEE, with a real costing done end-to-end by a cost engineer as the gate. Rollout and then steady-state governance follow. First tangible value lands around week eight, when pilot users start getting similar-part suggestions and sourcing sees the first autonomous findings.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risk view. If the cloud tenancy isn't approved, we don't stall — we fall back to the fully air-gapped option, which still delivers the deterministic engines and the learning loop. The learning depends on real quotes being logged — but the CAPEE hook automates that, and a historical import means we don't start from zero. Platform knowledge is protected by the test suite, documentation and a trained CAPEE-side maintainer. And adoption risk is low precisely because users stay in CAPEE — for them, the change is simply that better answers start appearing.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secure deployment with CAD fully internal is feasible — in fact, the platform was built that way, and the two controls that complete it — private AI routing and the air-gapped switch — are already built, tested and demonstrated live. Integrating into CAPEE is feasible and high-value: CostVision plugs in as the should-cost engine while CAPEE stays the tool teams work in. The remaining changes are bounded — roughly three to five weeks, not months — and governance is defined. The ask today is simple: approve Phases 1 and 2, the security assessment and the architecture design. The full written plan, including the security checklist, is ready to hand to the IT-Security team. Thank you — questions welcome.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the question 'has anyone done this before — are we the only ones?' The answer is reassuring in both directions. No, we are not inventing an unproven category: should-cost software is an established market. aPriori is the leader — CAD-to-cost with physics models, sold to exactly our kind of company. Siemens ships it inside the PLM suite. Tset is the automotive AI challenger — and notably A2MAC1 agreed to acquire them in June 2026 specifically to build AI-enabled costing intelligence, which tells you the whole market believes in the direction we've already built. Boothroyd Dewhurst is the classic methodology, and a wave of AI start-ups is doing CAD-to-quote. So the category is validated by the market. The real question is why our own tool rather than buying one — and that's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the backup answer: given the market exists, why build our own? Four things no vendor offers today. One — photo-to-cost for PCBs: photograph a supplier's or competitor's board and get a costed bill of materials; design tools generate BOMs during design, but no costing suite does this from photos. Two — the self-learning loop: CostVision calibrates on our own purchase-order prices, cutting error from about eleven percent to under one percent in testing after just three quotes, and raises findings on its own; the incumbents are only now marketing toward AI-enabled costing. Three — deployment: the commercial tools are cloud SaaS, meaning our CAD and our rates would sit in a vendor's cloud; CostVision runs inside our network with the private-AI and air-gap controls already built. Four — breadth without per-module licences. And the honest caveat management should hear: aPriori's strength is decades of curated cost data. Our counter is that every quote CAPEE logs makes CostVision smarter on OUR parts, OUR suppliers, OUR regions — data no vendor has. The positioning is not 'better than aPriori'; it is an internal, secure, self-learning engine behind CAPEE.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backup slide answers 'whose numbers are these?' The answer: ours, whenever we want them to be. What you see is a live screenshot of the tool, not a mock-up. An administrator downloads an Excel template with six sheets — materials, machines, labour, energy, exchange rates and overheads — fills in our company rates, and uploads it. The file is validated row by row and becomes the active rate library instantly; the green badge confirms company rates are in force. After that, any single cell can be fine-tuned in the on-screen tables, and every change is recorded with the user's name and a timestamp — a full audit trail. We proved this live: a complete workbook with over five hundred rows across the six sheets uploaded, validated and activated. On top of that, the tool ships twenty country rate sets with eight labour categories each, the PCB country cost table is editable the same way, and the software-costing engine has its own separate library. And if anything goes wrong, one click returns to the built-in defaults. So management should hear this clearly: the tool calculates on OUR labour, material, machine and energy rates, by country — vendor tools can't offer that level of transparency and control.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case in one view. Costs, left: three to five engineering weeks remaining plus small additive changes in CAPEE, all with existing teams; infrastructure is one virtual machine and our standard corporate database; AI usage is pay-per-use in our own tenancy with no per-seat fees; and licence spend is zero — this was built in-house, so the code, the rate library and the knowledge base are our intellectual property. Returns, right: the autonomous agent surfaced half a million pounds a year of pricing findings in the demonstration; a commercial should-cost suite would cost six figures every year, recurring; quotes get a defensible counter-number in minutes; and negotiations start from bottom-up figures built on our own rates. And the amber bar is deliberate honesty: the savings figure is from demo data — we validate it in the pilot before it goes into any business case. That candour is what makes the rest of this slide believable.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slide, for when someone asks 'does it actually work?' The chart shows measured accuracy from live test runs. Grey bars are the engine before learning: machining estimates were off by about eleven percent, casting by about nine, and the honest uncertainty band was around plus-or-minus twenty percent. Green bars are after the engine learned from just three real supplier quotes per commodity: errors drop below one percent and the band tightens to under three. That is the self-learning loop working — and it is why CAPEE's PO prices matter so much, because they are exactly the fuel this loop runs on. On the right: the part-matching memory finds the right historical part ninety-nine percent of the time; one thousand seven hundred and seventy-seven automated tests protect the platform on every change; and the autonomous agent found half a million pounds a year of pricing issues in the demo without anyone asking it 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here because the plan you approved is a few months old now, and four things have been built since that are worth knowing about. First, and the one your engineers pushed hardest for: the design-for-manufacture advice used to look at the finished cost and guess backwards. They told me that was too generic, and they were right. It now opens the 3D model and measures every face on the part. Nineteen rules, every one citing a published standard rather than my opinion, and when it flags something it shows you exactly which faces on the model are the problem. Second, gears. Cost engineering and the plant asked for this directly. Gears used to go through the tool as ordinary milled parts, which cannot see a tooth. Now the tool picks the manufacturing process from the geometry itself and works the cycle time out from the machine kinematics. Third, landed cost. A should-cost now includes duty, carbon border tax and origin rules, so the number is what the part costs at our door rather than at the supplier's gate. Fourth, long-term agreements are now priced properly — the annual quantity and the programme lifetime are separate, which they always should have been. And the amber bar is me being straight. The gear model is structurally right but it is running on representative shop figures, not yours, and we have not yet checked a gear against a cost we know. The tool says so itself on every estimate. Give me your machine list and two costed gears and that gap closes.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aimed squarely at you, and it is short on purpose. The gear model is built. The arithmetic behind the cycle times is the gear-train maths, and you can check it line by line — the tool prints the sum. What it does not have is your shop. Right now it is running on representative feeds and speeds and a representative machine list, and it says so on every single estimate it produces. I would rather it under-claim than have it quietly pretend. So there are three things I need, and they are in order of how much each one moves the number. First, your gear machine list — the classes, the hourly rates, and the capacity limits. That is the single biggest one, because right now the tool is choosing between fourteen machine classes I have described rather than fourteen machines you actually own. Second, the feeds and speeds by material and module, plus what a hob costs and how many parts it cuts between regrinds. Those drive the cycle time, and the cycle time drives the cost. Third, and this is the one that turns it from a model into a proven model — two gears where you already know the real cost. Ideally one that is just hobbed and one that is hardened and ground, because those are the two ends of the range. Until we do that comparison, everything I have shown you is internally consistent but unproven. The effort is about half a day of exports plus two costings you have already done. Nothing new has to be measured, and nothing has to be created for 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question-and-answer session — the five questions most likely to come up, with straight answers. Why not buy aPriori? Because a vendor SaaS puts our CAD and our rates in their cloud, can't learn from our quote history, and bills six figures a year forever — while CostVision is on-premise, self-learning and our own intellectual property. Is our data training a public AI? No — zero retention in our own tenancy, and the air-gapped switch makes 'no external calls' provable rather than promised. Key-person risk? Seven hundred ninety-three automated tests, written architecture docs, and a trained second maintainer from Phase 4. Running cost? A virtual machine, a standard database, pay-per-use AI — no licences. And how do we trust the numbers? Physics build-ups on our own rates, calibrated against our own purchase orders, with the error tracked openly on the accuracy dashboard.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photo-to-BOM workflow in six steps. An engineer photographs a circuit board — up to five photos, and optionally a BOM or pick-and-place file if one exists. Step two: the AI first classifies what kind of board it is, including automotive safety level, so the right cost assumptions apply. Step three is an OCR pass — it literally reads the part numbers printed on the chips, which anchors the analysis in hard evidence. Step four is the full vision extraction: every visible component located, typed and identified, in about twenty seconds. Step five matters for trust: ordinary deterministic code — not AI — cleans the list, scores confidence line by line, grounds prices against a distributor catalogue, and then builds the full cost: bare board fabrication, component purchase, SMT assembly time and test, on our country rates. And step six: the result is fingerprinted and cached, so the same photos always give the same answer — an auditable property no ad-hoc AI chat can offer.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feature from three angles. Technology: the vision model runs through our controlled endpoint, inside a five-stage pipeline, and everything after the AI step is plain deterministic code — including a fingerprint cache that makes results repeatable and auditable. Live distributor pricing is opt-in and sends only part-number text, never images. Accuracy: the OCR pass means part numbers are read off the chips, not guessed; the post-processor rejects implausible part numbers; every line carries a confidence score and low ones are flagged for review; and prices are grounded against a catalogue and shown as ranges, not false precision. Speed: the heavy AI pass is about twenty seconds, a full costed BOM lands in under a minute, and repeating the same board is instant. The honest limit to state up front: it can only see what is photographed — underside components need an underside photo — and where it is unsure it says so and asks for a human check. That is by design.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CAD-to-cost workflow. An engineer uploads a STEP, IGES or STL model — either in the dedicated CAD-to-Cost flow or directly inside any of thirteen commodity calculators. Step two is the security headline: the geometry engine opens the model in memory, inside our own server — the file is never written to disk and never leaves the network. Step three, the engine measures the part: exact volume, surface area, wall thickness, holes — numbers measured from the actual geometry rather than read off a drawing by eye. Step four, those measurements auto-fill the costing inputs — mass, stock size, suggested process parameters — which the engineer reviews rather than types. Step five, the physics engines build the cost bottom-up on our own rates. And step six, the output is a defensible breakdown with manufacturability warnings and an honest uncertainty band that tightens as the learning loop absorbs real quotes.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CAD-to-cost from the same three angles. Technology: the geometry work is done by OCCT — Open CASCADE, the same engineering kernel class that commercial CAD packages build on — running inside our backend, with a pure-TypeScript fast path for STL files. The costing itself is done by our eighteen deterministic physics engines. The AI's only job is translating the measured geometry into sensible process inputs — and it never receives the CAD file, only a short numeric summary. Accuracy: the inputs are measured, not estimated — exact volume gives exact mass; every cost line is traceable; manufacturability checks catch physically impossible set-ups; the uncertainty band is shown honestly; and calibration against just three real quotes took machining error from eleven percent to a third of a percent. Speed: seconds to measure, instant to cost, minutes to a defensible first price — against hours of manual take-off. And the green bar restates the point that matters most in this room: the CAD never leaves our walls, full stop.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the question directly: what does the tool pull off the model on its own, and where does each thing go. Left, every item is measured with nothing typed; right, the cost driver it feeds. Volume and weight from the kernel make material exact; the envelope sizes machine and stock; body count is assembly and BOM scope; holes become drilling; wall thickness decides mould and cast feasibility; draft flags undercuts that need slides; face areas drive machining and paint. On the right, the real gear — two kilos of gear steel, about twenty-two pounds ex-works from India, in sterling. And the guardrail: the AI never sets the price. It classifies; the engine does deterministic maths on the geometry, every rate traceable.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411480"/>
            <a:ext cx="480060" cy="480060"/>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25" b="1">
                <a:solidFill>
                  <a:srgbClr val="16325C"/>
                </a:solidFill>
                <a:latin typeface="Calibri"/>
              </a:rPr>
              <a:t>cv</a:t>
            </a:r>
          </a:p>
        </p:txBody>
      </p:sp>
      <p:sp>
        <p:nvSpPr>
          <p:cNvPr id="5" name="TextBox 4"/>
          <p:cNvSpPr txBox="1"/>
          <p:nvPr/>
        </p:nvSpPr>
        <p:spPr>
          <a:xfrm>
            <a:off x="1051560" y="377190"/>
            <a:ext cx="2377440" cy="292608"/>
          </a:xfrm>
          <a:prstGeom prst="rect">
            <a:avLst/>
          </a:prstGeom>
          <a:noFill/>
        </p:spPr>
        <p:txBody>
          <a:bodyPr wrap="square" anchor="t" lIns="0" rIns="0" tIns="0" bIns="0">
            <a:spAutoFit/>
          </a:bodyPr>
          <a:lstStyle/>
          <a:p>
            <a:pPr algn="l">
              <a:lnSpc>
                <a:spcPct val="100000"/>
              </a:lnSpc>
              <a:spcAft>
                <a:spcPts val="400"/>
              </a:spcAft>
            </a:pPr>
            <a:r>
              <a:rPr sz="2250" b="1" i="0">
                <a:solidFill>
                  <a:srgbClr val="FFFFFF"/>
                </a:solidFill>
                <a:latin typeface="Calibri"/>
              </a:rPr>
              <a:t>CostVision</a:t>
            </a:r>
          </a:p>
        </p:txBody>
      </p:sp>
      <p:sp>
        <p:nvSpPr>
          <p:cNvPr id="6" name="TextBox 5"/>
          <p:cNvSpPr txBox="1"/>
          <p:nvPr/>
        </p:nvSpPr>
        <p:spPr>
          <a:xfrm>
            <a:off x="1051560" y="685800"/>
            <a:ext cx="2560320" cy="201168"/>
          </a:xfrm>
          <a:prstGeom prst="rect">
            <a:avLst/>
          </a:prstGeom>
          <a:noFill/>
        </p:spPr>
        <p:txBody>
          <a:bodyPr wrap="square" anchor="t" lIns="0" rIns="0" tIns="0" bIns="0">
            <a:spAutoFit/>
          </a:bodyPr>
          <a:lstStyle/>
          <a:p>
            <a:pPr algn="l">
              <a:lnSpc>
                <a:spcPct val="100000"/>
              </a:lnSpc>
              <a:spcAft>
                <a:spcPts val="400"/>
              </a:spcAft>
            </a:pPr>
            <a:r>
              <a:rPr sz="937" b="0" i="0">
                <a:solidFill>
                  <a:srgbClr val="8FA3CC"/>
                </a:solidFill>
                <a:latin typeface="Calibri"/>
              </a:rPr>
              <a:t>AI  COST  INTELLIGENCE</a:t>
            </a:r>
          </a:p>
        </p:txBody>
      </p:sp>
      <p:sp>
        <p:nvSpPr>
          <p:cNvPr id="7" name="TextBox 6"/>
          <p:cNvSpPr txBox="1"/>
          <p:nvPr/>
        </p:nvSpPr>
        <p:spPr>
          <a:xfrm>
            <a:off x="822960" y="1965960"/>
            <a:ext cx="10789920" cy="914400"/>
          </a:xfrm>
          <a:prstGeom prst="rect">
            <a:avLst/>
          </a:prstGeom>
          <a:noFill/>
        </p:spPr>
        <p:txBody>
          <a:bodyPr wrap="square" anchor="t" lIns="0" rIns="0" tIns="0" bIns="0">
            <a:spAutoFit/>
          </a:bodyPr>
          <a:lstStyle/>
          <a:p>
            <a:pPr algn="l">
              <a:lnSpc>
                <a:spcPct val="100000"/>
              </a:lnSpc>
              <a:spcAft>
                <a:spcPts val="400"/>
              </a:spcAft>
            </a:pPr>
            <a:r>
              <a:rPr sz="3600" b="1" i="0">
                <a:solidFill>
                  <a:srgbClr val="FFFFFF"/>
                </a:solidFill>
                <a:latin typeface="Cambria"/>
              </a:rPr>
              <a:t>CostVision Implementation Blueprint</a:t>
            </a:r>
          </a:p>
        </p:txBody>
      </p:sp>
      <p:sp>
        <p:nvSpPr>
          <p:cNvPr id="8" name="TextBox 7"/>
          <p:cNvSpPr txBox="1"/>
          <p:nvPr/>
        </p:nvSpPr>
        <p:spPr>
          <a:xfrm>
            <a:off x="822960" y="2834640"/>
            <a:ext cx="10424160" cy="822960"/>
          </a:xfrm>
          <a:prstGeom prst="rect">
            <a:avLst/>
          </a:prstGeom>
          <a:noFill/>
        </p:spPr>
        <p:txBody>
          <a:bodyPr wrap="square" anchor="t" lIns="0" rIns="0" tIns="0" bIns="0">
            <a:spAutoFit/>
          </a:bodyPr>
          <a:lstStyle/>
          <a:p>
            <a:pPr algn="l">
              <a:lnSpc>
                <a:spcPct val="100000"/>
              </a:lnSpc>
              <a:spcAft>
                <a:spcPts val="400"/>
              </a:spcAft>
            </a:pPr>
            <a:r>
              <a:rPr sz="1900" b="0" i="0">
                <a:solidFill>
                  <a:srgbClr val="CADCFC"/>
                </a:solidFill>
                <a:latin typeface="Calibri"/>
              </a:rPr>
              <a:t>Secure deployment inside our network — integrated into CAPEE, our existing should-cost software.</a:t>
            </a:r>
          </a:p>
          <a:p>
            <a:pPr algn="l">
              <a:lnSpc>
                <a:spcPct val="100000"/>
              </a:lnSpc>
              <a:spcAft>
                <a:spcPts val="400"/>
              </a:spcAft>
            </a:pPr>
            <a:r>
              <a:rPr sz="1900" b="0" i="0">
                <a:solidFill>
                  <a:srgbClr val="CADCFC"/>
                </a:solidFill>
                <a:latin typeface="Calibri"/>
              </a:rPr>
              <a:t>All CAD models, drawings and images stay inside the company. Verified in the code.</a:t>
            </a:r>
          </a:p>
        </p:txBody>
      </p:sp>
      <p:sp>
        <p:nvSpPr>
          <p:cNvPr id="9" name="Rounded Rectangle 8"/>
          <p:cNvSpPr/>
          <p:nvPr/>
        </p:nvSpPr>
        <p:spPr>
          <a:xfrm>
            <a:off x="822960" y="4160520"/>
            <a:ext cx="246888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2A7F50"/>
                </a:solidFill>
                <a:latin typeface="Calibri"/>
              </a:rPr>
              <a:t>100% CAD stays internal</a:t>
            </a:r>
          </a:p>
        </p:txBody>
      </p:sp>
      <p:sp>
        <p:nvSpPr>
          <p:cNvPr id="10" name="Rounded Rectangle 9"/>
          <p:cNvSpPr/>
          <p:nvPr/>
        </p:nvSpPr>
        <p:spPr>
          <a:xfrm>
            <a:off x="3520440" y="4160520"/>
            <a:ext cx="246888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1D6FB8"/>
                </a:solidFill>
                <a:latin typeface="Calibri"/>
              </a:rPr>
              <a:t>AI controls BUILT &amp; tested</a:t>
            </a:r>
          </a:p>
        </p:txBody>
      </p:sp>
      <p:sp>
        <p:nvSpPr>
          <p:cNvPr id="11" name="Rounded Rectangle 10"/>
          <p:cNvSpPr/>
          <p:nvPr/>
        </p:nvSpPr>
        <p:spPr>
          <a:xfrm>
            <a:off x="6217920" y="4160520"/>
            <a:ext cx="246888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6B3FA0"/>
                </a:solidFill>
                <a:latin typeface="Calibri"/>
              </a:rPr>
              <a:t>~3–5 weeks remaining</a:t>
            </a:r>
          </a:p>
        </p:txBody>
      </p:sp>
      <p:sp>
        <p:nvSpPr>
          <p:cNvPr id="12" name="Rounded Rectangle 11"/>
          <p:cNvSpPr/>
          <p:nvPr/>
        </p:nvSpPr>
        <p:spPr>
          <a:xfrm>
            <a:off x="8915400" y="4160520"/>
            <a:ext cx="246888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0D7D71"/>
                </a:solidFill>
                <a:latin typeface="Calibri"/>
              </a:rPr>
              <a:t>6-phase rollout</a:t>
            </a:r>
          </a:p>
        </p:txBody>
      </p:sp>
      <p:sp>
        <p:nvSpPr>
          <p:cNvPr id="13" name="TextBox 12"/>
          <p:cNvSpPr txBox="1"/>
          <p:nvPr/>
        </p:nvSpPr>
        <p:spPr>
          <a:xfrm>
            <a:off x="822960" y="5943600"/>
            <a:ext cx="1005840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8FA3CC"/>
                </a:solidFill>
                <a:latin typeface="Calibri"/>
              </a:rPr>
              <a:t>Management briefing  ·  July 2026  ·  Grounded in a line-by-line audit of the platform code</a:t>
            </a:r>
          </a:p>
        </p:txBody>
      </p:sp>
      <p:sp>
        <p:nvSpPr>
          <p:cNvPr id="14" name="Rectangle 13"/>
          <p:cNvSpPr/>
          <p:nvPr/>
        </p:nvSpPr>
        <p:spPr>
          <a:xfrm>
            <a:off x="0" y="6711696"/>
            <a:ext cx="12191695" cy="1463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PURPOSE OF THIS MEETING</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The decision we are asking for today</a:t>
            </a:r>
          </a:p>
        </p:txBody>
      </p:sp>
      <p:sp>
        <p:nvSpPr>
          <p:cNvPr id="9" name="Rounded Rectangle 8"/>
          <p:cNvSpPr/>
          <p:nvPr/>
        </p:nvSpPr>
        <p:spPr>
          <a:xfrm>
            <a:off x="411480" y="1920240"/>
            <a:ext cx="11384280" cy="1371600"/>
          </a:xfrm>
          <a:prstGeom prst="roundRect">
            <a:avLst>
              <a:gd name="adj" fmla="val 8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148840"/>
            <a:ext cx="10789920" cy="1005840"/>
          </a:xfrm>
          <a:prstGeom prst="rect">
            <a:avLst/>
          </a:prstGeom>
          <a:noFill/>
        </p:spPr>
        <p:txBody>
          <a:bodyPr wrap="square" anchor="t" lIns="0" rIns="0" tIns="0" bIns="0">
            <a:spAutoFit/>
          </a:bodyPr>
          <a:lstStyle/>
          <a:p>
            <a:pPr algn="l">
              <a:lnSpc>
                <a:spcPct val="120000"/>
              </a:lnSpc>
              <a:spcAft>
                <a:spcPts val="400"/>
              </a:spcAft>
            </a:pPr>
            <a:r>
              <a:rPr sz="1700" b="1" i="0">
                <a:solidFill>
                  <a:srgbClr val="1D6FB8"/>
                </a:solidFill>
                <a:latin typeface="Calibri"/>
              </a:rPr>
              <a:t>Approve Phases 1–2: </a:t>
            </a:r>
            <a:r>
              <a:rPr sz="1700" b="0" i="0">
                <a:solidFill>
                  <a:srgbClr val="3A4356"/>
                </a:solidFill>
                <a:latin typeface="Calibri"/>
              </a:rPr>
              <a:t>the IT-Security assessment and the architecture design for deploying CostVision inside our network and connecting it to CAPEE.  (~5–7 weeks, existing teams, no licence spend.)</a:t>
            </a:r>
          </a:p>
        </p:txBody>
      </p:sp>
      <p:sp>
        <p:nvSpPr>
          <p:cNvPr id="11" name="Rounded Rectangle 10"/>
          <p:cNvSpPr/>
          <p:nvPr/>
        </p:nvSpPr>
        <p:spPr>
          <a:xfrm>
            <a:off x="411480" y="3657600"/>
            <a:ext cx="3657600" cy="219456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657600"/>
            <a:ext cx="3657600" cy="822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886200"/>
            <a:ext cx="3246120" cy="365760"/>
          </a:xfrm>
          <a:prstGeom prst="rect">
            <a:avLst/>
          </a:prstGeom>
          <a:noFill/>
        </p:spPr>
        <p:txBody>
          <a:bodyPr wrap="square" anchor="t" lIns="0" rIns="0" tIns="0" bIns="0">
            <a:spAutoFit/>
          </a:bodyPr>
          <a:lstStyle/>
          <a:p>
            <a:pPr algn="l">
              <a:lnSpc>
                <a:spcPct val="100000"/>
              </a:lnSpc>
              <a:spcAft>
                <a:spcPts val="400"/>
              </a:spcAft>
            </a:pPr>
            <a:r>
              <a:rPr sz="1550" b="1" i="0">
                <a:solidFill>
                  <a:srgbClr val="1D6FB8"/>
                </a:solidFill>
                <a:latin typeface="Calibri"/>
              </a:rPr>
              <a:t>Why now</a:t>
            </a:r>
          </a:p>
        </p:txBody>
      </p:sp>
      <p:sp>
        <p:nvSpPr>
          <p:cNvPr id="14" name="TextBox 13"/>
          <p:cNvSpPr txBox="1"/>
          <p:nvPr/>
        </p:nvSpPr>
        <p:spPr>
          <a:xfrm>
            <a:off x="640080" y="4343400"/>
            <a:ext cx="3246120" cy="1417320"/>
          </a:xfrm>
          <a:prstGeom prst="rect">
            <a:avLst/>
          </a:prstGeom>
          <a:noFill/>
        </p:spPr>
        <p:txBody>
          <a:bodyPr wrap="square" anchor="t" lIns="0" rIns="0" tIns="0" bIns="0">
            <a:spAutoFit/>
          </a:bodyPr>
          <a:lstStyle/>
          <a:p>
            <a:pPr algn="l">
              <a:lnSpc>
                <a:spcPct val="118000"/>
              </a:lnSpc>
              <a:spcAft>
                <a:spcPts val="400"/>
              </a:spcAft>
            </a:pPr>
            <a:r>
              <a:rPr sz="1200" b="0" i="0">
                <a:solidFill>
                  <a:srgbClr val="3A4356"/>
                </a:solidFill>
                <a:latin typeface="Calibri"/>
              </a:rPr>
              <a:t>The tool is built, tested (1,777 automated tests) and proven on live runs — the value is waiting on deployment, not development.</a:t>
            </a:r>
          </a:p>
        </p:txBody>
      </p:sp>
      <p:sp>
        <p:nvSpPr>
          <p:cNvPr id="15" name="Rounded Rectangle 14"/>
          <p:cNvSpPr/>
          <p:nvPr/>
        </p:nvSpPr>
        <p:spPr>
          <a:xfrm>
            <a:off x="4297680" y="3657600"/>
            <a:ext cx="3657600" cy="219456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3657600"/>
            <a:ext cx="3657600" cy="8229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886200"/>
            <a:ext cx="3246120" cy="365760"/>
          </a:xfrm>
          <a:prstGeom prst="rect">
            <a:avLst/>
          </a:prstGeom>
          <a:noFill/>
        </p:spPr>
        <p:txBody>
          <a:bodyPr wrap="square" anchor="t" lIns="0" rIns="0" tIns="0" bIns="0">
            <a:spAutoFit/>
          </a:bodyPr>
          <a:lstStyle/>
          <a:p>
            <a:pPr algn="l">
              <a:lnSpc>
                <a:spcPct val="100000"/>
              </a:lnSpc>
              <a:spcAft>
                <a:spcPts val="400"/>
              </a:spcAft>
            </a:pPr>
            <a:r>
              <a:rPr sz="1550" b="1" i="0">
                <a:solidFill>
                  <a:srgbClr val="2A7F50"/>
                </a:solidFill>
                <a:latin typeface="Calibri"/>
              </a:rPr>
              <a:t>Why it is safe</a:t>
            </a:r>
          </a:p>
        </p:txBody>
      </p:sp>
      <p:sp>
        <p:nvSpPr>
          <p:cNvPr id="18" name="TextBox 17"/>
          <p:cNvSpPr txBox="1"/>
          <p:nvPr/>
        </p:nvSpPr>
        <p:spPr>
          <a:xfrm>
            <a:off x="4526280" y="4343400"/>
            <a:ext cx="3246120" cy="1417320"/>
          </a:xfrm>
          <a:prstGeom prst="rect">
            <a:avLst/>
          </a:prstGeom>
          <a:noFill/>
        </p:spPr>
        <p:txBody>
          <a:bodyPr wrap="square" anchor="t" lIns="0" rIns="0" tIns="0" bIns="0">
            <a:spAutoFit/>
          </a:bodyPr>
          <a:lstStyle/>
          <a:p>
            <a:pPr algn="l">
              <a:lnSpc>
                <a:spcPct val="118000"/>
              </a:lnSpc>
              <a:spcAft>
                <a:spcPts val="400"/>
              </a:spcAft>
            </a:pPr>
            <a:r>
              <a:rPr sz="1200" b="0" i="0">
                <a:solidFill>
                  <a:srgbClr val="3A4356"/>
                </a:solidFill>
                <a:latin typeface="Calibri"/>
              </a:rPr>
              <a:t>CAD processing already runs fully inside the server. The private AI routing and the air-gapped switch are now BUILT and tested live.</a:t>
            </a:r>
          </a:p>
        </p:txBody>
      </p:sp>
      <p:sp>
        <p:nvSpPr>
          <p:cNvPr id="19" name="Rounded Rectangle 18"/>
          <p:cNvSpPr/>
          <p:nvPr/>
        </p:nvSpPr>
        <p:spPr>
          <a:xfrm>
            <a:off x="8183879" y="3657600"/>
            <a:ext cx="3657600" cy="219456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79" y="3657600"/>
            <a:ext cx="3657600" cy="82296"/>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9" y="3886200"/>
            <a:ext cx="3246120" cy="365760"/>
          </a:xfrm>
          <a:prstGeom prst="rect">
            <a:avLst/>
          </a:prstGeom>
          <a:noFill/>
        </p:spPr>
        <p:txBody>
          <a:bodyPr wrap="square" anchor="t" lIns="0" rIns="0" tIns="0" bIns="0">
            <a:spAutoFit/>
          </a:bodyPr>
          <a:lstStyle/>
          <a:p>
            <a:pPr algn="l">
              <a:lnSpc>
                <a:spcPct val="100000"/>
              </a:lnSpc>
              <a:spcAft>
                <a:spcPts val="400"/>
              </a:spcAft>
            </a:pPr>
            <a:r>
              <a:rPr sz="1550" b="1" i="0">
                <a:solidFill>
                  <a:srgbClr val="6B3FA0"/>
                </a:solidFill>
                <a:latin typeface="Calibri"/>
              </a:rPr>
              <a:t>Why CAPEE wins</a:t>
            </a:r>
          </a:p>
        </p:txBody>
      </p:sp>
      <p:sp>
        <p:nvSpPr>
          <p:cNvPr id="22" name="TextBox 21"/>
          <p:cNvSpPr txBox="1"/>
          <p:nvPr/>
        </p:nvSpPr>
        <p:spPr>
          <a:xfrm>
            <a:off x="8412479" y="4343400"/>
            <a:ext cx="3246120" cy="1417320"/>
          </a:xfrm>
          <a:prstGeom prst="rect">
            <a:avLst/>
          </a:prstGeom>
          <a:noFill/>
        </p:spPr>
        <p:txBody>
          <a:bodyPr wrap="square" anchor="t" lIns="0" rIns="0" tIns="0" bIns="0">
            <a:spAutoFit/>
          </a:bodyPr>
          <a:lstStyle/>
          <a:p>
            <a:pPr algn="l">
              <a:lnSpc>
                <a:spcPct val="118000"/>
              </a:lnSpc>
              <a:spcAft>
                <a:spcPts val="400"/>
              </a:spcAft>
            </a:pPr>
            <a:r>
              <a:rPr sz="1200" b="0" i="0">
                <a:solidFill>
                  <a:srgbClr val="3A4356"/>
                </a:solidFill>
                <a:latin typeface="Calibri"/>
              </a:rPr>
              <a:t>CAPEE is our existing should-cost software; CostVision plugs into it to upgrade its engine with AI, physics and memory. No rip-and-replace.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BACKGROUND</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CostVision is — a quick recap</a:t>
            </a:r>
          </a:p>
        </p:txBody>
      </p:sp>
      <p:sp>
        <p:nvSpPr>
          <p:cNvPr id="9" name="Rounded Rectangle 8"/>
          <p:cNvSpPr/>
          <p:nvPr/>
        </p:nvSpPr>
        <p:spPr>
          <a:xfrm>
            <a:off x="411480" y="1874519"/>
            <a:ext cx="5577840" cy="12984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74519"/>
            <a:ext cx="82296" cy="129844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002535"/>
            <a:ext cx="512064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1D6FB8"/>
                </a:solidFill>
                <a:latin typeface="Calibri"/>
              </a:rPr>
              <a:t>18 cost engines</a:t>
            </a:r>
          </a:p>
        </p:txBody>
      </p:sp>
      <p:sp>
        <p:nvSpPr>
          <p:cNvPr id="12" name="TextBox 11"/>
          <p:cNvSpPr txBox="1"/>
          <p:nvPr/>
        </p:nvSpPr>
        <p:spPr>
          <a:xfrm>
            <a:off x="667512" y="2404871"/>
            <a:ext cx="5120640" cy="685800"/>
          </a:xfrm>
          <a:prstGeom prst="rect">
            <a:avLst/>
          </a:prstGeom>
          <a:noFill/>
        </p:spPr>
        <p:txBody>
          <a:bodyPr wrap="square" anchor="t" lIns="0" rIns="0" tIns="0" bIns="0">
            <a:spAutoFit/>
          </a:bodyPr>
          <a:lstStyle/>
          <a:p>
            <a:pPr algn="l">
              <a:lnSpc>
                <a:spcPct val="112000"/>
              </a:lnSpc>
              <a:spcAft>
                <a:spcPts val="400"/>
              </a:spcAft>
            </a:pPr>
            <a:r>
              <a:rPr sz="1150" b="0" i="0">
                <a:solidFill>
                  <a:srgbClr val="3A4356"/>
                </a:solidFill>
                <a:latin typeface="Calibri"/>
              </a:rPr>
              <a:t>Machining, casting, injection, PCB, software and more — physics-based, every figure traceable</a:t>
            </a:r>
          </a:p>
        </p:txBody>
      </p:sp>
      <p:sp>
        <p:nvSpPr>
          <p:cNvPr id="13" name="Rounded Rectangle 12"/>
          <p:cNvSpPr/>
          <p:nvPr/>
        </p:nvSpPr>
        <p:spPr>
          <a:xfrm>
            <a:off x="6217920" y="1874519"/>
            <a:ext cx="5577840" cy="12984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74519"/>
            <a:ext cx="82296" cy="1298448"/>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002535"/>
            <a:ext cx="512064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0D7D71"/>
                </a:solidFill>
                <a:latin typeface="Calibri"/>
              </a:rPr>
              <a:t>CAD-to-Cost</a:t>
            </a:r>
          </a:p>
        </p:txBody>
      </p:sp>
      <p:sp>
        <p:nvSpPr>
          <p:cNvPr id="16" name="TextBox 15"/>
          <p:cNvSpPr txBox="1"/>
          <p:nvPr/>
        </p:nvSpPr>
        <p:spPr>
          <a:xfrm>
            <a:off x="6473952" y="2404871"/>
            <a:ext cx="5120640" cy="685800"/>
          </a:xfrm>
          <a:prstGeom prst="rect">
            <a:avLst/>
          </a:prstGeom>
          <a:noFill/>
        </p:spPr>
        <p:txBody>
          <a:bodyPr wrap="square" anchor="t" lIns="0" rIns="0" tIns="0" bIns="0">
            <a:spAutoFit/>
          </a:bodyPr>
          <a:lstStyle/>
          <a:p>
            <a:pPr algn="l">
              <a:lnSpc>
                <a:spcPct val="112000"/>
              </a:lnSpc>
              <a:spcAft>
                <a:spcPts val="400"/>
              </a:spcAft>
            </a:pPr>
            <a:r>
              <a:rPr sz="1150" b="0" i="0">
                <a:solidFill>
                  <a:srgbClr val="3A4356"/>
                </a:solidFill>
                <a:latin typeface="Calibri"/>
              </a:rPr>
              <a:t>Reads STEP/IGES models with a real geometry engine and auto-fills the costing</a:t>
            </a:r>
          </a:p>
        </p:txBody>
      </p:sp>
      <p:sp>
        <p:nvSpPr>
          <p:cNvPr id="17" name="Rounded Rectangle 16"/>
          <p:cNvSpPr/>
          <p:nvPr/>
        </p:nvSpPr>
        <p:spPr>
          <a:xfrm>
            <a:off x="411480" y="3355848"/>
            <a:ext cx="5577840" cy="12984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355848"/>
            <a:ext cx="82296" cy="1298448"/>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83864"/>
            <a:ext cx="512064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6B3FA0"/>
                </a:solidFill>
                <a:latin typeface="Calibri"/>
              </a:rPr>
              <a:t>Photo-to-BOM</a:t>
            </a:r>
          </a:p>
        </p:txBody>
      </p:sp>
      <p:sp>
        <p:nvSpPr>
          <p:cNvPr id="20" name="TextBox 19"/>
          <p:cNvSpPr txBox="1"/>
          <p:nvPr/>
        </p:nvSpPr>
        <p:spPr>
          <a:xfrm>
            <a:off x="667512" y="3886200"/>
            <a:ext cx="5120640" cy="685800"/>
          </a:xfrm>
          <a:prstGeom prst="rect">
            <a:avLst/>
          </a:prstGeom>
          <a:noFill/>
        </p:spPr>
        <p:txBody>
          <a:bodyPr wrap="square" anchor="t" lIns="0" rIns="0" tIns="0" bIns="0">
            <a:spAutoFit/>
          </a:bodyPr>
          <a:lstStyle/>
          <a:p>
            <a:pPr algn="l">
              <a:lnSpc>
                <a:spcPct val="112000"/>
              </a:lnSpc>
              <a:spcAft>
                <a:spcPts val="400"/>
              </a:spcAft>
            </a:pPr>
            <a:r>
              <a:rPr sz="1150" b="0" i="0">
                <a:solidFill>
                  <a:srgbClr val="3A4356"/>
                </a:solidFill>
                <a:latin typeface="Calibri"/>
              </a:rPr>
              <a:t>Costs a PCB from photographs — detects components and builds the bill of materials</a:t>
            </a:r>
          </a:p>
        </p:txBody>
      </p:sp>
      <p:sp>
        <p:nvSpPr>
          <p:cNvPr id="21" name="Rounded Rectangle 20"/>
          <p:cNvSpPr/>
          <p:nvPr/>
        </p:nvSpPr>
        <p:spPr>
          <a:xfrm>
            <a:off x="6217920" y="3355848"/>
            <a:ext cx="5577840" cy="12984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355848"/>
            <a:ext cx="82296" cy="129844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483864"/>
            <a:ext cx="512064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2A7F50"/>
                </a:solidFill>
                <a:latin typeface="Calibri"/>
              </a:rPr>
              <a:t>Agentic AI (upgraded 2026)</a:t>
            </a:r>
          </a:p>
        </p:txBody>
      </p:sp>
      <p:sp>
        <p:nvSpPr>
          <p:cNvPr id="24" name="TextBox 23"/>
          <p:cNvSpPr txBox="1"/>
          <p:nvPr/>
        </p:nvSpPr>
        <p:spPr>
          <a:xfrm>
            <a:off x="6473952" y="3886200"/>
            <a:ext cx="5120640" cy="685800"/>
          </a:xfrm>
          <a:prstGeom prst="rect">
            <a:avLst/>
          </a:prstGeom>
          <a:noFill/>
        </p:spPr>
        <p:txBody>
          <a:bodyPr wrap="square" anchor="t" lIns="0" rIns="0" tIns="0" bIns="0">
            <a:spAutoFit/>
          </a:bodyPr>
          <a:lstStyle/>
          <a:p>
            <a:pPr algn="l">
              <a:lnSpc>
                <a:spcPct val="112000"/>
              </a:lnSpc>
              <a:spcAft>
                <a:spcPts val="400"/>
              </a:spcAft>
            </a:pPr>
            <a:r>
              <a:rPr sz="1150" b="0" i="0">
                <a:solidFill>
                  <a:srgbClr val="3A4356"/>
                </a:solidFill>
                <a:latin typeface="Calibri"/>
              </a:rPr>
              <a:t>Learns from every quote; conformal confidence with a guarantee, a causal negotiation coach, outcome-weighted findings and what-if scenarios — all glass-box</a:t>
            </a:r>
          </a:p>
        </p:txBody>
      </p:sp>
      <p:sp>
        <p:nvSpPr>
          <p:cNvPr id="25" name="Rounded Rectangle 24"/>
          <p:cNvSpPr/>
          <p:nvPr/>
        </p:nvSpPr>
        <p:spPr>
          <a:xfrm>
            <a:off x="411480" y="5074920"/>
            <a:ext cx="11384280" cy="1188720"/>
          </a:xfrm>
          <a:prstGeom prst="roundRect">
            <a:avLst>
              <a:gd name="adj" fmla="val 8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257800"/>
            <a:ext cx="10789920" cy="868680"/>
          </a:xfrm>
          <a:prstGeom prst="rect">
            <a:avLst/>
          </a:prstGeom>
          <a:noFill/>
        </p:spPr>
        <p:txBody>
          <a:bodyPr wrap="square" anchor="t" lIns="0" rIns="0" tIns="0" bIns="0">
            <a:spAutoFit/>
          </a:bodyPr>
          <a:lstStyle/>
          <a:p>
            <a:pPr algn="l">
              <a:lnSpc>
                <a:spcPct val="120000"/>
              </a:lnSpc>
              <a:spcAft>
                <a:spcPts val="400"/>
              </a:spcAft>
            </a:pPr>
            <a:r>
              <a:rPr sz="1350" b="1" i="0">
                <a:solidFill>
                  <a:srgbClr val="2A7F50"/>
                </a:solidFill>
                <a:latin typeface="Calibri"/>
              </a:rPr>
              <a:t>Proven, not promised:  </a:t>
            </a:r>
            <a:r>
              <a:rPr sz="1350" b="0" i="0">
                <a:solidFill>
                  <a:srgbClr val="3A4356"/>
                </a:solidFill>
                <a:latin typeface="Calibri"/>
              </a:rPr>
              <a:t>estimating error cut from 10.9% to 0.3% after learning from 3 real quotes  ·  £512k/yr of pricing issues found autonomously in the live demo  ·  1,777 automated tests protect it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THE CONCEPT · EXPLAINED</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Agentic vs autonomous agentic — with examples</a:t>
            </a:r>
          </a:p>
        </p:txBody>
      </p:sp>
      <p:sp>
        <p:nvSpPr>
          <p:cNvPr id="9" name="TextBox 8"/>
          <p:cNvSpPr txBox="1"/>
          <p:nvPr/>
        </p:nvSpPr>
        <p:spPr>
          <a:xfrm>
            <a:off x="411480" y="1627632"/>
            <a:ext cx="11338560" cy="365760"/>
          </a:xfrm>
          <a:prstGeom prst="rect">
            <a:avLst/>
          </a:prstGeom>
          <a:noFill/>
        </p:spPr>
        <p:txBody>
          <a:bodyPr wrap="square" anchor="t" lIns="0" rIns="0" tIns="0" bIns="0">
            <a:spAutoFit/>
          </a:bodyPr>
          <a:lstStyle/>
          <a:p>
            <a:pPr algn="l">
              <a:lnSpc>
                <a:spcPct val="105000"/>
              </a:lnSpc>
              <a:spcAft>
                <a:spcPts val="400"/>
              </a:spcAft>
            </a:pPr>
            <a:r>
              <a:rPr sz="1250" b="0" i="1">
                <a:solidFill>
                  <a:srgbClr val="3A4356"/>
                </a:solidFill>
                <a:latin typeface="Calibri"/>
              </a:rPr>
              <a:t>Two levels. On the left it acts because you asked. On the right it acts on its own, within limits you set.</a:t>
            </a:r>
          </a:p>
        </p:txBody>
      </p:sp>
      <p:sp>
        <p:nvSpPr>
          <p:cNvPr id="10" name="Rounded Rectangle 9"/>
          <p:cNvSpPr/>
          <p:nvPr/>
        </p:nvSpPr>
        <p:spPr>
          <a:xfrm>
            <a:off x="411480" y="2084831"/>
            <a:ext cx="5559552" cy="3712463"/>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084831"/>
            <a:ext cx="73152" cy="3712463"/>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2231135"/>
            <a:ext cx="5102352" cy="310896"/>
          </a:xfrm>
          <a:prstGeom prst="rect">
            <a:avLst/>
          </a:prstGeom>
          <a:noFill/>
        </p:spPr>
        <p:txBody>
          <a:bodyPr wrap="square" anchor="t" lIns="0" rIns="0" tIns="0" bIns="0">
            <a:spAutoFit/>
          </a:bodyPr>
          <a:lstStyle/>
          <a:p>
            <a:pPr algn="l">
              <a:lnSpc>
                <a:spcPct val="100000"/>
              </a:lnSpc>
              <a:spcAft>
                <a:spcPts val="400"/>
              </a:spcAft>
            </a:pPr>
            <a:r>
              <a:rPr sz="1550" b="1" i="0">
                <a:solidFill>
                  <a:srgbClr val="1D6FB8"/>
                </a:solidFill>
                <a:latin typeface="Calibri"/>
              </a:rPr>
              <a:t>Agentic AI</a:t>
            </a:r>
          </a:p>
        </p:txBody>
      </p:sp>
      <p:sp>
        <p:nvSpPr>
          <p:cNvPr id="13" name="TextBox 12"/>
          <p:cNvSpPr txBox="1"/>
          <p:nvPr/>
        </p:nvSpPr>
        <p:spPr>
          <a:xfrm>
            <a:off x="667512" y="2578607"/>
            <a:ext cx="5102352" cy="292608"/>
          </a:xfrm>
          <a:prstGeom prst="rect">
            <a:avLst/>
          </a:prstGeom>
          <a:noFill/>
        </p:spPr>
        <p:txBody>
          <a:bodyPr wrap="square" anchor="t" lIns="0" rIns="0" tIns="0" bIns="0">
            <a:spAutoFit/>
          </a:bodyPr>
          <a:lstStyle/>
          <a:p>
            <a:pPr algn="l">
              <a:lnSpc>
                <a:spcPct val="100000"/>
              </a:lnSpc>
              <a:spcAft>
                <a:spcPts val="400"/>
              </a:spcAft>
            </a:pPr>
            <a:r>
              <a:rPr sz="1050" b="0" i="1">
                <a:solidFill>
                  <a:srgbClr val="686F7D"/>
                </a:solidFill>
                <a:latin typeface="Calibri"/>
              </a:rPr>
              <a:t>Assisted — you trigger it and stay in the loop; a human approves</a:t>
            </a:r>
          </a:p>
        </p:txBody>
      </p:sp>
      <p:sp>
        <p:nvSpPr>
          <p:cNvPr id="14" name="Rounded Rectangle 13"/>
          <p:cNvSpPr/>
          <p:nvPr/>
        </p:nvSpPr>
        <p:spPr>
          <a:xfrm>
            <a:off x="630936" y="2980943"/>
            <a:ext cx="51206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 y="2980943"/>
            <a:ext cx="45720" cy="6400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2980943"/>
            <a:ext cx="4956048" cy="640080"/>
          </a:xfrm>
          <a:prstGeom prst="rect">
            <a:avLst/>
          </a:prstGeom>
          <a:noFill/>
        </p:spPr>
        <p:txBody>
          <a:bodyPr wrap="square" anchor="ctr" lIns="0" rIns="0" tIns="0" bIns="0">
            <a:spAutoFit/>
          </a:bodyPr>
          <a:lstStyle/>
          <a:p>
            <a:pPr algn="l">
              <a:lnSpc>
                <a:spcPct val="100000"/>
              </a:lnSpc>
              <a:spcAft>
                <a:spcPts val="400"/>
              </a:spcAft>
            </a:pPr>
            <a:r>
              <a:rPr sz="1100" b="1" i="0">
                <a:solidFill>
                  <a:srgbClr val="16325C"/>
                </a:solidFill>
                <a:latin typeface="Calibri"/>
              </a:rPr>
              <a:t>AI Agent   </a:t>
            </a:r>
            <a:r>
              <a:rPr sz="950" b="0" i="0">
                <a:solidFill>
                  <a:srgbClr val="686F7D"/>
                </a:solidFill>
                <a:latin typeface="Calibri"/>
              </a:rPr>
              <a:t>Describe a part in plain English; it builds the cost model.</a:t>
            </a:r>
          </a:p>
        </p:txBody>
      </p:sp>
      <p:sp>
        <p:nvSpPr>
          <p:cNvPr id="17" name="Rounded Rectangle 16"/>
          <p:cNvSpPr/>
          <p:nvPr/>
        </p:nvSpPr>
        <p:spPr>
          <a:xfrm>
            <a:off x="630936" y="3675887"/>
            <a:ext cx="51206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 y="3675887"/>
            <a:ext cx="45720" cy="6400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3675887"/>
            <a:ext cx="4956048" cy="640080"/>
          </a:xfrm>
          <a:prstGeom prst="rect">
            <a:avLst/>
          </a:prstGeom>
          <a:noFill/>
        </p:spPr>
        <p:txBody>
          <a:bodyPr wrap="square" anchor="ctr" lIns="0" rIns="0" tIns="0" bIns="0">
            <a:spAutoFit/>
          </a:bodyPr>
          <a:lstStyle/>
          <a:p>
            <a:pPr algn="l">
              <a:lnSpc>
                <a:spcPct val="100000"/>
              </a:lnSpc>
              <a:spcAft>
                <a:spcPts val="400"/>
              </a:spcAft>
            </a:pPr>
            <a:r>
              <a:rPr sz="1100" b="1" i="0">
                <a:solidFill>
                  <a:srgbClr val="16325C"/>
                </a:solidFill>
                <a:latin typeface="Calibri"/>
              </a:rPr>
              <a:t>CAD / photo → cost   </a:t>
            </a:r>
            <a:r>
              <a:rPr sz="950" b="0" i="0">
                <a:solidFill>
                  <a:srgbClr val="686F7D"/>
                </a:solidFill>
                <a:latin typeface="Calibri"/>
              </a:rPr>
              <a:t>Upload a file; it measures the part and picks the process.</a:t>
            </a:r>
          </a:p>
        </p:txBody>
      </p:sp>
      <p:sp>
        <p:nvSpPr>
          <p:cNvPr id="20" name="Rounded Rectangle 19"/>
          <p:cNvSpPr/>
          <p:nvPr/>
        </p:nvSpPr>
        <p:spPr>
          <a:xfrm>
            <a:off x="630936" y="4370831"/>
            <a:ext cx="51206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 y="4370831"/>
            <a:ext cx="45720" cy="6400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4370831"/>
            <a:ext cx="4956048" cy="640080"/>
          </a:xfrm>
          <a:prstGeom prst="rect">
            <a:avLst/>
          </a:prstGeom>
          <a:noFill/>
        </p:spPr>
        <p:txBody>
          <a:bodyPr wrap="square" anchor="ctr" lIns="0" rIns="0" tIns="0" bIns="0">
            <a:spAutoFit/>
          </a:bodyPr>
          <a:lstStyle/>
          <a:p>
            <a:pPr algn="l">
              <a:lnSpc>
                <a:spcPct val="100000"/>
              </a:lnSpc>
              <a:spcAft>
                <a:spcPts val="400"/>
              </a:spcAft>
            </a:pPr>
            <a:r>
              <a:rPr sz="1100" b="1" i="0">
                <a:solidFill>
                  <a:srgbClr val="16325C"/>
                </a:solidFill>
                <a:latin typeface="Calibri"/>
              </a:rPr>
              <a:t>Negotiation coach   </a:t>
            </a:r>
            <a:r>
              <a:rPr sz="950" b="0" i="0">
                <a:solidFill>
                  <a:srgbClr val="686F7D"/>
                </a:solidFill>
                <a:latin typeface="Calibri"/>
              </a:rPr>
              <a:t>Open a part; it drafts your counter-argument and target.</a:t>
            </a:r>
          </a:p>
        </p:txBody>
      </p:sp>
      <p:sp>
        <p:nvSpPr>
          <p:cNvPr id="23" name="Rounded Rectangle 22"/>
          <p:cNvSpPr/>
          <p:nvPr/>
        </p:nvSpPr>
        <p:spPr>
          <a:xfrm>
            <a:off x="630936" y="5065775"/>
            <a:ext cx="51206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 y="5065775"/>
            <a:ext cx="45720" cy="6400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5065775"/>
            <a:ext cx="4956048" cy="640080"/>
          </a:xfrm>
          <a:prstGeom prst="rect">
            <a:avLst/>
          </a:prstGeom>
          <a:noFill/>
        </p:spPr>
        <p:txBody>
          <a:bodyPr wrap="square" anchor="ctr" lIns="0" rIns="0" tIns="0" bIns="0">
            <a:spAutoFit/>
          </a:bodyPr>
          <a:lstStyle/>
          <a:p>
            <a:pPr algn="l">
              <a:lnSpc>
                <a:spcPct val="100000"/>
              </a:lnSpc>
              <a:spcAft>
                <a:spcPts val="400"/>
              </a:spcAft>
            </a:pPr>
            <a:r>
              <a:rPr sz="1100" b="1" i="0">
                <a:solidFill>
                  <a:srgbClr val="16325C"/>
                </a:solidFill>
                <a:latin typeface="Calibri"/>
              </a:rPr>
              <a:t>Rate-data assistant   </a:t>
            </a:r>
            <a:r>
              <a:rPr sz="950" b="0" i="0">
                <a:solidFill>
                  <a:srgbClr val="686F7D"/>
                </a:solidFill>
                <a:latin typeface="Calibri"/>
              </a:rPr>
              <a:t>Ask a costing question; it answers from your own rates.</a:t>
            </a:r>
          </a:p>
        </p:txBody>
      </p:sp>
      <p:sp>
        <p:nvSpPr>
          <p:cNvPr id="26" name="Rounded Rectangle 25"/>
          <p:cNvSpPr/>
          <p:nvPr/>
        </p:nvSpPr>
        <p:spPr>
          <a:xfrm>
            <a:off x="6217920" y="2084831"/>
            <a:ext cx="5559552" cy="3712463"/>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2084831"/>
            <a:ext cx="73152" cy="3712463"/>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2231135"/>
            <a:ext cx="5102352" cy="310896"/>
          </a:xfrm>
          <a:prstGeom prst="rect">
            <a:avLst/>
          </a:prstGeom>
          <a:noFill/>
        </p:spPr>
        <p:txBody>
          <a:bodyPr wrap="square" anchor="t" lIns="0" rIns="0" tIns="0" bIns="0">
            <a:spAutoFit/>
          </a:bodyPr>
          <a:lstStyle/>
          <a:p>
            <a:pPr algn="l">
              <a:lnSpc>
                <a:spcPct val="100000"/>
              </a:lnSpc>
              <a:spcAft>
                <a:spcPts val="400"/>
              </a:spcAft>
            </a:pPr>
            <a:r>
              <a:rPr sz="1550" b="1" i="0">
                <a:solidFill>
                  <a:srgbClr val="6B3FA0"/>
                </a:solidFill>
                <a:latin typeface="Calibri"/>
              </a:rPr>
              <a:t>Autonomous Agentic AI</a:t>
            </a:r>
          </a:p>
        </p:txBody>
      </p:sp>
      <p:sp>
        <p:nvSpPr>
          <p:cNvPr id="29" name="TextBox 28"/>
          <p:cNvSpPr txBox="1"/>
          <p:nvPr/>
        </p:nvSpPr>
        <p:spPr>
          <a:xfrm>
            <a:off x="6473952" y="2578607"/>
            <a:ext cx="5102352" cy="292608"/>
          </a:xfrm>
          <a:prstGeom prst="rect">
            <a:avLst/>
          </a:prstGeom>
          <a:noFill/>
        </p:spPr>
        <p:txBody>
          <a:bodyPr wrap="square" anchor="t" lIns="0" rIns="0" tIns="0" bIns="0">
            <a:spAutoFit/>
          </a:bodyPr>
          <a:lstStyle/>
          <a:p>
            <a:pPr algn="l">
              <a:lnSpc>
                <a:spcPct val="100000"/>
              </a:lnSpc>
              <a:spcAft>
                <a:spcPts val="400"/>
              </a:spcAft>
            </a:pPr>
            <a:r>
              <a:rPr sz="1050" b="0" i="1">
                <a:solidFill>
                  <a:srgbClr val="686F7D"/>
                </a:solidFill>
                <a:latin typeface="Calibri"/>
              </a:rPr>
              <a:t>Self-directed — runs unattended on a schedule, within limits you set</a:t>
            </a:r>
          </a:p>
        </p:txBody>
      </p:sp>
      <p:sp>
        <p:nvSpPr>
          <p:cNvPr id="30" name="Rounded Rectangle 29"/>
          <p:cNvSpPr/>
          <p:nvPr/>
        </p:nvSpPr>
        <p:spPr>
          <a:xfrm>
            <a:off x="6437376" y="2980943"/>
            <a:ext cx="51206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37376" y="2980943"/>
            <a:ext cx="45720" cy="6400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01968" y="2980943"/>
            <a:ext cx="4956048" cy="640080"/>
          </a:xfrm>
          <a:prstGeom prst="rect">
            <a:avLst/>
          </a:prstGeom>
          <a:noFill/>
        </p:spPr>
        <p:txBody>
          <a:bodyPr wrap="square" anchor="ctr" lIns="0" rIns="0" tIns="0" bIns="0">
            <a:spAutoFit/>
          </a:bodyPr>
          <a:lstStyle/>
          <a:p>
            <a:pPr algn="l">
              <a:lnSpc>
                <a:spcPct val="100000"/>
              </a:lnSpc>
              <a:spcAft>
                <a:spcPts val="400"/>
              </a:spcAft>
            </a:pPr>
            <a:r>
              <a:rPr sz="1100" b="1" i="0">
                <a:solidFill>
                  <a:srgbClr val="16325C"/>
                </a:solidFill>
                <a:latin typeface="Calibri"/>
              </a:rPr>
              <a:t>Savings monitor   </a:t>
            </a:r>
            <a:r>
              <a:rPr sz="950" b="0" i="0">
                <a:solidFill>
                  <a:srgbClr val="686F7D"/>
                </a:solidFill>
                <a:latin typeface="Calibri"/>
              </a:rPr>
              <a:t>Compares what we pay with should-cost — £0.5M/yr found unattended.</a:t>
            </a:r>
          </a:p>
        </p:txBody>
      </p:sp>
      <p:sp>
        <p:nvSpPr>
          <p:cNvPr id="33" name="Rounded Rectangle 32"/>
          <p:cNvSpPr/>
          <p:nvPr/>
        </p:nvSpPr>
        <p:spPr>
          <a:xfrm>
            <a:off x="6437376" y="3675887"/>
            <a:ext cx="51206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37376" y="3675887"/>
            <a:ext cx="45720" cy="6400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1968" y="3675887"/>
            <a:ext cx="4956048" cy="640080"/>
          </a:xfrm>
          <a:prstGeom prst="rect">
            <a:avLst/>
          </a:prstGeom>
          <a:noFill/>
        </p:spPr>
        <p:txBody>
          <a:bodyPr wrap="square" anchor="ctr" lIns="0" rIns="0" tIns="0" bIns="0">
            <a:spAutoFit/>
          </a:bodyPr>
          <a:lstStyle/>
          <a:p>
            <a:pPr algn="l">
              <a:lnSpc>
                <a:spcPct val="100000"/>
              </a:lnSpc>
              <a:spcAft>
                <a:spcPts val="400"/>
              </a:spcAft>
            </a:pPr>
            <a:r>
              <a:rPr sz="1100" b="1" i="0">
                <a:solidFill>
                  <a:srgbClr val="16325C"/>
                </a:solidFill>
                <a:latin typeface="Calibri"/>
              </a:rPr>
              <a:t>Self-audit   </a:t>
            </a:r>
            <a:r>
              <a:rPr sz="950" b="0" i="0">
                <a:solidFill>
                  <a:srgbClr val="686F7D"/>
                </a:solidFill>
                <a:latin typeface="Calibri"/>
              </a:rPr>
              <a:t>Re-checks every estimate and corrects it. Nobody asks it to.</a:t>
            </a:r>
          </a:p>
        </p:txBody>
      </p:sp>
      <p:sp>
        <p:nvSpPr>
          <p:cNvPr id="36" name="Rounded Rectangle 35"/>
          <p:cNvSpPr/>
          <p:nvPr/>
        </p:nvSpPr>
        <p:spPr>
          <a:xfrm>
            <a:off x="6437376" y="4370831"/>
            <a:ext cx="51206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37376" y="4370831"/>
            <a:ext cx="45720" cy="6400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1968" y="4370831"/>
            <a:ext cx="4956048" cy="640080"/>
          </a:xfrm>
          <a:prstGeom prst="rect">
            <a:avLst/>
          </a:prstGeom>
          <a:noFill/>
        </p:spPr>
        <p:txBody>
          <a:bodyPr wrap="square" anchor="ctr" lIns="0" rIns="0" tIns="0" bIns="0">
            <a:spAutoFit/>
          </a:bodyPr>
          <a:lstStyle/>
          <a:p>
            <a:pPr algn="l">
              <a:lnSpc>
                <a:spcPct val="100000"/>
              </a:lnSpc>
              <a:spcAft>
                <a:spcPts val="400"/>
              </a:spcAft>
            </a:pPr>
            <a:r>
              <a:rPr sz="1100" b="1" i="0">
                <a:solidFill>
                  <a:srgbClr val="16325C"/>
                </a:solidFill>
                <a:latin typeface="Calibri"/>
              </a:rPr>
              <a:t>Calibration &amp; drift   </a:t>
            </a:r>
            <a:r>
              <a:rPr sz="950" b="0" i="0">
                <a:solidFill>
                  <a:srgbClr val="686F7D"/>
                </a:solidFill>
                <a:latin typeface="Calibri"/>
              </a:rPr>
              <a:t>Learns from logged quotes and watches for drift.</a:t>
            </a:r>
          </a:p>
        </p:txBody>
      </p:sp>
      <p:sp>
        <p:nvSpPr>
          <p:cNvPr id="39" name="Rounded Rectangle 38"/>
          <p:cNvSpPr/>
          <p:nvPr/>
        </p:nvSpPr>
        <p:spPr>
          <a:xfrm>
            <a:off x="6437376" y="5065775"/>
            <a:ext cx="5120640" cy="6400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37376" y="5065775"/>
            <a:ext cx="45720" cy="6400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01968" y="5065775"/>
            <a:ext cx="4956048" cy="640080"/>
          </a:xfrm>
          <a:prstGeom prst="rect">
            <a:avLst/>
          </a:prstGeom>
          <a:noFill/>
        </p:spPr>
        <p:txBody>
          <a:bodyPr wrap="square" anchor="ctr" lIns="0" rIns="0" tIns="0" bIns="0">
            <a:spAutoFit/>
          </a:bodyPr>
          <a:lstStyle/>
          <a:p>
            <a:pPr algn="l">
              <a:lnSpc>
                <a:spcPct val="100000"/>
              </a:lnSpc>
              <a:spcAft>
                <a:spcPts val="400"/>
              </a:spcAft>
            </a:pPr>
            <a:r>
              <a:rPr sz="1100" b="1" i="0">
                <a:solidFill>
                  <a:srgbClr val="16325C"/>
                </a:solidFill>
                <a:latin typeface="Calibri"/>
              </a:rPr>
              <a:t>Outcome-weighted ranking   </a:t>
            </a:r>
            <a:r>
              <a:rPr sz="950" b="0" i="0">
                <a:solidFill>
                  <a:srgbClr val="686F7D"/>
                </a:solidFill>
                <a:latin typeface="Calibri"/>
              </a:rPr>
              <a:t>Learns which findings actually convert, and re-ranks them.</a:t>
            </a:r>
          </a:p>
        </p:txBody>
      </p:sp>
      <p:sp>
        <p:nvSpPr>
          <p:cNvPr id="42" name="Rounded Rectangle 41"/>
          <p:cNvSpPr/>
          <p:nvPr/>
        </p:nvSpPr>
        <p:spPr>
          <a:xfrm>
            <a:off x="411480" y="5943600"/>
            <a:ext cx="11365992" cy="621792"/>
          </a:xfrm>
          <a:prstGeom prst="roundRect">
            <a:avLst>
              <a:gd name="adj" fmla="val 8000"/>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3232" y="5943600"/>
            <a:ext cx="10881360" cy="621792"/>
          </a:xfrm>
          <a:prstGeom prst="rect">
            <a:avLst/>
          </a:prstGeom>
          <a:noFill/>
        </p:spPr>
        <p:txBody>
          <a:bodyPr wrap="square" anchor="ctr" lIns="0" rIns="0" tIns="0" bIns="0">
            <a:spAutoFit/>
          </a:bodyPr>
          <a:lstStyle/>
          <a:p>
            <a:pPr algn="l">
              <a:lnSpc>
                <a:spcPct val="100000"/>
              </a:lnSpc>
              <a:spcAft>
                <a:spcPts val="400"/>
              </a:spcAft>
            </a:pPr>
            <a:r>
              <a:rPr sz="1150" b="1" i="0">
                <a:solidFill>
                  <a:srgbClr val="FFFFFF"/>
                </a:solidFill>
                <a:latin typeface="Calibri"/>
              </a:rPr>
              <a:t>The common thread:  </a:t>
            </a:r>
            <a:r>
              <a:rPr sz="1150" b="0" i="0">
                <a:solidFill>
                  <a:srgbClr val="E8EEFF"/>
                </a:solidFill>
                <a:latin typeface="Calibri"/>
              </a:rPr>
              <a:t>you set the boundaries, and every action stays auditable. Autonomy never means the AI sets a price in secret.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BACKGROUND · NEW IN 2026</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Latest intelligence — six upgrades that widen the moat</a:t>
            </a:r>
          </a:p>
        </p:txBody>
      </p:sp>
      <p:sp>
        <p:nvSpPr>
          <p:cNvPr id="9" name="Rounded Rectangle 8"/>
          <p:cNvSpPr/>
          <p:nvPr/>
        </p:nvSpPr>
        <p:spPr>
          <a:xfrm>
            <a:off x="411480" y="1828800"/>
            <a:ext cx="1138428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28800"/>
            <a:ext cx="82296" cy="67665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40"/>
            <a:ext cx="3200400" cy="502920"/>
          </a:xfrm>
          <a:prstGeom prst="rect">
            <a:avLst/>
          </a:prstGeom>
          <a:noFill/>
        </p:spPr>
        <p:txBody>
          <a:bodyPr wrap="square" anchor="t" lIns="0" rIns="0" tIns="0" bIns="0">
            <a:spAutoFit/>
          </a:bodyPr>
          <a:lstStyle/>
          <a:p>
            <a:pPr algn="l">
              <a:lnSpc>
                <a:spcPct val="100000"/>
              </a:lnSpc>
              <a:spcAft>
                <a:spcPts val="400"/>
              </a:spcAft>
            </a:pPr>
            <a:r>
              <a:rPr sz="1250" b="1" i="0">
                <a:solidFill>
                  <a:srgbClr val="1D6FB8"/>
                </a:solidFill>
                <a:latin typeface="Calibri"/>
              </a:rPr>
              <a:t>Self-audit &amp; guardrails</a:t>
            </a:r>
          </a:p>
        </p:txBody>
      </p:sp>
      <p:sp>
        <p:nvSpPr>
          <p:cNvPr id="12" name="TextBox 11"/>
          <p:cNvSpPr txBox="1"/>
          <p:nvPr/>
        </p:nvSpPr>
        <p:spPr>
          <a:xfrm>
            <a:off x="3931920" y="1911096"/>
            <a:ext cx="7680960" cy="548640"/>
          </a:xfrm>
          <a:prstGeom prst="rect">
            <a:avLst/>
          </a:prstGeom>
          <a:noFill/>
        </p:spPr>
        <p:txBody>
          <a:bodyPr wrap="square" anchor="t" lIns="0" rIns="0" tIns="0" bIns="0">
            <a:spAutoFit/>
          </a:bodyPr>
          <a:lstStyle/>
          <a:p>
            <a:pPr algn="l">
              <a:lnSpc>
                <a:spcPct val="108000"/>
              </a:lnSpc>
              <a:spcAft>
                <a:spcPts val="400"/>
              </a:spcAft>
            </a:pPr>
            <a:r>
              <a:rPr sz="1100" b="0" i="0">
                <a:solidFill>
                  <a:srgbClr val="3A4356"/>
                </a:solidFill>
                <a:latin typeface="Calibri"/>
              </a:rPr>
              <a:t>A deterministic layer re-checks every estimate for known errors and applies bounded corrections — proven on five real automotive CAD parts (a fuel tank fell from £217 to £25). Geometry stays ground truth; the AI never overrules it.</a:t>
            </a:r>
          </a:p>
        </p:txBody>
      </p:sp>
      <p:sp>
        <p:nvSpPr>
          <p:cNvPr id="13" name="Rounded Rectangle 12"/>
          <p:cNvSpPr/>
          <p:nvPr/>
        </p:nvSpPr>
        <p:spPr>
          <a:xfrm>
            <a:off x="411480" y="2578608"/>
            <a:ext cx="11384280" cy="676656"/>
          </a:xfrm>
          <a:prstGeom prst="roundRect">
            <a:avLst>
              <a:gd name="adj" fmla="val 10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2578608"/>
            <a:ext cx="82296" cy="67665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670048"/>
            <a:ext cx="3200400" cy="502920"/>
          </a:xfrm>
          <a:prstGeom prst="rect">
            <a:avLst/>
          </a:prstGeom>
          <a:noFill/>
        </p:spPr>
        <p:txBody>
          <a:bodyPr wrap="square" anchor="t" lIns="0" rIns="0" tIns="0" bIns="0">
            <a:spAutoFit/>
          </a:bodyPr>
          <a:lstStyle/>
          <a:p>
            <a:pPr algn="l">
              <a:lnSpc>
                <a:spcPct val="100000"/>
              </a:lnSpc>
              <a:spcAft>
                <a:spcPts val="400"/>
              </a:spcAft>
            </a:pPr>
            <a:r>
              <a:rPr sz="1250" b="1" i="0">
                <a:solidFill>
                  <a:srgbClr val="2A7F50"/>
                </a:solidFill>
                <a:latin typeface="Calibri"/>
              </a:rPr>
              <a:t>Learns from your quotes</a:t>
            </a:r>
          </a:p>
        </p:txBody>
      </p:sp>
      <p:sp>
        <p:nvSpPr>
          <p:cNvPr id="16" name="TextBox 15"/>
          <p:cNvSpPr txBox="1"/>
          <p:nvPr/>
        </p:nvSpPr>
        <p:spPr>
          <a:xfrm>
            <a:off x="3931920" y="2660904"/>
            <a:ext cx="7680960" cy="548640"/>
          </a:xfrm>
          <a:prstGeom prst="rect">
            <a:avLst/>
          </a:prstGeom>
          <a:noFill/>
        </p:spPr>
        <p:txBody>
          <a:bodyPr wrap="square" anchor="t" lIns="0" rIns="0" tIns="0" bIns="0">
            <a:spAutoFit/>
          </a:bodyPr>
          <a:lstStyle/>
          <a:p>
            <a:pPr algn="l">
              <a:lnSpc>
                <a:spcPct val="108000"/>
              </a:lnSpc>
              <a:spcAft>
                <a:spcPts val="400"/>
              </a:spcAft>
            </a:pPr>
            <a:r>
              <a:rPr sz="1100" b="0" i="0">
                <a:solidFill>
                  <a:srgbClr val="3A4356"/>
                </a:solidFill>
                <a:latin typeface="Calibri"/>
              </a:rPr>
              <a:t>Bulk-import logged actuals; the engine builds per-segment calibration and watches for drift, so the number tightens as your own history grows — and status rides on every estimate.</a:t>
            </a:r>
          </a:p>
        </p:txBody>
      </p:sp>
      <p:sp>
        <p:nvSpPr>
          <p:cNvPr id="17" name="Rounded Rectangle 16"/>
          <p:cNvSpPr/>
          <p:nvPr/>
        </p:nvSpPr>
        <p:spPr>
          <a:xfrm>
            <a:off x="411480" y="3328415"/>
            <a:ext cx="1138428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328415"/>
            <a:ext cx="82296" cy="67665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419855"/>
            <a:ext cx="3200400" cy="502920"/>
          </a:xfrm>
          <a:prstGeom prst="rect">
            <a:avLst/>
          </a:prstGeom>
          <a:noFill/>
        </p:spPr>
        <p:txBody>
          <a:bodyPr wrap="square" anchor="t" lIns="0" rIns="0" tIns="0" bIns="0">
            <a:spAutoFit/>
          </a:bodyPr>
          <a:lstStyle/>
          <a:p>
            <a:pPr algn="l">
              <a:lnSpc>
                <a:spcPct val="100000"/>
              </a:lnSpc>
              <a:spcAft>
                <a:spcPts val="400"/>
              </a:spcAft>
            </a:pPr>
            <a:r>
              <a:rPr sz="1250" b="1" i="0">
                <a:solidFill>
                  <a:srgbClr val="1D6FB8"/>
                </a:solidFill>
                <a:latin typeface="Calibri"/>
              </a:rPr>
              <a:t>Negotiation coach</a:t>
            </a:r>
          </a:p>
        </p:txBody>
      </p:sp>
      <p:sp>
        <p:nvSpPr>
          <p:cNvPr id="20" name="TextBox 19"/>
          <p:cNvSpPr txBox="1"/>
          <p:nvPr/>
        </p:nvSpPr>
        <p:spPr>
          <a:xfrm>
            <a:off x="3931920" y="3410711"/>
            <a:ext cx="7680960" cy="548640"/>
          </a:xfrm>
          <a:prstGeom prst="rect">
            <a:avLst/>
          </a:prstGeom>
          <a:noFill/>
        </p:spPr>
        <p:txBody>
          <a:bodyPr wrap="square" anchor="t" lIns="0" rIns="0" tIns="0" bIns="0">
            <a:spAutoFit/>
          </a:bodyPr>
          <a:lstStyle/>
          <a:p>
            <a:pPr algn="l">
              <a:lnSpc>
                <a:spcPct val="108000"/>
              </a:lnSpc>
              <a:spcAft>
                <a:spcPts val="400"/>
              </a:spcAft>
            </a:pPr>
            <a:r>
              <a:rPr sz="1100" b="0" i="0">
                <a:solidFill>
                  <a:srgbClr val="3A4356"/>
                </a:solidFill>
                <a:latin typeface="Calibri"/>
              </a:rPr>
              <a:t>Names the cost driver and writes the counter: "a quote of £95 implies aluminium +14% above spot — hold at £86.34."</a:t>
            </a:r>
          </a:p>
        </p:txBody>
      </p:sp>
      <p:sp>
        <p:nvSpPr>
          <p:cNvPr id="21" name="Rounded Rectangle 20"/>
          <p:cNvSpPr/>
          <p:nvPr/>
        </p:nvSpPr>
        <p:spPr>
          <a:xfrm>
            <a:off x="411480" y="4078224"/>
            <a:ext cx="11384280" cy="676656"/>
          </a:xfrm>
          <a:prstGeom prst="roundRect">
            <a:avLst>
              <a:gd name="adj" fmla="val 10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4078224"/>
            <a:ext cx="82296" cy="676656"/>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4169664"/>
            <a:ext cx="3200400" cy="502920"/>
          </a:xfrm>
          <a:prstGeom prst="rect">
            <a:avLst/>
          </a:prstGeom>
          <a:noFill/>
        </p:spPr>
        <p:txBody>
          <a:bodyPr wrap="square" anchor="t" lIns="0" rIns="0" tIns="0" bIns="0">
            <a:spAutoFit/>
          </a:bodyPr>
          <a:lstStyle/>
          <a:p>
            <a:pPr algn="l">
              <a:lnSpc>
                <a:spcPct val="100000"/>
              </a:lnSpc>
              <a:spcAft>
                <a:spcPts val="400"/>
              </a:spcAft>
            </a:pPr>
            <a:r>
              <a:rPr sz="1250" b="1" i="0">
                <a:solidFill>
                  <a:srgbClr val="6B3FA0"/>
                </a:solidFill>
                <a:latin typeface="Calibri"/>
              </a:rPr>
              <a:t>Outcome-weighted findings</a:t>
            </a:r>
          </a:p>
        </p:txBody>
      </p:sp>
      <p:sp>
        <p:nvSpPr>
          <p:cNvPr id="24" name="TextBox 23"/>
          <p:cNvSpPr txBox="1"/>
          <p:nvPr/>
        </p:nvSpPr>
        <p:spPr>
          <a:xfrm>
            <a:off x="3931920" y="4160520"/>
            <a:ext cx="7680960" cy="548640"/>
          </a:xfrm>
          <a:prstGeom prst="rect">
            <a:avLst/>
          </a:prstGeom>
          <a:noFill/>
        </p:spPr>
        <p:txBody>
          <a:bodyPr wrap="square" anchor="t" lIns="0" rIns="0" tIns="0" bIns="0">
            <a:spAutoFit/>
          </a:bodyPr>
          <a:lstStyle/>
          <a:p>
            <a:pPr algn="l">
              <a:lnSpc>
                <a:spcPct val="108000"/>
              </a:lnSpc>
              <a:spcAft>
                <a:spcPts val="400"/>
              </a:spcAft>
            </a:pPr>
            <a:r>
              <a:rPr sz="1100" b="0" i="0">
                <a:solidFill>
                  <a:srgbClr val="3A4356"/>
                </a:solidFill>
                <a:latin typeface="Calibri"/>
              </a:rPr>
              <a:t>The agent learns which findings convert and ranks by money it can really recover — a £100k gap that closes beats a £200k gap that never does.</a:t>
            </a:r>
          </a:p>
        </p:txBody>
      </p:sp>
      <p:sp>
        <p:nvSpPr>
          <p:cNvPr id="25" name="Rounded Rectangle 24"/>
          <p:cNvSpPr/>
          <p:nvPr/>
        </p:nvSpPr>
        <p:spPr>
          <a:xfrm>
            <a:off x="411480" y="4828031"/>
            <a:ext cx="1138428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4828031"/>
            <a:ext cx="82296" cy="676656"/>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919471"/>
            <a:ext cx="3200400" cy="502920"/>
          </a:xfrm>
          <a:prstGeom prst="rect">
            <a:avLst/>
          </a:prstGeom>
          <a:noFill/>
        </p:spPr>
        <p:txBody>
          <a:bodyPr wrap="square" anchor="t" lIns="0" rIns="0" tIns="0" bIns="0">
            <a:spAutoFit/>
          </a:bodyPr>
          <a:lstStyle/>
          <a:p>
            <a:pPr algn="l">
              <a:lnSpc>
                <a:spcPct val="100000"/>
              </a:lnSpc>
              <a:spcAft>
                <a:spcPts val="400"/>
              </a:spcAft>
            </a:pPr>
            <a:r>
              <a:rPr sz="1250" b="1" i="0">
                <a:solidFill>
                  <a:srgbClr val="0D7D71"/>
                </a:solidFill>
                <a:latin typeface="Calibri"/>
              </a:rPr>
              <a:t>What-if engine</a:t>
            </a:r>
          </a:p>
        </p:txBody>
      </p:sp>
      <p:sp>
        <p:nvSpPr>
          <p:cNvPr id="28" name="TextBox 27"/>
          <p:cNvSpPr txBox="1"/>
          <p:nvPr/>
        </p:nvSpPr>
        <p:spPr>
          <a:xfrm>
            <a:off x="3931920" y="4910327"/>
            <a:ext cx="7680960" cy="548640"/>
          </a:xfrm>
          <a:prstGeom prst="rect">
            <a:avLst/>
          </a:prstGeom>
          <a:noFill/>
        </p:spPr>
        <p:txBody>
          <a:bodyPr wrap="square" anchor="t" lIns="0" rIns="0" tIns="0" bIns="0">
            <a:spAutoFit/>
          </a:bodyPr>
          <a:lstStyle/>
          <a:p>
            <a:pPr algn="l">
              <a:lnSpc>
                <a:spcPct val="108000"/>
              </a:lnSpc>
              <a:spcAft>
                <a:spcPts val="400"/>
              </a:spcAft>
            </a:pPr>
            <a:r>
              <a:rPr sz="1100" b="0" i="0">
                <a:solidFill>
                  <a:srgbClr val="3A4356"/>
                </a:solidFill>
                <a:latin typeface="Calibri"/>
              </a:rPr>
              <a:t>Drag a commodity ±20% and the price recomputes live; run it across the whole portfolio ("if steel +10%, 7 parts go underwater").</a:t>
            </a:r>
          </a:p>
        </p:txBody>
      </p:sp>
      <p:sp>
        <p:nvSpPr>
          <p:cNvPr id="29" name="Rounded Rectangle 28"/>
          <p:cNvSpPr/>
          <p:nvPr/>
        </p:nvSpPr>
        <p:spPr>
          <a:xfrm>
            <a:off x="411480" y="5577840"/>
            <a:ext cx="11384280" cy="676656"/>
          </a:xfrm>
          <a:prstGeom prst="roundRect">
            <a:avLst>
              <a:gd name="adj" fmla="val 10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5577840"/>
            <a:ext cx="82296" cy="676656"/>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5669280"/>
            <a:ext cx="3200400" cy="502920"/>
          </a:xfrm>
          <a:prstGeom prst="rect">
            <a:avLst/>
          </a:prstGeom>
          <a:noFill/>
        </p:spPr>
        <p:txBody>
          <a:bodyPr wrap="square" anchor="t" lIns="0" rIns="0" tIns="0" bIns="0">
            <a:spAutoFit/>
          </a:bodyPr>
          <a:lstStyle/>
          <a:p>
            <a:pPr algn="l">
              <a:lnSpc>
                <a:spcPct val="100000"/>
              </a:lnSpc>
              <a:spcAft>
                <a:spcPts val="400"/>
              </a:spcAft>
            </a:pPr>
            <a:r>
              <a:rPr sz="1250" b="1" i="0">
                <a:solidFill>
                  <a:srgbClr val="99651A"/>
                </a:solidFill>
                <a:latin typeface="Calibri"/>
              </a:rPr>
              <a:t>Glass-box by design</a:t>
            </a:r>
          </a:p>
        </p:txBody>
      </p:sp>
      <p:sp>
        <p:nvSpPr>
          <p:cNvPr id="32" name="TextBox 31"/>
          <p:cNvSpPr txBox="1"/>
          <p:nvPr/>
        </p:nvSpPr>
        <p:spPr>
          <a:xfrm>
            <a:off x="3931920" y="5660136"/>
            <a:ext cx="7680960" cy="548640"/>
          </a:xfrm>
          <a:prstGeom prst="rect">
            <a:avLst/>
          </a:prstGeom>
          <a:noFill/>
        </p:spPr>
        <p:txBody>
          <a:bodyPr wrap="square" anchor="t" lIns="0" rIns="0" tIns="0" bIns="0">
            <a:spAutoFit/>
          </a:bodyPr>
          <a:lstStyle/>
          <a:p>
            <a:pPr algn="l">
              <a:lnSpc>
                <a:spcPct val="108000"/>
              </a:lnSpc>
              <a:spcAft>
                <a:spcPts val="400"/>
              </a:spcAft>
            </a:pPr>
            <a:r>
              <a:rPr sz="1100" b="0" i="0">
                <a:solidFill>
                  <a:srgbClr val="3A4356"/>
                </a:solidFill>
                <a:latin typeface="Calibri"/>
              </a:rPr>
              <a:t>Every learned or derived number stays auditable — no black-box weight ever touches the price. The competitor edge is the opposite.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TECHNOLOGY, SIMPLY EXPLAINED</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the tool is made of — in plain words</a:t>
            </a:r>
          </a:p>
        </p:txBody>
      </p:sp>
      <p:sp>
        <p:nvSpPr>
          <p:cNvPr id="9" name="Rounded Rectangle 8"/>
          <p:cNvSpPr/>
          <p:nvPr/>
        </p:nvSpPr>
        <p:spPr>
          <a:xfrm>
            <a:off x="411480" y="1874519"/>
            <a:ext cx="11384280" cy="768096"/>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74519"/>
            <a:ext cx="82296" cy="7680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65959"/>
            <a:ext cx="182880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D6FB8"/>
                </a:solidFill>
                <a:latin typeface="Calibri"/>
              </a:rPr>
              <a:t>Frontend</a:t>
            </a:r>
          </a:p>
        </p:txBody>
      </p:sp>
      <p:sp>
        <p:nvSpPr>
          <p:cNvPr id="12" name="TextBox 11"/>
          <p:cNvSpPr txBox="1"/>
          <p:nvPr/>
        </p:nvSpPr>
        <p:spPr>
          <a:xfrm>
            <a:off x="685800" y="2304287"/>
            <a:ext cx="1828800" cy="274320"/>
          </a:xfrm>
          <a:prstGeom prst="rect">
            <a:avLst/>
          </a:prstGeom>
          <a:noFill/>
        </p:spPr>
        <p:txBody>
          <a:bodyPr wrap="square" anchor="t" lIns="0" rIns="0" tIns="0" bIns="0">
            <a:spAutoFit/>
          </a:bodyPr>
          <a:lstStyle/>
          <a:p>
            <a:pPr algn="l">
              <a:lnSpc>
                <a:spcPct val="100000"/>
              </a:lnSpc>
              <a:spcAft>
                <a:spcPts val="400"/>
              </a:spcAft>
            </a:pPr>
            <a:r>
              <a:rPr sz="1000" b="0" i="1">
                <a:solidFill>
                  <a:srgbClr val="686F7D"/>
                </a:solidFill>
                <a:latin typeface="Calibri"/>
              </a:rPr>
              <a:t>What users see</a:t>
            </a:r>
          </a:p>
        </p:txBody>
      </p:sp>
      <p:sp>
        <p:nvSpPr>
          <p:cNvPr id="13" name="TextBox 12"/>
          <p:cNvSpPr txBox="1"/>
          <p:nvPr/>
        </p:nvSpPr>
        <p:spPr>
          <a:xfrm>
            <a:off x="2697480" y="1984247"/>
            <a:ext cx="8869680" cy="594360"/>
          </a:xfrm>
          <a:prstGeom prst="rect">
            <a:avLst/>
          </a:prstGeom>
          <a:noFill/>
        </p:spPr>
        <p:txBody>
          <a:bodyPr wrap="square" anchor="t" lIns="0" rIns="0" tIns="0" bIns="0">
            <a:spAutoFit/>
          </a:bodyPr>
          <a:lstStyle/>
          <a:p>
            <a:pPr algn="l">
              <a:lnSpc>
                <a:spcPct val="110000"/>
              </a:lnSpc>
              <a:spcAft>
                <a:spcPts val="400"/>
              </a:spcAft>
            </a:pPr>
            <a:r>
              <a:rPr sz="1150" b="0" i="0">
                <a:solidFill>
                  <a:srgbClr val="3A4356"/>
                </a:solidFill>
                <a:latin typeface="Calibri"/>
              </a:rPr>
              <a:t>The web application in the browser — forms, dashboards, reports. Nothing is installed on laptops; it is served from our own server.</a:t>
            </a:r>
          </a:p>
        </p:txBody>
      </p:sp>
      <p:sp>
        <p:nvSpPr>
          <p:cNvPr id="14" name="Rounded Rectangle 13"/>
          <p:cNvSpPr/>
          <p:nvPr/>
        </p:nvSpPr>
        <p:spPr>
          <a:xfrm>
            <a:off x="411480" y="2743200"/>
            <a:ext cx="11384280" cy="768096"/>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2743200"/>
            <a:ext cx="82296" cy="7680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34640"/>
            <a:ext cx="182880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D6FB8"/>
                </a:solidFill>
                <a:latin typeface="Calibri"/>
              </a:rPr>
              <a:t>Backend</a:t>
            </a:r>
          </a:p>
        </p:txBody>
      </p:sp>
      <p:sp>
        <p:nvSpPr>
          <p:cNvPr id="17" name="TextBox 16"/>
          <p:cNvSpPr txBox="1"/>
          <p:nvPr/>
        </p:nvSpPr>
        <p:spPr>
          <a:xfrm>
            <a:off x="685800" y="3172968"/>
            <a:ext cx="1828800" cy="274320"/>
          </a:xfrm>
          <a:prstGeom prst="rect">
            <a:avLst/>
          </a:prstGeom>
          <a:noFill/>
        </p:spPr>
        <p:txBody>
          <a:bodyPr wrap="square" anchor="t" lIns="0" rIns="0" tIns="0" bIns="0">
            <a:spAutoFit/>
          </a:bodyPr>
          <a:lstStyle/>
          <a:p>
            <a:pPr algn="l">
              <a:lnSpc>
                <a:spcPct val="100000"/>
              </a:lnSpc>
              <a:spcAft>
                <a:spcPts val="400"/>
              </a:spcAft>
            </a:pPr>
            <a:r>
              <a:rPr sz="1000" b="0" i="1">
                <a:solidFill>
                  <a:srgbClr val="686F7D"/>
                </a:solidFill>
                <a:latin typeface="Calibri"/>
              </a:rPr>
              <a:t>The engine room</a:t>
            </a:r>
          </a:p>
        </p:txBody>
      </p:sp>
      <p:sp>
        <p:nvSpPr>
          <p:cNvPr id="18" name="TextBox 17"/>
          <p:cNvSpPr txBox="1"/>
          <p:nvPr/>
        </p:nvSpPr>
        <p:spPr>
          <a:xfrm>
            <a:off x="2697480" y="2852928"/>
            <a:ext cx="8869680" cy="594360"/>
          </a:xfrm>
          <a:prstGeom prst="rect">
            <a:avLst/>
          </a:prstGeom>
          <a:noFill/>
        </p:spPr>
        <p:txBody>
          <a:bodyPr wrap="square" anchor="t" lIns="0" rIns="0" tIns="0" bIns="0">
            <a:spAutoFit/>
          </a:bodyPr>
          <a:lstStyle/>
          <a:p>
            <a:pPr algn="l">
              <a:lnSpc>
                <a:spcPct val="110000"/>
              </a:lnSpc>
              <a:spcAft>
                <a:spcPts val="400"/>
              </a:spcAft>
            </a:pPr>
            <a:r>
              <a:rPr sz="1150" b="0" i="0">
                <a:solidFill>
                  <a:srgbClr val="3A4356"/>
                </a:solidFill>
                <a:latin typeface="Calibri"/>
              </a:rPr>
              <a:t>The server application that does the work: runs the 18 cost engines, the AI logic and all calculations. Runs on a standard company virtual machine.</a:t>
            </a:r>
          </a:p>
        </p:txBody>
      </p:sp>
      <p:sp>
        <p:nvSpPr>
          <p:cNvPr id="19" name="Rounded Rectangle 18"/>
          <p:cNvSpPr/>
          <p:nvPr/>
        </p:nvSpPr>
        <p:spPr>
          <a:xfrm>
            <a:off x="411480" y="3611879"/>
            <a:ext cx="11384280" cy="768096"/>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3611879"/>
            <a:ext cx="82296" cy="768096"/>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703319"/>
            <a:ext cx="182880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6B3FA0"/>
                </a:solidFill>
                <a:latin typeface="Calibri"/>
              </a:rPr>
              <a:t>Database</a:t>
            </a:r>
          </a:p>
        </p:txBody>
      </p:sp>
      <p:sp>
        <p:nvSpPr>
          <p:cNvPr id="22" name="TextBox 21"/>
          <p:cNvSpPr txBox="1"/>
          <p:nvPr/>
        </p:nvSpPr>
        <p:spPr>
          <a:xfrm>
            <a:off x="685800" y="4041647"/>
            <a:ext cx="1828800" cy="274320"/>
          </a:xfrm>
          <a:prstGeom prst="rect">
            <a:avLst/>
          </a:prstGeom>
          <a:noFill/>
        </p:spPr>
        <p:txBody>
          <a:bodyPr wrap="square" anchor="t" lIns="0" rIns="0" tIns="0" bIns="0">
            <a:spAutoFit/>
          </a:bodyPr>
          <a:lstStyle/>
          <a:p>
            <a:pPr algn="l">
              <a:lnSpc>
                <a:spcPct val="100000"/>
              </a:lnSpc>
              <a:spcAft>
                <a:spcPts val="400"/>
              </a:spcAft>
            </a:pPr>
            <a:r>
              <a:rPr sz="1000" b="0" i="1">
                <a:solidFill>
                  <a:srgbClr val="686F7D"/>
                </a:solidFill>
                <a:latin typeface="Calibri"/>
              </a:rPr>
              <a:t>The memory</a:t>
            </a:r>
          </a:p>
        </p:txBody>
      </p:sp>
      <p:sp>
        <p:nvSpPr>
          <p:cNvPr id="23" name="TextBox 22"/>
          <p:cNvSpPr txBox="1"/>
          <p:nvPr/>
        </p:nvSpPr>
        <p:spPr>
          <a:xfrm>
            <a:off x="2697480" y="3721607"/>
            <a:ext cx="8869680" cy="594360"/>
          </a:xfrm>
          <a:prstGeom prst="rect">
            <a:avLst/>
          </a:prstGeom>
          <a:noFill/>
        </p:spPr>
        <p:txBody>
          <a:bodyPr wrap="square" anchor="t" lIns="0" rIns="0" tIns="0" bIns="0">
            <a:spAutoFit/>
          </a:bodyPr>
          <a:lstStyle/>
          <a:p>
            <a:pPr algn="l">
              <a:lnSpc>
                <a:spcPct val="110000"/>
              </a:lnSpc>
              <a:spcAft>
                <a:spcPts val="400"/>
              </a:spcAft>
            </a:pPr>
            <a:r>
              <a:rPr sz="1150" b="0" i="0">
                <a:solidFill>
                  <a:srgbClr val="3A4356"/>
                </a:solidFill>
                <a:latin typeface="Calibri"/>
              </a:rPr>
              <a:t>Where rate libraries, saved costings and the AI knowledge base live. Standard corporate database (PostgreSQL), encrypted, backed up by IT.</a:t>
            </a:r>
          </a:p>
        </p:txBody>
      </p:sp>
      <p:sp>
        <p:nvSpPr>
          <p:cNvPr id="24" name="Rounded Rectangle 23"/>
          <p:cNvSpPr/>
          <p:nvPr/>
        </p:nvSpPr>
        <p:spPr>
          <a:xfrm>
            <a:off x="411480" y="4480559"/>
            <a:ext cx="11384280" cy="768096"/>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4480559"/>
            <a:ext cx="82296" cy="768096"/>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71999"/>
            <a:ext cx="182880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0D7D71"/>
                </a:solidFill>
                <a:latin typeface="Calibri"/>
              </a:rPr>
              <a:t>CAD engine</a:t>
            </a:r>
          </a:p>
        </p:txBody>
      </p:sp>
      <p:sp>
        <p:nvSpPr>
          <p:cNvPr id="27" name="TextBox 26"/>
          <p:cNvSpPr txBox="1"/>
          <p:nvPr/>
        </p:nvSpPr>
        <p:spPr>
          <a:xfrm>
            <a:off x="685800" y="4910327"/>
            <a:ext cx="1828800" cy="274320"/>
          </a:xfrm>
          <a:prstGeom prst="rect">
            <a:avLst/>
          </a:prstGeom>
          <a:noFill/>
        </p:spPr>
        <p:txBody>
          <a:bodyPr wrap="square" anchor="t" lIns="0" rIns="0" tIns="0" bIns="0">
            <a:spAutoFit/>
          </a:bodyPr>
          <a:lstStyle/>
          <a:p>
            <a:pPr algn="l">
              <a:lnSpc>
                <a:spcPct val="100000"/>
              </a:lnSpc>
              <a:spcAft>
                <a:spcPts val="400"/>
              </a:spcAft>
            </a:pPr>
            <a:r>
              <a:rPr sz="1000" b="0" i="1">
                <a:solidFill>
                  <a:srgbClr val="686F7D"/>
                </a:solidFill>
                <a:latin typeface="Calibri"/>
              </a:rPr>
              <a:t>The 3D model reader</a:t>
            </a:r>
          </a:p>
        </p:txBody>
      </p:sp>
      <p:sp>
        <p:nvSpPr>
          <p:cNvPr id="28" name="TextBox 27"/>
          <p:cNvSpPr txBox="1"/>
          <p:nvPr/>
        </p:nvSpPr>
        <p:spPr>
          <a:xfrm>
            <a:off x="2697480" y="4590287"/>
            <a:ext cx="8869680" cy="594360"/>
          </a:xfrm>
          <a:prstGeom prst="rect">
            <a:avLst/>
          </a:prstGeom>
          <a:noFill/>
        </p:spPr>
        <p:txBody>
          <a:bodyPr wrap="square" anchor="t" lIns="0" rIns="0" tIns="0" bIns="0">
            <a:spAutoFit/>
          </a:bodyPr>
          <a:lstStyle/>
          <a:p>
            <a:pPr algn="l">
              <a:lnSpc>
                <a:spcPct val="110000"/>
              </a:lnSpc>
              <a:spcAft>
                <a:spcPts val="400"/>
              </a:spcAft>
            </a:pPr>
            <a:r>
              <a:rPr sz="1150" b="0" i="0">
                <a:solidFill>
                  <a:srgbClr val="3A4356"/>
                </a:solidFill>
                <a:latin typeface="Calibri"/>
              </a:rPr>
              <a:t>Specialist geometry software (OCCT — the same core used by CAD vendors) that measures the 3D model: volume, weight, walls, holes. Runs INSIDE the backend.</a:t>
            </a:r>
          </a:p>
        </p:txBody>
      </p:sp>
      <p:sp>
        <p:nvSpPr>
          <p:cNvPr id="29" name="Rounded Rectangle 28"/>
          <p:cNvSpPr/>
          <p:nvPr/>
        </p:nvSpPr>
        <p:spPr>
          <a:xfrm>
            <a:off x="411480" y="5349240"/>
            <a:ext cx="11384280" cy="768096"/>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5349240"/>
            <a:ext cx="82296" cy="76809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440680"/>
            <a:ext cx="182880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2A7F50"/>
                </a:solidFill>
                <a:latin typeface="Calibri"/>
              </a:rPr>
              <a:t>AI layer</a:t>
            </a:r>
          </a:p>
        </p:txBody>
      </p:sp>
      <p:sp>
        <p:nvSpPr>
          <p:cNvPr id="32" name="TextBox 31"/>
          <p:cNvSpPr txBox="1"/>
          <p:nvPr/>
        </p:nvSpPr>
        <p:spPr>
          <a:xfrm>
            <a:off x="685800" y="5779008"/>
            <a:ext cx="1828800" cy="274320"/>
          </a:xfrm>
          <a:prstGeom prst="rect">
            <a:avLst/>
          </a:prstGeom>
          <a:noFill/>
        </p:spPr>
        <p:txBody>
          <a:bodyPr wrap="square" anchor="t" lIns="0" rIns="0" tIns="0" bIns="0">
            <a:spAutoFit/>
          </a:bodyPr>
          <a:lstStyle/>
          <a:p>
            <a:pPr algn="l">
              <a:lnSpc>
                <a:spcPct val="100000"/>
              </a:lnSpc>
              <a:spcAft>
                <a:spcPts val="400"/>
              </a:spcAft>
            </a:pPr>
            <a:r>
              <a:rPr sz="1000" b="0" i="1">
                <a:solidFill>
                  <a:srgbClr val="686F7D"/>
                </a:solidFill>
                <a:latin typeface="Calibri"/>
              </a:rPr>
              <a:t>The language brain</a:t>
            </a:r>
          </a:p>
        </p:txBody>
      </p:sp>
      <p:sp>
        <p:nvSpPr>
          <p:cNvPr id="33" name="TextBox 32"/>
          <p:cNvSpPr txBox="1"/>
          <p:nvPr/>
        </p:nvSpPr>
        <p:spPr>
          <a:xfrm>
            <a:off x="2697480" y="5458968"/>
            <a:ext cx="8869680" cy="594360"/>
          </a:xfrm>
          <a:prstGeom prst="rect">
            <a:avLst/>
          </a:prstGeom>
          <a:noFill/>
        </p:spPr>
        <p:txBody>
          <a:bodyPr wrap="square" anchor="t" lIns="0" rIns="0" tIns="0" bIns="0">
            <a:spAutoFit/>
          </a:bodyPr>
          <a:lstStyle/>
          <a:p>
            <a:pPr algn="l">
              <a:lnSpc>
                <a:spcPct val="110000"/>
              </a:lnSpc>
              <a:spcAft>
                <a:spcPts val="400"/>
              </a:spcAft>
            </a:pPr>
            <a:r>
              <a:rPr sz="1150" b="0" i="0">
                <a:solidFill>
                  <a:srgbClr val="3A4356"/>
                </a:solidFill>
                <a:latin typeface="Calibri"/>
              </a:rPr>
              <a:t>The AI model used for vision and language tasks. NOW BUILT: one switchboard controls every AI call — route it to a private endpoint, or turn it fully OFF (air-gapped).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SECURITY</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The security requirement — and the key finding</a:t>
            </a:r>
          </a:p>
        </p:txBody>
      </p:sp>
      <p:sp>
        <p:nvSpPr>
          <p:cNvPr id="9" name="Rounded Rectangle 8"/>
          <p:cNvSpPr/>
          <p:nvPr/>
        </p:nvSpPr>
        <p:spPr>
          <a:xfrm>
            <a:off x="411480" y="1874519"/>
            <a:ext cx="11384280" cy="1051560"/>
          </a:xfrm>
          <a:prstGeom prst="roundRect">
            <a:avLst>
              <a:gd name="adj" fmla="val 8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10789920" cy="731520"/>
          </a:xfrm>
          <a:prstGeom prst="rect">
            <a:avLst/>
          </a:prstGeom>
          <a:noFill/>
        </p:spPr>
        <p:txBody>
          <a:bodyPr wrap="square" anchor="t" lIns="0" rIns="0" tIns="0" bIns="0">
            <a:spAutoFit/>
          </a:bodyPr>
          <a:lstStyle/>
          <a:p>
            <a:pPr algn="l">
              <a:lnSpc>
                <a:spcPct val="115000"/>
              </a:lnSpc>
              <a:spcAft>
                <a:spcPts val="400"/>
              </a:spcAft>
            </a:pPr>
            <a:r>
              <a:rPr sz="1500" b="1" i="0">
                <a:solidFill>
                  <a:srgbClr val="99651A"/>
                </a:solidFill>
                <a:latin typeface="Calibri"/>
              </a:rPr>
              <a:t>IT-Security requirement:  </a:t>
            </a:r>
            <a:r>
              <a:rPr sz="1500" b="1" i="0">
                <a:solidFill>
                  <a:srgbClr val="16325C"/>
                </a:solidFill>
                <a:latin typeface="Calibri"/>
              </a:rPr>
              <a:t>no CAD files, engineering drawings or images may leave the company network. Ever.</a:t>
            </a:r>
          </a:p>
        </p:txBody>
      </p:sp>
      <p:sp>
        <p:nvSpPr>
          <p:cNvPr id="11" name="Rounded Rectangle 10"/>
          <p:cNvSpPr/>
          <p:nvPr/>
        </p:nvSpPr>
        <p:spPr>
          <a:xfrm>
            <a:off x="411480" y="3200400"/>
            <a:ext cx="11384280" cy="1828800"/>
          </a:xfrm>
          <a:prstGeom prst="roundRect">
            <a:avLst>
              <a:gd name="adj" fmla="val 8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401568"/>
            <a:ext cx="10789920" cy="1463040"/>
          </a:xfrm>
          <a:prstGeom prst="rect">
            <a:avLst/>
          </a:prstGeom>
          <a:noFill/>
        </p:spPr>
        <p:txBody>
          <a:bodyPr wrap="square" anchor="t" lIns="0" rIns="0" tIns="0" bIns="0">
            <a:spAutoFit/>
          </a:bodyPr>
          <a:lstStyle/>
          <a:p>
            <a:pPr algn="l">
              <a:lnSpc>
                <a:spcPct val="120000"/>
              </a:lnSpc>
              <a:spcAft>
                <a:spcPts val="800"/>
              </a:spcAft>
            </a:pPr>
            <a:r>
              <a:rPr sz="1500" b="1" i="0">
                <a:solidFill>
                  <a:srgbClr val="2A7F50"/>
                </a:solidFill>
                <a:latin typeface="Calibri"/>
              </a:rPr>
              <a:t>The key finding from the code audit:  </a:t>
            </a:r>
            <a:r>
              <a:rPr sz="1500" b="1" i="0">
                <a:solidFill>
                  <a:srgbClr val="16325C"/>
                </a:solidFill>
                <a:latin typeface="Calibri"/>
              </a:rPr>
              <a:t>CAD files already never leave the server.</a:t>
            </a:r>
          </a:p>
          <a:p>
            <a:pPr algn="l">
              <a:lnSpc>
                <a:spcPct val="120000"/>
              </a:lnSpc>
              <a:spcAft>
                <a:spcPts val="800"/>
              </a:spcAft>
            </a:pPr>
            <a:r>
              <a:rPr sz="1300" b="0" i="0">
                <a:solidFill>
                  <a:srgbClr val="3A4356"/>
                </a:solidFill>
                <a:latin typeface="Calibri"/>
              </a:rPr>
              <a:t>The geometry engine runs inside our backend and processes CAD models in memory — files are not even written to disk, let alone sent anywhere. The only outbound flows are the AI layer (photos and derived summaries) and two optional public feeds. The controls that close this gap are now BUILT: private AI routing and a provable air-gapped switch, tested live in all three modes.</a:t>
            </a:r>
          </a:p>
        </p:txBody>
      </p:sp>
      <p:sp>
        <p:nvSpPr>
          <p:cNvPr id="13" name="TextBox 12"/>
          <p:cNvSpPr txBox="1"/>
          <p:nvPr/>
        </p:nvSpPr>
        <p:spPr>
          <a:xfrm>
            <a:off x="411480" y="5349240"/>
            <a:ext cx="11338560" cy="822960"/>
          </a:xfrm>
          <a:prstGeom prst="rect">
            <a:avLst/>
          </a:prstGeom>
          <a:noFill/>
        </p:spPr>
        <p:txBody>
          <a:bodyPr wrap="square" anchor="t" lIns="0" rIns="0" tIns="0" bIns="0">
            <a:spAutoFit/>
          </a:bodyPr>
          <a:lstStyle/>
          <a:p>
            <a:pPr algn="l">
              <a:lnSpc>
                <a:spcPct val="120000"/>
              </a:lnSpc>
              <a:spcAft>
                <a:spcPts val="400"/>
              </a:spcAft>
            </a:pPr>
            <a:r>
              <a:rPr sz="1250" b="1" i="0">
                <a:solidFill>
                  <a:srgbClr val="16325C"/>
                </a:solidFill>
                <a:latin typeface="Calibri"/>
              </a:rPr>
              <a:t>Why you can trust this: </a:t>
            </a:r>
            <a:r>
              <a:rPr sz="1250" b="0" i="0">
                <a:solidFill>
                  <a:srgbClr val="3A4356"/>
                </a:solidFill>
                <a:latin typeface="Calibri"/>
              </a:rPr>
              <a:t>this is not a vendor claim — we audited every outbound network call in the platform's source code, line by line, and listed each one. The full inventory is in the written plan.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DATA-FLOW MAP</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Where data flows today — verified in the code</a:t>
            </a:r>
          </a:p>
        </p:txBody>
      </p:sp>
      <p:sp>
        <p:nvSpPr>
          <p:cNvPr id="9" name="Rounded Rectangle 8"/>
          <p:cNvSpPr/>
          <p:nvPr/>
        </p:nvSpPr>
        <p:spPr>
          <a:xfrm>
            <a:off x="411480" y="1828800"/>
            <a:ext cx="6858000" cy="4297680"/>
          </a:xfrm>
          <a:prstGeom prst="roundRect">
            <a:avLst>
              <a:gd name="adj" fmla="val 5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630936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2A7F50"/>
                </a:solidFill>
                <a:latin typeface="Calibri"/>
              </a:rPr>
              <a:t>STAYS INSIDE — already ✓</a:t>
            </a:r>
          </a:p>
        </p:txBody>
      </p:sp>
      <p:sp>
        <p:nvSpPr>
          <p:cNvPr id="11" name="Rectangle 10"/>
          <p:cNvSpPr/>
          <p:nvPr/>
        </p:nvSpPr>
        <p:spPr>
          <a:xfrm>
            <a:off x="685800" y="2468880"/>
            <a:ext cx="82296" cy="73152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68880"/>
            <a:ext cx="6126480" cy="822960"/>
          </a:xfrm>
          <a:prstGeom prst="rect">
            <a:avLst/>
          </a:prstGeom>
          <a:noFill/>
        </p:spPr>
        <p:txBody>
          <a:bodyPr wrap="square" anchor="t" lIns="0" rIns="0" tIns="0" bIns="0">
            <a:spAutoFit/>
          </a:bodyPr>
          <a:lstStyle/>
          <a:p>
            <a:pPr algn="l">
              <a:lnSpc>
                <a:spcPct val="105000"/>
              </a:lnSpc>
              <a:spcAft>
                <a:spcPts val="200"/>
              </a:spcAft>
            </a:pPr>
            <a:r>
              <a:rPr sz="1250" b="1" i="0">
                <a:solidFill>
                  <a:srgbClr val="16325C"/>
                </a:solidFill>
                <a:latin typeface="Calibri"/>
              </a:rPr>
              <a:t>CAD / geometry processing</a:t>
            </a:r>
          </a:p>
          <a:p>
            <a:pPr algn="l">
              <a:lnSpc>
                <a:spcPct val="105000"/>
              </a:lnSpc>
              <a:spcAft>
                <a:spcPts val="200"/>
              </a:spcAft>
            </a:pPr>
            <a:r>
              <a:rPr sz="1050" b="0" i="0">
                <a:solidFill>
                  <a:srgbClr val="3A4356"/>
                </a:solidFill>
                <a:latin typeface="Calibri"/>
              </a:rPr>
              <a:t>OCCT engine runs in the backend; files processed in memory, never stored</a:t>
            </a:r>
          </a:p>
        </p:txBody>
      </p:sp>
      <p:sp>
        <p:nvSpPr>
          <p:cNvPr id="13" name="Rectangle 12"/>
          <p:cNvSpPr/>
          <p:nvPr/>
        </p:nvSpPr>
        <p:spPr>
          <a:xfrm>
            <a:off x="685800" y="3337560"/>
            <a:ext cx="82296" cy="73152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337560"/>
            <a:ext cx="6126480" cy="822960"/>
          </a:xfrm>
          <a:prstGeom prst="rect">
            <a:avLst/>
          </a:prstGeom>
          <a:noFill/>
        </p:spPr>
        <p:txBody>
          <a:bodyPr wrap="square" anchor="t" lIns="0" rIns="0" tIns="0" bIns="0">
            <a:spAutoFit/>
          </a:bodyPr>
          <a:lstStyle/>
          <a:p>
            <a:pPr algn="l">
              <a:lnSpc>
                <a:spcPct val="105000"/>
              </a:lnSpc>
              <a:spcAft>
                <a:spcPts val="200"/>
              </a:spcAft>
            </a:pPr>
            <a:r>
              <a:rPr sz="1250" b="1" i="0">
                <a:solidFill>
                  <a:srgbClr val="16325C"/>
                </a:solidFill>
                <a:latin typeface="Calibri"/>
              </a:rPr>
              <a:t>All 18 cost engines</a:t>
            </a:r>
          </a:p>
          <a:p>
            <a:pPr algn="l">
              <a:lnSpc>
                <a:spcPct val="105000"/>
              </a:lnSpc>
              <a:spcAft>
                <a:spcPts val="200"/>
              </a:spcAft>
            </a:pPr>
            <a:r>
              <a:rPr sz="1050" b="0" i="0">
                <a:solidFill>
                  <a:srgbClr val="3A4356"/>
                </a:solidFill>
                <a:latin typeface="Calibri"/>
              </a:rPr>
              <a:t>Physics + maths, fully local</a:t>
            </a:r>
          </a:p>
        </p:txBody>
      </p:sp>
      <p:sp>
        <p:nvSpPr>
          <p:cNvPr id="15" name="Rectangle 14"/>
          <p:cNvSpPr/>
          <p:nvPr/>
        </p:nvSpPr>
        <p:spPr>
          <a:xfrm>
            <a:off x="685800" y="4206240"/>
            <a:ext cx="82296" cy="73152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06240"/>
            <a:ext cx="6126480" cy="822960"/>
          </a:xfrm>
          <a:prstGeom prst="rect">
            <a:avLst/>
          </a:prstGeom>
          <a:noFill/>
        </p:spPr>
        <p:txBody>
          <a:bodyPr wrap="square" anchor="t" lIns="0" rIns="0" tIns="0" bIns="0">
            <a:spAutoFit/>
          </a:bodyPr>
          <a:lstStyle/>
          <a:p>
            <a:pPr algn="l">
              <a:lnSpc>
                <a:spcPct val="105000"/>
              </a:lnSpc>
              <a:spcAft>
                <a:spcPts val="200"/>
              </a:spcAft>
            </a:pPr>
            <a:r>
              <a:rPr sz="1250" b="1" i="0">
                <a:solidFill>
                  <a:srgbClr val="16325C"/>
                </a:solidFill>
                <a:latin typeface="Calibri"/>
              </a:rPr>
              <a:t>Knowledge base &amp; learning loop</a:t>
            </a:r>
          </a:p>
          <a:p>
            <a:pPr algn="l">
              <a:lnSpc>
                <a:spcPct val="105000"/>
              </a:lnSpc>
              <a:spcAft>
                <a:spcPts val="200"/>
              </a:spcAft>
            </a:pPr>
            <a:r>
              <a:rPr sz="1050" b="0" i="0">
                <a:solidFill>
                  <a:srgbClr val="3A4356"/>
                </a:solidFill>
                <a:latin typeface="Calibri"/>
              </a:rPr>
              <a:t>Similarity, calibration, autonomous findings — local database</a:t>
            </a:r>
          </a:p>
        </p:txBody>
      </p:sp>
      <p:sp>
        <p:nvSpPr>
          <p:cNvPr id="17" name="Rectangle 16"/>
          <p:cNvSpPr/>
          <p:nvPr/>
        </p:nvSpPr>
        <p:spPr>
          <a:xfrm>
            <a:off x="685800" y="5074920"/>
            <a:ext cx="82296" cy="73152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074920"/>
            <a:ext cx="6126480" cy="822960"/>
          </a:xfrm>
          <a:prstGeom prst="rect">
            <a:avLst/>
          </a:prstGeom>
          <a:noFill/>
        </p:spPr>
        <p:txBody>
          <a:bodyPr wrap="square" anchor="t" lIns="0" rIns="0" tIns="0" bIns="0">
            <a:spAutoFit/>
          </a:bodyPr>
          <a:lstStyle/>
          <a:p>
            <a:pPr algn="l">
              <a:lnSpc>
                <a:spcPct val="105000"/>
              </a:lnSpc>
              <a:spcAft>
                <a:spcPts val="200"/>
              </a:spcAft>
            </a:pPr>
            <a:r>
              <a:rPr sz="1250" b="1" i="0">
                <a:solidFill>
                  <a:srgbClr val="16325C"/>
                </a:solidFill>
                <a:latin typeface="Calibri"/>
              </a:rPr>
              <a:t>BOM file parsing, exports, reports</a:t>
            </a:r>
          </a:p>
          <a:p>
            <a:pPr algn="l">
              <a:lnSpc>
                <a:spcPct val="105000"/>
              </a:lnSpc>
              <a:spcAft>
                <a:spcPts val="200"/>
              </a:spcAft>
            </a:pPr>
            <a:r>
              <a:rPr sz="1050" b="0" i="0">
                <a:solidFill>
                  <a:srgbClr val="3A4356"/>
                </a:solidFill>
                <a:latin typeface="Calibri"/>
              </a:rPr>
              <a:t>Local parsers, local PDF/Excel generation</a:t>
            </a:r>
          </a:p>
        </p:txBody>
      </p:sp>
      <p:sp>
        <p:nvSpPr>
          <p:cNvPr id="19" name="Rounded Rectangle 18"/>
          <p:cNvSpPr/>
          <p:nvPr/>
        </p:nvSpPr>
        <p:spPr>
          <a:xfrm>
            <a:off x="7589520" y="1828800"/>
            <a:ext cx="4206240" cy="4297680"/>
          </a:xfrm>
          <a:prstGeom prst="roundRect">
            <a:avLst>
              <a:gd name="adj" fmla="val 5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0" y="2011680"/>
            <a:ext cx="36576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99651A"/>
                </a:solidFill>
                <a:latin typeface="Calibri"/>
              </a:rPr>
              <a:t>LEAVES TODAY — controlled ✓</a:t>
            </a:r>
          </a:p>
        </p:txBody>
      </p:sp>
      <p:sp>
        <p:nvSpPr>
          <p:cNvPr id="21" name="Rectangle 20"/>
          <p:cNvSpPr/>
          <p:nvPr/>
        </p:nvSpPr>
        <p:spPr>
          <a:xfrm>
            <a:off x="7863840" y="2468880"/>
            <a:ext cx="82296" cy="100584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2468880"/>
            <a:ext cx="3566160" cy="1143000"/>
          </a:xfrm>
          <a:prstGeom prst="rect">
            <a:avLst/>
          </a:prstGeom>
          <a:noFill/>
        </p:spPr>
        <p:txBody>
          <a:bodyPr wrap="square" anchor="t" lIns="0" rIns="0" tIns="0" bIns="0">
            <a:spAutoFit/>
          </a:bodyPr>
          <a:lstStyle/>
          <a:p>
            <a:pPr algn="l">
              <a:lnSpc>
                <a:spcPct val="105000"/>
              </a:lnSpc>
              <a:spcAft>
                <a:spcPts val="200"/>
              </a:spcAft>
            </a:pPr>
            <a:r>
              <a:rPr sz="1200" b="1" i="0">
                <a:solidFill>
                  <a:srgbClr val="16325C"/>
                </a:solidFill>
                <a:latin typeface="Calibri"/>
              </a:rPr>
              <a:t>AI layer calls</a:t>
            </a:r>
          </a:p>
          <a:p>
            <a:pPr algn="l">
              <a:lnSpc>
                <a:spcPct val="105000"/>
              </a:lnSpc>
              <a:spcAft>
                <a:spcPts val="200"/>
              </a:spcAft>
            </a:pPr>
            <a:r>
              <a:rPr sz="1050" b="0" i="0">
                <a:solidFill>
                  <a:srgbClr val="3A4356"/>
                </a:solidFill>
                <a:latin typeface="Calibri"/>
              </a:rPr>
              <a:t>Photos + CAD-derived summaries. Private routing BUILT — one setting points every call at our endpoint</a:t>
            </a:r>
          </a:p>
        </p:txBody>
      </p:sp>
      <p:sp>
        <p:nvSpPr>
          <p:cNvPr id="23" name="Rectangle 22"/>
          <p:cNvSpPr/>
          <p:nvPr/>
        </p:nvSpPr>
        <p:spPr>
          <a:xfrm>
            <a:off x="7863840" y="3639312"/>
            <a:ext cx="82296" cy="1005840"/>
          </a:xfrm>
          <a:prstGeom prst="rect">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3639312"/>
            <a:ext cx="3566160" cy="1143000"/>
          </a:xfrm>
          <a:prstGeom prst="rect">
            <a:avLst/>
          </a:prstGeom>
          <a:noFill/>
        </p:spPr>
        <p:txBody>
          <a:bodyPr wrap="square" anchor="t" lIns="0" rIns="0" tIns="0" bIns="0">
            <a:spAutoFit/>
          </a:bodyPr>
          <a:lstStyle/>
          <a:p>
            <a:pPr algn="l">
              <a:lnSpc>
                <a:spcPct val="105000"/>
              </a:lnSpc>
              <a:spcAft>
                <a:spcPts val="200"/>
              </a:spcAft>
            </a:pPr>
            <a:r>
              <a:rPr sz="1200" b="1" i="0">
                <a:solidFill>
                  <a:srgbClr val="16325C"/>
                </a:solidFill>
                <a:latin typeface="Calibri"/>
              </a:rPr>
              <a:t>Live part pricing (optional, OFF by default)</a:t>
            </a:r>
          </a:p>
          <a:p>
            <a:pPr algn="l">
              <a:lnSpc>
                <a:spcPct val="105000"/>
              </a:lnSpc>
              <a:spcAft>
                <a:spcPts val="200"/>
              </a:spcAft>
            </a:pPr>
            <a:r>
              <a:rPr sz="1050" b="0" i="0">
                <a:solidFill>
                  <a:srgbClr val="3A4356"/>
                </a:solidFill>
                <a:latin typeface="Calibri"/>
              </a:rPr>
              <a:t>Part-number text only — silenced by the air-gap switch</a:t>
            </a:r>
          </a:p>
        </p:txBody>
      </p:sp>
      <p:sp>
        <p:nvSpPr>
          <p:cNvPr id="25" name="Rectangle 24"/>
          <p:cNvSpPr/>
          <p:nvPr/>
        </p:nvSpPr>
        <p:spPr>
          <a:xfrm>
            <a:off x="7863840" y="4809744"/>
            <a:ext cx="82296" cy="1005840"/>
          </a:xfrm>
          <a:prstGeom prst="rect">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2440" y="4809744"/>
            <a:ext cx="3566160" cy="1143000"/>
          </a:xfrm>
          <a:prstGeom prst="rect">
            <a:avLst/>
          </a:prstGeom>
          <a:noFill/>
        </p:spPr>
        <p:txBody>
          <a:bodyPr wrap="square" anchor="t" lIns="0" rIns="0" tIns="0" bIns="0">
            <a:spAutoFit/>
          </a:bodyPr>
          <a:lstStyle/>
          <a:p>
            <a:pPr algn="l">
              <a:lnSpc>
                <a:spcPct val="105000"/>
              </a:lnSpc>
              <a:spcAft>
                <a:spcPts val="200"/>
              </a:spcAft>
            </a:pPr>
            <a:r>
              <a:rPr sz="1200" b="1" i="0">
                <a:solidFill>
                  <a:srgbClr val="16325C"/>
                </a:solidFill>
                <a:latin typeface="Calibri"/>
              </a:rPr>
              <a:t>News ticker feeds</a:t>
            </a:r>
          </a:p>
          <a:p>
            <a:pPr algn="l">
              <a:lnSpc>
                <a:spcPct val="105000"/>
              </a:lnSpc>
              <a:spcAft>
                <a:spcPts val="200"/>
              </a:spcAft>
            </a:pPr>
            <a:r>
              <a:rPr sz="1050" b="0" i="0">
                <a:solidFill>
                  <a:srgbClr val="3A4356"/>
                </a:solidFill>
                <a:latin typeface="Calibri"/>
              </a:rPr>
              <a:t>Public news, no company data — silenced by the air-gap switch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DECISION</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Deployment options — our recommendation</a:t>
            </a:r>
          </a:p>
        </p:txBody>
      </p:sp>
      <p:sp>
        <p:nvSpPr>
          <p:cNvPr id="9" name="Rounded Rectangle 8"/>
          <p:cNvSpPr/>
          <p:nvPr/>
        </p:nvSpPr>
        <p:spPr>
          <a:xfrm>
            <a:off x="411480" y="1874519"/>
            <a:ext cx="3657600" cy="4114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74519"/>
            <a:ext cx="3657600" cy="82296"/>
          </a:xfrm>
          <a:prstGeom prst="rect">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057400"/>
            <a:ext cx="3246120" cy="320040"/>
          </a:xfrm>
          <a:prstGeom prst="rect">
            <a:avLst/>
          </a:prstGeom>
          <a:noFill/>
        </p:spPr>
        <p:txBody>
          <a:bodyPr wrap="square" anchor="t" lIns="0" rIns="0" tIns="0" bIns="0">
            <a:spAutoFit/>
          </a:bodyPr>
          <a:lstStyle/>
          <a:p>
            <a:pPr algn="l">
              <a:lnSpc>
                <a:spcPct val="100000"/>
              </a:lnSpc>
              <a:spcAft>
                <a:spcPts val="400"/>
              </a:spcAft>
            </a:pPr>
            <a:r>
              <a:rPr sz="1200" b="1" i="0">
                <a:solidFill>
                  <a:srgbClr val="686F7D"/>
                </a:solidFill>
                <a:latin typeface="Calibri"/>
              </a:rPr>
              <a:t>OPTION A</a:t>
            </a:r>
          </a:p>
        </p:txBody>
      </p:sp>
      <p:sp>
        <p:nvSpPr>
          <p:cNvPr id="12" name="TextBox 11"/>
          <p:cNvSpPr txBox="1"/>
          <p:nvPr/>
        </p:nvSpPr>
        <p:spPr>
          <a:xfrm>
            <a:off x="640080" y="2395728"/>
            <a:ext cx="324612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16325C"/>
                </a:solidFill>
                <a:latin typeface="Calibri"/>
              </a:rPr>
              <a:t>Fully air-gapped</a:t>
            </a:r>
          </a:p>
        </p:txBody>
      </p:sp>
      <p:sp>
        <p:nvSpPr>
          <p:cNvPr id="13" name="TextBox 12"/>
          <p:cNvSpPr txBox="1"/>
          <p:nvPr/>
        </p:nvSpPr>
        <p:spPr>
          <a:xfrm>
            <a:off x="640080" y="2880360"/>
            <a:ext cx="3246120" cy="1371600"/>
          </a:xfrm>
          <a:prstGeom prst="rect">
            <a:avLst/>
          </a:prstGeom>
          <a:noFill/>
        </p:spPr>
        <p:txBody>
          <a:bodyPr wrap="square" anchor="t" lIns="0" rIns="0" tIns="0" bIns="0">
            <a:spAutoFit/>
          </a:bodyPr>
          <a:lstStyle/>
          <a:p>
            <a:pPr algn="l">
              <a:lnSpc>
                <a:spcPct val="115000"/>
              </a:lnSpc>
              <a:spcAft>
                <a:spcPts val="400"/>
              </a:spcAft>
            </a:pPr>
            <a:r>
              <a:rPr sz="1150" b="0" i="0">
                <a:solidFill>
                  <a:srgbClr val="3A4356"/>
                </a:solidFill>
                <a:latin typeface="Calibri"/>
              </a:rPr>
              <a:t>Everything on our VMs. AI features off via the built-in AIR-GAPPED switch (already implemented and tested). Deterministic engines fully working.</a:t>
            </a:r>
          </a:p>
        </p:txBody>
      </p:sp>
      <p:sp>
        <p:nvSpPr>
          <p:cNvPr id="14" name="TextBox 13"/>
          <p:cNvSpPr txBox="1"/>
          <p:nvPr/>
        </p:nvSpPr>
        <p:spPr>
          <a:xfrm>
            <a:off x="640080" y="4434840"/>
            <a:ext cx="3246120" cy="685800"/>
          </a:xfrm>
          <a:prstGeom prst="rect">
            <a:avLst/>
          </a:prstGeom>
          <a:noFill/>
        </p:spPr>
        <p:txBody>
          <a:bodyPr wrap="square" anchor="t" lIns="0" rIns="0" tIns="0" bIns="0">
            <a:spAutoFit/>
          </a:bodyPr>
          <a:lstStyle/>
          <a:p>
            <a:pPr algn="l">
              <a:lnSpc>
                <a:spcPct val="110000"/>
              </a:lnSpc>
              <a:spcAft>
                <a:spcPts val="400"/>
              </a:spcAft>
            </a:pPr>
            <a:r>
              <a:rPr sz="1200" b="1" i="0">
                <a:solidFill>
                  <a:srgbClr val="2A7F50"/>
                </a:solidFill>
                <a:latin typeface="Calibri"/>
              </a:rPr>
              <a:t>+ </a:t>
            </a:r>
            <a:r>
              <a:rPr sz="1100" b="0" i="0">
                <a:solidFill>
                  <a:srgbClr val="3A4356"/>
                </a:solidFill>
                <a:latin typeface="Calibri"/>
              </a:rPr>
              <a:t>Zero external connections — provable today, switch is built</a:t>
            </a:r>
          </a:p>
        </p:txBody>
      </p:sp>
      <p:sp>
        <p:nvSpPr>
          <p:cNvPr id="15" name="TextBox 14"/>
          <p:cNvSpPr txBox="1"/>
          <p:nvPr/>
        </p:nvSpPr>
        <p:spPr>
          <a:xfrm>
            <a:off x="640080" y="5212080"/>
            <a:ext cx="3246120" cy="685800"/>
          </a:xfrm>
          <a:prstGeom prst="rect">
            <a:avLst/>
          </a:prstGeom>
          <a:noFill/>
        </p:spPr>
        <p:txBody>
          <a:bodyPr wrap="square" anchor="t" lIns="0" rIns="0" tIns="0" bIns="0">
            <a:spAutoFit/>
          </a:bodyPr>
          <a:lstStyle/>
          <a:p>
            <a:pPr algn="l">
              <a:lnSpc>
                <a:spcPct val="110000"/>
              </a:lnSpc>
              <a:spcAft>
                <a:spcPts val="400"/>
              </a:spcAft>
            </a:pPr>
            <a:r>
              <a:rPr sz="1200" b="1" i="0">
                <a:solidFill>
                  <a:srgbClr val="B03A2E"/>
                </a:solidFill>
                <a:latin typeface="Calibri"/>
              </a:rPr>
              <a:t>– </a:t>
            </a:r>
            <a:r>
              <a:rPr sz="1100" b="0" i="0">
                <a:solidFill>
                  <a:srgbClr val="3A4356"/>
                </a:solidFill>
                <a:latin typeface="Calibri"/>
              </a:rPr>
              <a:t>Reduced AI capability</a:t>
            </a:r>
          </a:p>
        </p:txBody>
      </p:sp>
      <p:sp>
        <p:nvSpPr>
          <p:cNvPr id="16" name="Rounded Rectangle 15"/>
          <p:cNvSpPr/>
          <p:nvPr/>
        </p:nvSpPr>
        <p:spPr>
          <a:xfrm>
            <a:off x="4297680" y="1874519"/>
            <a:ext cx="3657600" cy="411480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1874519"/>
            <a:ext cx="3657600" cy="822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2057400"/>
            <a:ext cx="3246120" cy="320040"/>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OPTION B  </a:t>
            </a:r>
            <a:r>
              <a:rPr sz="1200" b="1" i="0">
                <a:solidFill>
                  <a:srgbClr val="1D6FB8"/>
                </a:solidFill>
                <a:latin typeface="Segoe UI Emoji"/>
              </a:rPr>
              <a:t>★</a:t>
            </a:r>
            <a:r>
              <a:rPr sz="1200" b="1" i="0">
                <a:solidFill>
                  <a:srgbClr val="1D6FB8"/>
                </a:solidFill>
                <a:latin typeface="Calibri"/>
              </a:rPr>
              <a:t> RECOMMENDED</a:t>
            </a:r>
          </a:p>
        </p:txBody>
      </p:sp>
      <p:sp>
        <p:nvSpPr>
          <p:cNvPr id="19" name="TextBox 18"/>
          <p:cNvSpPr txBox="1"/>
          <p:nvPr/>
        </p:nvSpPr>
        <p:spPr>
          <a:xfrm>
            <a:off x="4526280" y="2395728"/>
            <a:ext cx="324612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16325C"/>
                </a:solidFill>
                <a:latin typeface="Calibri"/>
              </a:rPr>
              <a:t>Private AI, on-prem core</a:t>
            </a:r>
          </a:p>
        </p:txBody>
      </p:sp>
      <p:sp>
        <p:nvSpPr>
          <p:cNvPr id="20" name="TextBox 19"/>
          <p:cNvSpPr txBox="1"/>
          <p:nvPr/>
        </p:nvSpPr>
        <p:spPr>
          <a:xfrm>
            <a:off x="4526280" y="2880360"/>
            <a:ext cx="3246120" cy="1371600"/>
          </a:xfrm>
          <a:prstGeom prst="rect">
            <a:avLst/>
          </a:prstGeom>
          <a:noFill/>
        </p:spPr>
        <p:txBody>
          <a:bodyPr wrap="square" anchor="t" lIns="0" rIns="0" tIns="0" bIns="0">
            <a:spAutoFit/>
          </a:bodyPr>
          <a:lstStyle/>
          <a:p>
            <a:pPr algn="l">
              <a:lnSpc>
                <a:spcPct val="115000"/>
              </a:lnSpc>
              <a:spcAft>
                <a:spcPts val="400"/>
              </a:spcAft>
            </a:pPr>
            <a:r>
              <a:rPr sz="1150" b="0" i="0">
                <a:solidFill>
                  <a:srgbClr val="3A4356"/>
                </a:solidFill>
                <a:latin typeface="Calibri"/>
              </a:rPr>
              <a:t>Platform on our VMs. AI calls go to Claude running in OUR OWN cloud tenancy over a private link — no public internet, no data retention.</a:t>
            </a:r>
          </a:p>
        </p:txBody>
      </p:sp>
      <p:sp>
        <p:nvSpPr>
          <p:cNvPr id="21" name="TextBox 20"/>
          <p:cNvSpPr txBox="1"/>
          <p:nvPr/>
        </p:nvSpPr>
        <p:spPr>
          <a:xfrm>
            <a:off x="4526280" y="4434840"/>
            <a:ext cx="3246120" cy="685800"/>
          </a:xfrm>
          <a:prstGeom prst="rect">
            <a:avLst/>
          </a:prstGeom>
          <a:noFill/>
        </p:spPr>
        <p:txBody>
          <a:bodyPr wrap="square" anchor="t" lIns="0" rIns="0" tIns="0" bIns="0">
            <a:spAutoFit/>
          </a:bodyPr>
          <a:lstStyle/>
          <a:p>
            <a:pPr algn="l">
              <a:lnSpc>
                <a:spcPct val="110000"/>
              </a:lnSpc>
              <a:spcAft>
                <a:spcPts val="400"/>
              </a:spcAft>
            </a:pPr>
            <a:r>
              <a:rPr sz="1200" b="1" i="0">
                <a:solidFill>
                  <a:srgbClr val="2A7F50"/>
                </a:solidFill>
                <a:latin typeface="Calibri"/>
              </a:rPr>
              <a:t>+ </a:t>
            </a:r>
            <a:r>
              <a:rPr sz="1100" b="0" i="0">
                <a:solidFill>
                  <a:srgbClr val="3A4356"/>
                </a:solidFill>
                <a:latin typeface="Calibri"/>
              </a:rPr>
              <a:t>Full capability + data control — routing already BUILT (one setting)</a:t>
            </a:r>
          </a:p>
        </p:txBody>
      </p:sp>
      <p:sp>
        <p:nvSpPr>
          <p:cNvPr id="22" name="TextBox 21"/>
          <p:cNvSpPr txBox="1"/>
          <p:nvPr/>
        </p:nvSpPr>
        <p:spPr>
          <a:xfrm>
            <a:off x="4526280" y="5212080"/>
            <a:ext cx="3246120" cy="685800"/>
          </a:xfrm>
          <a:prstGeom prst="rect">
            <a:avLst/>
          </a:prstGeom>
          <a:noFill/>
        </p:spPr>
        <p:txBody>
          <a:bodyPr wrap="square" anchor="t" lIns="0" rIns="0" tIns="0" bIns="0">
            <a:spAutoFit/>
          </a:bodyPr>
          <a:lstStyle/>
          <a:p>
            <a:pPr algn="l">
              <a:lnSpc>
                <a:spcPct val="110000"/>
              </a:lnSpc>
              <a:spcAft>
                <a:spcPts val="400"/>
              </a:spcAft>
            </a:pPr>
            <a:r>
              <a:rPr sz="1200" b="1" i="0">
                <a:solidFill>
                  <a:srgbClr val="B03A2E"/>
                </a:solidFill>
                <a:latin typeface="Calibri"/>
              </a:rPr>
              <a:t>– </a:t>
            </a:r>
            <a:r>
              <a:rPr sz="1100" b="0" i="0">
                <a:solidFill>
                  <a:srgbClr val="3A4356"/>
                </a:solidFill>
                <a:latin typeface="Calibri"/>
              </a:rPr>
              <a:t>Requires cloud tenancy sign-off</a:t>
            </a:r>
          </a:p>
        </p:txBody>
      </p:sp>
      <p:sp>
        <p:nvSpPr>
          <p:cNvPr id="23" name="Rounded Rectangle 22"/>
          <p:cNvSpPr/>
          <p:nvPr/>
        </p:nvSpPr>
        <p:spPr>
          <a:xfrm>
            <a:off x="8183879" y="1874519"/>
            <a:ext cx="3657600" cy="4114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83879" y="1874519"/>
            <a:ext cx="3657600" cy="82296"/>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9" y="2057400"/>
            <a:ext cx="3246120" cy="320040"/>
          </a:xfrm>
          <a:prstGeom prst="rect">
            <a:avLst/>
          </a:prstGeom>
          <a:noFill/>
        </p:spPr>
        <p:txBody>
          <a:bodyPr wrap="square" anchor="t" lIns="0" rIns="0" tIns="0" bIns="0">
            <a:spAutoFit/>
          </a:bodyPr>
          <a:lstStyle/>
          <a:p>
            <a:pPr algn="l">
              <a:lnSpc>
                <a:spcPct val="100000"/>
              </a:lnSpc>
              <a:spcAft>
                <a:spcPts val="400"/>
              </a:spcAft>
            </a:pPr>
            <a:r>
              <a:rPr sz="1200" b="1" i="0">
                <a:solidFill>
                  <a:srgbClr val="B03A2E"/>
                </a:solidFill>
                <a:latin typeface="Calibri"/>
              </a:rPr>
              <a:t>OPTION C</a:t>
            </a:r>
          </a:p>
        </p:txBody>
      </p:sp>
      <p:sp>
        <p:nvSpPr>
          <p:cNvPr id="26" name="TextBox 25"/>
          <p:cNvSpPr txBox="1"/>
          <p:nvPr/>
        </p:nvSpPr>
        <p:spPr>
          <a:xfrm>
            <a:off x="8412479" y="2395728"/>
            <a:ext cx="324612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16325C"/>
                </a:solidFill>
                <a:latin typeface="Calibri"/>
              </a:rPr>
              <a:t>Public AI API</a:t>
            </a:r>
          </a:p>
        </p:txBody>
      </p:sp>
      <p:sp>
        <p:nvSpPr>
          <p:cNvPr id="27" name="TextBox 26"/>
          <p:cNvSpPr txBox="1"/>
          <p:nvPr/>
        </p:nvSpPr>
        <p:spPr>
          <a:xfrm>
            <a:off x="8412479" y="2880360"/>
            <a:ext cx="3246120" cy="1371600"/>
          </a:xfrm>
          <a:prstGeom prst="rect">
            <a:avLst/>
          </a:prstGeom>
          <a:noFill/>
        </p:spPr>
        <p:txBody>
          <a:bodyPr wrap="square" anchor="t" lIns="0" rIns="0" tIns="0" bIns="0">
            <a:spAutoFit/>
          </a:bodyPr>
          <a:lstStyle/>
          <a:p>
            <a:pPr algn="l">
              <a:lnSpc>
                <a:spcPct val="115000"/>
              </a:lnSpc>
              <a:spcAft>
                <a:spcPts val="400"/>
              </a:spcAft>
            </a:pPr>
            <a:r>
              <a:rPr sz="1150" b="0" i="0">
                <a:solidFill>
                  <a:srgbClr val="3A4356"/>
                </a:solidFill>
                <a:latin typeface="Calibri"/>
              </a:rPr>
              <a:t>Platform on-prem but AI calls to the public API.</a:t>
            </a:r>
          </a:p>
        </p:txBody>
      </p:sp>
      <p:sp>
        <p:nvSpPr>
          <p:cNvPr id="28" name="TextBox 27"/>
          <p:cNvSpPr txBox="1"/>
          <p:nvPr/>
        </p:nvSpPr>
        <p:spPr>
          <a:xfrm>
            <a:off x="8412479" y="4434840"/>
            <a:ext cx="3246120" cy="685800"/>
          </a:xfrm>
          <a:prstGeom prst="rect">
            <a:avLst/>
          </a:prstGeom>
          <a:noFill/>
        </p:spPr>
        <p:txBody>
          <a:bodyPr wrap="square" anchor="t" lIns="0" rIns="0" tIns="0" bIns="0">
            <a:spAutoFit/>
          </a:bodyPr>
          <a:lstStyle/>
          <a:p>
            <a:pPr algn="l">
              <a:lnSpc>
                <a:spcPct val="110000"/>
              </a:lnSpc>
              <a:spcAft>
                <a:spcPts val="400"/>
              </a:spcAft>
            </a:pPr>
            <a:r>
              <a:rPr sz="1200" b="1" i="0">
                <a:solidFill>
                  <a:srgbClr val="2A7F50"/>
                </a:solidFill>
                <a:latin typeface="Calibri"/>
              </a:rPr>
              <a:t>+ </a:t>
            </a:r>
            <a:r>
              <a:rPr sz="1100" b="0" i="0">
                <a:solidFill>
                  <a:srgbClr val="3A4356"/>
                </a:solidFill>
                <a:latin typeface="Calibri"/>
              </a:rPr>
              <a:t>Simplest</a:t>
            </a:r>
          </a:p>
        </p:txBody>
      </p:sp>
      <p:sp>
        <p:nvSpPr>
          <p:cNvPr id="29" name="TextBox 28"/>
          <p:cNvSpPr txBox="1"/>
          <p:nvPr/>
        </p:nvSpPr>
        <p:spPr>
          <a:xfrm>
            <a:off x="8412479" y="5212080"/>
            <a:ext cx="3246120" cy="685800"/>
          </a:xfrm>
          <a:prstGeom prst="rect">
            <a:avLst/>
          </a:prstGeom>
          <a:noFill/>
        </p:spPr>
        <p:txBody>
          <a:bodyPr wrap="square" anchor="t" lIns="0" rIns="0" tIns="0" bIns="0">
            <a:spAutoFit/>
          </a:bodyPr>
          <a:lstStyle/>
          <a:p>
            <a:pPr algn="l">
              <a:lnSpc>
                <a:spcPct val="110000"/>
              </a:lnSpc>
              <a:spcAft>
                <a:spcPts val="400"/>
              </a:spcAft>
            </a:pPr>
            <a:r>
              <a:rPr sz="1200" b="1" i="0">
                <a:solidFill>
                  <a:srgbClr val="B03A2E"/>
                </a:solidFill>
                <a:latin typeface="Calibri"/>
              </a:rPr>
              <a:t>– </a:t>
            </a:r>
            <a:r>
              <a:rPr sz="1100" b="0" i="0">
                <a:solidFill>
                  <a:srgbClr val="3A4356"/>
                </a:solidFill>
                <a:latin typeface="Calibri"/>
              </a:rPr>
              <a:t>Fails our requirement — photos would traverse a public API</a:t>
            </a:r>
          </a:p>
        </p:txBody>
      </p:sp>
      <p:sp>
        <p:nvSpPr>
          <p:cNvPr id="30" name="TextBox 29"/>
          <p:cNvSpPr txBox="1"/>
          <p:nvPr/>
        </p:nvSpPr>
        <p:spPr>
          <a:xfrm>
            <a:off x="411480" y="6172200"/>
            <a:ext cx="11338560" cy="45720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Recommendation: Option B — the software for BOTH A and B is already built; what remains is infrastructure sign-off.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ARCHITECTURE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Target architecture — everything inside our walls</a:t>
            </a:r>
          </a:p>
        </p:txBody>
      </p:sp>
      <p:sp>
        <p:nvSpPr>
          <p:cNvPr id="9" name="Rounded Rectangle 8"/>
          <p:cNvSpPr/>
          <p:nvPr/>
        </p:nvSpPr>
        <p:spPr>
          <a:xfrm>
            <a:off x="411480" y="1783080"/>
            <a:ext cx="8412480" cy="4526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74519"/>
            <a:ext cx="77724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686F7D"/>
                </a:solidFill>
                <a:latin typeface="Calibri"/>
              </a:rPr>
              <a:t>COMPANY INTERNAL NETWORK</a:t>
            </a:r>
          </a:p>
        </p:txBody>
      </p:sp>
      <p:sp>
        <p:nvSpPr>
          <p:cNvPr id="11" name="Rounded Rectangle 10"/>
          <p:cNvSpPr/>
          <p:nvPr/>
        </p:nvSpPr>
        <p:spPr>
          <a:xfrm>
            <a:off x="777240" y="2240280"/>
            <a:ext cx="3657600"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1D6FB8"/>
                </a:solidFill>
                <a:latin typeface="Calibri"/>
              </a:rPr>
              <a:t>Engineers (browser)  +  CAPEE</a:t>
            </a:r>
          </a:p>
          <a:p>
            <a:pPr algn="l"/>
            <a:r>
              <a:rPr sz="950">
                <a:solidFill>
                  <a:srgbClr val="3A4356"/>
                </a:solidFill>
                <a:latin typeface="Calibri"/>
              </a:rPr>
              <a:t>single sign-on (Azure AD)</a:t>
            </a:r>
          </a:p>
        </p:txBody>
      </p:sp>
      <p:sp>
        <p:nvSpPr>
          <p:cNvPr id="12" name="Rectangle 11"/>
          <p:cNvSpPr/>
          <p:nvPr/>
        </p:nvSpPr>
        <p:spPr>
          <a:xfrm>
            <a:off x="777240" y="2240280"/>
            <a:ext cx="64008" cy="6858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09160" y="2240280"/>
            <a:ext cx="3840480"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1D6FB8"/>
                </a:solidFill>
                <a:latin typeface="Calibri"/>
              </a:rPr>
              <a:t>Corporate API Gateway</a:t>
            </a:r>
          </a:p>
          <a:p>
            <a:pPr algn="l"/>
            <a:r>
              <a:rPr sz="950">
                <a:solidFill>
                  <a:srgbClr val="3A4356"/>
                </a:solidFill>
                <a:latin typeface="Calibri"/>
              </a:rPr>
              <a:t>authentication · rate limits · audit logs</a:t>
            </a:r>
          </a:p>
        </p:txBody>
      </p:sp>
      <p:sp>
        <p:nvSpPr>
          <p:cNvPr id="14" name="Rectangle 13"/>
          <p:cNvSpPr/>
          <p:nvPr/>
        </p:nvSpPr>
        <p:spPr>
          <a:xfrm>
            <a:off x="4709160" y="2240280"/>
            <a:ext cx="64008" cy="6858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2468880" y="2999232"/>
            <a:ext cx="292608" cy="292608"/>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wn Arrow 15"/>
          <p:cNvSpPr/>
          <p:nvPr/>
        </p:nvSpPr>
        <p:spPr>
          <a:xfrm>
            <a:off x="6492240" y="2999232"/>
            <a:ext cx="292608" cy="292608"/>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3364992"/>
            <a:ext cx="7772400"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6B3FA0"/>
                </a:solidFill>
                <a:latin typeface="Calibri"/>
              </a:rPr>
              <a:t>CostVision server (frontend + backend on our VM)</a:t>
            </a:r>
          </a:p>
          <a:p>
            <a:pPr algn="l"/>
            <a:r>
              <a:rPr sz="950">
                <a:solidFill>
                  <a:srgbClr val="3A4356"/>
                </a:solidFill>
                <a:latin typeface="Calibri"/>
              </a:rPr>
              <a:t>geometry engine (CAD, in-memory) · 18 cost engines · learning loop · report generation</a:t>
            </a:r>
          </a:p>
        </p:txBody>
      </p:sp>
      <p:sp>
        <p:nvSpPr>
          <p:cNvPr id="18" name="Rectangle 17"/>
          <p:cNvSpPr/>
          <p:nvPr/>
        </p:nvSpPr>
        <p:spPr>
          <a:xfrm>
            <a:off x="777240" y="3364992"/>
            <a:ext cx="64008" cy="96012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2468880" y="4407408"/>
            <a:ext cx="292608" cy="292608"/>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6492240" y="4407408"/>
            <a:ext cx="292608" cy="292608"/>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4773168"/>
            <a:ext cx="3657600" cy="777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0D7D71"/>
                </a:solidFill>
                <a:latin typeface="Calibri"/>
              </a:rPr>
              <a:t>Corporate database (PostgreSQL)</a:t>
            </a:r>
          </a:p>
          <a:p>
            <a:pPr algn="l"/>
            <a:r>
              <a:rPr sz="950">
                <a:solidFill>
                  <a:srgbClr val="3A4356"/>
                </a:solidFill>
                <a:latin typeface="Calibri"/>
              </a:rPr>
              <a:t>rates · knowledge base · encrypted at rest</a:t>
            </a:r>
          </a:p>
        </p:txBody>
      </p:sp>
      <p:sp>
        <p:nvSpPr>
          <p:cNvPr id="22" name="Rectangle 21"/>
          <p:cNvSpPr/>
          <p:nvPr/>
        </p:nvSpPr>
        <p:spPr>
          <a:xfrm>
            <a:off x="777240" y="4773168"/>
            <a:ext cx="64008" cy="777240"/>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709160" y="4773168"/>
            <a:ext cx="3840480" cy="77724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99651A"/>
                </a:solidFill>
                <a:latin typeface="Calibri"/>
              </a:rPr>
              <a:t>Internal AI gateway</a:t>
            </a:r>
          </a:p>
          <a:p>
            <a:pPr algn="l"/>
            <a:r>
              <a:rPr sz="950">
                <a:solidFill>
                  <a:srgbClr val="3A4356"/>
                </a:solidFill>
                <a:latin typeface="Calibri"/>
              </a:rPr>
              <a:t>ONLY allowed exit · inspected · logged</a:t>
            </a:r>
          </a:p>
        </p:txBody>
      </p:sp>
      <p:sp>
        <p:nvSpPr>
          <p:cNvPr id="24" name="Rectangle 23"/>
          <p:cNvSpPr/>
          <p:nvPr/>
        </p:nvSpPr>
        <p:spPr>
          <a:xfrm>
            <a:off x="4709160" y="4773168"/>
            <a:ext cx="64008" cy="77724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0" y="4480560"/>
            <a:ext cx="2651760" cy="1828800"/>
          </a:xfrm>
          <a:prstGeom prst="roundRect">
            <a:avLst>
              <a:gd name="adj" fmla="val 8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4617720"/>
            <a:ext cx="2286000" cy="1645920"/>
          </a:xfrm>
          <a:prstGeom prst="rect">
            <a:avLst/>
          </a:prstGeom>
          <a:noFill/>
        </p:spPr>
        <p:txBody>
          <a:bodyPr wrap="square" anchor="t" lIns="0" rIns="0" tIns="0" bIns="0">
            <a:spAutoFit/>
          </a:bodyPr>
          <a:lstStyle/>
          <a:p>
            <a:pPr algn="l">
              <a:lnSpc>
                <a:spcPct val="110000"/>
              </a:lnSpc>
              <a:spcAft>
                <a:spcPts val="400"/>
              </a:spcAft>
            </a:pPr>
            <a:r>
              <a:rPr sz="1250" b="1" i="0">
                <a:solidFill>
                  <a:srgbClr val="1D6FB8"/>
                </a:solidFill>
                <a:latin typeface="Calibri"/>
              </a:rPr>
              <a:t>Our cloud tenancy</a:t>
            </a:r>
          </a:p>
          <a:p>
            <a:pPr algn="l">
              <a:lnSpc>
                <a:spcPct val="110000"/>
              </a:lnSpc>
              <a:spcAft>
                <a:spcPts val="400"/>
              </a:spcAft>
            </a:pPr>
            <a:r>
              <a:rPr sz="1050" b="0" i="0">
                <a:solidFill>
                  <a:srgbClr val="3A4356"/>
                </a:solidFill>
                <a:latin typeface="Calibri"/>
              </a:rPr>
              <a:t>Claude on AWS Bedrock / Google Vertex</a:t>
            </a:r>
          </a:p>
          <a:p>
            <a:pPr algn="l">
              <a:lnSpc>
                <a:spcPct val="110000"/>
              </a:lnSpc>
              <a:spcAft>
                <a:spcPts val="400"/>
              </a:spcAft>
            </a:pPr>
            <a:r>
              <a:rPr sz="1000" b="0" i="0">
                <a:solidFill>
                  <a:srgbClr val="686F7D"/>
                </a:solidFill>
                <a:latin typeface="Calibri"/>
              </a:rPr>
              <a:t>private link · no public internet · zero data retention</a:t>
            </a:r>
          </a:p>
        </p:txBody>
      </p:sp>
      <p:sp>
        <p:nvSpPr>
          <p:cNvPr id="27" name="Right Arrow 26"/>
          <p:cNvSpPr/>
          <p:nvPr/>
        </p:nvSpPr>
        <p:spPr>
          <a:xfrm>
            <a:off x="8613648" y="5029200"/>
            <a:ext cx="502920" cy="274320"/>
          </a:xfrm>
          <a:prstGeom prst="rightArrow">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0" y="2240280"/>
            <a:ext cx="2651760" cy="2011680"/>
          </a:xfrm>
          <a:prstGeom prst="rect">
            <a:avLst/>
          </a:prstGeom>
          <a:noFill/>
        </p:spPr>
        <p:txBody>
          <a:bodyPr wrap="square" anchor="t" lIns="0" rIns="0" tIns="0" bIns="0">
            <a:spAutoFit/>
          </a:bodyPr>
          <a:lstStyle/>
          <a:p>
            <a:pPr algn="l">
              <a:lnSpc>
                <a:spcPct val="110000"/>
              </a:lnSpc>
              <a:spcAft>
                <a:spcPts val="400"/>
              </a:spcAft>
            </a:pPr>
            <a:r>
              <a:rPr sz="1250" b="1" i="0">
                <a:solidFill>
                  <a:srgbClr val="16325C"/>
                </a:solidFill>
                <a:latin typeface="Calibri"/>
              </a:rPr>
              <a:t>Zero-trust rules</a:t>
            </a:r>
          </a:p>
          <a:p>
            <a:pPr algn="l">
              <a:lnSpc>
                <a:spcPct val="110000"/>
              </a:lnSpc>
              <a:spcAft>
                <a:spcPts val="400"/>
              </a:spcAft>
            </a:pPr>
            <a:r>
              <a:rPr sz="1050" b="0" i="0">
                <a:solidFill>
                  <a:srgbClr val="3A4356"/>
                </a:solidFill>
                <a:latin typeface="Calibri"/>
              </a:rPr>
              <a:t>• Every request authenticated (Azure AD)</a:t>
            </a:r>
          </a:p>
          <a:p>
            <a:pPr algn="l">
              <a:lnSpc>
                <a:spcPct val="110000"/>
              </a:lnSpc>
              <a:spcAft>
                <a:spcPts val="400"/>
              </a:spcAft>
            </a:pPr>
            <a:r>
              <a:rPr sz="1050" b="0" i="0">
                <a:solidFill>
                  <a:srgbClr val="3A4356"/>
                </a:solidFill>
                <a:latin typeface="Calibri"/>
              </a:rPr>
              <a:t>• Deny-all egress except the AI gateway</a:t>
            </a:r>
          </a:p>
          <a:p>
            <a:pPr algn="l">
              <a:lnSpc>
                <a:spcPct val="110000"/>
              </a:lnSpc>
              <a:spcAft>
                <a:spcPts val="400"/>
              </a:spcAft>
            </a:pPr>
            <a:r>
              <a:rPr sz="1050" b="0" i="0">
                <a:solidFill>
                  <a:srgbClr val="3A4356"/>
                </a:solidFill>
                <a:latin typeface="Calibri"/>
              </a:rPr>
              <a:t>• Role-based access (engineer / lead / admin / CAPEE service)</a:t>
            </a:r>
          </a:p>
          <a:p>
            <a:pPr algn="l">
              <a:lnSpc>
                <a:spcPct val="110000"/>
              </a:lnSpc>
              <a:spcAft>
                <a:spcPts val="400"/>
              </a:spcAft>
            </a:pPr>
            <a:r>
              <a:rPr sz="1050" b="0" i="0">
                <a:solidFill>
                  <a:srgbClr val="3A4356"/>
                </a:solidFill>
                <a:latin typeface="Calibri"/>
              </a:rPr>
              <a:t>• CAD pulled from PLM vault, never stored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CAD DATA PROTECTION</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How CAD data is protected</a:t>
            </a:r>
          </a:p>
        </p:txBody>
      </p:sp>
      <p:sp>
        <p:nvSpPr>
          <p:cNvPr id="9" name="Rounded Rectangle 8"/>
          <p:cNvSpPr/>
          <p:nvPr/>
        </p:nvSpPr>
        <p:spPr>
          <a:xfrm>
            <a:off x="411480" y="1920240"/>
            <a:ext cx="11384280"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29968"/>
            <a:ext cx="448056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CAD model opened &amp; measured</a:t>
            </a:r>
          </a:p>
        </p:txBody>
      </p:sp>
      <p:sp>
        <p:nvSpPr>
          <p:cNvPr id="11" name="TextBox 10"/>
          <p:cNvSpPr txBox="1"/>
          <p:nvPr/>
        </p:nvSpPr>
        <p:spPr>
          <a:xfrm>
            <a:off x="5303520" y="2029968"/>
            <a:ext cx="347472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Inside our backend (OCCT engine)</a:t>
            </a:r>
          </a:p>
        </p:txBody>
      </p:sp>
      <p:sp>
        <p:nvSpPr>
          <p:cNvPr id="12" name="TextBox 11"/>
          <p:cNvSpPr txBox="1"/>
          <p:nvPr/>
        </p:nvSpPr>
        <p:spPr>
          <a:xfrm>
            <a:off x="8869680" y="2029968"/>
            <a:ext cx="274320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2A7F50"/>
                </a:solidFill>
                <a:latin typeface="Calibri"/>
              </a:rPr>
              <a:t>✓  Already local — verified</a:t>
            </a:r>
          </a:p>
        </p:txBody>
      </p:sp>
      <p:sp>
        <p:nvSpPr>
          <p:cNvPr id="13" name="Rounded Rectangle 12"/>
          <p:cNvSpPr/>
          <p:nvPr/>
        </p:nvSpPr>
        <p:spPr>
          <a:xfrm>
            <a:off x="411480" y="2587752"/>
            <a:ext cx="11384280" cy="566928"/>
          </a:xfrm>
          <a:prstGeom prst="roundRect">
            <a:avLst>
              <a:gd name="adj" fmla="val 14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697480"/>
            <a:ext cx="448056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Feature detection (holes, threads, walls)</a:t>
            </a:r>
          </a:p>
        </p:txBody>
      </p:sp>
      <p:sp>
        <p:nvSpPr>
          <p:cNvPr id="15" name="TextBox 14"/>
          <p:cNvSpPr txBox="1"/>
          <p:nvPr/>
        </p:nvSpPr>
        <p:spPr>
          <a:xfrm>
            <a:off x="5303520" y="2697480"/>
            <a:ext cx="347472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Inside our backend</a:t>
            </a:r>
          </a:p>
        </p:txBody>
      </p:sp>
      <p:sp>
        <p:nvSpPr>
          <p:cNvPr id="16" name="TextBox 15"/>
          <p:cNvSpPr txBox="1"/>
          <p:nvPr/>
        </p:nvSpPr>
        <p:spPr>
          <a:xfrm>
            <a:off x="8869680" y="2697480"/>
            <a:ext cx="274320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2A7F50"/>
                </a:solidFill>
                <a:latin typeface="Calibri"/>
              </a:rPr>
              <a:t>✓  Already local — verified</a:t>
            </a:r>
          </a:p>
        </p:txBody>
      </p:sp>
      <p:sp>
        <p:nvSpPr>
          <p:cNvPr id="17" name="Rounded Rectangle 16"/>
          <p:cNvSpPr/>
          <p:nvPr/>
        </p:nvSpPr>
        <p:spPr>
          <a:xfrm>
            <a:off x="411480" y="3255264"/>
            <a:ext cx="11384280"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364992"/>
            <a:ext cx="448056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BOM extraction from files</a:t>
            </a:r>
          </a:p>
        </p:txBody>
      </p:sp>
      <p:sp>
        <p:nvSpPr>
          <p:cNvPr id="19" name="TextBox 18"/>
          <p:cNvSpPr txBox="1"/>
          <p:nvPr/>
        </p:nvSpPr>
        <p:spPr>
          <a:xfrm>
            <a:off x="5303520" y="3364992"/>
            <a:ext cx="347472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Inside our backend (local parsers)</a:t>
            </a:r>
          </a:p>
        </p:txBody>
      </p:sp>
      <p:sp>
        <p:nvSpPr>
          <p:cNvPr id="20" name="TextBox 19"/>
          <p:cNvSpPr txBox="1"/>
          <p:nvPr/>
        </p:nvSpPr>
        <p:spPr>
          <a:xfrm>
            <a:off x="8869680" y="3364992"/>
            <a:ext cx="274320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2A7F50"/>
                </a:solidFill>
                <a:latin typeface="Calibri"/>
              </a:rPr>
              <a:t>✓  Already local — verified</a:t>
            </a:r>
          </a:p>
        </p:txBody>
      </p:sp>
      <p:sp>
        <p:nvSpPr>
          <p:cNvPr id="21" name="Rounded Rectangle 20"/>
          <p:cNvSpPr/>
          <p:nvPr/>
        </p:nvSpPr>
        <p:spPr>
          <a:xfrm>
            <a:off x="411480" y="3922776"/>
            <a:ext cx="11384280" cy="566928"/>
          </a:xfrm>
          <a:prstGeom prst="roundRect">
            <a:avLst>
              <a:gd name="adj" fmla="val 14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032504"/>
            <a:ext cx="448056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Cost calculation &amp; learning</a:t>
            </a:r>
          </a:p>
        </p:txBody>
      </p:sp>
      <p:sp>
        <p:nvSpPr>
          <p:cNvPr id="23" name="TextBox 22"/>
          <p:cNvSpPr txBox="1"/>
          <p:nvPr/>
        </p:nvSpPr>
        <p:spPr>
          <a:xfrm>
            <a:off x="5303520" y="4032504"/>
            <a:ext cx="347472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Inside our backend + our database</a:t>
            </a:r>
          </a:p>
        </p:txBody>
      </p:sp>
      <p:sp>
        <p:nvSpPr>
          <p:cNvPr id="24" name="TextBox 23"/>
          <p:cNvSpPr txBox="1"/>
          <p:nvPr/>
        </p:nvSpPr>
        <p:spPr>
          <a:xfrm>
            <a:off x="8869680" y="4032504"/>
            <a:ext cx="274320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2A7F50"/>
                </a:solidFill>
                <a:latin typeface="Calibri"/>
              </a:rPr>
              <a:t>✓  Already local — verified</a:t>
            </a:r>
          </a:p>
        </p:txBody>
      </p:sp>
      <p:sp>
        <p:nvSpPr>
          <p:cNvPr id="25" name="Rounded Rectangle 24"/>
          <p:cNvSpPr/>
          <p:nvPr/>
        </p:nvSpPr>
        <p:spPr>
          <a:xfrm>
            <a:off x="411480" y="4590288"/>
            <a:ext cx="11384280"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700016"/>
            <a:ext cx="448056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Photo analysis &amp; AI narrative</a:t>
            </a:r>
          </a:p>
        </p:txBody>
      </p:sp>
      <p:sp>
        <p:nvSpPr>
          <p:cNvPr id="27" name="TextBox 26"/>
          <p:cNvSpPr txBox="1"/>
          <p:nvPr/>
        </p:nvSpPr>
        <p:spPr>
          <a:xfrm>
            <a:off x="5303520" y="4700016"/>
            <a:ext cx="347472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Private AI endpoint (Option B)</a:t>
            </a:r>
          </a:p>
        </p:txBody>
      </p:sp>
      <p:sp>
        <p:nvSpPr>
          <p:cNvPr id="28" name="TextBox 27"/>
          <p:cNvSpPr txBox="1"/>
          <p:nvPr/>
        </p:nvSpPr>
        <p:spPr>
          <a:xfrm>
            <a:off x="8869680" y="4700016"/>
            <a:ext cx="274320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99651A"/>
                </a:solidFill>
                <a:latin typeface="Calibri"/>
              </a:rPr>
              <a:t>→  Routing BUILT — set one value</a:t>
            </a:r>
          </a:p>
        </p:txBody>
      </p:sp>
      <p:sp>
        <p:nvSpPr>
          <p:cNvPr id="29" name="Rounded Rectangle 28"/>
          <p:cNvSpPr/>
          <p:nvPr/>
        </p:nvSpPr>
        <p:spPr>
          <a:xfrm>
            <a:off x="411480" y="5257800"/>
            <a:ext cx="11384280" cy="566928"/>
          </a:xfrm>
          <a:prstGeom prst="roundRect">
            <a:avLst>
              <a:gd name="adj" fmla="val 14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367528"/>
            <a:ext cx="448056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6325C"/>
                </a:solidFill>
                <a:latin typeface="Calibri"/>
              </a:rPr>
              <a:t>CAD file storage</a:t>
            </a:r>
          </a:p>
        </p:txBody>
      </p:sp>
      <p:sp>
        <p:nvSpPr>
          <p:cNvPr id="31" name="TextBox 30"/>
          <p:cNvSpPr txBox="1"/>
          <p:nvPr/>
        </p:nvSpPr>
        <p:spPr>
          <a:xfrm>
            <a:off x="5303520" y="5367528"/>
            <a:ext cx="347472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3A4356"/>
                </a:solidFill>
                <a:latin typeface="Calibri"/>
              </a:rPr>
              <a:t>Nowhere — processed in memory only</a:t>
            </a:r>
          </a:p>
        </p:txBody>
      </p:sp>
      <p:sp>
        <p:nvSpPr>
          <p:cNvPr id="32" name="TextBox 31"/>
          <p:cNvSpPr txBox="1"/>
          <p:nvPr/>
        </p:nvSpPr>
        <p:spPr>
          <a:xfrm>
            <a:off x="8869680" y="5367528"/>
            <a:ext cx="274320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2A7F50"/>
                </a:solidFill>
                <a:latin typeface="Calibri"/>
              </a:rPr>
              <a:t>✓  Files never written to disk</a:t>
            </a:r>
          </a:p>
        </p:txBody>
      </p:sp>
      <p:sp>
        <p:nvSpPr>
          <p:cNvPr id="33" name="TextBox 32"/>
          <p:cNvSpPr txBox="1"/>
          <p:nvPr/>
        </p:nvSpPr>
        <p:spPr>
          <a:xfrm>
            <a:off x="411480" y="6035040"/>
            <a:ext cx="11338560" cy="548640"/>
          </a:xfrm>
          <a:prstGeom prst="rect">
            <a:avLst/>
          </a:prstGeom>
          <a:noFill/>
        </p:spPr>
        <p:txBody>
          <a:bodyPr wrap="square" anchor="t" lIns="0" rIns="0" tIns="0" bIns="0">
            <a:spAutoFit/>
          </a:bodyPr>
          <a:lstStyle/>
          <a:p>
            <a:pPr algn="l">
              <a:lnSpc>
                <a:spcPct val="115000"/>
              </a:lnSpc>
              <a:spcAft>
                <a:spcPts val="400"/>
              </a:spcAft>
            </a:pPr>
            <a:r>
              <a:rPr sz="1200" b="0" i="1">
                <a:solidFill>
                  <a:srgbClr val="686F7D"/>
                </a:solidFill>
                <a:latin typeface="Calibri"/>
              </a:rPr>
              <a:t>Plus: logs never contain CAD payloads; metadata goes to the corporate SIEM; and the "air-gapped" switch is now BUILT &amp; tested — security can PROVE zero egress in a witnessed firewall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INTEGRATION</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CostVision inside CAPEE — should-cost, upgraded</a:t>
            </a:r>
          </a:p>
        </p:txBody>
      </p:sp>
      <p:sp>
        <p:nvSpPr>
          <p:cNvPr id="9" name="Rounded Rectangle 8"/>
          <p:cNvSpPr/>
          <p:nvPr/>
        </p:nvSpPr>
        <p:spPr>
          <a:xfrm>
            <a:off x="411480" y="1828800"/>
            <a:ext cx="5120640"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4572000" cy="1645920"/>
          </a:xfrm>
          <a:prstGeom prst="rect">
            <a:avLst/>
          </a:prstGeom>
          <a:noFill/>
        </p:spPr>
        <p:txBody>
          <a:bodyPr wrap="square" anchor="t" lIns="0" rIns="0" tIns="0" bIns="0">
            <a:spAutoFit/>
          </a:bodyPr>
          <a:lstStyle/>
          <a:p>
            <a:pPr algn="l">
              <a:lnSpc>
                <a:spcPct val="112000"/>
              </a:lnSpc>
              <a:spcAft>
                <a:spcPts val="500"/>
              </a:spcAft>
            </a:pPr>
            <a:r>
              <a:rPr sz="1500" b="1" i="0">
                <a:solidFill>
                  <a:srgbClr val="16325C"/>
                </a:solidFill>
                <a:latin typeface="Calibri"/>
              </a:rPr>
              <a:t>CAPEE  (existing should-cost software)</a:t>
            </a:r>
          </a:p>
          <a:p>
            <a:pPr algn="l">
              <a:lnSpc>
                <a:spcPct val="112000"/>
              </a:lnSpc>
              <a:spcAft>
                <a:spcPts val="500"/>
              </a:spcAft>
            </a:pPr>
            <a:r>
              <a:rPr sz="1200" b="0" i="0">
                <a:solidFill>
                  <a:srgbClr val="3A4356"/>
                </a:solidFill>
                <a:latin typeface="Calibri"/>
              </a:rPr>
              <a:t>• Should-cost workflow, approvals, reporting</a:t>
            </a:r>
          </a:p>
          <a:p>
            <a:pPr algn="l">
              <a:lnSpc>
                <a:spcPct val="112000"/>
              </a:lnSpc>
              <a:spcAft>
                <a:spcPts val="500"/>
              </a:spcAft>
            </a:pPr>
            <a:r>
              <a:rPr sz="1200" b="0" i="0">
                <a:solidFill>
                  <a:srgbClr val="3A4356"/>
                </a:solidFill>
                <a:latin typeface="Calibri"/>
              </a:rPr>
              <a:t>• System of record — unchanged for users</a:t>
            </a:r>
          </a:p>
          <a:p>
            <a:pPr algn="l">
              <a:lnSpc>
                <a:spcPct val="112000"/>
              </a:lnSpc>
              <a:spcAft>
                <a:spcPts val="500"/>
              </a:spcAft>
            </a:pPr>
            <a:r>
              <a:rPr sz="1200" b="0" i="0">
                <a:solidFill>
                  <a:srgbClr val="3A4356"/>
                </a:solidFill>
                <a:latin typeface="Calibri"/>
              </a:rPr>
              <a:t>• Its costing engine now powered by CostVision</a:t>
            </a:r>
          </a:p>
        </p:txBody>
      </p:sp>
      <p:sp>
        <p:nvSpPr>
          <p:cNvPr id="11" name="Rounded Rectangle 10"/>
          <p:cNvSpPr/>
          <p:nvPr/>
        </p:nvSpPr>
        <p:spPr>
          <a:xfrm>
            <a:off x="6675120" y="1828800"/>
            <a:ext cx="5120640" cy="192024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2011680"/>
            <a:ext cx="4572000" cy="1645920"/>
          </a:xfrm>
          <a:prstGeom prst="rect">
            <a:avLst/>
          </a:prstGeom>
          <a:noFill/>
        </p:spPr>
        <p:txBody>
          <a:bodyPr wrap="square" anchor="t" lIns="0" rIns="0" tIns="0" bIns="0">
            <a:spAutoFit/>
          </a:bodyPr>
          <a:lstStyle/>
          <a:p>
            <a:pPr algn="l">
              <a:lnSpc>
                <a:spcPct val="112000"/>
              </a:lnSpc>
              <a:spcAft>
                <a:spcPts val="500"/>
              </a:spcAft>
            </a:pPr>
            <a:r>
              <a:rPr sz="1500" b="1" i="0">
                <a:solidFill>
                  <a:srgbClr val="1D6FB8"/>
                </a:solidFill>
                <a:latin typeface="Calibri"/>
              </a:rPr>
              <a:t>CostVision  (the engine it plugs in)</a:t>
            </a:r>
          </a:p>
          <a:p>
            <a:pPr algn="l">
              <a:lnSpc>
                <a:spcPct val="112000"/>
              </a:lnSpc>
              <a:spcAft>
                <a:spcPts val="500"/>
              </a:spcAft>
            </a:pPr>
            <a:r>
              <a:rPr sz="1200" b="0" i="0">
                <a:solidFill>
                  <a:srgbClr val="3A4356"/>
                </a:solidFill>
                <a:latin typeface="Calibri"/>
              </a:rPr>
              <a:t>• 18 physics cost engines + CAD reading</a:t>
            </a:r>
          </a:p>
          <a:p>
            <a:pPr algn="l">
              <a:lnSpc>
                <a:spcPct val="112000"/>
              </a:lnSpc>
              <a:spcAft>
                <a:spcPts val="500"/>
              </a:spcAft>
            </a:pPr>
            <a:r>
              <a:rPr sz="1200" b="0" i="0">
                <a:solidFill>
                  <a:srgbClr val="3A4356"/>
                </a:solidFill>
                <a:latin typeface="Calibri"/>
              </a:rPr>
              <a:t>• AI memory: similar parts, self-calibration</a:t>
            </a:r>
          </a:p>
          <a:p>
            <a:pPr algn="l">
              <a:lnSpc>
                <a:spcPct val="112000"/>
              </a:lnSpc>
              <a:spcAft>
                <a:spcPts val="500"/>
              </a:spcAft>
            </a:pPr>
            <a:r>
              <a:rPr sz="1200" b="0" i="0">
                <a:solidFill>
                  <a:srgbClr val="3A4356"/>
                </a:solidFill>
                <a:latin typeface="Calibri"/>
              </a:rPr>
              <a:t>• Autonomous findings for sourcing</a:t>
            </a:r>
          </a:p>
        </p:txBody>
      </p:sp>
      <p:sp>
        <p:nvSpPr>
          <p:cNvPr id="13" name="Right Arrow 12"/>
          <p:cNvSpPr/>
          <p:nvPr/>
        </p:nvSpPr>
        <p:spPr>
          <a:xfrm>
            <a:off x="5623560" y="2240280"/>
            <a:ext cx="960120" cy="365760"/>
          </a:xfrm>
          <a:prstGeom prst="rightArrow">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5623560" y="2880360"/>
            <a:ext cx="960120" cy="365760"/>
          </a:xfrm>
          <a:prstGeom prst="leftArrow">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0680" y="1920240"/>
            <a:ext cx="1371600" cy="274320"/>
          </a:xfrm>
          <a:prstGeom prst="rect">
            <a:avLst/>
          </a:prstGeom>
          <a:noFill/>
        </p:spPr>
        <p:txBody>
          <a:bodyPr wrap="square" anchor="t" lIns="0" rIns="0" tIns="0" bIns="0">
            <a:spAutoFit/>
          </a:bodyPr>
          <a:lstStyle/>
          <a:p>
            <a:pPr algn="ctr">
              <a:lnSpc>
                <a:spcPct val="100000"/>
              </a:lnSpc>
              <a:spcAft>
                <a:spcPts val="400"/>
              </a:spcAft>
            </a:pPr>
            <a:r>
              <a:rPr sz="950" b="1" i="0">
                <a:solidFill>
                  <a:srgbClr val="1D6FB8"/>
                </a:solidFill>
                <a:latin typeface="Calibri"/>
              </a:rPr>
              <a:t>requests</a:t>
            </a:r>
          </a:p>
        </p:txBody>
      </p:sp>
      <p:sp>
        <p:nvSpPr>
          <p:cNvPr id="16" name="TextBox 15"/>
          <p:cNvSpPr txBox="1"/>
          <p:nvPr/>
        </p:nvSpPr>
        <p:spPr>
          <a:xfrm>
            <a:off x="5440680" y="3291840"/>
            <a:ext cx="1371600" cy="274320"/>
          </a:xfrm>
          <a:prstGeom prst="rect">
            <a:avLst/>
          </a:prstGeom>
          <a:noFill/>
        </p:spPr>
        <p:txBody>
          <a:bodyPr wrap="square" anchor="t" lIns="0" rIns="0" tIns="0" bIns="0">
            <a:spAutoFit/>
          </a:bodyPr>
          <a:lstStyle/>
          <a:p>
            <a:pPr algn="ctr">
              <a:lnSpc>
                <a:spcPct val="100000"/>
              </a:lnSpc>
              <a:spcAft>
                <a:spcPts val="400"/>
              </a:spcAft>
            </a:pPr>
            <a:r>
              <a:rPr sz="950" b="1" i="0">
                <a:solidFill>
                  <a:srgbClr val="2A7F50"/>
                </a:solidFill>
                <a:latin typeface="Calibri"/>
              </a:rPr>
              <a:t>AI answers</a:t>
            </a:r>
          </a:p>
        </p:txBody>
      </p:sp>
      <p:sp>
        <p:nvSpPr>
          <p:cNvPr id="17" name="Rounded Rectangle 16"/>
          <p:cNvSpPr/>
          <p:nvPr/>
        </p:nvSpPr>
        <p:spPr>
          <a:xfrm>
            <a:off x="411480" y="4114800"/>
            <a:ext cx="11384280" cy="2103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297680"/>
            <a:ext cx="10881360" cy="320040"/>
          </a:xfrm>
          <a:prstGeom prst="rect">
            <a:avLst/>
          </a:prstGeom>
          <a:noFill/>
        </p:spPr>
        <p:txBody>
          <a:bodyPr wrap="square" anchor="t" lIns="0" rIns="0" tIns="0" bIns="0">
            <a:spAutoFit/>
          </a:bodyPr>
          <a:lstStyle/>
          <a:p>
            <a:pPr algn="l">
              <a:lnSpc>
                <a:spcPct val="100000"/>
              </a:lnSpc>
              <a:spcAft>
                <a:spcPts val="400"/>
              </a:spcAft>
            </a:pPr>
            <a:r>
              <a:rPr sz="1350" b="1" i="0">
                <a:solidFill>
                  <a:srgbClr val="16325C"/>
                </a:solidFill>
                <a:latin typeface="Calibri"/>
              </a:rPr>
              <a:t>What flows over the connection (internal APIs that already exist)</a:t>
            </a:r>
          </a:p>
        </p:txBody>
      </p:sp>
      <p:sp>
        <p:nvSpPr>
          <p:cNvPr id="19" name="TextBox 18"/>
          <p:cNvSpPr txBox="1"/>
          <p:nvPr/>
        </p:nvSpPr>
        <p:spPr>
          <a:xfrm>
            <a:off x="685800" y="4754880"/>
            <a:ext cx="356616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D6FB8"/>
                </a:solidFill>
                <a:latin typeface="Calibri"/>
              </a:rPr>
              <a:t>Cost a part → </a:t>
            </a:r>
            <a:r>
              <a:rPr sz="1150" b="0" i="0">
                <a:solidFill>
                  <a:srgbClr val="3A4356"/>
                </a:solidFill>
                <a:latin typeface="Calibri"/>
              </a:rPr>
              <a:t>full should-cost with breakdown</a:t>
            </a:r>
          </a:p>
        </p:txBody>
      </p:sp>
      <p:sp>
        <p:nvSpPr>
          <p:cNvPr id="20" name="TextBox 19"/>
          <p:cNvSpPr txBox="1"/>
          <p:nvPr/>
        </p:nvSpPr>
        <p:spPr>
          <a:xfrm>
            <a:off x="4434840" y="4754880"/>
            <a:ext cx="356616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D6FB8"/>
                </a:solidFill>
                <a:latin typeface="Calibri"/>
              </a:rPr>
              <a:t>CAD file → </a:t>
            </a:r>
            <a:r>
              <a:rPr sz="1150" b="0" i="0">
                <a:solidFill>
                  <a:srgbClr val="3A4356"/>
                </a:solidFill>
                <a:latin typeface="Calibri"/>
              </a:rPr>
              <a:t>geometry + auto-filled inputs</a:t>
            </a:r>
          </a:p>
        </p:txBody>
      </p:sp>
      <p:sp>
        <p:nvSpPr>
          <p:cNvPr id="21" name="TextBox 20"/>
          <p:cNvSpPr txBox="1"/>
          <p:nvPr/>
        </p:nvSpPr>
        <p:spPr>
          <a:xfrm>
            <a:off x="8183879" y="4754880"/>
            <a:ext cx="356616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D6FB8"/>
                </a:solidFill>
                <a:latin typeface="Calibri"/>
              </a:rPr>
              <a:t>New part → </a:t>
            </a:r>
            <a:r>
              <a:rPr sz="1150" b="0" i="0">
                <a:solidFill>
                  <a:srgbClr val="3A4356"/>
                </a:solidFill>
                <a:latin typeface="Calibri"/>
              </a:rPr>
              <a:t>similar past parts + suggestions</a:t>
            </a:r>
          </a:p>
        </p:txBody>
      </p:sp>
      <p:sp>
        <p:nvSpPr>
          <p:cNvPr id="22" name="TextBox 21"/>
          <p:cNvSpPr txBox="1"/>
          <p:nvPr/>
        </p:nvSpPr>
        <p:spPr>
          <a:xfrm>
            <a:off x="685800" y="5440680"/>
            <a:ext cx="356616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D6FB8"/>
                </a:solidFill>
                <a:latin typeface="Calibri"/>
              </a:rPr>
              <a:t>PO price → </a:t>
            </a:r>
            <a:r>
              <a:rPr sz="1150" b="0" i="0">
                <a:solidFill>
                  <a:srgbClr val="3A4356"/>
                </a:solidFill>
                <a:latin typeface="Calibri"/>
              </a:rPr>
              <a:t>feeds the learning loop automatically</a:t>
            </a:r>
          </a:p>
        </p:txBody>
      </p:sp>
      <p:sp>
        <p:nvSpPr>
          <p:cNvPr id="23" name="TextBox 22"/>
          <p:cNvSpPr txBox="1"/>
          <p:nvPr/>
        </p:nvSpPr>
        <p:spPr>
          <a:xfrm>
            <a:off x="4434840" y="5440680"/>
            <a:ext cx="356616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D6FB8"/>
                </a:solidFill>
                <a:latin typeface="Calibri"/>
              </a:rPr>
              <a:t>Dashboard ← </a:t>
            </a:r>
            <a:r>
              <a:rPr sz="1150" b="0" i="0">
                <a:solidFill>
                  <a:srgbClr val="3A4356"/>
                </a:solidFill>
                <a:latin typeface="Calibri"/>
              </a:rPr>
              <a:t>autonomous findings (£/yr)</a:t>
            </a:r>
          </a:p>
        </p:txBody>
      </p:sp>
      <p:sp>
        <p:nvSpPr>
          <p:cNvPr id="24" name="TextBox 23"/>
          <p:cNvSpPr txBox="1"/>
          <p:nvPr/>
        </p:nvSpPr>
        <p:spPr>
          <a:xfrm>
            <a:off x="8183879" y="5440680"/>
            <a:ext cx="356616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D6FB8"/>
                </a:solidFill>
                <a:latin typeface="Calibri"/>
              </a:rPr>
              <a:t>One shared → </a:t>
            </a:r>
            <a:r>
              <a:rPr sz="1150" b="0" i="0">
                <a:solidFill>
                  <a:srgbClr val="3A4356"/>
                </a:solidFill>
                <a:latin typeface="Calibri"/>
              </a:rPr>
              <a:t>rate library &amp; knowledge database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SCOPE OF WORK</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each side needs to change</a:t>
            </a:r>
          </a:p>
        </p:txBody>
      </p:sp>
      <p:sp>
        <p:nvSpPr>
          <p:cNvPr id="9" name="Rounded Rectangle 8"/>
          <p:cNvSpPr/>
          <p:nvPr/>
        </p:nvSpPr>
        <p:spPr>
          <a:xfrm>
            <a:off x="411480" y="1874519"/>
            <a:ext cx="5486400" cy="4160520"/>
          </a:xfrm>
          <a:prstGeom prst="roundRect">
            <a:avLst>
              <a:gd name="adj" fmla="val 5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493776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D6FB8"/>
                </a:solidFill>
                <a:latin typeface="Calibri"/>
              </a:rPr>
              <a:t>CostVision — 6 items (2 DONE)</a:t>
            </a:r>
          </a:p>
        </p:txBody>
      </p:sp>
      <p:sp>
        <p:nvSpPr>
          <p:cNvPr id="11" name="TextBox 10"/>
          <p:cNvSpPr txBox="1"/>
          <p:nvPr/>
        </p:nvSpPr>
        <p:spPr>
          <a:xfrm>
            <a:off x="685800" y="2514600"/>
            <a:ext cx="5029200" cy="548640"/>
          </a:xfrm>
          <a:prstGeom prst="rect">
            <a:avLst/>
          </a:prstGeom>
          <a:noFill/>
        </p:spPr>
        <p:txBody>
          <a:bodyPr wrap="square" anchor="t" lIns="0" rIns="0" tIns="0" bIns="0">
            <a:spAutoFit/>
          </a:bodyPr>
          <a:lstStyle/>
          <a:p>
            <a:pPr algn="l">
              <a:lnSpc>
                <a:spcPct val="105000"/>
              </a:lnSpc>
              <a:spcAft>
                <a:spcPts val="400"/>
              </a:spcAft>
            </a:pPr>
            <a:r>
              <a:rPr sz="1200" b="1" i="0">
                <a:solidFill>
                  <a:srgbClr val="2A7F50"/>
                </a:solidFill>
                <a:latin typeface="Calibri"/>
              </a:rPr>
              <a:t>✓ Private AI routing — </a:t>
            </a:r>
            <a:r>
              <a:rPr sz="1100" b="0" i="0">
                <a:solidFill>
                  <a:srgbClr val="2A7F50"/>
                </a:solidFill>
                <a:latin typeface="Calibri"/>
              </a:rPr>
              <a:t>DONE — one setting routes every AI call to our endpoint</a:t>
            </a:r>
          </a:p>
        </p:txBody>
      </p:sp>
      <p:sp>
        <p:nvSpPr>
          <p:cNvPr id="12" name="TextBox 11"/>
          <p:cNvSpPr txBox="1"/>
          <p:nvPr/>
        </p:nvSpPr>
        <p:spPr>
          <a:xfrm>
            <a:off x="685800" y="3090672"/>
            <a:ext cx="5029200" cy="548640"/>
          </a:xfrm>
          <a:prstGeom prst="rect">
            <a:avLst/>
          </a:prstGeom>
          <a:noFill/>
        </p:spPr>
        <p:txBody>
          <a:bodyPr wrap="square" anchor="t" lIns="0" rIns="0" tIns="0" bIns="0">
            <a:spAutoFit/>
          </a:bodyPr>
          <a:lstStyle/>
          <a:p>
            <a:pPr algn="l">
              <a:lnSpc>
                <a:spcPct val="105000"/>
              </a:lnSpc>
              <a:spcAft>
                <a:spcPts val="400"/>
              </a:spcAft>
            </a:pPr>
            <a:r>
              <a:rPr sz="1200" b="1" i="0">
                <a:solidFill>
                  <a:srgbClr val="2A7F50"/>
                </a:solidFill>
                <a:latin typeface="Calibri"/>
              </a:rPr>
              <a:t>✓ "Air-gapped" switch — </a:t>
            </a:r>
            <a:r>
              <a:rPr sz="1100" b="0" i="0">
                <a:solidFill>
                  <a:srgbClr val="2A7F50"/>
                </a:solidFill>
                <a:latin typeface="Calibri"/>
              </a:rPr>
              <a:t>DONE — provably disables all external calls; tested live</a:t>
            </a:r>
          </a:p>
        </p:txBody>
      </p:sp>
      <p:sp>
        <p:nvSpPr>
          <p:cNvPr id="13" name="TextBox 12"/>
          <p:cNvSpPr txBox="1"/>
          <p:nvPr/>
        </p:nvSpPr>
        <p:spPr>
          <a:xfrm>
            <a:off x="685800" y="3666744"/>
            <a:ext cx="5029200" cy="548640"/>
          </a:xfrm>
          <a:prstGeom prst="rect">
            <a:avLst/>
          </a:prstGeom>
          <a:noFill/>
        </p:spPr>
        <p:txBody>
          <a:bodyPr wrap="square" anchor="t" lIns="0" rIns="0" tIns="0" bIns="0">
            <a:spAutoFit/>
          </a:bodyPr>
          <a:lstStyle/>
          <a:p>
            <a:pPr algn="l">
              <a:lnSpc>
                <a:spcPct val="105000"/>
              </a:lnSpc>
              <a:spcAft>
                <a:spcPts val="400"/>
              </a:spcAft>
            </a:pPr>
            <a:r>
              <a:rPr sz="1200" b="1" i="0">
                <a:solidFill>
                  <a:srgbClr val="16325C"/>
                </a:solidFill>
                <a:latin typeface="Calibri"/>
              </a:rPr>
              <a:t>3. Azure AD sign-on — </a:t>
            </a:r>
            <a:r>
              <a:rPr sz="1100" b="0" i="0">
                <a:solidFill>
                  <a:srgbClr val="3A4356"/>
                </a:solidFill>
                <a:latin typeface="Calibri"/>
              </a:rPr>
              <a:t>replace local logins with company SSO</a:t>
            </a:r>
          </a:p>
        </p:txBody>
      </p:sp>
      <p:sp>
        <p:nvSpPr>
          <p:cNvPr id="14" name="TextBox 13"/>
          <p:cNvSpPr txBox="1"/>
          <p:nvPr/>
        </p:nvSpPr>
        <p:spPr>
          <a:xfrm>
            <a:off x="685800" y="4242816"/>
            <a:ext cx="5029200" cy="548640"/>
          </a:xfrm>
          <a:prstGeom prst="rect">
            <a:avLst/>
          </a:prstGeom>
          <a:noFill/>
        </p:spPr>
        <p:txBody>
          <a:bodyPr wrap="square" anchor="t" lIns="0" rIns="0" tIns="0" bIns="0">
            <a:spAutoFit/>
          </a:bodyPr>
          <a:lstStyle/>
          <a:p>
            <a:pPr algn="l">
              <a:lnSpc>
                <a:spcPct val="105000"/>
              </a:lnSpc>
              <a:spcAft>
                <a:spcPts val="400"/>
              </a:spcAft>
            </a:pPr>
            <a:r>
              <a:rPr sz="1200" b="1" i="0">
                <a:solidFill>
                  <a:srgbClr val="16325C"/>
                </a:solidFill>
                <a:latin typeface="Calibri"/>
              </a:rPr>
              <a:t>4. PostgreSQL — </a:t>
            </a:r>
            <a:r>
              <a:rPr sz="1100" b="0" i="0">
                <a:solidFill>
                  <a:srgbClr val="3A4356"/>
                </a:solidFill>
                <a:latin typeface="Calibri"/>
              </a:rPr>
              <a:t>move from file database to the corporate DB estate</a:t>
            </a:r>
          </a:p>
        </p:txBody>
      </p:sp>
      <p:sp>
        <p:nvSpPr>
          <p:cNvPr id="15" name="TextBox 14"/>
          <p:cNvSpPr txBox="1"/>
          <p:nvPr/>
        </p:nvSpPr>
        <p:spPr>
          <a:xfrm>
            <a:off x="685800" y="4818888"/>
            <a:ext cx="5029200" cy="548640"/>
          </a:xfrm>
          <a:prstGeom prst="rect">
            <a:avLst/>
          </a:prstGeom>
          <a:noFill/>
        </p:spPr>
        <p:txBody>
          <a:bodyPr wrap="square" anchor="t" lIns="0" rIns="0" tIns="0" bIns="0">
            <a:spAutoFit/>
          </a:bodyPr>
          <a:lstStyle/>
          <a:p>
            <a:pPr algn="l">
              <a:lnSpc>
                <a:spcPct val="105000"/>
              </a:lnSpc>
              <a:spcAft>
                <a:spcPts val="400"/>
              </a:spcAft>
            </a:pPr>
            <a:r>
              <a:rPr sz="1200" b="1" i="0">
                <a:solidFill>
                  <a:srgbClr val="16325C"/>
                </a:solidFill>
                <a:latin typeface="Calibri"/>
              </a:rPr>
              <a:t>5. Cost API wrapper — </a:t>
            </a:r>
            <a:r>
              <a:rPr sz="1100" b="0" i="0">
                <a:solidFill>
                  <a:srgbClr val="3A4356"/>
                </a:solidFill>
                <a:latin typeface="Calibri"/>
              </a:rPr>
              <a:t>one clean endpoint per commodity for CAPEE</a:t>
            </a:r>
          </a:p>
        </p:txBody>
      </p:sp>
      <p:sp>
        <p:nvSpPr>
          <p:cNvPr id="16" name="TextBox 15"/>
          <p:cNvSpPr txBox="1"/>
          <p:nvPr/>
        </p:nvSpPr>
        <p:spPr>
          <a:xfrm>
            <a:off x="685800" y="5394960"/>
            <a:ext cx="5029200" cy="548640"/>
          </a:xfrm>
          <a:prstGeom prst="rect">
            <a:avLst/>
          </a:prstGeom>
          <a:noFill/>
        </p:spPr>
        <p:txBody>
          <a:bodyPr wrap="square" anchor="t" lIns="0" rIns="0" tIns="0" bIns="0">
            <a:spAutoFit/>
          </a:bodyPr>
          <a:lstStyle/>
          <a:p>
            <a:pPr algn="l">
              <a:lnSpc>
                <a:spcPct val="105000"/>
              </a:lnSpc>
              <a:spcAft>
                <a:spcPts val="400"/>
              </a:spcAft>
            </a:pPr>
            <a:r>
              <a:rPr sz="1200" b="1" i="0">
                <a:solidFill>
                  <a:srgbClr val="16325C"/>
                </a:solidFill>
                <a:latin typeface="Calibri"/>
              </a:rPr>
              <a:t>6. Audit hardening — </a:t>
            </a:r>
            <a:r>
              <a:rPr sz="1100" b="0" i="0">
                <a:solidFill>
                  <a:srgbClr val="3A4356"/>
                </a:solidFill>
                <a:latin typeface="Calibri"/>
              </a:rPr>
              <a:t>admin audit table + logs to SIEM</a:t>
            </a:r>
          </a:p>
        </p:txBody>
      </p:sp>
      <p:sp>
        <p:nvSpPr>
          <p:cNvPr id="17" name="Rounded Rectangle 16"/>
          <p:cNvSpPr/>
          <p:nvPr/>
        </p:nvSpPr>
        <p:spPr>
          <a:xfrm>
            <a:off x="6263640" y="1874519"/>
            <a:ext cx="5532120" cy="41605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2057400"/>
            <a:ext cx="493776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6B3FA0"/>
                </a:solidFill>
                <a:latin typeface="Calibri"/>
              </a:rPr>
              <a:t>CAPEE — small, additive changes</a:t>
            </a:r>
          </a:p>
        </p:txBody>
      </p:sp>
      <p:sp>
        <p:nvSpPr>
          <p:cNvPr id="19" name="TextBox 18"/>
          <p:cNvSpPr txBox="1"/>
          <p:nvPr/>
        </p:nvSpPr>
        <p:spPr>
          <a:xfrm>
            <a:off x="6537960" y="2560320"/>
            <a:ext cx="5029200" cy="1097280"/>
          </a:xfrm>
          <a:prstGeom prst="rect">
            <a:avLst/>
          </a:prstGeom>
          <a:noFill/>
        </p:spPr>
        <p:txBody>
          <a:bodyPr wrap="square" anchor="t" lIns="0" rIns="0" tIns="0" bIns="0">
            <a:spAutoFit/>
          </a:bodyPr>
          <a:lstStyle/>
          <a:p>
            <a:pPr algn="l">
              <a:lnSpc>
                <a:spcPct val="112000"/>
              </a:lnSpc>
              <a:spcAft>
                <a:spcPts val="300"/>
              </a:spcAft>
            </a:pPr>
            <a:r>
              <a:rPr sz="1300" b="1" i="0">
                <a:solidFill>
                  <a:srgbClr val="16325C"/>
                </a:solidFill>
                <a:latin typeface="Calibri"/>
              </a:rPr>
              <a:t>Backend  </a:t>
            </a:r>
            <a:r>
              <a:rPr sz="1100" b="1" i="0">
                <a:solidFill>
                  <a:srgbClr val="6B3FA0"/>
                </a:solidFill>
                <a:latin typeface="Calibri"/>
              </a:rPr>
              <a:t>· Small</a:t>
            </a:r>
          </a:p>
          <a:p>
            <a:pPr algn="l">
              <a:lnSpc>
                <a:spcPct val="112000"/>
              </a:lnSpc>
              <a:spcAft>
                <a:spcPts val="300"/>
              </a:spcAft>
            </a:pPr>
            <a:r>
              <a:rPr sz="1150" b="0" i="0">
                <a:solidFill>
                  <a:srgbClr val="3A4356"/>
                </a:solidFill>
                <a:latin typeface="Calibri"/>
              </a:rPr>
              <a:t>HTTP client to call CostVision + token handling; hook PO prices into the learning API</a:t>
            </a:r>
          </a:p>
        </p:txBody>
      </p:sp>
      <p:sp>
        <p:nvSpPr>
          <p:cNvPr id="20" name="TextBox 19"/>
          <p:cNvSpPr txBox="1"/>
          <p:nvPr/>
        </p:nvSpPr>
        <p:spPr>
          <a:xfrm>
            <a:off x="6537960" y="3703320"/>
            <a:ext cx="5029200" cy="1097280"/>
          </a:xfrm>
          <a:prstGeom prst="rect">
            <a:avLst/>
          </a:prstGeom>
          <a:noFill/>
        </p:spPr>
        <p:txBody>
          <a:bodyPr wrap="square" anchor="t" lIns="0" rIns="0" tIns="0" bIns="0">
            <a:spAutoFit/>
          </a:bodyPr>
          <a:lstStyle/>
          <a:p>
            <a:pPr algn="l">
              <a:lnSpc>
                <a:spcPct val="112000"/>
              </a:lnSpc>
              <a:spcAft>
                <a:spcPts val="300"/>
              </a:spcAft>
            </a:pPr>
            <a:r>
              <a:rPr sz="1300" b="1" i="0">
                <a:solidFill>
                  <a:srgbClr val="16325C"/>
                </a:solidFill>
                <a:latin typeface="Calibri"/>
              </a:rPr>
              <a:t>User interface  </a:t>
            </a:r>
            <a:r>
              <a:rPr sz="1100" b="1" i="0">
                <a:solidFill>
                  <a:srgbClr val="6B3FA0"/>
                </a:solidFill>
                <a:latin typeface="Calibri"/>
              </a:rPr>
              <a:t>· Medium</a:t>
            </a:r>
          </a:p>
          <a:p>
            <a:pPr algn="l">
              <a:lnSpc>
                <a:spcPct val="112000"/>
              </a:lnSpc>
              <a:spcAft>
                <a:spcPts val="300"/>
              </a:spcAft>
            </a:pPr>
            <a:r>
              <a:rPr sz="1150" b="0" i="0">
                <a:solidFill>
                  <a:srgbClr val="3A4356"/>
                </a:solidFill>
                <a:latin typeface="Calibri"/>
              </a:rPr>
              <a:t>an "AI insights" panel on the costing screen; a CAD-upload button; a findings widget</a:t>
            </a:r>
          </a:p>
        </p:txBody>
      </p:sp>
      <p:sp>
        <p:nvSpPr>
          <p:cNvPr id="21" name="TextBox 20"/>
          <p:cNvSpPr txBox="1"/>
          <p:nvPr/>
        </p:nvSpPr>
        <p:spPr>
          <a:xfrm>
            <a:off x="6537960" y="4846320"/>
            <a:ext cx="5029200" cy="1097280"/>
          </a:xfrm>
          <a:prstGeom prst="rect">
            <a:avLst/>
          </a:prstGeom>
          <a:noFill/>
        </p:spPr>
        <p:txBody>
          <a:bodyPr wrap="square" anchor="t" lIns="0" rIns="0" tIns="0" bIns="0">
            <a:spAutoFit/>
          </a:bodyPr>
          <a:lstStyle/>
          <a:p>
            <a:pPr algn="l">
              <a:lnSpc>
                <a:spcPct val="112000"/>
              </a:lnSpc>
              <a:spcAft>
                <a:spcPts val="300"/>
              </a:spcAft>
            </a:pPr>
            <a:r>
              <a:rPr sz="1300" b="1" i="0">
                <a:solidFill>
                  <a:srgbClr val="16325C"/>
                </a:solidFill>
                <a:latin typeface="Calibri"/>
              </a:rPr>
              <a:t>Data  </a:t>
            </a:r>
            <a:r>
              <a:rPr sz="1100" b="1" i="0">
                <a:solidFill>
                  <a:srgbClr val="6B3FA0"/>
                </a:solidFill>
                <a:latin typeface="Calibri"/>
              </a:rPr>
              <a:t>· Small–Medium</a:t>
            </a:r>
          </a:p>
          <a:p>
            <a:pPr algn="l">
              <a:lnSpc>
                <a:spcPct val="112000"/>
              </a:lnSpc>
              <a:spcAft>
                <a:spcPts val="300"/>
              </a:spcAft>
            </a:pPr>
            <a:r>
              <a:rPr sz="1150" b="0" i="0">
                <a:solidFill>
                  <a:srgbClr val="3A4356"/>
                </a:solidFill>
                <a:latin typeface="Calibri"/>
              </a:rPr>
              <a:t>adopt the shared rate library; one-off import of historical quotes to seed the memory</a:t>
            </a:r>
          </a:p>
        </p:txBody>
      </p:sp>
      <p:sp>
        <p:nvSpPr>
          <p:cNvPr id="22" name="TextBox 21"/>
          <p:cNvSpPr txBox="1"/>
          <p:nvPr/>
        </p:nvSpPr>
        <p:spPr>
          <a:xfrm>
            <a:off x="411480" y="6217920"/>
            <a:ext cx="11338560" cy="411480"/>
          </a:xfrm>
          <a:prstGeom prst="rect">
            <a:avLst/>
          </a:prstGeom>
          <a:noFill/>
        </p:spPr>
        <p:txBody>
          <a:bodyPr wrap="square" anchor="t" lIns="0" rIns="0" tIns="0" bIns="0">
            <a:spAutoFit/>
          </a:bodyPr>
          <a:lstStyle/>
          <a:p>
            <a:pPr algn="l">
              <a:lnSpc>
                <a:spcPct val="100000"/>
              </a:lnSpc>
              <a:spcAft>
                <a:spcPts val="400"/>
              </a:spcAft>
            </a:pPr>
            <a:r>
              <a:rPr sz="1350" b="1" i="0">
                <a:solidFill>
                  <a:srgbClr val="16325C"/>
                </a:solidFill>
                <a:latin typeface="Calibri"/>
              </a:rPr>
              <a:t>Items 1–2 are built &amp; tested. Remaining critical path: ~3–5 engineering weeks. No architectural surgery on either side.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COMPLIANCE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Security &amp; compliance — how we tick the boxes</a:t>
            </a:r>
          </a:p>
        </p:txBody>
      </p:sp>
      <p:sp>
        <p:nvSpPr>
          <p:cNvPr id="9" name="Rounded Rectangle 8"/>
          <p:cNvSpPr/>
          <p:nvPr/>
        </p:nvSpPr>
        <p:spPr>
          <a:xfrm>
            <a:off x="411480" y="1874519"/>
            <a:ext cx="5577840" cy="123444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74519"/>
            <a:ext cx="82296" cy="123444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993391"/>
            <a:ext cx="512064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2A7F50"/>
                </a:solidFill>
                <a:latin typeface="Calibri"/>
              </a:rPr>
              <a:t>Encryption</a:t>
            </a:r>
          </a:p>
        </p:txBody>
      </p:sp>
      <p:sp>
        <p:nvSpPr>
          <p:cNvPr id="12" name="TextBox 11"/>
          <p:cNvSpPr txBox="1"/>
          <p:nvPr/>
        </p:nvSpPr>
        <p:spPr>
          <a:xfrm>
            <a:off x="667512" y="2377439"/>
            <a:ext cx="5120640" cy="685800"/>
          </a:xfrm>
          <a:prstGeom prst="rect">
            <a:avLst/>
          </a:prstGeom>
          <a:noFill/>
        </p:spPr>
        <p:txBody>
          <a:bodyPr wrap="square" anchor="t" lIns="0" rIns="0" tIns="0" bIns="0">
            <a:spAutoFit/>
          </a:bodyPr>
          <a:lstStyle/>
          <a:p>
            <a:pPr algn="l">
              <a:lnSpc>
                <a:spcPct val="112000"/>
              </a:lnSpc>
              <a:spcAft>
                <a:spcPts val="400"/>
              </a:spcAft>
            </a:pPr>
            <a:r>
              <a:rPr sz="1150" b="0" i="0">
                <a:solidFill>
                  <a:srgbClr val="3A4356"/>
                </a:solidFill>
                <a:latin typeface="Calibri"/>
              </a:rPr>
              <a:t>TLS everywhere in transit; encrypted database at rest; CAD never stored at all</a:t>
            </a:r>
          </a:p>
        </p:txBody>
      </p:sp>
      <p:sp>
        <p:nvSpPr>
          <p:cNvPr id="13" name="Rounded Rectangle 12"/>
          <p:cNvSpPr/>
          <p:nvPr/>
        </p:nvSpPr>
        <p:spPr>
          <a:xfrm>
            <a:off x="6217920" y="1874519"/>
            <a:ext cx="5577840" cy="123444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74519"/>
            <a:ext cx="82296" cy="123444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993391"/>
            <a:ext cx="512064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1D6FB8"/>
                </a:solidFill>
                <a:latin typeface="Calibri"/>
              </a:rPr>
              <a:t>Access control</a:t>
            </a:r>
          </a:p>
        </p:txBody>
      </p:sp>
      <p:sp>
        <p:nvSpPr>
          <p:cNvPr id="16" name="TextBox 15"/>
          <p:cNvSpPr txBox="1"/>
          <p:nvPr/>
        </p:nvSpPr>
        <p:spPr>
          <a:xfrm>
            <a:off x="6473952" y="2377439"/>
            <a:ext cx="5120640" cy="685800"/>
          </a:xfrm>
          <a:prstGeom prst="rect">
            <a:avLst/>
          </a:prstGeom>
          <a:noFill/>
        </p:spPr>
        <p:txBody>
          <a:bodyPr wrap="square" anchor="t" lIns="0" rIns="0" tIns="0" bIns="0">
            <a:spAutoFit/>
          </a:bodyPr>
          <a:lstStyle/>
          <a:p>
            <a:pPr algn="l">
              <a:lnSpc>
                <a:spcPct val="112000"/>
              </a:lnSpc>
              <a:spcAft>
                <a:spcPts val="400"/>
              </a:spcAft>
            </a:pPr>
            <a:r>
              <a:rPr sz="1150" b="0" i="0">
                <a:solidFill>
                  <a:srgbClr val="3A4356"/>
                </a:solidFill>
                <a:latin typeface="Calibri"/>
              </a:rPr>
              <a:t>Azure AD single sign-on; roles mapped to AD groups; CAPEE uses a least-privilege service account</a:t>
            </a:r>
          </a:p>
        </p:txBody>
      </p:sp>
      <p:sp>
        <p:nvSpPr>
          <p:cNvPr id="17" name="Rounded Rectangle 16"/>
          <p:cNvSpPr/>
          <p:nvPr/>
        </p:nvSpPr>
        <p:spPr>
          <a:xfrm>
            <a:off x="411480" y="3291839"/>
            <a:ext cx="5577840" cy="123444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291839"/>
            <a:ext cx="82296" cy="123444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10711"/>
            <a:ext cx="512064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99651A"/>
                </a:solidFill>
                <a:latin typeface="Calibri"/>
              </a:rPr>
              <a:t>Data-loss prevention</a:t>
            </a:r>
          </a:p>
        </p:txBody>
      </p:sp>
      <p:sp>
        <p:nvSpPr>
          <p:cNvPr id="20" name="TextBox 19"/>
          <p:cNvSpPr txBox="1"/>
          <p:nvPr/>
        </p:nvSpPr>
        <p:spPr>
          <a:xfrm>
            <a:off x="667512" y="3794759"/>
            <a:ext cx="5120640" cy="685800"/>
          </a:xfrm>
          <a:prstGeom prst="rect">
            <a:avLst/>
          </a:prstGeom>
          <a:noFill/>
        </p:spPr>
        <p:txBody>
          <a:bodyPr wrap="square" anchor="t" lIns="0" rIns="0" tIns="0" bIns="0">
            <a:spAutoFit/>
          </a:bodyPr>
          <a:lstStyle/>
          <a:p>
            <a:pPr algn="l">
              <a:lnSpc>
                <a:spcPct val="112000"/>
              </a:lnSpc>
              <a:spcAft>
                <a:spcPts val="400"/>
              </a:spcAft>
            </a:pPr>
            <a:r>
              <a:rPr sz="1150" b="0" i="0">
                <a:solidFill>
                  <a:srgbClr val="3A4356"/>
                </a:solidFill>
                <a:latin typeface="Calibri"/>
              </a:rPr>
              <a:t>One AI exit door, inspected and logged; firewall denies everything else; witnessed air-gap test (switch built)</a:t>
            </a:r>
          </a:p>
        </p:txBody>
      </p:sp>
      <p:sp>
        <p:nvSpPr>
          <p:cNvPr id="21" name="Rounded Rectangle 20"/>
          <p:cNvSpPr/>
          <p:nvPr/>
        </p:nvSpPr>
        <p:spPr>
          <a:xfrm>
            <a:off x="6217920" y="3291839"/>
            <a:ext cx="5577840" cy="123444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291839"/>
            <a:ext cx="82296" cy="123444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410711"/>
            <a:ext cx="512064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6B3FA0"/>
                </a:solidFill>
                <a:latin typeface="Calibri"/>
              </a:rPr>
              <a:t>Audit trails</a:t>
            </a:r>
          </a:p>
        </p:txBody>
      </p:sp>
      <p:sp>
        <p:nvSpPr>
          <p:cNvPr id="24" name="TextBox 23"/>
          <p:cNvSpPr txBox="1"/>
          <p:nvPr/>
        </p:nvSpPr>
        <p:spPr>
          <a:xfrm>
            <a:off x="6473952" y="3794759"/>
            <a:ext cx="5120640" cy="685800"/>
          </a:xfrm>
          <a:prstGeom prst="rect">
            <a:avLst/>
          </a:prstGeom>
          <a:noFill/>
        </p:spPr>
        <p:txBody>
          <a:bodyPr wrap="square" anchor="t" lIns="0" rIns="0" tIns="0" bIns="0">
            <a:spAutoFit/>
          </a:bodyPr>
          <a:lstStyle/>
          <a:p>
            <a:pPr algn="l">
              <a:lnSpc>
                <a:spcPct val="112000"/>
              </a:lnSpc>
              <a:spcAft>
                <a:spcPts val="400"/>
              </a:spcAft>
            </a:pPr>
            <a:r>
              <a:rPr sz="1150" b="0" i="0">
                <a:solidFill>
                  <a:srgbClr val="3A4356"/>
                </a:solidFill>
                <a:latin typeface="Calibri"/>
              </a:rPr>
              <a:t>Every rate change, knowledge write and admin action attributable to a user; logs to corporate SIEM</a:t>
            </a:r>
          </a:p>
        </p:txBody>
      </p:sp>
      <p:sp>
        <p:nvSpPr>
          <p:cNvPr id="25" name="Rounded Rectangle 24"/>
          <p:cNvSpPr/>
          <p:nvPr/>
        </p:nvSpPr>
        <p:spPr>
          <a:xfrm>
            <a:off x="411480" y="4892040"/>
            <a:ext cx="11384280" cy="123444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074920"/>
            <a:ext cx="10881360" cy="960120"/>
          </a:xfrm>
          <a:prstGeom prst="rect">
            <a:avLst/>
          </a:prstGeom>
          <a:noFill/>
        </p:spPr>
        <p:txBody>
          <a:bodyPr wrap="square" anchor="t" lIns="0" rIns="0" tIns="0" bIns="0">
            <a:spAutoFit/>
          </a:bodyPr>
          <a:lstStyle/>
          <a:p>
            <a:pPr algn="l">
              <a:lnSpc>
                <a:spcPct val="125000"/>
              </a:lnSpc>
              <a:spcAft>
                <a:spcPts val="400"/>
              </a:spcAft>
            </a:pPr>
            <a:r>
              <a:rPr sz="1300" b="1" i="0">
                <a:solidFill>
                  <a:srgbClr val="16325C"/>
                </a:solidFill>
                <a:latin typeface="Calibri"/>
              </a:rPr>
              <a:t>Standards mapping:  </a:t>
            </a:r>
            <a:r>
              <a:rPr sz="1200" b="0" i="0">
                <a:solidFill>
                  <a:srgbClr val="3A4356"/>
                </a:solidFill>
                <a:latin typeface="Calibri"/>
              </a:rPr>
              <a:t>ISO 27001 — covered by the controls above, add to ISMS scope  ·  SOC 2 — inherited from the cloud tenancy (Bedrock/Vertex are certified)  ·  GDPR — minimal personal data, zero-retention AI, EU region  ·  ISO/SAE 21434 — engineering IT tool, out of vehicle scope; supply-chain review (SBOM) in CI.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PLAN</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Rollout — six phases, value from week eight</a:t>
            </a:r>
          </a:p>
        </p:txBody>
      </p:sp>
      <p:sp>
        <p:nvSpPr>
          <p:cNvPr id="9" name="Chevron 8"/>
          <p:cNvSpPr/>
          <p:nvPr/>
        </p:nvSpPr>
        <p:spPr>
          <a:xfrm>
            <a:off x="365760" y="2103120"/>
            <a:ext cx="2048256" cy="1005840"/>
          </a:xfrm>
          <a:prstGeom prst="chevron">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ctr"/>
            <a:r>
              <a:rPr sz="1150" b="1">
                <a:solidFill>
                  <a:srgbClr val="FFFFFF"/>
                </a:solidFill>
                <a:latin typeface="Calibri"/>
              </a:rPr>
              <a:t>1 · Security assessment</a:t>
            </a:r>
          </a:p>
          <a:p>
            <a:r>
              <a:rPr sz="950">
                <a:solidFill>
                  <a:srgbClr val="E8EEFF"/>
                </a:solidFill>
                <a:latin typeface="Calibri"/>
              </a:rPr>
              <a:t>2–3 wks</a:t>
            </a:r>
          </a:p>
        </p:txBody>
      </p:sp>
      <p:sp>
        <p:nvSpPr>
          <p:cNvPr id="10" name="Chevron 9"/>
          <p:cNvSpPr/>
          <p:nvPr/>
        </p:nvSpPr>
        <p:spPr>
          <a:xfrm>
            <a:off x="2127260" y="2103120"/>
            <a:ext cx="2048256" cy="1005840"/>
          </a:xfrm>
          <a:prstGeom prst="chevron">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ctr"/>
            <a:r>
              <a:rPr sz="1150" b="1">
                <a:solidFill>
                  <a:srgbClr val="FFFFFF"/>
                </a:solidFill>
                <a:latin typeface="Calibri"/>
              </a:rPr>
              <a:t>2 · Architecture design</a:t>
            </a:r>
          </a:p>
          <a:p>
            <a:r>
              <a:rPr sz="950">
                <a:solidFill>
                  <a:srgbClr val="E8EEFF"/>
                </a:solidFill>
                <a:latin typeface="Calibri"/>
              </a:rPr>
              <a:t>3–4 wks</a:t>
            </a:r>
          </a:p>
        </p:txBody>
      </p:sp>
      <p:sp>
        <p:nvSpPr>
          <p:cNvPr id="11" name="Chevron 10"/>
          <p:cNvSpPr/>
          <p:nvPr/>
        </p:nvSpPr>
        <p:spPr>
          <a:xfrm>
            <a:off x="3888760" y="2103120"/>
            <a:ext cx="2048256" cy="1005840"/>
          </a:xfrm>
          <a:prstGeom prst="chevron">
            <a:avLst>
              <a:gd name="adj" fmla="val 28000"/>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ctr"/>
            <a:r>
              <a:rPr sz="1150" b="1">
                <a:solidFill>
                  <a:srgbClr val="FFFFFF"/>
                </a:solidFill>
                <a:latin typeface="Calibri"/>
              </a:rPr>
              <a:t>3 · Pilot (dummy CAD)</a:t>
            </a:r>
          </a:p>
          <a:p>
            <a:r>
              <a:rPr sz="950">
                <a:solidFill>
                  <a:srgbClr val="E8EEFF"/>
                </a:solidFill>
                <a:latin typeface="Calibri"/>
              </a:rPr>
              <a:t>2 wks</a:t>
            </a:r>
          </a:p>
        </p:txBody>
      </p:sp>
      <p:sp>
        <p:nvSpPr>
          <p:cNvPr id="12" name="Chevron 11"/>
          <p:cNvSpPr/>
          <p:nvPr/>
        </p:nvSpPr>
        <p:spPr>
          <a:xfrm>
            <a:off x="5650260" y="2103120"/>
            <a:ext cx="2048256" cy="1005840"/>
          </a:xfrm>
          <a:prstGeom prst="chevron">
            <a:avLst>
              <a:gd name="adj" fmla="val 28000"/>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ctr"/>
            <a:r>
              <a:rPr sz="1150" b="1">
                <a:solidFill>
                  <a:srgbClr val="FFFFFF"/>
                </a:solidFill>
                <a:latin typeface="Calibri"/>
              </a:rPr>
              <a:t>4 · CAPEE pilot</a:t>
            </a:r>
          </a:p>
          <a:p>
            <a:r>
              <a:rPr sz="950">
                <a:solidFill>
                  <a:srgbClr val="E8EEFF"/>
                </a:solidFill>
                <a:latin typeface="Calibri"/>
              </a:rPr>
              <a:t>4–6 wks</a:t>
            </a:r>
          </a:p>
        </p:txBody>
      </p:sp>
      <p:sp>
        <p:nvSpPr>
          <p:cNvPr id="13" name="Chevron 12"/>
          <p:cNvSpPr/>
          <p:nvPr/>
        </p:nvSpPr>
        <p:spPr>
          <a:xfrm>
            <a:off x="7411760" y="2103120"/>
            <a:ext cx="2048256" cy="1005840"/>
          </a:xfrm>
          <a:prstGeom prst="chevron">
            <a:avLst>
              <a:gd name="adj" fmla="val 28000"/>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ctr"/>
            <a:r>
              <a:rPr sz="1150" b="1">
                <a:solidFill>
                  <a:srgbClr val="FFFFFF"/>
                </a:solidFill>
                <a:latin typeface="Calibri"/>
              </a:rPr>
              <a:t>5 · Enterprise rollout</a:t>
            </a:r>
          </a:p>
          <a:p>
            <a:r>
              <a:rPr sz="950">
                <a:solidFill>
                  <a:srgbClr val="E8EEFF"/>
                </a:solidFill>
                <a:latin typeface="Calibri"/>
              </a:rPr>
              <a:t>4 wks</a:t>
            </a:r>
          </a:p>
        </p:txBody>
      </p:sp>
      <p:sp>
        <p:nvSpPr>
          <p:cNvPr id="14" name="Chevron 13"/>
          <p:cNvSpPr/>
          <p:nvPr/>
        </p:nvSpPr>
        <p:spPr>
          <a:xfrm>
            <a:off x="9173260" y="2103120"/>
            <a:ext cx="2048256" cy="1005840"/>
          </a:xfrm>
          <a:prstGeom prst="chevron">
            <a:avLst>
              <a:gd name="adj" fmla="val 28000"/>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45720"/>
          <a:lstStyle/>
          <a:p>
            <a:pPr algn="ctr"/>
            <a:r>
              <a:rPr sz="1150" b="1">
                <a:solidFill>
                  <a:srgbClr val="FFFFFF"/>
                </a:solidFill>
                <a:latin typeface="Calibri"/>
              </a:rPr>
              <a:t>6 · Monitor &amp; govern</a:t>
            </a:r>
          </a:p>
          <a:p>
            <a:r>
              <a:rPr sz="950">
                <a:solidFill>
                  <a:srgbClr val="E8EEFF"/>
                </a:solidFill>
                <a:latin typeface="Calibri"/>
              </a:rPr>
              <a:t>ongoing</a:t>
            </a:r>
          </a:p>
        </p:txBody>
      </p:sp>
      <p:sp>
        <p:nvSpPr>
          <p:cNvPr id="15" name="Rounded Rectangle 14"/>
          <p:cNvSpPr/>
          <p:nvPr/>
        </p:nvSpPr>
        <p:spPr>
          <a:xfrm>
            <a:off x="411480" y="3566160"/>
            <a:ext cx="11384280" cy="7498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566160"/>
            <a:ext cx="82296" cy="74980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657600"/>
            <a:ext cx="237744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D6FB8"/>
                </a:solidFill>
                <a:latin typeface="Calibri"/>
              </a:rPr>
              <a:t>Phase 3 exit gate</a:t>
            </a:r>
          </a:p>
        </p:txBody>
      </p:sp>
      <p:sp>
        <p:nvSpPr>
          <p:cNvPr id="18" name="TextBox 17"/>
          <p:cNvSpPr txBox="1"/>
          <p:nvPr/>
        </p:nvSpPr>
        <p:spPr>
          <a:xfrm>
            <a:off x="3200400" y="3657600"/>
            <a:ext cx="8412480" cy="594360"/>
          </a:xfrm>
          <a:prstGeom prst="rect">
            <a:avLst/>
          </a:prstGeom>
          <a:noFill/>
        </p:spPr>
        <p:txBody>
          <a:bodyPr wrap="square" anchor="t" lIns="0" rIns="0" tIns="0" bIns="0">
            <a:spAutoFit/>
          </a:bodyPr>
          <a:lstStyle/>
          <a:p>
            <a:pPr algn="l">
              <a:lnSpc>
                <a:spcPct val="110000"/>
              </a:lnSpc>
              <a:spcAft>
                <a:spcPts val="400"/>
              </a:spcAft>
            </a:pPr>
            <a:r>
              <a:rPr sz="1150" b="0" i="0">
                <a:solidFill>
                  <a:srgbClr val="3A4356"/>
                </a:solidFill>
                <a:latin typeface="Calibri"/>
              </a:rPr>
              <a:t>Security-witnessed test: firewall blocks all egress, full test suite passes, zero unexpected traffic.</a:t>
            </a:r>
          </a:p>
        </p:txBody>
      </p:sp>
      <p:sp>
        <p:nvSpPr>
          <p:cNvPr id="19" name="Rounded Rectangle 18"/>
          <p:cNvSpPr/>
          <p:nvPr/>
        </p:nvSpPr>
        <p:spPr>
          <a:xfrm>
            <a:off x="411480" y="4434840"/>
            <a:ext cx="11384280" cy="7498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4434840"/>
            <a:ext cx="82296" cy="74980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526280"/>
            <a:ext cx="237744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D6FB8"/>
                </a:solidFill>
                <a:latin typeface="Calibri"/>
              </a:rPr>
              <a:t>Phase 4 exit gate</a:t>
            </a:r>
          </a:p>
        </p:txBody>
      </p:sp>
      <p:sp>
        <p:nvSpPr>
          <p:cNvPr id="22" name="TextBox 21"/>
          <p:cNvSpPr txBox="1"/>
          <p:nvPr/>
        </p:nvSpPr>
        <p:spPr>
          <a:xfrm>
            <a:off x="3200400" y="4526280"/>
            <a:ext cx="8412480" cy="594360"/>
          </a:xfrm>
          <a:prstGeom prst="rect">
            <a:avLst/>
          </a:prstGeom>
          <a:noFill/>
        </p:spPr>
        <p:txBody>
          <a:bodyPr wrap="square" anchor="t" lIns="0" rIns="0" tIns="0" bIns="0">
            <a:spAutoFit/>
          </a:bodyPr>
          <a:lstStyle/>
          <a:p>
            <a:pPr algn="l">
              <a:lnSpc>
                <a:spcPct val="110000"/>
              </a:lnSpc>
              <a:spcAft>
                <a:spcPts val="400"/>
              </a:spcAft>
            </a:pPr>
            <a:r>
              <a:rPr sz="1150" b="0" i="0">
                <a:solidFill>
                  <a:srgbClr val="3A4356"/>
                </a:solidFill>
                <a:latin typeface="Calibri"/>
              </a:rPr>
              <a:t>A cost engineer completes a real costing from inside CAPEE with AI insights; accuracy dashboard live.</a:t>
            </a:r>
          </a:p>
        </p:txBody>
      </p:sp>
      <p:sp>
        <p:nvSpPr>
          <p:cNvPr id="23" name="Rounded Rectangle 22"/>
          <p:cNvSpPr/>
          <p:nvPr/>
        </p:nvSpPr>
        <p:spPr>
          <a:xfrm>
            <a:off x="411480" y="5303520"/>
            <a:ext cx="11384280" cy="7498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5303520"/>
            <a:ext cx="82296" cy="74980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394960"/>
            <a:ext cx="237744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D6FB8"/>
                </a:solidFill>
                <a:latin typeface="Calibri"/>
              </a:rPr>
              <a:t>First value</a:t>
            </a:r>
          </a:p>
        </p:txBody>
      </p:sp>
      <p:sp>
        <p:nvSpPr>
          <p:cNvPr id="26" name="TextBox 25"/>
          <p:cNvSpPr txBox="1"/>
          <p:nvPr/>
        </p:nvSpPr>
        <p:spPr>
          <a:xfrm>
            <a:off x="3200400" y="5394960"/>
            <a:ext cx="8412480" cy="594360"/>
          </a:xfrm>
          <a:prstGeom prst="rect">
            <a:avLst/>
          </a:prstGeom>
          <a:noFill/>
        </p:spPr>
        <p:txBody>
          <a:bodyPr wrap="square" anchor="t" lIns="0" rIns="0" tIns="0" bIns="0">
            <a:spAutoFit/>
          </a:bodyPr>
          <a:lstStyle/>
          <a:p>
            <a:pPr algn="l">
              <a:lnSpc>
                <a:spcPct val="110000"/>
              </a:lnSpc>
              <a:spcAft>
                <a:spcPts val="400"/>
              </a:spcAft>
            </a:pPr>
            <a:r>
              <a:rPr sz="1150" b="0" i="0">
                <a:solidFill>
                  <a:srgbClr val="3A4356"/>
                </a:solidFill>
                <a:latin typeface="Calibri"/>
              </a:rPr>
              <a:t>Week ~8: pilot users get similar-part suggestions; sourcing sees the first autonomous findings.</a:t>
            </a:r>
          </a:p>
        </p:txBody>
      </p:sp>
      <p:sp>
        <p:nvSpPr>
          <p:cNvPr id="27" name="TextBox 26"/>
          <p:cNvSpPr txBox="1"/>
          <p:nvPr/>
        </p:nvSpPr>
        <p:spPr>
          <a:xfrm>
            <a:off x="411480" y="6236208"/>
            <a:ext cx="11338560" cy="457200"/>
          </a:xfrm>
          <a:prstGeom prst="rect">
            <a:avLst/>
          </a:prstGeom>
          <a:noFill/>
        </p:spPr>
        <p:txBody>
          <a:bodyPr wrap="square" anchor="t" lIns="0" rIns="0" tIns="0" bIns="0">
            <a:spAutoFit/>
          </a:bodyPr>
          <a:lstStyle/>
          <a:p>
            <a:pPr algn="l">
              <a:lnSpc>
                <a:spcPct val="100000"/>
              </a:lnSpc>
              <a:spcAft>
                <a:spcPts val="400"/>
              </a:spcAft>
            </a:pPr>
            <a:r>
              <a:rPr sz="1150" b="1" i="0">
                <a:solidFill>
                  <a:srgbClr val="16325C"/>
                </a:solidFill>
                <a:latin typeface="Calibri"/>
              </a:rPr>
              <a:t>After go-live we track: </a:t>
            </a:r>
            <a:r>
              <a:rPr sz="1150" b="0" i="0">
                <a:solidFill>
                  <a:srgbClr val="3A4356"/>
                </a:solidFill>
                <a:latin typeface="Calibri"/>
              </a:rPr>
              <a:t>accuracy vs PO prices · costings via CAPEE · £ findings actioned · adoption.   Approval today → pilot value by ~September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HONEST VIEW</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Risks — and how we manage them</a:t>
            </a:r>
          </a:p>
        </p:txBody>
      </p:sp>
      <p:sp>
        <p:nvSpPr>
          <p:cNvPr id="9" name="Rounded Rectangle 8"/>
          <p:cNvSpPr/>
          <p:nvPr/>
        </p:nvSpPr>
        <p:spPr>
          <a:xfrm>
            <a:off x="411480" y="1874519"/>
            <a:ext cx="11384280" cy="93268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74519"/>
            <a:ext cx="82296" cy="932688"/>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84247"/>
            <a:ext cx="4023360" cy="41148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Cloud tenancy not approved</a:t>
            </a:r>
          </a:p>
        </p:txBody>
      </p:sp>
      <p:sp>
        <p:nvSpPr>
          <p:cNvPr id="12" name="TextBox 11"/>
          <p:cNvSpPr txBox="1"/>
          <p:nvPr/>
        </p:nvSpPr>
        <p:spPr>
          <a:xfrm>
            <a:off x="685800" y="2377439"/>
            <a:ext cx="1828800" cy="320040"/>
          </a:xfrm>
          <a:prstGeom prst="rect">
            <a:avLst/>
          </a:prstGeom>
          <a:noFill/>
        </p:spPr>
        <p:txBody>
          <a:bodyPr wrap="square" anchor="t" lIns="0" rIns="0" tIns="0" bIns="0">
            <a:spAutoFit/>
          </a:bodyPr>
          <a:lstStyle/>
          <a:p>
            <a:pPr algn="l">
              <a:lnSpc>
                <a:spcPct val="100000"/>
              </a:lnSpc>
              <a:spcAft>
                <a:spcPts val="400"/>
              </a:spcAft>
            </a:pPr>
            <a:r>
              <a:rPr sz="1050" b="1" i="0">
                <a:solidFill>
                  <a:srgbClr val="99651A"/>
                </a:solidFill>
                <a:latin typeface="Calibri"/>
              </a:rPr>
              <a:t>Likelihood: Medium</a:t>
            </a:r>
          </a:p>
        </p:txBody>
      </p:sp>
      <p:sp>
        <p:nvSpPr>
          <p:cNvPr id="13" name="TextBox 12"/>
          <p:cNvSpPr txBox="1"/>
          <p:nvPr/>
        </p:nvSpPr>
        <p:spPr>
          <a:xfrm>
            <a:off x="4846320" y="1984247"/>
            <a:ext cx="6766560" cy="777240"/>
          </a:xfrm>
          <a:prstGeom prst="rect">
            <a:avLst/>
          </a:prstGeom>
          <a:noFill/>
        </p:spPr>
        <p:txBody>
          <a:bodyPr wrap="square" anchor="t" lIns="0" rIns="0" tIns="0" bIns="0">
            <a:spAutoFit/>
          </a:bodyPr>
          <a:lstStyle/>
          <a:p>
            <a:pPr algn="l">
              <a:lnSpc>
                <a:spcPct val="112000"/>
              </a:lnSpc>
              <a:spcAft>
                <a:spcPts val="400"/>
              </a:spcAft>
            </a:pPr>
            <a:r>
              <a:rPr sz="1150" b="1" i="0">
                <a:solidFill>
                  <a:srgbClr val="16325C"/>
                </a:solidFill>
                <a:latin typeface="Calibri"/>
              </a:rPr>
              <a:t>Mitigation:  </a:t>
            </a:r>
            <a:r>
              <a:rPr sz="1150" b="0" i="0">
                <a:solidFill>
                  <a:srgbClr val="3A4356"/>
                </a:solidFill>
                <a:latin typeface="Calibri"/>
              </a:rPr>
              <a:t>Fall back to Option A (air-gapped) — deterministic engines keep full value today; add a self-hosted vision model later if needed.</a:t>
            </a:r>
          </a:p>
        </p:txBody>
      </p:sp>
      <p:sp>
        <p:nvSpPr>
          <p:cNvPr id="14" name="Rounded Rectangle 13"/>
          <p:cNvSpPr/>
          <p:nvPr/>
        </p:nvSpPr>
        <p:spPr>
          <a:xfrm>
            <a:off x="411480" y="2953511"/>
            <a:ext cx="11384280" cy="93268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2953511"/>
            <a:ext cx="82296" cy="93268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63239"/>
            <a:ext cx="4023360" cy="41148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Learning depends on logged quotes</a:t>
            </a:r>
          </a:p>
        </p:txBody>
      </p:sp>
      <p:sp>
        <p:nvSpPr>
          <p:cNvPr id="17" name="TextBox 16"/>
          <p:cNvSpPr txBox="1"/>
          <p:nvPr/>
        </p:nvSpPr>
        <p:spPr>
          <a:xfrm>
            <a:off x="685800" y="3456431"/>
            <a:ext cx="1828800" cy="320040"/>
          </a:xfrm>
          <a:prstGeom prst="rect">
            <a:avLst/>
          </a:prstGeom>
          <a:noFill/>
        </p:spPr>
        <p:txBody>
          <a:bodyPr wrap="square" anchor="t" lIns="0" rIns="0" tIns="0" bIns="0">
            <a:spAutoFit/>
          </a:bodyPr>
          <a:lstStyle/>
          <a:p>
            <a:pPr algn="l">
              <a:lnSpc>
                <a:spcPct val="100000"/>
              </a:lnSpc>
              <a:spcAft>
                <a:spcPts val="400"/>
              </a:spcAft>
            </a:pPr>
            <a:r>
              <a:rPr sz="1050" b="1" i="0">
                <a:solidFill>
                  <a:srgbClr val="1D6FB8"/>
                </a:solidFill>
                <a:latin typeface="Calibri"/>
              </a:rPr>
              <a:t>Likelihood: Medium</a:t>
            </a:r>
          </a:p>
        </p:txBody>
      </p:sp>
      <p:sp>
        <p:nvSpPr>
          <p:cNvPr id="18" name="TextBox 17"/>
          <p:cNvSpPr txBox="1"/>
          <p:nvPr/>
        </p:nvSpPr>
        <p:spPr>
          <a:xfrm>
            <a:off x="4846320" y="3063239"/>
            <a:ext cx="6766560" cy="777240"/>
          </a:xfrm>
          <a:prstGeom prst="rect">
            <a:avLst/>
          </a:prstGeom>
          <a:noFill/>
        </p:spPr>
        <p:txBody>
          <a:bodyPr wrap="square" anchor="t" lIns="0" rIns="0" tIns="0" bIns="0">
            <a:spAutoFit/>
          </a:bodyPr>
          <a:lstStyle/>
          <a:p>
            <a:pPr algn="l">
              <a:lnSpc>
                <a:spcPct val="112000"/>
              </a:lnSpc>
              <a:spcAft>
                <a:spcPts val="400"/>
              </a:spcAft>
            </a:pPr>
            <a:r>
              <a:rPr sz="1150" b="1" i="0">
                <a:solidFill>
                  <a:srgbClr val="16325C"/>
                </a:solidFill>
                <a:latin typeface="Calibri"/>
              </a:rPr>
              <a:t>Mitigation:  </a:t>
            </a:r>
            <a:r>
              <a:rPr sz="1150" b="0" i="0">
                <a:solidFill>
                  <a:srgbClr val="3A4356"/>
                </a:solidFill>
                <a:latin typeface="Calibri"/>
              </a:rPr>
              <a:t>The CAPEE PO-price hook automates it — quotes flow in without anyone changing habits. Plus a one-off historical import to start smart.</a:t>
            </a:r>
          </a:p>
        </p:txBody>
      </p:sp>
      <p:sp>
        <p:nvSpPr>
          <p:cNvPr id="19" name="Rounded Rectangle 18"/>
          <p:cNvSpPr/>
          <p:nvPr/>
        </p:nvSpPr>
        <p:spPr>
          <a:xfrm>
            <a:off x="411480" y="4032504"/>
            <a:ext cx="11384280" cy="93268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4032504"/>
            <a:ext cx="82296" cy="932688"/>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142232"/>
            <a:ext cx="4023360" cy="41148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Single-team knowledge of the platform</a:t>
            </a:r>
          </a:p>
        </p:txBody>
      </p:sp>
      <p:sp>
        <p:nvSpPr>
          <p:cNvPr id="22" name="TextBox 21"/>
          <p:cNvSpPr txBox="1"/>
          <p:nvPr/>
        </p:nvSpPr>
        <p:spPr>
          <a:xfrm>
            <a:off x="685800" y="4535424"/>
            <a:ext cx="1828800" cy="320040"/>
          </a:xfrm>
          <a:prstGeom prst="rect">
            <a:avLst/>
          </a:prstGeom>
          <a:noFill/>
        </p:spPr>
        <p:txBody>
          <a:bodyPr wrap="square" anchor="t" lIns="0" rIns="0" tIns="0" bIns="0">
            <a:spAutoFit/>
          </a:bodyPr>
          <a:lstStyle/>
          <a:p>
            <a:pPr algn="l">
              <a:lnSpc>
                <a:spcPct val="100000"/>
              </a:lnSpc>
              <a:spcAft>
                <a:spcPts val="400"/>
              </a:spcAft>
            </a:pPr>
            <a:r>
              <a:rPr sz="1050" b="1" i="0">
                <a:solidFill>
                  <a:srgbClr val="6B3FA0"/>
                </a:solidFill>
                <a:latin typeface="Calibri"/>
              </a:rPr>
              <a:t>Likelihood: Low–Med</a:t>
            </a:r>
          </a:p>
        </p:txBody>
      </p:sp>
      <p:sp>
        <p:nvSpPr>
          <p:cNvPr id="23" name="TextBox 22"/>
          <p:cNvSpPr txBox="1"/>
          <p:nvPr/>
        </p:nvSpPr>
        <p:spPr>
          <a:xfrm>
            <a:off x="4846320" y="4142232"/>
            <a:ext cx="6766560" cy="777240"/>
          </a:xfrm>
          <a:prstGeom prst="rect">
            <a:avLst/>
          </a:prstGeom>
          <a:noFill/>
        </p:spPr>
        <p:txBody>
          <a:bodyPr wrap="square" anchor="t" lIns="0" rIns="0" tIns="0" bIns="0">
            <a:spAutoFit/>
          </a:bodyPr>
          <a:lstStyle/>
          <a:p>
            <a:pPr algn="l">
              <a:lnSpc>
                <a:spcPct val="112000"/>
              </a:lnSpc>
              <a:spcAft>
                <a:spcPts val="400"/>
              </a:spcAft>
            </a:pPr>
            <a:r>
              <a:rPr sz="1150" b="1" i="0">
                <a:solidFill>
                  <a:srgbClr val="16325C"/>
                </a:solidFill>
                <a:latin typeface="Calibri"/>
              </a:rPr>
              <a:t>Mitigation:  </a:t>
            </a:r>
            <a:r>
              <a:rPr sz="1150" b="0" i="0">
                <a:solidFill>
                  <a:srgbClr val="3A4356"/>
                </a:solidFill>
                <a:latin typeface="Calibri"/>
              </a:rPr>
              <a:t>1,777 automated tests, written architecture docs, and a named CAPEE-side maintainer trained during Phase 4.</a:t>
            </a:r>
          </a:p>
        </p:txBody>
      </p:sp>
      <p:sp>
        <p:nvSpPr>
          <p:cNvPr id="24" name="Rounded Rectangle 23"/>
          <p:cNvSpPr/>
          <p:nvPr/>
        </p:nvSpPr>
        <p:spPr>
          <a:xfrm>
            <a:off x="411480" y="5111496"/>
            <a:ext cx="11384280" cy="93268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5111496"/>
            <a:ext cx="82296" cy="93268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221224"/>
            <a:ext cx="4023360" cy="41148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Adoption ("another tool")</a:t>
            </a:r>
          </a:p>
        </p:txBody>
      </p:sp>
      <p:sp>
        <p:nvSpPr>
          <p:cNvPr id="27" name="TextBox 26"/>
          <p:cNvSpPr txBox="1"/>
          <p:nvPr/>
        </p:nvSpPr>
        <p:spPr>
          <a:xfrm>
            <a:off x="685800" y="5614416"/>
            <a:ext cx="1828800" cy="320040"/>
          </a:xfrm>
          <a:prstGeom prst="rect">
            <a:avLst/>
          </a:prstGeom>
          <a:noFill/>
        </p:spPr>
        <p:txBody>
          <a:bodyPr wrap="square" anchor="t" lIns="0" rIns="0" tIns="0" bIns="0">
            <a:spAutoFit/>
          </a:bodyPr>
          <a:lstStyle/>
          <a:p>
            <a:pPr algn="l">
              <a:lnSpc>
                <a:spcPct val="100000"/>
              </a:lnSpc>
              <a:spcAft>
                <a:spcPts val="400"/>
              </a:spcAft>
            </a:pPr>
            <a:r>
              <a:rPr sz="1050" b="1" i="0">
                <a:solidFill>
                  <a:srgbClr val="2A7F50"/>
                </a:solidFill>
                <a:latin typeface="Calibri"/>
              </a:rPr>
              <a:t>Likelihood: Low</a:t>
            </a:r>
          </a:p>
        </p:txBody>
      </p:sp>
      <p:sp>
        <p:nvSpPr>
          <p:cNvPr id="28" name="TextBox 27"/>
          <p:cNvSpPr txBox="1"/>
          <p:nvPr/>
        </p:nvSpPr>
        <p:spPr>
          <a:xfrm>
            <a:off x="4846320" y="5221224"/>
            <a:ext cx="6766560" cy="777240"/>
          </a:xfrm>
          <a:prstGeom prst="rect">
            <a:avLst/>
          </a:prstGeom>
          <a:noFill/>
        </p:spPr>
        <p:txBody>
          <a:bodyPr wrap="square" anchor="t" lIns="0" rIns="0" tIns="0" bIns="0">
            <a:spAutoFit/>
          </a:bodyPr>
          <a:lstStyle/>
          <a:p>
            <a:pPr algn="l">
              <a:lnSpc>
                <a:spcPct val="112000"/>
              </a:lnSpc>
              <a:spcAft>
                <a:spcPts val="400"/>
              </a:spcAft>
            </a:pPr>
            <a:r>
              <a:rPr sz="1150" b="1" i="0">
                <a:solidFill>
                  <a:srgbClr val="16325C"/>
                </a:solidFill>
                <a:latin typeface="Calibri"/>
              </a:rPr>
              <a:t>Mitigation:  </a:t>
            </a:r>
            <a:r>
              <a:rPr sz="1150" b="0" i="0">
                <a:solidFill>
                  <a:srgbClr val="3A4356"/>
                </a:solidFill>
                <a:latin typeface="Calibri"/>
              </a:rPr>
              <a:t>Users stay in CAPEE — CostVision works behind the scenes. Nothing new to learn except better answers appearing.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DECISION</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Feasibility verdict — and the ask</a:t>
            </a:r>
          </a:p>
        </p:txBody>
      </p:sp>
      <p:sp>
        <p:nvSpPr>
          <p:cNvPr id="9" name="Rounded Rectangle 8"/>
          <p:cNvSpPr/>
          <p:nvPr/>
        </p:nvSpPr>
        <p:spPr>
          <a:xfrm>
            <a:off x="411480" y="1874519"/>
            <a:ext cx="11384280" cy="64008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11679"/>
            <a:ext cx="420624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Secure deployment, CAD fully internal</a:t>
            </a:r>
          </a:p>
        </p:txBody>
      </p:sp>
      <p:sp>
        <p:nvSpPr>
          <p:cNvPr id="11" name="TextBox 10"/>
          <p:cNvSpPr txBox="1"/>
          <p:nvPr/>
        </p:nvSpPr>
        <p:spPr>
          <a:xfrm>
            <a:off x="5029200" y="2011679"/>
            <a:ext cx="658368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2A7F50"/>
                </a:solidFill>
                <a:latin typeface="Calibri"/>
              </a:rPr>
              <a:t>FEASIBLE — CAD never leaves; AI routing + air-gap switch already BUILT</a:t>
            </a:r>
          </a:p>
        </p:txBody>
      </p:sp>
      <p:sp>
        <p:nvSpPr>
          <p:cNvPr id="12" name="Rounded Rectangle 11"/>
          <p:cNvSpPr/>
          <p:nvPr/>
        </p:nvSpPr>
        <p:spPr>
          <a:xfrm>
            <a:off x="411480" y="2624327"/>
            <a:ext cx="11384280" cy="640080"/>
          </a:xfrm>
          <a:prstGeom prst="roundRect">
            <a:avLst>
              <a:gd name="adj" fmla="val 13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61487"/>
            <a:ext cx="420624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Integration into CAPEE</a:t>
            </a:r>
          </a:p>
        </p:txBody>
      </p:sp>
      <p:sp>
        <p:nvSpPr>
          <p:cNvPr id="14" name="TextBox 13"/>
          <p:cNvSpPr txBox="1"/>
          <p:nvPr/>
        </p:nvSpPr>
        <p:spPr>
          <a:xfrm>
            <a:off x="5029200" y="2761487"/>
            <a:ext cx="658368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2A7F50"/>
                </a:solidFill>
                <a:latin typeface="Calibri"/>
              </a:rPr>
              <a:t>FEASIBLE — API-first; plugs into CAPEE as its should-cost engine, no rip-and-replace</a:t>
            </a:r>
          </a:p>
        </p:txBody>
      </p:sp>
      <p:sp>
        <p:nvSpPr>
          <p:cNvPr id="15" name="Rounded Rectangle 14"/>
          <p:cNvSpPr/>
          <p:nvPr/>
        </p:nvSpPr>
        <p:spPr>
          <a:xfrm>
            <a:off x="411480" y="3374135"/>
            <a:ext cx="11384280" cy="64008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511295"/>
            <a:ext cx="420624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Changes required</a:t>
            </a:r>
          </a:p>
        </p:txBody>
      </p:sp>
      <p:sp>
        <p:nvSpPr>
          <p:cNvPr id="17" name="TextBox 16"/>
          <p:cNvSpPr txBox="1"/>
          <p:nvPr/>
        </p:nvSpPr>
        <p:spPr>
          <a:xfrm>
            <a:off x="5029200" y="3511295"/>
            <a:ext cx="658368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1D6FB8"/>
                </a:solidFill>
                <a:latin typeface="Calibri"/>
              </a:rPr>
              <a:t>Head start delivered: 2 of 6 items built — ~3–5 engineering weeks remain</a:t>
            </a:r>
          </a:p>
        </p:txBody>
      </p:sp>
      <p:sp>
        <p:nvSpPr>
          <p:cNvPr id="18" name="Rounded Rectangle 17"/>
          <p:cNvSpPr/>
          <p:nvPr/>
        </p:nvSpPr>
        <p:spPr>
          <a:xfrm>
            <a:off x="411480" y="4123944"/>
            <a:ext cx="11384280" cy="640080"/>
          </a:xfrm>
          <a:prstGeom prst="roundRect">
            <a:avLst>
              <a:gd name="adj" fmla="val 13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261104"/>
            <a:ext cx="420624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Long-term governance</a:t>
            </a:r>
          </a:p>
        </p:txBody>
      </p:sp>
      <p:sp>
        <p:nvSpPr>
          <p:cNvPr id="20" name="TextBox 19"/>
          <p:cNvSpPr txBox="1"/>
          <p:nvPr/>
        </p:nvSpPr>
        <p:spPr>
          <a:xfrm>
            <a:off x="5029200" y="4261104"/>
            <a:ext cx="658368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6B3FA0"/>
                </a:solidFill>
                <a:latin typeface="Calibri"/>
              </a:rPr>
              <a:t>Rate-library board · monthly findings review · quarterly access &amp; egress audit</a:t>
            </a:r>
          </a:p>
        </p:txBody>
      </p:sp>
      <p:sp>
        <p:nvSpPr>
          <p:cNvPr id="21" name="Rounded Rectangle 20"/>
          <p:cNvSpPr/>
          <p:nvPr/>
        </p:nvSpPr>
        <p:spPr>
          <a:xfrm>
            <a:off x="411480" y="5120640"/>
            <a:ext cx="11384280" cy="114300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303520"/>
            <a:ext cx="10789920" cy="822960"/>
          </a:xfrm>
          <a:prstGeom prst="rect">
            <a:avLst/>
          </a:prstGeom>
          <a:noFill/>
        </p:spPr>
        <p:txBody>
          <a:bodyPr wrap="square" anchor="t" lIns="0" rIns="0" tIns="0" bIns="0">
            <a:spAutoFit/>
          </a:bodyPr>
          <a:lstStyle/>
          <a:p>
            <a:pPr algn="l">
              <a:lnSpc>
                <a:spcPct val="120000"/>
              </a:lnSpc>
              <a:spcAft>
                <a:spcPts val="400"/>
              </a:spcAft>
            </a:pPr>
            <a:r>
              <a:rPr sz="1600" b="1" i="0">
                <a:solidFill>
                  <a:srgbClr val="1D6FB8"/>
                </a:solidFill>
                <a:latin typeface="Calibri"/>
              </a:rPr>
              <a:t>The ask today:  </a:t>
            </a:r>
            <a:r>
              <a:rPr sz="1400" b="0" i="0">
                <a:solidFill>
                  <a:srgbClr val="3A4356"/>
                </a:solidFill>
                <a:latin typeface="Calibri"/>
              </a:rPr>
              <a:t>approve Phase 1 (IT-Security assessment) and Phase 2 (architecture design) — 5–7 weeks, existing teams. The full written plan and security checklist are ready for the security review.</a:t>
            </a:r>
          </a:p>
        </p:txBody>
      </p:sp>
      <p:sp>
        <p:nvSpPr>
          <p:cNvPr id="23" name="Rectangle 22"/>
          <p:cNvSpPr/>
          <p:nvPr/>
        </p:nvSpPr>
        <p:spPr>
          <a:xfrm>
            <a:off x="0" y="6711696"/>
            <a:ext cx="12191695" cy="14630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MARKET LANDSCAPE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Has anyone done this? Yes — the market is real</a:t>
            </a:r>
          </a:p>
        </p:txBody>
      </p:sp>
      <p:sp>
        <p:nvSpPr>
          <p:cNvPr id="9" name="Rounded Rectangle 8"/>
          <p:cNvSpPr/>
          <p:nvPr/>
        </p:nvSpPr>
        <p:spPr>
          <a:xfrm>
            <a:off x="411480" y="1810512"/>
            <a:ext cx="11384280" cy="71323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10512"/>
            <a:ext cx="82296" cy="71323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83664"/>
            <a:ext cx="23317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1D6FB8"/>
                </a:solidFill>
                <a:latin typeface="Calibri"/>
              </a:rPr>
              <a:t>aPriori</a:t>
            </a:r>
          </a:p>
        </p:txBody>
      </p:sp>
      <p:sp>
        <p:nvSpPr>
          <p:cNvPr id="12" name="TextBox 11"/>
          <p:cNvSpPr txBox="1"/>
          <p:nvPr/>
        </p:nvSpPr>
        <p:spPr>
          <a:xfrm>
            <a:off x="685800" y="2212848"/>
            <a:ext cx="2331720" cy="274320"/>
          </a:xfrm>
          <a:prstGeom prst="rect">
            <a:avLst/>
          </a:prstGeom>
          <a:noFill/>
        </p:spPr>
        <p:txBody>
          <a:bodyPr wrap="square" anchor="t" lIns="0" rIns="0" tIns="0" bIns="0">
            <a:spAutoFit/>
          </a:bodyPr>
          <a:lstStyle/>
          <a:p>
            <a:pPr algn="l">
              <a:lnSpc>
                <a:spcPct val="100000"/>
              </a:lnSpc>
              <a:spcAft>
                <a:spcPts val="400"/>
              </a:spcAft>
            </a:pPr>
            <a:r>
              <a:rPr sz="900" b="0" i="1">
                <a:solidFill>
                  <a:srgbClr val="686F7D"/>
                </a:solidFill>
                <a:latin typeface="Calibri"/>
              </a:rPr>
              <a:t>Market leader (US)</a:t>
            </a:r>
          </a:p>
        </p:txBody>
      </p:sp>
      <p:sp>
        <p:nvSpPr>
          <p:cNvPr id="13" name="TextBox 12"/>
          <p:cNvSpPr txBox="1"/>
          <p:nvPr/>
        </p:nvSpPr>
        <p:spPr>
          <a:xfrm>
            <a:off x="3154680" y="1883664"/>
            <a:ext cx="8412480" cy="411480"/>
          </a:xfrm>
          <a:prstGeom prst="rect">
            <a:avLst/>
          </a:prstGeom>
          <a:noFill/>
        </p:spPr>
        <p:txBody>
          <a:bodyPr wrap="square" anchor="t" lIns="0" rIns="0" tIns="0" bIns="0">
            <a:spAutoFit/>
          </a:bodyPr>
          <a:lstStyle/>
          <a:p>
            <a:pPr algn="l">
              <a:lnSpc>
                <a:spcPct val="105000"/>
              </a:lnSpc>
              <a:spcAft>
                <a:spcPts val="400"/>
              </a:spcAft>
            </a:pPr>
            <a:r>
              <a:rPr sz="1050" b="0" i="0">
                <a:solidFill>
                  <a:srgbClr val="3A4356"/>
                </a:solidFill>
                <a:latin typeface="Calibri"/>
              </a:rPr>
              <a:t>CAD-to-cost with physics-based models and regional cost databases. Used by Fortune-500 OEMs and Tier-1 suppliers — companies our size already pay for this category.</a:t>
            </a:r>
          </a:p>
        </p:txBody>
      </p:sp>
      <p:sp>
        <p:nvSpPr>
          <p:cNvPr id="14" name="TextBox 13"/>
          <p:cNvSpPr txBox="1"/>
          <p:nvPr/>
        </p:nvSpPr>
        <p:spPr>
          <a:xfrm>
            <a:off x="3154680" y="2313432"/>
            <a:ext cx="8412480" cy="201168"/>
          </a:xfrm>
          <a:prstGeom prst="rect">
            <a:avLst/>
          </a:prstGeom>
          <a:noFill/>
        </p:spPr>
        <p:txBody>
          <a:bodyPr wrap="square" anchor="t" lIns="0" rIns="0" tIns="0" bIns="0">
            <a:spAutoFit/>
          </a:bodyPr>
          <a:lstStyle/>
          <a:p>
            <a:pPr algn="l">
              <a:lnSpc>
                <a:spcPct val="100000"/>
              </a:lnSpc>
              <a:spcAft>
                <a:spcPts val="400"/>
              </a:spcAft>
            </a:pPr>
            <a:r>
              <a:rPr sz="850" b="0" i="1">
                <a:solidFill>
                  <a:srgbClr val="686F7D"/>
                </a:solidFill>
                <a:latin typeface="Calibri"/>
              </a:rPr>
              <a:t>Source: apriori.com</a:t>
            </a:r>
          </a:p>
        </p:txBody>
      </p:sp>
      <p:sp>
        <p:nvSpPr>
          <p:cNvPr id="15" name="Rounded Rectangle 14"/>
          <p:cNvSpPr/>
          <p:nvPr/>
        </p:nvSpPr>
        <p:spPr>
          <a:xfrm>
            <a:off x="411480" y="2606040"/>
            <a:ext cx="11384280" cy="71323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2606040"/>
            <a:ext cx="82296" cy="71323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679192"/>
            <a:ext cx="23317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1D6FB8"/>
                </a:solidFill>
                <a:latin typeface="Calibri"/>
              </a:rPr>
              <a:t>Siemens PCM</a:t>
            </a:r>
          </a:p>
        </p:txBody>
      </p:sp>
      <p:sp>
        <p:nvSpPr>
          <p:cNvPr id="18" name="TextBox 17"/>
          <p:cNvSpPr txBox="1"/>
          <p:nvPr/>
        </p:nvSpPr>
        <p:spPr>
          <a:xfrm>
            <a:off x="685800" y="3008376"/>
            <a:ext cx="2331720" cy="274320"/>
          </a:xfrm>
          <a:prstGeom prst="rect">
            <a:avLst/>
          </a:prstGeom>
          <a:noFill/>
        </p:spPr>
        <p:txBody>
          <a:bodyPr wrap="square" anchor="t" lIns="0" rIns="0" tIns="0" bIns="0">
            <a:spAutoFit/>
          </a:bodyPr>
          <a:lstStyle/>
          <a:p>
            <a:pPr algn="l">
              <a:lnSpc>
                <a:spcPct val="100000"/>
              </a:lnSpc>
              <a:spcAft>
                <a:spcPts val="400"/>
              </a:spcAft>
            </a:pPr>
            <a:r>
              <a:rPr sz="900" b="0" i="1">
                <a:solidFill>
                  <a:srgbClr val="686F7D"/>
                </a:solidFill>
                <a:latin typeface="Calibri"/>
              </a:rPr>
              <a:t>PLM giant (Teamcenter)</a:t>
            </a:r>
          </a:p>
        </p:txBody>
      </p:sp>
      <p:sp>
        <p:nvSpPr>
          <p:cNvPr id="19" name="TextBox 18"/>
          <p:cNvSpPr txBox="1"/>
          <p:nvPr/>
        </p:nvSpPr>
        <p:spPr>
          <a:xfrm>
            <a:off x="3154680" y="2679192"/>
            <a:ext cx="8412480" cy="411480"/>
          </a:xfrm>
          <a:prstGeom prst="rect">
            <a:avLst/>
          </a:prstGeom>
          <a:noFill/>
        </p:spPr>
        <p:txBody>
          <a:bodyPr wrap="square" anchor="t" lIns="0" rIns="0" tIns="0" bIns="0">
            <a:spAutoFit/>
          </a:bodyPr>
          <a:lstStyle/>
          <a:p>
            <a:pPr algn="l">
              <a:lnSpc>
                <a:spcPct val="105000"/>
              </a:lnSpc>
              <a:spcAft>
                <a:spcPts val="400"/>
              </a:spcAft>
            </a:pPr>
            <a:r>
              <a:rPr sz="1050" b="0" i="0">
                <a:solidFill>
                  <a:srgbClr val="3A4356"/>
                </a:solidFill>
                <a:latin typeface="Calibri"/>
              </a:rPr>
              <a:t>Bottom-up should-costing with process models and supplier collaboration, embedded in the Siemens PLM suite.</a:t>
            </a:r>
          </a:p>
        </p:txBody>
      </p:sp>
      <p:sp>
        <p:nvSpPr>
          <p:cNvPr id="20" name="TextBox 19"/>
          <p:cNvSpPr txBox="1"/>
          <p:nvPr/>
        </p:nvSpPr>
        <p:spPr>
          <a:xfrm>
            <a:off x="3154680" y="3108960"/>
            <a:ext cx="8412480" cy="201168"/>
          </a:xfrm>
          <a:prstGeom prst="rect">
            <a:avLst/>
          </a:prstGeom>
          <a:noFill/>
        </p:spPr>
        <p:txBody>
          <a:bodyPr wrap="square" anchor="t" lIns="0" rIns="0" tIns="0" bIns="0">
            <a:spAutoFit/>
          </a:bodyPr>
          <a:lstStyle/>
          <a:p>
            <a:pPr algn="l">
              <a:lnSpc>
                <a:spcPct val="100000"/>
              </a:lnSpc>
              <a:spcAft>
                <a:spcPts val="400"/>
              </a:spcAft>
            </a:pPr>
            <a:r>
              <a:rPr sz="850" b="0" i="1">
                <a:solidFill>
                  <a:srgbClr val="686F7D"/>
                </a:solidFill>
                <a:latin typeface="Calibri"/>
              </a:rPr>
              <a:t>Source: siemens.com/teamcenter</a:t>
            </a:r>
          </a:p>
        </p:txBody>
      </p:sp>
      <p:sp>
        <p:nvSpPr>
          <p:cNvPr id="21" name="Rounded Rectangle 20"/>
          <p:cNvSpPr/>
          <p:nvPr/>
        </p:nvSpPr>
        <p:spPr>
          <a:xfrm>
            <a:off x="411480" y="3401568"/>
            <a:ext cx="11384280" cy="71323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401568"/>
            <a:ext cx="82296" cy="71323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474720"/>
            <a:ext cx="23317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6B3FA0"/>
                </a:solidFill>
                <a:latin typeface="Calibri"/>
              </a:rPr>
              <a:t>Tset</a:t>
            </a:r>
          </a:p>
        </p:txBody>
      </p:sp>
      <p:sp>
        <p:nvSpPr>
          <p:cNvPr id="24" name="TextBox 23"/>
          <p:cNvSpPr txBox="1"/>
          <p:nvPr/>
        </p:nvSpPr>
        <p:spPr>
          <a:xfrm>
            <a:off x="685800" y="3803904"/>
            <a:ext cx="2331720" cy="274320"/>
          </a:xfrm>
          <a:prstGeom prst="rect">
            <a:avLst/>
          </a:prstGeom>
          <a:noFill/>
        </p:spPr>
        <p:txBody>
          <a:bodyPr wrap="square" anchor="t" lIns="0" rIns="0" tIns="0" bIns="0">
            <a:spAutoFit/>
          </a:bodyPr>
          <a:lstStyle/>
          <a:p>
            <a:pPr algn="l">
              <a:lnSpc>
                <a:spcPct val="100000"/>
              </a:lnSpc>
              <a:spcAft>
                <a:spcPts val="400"/>
              </a:spcAft>
            </a:pPr>
            <a:r>
              <a:rPr sz="900" b="0" i="1">
                <a:solidFill>
                  <a:srgbClr val="686F7D"/>
                </a:solidFill>
                <a:latin typeface="Calibri"/>
              </a:rPr>
              <a:t>AI challenger (Austria, 2018)</a:t>
            </a:r>
          </a:p>
        </p:txBody>
      </p:sp>
      <p:sp>
        <p:nvSpPr>
          <p:cNvPr id="25" name="TextBox 24"/>
          <p:cNvSpPr txBox="1"/>
          <p:nvPr/>
        </p:nvSpPr>
        <p:spPr>
          <a:xfrm>
            <a:off x="3154680" y="3474720"/>
            <a:ext cx="8412480" cy="411480"/>
          </a:xfrm>
          <a:prstGeom prst="rect">
            <a:avLst/>
          </a:prstGeom>
          <a:noFill/>
        </p:spPr>
        <p:txBody>
          <a:bodyPr wrap="square" anchor="t" lIns="0" rIns="0" tIns="0" bIns="0">
            <a:spAutoFit/>
          </a:bodyPr>
          <a:lstStyle/>
          <a:p>
            <a:pPr algn="l">
              <a:lnSpc>
                <a:spcPct val="105000"/>
              </a:lnSpc>
              <a:spcAft>
                <a:spcPts val="400"/>
              </a:spcAft>
            </a:pPr>
            <a:r>
              <a:rPr sz="1050" b="0" i="0">
                <a:solidFill>
                  <a:srgbClr val="3A4356"/>
                </a:solidFill>
                <a:latin typeface="Calibri"/>
              </a:rPr>
              <a:t>Automotive-focused costing from 3D models and BOMs, 50+ calculation modules plus CO2. Being acquired by A2MAC1 (June 2026) to build "AI-enabled costing intelligence".</a:t>
            </a:r>
          </a:p>
        </p:txBody>
      </p:sp>
      <p:sp>
        <p:nvSpPr>
          <p:cNvPr id="26" name="TextBox 25"/>
          <p:cNvSpPr txBox="1"/>
          <p:nvPr/>
        </p:nvSpPr>
        <p:spPr>
          <a:xfrm>
            <a:off x="3154680" y="3904488"/>
            <a:ext cx="8412480" cy="201168"/>
          </a:xfrm>
          <a:prstGeom prst="rect">
            <a:avLst/>
          </a:prstGeom>
          <a:noFill/>
        </p:spPr>
        <p:txBody>
          <a:bodyPr wrap="square" anchor="t" lIns="0" rIns="0" tIns="0" bIns="0">
            <a:spAutoFit/>
          </a:bodyPr>
          <a:lstStyle/>
          <a:p>
            <a:pPr algn="l">
              <a:lnSpc>
                <a:spcPct val="100000"/>
              </a:lnSpc>
              <a:spcAft>
                <a:spcPts val="400"/>
              </a:spcAft>
            </a:pPr>
            <a:r>
              <a:rPr sz="850" b="0" i="1">
                <a:solidFill>
                  <a:srgbClr val="686F7D"/>
                </a:solidFill>
                <a:latin typeface="Calibri"/>
              </a:rPr>
              <a:t>Source: tset.com · globenewswire.com (18 Jun 2026)</a:t>
            </a:r>
          </a:p>
        </p:txBody>
      </p:sp>
      <p:sp>
        <p:nvSpPr>
          <p:cNvPr id="27" name="Rounded Rectangle 26"/>
          <p:cNvSpPr/>
          <p:nvPr/>
        </p:nvSpPr>
        <p:spPr>
          <a:xfrm>
            <a:off x="411480" y="4197096"/>
            <a:ext cx="11384280" cy="71323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4197096"/>
            <a:ext cx="82296" cy="713232"/>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270248"/>
            <a:ext cx="23317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0D7D71"/>
                </a:solidFill>
                <a:latin typeface="Calibri"/>
              </a:rPr>
              <a:t>Boothroyd DFMA</a:t>
            </a:r>
          </a:p>
        </p:txBody>
      </p:sp>
      <p:sp>
        <p:nvSpPr>
          <p:cNvPr id="30" name="TextBox 29"/>
          <p:cNvSpPr txBox="1"/>
          <p:nvPr/>
        </p:nvSpPr>
        <p:spPr>
          <a:xfrm>
            <a:off x="685800" y="4599432"/>
            <a:ext cx="2331720" cy="274320"/>
          </a:xfrm>
          <a:prstGeom prst="rect">
            <a:avLst/>
          </a:prstGeom>
          <a:noFill/>
        </p:spPr>
        <p:txBody>
          <a:bodyPr wrap="square" anchor="t" lIns="0" rIns="0" tIns="0" bIns="0">
            <a:spAutoFit/>
          </a:bodyPr>
          <a:lstStyle/>
          <a:p>
            <a:pPr algn="l">
              <a:lnSpc>
                <a:spcPct val="100000"/>
              </a:lnSpc>
              <a:spcAft>
                <a:spcPts val="400"/>
              </a:spcAft>
            </a:pPr>
            <a:r>
              <a:rPr sz="900" b="0" i="1">
                <a:solidFill>
                  <a:srgbClr val="686F7D"/>
                </a:solidFill>
                <a:latin typeface="Calibri"/>
              </a:rPr>
              <a:t>The classic (Dewhurst)</a:t>
            </a:r>
          </a:p>
        </p:txBody>
      </p:sp>
      <p:sp>
        <p:nvSpPr>
          <p:cNvPr id="31" name="TextBox 30"/>
          <p:cNvSpPr txBox="1"/>
          <p:nvPr/>
        </p:nvSpPr>
        <p:spPr>
          <a:xfrm>
            <a:off x="3154680" y="4270248"/>
            <a:ext cx="8412480" cy="411480"/>
          </a:xfrm>
          <a:prstGeom prst="rect">
            <a:avLst/>
          </a:prstGeom>
          <a:noFill/>
        </p:spPr>
        <p:txBody>
          <a:bodyPr wrap="square" anchor="t" lIns="0" rIns="0" tIns="0" bIns="0">
            <a:spAutoFit/>
          </a:bodyPr>
          <a:lstStyle/>
          <a:p>
            <a:pPr algn="l">
              <a:lnSpc>
                <a:spcPct val="105000"/>
              </a:lnSpc>
              <a:spcAft>
                <a:spcPts val="400"/>
              </a:spcAft>
            </a:pPr>
            <a:r>
              <a:rPr sz="1050" b="0" i="0">
                <a:solidFill>
                  <a:srgbClr val="3A4356"/>
                </a:solidFill>
                <a:latin typeface="Calibri"/>
              </a:rPr>
              <a:t>Design-for-manufacture and concurrent costing — the methodology textbooks are built on, used for decades.</a:t>
            </a:r>
          </a:p>
        </p:txBody>
      </p:sp>
      <p:sp>
        <p:nvSpPr>
          <p:cNvPr id="32" name="TextBox 31"/>
          <p:cNvSpPr txBox="1"/>
          <p:nvPr/>
        </p:nvSpPr>
        <p:spPr>
          <a:xfrm>
            <a:off x="3154680" y="4700016"/>
            <a:ext cx="8412480" cy="201168"/>
          </a:xfrm>
          <a:prstGeom prst="rect">
            <a:avLst/>
          </a:prstGeom>
          <a:noFill/>
        </p:spPr>
        <p:txBody>
          <a:bodyPr wrap="square" anchor="t" lIns="0" rIns="0" tIns="0" bIns="0">
            <a:spAutoFit/>
          </a:bodyPr>
          <a:lstStyle/>
          <a:p>
            <a:pPr algn="l">
              <a:lnSpc>
                <a:spcPct val="100000"/>
              </a:lnSpc>
              <a:spcAft>
                <a:spcPts val="400"/>
              </a:spcAft>
            </a:pPr>
            <a:r>
              <a:rPr sz="850" b="0" i="1">
                <a:solidFill>
                  <a:srgbClr val="686F7D"/>
                </a:solidFill>
                <a:latin typeface="Calibri"/>
              </a:rPr>
              <a:t>Source: dfma.com</a:t>
            </a:r>
          </a:p>
        </p:txBody>
      </p:sp>
      <p:sp>
        <p:nvSpPr>
          <p:cNvPr id="33" name="Rounded Rectangle 32"/>
          <p:cNvSpPr/>
          <p:nvPr/>
        </p:nvSpPr>
        <p:spPr>
          <a:xfrm>
            <a:off x="411480" y="4992624"/>
            <a:ext cx="11384280" cy="71323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 y="4992624"/>
            <a:ext cx="82296" cy="713232"/>
          </a:xfrm>
          <a:prstGeom prst="rect">
            <a:avLst/>
          </a:prstGeom>
          <a:solidFill>
            <a:srgbClr val="686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065776"/>
            <a:ext cx="23317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686F7D"/>
                </a:solidFill>
                <a:latin typeface="Calibri"/>
              </a:rPr>
              <a:t>New AI entrants</a:t>
            </a:r>
          </a:p>
        </p:txBody>
      </p:sp>
      <p:sp>
        <p:nvSpPr>
          <p:cNvPr id="36" name="TextBox 35"/>
          <p:cNvSpPr txBox="1"/>
          <p:nvPr/>
        </p:nvSpPr>
        <p:spPr>
          <a:xfrm>
            <a:off x="685800" y="5394960"/>
            <a:ext cx="2331720" cy="274320"/>
          </a:xfrm>
          <a:prstGeom prst="rect">
            <a:avLst/>
          </a:prstGeom>
          <a:noFill/>
        </p:spPr>
        <p:txBody>
          <a:bodyPr wrap="square" anchor="t" lIns="0" rIns="0" tIns="0" bIns="0">
            <a:spAutoFit/>
          </a:bodyPr>
          <a:lstStyle/>
          <a:p>
            <a:pPr algn="l">
              <a:lnSpc>
                <a:spcPct val="100000"/>
              </a:lnSpc>
              <a:spcAft>
                <a:spcPts val="400"/>
              </a:spcAft>
            </a:pPr>
            <a:r>
              <a:rPr sz="900" b="0" i="1">
                <a:solidFill>
                  <a:srgbClr val="686F7D"/>
                </a:solidFill>
                <a:latin typeface="Calibri"/>
              </a:rPr>
              <a:t>Start-ups</a:t>
            </a:r>
          </a:p>
        </p:txBody>
      </p:sp>
      <p:sp>
        <p:nvSpPr>
          <p:cNvPr id="37" name="TextBox 36"/>
          <p:cNvSpPr txBox="1"/>
          <p:nvPr/>
        </p:nvSpPr>
        <p:spPr>
          <a:xfrm>
            <a:off x="3154680" y="5065776"/>
            <a:ext cx="8412480" cy="411480"/>
          </a:xfrm>
          <a:prstGeom prst="rect">
            <a:avLst/>
          </a:prstGeom>
          <a:noFill/>
        </p:spPr>
        <p:txBody>
          <a:bodyPr wrap="square" anchor="t" lIns="0" rIns="0" tIns="0" bIns="0">
            <a:spAutoFit/>
          </a:bodyPr>
          <a:lstStyle/>
          <a:p>
            <a:pPr algn="l">
              <a:lnSpc>
                <a:spcPct val="105000"/>
              </a:lnSpc>
              <a:spcAft>
                <a:spcPts val="400"/>
              </a:spcAft>
            </a:pPr>
            <a:r>
              <a:rPr sz="1050" b="0" i="0">
                <a:solidFill>
                  <a:srgbClr val="3A4356"/>
                </a:solidFill>
                <a:latin typeface="Calibri"/>
              </a:rPr>
              <a:t>Razorlabs Cost Advisor, Emithran and others: AI quotes from CAD files, calibrated on live machining data.</a:t>
            </a:r>
          </a:p>
        </p:txBody>
      </p:sp>
      <p:sp>
        <p:nvSpPr>
          <p:cNvPr id="38" name="TextBox 37"/>
          <p:cNvSpPr txBox="1"/>
          <p:nvPr/>
        </p:nvSpPr>
        <p:spPr>
          <a:xfrm>
            <a:off x="3154680" y="5495544"/>
            <a:ext cx="8412480" cy="201168"/>
          </a:xfrm>
          <a:prstGeom prst="rect">
            <a:avLst/>
          </a:prstGeom>
          <a:noFill/>
        </p:spPr>
        <p:txBody>
          <a:bodyPr wrap="square" anchor="t" lIns="0" rIns="0" tIns="0" bIns="0">
            <a:spAutoFit/>
          </a:bodyPr>
          <a:lstStyle/>
          <a:p>
            <a:pPr algn="l">
              <a:lnSpc>
                <a:spcPct val="100000"/>
              </a:lnSpc>
              <a:spcAft>
                <a:spcPts val="400"/>
              </a:spcAft>
            </a:pPr>
            <a:r>
              <a:rPr sz="850" b="0" i="1">
                <a:solidFill>
                  <a:srgbClr val="686F7D"/>
                </a:solidFill>
                <a:latin typeface="Calibri"/>
              </a:rPr>
              <a:t>Source: emithran.com</a:t>
            </a:r>
          </a:p>
        </p:txBody>
      </p:sp>
      <p:sp>
        <p:nvSpPr>
          <p:cNvPr id="39" name="Rounded Rectangle 38"/>
          <p:cNvSpPr/>
          <p:nvPr/>
        </p:nvSpPr>
        <p:spPr>
          <a:xfrm>
            <a:off x="411480" y="5897880"/>
            <a:ext cx="11384280" cy="685800"/>
          </a:xfrm>
          <a:prstGeom prst="roundRect">
            <a:avLst>
              <a:gd name="adj" fmla="val 1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6016752"/>
            <a:ext cx="10881360" cy="502920"/>
          </a:xfrm>
          <a:prstGeom prst="rect">
            <a:avLst/>
          </a:prstGeom>
          <a:noFill/>
        </p:spPr>
        <p:txBody>
          <a:bodyPr wrap="square" anchor="t" lIns="0" rIns="0" tIns="0" bIns="0">
            <a:spAutoFit/>
          </a:bodyPr>
          <a:lstStyle/>
          <a:p>
            <a:pPr algn="l">
              <a:lnSpc>
                <a:spcPct val="112000"/>
              </a:lnSpc>
              <a:spcAft>
                <a:spcPts val="400"/>
              </a:spcAft>
            </a:pPr>
            <a:r>
              <a:rPr sz="1200" b="1" i="0">
                <a:solidFill>
                  <a:srgbClr val="1D6FB8"/>
                </a:solidFill>
                <a:latin typeface="Calibri"/>
              </a:rPr>
              <a:t>Takeaway: </a:t>
            </a:r>
            <a:r>
              <a:rPr sz="1200" b="0" i="0">
                <a:solidFill>
                  <a:srgbClr val="3A4356"/>
                </a:solidFill>
                <a:latin typeface="Calibri"/>
              </a:rPr>
              <a:t>the should-cost category is proven — large OEMs already pay for it. The question is not IF it works, but why OURS fits us better: security, learning on our own data, and CAPEE integration (next slide).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DIFFERENTIATION</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Why ours — what no vendor offers today</a:t>
            </a:r>
          </a:p>
        </p:txBody>
      </p:sp>
      <p:sp>
        <p:nvSpPr>
          <p:cNvPr id="9" name="Rounded Rectangle 8"/>
          <p:cNvSpPr/>
          <p:nvPr/>
        </p:nvSpPr>
        <p:spPr>
          <a:xfrm>
            <a:off x="411480" y="1828800"/>
            <a:ext cx="5577840" cy="1325880"/>
          </a:xfrm>
          <a:prstGeom prst="roundRect">
            <a:avLst>
              <a:gd name="adj" fmla="val 9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28800"/>
            <a:ext cx="82296" cy="13258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938528"/>
            <a:ext cx="5120640" cy="320040"/>
          </a:xfrm>
          <a:prstGeom prst="rect">
            <a:avLst/>
          </a:prstGeom>
          <a:noFill/>
        </p:spPr>
        <p:txBody>
          <a:bodyPr wrap="square" anchor="t" lIns="0" rIns="0" tIns="0" bIns="0">
            <a:spAutoFit/>
          </a:bodyPr>
          <a:lstStyle/>
          <a:p>
            <a:pPr algn="l">
              <a:lnSpc>
                <a:spcPct val="100000"/>
              </a:lnSpc>
              <a:spcAft>
                <a:spcPts val="400"/>
              </a:spcAft>
            </a:pPr>
            <a:r>
              <a:rPr sz="1350" b="1" i="0">
                <a:solidFill>
                  <a:srgbClr val="2A7F50"/>
                </a:solidFill>
                <a:latin typeface="Calibri"/>
              </a:rPr>
              <a:t>Costs a board from a photograph</a:t>
            </a:r>
          </a:p>
        </p:txBody>
      </p:sp>
      <p:sp>
        <p:nvSpPr>
          <p:cNvPr id="12" name="TextBox 11"/>
          <p:cNvSpPr txBox="1"/>
          <p:nvPr/>
        </p:nvSpPr>
        <p:spPr>
          <a:xfrm>
            <a:off x="667512" y="2286000"/>
            <a:ext cx="5120640" cy="822960"/>
          </a:xfrm>
          <a:prstGeom prst="rect">
            <a:avLst/>
          </a:prstGeom>
          <a:noFill/>
        </p:spPr>
        <p:txBody>
          <a:bodyPr wrap="square" anchor="t" lIns="0" rIns="0" tIns="0" bIns="0">
            <a:spAutoFit/>
          </a:bodyPr>
          <a:lstStyle/>
          <a:p>
            <a:pPr algn="l">
              <a:lnSpc>
                <a:spcPct val="110000"/>
              </a:lnSpc>
              <a:spcAft>
                <a:spcPts val="400"/>
              </a:spcAft>
            </a:pPr>
            <a:r>
              <a:rPr sz="1050" b="0" i="0">
                <a:solidFill>
                  <a:srgbClr val="3A4356"/>
                </a:solidFill>
                <a:latin typeface="Calibri"/>
              </a:rPr>
              <a:t>No mainstream costing suite does this. Design tools build a BOM during design; none of them price one from a picture.</a:t>
            </a:r>
          </a:p>
        </p:txBody>
      </p:sp>
      <p:sp>
        <p:nvSpPr>
          <p:cNvPr id="13" name="Rounded Rectangle 12"/>
          <p:cNvSpPr/>
          <p:nvPr/>
        </p:nvSpPr>
        <p:spPr>
          <a:xfrm>
            <a:off x="6217920" y="1828800"/>
            <a:ext cx="5577840" cy="1325880"/>
          </a:xfrm>
          <a:prstGeom prst="roundRect">
            <a:avLst>
              <a:gd name="adj" fmla="val 9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28800"/>
            <a:ext cx="82296" cy="13258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938528"/>
            <a:ext cx="5120640" cy="320040"/>
          </a:xfrm>
          <a:prstGeom prst="rect">
            <a:avLst/>
          </a:prstGeom>
          <a:noFill/>
        </p:spPr>
        <p:txBody>
          <a:bodyPr wrap="square" anchor="t" lIns="0" rIns="0" tIns="0" bIns="0">
            <a:spAutoFit/>
          </a:bodyPr>
          <a:lstStyle/>
          <a:p>
            <a:pPr algn="l">
              <a:lnSpc>
                <a:spcPct val="100000"/>
              </a:lnSpc>
              <a:spcAft>
                <a:spcPts val="400"/>
              </a:spcAft>
            </a:pPr>
            <a:r>
              <a:rPr sz="1350" b="1" i="0">
                <a:solidFill>
                  <a:srgbClr val="2A7F50"/>
                </a:solidFill>
                <a:latin typeface="Calibri"/>
              </a:rPr>
              <a:t>Learns from our own prices</a:t>
            </a:r>
          </a:p>
        </p:txBody>
      </p:sp>
      <p:sp>
        <p:nvSpPr>
          <p:cNvPr id="16" name="TextBox 15"/>
          <p:cNvSpPr txBox="1"/>
          <p:nvPr/>
        </p:nvSpPr>
        <p:spPr>
          <a:xfrm>
            <a:off x="6473952" y="2286000"/>
            <a:ext cx="5120640" cy="822960"/>
          </a:xfrm>
          <a:prstGeom prst="rect">
            <a:avLst/>
          </a:prstGeom>
          <a:noFill/>
        </p:spPr>
        <p:txBody>
          <a:bodyPr wrap="square" anchor="t" lIns="0" rIns="0" tIns="0" bIns="0">
            <a:spAutoFit/>
          </a:bodyPr>
          <a:lstStyle/>
          <a:p>
            <a:pPr algn="l">
              <a:lnSpc>
                <a:spcPct val="110000"/>
              </a:lnSpc>
              <a:spcAft>
                <a:spcPts val="400"/>
              </a:spcAft>
            </a:pPr>
            <a:r>
              <a:rPr sz="1050" b="0" i="0">
                <a:solidFill>
                  <a:srgbClr val="3A4356"/>
                </a:solidFill>
                <a:latin typeface="Calibri"/>
              </a:rPr>
              <a:t>Error fell from 10.9% to 0.3% after three real quotes. The incumbents are still marketing toward this.</a:t>
            </a:r>
          </a:p>
        </p:txBody>
      </p:sp>
      <p:sp>
        <p:nvSpPr>
          <p:cNvPr id="17" name="Rounded Rectangle 16"/>
          <p:cNvSpPr/>
          <p:nvPr/>
        </p:nvSpPr>
        <p:spPr>
          <a:xfrm>
            <a:off x="411480" y="3310128"/>
            <a:ext cx="5577840" cy="1325880"/>
          </a:xfrm>
          <a:prstGeom prst="roundRect">
            <a:avLst>
              <a:gd name="adj" fmla="val 9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310128"/>
            <a:ext cx="82296" cy="13258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19856"/>
            <a:ext cx="5120640" cy="320040"/>
          </a:xfrm>
          <a:prstGeom prst="rect">
            <a:avLst/>
          </a:prstGeom>
          <a:noFill/>
        </p:spPr>
        <p:txBody>
          <a:bodyPr wrap="square" anchor="t" lIns="0" rIns="0" tIns="0" bIns="0">
            <a:spAutoFit/>
          </a:bodyPr>
          <a:lstStyle/>
          <a:p>
            <a:pPr algn="l">
              <a:lnSpc>
                <a:spcPct val="100000"/>
              </a:lnSpc>
              <a:spcAft>
                <a:spcPts val="400"/>
              </a:spcAft>
            </a:pPr>
            <a:r>
              <a:rPr sz="1350" b="1" i="0">
                <a:solidFill>
                  <a:srgbClr val="2A7F50"/>
                </a:solidFill>
                <a:latin typeface="Calibri"/>
              </a:rPr>
              <a:t>Runs inside our walls</a:t>
            </a:r>
          </a:p>
        </p:txBody>
      </p:sp>
      <p:sp>
        <p:nvSpPr>
          <p:cNvPr id="20" name="TextBox 19"/>
          <p:cNvSpPr txBox="1"/>
          <p:nvPr/>
        </p:nvSpPr>
        <p:spPr>
          <a:xfrm>
            <a:off x="667512" y="3767328"/>
            <a:ext cx="5120640" cy="822960"/>
          </a:xfrm>
          <a:prstGeom prst="rect">
            <a:avLst/>
          </a:prstGeom>
          <a:noFill/>
        </p:spPr>
        <p:txBody>
          <a:bodyPr wrap="square" anchor="t" lIns="0" rIns="0" tIns="0" bIns="0">
            <a:spAutoFit/>
          </a:bodyPr>
          <a:lstStyle/>
          <a:p>
            <a:pPr algn="l">
              <a:lnSpc>
                <a:spcPct val="110000"/>
              </a:lnSpc>
              <a:spcAft>
                <a:spcPts val="400"/>
              </a:spcAft>
            </a:pPr>
            <a:r>
              <a:rPr sz="1050" b="0" i="0">
                <a:solidFill>
                  <a:srgbClr val="3A4356"/>
                </a:solidFill>
                <a:latin typeface="Calibri"/>
              </a:rPr>
              <a:t>Commercial tools are cloud — our CAD would live in their cloud. This one is on-premise, with the controls already built.</a:t>
            </a:r>
          </a:p>
        </p:txBody>
      </p:sp>
      <p:sp>
        <p:nvSpPr>
          <p:cNvPr id="21" name="Rounded Rectangle 20"/>
          <p:cNvSpPr/>
          <p:nvPr/>
        </p:nvSpPr>
        <p:spPr>
          <a:xfrm>
            <a:off x="6217920" y="3310128"/>
            <a:ext cx="5577840" cy="1325880"/>
          </a:xfrm>
          <a:prstGeom prst="roundRect">
            <a:avLst>
              <a:gd name="adj" fmla="val 9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310128"/>
            <a:ext cx="82296" cy="13258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419856"/>
            <a:ext cx="5120640" cy="320040"/>
          </a:xfrm>
          <a:prstGeom prst="rect">
            <a:avLst/>
          </a:prstGeom>
          <a:noFill/>
        </p:spPr>
        <p:txBody>
          <a:bodyPr wrap="square" anchor="t" lIns="0" rIns="0" tIns="0" bIns="0">
            <a:spAutoFit/>
          </a:bodyPr>
          <a:lstStyle/>
          <a:p>
            <a:pPr algn="l">
              <a:lnSpc>
                <a:spcPct val="100000"/>
              </a:lnSpc>
              <a:spcAft>
                <a:spcPts val="400"/>
              </a:spcAft>
            </a:pPr>
            <a:r>
              <a:rPr sz="1350" b="1" i="0">
                <a:solidFill>
                  <a:srgbClr val="2A7F50"/>
                </a:solidFill>
                <a:latin typeface="Calibri"/>
              </a:rPr>
              <a:t>One platform, no module licences</a:t>
            </a:r>
          </a:p>
        </p:txBody>
      </p:sp>
      <p:sp>
        <p:nvSpPr>
          <p:cNvPr id="24" name="TextBox 23"/>
          <p:cNvSpPr txBox="1"/>
          <p:nvPr/>
        </p:nvSpPr>
        <p:spPr>
          <a:xfrm>
            <a:off x="6473952" y="3767328"/>
            <a:ext cx="5120640" cy="822960"/>
          </a:xfrm>
          <a:prstGeom prst="rect">
            <a:avLst/>
          </a:prstGeom>
          <a:noFill/>
        </p:spPr>
        <p:txBody>
          <a:bodyPr wrap="square" anchor="t" lIns="0" rIns="0" tIns="0" bIns="0">
            <a:spAutoFit/>
          </a:bodyPr>
          <a:lstStyle/>
          <a:p>
            <a:pPr algn="l">
              <a:lnSpc>
                <a:spcPct val="110000"/>
              </a:lnSpc>
              <a:spcAft>
                <a:spcPts val="400"/>
              </a:spcAft>
            </a:pPr>
            <a:r>
              <a:rPr sz="1050" b="0" i="0">
                <a:solidFill>
                  <a:srgbClr val="3A4356"/>
                </a:solidFill>
                <a:latin typeface="Calibri"/>
              </a:rPr>
              <a:t>19 commodities, software costing, carbon and RFQ in one product. Vendors sell that breadth as separate licences.</a:t>
            </a:r>
          </a:p>
        </p:txBody>
      </p:sp>
      <p:sp>
        <p:nvSpPr>
          <p:cNvPr id="25" name="Rounded Rectangle 24"/>
          <p:cNvSpPr/>
          <p:nvPr/>
        </p:nvSpPr>
        <p:spPr>
          <a:xfrm>
            <a:off x="411480" y="4937760"/>
            <a:ext cx="11384280" cy="914400"/>
          </a:xfrm>
          <a:prstGeom prst="roundRect">
            <a:avLst>
              <a:gd name="adj" fmla="val 8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056632"/>
            <a:ext cx="10881360" cy="731520"/>
          </a:xfrm>
          <a:prstGeom prst="rect">
            <a:avLst/>
          </a:prstGeom>
          <a:noFill/>
        </p:spPr>
        <p:txBody>
          <a:bodyPr wrap="square" anchor="t" lIns="0" rIns="0" tIns="0" bIns="0">
            <a:spAutoFit/>
          </a:bodyPr>
          <a:lstStyle/>
          <a:p>
            <a:pPr algn="l">
              <a:lnSpc>
                <a:spcPct val="115000"/>
              </a:lnSpc>
              <a:spcAft>
                <a:spcPts val="400"/>
              </a:spcAft>
            </a:pPr>
            <a:r>
              <a:rPr sz="1200" b="1" i="0">
                <a:solidFill>
                  <a:srgbClr val="99651A"/>
                </a:solidFill>
                <a:latin typeface="Calibri"/>
              </a:rPr>
              <a:t>Honest caveat: </a:t>
            </a:r>
            <a:r>
              <a:rPr sz="1150" b="0" i="0">
                <a:solidFill>
                  <a:srgbClr val="3A4356"/>
                </a:solidFill>
                <a:latin typeface="Calibri"/>
              </a:rPr>
              <a:t>vendors like aPriori have decades of curated cost data behind their numbers. Our answer is the learning loop — every quote we log builds a history no vendor can sell us, and our rates stay confidential.</a:t>
            </a:r>
          </a:p>
        </p:txBody>
      </p:sp>
      <p:sp>
        <p:nvSpPr>
          <p:cNvPr id="27" name="TextBox 26"/>
          <p:cNvSpPr txBox="1"/>
          <p:nvPr/>
        </p:nvSpPr>
        <p:spPr>
          <a:xfrm>
            <a:off x="411480" y="5989320"/>
            <a:ext cx="11338560" cy="320040"/>
          </a:xfrm>
          <a:prstGeom prst="rect">
            <a:avLst/>
          </a:prstGeom>
          <a:noFill/>
        </p:spPr>
        <p:txBody>
          <a:bodyPr wrap="square" anchor="t" lIns="0" rIns="0" tIns="0" bIns="0">
            <a:spAutoFit/>
          </a:bodyPr>
          <a:lstStyle/>
          <a:p>
            <a:pPr algn="l">
              <a:lnSpc>
                <a:spcPct val="100000"/>
              </a:lnSpc>
              <a:spcAft>
                <a:spcPts val="400"/>
              </a:spcAft>
            </a:pPr>
            <a:r>
              <a:rPr sz="1200" b="1" i="0">
                <a:solidFill>
                  <a:srgbClr val="16325C"/>
                </a:solidFill>
                <a:latin typeface="Calibri"/>
              </a:rPr>
              <a:t>Positioning: not "better than aPriori" — a secure, in-house engine behind CAPEE that gets smarter on our own data.</a:t>
            </a:r>
          </a:p>
        </p:txBody>
      </p:sp>
      <p:sp>
        <p:nvSpPr>
          <p:cNvPr id="28" name="TextBox 27"/>
          <p:cNvSpPr txBox="1"/>
          <p:nvPr/>
        </p:nvSpPr>
        <p:spPr>
          <a:xfrm>
            <a:off x="411480" y="6355080"/>
            <a:ext cx="11338560" cy="228600"/>
          </a:xfrm>
          <a:prstGeom prst="rect">
            <a:avLst/>
          </a:prstGeom>
          <a:noFill/>
        </p:spPr>
        <p:txBody>
          <a:bodyPr wrap="square" anchor="t" lIns="0" rIns="0" tIns="0" bIns="0">
            <a:spAutoFit/>
          </a:bodyPr>
          <a:lstStyle/>
          <a:p>
            <a:pPr algn="l">
              <a:lnSpc>
                <a:spcPct val="100000"/>
              </a:lnSpc>
              <a:spcAft>
                <a:spcPts val="400"/>
              </a:spcAft>
            </a:pPr>
            <a:r>
              <a:rPr sz="850" b="0" i="1">
                <a:solidFill>
                  <a:srgbClr val="686F7D"/>
                </a:solidFill>
                <a:latin typeface="Calibri"/>
              </a:rPr>
              <a:t>Sources: apriori.com · siemens.com/teamcenter · tset.com · globenewswire.com (A2MAC1-Tset, 18 Jun 2026) · dfma.com · emithran.com · flux.ai · circuitmind.io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COMPANY COST DATABASE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Your rates, not vendor rates — already built</a:t>
            </a:r>
          </a:p>
        </p:txBody>
      </p:sp>
      <p:pic>
        <p:nvPicPr>
          <p:cNvPr id="9" name="Picture 8" descr="rate-library-upload-proof.png"/>
          <p:cNvPicPr>
            <a:picLocks noChangeAspect="1"/>
          </p:cNvPicPr>
          <p:nvPr/>
        </p:nvPicPr>
        <p:blipFill>
          <a:blip r:embed="rId2"/>
          <a:stretch>
            <a:fillRect/>
          </a:stretch>
        </p:blipFill>
        <p:spPr>
          <a:xfrm>
            <a:off x="411480" y="1828800"/>
            <a:ext cx="6309360" cy="4234893"/>
          </a:xfrm>
          <a:prstGeom prst="rect">
            <a:avLst/>
          </a:prstGeom>
          <a:ln w="12700">
            <a:solidFill>
              <a:srgbClr val="DCE3EE"/>
            </a:solidFill>
          </a:ln>
        </p:spPr>
      </p:pic>
      <p:sp>
        <p:nvSpPr>
          <p:cNvPr id="10" name="TextBox 9"/>
          <p:cNvSpPr txBox="1"/>
          <p:nvPr/>
        </p:nvSpPr>
        <p:spPr>
          <a:xfrm>
            <a:off x="411480" y="6144768"/>
            <a:ext cx="6309360" cy="457200"/>
          </a:xfrm>
          <a:prstGeom prst="rect">
            <a:avLst/>
          </a:prstGeom>
          <a:noFill/>
        </p:spPr>
        <p:txBody>
          <a:bodyPr wrap="square" anchor="t" lIns="0" rIns="0" tIns="0" bIns="0">
            <a:spAutoFit/>
          </a:bodyPr>
          <a:lstStyle/>
          <a:p>
            <a:pPr algn="l">
              <a:lnSpc>
                <a:spcPct val="110000"/>
              </a:lnSpc>
              <a:spcAft>
                <a:spcPts val="400"/>
              </a:spcAft>
            </a:pPr>
            <a:r>
              <a:rPr sz="950" b="0" i="1">
                <a:solidFill>
                  <a:srgbClr val="686F7D"/>
                </a:solidFill>
                <a:latin typeface="Calibri"/>
              </a:rPr>
              <a:t>Live screenshot (July 2026): Rate Library screen after a company workbook upload — badge shows "Company rates active".</a:t>
            </a:r>
          </a:p>
        </p:txBody>
      </p:sp>
      <p:sp>
        <p:nvSpPr>
          <p:cNvPr id="11" name="TextBox 10"/>
          <p:cNvSpPr txBox="1"/>
          <p:nvPr/>
        </p:nvSpPr>
        <p:spPr>
          <a:xfrm>
            <a:off x="6949440" y="1828800"/>
            <a:ext cx="4846320" cy="2194560"/>
          </a:xfrm>
          <a:prstGeom prst="rect">
            <a:avLst/>
          </a:prstGeom>
          <a:noFill/>
        </p:spPr>
        <p:txBody>
          <a:bodyPr wrap="square" anchor="t" lIns="0" rIns="0" tIns="0" bIns="0">
            <a:spAutoFit/>
          </a:bodyPr>
          <a:lstStyle/>
          <a:p>
            <a:pPr algn="l">
              <a:lnSpc>
                <a:spcPct val="115000"/>
              </a:lnSpc>
              <a:spcAft>
                <a:spcPts val="700"/>
              </a:spcAft>
            </a:pPr>
            <a:r>
              <a:rPr sz="1400" b="1" i="0">
                <a:solidFill>
                  <a:srgbClr val="1D6FB8"/>
                </a:solidFill>
                <a:latin typeface="Calibri"/>
              </a:rPr>
              <a:t>How admins load company data</a:t>
            </a:r>
          </a:p>
          <a:p>
            <a:pPr algn="l">
              <a:lnSpc>
                <a:spcPct val="115000"/>
              </a:lnSpc>
              <a:spcAft>
                <a:spcPts val="700"/>
              </a:spcAft>
            </a:pPr>
            <a:r>
              <a:rPr sz="1150" b="0" i="0">
                <a:solidFill>
                  <a:srgbClr val="3A4356"/>
                </a:solidFill>
                <a:latin typeface="Calibri"/>
              </a:rPr>
              <a:t>1.  Download the Excel template — six sheets: Materials · Machines · Labour · Energy · FX · Overhead.</a:t>
            </a:r>
          </a:p>
          <a:p>
            <a:pPr algn="l">
              <a:lnSpc>
                <a:spcPct val="115000"/>
              </a:lnSpc>
              <a:spcAft>
                <a:spcPts val="700"/>
              </a:spcAft>
            </a:pPr>
            <a:r>
              <a:rPr sz="1150" b="0" i="0">
                <a:solidFill>
                  <a:srgbClr val="3A4356"/>
                </a:solidFill>
                <a:latin typeface="Calibri"/>
              </a:rPr>
              <a:t>2.  Fill in our rates and upload — every row is validated; the file becomes the active library instantly.</a:t>
            </a:r>
          </a:p>
          <a:p>
            <a:pPr algn="l">
              <a:lnSpc>
                <a:spcPct val="115000"/>
              </a:lnSpc>
              <a:spcAft>
                <a:spcPts val="700"/>
              </a:spcAft>
            </a:pPr>
            <a:r>
              <a:rPr sz="1150" b="0" i="0">
                <a:solidFill>
                  <a:srgbClr val="3A4356"/>
                </a:solidFill>
                <a:latin typeface="Calibri"/>
              </a:rPr>
              <a:t>3.  Fine-tune any single cell in the tables — each change is logged with the user's name and a timestamp.</a:t>
            </a:r>
          </a:p>
        </p:txBody>
      </p:sp>
      <p:sp>
        <p:nvSpPr>
          <p:cNvPr id="12" name="Rounded Rectangle 11"/>
          <p:cNvSpPr/>
          <p:nvPr/>
        </p:nvSpPr>
        <p:spPr>
          <a:xfrm>
            <a:off x="6949440" y="3977639"/>
            <a:ext cx="4846320" cy="1051560"/>
          </a:xfrm>
          <a:prstGeom prst="roundRect">
            <a:avLst>
              <a:gd name="adj" fmla="val 10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8040" y="4114800"/>
            <a:ext cx="4434840" cy="822960"/>
          </a:xfrm>
          <a:prstGeom prst="rect">
            <a:avLst/>
          </a:prstGeom>
          <a:noFill/>
        </p:spPr>
        <p:txBody>
          <a:bodyPr wrap="square" anchor="t" lIns="0" rIns="0" tIns="0" bIns="0">
            <a:spAutoFit/>
          </a:bodyPr>
          <a:lstStyle/>
          <a:p>
            <a:pPr algn="l">
              <a:lnSpc>
                <a:spcPct val="115000"/>
              </a:lnSpc>
              <a:spcAft>
                <a:spcPts val="400"/>
              </a:spcAft>
            </a:pPr>
            <a:r>
              <a:rPr sz="1150" b="1" i="0">
                <a:solidFill>
                  <a:srgbClr val="2A7F50"/>
                </a:solidFill>
                <a:latin typeface="Calibri"/>
              </a:rPr>
              <a:t>Proven live today:  </a:t>
            </a:r>
            <a:r>
              <a:rPr sz="1100" b="0" i="0">
                <a:solidFill>
                  <a:srgbClr val="3A4356"/>
                </a:solidFill>
                <a:latin typeface="Calibri"/>
              </a:rPr>
              <a:t>a full workbook uploaded and accepted — 328 materials, 171 machines, 42 labour, 11 energy, 9 FX and 23 overhead rows — then activated.</a:t>
            </a:r>
          </a:p>
        </p:txBody>
      </p:sp>
      <p:sp>
        <p:nvSpPr>
          <p:cNvPr id="14" name="TextBox 13"/>
          <p:cNvSpPr txBox="1"/>
          <p:nvPr/>
        </p:nvSpPr>
        <p:spPr>
          <a:xfrm>
            <a:off x="6949440" y="5212080"/>
            <a:ext cx="4846320" cy="1280160"/>
          </a:xfrm>
          <a:prstGeom prst="rect">
            <a:avLst/>
          </a:prstGeom>
          <a:noFill/>
        </p:spPr>
        <p:txBody>
          <a:bodyPr wrap="square" anchor="t" lIns="0" rIns="0" tIns="0" bIns="0">
            <a:spAutoFit/>
          </a:bodyPr>
          <a:lstStyle/>
          <a:p>
            <a:pPr algn="l">
              <a:lnSpc>
                <a:spcPct val="112000"/>
              </a:lnSpc>
              <a:spcAft>
                <a:spcPts val="300"/>
              </a:spcAft>
            </a:pPr>
            <a:r>
              <a:rPr sz="1200" b="1" i="0">
                <a:solidFill>
                  <a:srgbClr val="16325C"/>
                </a:solidFill>
                <a:latin typeface="Calibri"/>
              </a:rPr>
              <a:t>Also built in:</a:t>
            </a:r>
          </a:p>
          <a:p>
            <a:pPr algn="l">
              <a:lnSpc>
                <a:spcPct val="112000"/>
              </a:lnSpc>
              <a:spcAft>
                <a:spcPts val="300"/>
              </a:spcAft>
            </a:pPr>
            <a:r>
              <a:rPr sz="1100" b="0" i="0">
                <a:solidFill>
                  <a:srgbClr val="3A4356"/>
                </a:solidFill>
                <a:latin typeface="Calibri"/>
              </a:rPr>
              <a:t>• 20 country rate sets, 8 labour categories each</a:t>
            </a:r>
          </a:p>
          <a:p>
            <a:pPr algn="l">
              <a:lnSpc>
                <a:spcPct val="112000"/>
              </a:lnSpc>
              <a:spcAft>
                <a:spcPts val="300"/>
              </a:spcAft>
            </a:pPr>
            <a:r>
              <a:rPr sz="1100" b="0" i="0">
                <a:solidFill>
                  <a:srgbClr val="3A4356"/>
                </a:solidFill>
                <a:latin typeface="Calibri"/>
              </a:rPr>
              <a:t>• PCB country cost table — admin-editable</a:t>
            </a:r>
          </a:p>
          <a:p>
            <a:pPr algn="l">
              <a:lnSpc>
                <a:spcPct val="112000"/>
              </a:lnSpc>
              <a:spcAft>
                <a:spcPts val="300"/>
              </a:spcAft>
            </a:pPr>
            <a:r>
              <a:rPr sz="1100" b="0" i="0">
                <a:solidFill>
                  <a:srgbClr val="3A4356"/>
                </a:solidFill>
                <a:latin typeface="Calibri"/>
              </a:rPr>
              <a:t>• Separate rate library for software costing</a:t>
            </a:r>
          </a:p>
          <a:p>
            <a:pPr algn="l">
              <a:lnSpc>
                <a:spcPct val="112000"/>
              </a:lnSpc>
              <a:spcAft>
                <a:spcPts val="300"/>
              </a:spcAft>
            </a:pPr>
            <a:r>
              <a:rPr sz="1100" b="0" i="0">
                <a:solidFill>
                  <a:srgbClr val="3A4356"/>
                </a:solidFill>
                <a:latin typeface="Calibri"/>
              </a:rPr>
              <a:t>• One click back to built-in defaults, full audit trail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BUSINESS CASE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it costs vs what it returns</a:t>
            </a:r>
          </a:p>
        </p:txBody>
      </p:sp>
      <p:sp>
        <p:nvSpPr>
          <p:cNvPr id="9" name="Rounded Rectangle 8"/>
          <p:cNvSpPr/>
          <p:nvPr/>
        </p:nvSpPr>
        <p:spPr>
          <a:xfrm>
            <a:off x="411480" y="1828800"/>
            <a:ext cx="548640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93392"/>
            <a:ext cx="493776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6325C"/>
                </a:solidFill>
                <a:latin typeface="Calibri"/>
              </a:rPr>
              <a:t>What it costs</a:t>
            </a:r>
          </a:p>
        </p:txBody>
      </p:sp>
      <p:sp>
        <p:nvSpPr>
          <p:cNvPr id="11" name="TextBox 10"/>
          <p:cNvSpPr txBox="1"/>
          <p:nvPr/>
        </p:nvSpPr>
        <p:spPr>
          <a:xfrm>
            <a:off x="685800" y="2432304"/>
            <a:ext cx="502920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6325C"/>
                </a:solidFill>
                <a:latin typeface="Calibri"/>
              </a:rPr>
              <a:t>Engineering — </a:t>
            </a:r>
            <a:r>
              <a:rPr sz="1100" b="0" i="0">
                <a:solidFill>
                  <a:srgbClr val="3A4356"/>
                </a:solidFill>
                <a:latin typeface="Calibri"/>
              </a:rPr>
              <a:t>~3–5 weeks remaining on CostVision + small additive CAPEE changes — existing teams</a:t>
            </a:r>
          </a:p>
        </p:txBody>
      </p:sp>
      <p:sp>
        <p:nvSpPr>
          <p:cNvPr id="12" name="TextBox 11"/>
          <p:cNvSpPr txBox="1"/>
          <p:nvPr/>
        </p:nvSpPr>
        <p:spPr>
          <a:xfrm>
            <a:off x="685800" y="3090672"/>
            <a:ext cx="502920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6325C"/>
                </a:solidFill>
                <a:latin typeface="Calibri"/>
              </a:rPr>
              <a:t>Infrastructure — </a:t>
            </a:r>
            <a:r>
              <a:rPr sz="1100" b="0" i="0">
                <a:solidFill>
                  <a:srgbClr val="3A4356"/>
                </a:solidFill>
                <a:latin typeface="Calibri"/>
              </a:rPr>
              <a:t>one VM + corporate PostgreSQL — standard IT estate our teams already run</a:t>
            </a:r>
          </a:p>
        </p:txBody>
      </p:sp>
      <p:sp>
        <p:nvSpPr>
          <p:cNvPr id="13" name="TextBox 12"/>
          <p:cNvSpPr txBox="1"/>
          <p:nvPr/>
        </p:nvSpPr>
        <p:spPr>
          <a:xfrm>
            <a:off x="685800" y="3749039"/>
            <a:ext cx="502920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6325C"/>
                </a:solidFill>
                <a:latin typeface="Calibri"/>
              </a:rPr>
              <a:t>AI usage — </a:t>
            </a:r>
            <a:r>
              <a:rPr sz="1100" b="0" i="0">
                <a:solidFill>
                  <a:srgbClr val="3A4356"/>
                </a:solidFill>
                <a:latin typeface="Calibri"/>
              </a:rPr>
              <a:t>pay-per-use in our own cloud tenancy — no per-seat fees, off in air-gap mode</a:t>
            </a:r>
          </a:p>
        </p:txBody>
      </p:sp>
      <p:sp>
        <p:nvSpPr>
          <p:cNvPr id="14" name="TextBox 13"/>
          <p:cNvSpPr txBox="1"/>
          <p:nvPr/>
        </p:nvSpPr>
        <p:spPr>
          <a:xfrm>
            <a:off x="685800" y="4407408"/>
            <a:ext cx="502920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16325C"/>
                </a:solidFill>
                <a:latin typeface="Calibri"/>
              </a:rPr>
              <a:t>Licence spend — </a:t>
            </a:r>
            <a:r>
              <a:rPr sz="1100" b="0" i="0">
                <a:solidFill>
                  <a:srgbClr val="3A4356"/>
                </a:solidFill>
                <a:latin typeface="Calibri"/>
              </a:rPr>
              <a:t>£0 — built in-house, nothing to buy or renew</a:t>
            </a:r>
          </a:p>
        </p:txBody>
      </p:sp>
      <p:sp>
        <p:nvSpPr>
          <p:cNvPr id="15" name="Rounded Rectangle 14"/>
          <p:cNvSpPr/>
          <p:nvPr/>
        </p:nvSpPr>
        <p:spPr>
          <a:xfrm>
            <a:off x="6263640" y="1828800"/>
            <a:ext cx="5532120" cy="3200400"/>
          </a:xfrm>
          <a:prstGeom prst="roundRect">
            <a:avLst>
              <a:gd name="adj" fmla="val 5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993392"/>
            <a:ext cx="493776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2A7F50"/>
                </a:solidFill>
                <a:latin typeface="Calibri"/>
              </a:rPr>
              <a:t>What it returns</a:t>
            </a:r>
          </a:p>
        </p:txBody>
      </p:sp>
      <p:sp>
        <p:nvSpPr>
          <p:cNvPr id="17" name="TextBox 16"/>
          <p:cNvSpPr txBox="1"/>
          <p:nvPr/>
        </p:nvSpPr>
        <p:spPr>
          <a:xfrm>
            <a:off x="6537960" y="2432304"/>
            <a:ext cx="502920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2A7F50"/>
                </a:solidFill>
                <a:latin typeface="Calibri"/>
              </a:rPr>
              <a:t>Savings found — </a:t>
            </a:r>
            <a:r>
              <a:rPr sz="1100" b="0" i="0">
                <a:solidFill>
                  <a:srgbClr val="3A4356"/>
                </a:solidFill>
                <a:latin typeface="Calibri"/>
              </a:rPr>
              <a:t>£512k/yr of pricing issues surfaced autonomously in the live demo (indicative)</a:t>
            </a:r>
          </a:p>
        </p:txBody>
      </p:sp>
      <p:sp>
        <p:nvSpPr>
          <p:cNvPr id="18" name="TextBox 17"/>
          <p:cNvSpPr txBox="1"/>
          <p:nvPr/>
        </p:nvSpPr>
        <p:spPr>
          <a:xfrm>
            <a:off x="6537960" y="3090672"/>
            <a:ext cx="502920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2A7F50"/>
                </a:solidFill>
                <a:latin typeface="Calibri"/>
              </a:rPr>
              <a:t>Licence avoided — </a:t>
            </a:r>
            <a:r>
              <a:rPr sz="1100" b="0" i="0">
                <a:solidFill>
                  <a:srgbClr val="3A4356"/>
                </a:solidFill>
                <a:latin typeface="Calibri"/>
              </a:rPr>
              <a:t>commercial should-cost suites run six figures per year, recurring</a:t>
            </a:r>
          </a:p>
        </p:txBody>
      </p:sp>
      <p:sp>
        <p:nvSpPr>
          <p:cNvPr id="19" name="TextBox 18"/>
          <p:cNvSpPr txBox="1"/>
          <p:nvPr/>
        </p:nvSpPr>
        <p:spPr>
          <a:xfrm>
            <a:off x="6537960" y="3749039"/>
            <a:ext cx="502920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2A7F50"/>
                </a:solidFill>
                <a:latin typeface="Calibri"/>
              </a:rPr>
              <a:t>Speed — </a:t>
            </a:r>
            <a:r>
              <a:rPr sz="1100" b="0" i="0">
                <a:solidFill>
                  <a:srgbClr val="3A4356"/>
                </a:solidFill>
                <a:latin typeface="Calibri"/>
              </a:rPr>
              <a:t>first defensible should-cost in minutes, not days — every quote challengeable</a:t>
            </a:r>
          </a:p>
        </p:txBody>
      </p:sp>
      <p:sp>
        <p:nvSpPr>
          <p:cNvPr id="20" name="TextBox 19"/>
          <p:cNvSpPr txBox="1"/>
          <p:nvPr/>
        </p:nvSpPr>
        <p:spPr>
          <a:xfrm>
            <a:off x="6537960" y="4407408"/>
            <a:ext cx="502920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2A7F50"/>
                </a:solidFill>
                <a:latin typeface="Calibri"/>
              </a:rPr>
              <a:t>Leverage — </a:t>
            </a:r>
            <a:r>
              <a:rPr sz="1100" b="0" i="0">
                <a:solidFill>
                  <a:srgbClr val="3A4356"/>
                </a:solidFill>
                <a:latin typeface="Calibri"/>
              </a:rPr>
              <a:t>bottom-up numbers on OUR rates that suppliers cannot wave away</a:t>
            </a:r>
          </a:p>
        </p:txBody>
      </p:sp>
      <p:sp>
        <p:nvSpPr>
          <p:cNvPr id="21" name="Rounded Rectangle 20"/>
          <p:cNvSpPr/>
          <p:nvPr/>
        </p:nvSpPr>
        <p:spPr>
          <a:xfrm>
            <a:off x="411480" y="5193792"/>
            <a:ext cx="11384280" cy="566928"/>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5193792"/>
            <a:ext cx="82296" cy="56692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330952"/>
            <a:ext cx="10881360" cy="365760"/>
          </a:xfrm>
          <a:prstGeom prst="rect">
            <a:avLst/>
          </a:prstGeom>
          <a:noFill/>
        </p:spPr>
        <p:txBody>
          <a:bodyPr wrap="square" anchor="t" lIns="0" rIns="0" tIns="0" bIns="0">
            <a:spAutoFit/>
          </a:bodyPr>
          <a:lstStyle/>
          <a:p>
            <a:pPr algn="l">
              <a:lnSpc>
                <a:spcPct val="100000"/>
              </a:lnSpc>
              <a:spcAft>
                <a:spcPts val="400"/>
              </a:spcAft>
            </a:pPr>
            <a:r>
              <a:rPr sz="1350" b="1" i="0">
                <a:solidFill>
                  <a:srgbClr val="2A7F50"/>
                </a:solidFill>
                <a:latin typeface="Calibri"/>
              </a:rPr>
              <a:t>OUR IP:  </a:t>
            </a:r>
            <a:r>
              <a:rPr sz="1350" b="1" i="0">
                <a:solidFill>
                  <a:srgbClr val="16325C"/>
                </a:solidFill>
                <a:latin typeface="Calibri"/>
              </a:rPr>
              <a:t>built in-house — the code, the rate library and the knowledge base are entirely our intellectual property. No vendor owns any part of it.</a:t>
            </a:r>
          </a:p>
        </p:txBody>
      </p:sp>
      <p:sp>
        <p:nvSpPr>
          <p:cNvPr id="24" name="Rounded Rectangle 23"/>
          <p:cNvSpPr/>
          <p:nvPr/>
        </p:nvSpPr>
        <p:spPr>
          <a:xfrm>
            <a:off x="411480" y="5888736"/>
            <a:ext cx="11384280" cy="777240"/>
          </a:xfrm>
          <a:prstGeom prst="roundRect">
            <a:avLst>
              <a:gd name="adj" fmla="val 8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989320"/>
            <a:ext cx="10881360" cy="594360"/>
          </a:xfrm>
          <a:prstGeom prst="rect">
            <a:avLst/>
          </a:prstGeom>
          <a:noFill/>
        </p:spPr>
        <p:txBody>
          <a:bodyPr wrap="square" anchor="t" lIns="0" rIns="0" tIns="0" bIns="0">
            <a:spAutoFit/>
          </a:bodyPr>
          <a:lstStyle/>
          <a:p>
            <a:pPr algn="l">
              <a:lnSpc>
                <a:spcPct val="115000"/>
              </a:lnSpc>
              <a:spcAft>
                <a:spcPts val="400"/>
              </a:spcAft>
            </a:pPr>
            <a:r>
              <a:rPr sz="1200" b="1" i="0">
                <a:solidFill>
                  <a:srgbClr val="99651A"/>
                </a:solidFill>
                <a:latin typeface="Calibri"/>
              </a:rPr>
              <a:t>Honest numbers: </a:t>
            </a:r>
            <a:r>
              <a:rPr sz="1150" b="0" i="0">
                <a:solidFill>
                  <a:srgbClr val="3A4356"/>
                </a:solidFill>
                <a:latin typeface="Calibri"/>
              </a:rPr>
              <a:t>the £512k/yr figure comes from demonstration data — we treat it as indicative and validate it against real programmes during the Phase 3–4 pilot before claiming it in any business case.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EVIDENCE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Does it actually work? The measured results</a:t>
            </a:r>
          </a:p>
        </p:txBody>
      </p:sp>
      <p:graphicFrame>
        <p:nvGraphicFramePr>
          <p:cNvPr id="9" name="Chart 8"/>
          <p:cNvGraphicFramePr>
            <a:graphicFrameLocks noGrp="1"/>
          </p:cNvGraphicFramePr>
          <p:nvPr/>
        </p:nvGraphicFramePr>
        <p:xfrm>
          <a:off x="411480" y="1828800"/>
          <a:ext cx="6675120" cy="4023360"/>
        </p:xfrm>
        <a:graphic>
          <a:graphicData uri="http://schemas.openxmlformats.org/drawingml/2006/chart">
            <c:chart xmlns:c="http://schemas.openxmlformats.org/drawingml/2006/chart" r:id="rId2"/>
          </a:graphicData>
        </a:graphic>
      </p:graphicFrame>
      <p:sp>
        <p:nvSpPr>
          <p:cNvPr id="10" name="TextBox 9"/>
          <p:cNvSpPr txBox="1"/>
          <p:nvPr/>
        </p:nvSpPr>
        <p:spPr>
          <a:xfrm>
            <a:off x="411480" y="5943600"/>
            <a:ext cx="6675120" cy="548640"/>
          </a:xfrm>
          <a:prstGeom prst="rect">
            <a:avLst/>
          </a:prstGeom>
          <a:noFill/>
        </p:spPr>
        <p:txBody>
          <a:bodyPr wrap="square" anchor="t" lIns="0" rIns="0" tIns="0" bIns="0">
            <a:spAutoFit/>
          </a:bodyPr>
          <a:lstStyle/>
          <a:p>
            <a:pPr algn="l">
              <a:lnSpc>
                <a:spcPct val="110000"/>
              </a:lnSpc>
              <a:spcAft>
                <a:spcPts val="400"/>
              </a:spcAft>
            </a:pPr>
            <a:r>
              <a:rPr sz="1000" b="0" i="1">
                <a:solidFill>
                  <a:srgbClr val="686F7D"/>
                </a:solidFill>
                <a:latin typeface="Calibri"/>
              </a:rPr>
              <a:t>Live test runs, July 2026 — after the engine learned from just 3 real supplier quotes per commodity.</a:t>
            </a:r>
          </a:p>
        </p:txBody>
      </p:sp>
      <p:sp>
        <p:nvSpPr>
          <p:cNvPr id="11" name="Rounded Rectangle 10"/>
          <p:cNvSpPr/>
          <p:nvPr/>
        </p:nvSpPr>
        <p:spPr>
          <a:xfrm>
            <a:off x="7406640" y="1828800"/>
            <a:ext cx="438912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06640" y="1828800"/>
            <a:ext cx="82296" cy="98755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1938528"/>
            <a:ext cx="1554480" cy="457200"/>
          </a:xfrm>
          <a:prstGeom prst="rect">
            <a:avLst/>
          </a:prstGeom>
          <a:noFill/>
        </p:spPr>
        <p:txBody>
          <a:bodyPr wrap="square" anchor="t" lIns="0" rIns="0" tIns="0" bIns="0">
            <a:spAutoFit/>
          </a:bodyPr>
          <a:lstStyle/>
          <a:p>
            <a:pPr algn="l">
              <a:lnSpc>
                <a:spcPct val="100000"/>
              </a:lnSpc>
              <a:spcAft>
                <a:spcPts val="400"/>
              </a:spcAft>
            </a:pPr>
            <a:r>
              <a:rPr sz="1900" b="1" i="0">
                <a:solidFill>
                  <a:srgbClr val="1D6FB8"/>
                </a:solidFill>
                <a:latin typeface="Calibri"/>
              </a:rPr>
              <a:t>99%</a:t>
            </a:r>
          </a:p>
        </p:txBody>
      </p:sp>
      <p:sp>
        <p:nvSpPr>
          <p:cNvPr id="14" name="TextBox 13"/>
          <p:cNvSpPr txBox="1"/>
          <p:nvPr/>
        </p:nvSpPr>
        <p:spPr>
          <a:xfrm>
            <a:off x="9189720" y="1956816"/>
            <a:ext cx="2514600" cy="777240"/>
          </a:xfrm>
          <a:prstGeom prst="rect">
            <a:avLst/>
          </a:prstGeom>
          <a:noFill/>
        </p:spPr>
        <p:txBody>
          <a:bodyPr wrap="square" anchor="t" lIns="0" rIns="0" tIns="0" bIns="0">
            <a:spAutoFit/>
          </a:bodyPr>
          <a:lstStyle/>
          <a:p>
            <a:pPr algn="l">
              <a:lnSpc>
                <a:spcPct val="110000"/>
              </a:lnSpc>
              <a:spcAft>
                <a:spcPts val="400"/>
              </a:spcAft>
            </a:pPr>
            <a:r>
              <a:rPr sz="1000" b="0" i="0">
                <a:solidFill>
                  <a:srgbClr val="3A4356"/>
                </a:solidFill>
                <a:latin typeface="Calibri"/>
              </a:rPr>
              <a:t>part-match accuracy — the AI memory finds the right similar past part</a:t>
            </a:r>
          </a:p>
        </p:txBody>
      </p:sp>
      <p:sp>
        <p:nvSpPr>
          <p:cNvPr id="15" name="Rounded Rectangle 14"/>
          <p:cNvSpPr/>
          <p:nvPr/>
        </p:nvSpPr>
        <p:spPr>
          <a:xfrm>
            <a:off x="7406640" y="2953512"/>
            <a:ext cx="438912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2953512"/>
            <a:ext cx="82296" cy="98755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3063240"/>
            <a:ext cx="1554480" cy="457200"/>
          </a:xfrm>
          <a:prstGeom prst="rect">
            <a:avLst/>
          </a:prstGeom>
          <a:noFill/>
        </p:spPr>
        <p:txBody>
          <a:bodyPr wrap="square" anchor="t" lIns="0" rIns="0" tIns="0" bIns="0">
            <a:spAutoFit/>
          </a:bodyPr>
          <a:lstStyle/>
          <a:p>
            <a:pPr algn="l">
              <a:lnSpc>
                <a:spcPct val="100000"/>
              </a:lnSpc>
              <a:spcAft>
                <a:spcPts val="400"/>
              </a:spcAft>
            </a:pPr>
            <a:r>
              <a:rPr sz="1900" b="1" i="0">
                <a:solidFill>
                  <a:srgbClr val="6B3FA0"/>
                </a:solidFill>
                <a:latin typeface="Calibri"/>
              </a:rPr>
              <a:t>1,777</a:t>
            </a:r>
          </a:p>
        </p:txBody>
      </p:sp>
      <p:sp>
        <p:nvSpPr>
          <p:cNvPr id="18" name="TextBox 17"/>
          <p:cNvSpPr txBox="1"/>
          <p:nvPr/>
        </p:nvSpPr>
        <p:spPr>
          <a:xfrm>
            <a:off x="9189720" y="3081528"/>
            <a:ext cx="2514600" cy="777240"/>
          </a:xfrm>
          <a:prstGeom prst="rect">
            <a:avLst/>
          </a:prstGeom>
          <a:noFill/>
        </p:spPr>
        <p:txBody>
          <a:bodyPr wrap="square" anchor="t" lIns="0" rIns="0" tIns="0" bIns="0">
            <a:spAutoFit/>
          </a:bodyPr>
          <a:lstStyle/>
          <a:p>
            <a:pPr algn="l">
              <a:lnSpc>
                <a:spcPct val="110000"/>
              </a:lnSpc>
              <a:spcAft>
                <a:spcPts val="400"/>
              </a:spcAft>
            </a:pPr>
            <a:r>
              <a:rPr sz="1000" b="0" i="0">
                <a:solidFill>
                  <a:srgbClr val="3A4356"/>
                </a:solidFill>
                <a:latin typeface="Calibri"/>
              </a:rPr>
              <a:t>automated tests protect every engine and feature on each change</a:t>
            </a:r>
          </a:p>
        </p:txBody>
      </p:sp>
      <p:sp>
        <p:nvSpPr>
          <p:cNvPr id="19" name="Rounded Rectangle 18"/>
          <p:cNvSpPr/>
          <p:nvPr/>
        </p:nvSpPr>
        <p:spPr>
          <a:xfrm>
            <a:off x="7406640" y="4078224"/>
            <a:ext cx="438912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06640" y="4078224"/>
            <a:ext cx="82296" cy="987552"/>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4187952"/>
            <a:ext cx="1554480" cy="457200"/>
          </a:xfrm>
          <a:prstGeom prst="rect">
            <a:avLst/>
          </a:prstGeom>
          <a:noFill/>
        </p:spPr>
        <p:txBody>
          <a:bodyPr wrap="square" anchor="t" lIns="0" rIns="0" tIns="0" bIns="0">
            <a:spAutoFit/>
          </a:bodyPr>
          <a:lstStyle/>
          <a:p>
            <a:pPr algn="l">
              <a:lnSpc>
                <a:spcPct val="100000"/>
              </a:lnSpc>
              <a:spcAft>
                <a:spcPts val="400"/>
              </a:spcAft>
            </a:pPr>
            <a:r>
              <a:rPr sz="1900" b="1" i="0">
                <a:solidFill>
                  <a:srgbClr val="2A7F50"/>
                </a:solidFill>
                <a:latin typeface="Calibri"/>
              </a:rPr>
              <a:t>3 quotes</a:t>
            </a:r>
          </a:p>
        </p:txBody>
      </p:sp>
      <p:sp>
        <p:nvSpPr>
          <p:cNvPr id="22" name="TextBox 21"/>
          <p:cNvSpPr txBox="1"/>
          <p:nvPr/>
        </p:nvSpPr>
        <p:spPr>
          <a:xfrm>
            <a:off x="9189720" y="4206240"/>
            <a:ext cx="2514600" cy="777240"/>
          </a:xfrm>
          <a:prstGeom prst="rect">
            <a:avLst/>
          </a:prstGeom>
          <a:noFill/>
        </p:spPr>
        <p:txBody>
          <a:bodyPr wrap="square" anchor="t" lIns="0" rIns="0" tIns="0" bIns="0">
            <a:spAutoFit/>
          </a:bodyPr>
          <a:lstStyle/>
          <a:p>
            <a:pPr algn="l">
              <a:lnSpc>
                <a:spcPct val="110000"/>
              </a:lnSpc>
              <a:spcAft>
                <a:spcPts val="400"/>
              </a:spcAft>
            </a:pPr>
            <a:r>
              <a:rPr sz="1000" b="0" i="0">
                <a:solidFill>
                  <a:srgbClr val="3A4356"/>
                </a:solidFill>
                <a:latin typeface="Calibri"/>
              </a:rPr>
              <a:t>is all the calibration needs before accuracy lands under 1%</a:t>
            </a:r>
          </a:p>
        </p:txBody>
      </p:sp>
      <p:sp>
        <p:nvSpPr>
          <p:cNvPr id="23" name="Rounded Rectangle 22"/>
          <p:cNvSpPr/>
          <p:nvPr/>
        </p:nvSpPr>
        <p:spPr>
          <a:xfrm>
            <a:off x="7406640" y="5202936"/>
            <a:ext cx="4389120" cy="98755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06640" y="5202936"/>
            <a:ext cx="82296" cy="987552"/>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5312664"/>
            <a:ext cx="1554480" cy="457200"/>
          </a:xfrm>
          <a:prstGeom prst="rect">
            <a:avLst/>
          </a:prstGeom>
          <a:noFill/>
        </p:spPr>
        <p:txBody>
          <a:bodyPr wrap="square" anchor="t" lIns="0" rIns="0" tIns="0" bIns="0">
            <a:spAutoFit/>
          </a:bodyPr>
          <a:lstStyle/>
          <a:p>
            <a:pPr algn="l">
              <a:lnSpc>
                <a:spcPct val="100000"/>
              </a:lnSpc>
              <a:spcAft>
                <a:spcPts val="400"/>
              </a:spcAft>
            </a:pPr>
            <a:r>
              <a:rPr sz="1900" b="1" i="0">
                <a:solidFill>
                  <a:srgbClr val="0D7D71"/>
                </a:solidFill>
                <a:latin typeface="Calibri"/>
              </a:rPr>
              <a:t>£512k/yr</a:t>
            </a:r>
          </a:p>
        </p:txBody>
      </p:sp>
      <p:sp>
        <p:nvSpPr>
          <p:cNvPr id="26" name="TextBox 25"/>
          <p:cNvSpPr txBox="1"/>
          <p:nvPr/>
        </p:nvSpPr>
        <p:spPr>
          <a:xfrm>
            <a:off x="9189720" y="5330952"/>
            <a:ext cx="2514600" cy="777240"/>
          </a:xfrm>
          <a:prstGeom prst="rect">
            <a:avLst/>
          </a:prstGeom>
          <a:noFill/>
        </p:spPr>
        <p:txBody>
          <a:bodyPr wrap="square" anchor="t" lIns="0" rIns="0" tIns="0" bIns="0">
            <a:spAutoFit/>
          </a:bodyPr>
          <a:lstStyle/>
          <a:p>
            <a:pPr algn="l">
              <a:lnSpc>
                <a:spcPct val="110000"/>
              </a:lnSpc>
              <a:spcAft>
                <a:spcPts val="400"/>
              </a:spcAft>
            </a:pPr>
            <a:r>
              <a:rPr sz="1000" b="0" i="0">
                <a:solidFill>
                  <a:srgbClr val="3A4356"/>
                </a:solidFill>
                <a:latin typeface="Calibri"/>
              </a:rPr>
              <a:t>findings raised by the autonomous agent in the live demo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WHAT CHANGED</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Built since this plan was written</a:t>
            </a:r>
          </a:p>
        </p:txBody>
      </p:sp>
      <p:sp>
        <p:nvSpPr>
          <p:cNvPr id="9" name="Rounded Rectangle 8"/>
          <p:cNvSpPr/>
          <p:nvPr/>
        </p:nvSpPr>
        <p:spPr>
          <a:xfrm>
            <a:off x="411480" y="1783080"/>
            <a:ext cx="11384280" cy="9875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83080"/>
            <a:ext cx="82296" cy="987552"/>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20"/>
            <a:ext cx="10881360" cy="292608"/>
          </a:xfrm>
          <a:prstGeom prst="rect">
            <a:avLst/>
          </a:prstGeom>
          <a:noFill/>
        </p:spPr>
        <p:txBody>
          <a:bodyPr wrap="square" anchor="t" lIns="0" rIns="0" tIns="0" bIns="0">
            <a:spAutoFit/>
          </a:bodyPr>
          <a:lstStyle/>
          <a:p>
            <a:pPr algn="l">
              <a:lnSpc>
                <a:spcPct val="100000"/>
              </a:lnSpc>
              <a:spcAft>
                <a:spcPts val="400"/>
              </a:spcAft>
            </a:pPr>
            <a:r>
              <a:rPr sz="1300" b="1" i="0">
                <a:solidFill>
                  <a:srgbClr val="2A7F50"/>
                </a:solidFill>
                <a:latin typeface="Calibri"/>
              </a:rPr>
              <a:t>The tool now reads the part, not the price</a:t>
            </a:r>
          </a:p>
        </p:txBody>
      </p:sp>
      <p:sp>
        <p:nvSpPr>
          <p:cNvPr id="12" name="TextBox 11"/>
          <p:cNvSpPr txBox="1"/>
          <p:nvPr/>
        </p:nvSpPr>
        <p:spPr>
          <a:xfrm>
            <a:off x="685800" y="2185416"/>
            <a:ext cx="10881360" cy="530352"/>
          </a:xfrm>
          <a:prstGeom prst="rect">
            <a:avLst/>
          </a:prstGeom>
          <a:noFill/>
        </p:spPr>
        <p:txBody>
          <a:bodyPr wrap="square" anchor="t" lIns="0" rIns="0" tIns="0" bIns="0">
            <a:spAutoFit/>
          </a:bodyPr>
          <a:lstStyle/>
          <a:p>
            <a:pPr algn="l">
              <a:lnSpc>
                <a:spcPct val="112000"/>
              </a:lnSpc>
              <a:spcAft>
                <a:spcPts val="400"/>
              </a:spcAft>
            </a:pPr>
            <a:r>
              <a:rPr sz="1050" b="0" i="0">
                <a:solidFill>
                  <a:srgbClr val="3A4356"/>
                </a:solidFill>
                <a:latin typeface="Calibri"/>
              </a:rPr>
              <a:t>Your engineers said the old design advice was too generic. It now opens the 3D model and measures every face — 19 rules, each citing a published standard, and it shows you the exact faces at fault.</a:t>
            </a:r>
          </a:p>
        </p:txBody>
      </p:sp>
      <p:sp>
        <p:nvSpPr>
          <p:cNvPr id="13" name="Rounded Rectangle 12"/>
          <p:cNvSpPr/>
          <p:nvPr/>
        </p:nvSpPr>
        <p:spPr>
          <a:xfrm>
            <a:off x="411480" y="2898648"/>
            <a:ext cx="11384280" cy="9875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2898648"/>
            <a:ext cx="82296" cy="98755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990088"/>
            <a:ext cx="10881360" cy="292608"/>
          </a:xfrm>
          <a:prstGeom prst="rect">
            <a:avLst/>
          </a:prstGeom>
          <a:noFill/>
        </p:spPr>
        <p:txBody>
          <a:bodyPr wrap="square" anchor="t" lIns="0" rIns="0" tIns="0" bIns="0">
            <a:spAutoFit/>
          </a:bodyPr>
          <a:lstStyle/>
          <a:p>
            <a:pPr algn="l">
              <a:lnSpc>
                <a:spcPct val="100000"/>
              </a:lnSpc>
              <a:spcAft>
                <a:spcPts val="400"/>
              </a:spcAft>
            </a:pPr>
            <a:r>
              <a:rPr sz="1300" b="1" i="0">
                <a:solidFill>
                  <a:srgbClr val="1D6FB8"/>
                </a:solidFill>
                <a:latin typeface="Calibri"/>
              </a:rPr>
              <a:t>Gear cutting is its own commodity</a:t>
            </a:r>
          </a:p>
        </p:txBody>
      </p:sp>
      <p:sp>
        <p:nvSpPr>
          <p:cNvPr id="16" name="TextBox 15"/>
          <p:cNvSpPr txBox="1"/>
          <p:nvPr/>
        </p:nvSpPr>
        <p:spPr>
          <a:xfrm>
            <a:off x="685800" y="3300984"/>
            <a:ext cx="10881360" cy="530352"/>
          </a:xfrm>
          <a:prstGeom prst="rect">
            <a:avLst/>
          </a:prstGeom>
          <a:noFill/>
        </p:spPr>
        <p:txBody>
          <a:bodyPr wrap="square" anchor="t" lIns="0" rIns="0" tIns="0" bIns="0">
            <a:spAutoFit/>
          </a:bodyPr>
          <a:lstStyle/>
          <a:p>
            <a:pPr algn="l">
              <a:lnSpc>
                <a:spcPct val="112000"/>
              </a:lnSpc>
              <a:spcAft>
                <a:spcPts val="400"/>
              </a:spcAft>
            </a:pPr>
            <a:r>
              <a:rPr sz="1050" b="0" i="0">
                <a:solidFill>
                  <a:srgbClr val="3A4356"/>
                </a:solidFill>
                <a:latin typeface="Calibri"/>
              </a:rPr>
              <a:t>Asked for by cost engineering and the plant. Gears no longer go through the milling model — the tool picks the process from the geometry and works the cycle out from the gear itself.</a:t>
            </a:r>
          </a:p>
        </p:txBody>
      </p:sp>
      <p:sp>
        <p:nvSpPr>
          <p:cNvPr id="17" name="Rounded Rectangle 16"/>
          <p:cNvSpPr/>
          <p:nvPr/>
        </p:nvSpPr>
        <p:spPr>
          <a:xfrm>
            <a:off x="411480" y="4014215"/>
            <a:ext cx="11384280" cy="9875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4014215"/>
            <a:ext cx="82296" cy="98755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105655"/>
            <a:ext cx="10881360" cy="292608"/>
          </a:xfrm>
          <a:prstGeom prst="rect">
            <a:avLst/>
          </a:prstGeom>
          <a:noFill/>
        </p:spPr>
        <p:txBody>
          <a:bodyPr wrap="square" anchor="t" lIns="0" rIns="0" tIns="0" bIns="0">
            <a:spAutoFit/>
          </a:bodyPr>
          <a:lstStyle/>
          <a:p>
            <a:pPr algn="l">
              <a:lnSpc>
                <a:spcPct val="100000"/>
              </a:lnSpc>
              <a:spcAft>
                <a:spcPts val="400"/>
              </a:spcAft>
            </a:pPr>
            <a:r>
              <a:rPr sz="1300" b="1" i="0">
                <a:solidFill>
                  <a:srgbClr val="6B3FA0"/>
                </a:solidFill>
                <a:latin typeface="Calibri"/>
              </a:rPr>
              <a:t>Landed cost, duty and customs</a:t>
            </a:r>
          </a:p>
        </p:txBody>
      </p:sp>
      <p:sp>
        <p:nvSpPr>
          <p:cNvPr id="20" name="TextBox 19"/>
          <p:cNvSpPr txBox="1"/>
          <p:nvPr/>
        </p:nvSpPr>
        <p:spPr>
          <a:xfrm>
            <a:off x="685800" y="4416551"/>
            <a:ext cx="10881360" cy="530352"/>
          </a:xfrm>
          <a:prstGeom prst="rect">
            <a:avLst/>
          </a:prstGeom>
          <a:noFill/>
        </p:spPr>
        <p:txBody>
          <a:bodyPr wrap="square" anchor="t" lIns="0" rIns="0" tIns="0" bIns="0">
            <a:spAutoFit/>
          </a:bodyPr>
          <a:lstStyle/>
          <a:p>
            <a:pPr algn="l">
              <a:lnSpc>
                <a:spcPct val="112000"/>
              </a:lnSpc>
              <a:spcAft>
                <a:spcPts val="400"/>
              </a:spcAft>
            </a:pPr>
            <a:r>
              <a:rPr sz="1050" b="0" i="0">
                <a:solidFill>
                  <a:srgbClr val="3A4356"/>
                </a:solidFill>
                <a:latin typeface="Calibri"/>
              </a:rPr>
              <a:t>Duty, carbon border levy, rules of origin and incoterms. The should-cost now lands at your door, not at the supplier gate.</a:t>
            </a:r>
          </a:p>
        </p:txBody>
      </p:sp>
      <p:sp>
        <p:nvSpPr>
          <p:cNvPr id="21" name="Rounded Rectangle 20"/>
          <p:cNvSpPr/>
          <p:nvPr/>
        </p:nvSpPr>
        <p:spPr>
          <a:xfrm>
            <a:off x="411480" y="5129784"/>
            <a:ext cx="11384280" cy="9875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5129784"/>
            <a:ext cx="82296" cy="987552"/>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221224"/>
            <a:ext cx="10881360" cy="292608"/>
          </a:xfrm>
          <a:prstGeom prst="rect">
            <a:avLst/>
          </a:prstGeom>
          <a:noFill/>
        </p:spPr>
        <p:txBody>
          <a:bodyPr wrap="square" anchor="t" lIns="0" rIns="0" tIns="0" bIns="0">
            <a:spAutoFit/>
          </a:bodyPr>
          <a:lstStyle/>
          <a:p>
            <a:pPr algn="l">
              <a:lnSpc>
                <a:spcPct val="100000"/>
              </a:lnSpc>
              <a:spcAft>
                <a:spcPts val="400"/>
              </a:spcAft>
            </a:pPr>
            <a:r>
              <a:rPr sz="1300" b="1" i="0">
                <a:solidFill>
                  <a:srgbClr val="0D7D71"/>
                </a:solidFill>
                <a:latin typeface="Calibri"/>
              </a:rPr>
              <a:t>Long-term agreements priced correctly</a:t>
            </a:r>
          </a:p>
        </p:txBody>
      </p:sp>
      <p:sp>
        <p:nvSpPr>
          <p:cNvPr id="24" name="TextBox 23"/>
          <p:cNvSpPr txBox="1"/>
          <p:nvPr/>
        </p:nvSpPr>
        <p:spPr>
          <a:xfrm>
            <a:off x="685800" y="5532120"/>
            <a:ext cx="10881360" cy="530352"/>
          </a:xfrm>
          <a:prstGeom prst="rect">
            <a:avLst/>
          </a:prstGeom>
          <a:noFill/>
        </p:spPr>
        <p:txBody>
          <a:bodyPr wrap="square" anchor="t" lIns="0" rIns="0" tIns="0" bIns="0">
            <a:spAutoFit/>
          </a:bodyPr>
          <a:lstStyle/>
          <a:p>
            <a:pPr algn="l">
              <a:lnSpc>
                <a:spcPct val="112000"/>
              </a:lnSpc>
              <a:spcAft>
                <a:spcPts val="400"/>
              </a:spcAft>
            </a:pPr>
            <a:r>
              <a:rPr sz="1050" b="0" i="0">
                <a:solidFill>
                  <a:srgbClr val="3A4356"/>
                </a:solidFill>
                <a:latin typeface="Calibri"/>
              </a:rPr>
              <a:t>Annual volume and programme lifetime are separate inputs now, so a five-year award is not priced as if it were all bought in year one.</a:t>
            </a:r>
          </a:p>
        </p:txBody>
      </p:sp>
      <p:sp>
        <p:nvSpPr>
          <p:cNvPr id="25" name="Rounded Rectangle 24"/>
          <p:cNvSpPr/>
          <p:nvPr/>
        </p:nvSpPr>
        <p:spPr>
          <a:xfrm>
            <a:off x="411480" y="6263640"/>
            <a:ext cx="11384280" cy="384048"/>
          </a:xfrm>
          <a:prstGeom prst="roundRect">
            <a:avLst>
              <a:gd name="adj" fmla="val 6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6263640"/>
            <a:ext cx="10881360" cy="384048"/>
          </a:xfrm>
          <a:prstGeom prst="rect">
            <a:avLst/>
          </a:prstGeom>
          <a:noFill/>
        </p:spPr>
        <p:txBody>
          <a:bodyPr wrap="square" anchor="ctr" lIns="0" rIns="0" tIns="0" bIns="0">
            <a:spAutoFit/>
          </a:bodyPr>
          <a:lstStyle/>
          <a:p>
            <a:pPr algn="l">
              <a:lnSpc>
                <a:spcPct val="110000"/>
              </a:lnSpc>
              <a:spcAft>
                <a:spcPts val="400"/>
              </a:spcAft>
            </a:pPr>
            <a:r>
              <a:rPr sz="1050" b="1" i="0">
                <a:solidFill>
                  <a:srgbClr val="99651A"/>
                </a:solidFill>
                <a:latin typeface="Calibri"/>
              </a:rPr>
              <a:t>Straight about the gap: </a:t>
            </a:r>
            <a:r>
              <a:rPr sz="1050" b="0" i="0">
                <a:solidFill>
                  <a:srgbClr val="3A4356"/>
                </a:solidFill>
                <a:latin typeface="Calibri"/>
              </a:rPr>
              <a:t>the gear model runs on representative shop figures until the plant supplies its own, and no gear has yet been checked against a known actual. Every gear estimate says so.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THE ASK</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we need from the plant to make this quotable</a:t>
            </a:r>
          </a:p>
        </p:txBody>
      </p:sp>
      <p:sp>
        <p:nvSpPr>
          <p:cNvPr id="9" name="TextBox 8"/>
          <p:cNvSpPr txBox="1"/>
          <p:nvPr/>
        </p:nvSpPr>
        <p:spPr>
          <a:xfrm>
            <a:off x="411480" y="1737360"/>
            <a:ext cx="11384280" cy="457200"/>
          </a:xfrm>
          <a:prstGeom prst="rect">
            <a:avLst/>
          </a:prstGeom>
          <a:noFill/>
        </p:spPr>
        <p:txBody>
          <a:bodyPr wrap="square" anchor="t" lIns="0" rIns="0" tIns="0" bIns="0">
            <a:spAutoFit/>
          </a:bodyPr>
          <a:lstStyle/>
          <a:p>
            <a:pPr algn="l">
              <a:lnSpc>
                <a:spcPct val="115000"/>
              </a:lnSpc>
              <a:spcAft>
                <a:spcPts val="400"/>
              </a:spcAft>
            </a:pPr>
            <a:r>
              <a:rPr sz="1250" b="0" i="0">
                <a:solidFill>
                  <a:srgbClr val="3A4356"/>
                </a:solidFill>
                <a:latin typeface="Calibri"/>
              </a:rPr>
              <a:t>The engine is built and the arithmetic is auditable. What it does not yet have is </a:t>
            </a:r>
            <a:r>
              <a:rPr sz="1250" b="1" i="0">
                <a:solidFill>
                  <a:srgbClr val="16325C"/>
                </a:solidFill>
                <a:latin typeface="Calibri"/>
              </a:rPr>
              <a:t>your</a:t>
            </a:r>
            <a:r>
              <a:rPr sz="1250" b="0" i="0">
                <a:solidFill>
                  <a:srgbClr val="3A4356"/>
                </a:solidFill>
                <a:latin typeface="Calibri"/>
              </a:rPr>
              <a:t> shop data — and until it does, a gear estimate is directional, not quotable. Three things close that gap.</a:t>
            </a:r>
          </a:p>
        </p:txBody>
      </p:sp>
      <p:sp>
        <p:nvSpPr>
          <p:cNvPr id="10" name="Rounded Rectangle 9"/>
          <p:cNvSpPr/>
          <p:nvPr/>
        </p:nvSpPr>
        <p:spPr>
          <a:xfrm>
            <a:off x="411480" y="2377440"/>
            <a:ext cx="11384280" cy="1097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377440"/>
            <a:ext cx="82296" cy="109728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651760"/>
            <a:ext cx="548640" cy="548640"/>
          </a:xfrm>
          <a:prstGeom prst="roundRect">
            <a:avLst>
              <a:gd name="adj" fmla="val 30000"/>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651760"/>
            <a:ext cx="548640" cy="548640"/>
          </a:xfrm>
          <a:prstGeom prst="rect">
            <a:avLst/>
          </a:prstGeom>
          <a:noFill/>
        </p:spPr>
        <p:txBody>
          <a:bodyPr wrap="square" anchor="ctr" lIns="0" rIns="0" tIns="0" bIns="0">
            <a:spAutoFit/>
          </a:bodyPr>
          <a:lstStyle/>
          <a:p>
            <a:pPr algn="ctr">
              <a:lnSpc>
                <a:spcPct val="100000"/>
              </a:lnSpc>
              <a:spcAft>
                <a:spcPts val="400"/>
              </a:spcAft>
            </a:pPr>
            <a:r>
              <a:rPr sz="2000" b="1" i="0">
                <a:solidFill>
                  <a:srgbClr val="FFFFFF"/>
                </a:solidFill>
                <a:latin typeface="Calibri"/>
              </a:rPr>
              <a:t>1</a:t>
            </a:r>
          </a:p>
        </p:txBody>
      </p:sp>
      <p:sp>
        <p:nvSpPr>
          <p:cNvPr id="14" name="TextBox 13"/>
          <p:cNvSpPr txBox="1"/>
          <p:nvPr/>
        </p:nvSpPr>
        <p:spPr>
          <a:xfrm>
            <a:off x="1417320" y="2523744"/>
            <a:ext cx="6400800" cy="310896"/>
          </a:xfrm>
          <a:prstGeom prst="rect">
            <a:avLst/>
          </a:prstGeom>
          <a:noFill/>
        </p:spPr>
        <p:txBody>
          <a:bodyPr wrap="square" anchor="t" lIns="0" rIns="0" tIns="0" bIns="0">
            <a:spAutoFit/>
          </a:bodyPr>
          <a:lstStyle/>
          <a:p>
            <a:pPr algn="l">
              <a:lnSpc>
                <a:spcPct val="100000"/>
              </a:lnSpc>
              <a:spcAft>
                <a:spcPts val="400"/>
              </a:spcAft>
            </a:pPr>
            <a:r>
              <a:rPr sz="1500" b="1" i="0">
                <a:solidFill>
                  <a:srgbClr val="16325C"/>
                </a:solidFill>
                <a:latin typeface="Calibri"/>
              </a:rPr>
              <a:t>The gear machine list</a:t>
            </a:r>
          </a:p>
        </p:txBody>
      </p:sp>
      <p:sp>
        <p:nvSpPr>
          <p:cNvPr id="15" name="Rounded Rectangle 14"/>
          <p:cNvSpPr/>
          <p:nvPr/>
        </p:nvSpPr>
        <p:spPr>
          <a:xfrm>
            <a:off x="9692640" y="2542032"/>
            <a:ext cx="1920240" cy="274320"/>
          </a:xfrm>
          <a:prstGeom prst="roundRect">
            <a:avLst>
              <a:gd name="adj" fmla="val 15000"/>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2542032"/>
            <a:ext cx="1920240" cy="274320"/>
          </a:xfrm>
          <a:prstGeom prst="rect">
            <a:avLst/>
          </a:prstGeom>
          <a:noFill/>
        </p:spPr>
        <p:txBody>
          <a:bodyPr wrap="square" anchor="ctr" lIns="0" rIns="0" tIns="0" bIns="0">
            <a:spAutoFit/>
          </a:bodyPr>
          <a:lstStyle/>
          <a:p>
            <a:pPr algn="ctr">
              <a:lnSpc>
                <a:spcPct val="100000"/>
              </a:lnSpc>
              <a:spcAft>
                <a:spcPts val="400"/>
              </a:spcAft>
            </a:pPr>
            <a:r>
              <a:rPr sz="1000" b="1" i="0">
                <a:solidFill>
                  <a:srgbClr val="FFFFFF"/>
                </a:solidFill>
                <a:latin typeface="Calibri"/>
              </a:rPr>
              <a:t>Highest impact</a:t>
            </a:r>
          </a:p>
        </p:txBody>
      </p:sp>
      <p:sp>
        <p:nvSpPr>
          <p:cNvPr id="17" name="TextBox 16"/>
          <p:cNvSpPr txBox="1"/>
          <p:nvPr/>
        </p:nvSpPr>
        <p:spPr>
          <a:xfrm>
            <a:off x="1417320" y="2889504"/>
            <a:ext cx="10149840" cy="512064"/>
          </a:xfrm>
          <a:prstGeom prst="rect">
            <a:avLst/>
          </a:prstGeom>
          <a:noFill/>
        </p:spPr>
        <p:txBody>
          <a:bodyPr wrap="square" anchor="t" lIns="0" rIns="0" tIns="0" bIns="0">
            <a:spAutoFit/>
          </a:bodyPr>
          <a:lstStyle/>
          <a:p>
            <a:pPr algn="l">
              <a:lnSpc>
                <a:spcPct val="114000"/>
              </a:lnSpc>
              <a:spcAft>
                <a:spcPts val="400"/>
              </a:spcAft>
            </a:pPr>
            <a:r>
              <a:rPr sz="1050" b="0" i="0">
                <a:solidFill>
                  <a:srgbClr val="3A4356"/>
                </a:solidFill>
                <a:latin typeface="Calibri"/>
              </a:rPr>
              <a:t>Machine class, £/hr, and the capacity limits — biggest module, largest diameter, widest face. The tool currently picks from 14 representative machine classes; yours replace them outright.</a:t>
            </a:r>
          </a:p>
        </p:txBody>
      </p:sp>
      <p:sp>
        <p:nvSpPr>
          <p:cNvPr id="18" name="Rounded Rectangle 17"/>
          <p:cNvSpPr/>
          <p:nvPr/>
        </p:nvSpPr>
        <p:spPr>
          <a:xfrm>
            <a:off x="411480" y="3602736"/>
            <a:ext cx="11384280" cy="1097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3602736"/>
            <a:ext cx="82296" cy="10972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3877056"/>
            <a:ext cx="548640" cy="548640"/>
          </a:xfrm>
          <a:prstGeom prst="roundRect">
            <a:avLst>
              <a:gd name="adj" fmla="val 30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877056"/>
            <a:ext cx="548640" cy="548640"/>
          </a:xfrm>
          <a:prstGeom prst="rect">
            <a:avLst/>
          </a:prstGeom>
          <a:noFill/>
        </p:spPr>
        <p:txBody>
          <a:bodyPr wrap="square" anchor="ctr" lIns="0" rIns="0" tIns="0" bIns="0">
            <a:spAutoFit/>
          </a:bodyPr>
          <a:lstStyle/>
          <a:p>
            <a:pPr algn="ctr">
              <a:lnSpc>
                <a:spcPct val="100000"/>
              </a:lnSpc>
              <a:spcAft>
                <a:spcPts val="400"/>
              </a:spcAft>
            </a:pPr>
            <a:r>
              <a:rPr sz="2000" b="1" i="0">
                <a:solidFill>
                  <a:srgbClr val="FFFFFF"/>
                </a:solidFill>
                <a:latin typeface="Calibri"/>
              </a:rPr>
              <a:t>2</a:t>
            </a:r>
          </a:p>
        </p:txBody>
      </p:sp>
      <p:sp>
        <p:nvSpPr>
          <p:cNvPr id="22" name="TextBox 21"/>
          <p:cNvSpPr txBox="1"/>
          <p:nvPr/>
        </p:nvSpPr>
        <p:spPr>
          <a:xfrm>
            <a:off x="1417320" y="3749040"/>
            <a:ext cx="6400800" cy="310896"/>
          </a:xfrm>
          <a:prstGeom prst="rect">
            <a:avLst/>
          </a:prstGeom>
          <a:noFill/>
        </p:spPr>
        <p:txBody>
          <a:bodyPr wrap="square" anchor="t" lIns="0" rIns="0" tIns="0" bIns="0">
            <a:spAutoFit/>
          </a:bodyPr>
          <a:lstStyle/>
          <a:p>
            <a:pPr algn="l">
              <a:lnSpc>
                <a:spcPct val="100000"/>
              </a:lnSpc>
              <a:spcAft>
                <a:spcPts val="400"/>
              </a:spcAft>
            </a:pPr>
            <a:r>
              <a:rPr sz="1500" b="1" i="0">
                <a:solidFill>
                  <a:srgbClr val="16325C"/>
                </a:solidFill>
                <a:latin typeface="Calibri"/>
              </a:rPr>
              <a:t>Feeds, speeds and tool life</a:t>
            </a:r>
          </a:p>
        </p:txBody>
      </p:sp>
      <p:sp>
        <p:nvSpPr>
          <p:cNvPr id="23" name="Rounded Rectangle 22"/>
          <p:cNvSpPr/>
          <p:nvPr/>
        </p:nvSpPr>
        <p:spPr>
          <a:xfrm>
            <a:off x="9692640" y="3767328"/>
            <a:ext cx="1920240" cy="274320"/>
          </a:xfrm>
          <a:prstGeom prst="roundRect">
            <a:avLst>
              <a:gd name="adj" fmla="val 15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0" y="3767328"/>
            <a:ext cx="1920240" cy="274320"/>
          </a:xfrm>
          <a:prstGeom prst="rect">
            <a:avLst/>
          </a:prstGeom>
          <a:noFill/>
        </p:spPr>
        <p:txBody>
          <a:bodyPr wrap="square" anchor="ctr" lIns="0" rIns="0" tIns="0" bIns="0">
            <a:spAutoFit/>
          </a:bodyPr>
          <a:lstStyle/>
          <a:p>
            <a:pPr algn="ctr">
              <a:lnSpc>
                <a:spcPct val="100000"/>
              </a:lnSpc>
              <a:spcAft>
                <a:spcPts val="400"/>
              </a:spcAft>
            </a:pPr>
            <a:r>
              <a:rPr sz="1000" b="1" i="0">
                <a:solidFill>
                  <a:srgbClr val="FFFFFF"/>
                </a:solidFill>
                <a:latin typeface="Calibri"/>
              </a:rPr>
              <a:t>Second</a:t>
            </a:r>
          </a:p>
        </p:txBody>
      </p:sp>
      <p:sp>
        <p:nvSpPr>
          <p:cNvPr id="25" name="TextBox 24"/>
          <p:cNvSpPr txBox="1"/>
          <p:nvPr/>
        </p:nvSpPr>
        <p:spPr>
          <a:xfrm>
            <a:off x="1417320" y="4114800"/>
            <a:ext cx="10149840" cy="512064"/>
          </a:xfrm>
          <a:prstGeom prst="rect">
            <a:avLst/>
          </a:prstGeom>
          <a:noFill/>
        </p:spPr>
        <p:txBody>
          <a:bodyPr wrap="square" anchor="t" lIns="0" rIns="0" tIns="0" bIns="0">
            <a:spAutoFit/>
          </a:bodyPr>
          <a:lstStyle/>
          <a:p>
            <a:pPr algn="l">
              <a:lnSpc>
                <a:spcPct val="114000"/>
              </a:lnSpc>
              <a:spcAft>
                <a:spcPts val="400"/>
              </a:spcAft>
            </a:pPr>
            <a:r>
              <a:rPr sz="1050" b="0" i="0">
                <a:solidFill>
                  <a:srgbClr val="3A4356"/>
                </a:solidFill>
                <a:latin typeface="Calibri"/>
              </a:rPr>
              <a:t>Cutting speed and axial feed by material and module band, hob and cutter price, and parts between regrinds. These drive the cycle time, and the cycle time drives the cost.</a:t>
            </a:r>
          </a:p>
        </p:txBody>
      </p:sp>
      <p:sp>
        <p:nvSpPr>
          <p:cNvPr id="26" name="Rounded Rectangle 25"/>
          <p:cNvSpPr/>
          <p:nvPr/>
        </p:nvSpPr>
        <p:spPr>
          <a:xfrm>
            <a:off x="411480" y="4828032"/>
            <a:ext cx="11384280" cy="1097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828032"/>
            <a:ext cx="82296" cy="10972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8368" y="5102352"/>
            <a:ext cx="548640" cy="548640"/>
          </a:xfrm>
          <a:prstGeom prst="roundRect">
            <a:avLst>
              <a:gd name="adj" fmla="val 30000"/>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102352"/>
            <a:ext cx="548640" cy="548640"/>
          </a:xfrm>
          <a:prstGeom prst="rect">
            <a:avLst/>
          </a:prstGeom>
          <a:noFill/>
        </p:spPr>
        <p:txBody>
          <a:bodyPr wrap="square" anchor="ctr" lIns="0" rIns="0" tIns="0" bIns="0">
            <a:spAutoFit/>
          </a:bodyPr>
          <a:lstStyle/>
          <a:p>
            <a:pPr algn="ctr">
              <a:lnSpc>
                <a:spcPct val="100000"/>
              </a:lnSpc>
              <a:spcAft>
                <a:spcPts val="400"/>
              </a:spcAft>
            </a:pPr>
            <a:r>
              <a:rPr sz="2000" b="1" i="0">
                <a:solidFill>
                  <a:srgbClr val="FFFFFF"/>
                </a:solidFill>
                <a:latin typeface="Calibri"/>
              </a:rPr>
              <a:t>3</a:t>
            </a:r>
          </a:p>
        </p:txBody>
      </p:sp>
      <p:sp>
        <p:nvSpPr>
          <p:cNvPr id="30" name="TextBox 29"/>
          <p:cNvSpPr txBox="1"/>
          <p:nvPr/>
        </p:nvSpPr>
        <p:spPr>
          <a:xfrm>
            <a:off x="1417320" y="4974336"/>
            <a:ext cx="6400800" cy="310896"/>
          </a:xfrm>
          <a:prstGeom prst="rect">
            <a:avLst/>
          </a:prstGeom>
          <a:noFill/>
        </p:spPr>
        <p:txBody>
          <a:bodyPr wrap="square" anchor="t" lIns="0" rIns="0" tIns="0" bIns="0">
            <a:spAutoFit/>
          </a:bodyPr>
          <a:lstStyle/>
          <a:p>
            <a:pPr algn="l">
              <a:lnSpc>
                <a:spcPct val="100000"/>
              </a:lnSpc>
              <a:spcAft>
                <a:spcPts val="400"/>
              </a:spcAft>
            </a:pPr>
            <a:r>
              <a:rPr sz="1500" b="1" i="0">
                <a:solidFill>
                  <a:srgbClr val="16325C"/>
                </a:solidFill>
                <a:latin typeface="Calibri"/>
              </a:rPr>
              <a:t>Two gears you already know the cost of</a:t>
            </a:r>
          </a:p>
        </p:txBody>
      </p:sp>
      <p:sp>
        <p:nvSpPr>
          <p:cNvPr id="31" name="Rounded Rectangle 30"/>
          <p:cNvSpPr/>
          <p:nvPr/>
        </p:nvSpPr>
        <p:spPr>
          <a:xfrm>
            <a:off x="9692640" y="4992624"/>
            <a:ext cx="1920240" cy="274320"/>
          </a:xfrm>
          <a:prstGeom prst="roundRect">
            <a:avLst>
              <a:gd name="adj" fmla="val 15000"/>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0" y="4992624"/>
            <a:ext cx="1920240" cy="274320"/>
          </a:xfrm>
          <a:prstGeom prst="rect">
            <a:avLst/>
          </a:prstGeom>
          <a:noFill/>
        </p:spPr>
        <p:txBody>
          <a:bodyPr wrap="square" anchor="ctr" lIns="0" rIns="0" tIns="0" bIns="0">
            <a:spAutoFit/>
          </a:bodyPr>
          <a:lstStyle/>
          <a:p>
            <a:pPr algn="ctr">
              <a:lnSpc>
                <a:spcPct val="100000"/>
              </a:lnSpc>
              <a:spcAft>
                <a:spcPts val="400"/>
              </a:spcAft>
            </a:pPr>
            <a:r>
              <a:rPr sz="1000" b="1" i="0">
                <a:solidFill>
                  <a:srgbClr val="FFFFFF"/>
                </a:solidFill>
                <a:latin typeface="Calibri"/>
              </a:rPr>
              <a:t>The proof</a:t>
            </a:r>
          </a:p>
        </p:txBody>
      </p:sp>
      <p:sp>
        <p:nvSpPr>
          <p:cNvPr id="33" name="TextBox 32"/>
          <p:cNvSpPr txBox="1"/>
          <p:nvPr/>
        </p:nvSpPr>
        <p:spPr>
          <a:xfrm>
            <a:off x="1417320" y="5340096"/>
            <a:ext cx="10149840" cy="512064"/>
          </a:xfrm>
          <a:prstGeom prst="rect">
            <a:avLst/>
          </a:prstGeom>
          <a:noFill/>
        </p:spPr>
        <p:txBody>
          <a:bodyPr wrap="square" anchor="t" lIns="0" rIns="0" tIns="0" bIns="0">
            <a:spAutoFit/>
          </a:bodyPr>
          <a:lstStyle/>
          <a:p>
            <a:pPr algn="l">
              <a:lnSpc>
                <a:spcPct val="114000"/>
              </a:lnSpc>
              <a:spcAft>
                <a:spcPts val="400"/>
              </a:spcAft>
            </a:pPr>
            <a:r>
              <a:rPr sz="1050" b="0" i="0">
                <a:solidFill>
                  <a:srgbClr val="3A4356"/>
                </a:solidFill>
                <a:latin typeface="Calibri"/>
              </a:rPr>
              <a:t>Ideally one hobbed-only and one hardened-and-ground. Without them nothing above is validated — the model is internally consistent but unproven against reality.</a:t>
            </a:r>
          </a:p>
        </p:txBody>
      </p:sp>
      <p:sp>
        <p:nvSpPr>
          <p:cNvPr id="34" name="Rounded Rectangle 33"/>
          <p:cNvSpPr/>
          <p:nvPr/>
        </p:nvSpPr>
        <p:spPr>
          <a:xfrm>
            <a:off x="411480" y="6108192"/>
            <a:ext cx="11384280" cy="457200"/>
          </a:xfrm>
          <a:prstGeom prst="roundRect">
            <a:avLst>
              <a:gd name="adj" fmla="val 7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6108192"/>
            <a:ext cx="10881360" cy="457200"/>
          </a:xfrm>
          <a:prstGeom prst="rect">
            <a:avLst/>
          </a:prstGeom>
          <a:noFill/>
        </p:spPr>
        <p:txBody>
          <a:bodyPr wrap="square" anchor="ctr" lIns="0" rIns="0" tIns="0" bIns="0">
            <a:spAutoFit/>
          </a:bodyPr>
          <a:lstStyle/>
          <a:p>
            <a:pPr algn="l">
              <a:lnSpc>
                <a:spcPct val="110000"/>
              </a:lnSpc>
              <a:spcAft>
                <a:spcPts val="400"/>
              </a:spcAft>
            </a:pPr>
            <a:r>
              <a:rPr sz="1100" b="1" i="0">
                <a:solidFill>
                  <a:srgbClr val="2A7F50"/>
                </a:solidFill>
                <a:latin typeface="Calibri"/>
              </a:rPr>
              <a:t>Effort on your side: </a:t>
            </a:r>
            <a:r>
              <a:rPr sz="1100" b="0" i="0">
                <a:solidFill>
                  <a:srgbClr val="3A4356"/>
                </a:solidFill>
                <a:latin typeface="Calibri"/>
              </a:rPr>
              <a:t>roughly half a day to export the machine list and the feeds table, plus two costings you have already done. Nothing new has to be measured.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STRAIGHT ANSWERS</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Questions you may be asking</a:t>
            </a:r>
          </a:p>
        </p:txBody>
      </p:sp>
      <p:sp>
        <p:nvSpPr>
          <p:cNvPr id="9" name="Rounded Rectangle 8"/>
          <p:cNvSpPr/>
          <p:nvPr/>
        </p:nvSpPr>
        <p:spPr>
          <a:xfrm>
            <a:off x="411480" y="1828800"/>
            <a:ext cx="11384280" cy="78638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20240"/>
            <a:ext cx="3566160" cy="640080"/>
          </a:xfrm>
          <a:prstGeom prst="rect">
            <a:avLst/>
          </a:prstGeom>
          <a:noFill/>
        </p:spPr>
        <p:txBody>
          <a:bodyPr wrap="square" anchor="t" lIns="0" rIns="0" tIns="0" bIns="0">
            <a:spAutoFit/>
          </a:bodyPr>
          <a:lstStyle/>
          <a:p>
            <a:pPr algn="l">
              <a:lnSpc>
                <a:spcPct val="108000"/>
              </a:lnSpc>
              <a:spcAft>
                <a:spcPts val="400"/>
              </a:spcAft>
            </a:pPr>
            <a:r>
              <a:rPr sz="1250" b="1" i="0">
                <a:solidFill>
                  <a:srgbClr val="1D6FB8"/>
                </a:solidFill>
                <a:latin typeface="Calibri"/>
              </a:rPr>
              <a:t>Why not just buy aPriori?</a:t>
            </a:r>
          </a:p>
        </p:txBody>
      </p:sp>
      <p:sp>
        <p:nvSpPr>
          <p:cNvPr id="11" name="TextBox 10"/>
          <p:cNvSpPr txBox="1"/>
          <p:nvPr/>
        </p:nvSpPr>
        <p:spPr>
          <a:xfrm>
            <a:off x="4480560" y="1920240"/>
            <a:ext cx="7132320" cy="640080"/>
          </a:xfrm>
          <a:prstGeom prst="rect">
            <a:avLst/>
          </a:prstGeom>
          <a:noFill/>
        </p:spPr>
        <p:txBody>
          <a:bodyPr wrap="square" anchor="t" lIns="0" rIns="0" tIns="0" bIns="0">
            <a:spAutoFit/>
          </a:bodyPr>
          <a:lstStyle/>
          <a:p>
            <a:pPr algn="l">
              <a:lnSpc>
                <a:spcPct val="110000"/>
              </a:lnSpc>
              <a:spcAft>
                <a:spcPts val="400"/>
              </a:spcAft>
            </a:pPr>
            <a:r>
              <a:rPr sz="1100" b="0" i="0">
                <a:solidFill>
                  <a:srgbClr val="3A4356"/>
                </a:solidFill>
                <a:latin typeface="Calibri"/>
              </a:rPr>
              <a:t>A SaaS suite means our CAD and rates live in a vendor cloud, it cannot learn from our quote history, and it costs six figures every year. CostVision is on-prem, self-learning, and our IP.</a:t>
            </a:r>
          </a:p>
        </p:txBody>
      </p:sp>
      <p:sp>
        <p:nvSpPr>
          <p:cNvPr id="12" name="Rounded Rectangle 11"/>
          <p:cNvSpPr/>
          <p:nvPr/>
        </p:nvSpPr>
        <p:spPr>
          <a:xfrm>
            <a:off x="411480" y="2724912"/>
            <a:ext cx="11384280" cy="786384"/>
          </a:xfrm>
          <a:prstGeom prst="roundRect">
            <a:avLst>
              <a:gd name="adj" fmla="val 10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16352"/>
            <a:ext cx="3566160" cy="640080"/>
          </a:xfrm>
          <a:prstGeom prst="rect">
            <a:avLst/>
          </a:prstGeom>
          <a:noFill/>
        </p:spPr>
        <p:txBody>
          <a:bodyPr wrap="square" anchor="t" lIns="0" rIns="0" tIns="0" bIns="0">
            <a:spAutoFit/>
          </a:bodyPr>
          <a:lstStyle/>
          <a:p>
            <a:pPr algn="l">
              <a:lnSpc>
                <a:spcPct val="108000"/>
              </a:lnSpc>
              <a:spcAft>
                <a:spcPts val="400"/>
              </a:spcAft>
            </a:pPr>
            <a:r>
              <a:rPr sz="1250" b="1" i="0">
                <a:solidFill>
                  <a:srgbClr val="1D6FB8"/>
                </a:solidFill>
                <a:latin typeface="Calibri"/>
              </a:rPr>
              <a:t>Is our data training a public AI?</a:t>
            </a:r>
          </a:p>
        </p:txBody>
      </p:sp>
      <p:sp>
        <p:nvSpPr>
          <p:cNvPr id="14" name="TextBox 13"/>
          <p:cNvSpPr txBox="1"/>
          <p:nvPr/>
        </p:nvSpPr>
        <p:spPr>
          <a:xfrm>
            <a:off x="4480560" y="2816352"/>
            <a:ext cx="7132320" cy="640080"/>
          </a:xfrm>
          <a:prstGeom prst="rect">
            <a:avLst/>
          </a:prstGeom>
          <a:noFill/>
        </p:spPr>
        <p:txBody>
          <a:bodyPr wrap="square" anchor="t" lIns="0" rIns="0" tIns="0" bIns="0">
            <a:spAutoFit/>
          </a:bodyPr>
          <a:lstStyle/>
          <a:p>
            <a:pPr algn="l">
              <a:lnSpc>
                <a:spcPct val="110000"/>
              </a:lnSpc>
              <a:spcAft>
                <a:spcPts val="400"/>
              </a:spcAft>
            </a:pPr>
            <a:r>
              <a:rPr sz="1100" b="0" i="0">
                <a:solidFill>
                  <a:srgbClr val="3A4356"/>
                </a:solidFill>
                <a:latin typeface="Calibri"/>
              </a:rPr>
              <a:t>No. AI calls run zero-retention in our own cloud tenancy (Option B) — and in air-gapped mode there are provably no external calls at all. Nothing is ever used to train public models.</a:t>
            </a:r>
          </a:p>
        </p:txBody>
      </p:sp>
      <p:sp>
        <p:nvSpPr>
          <p:cNvPr id="15" name="Rounded Rectangle 14"/>
          <p:cNvSpPr/>
          <p:nvPr/>
        </p:nvSpPr>
        <p:spPr>
          <a:xfrm>
            <a:off x="411480" y="3621024"/>
            <a:ext cx="11384280" cy="78638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12464"/>
            <a:ext cx="3566160" cy="640080"/>
          </a:xfrm>
          <a:prstGeom prst="rect">
            <a:avLst/>
          </a:prstGeom>
          <a:noFill/>
        </p:spPr>
        <p:txBody>
          <a:bodyPr wrap="square" anchor="t" lIns="0" rIns="0" tIns="0" bIns="0">
            <a:spAutoFit/>
          </a:bodyPr>
          <a:lstStyle/>
          <a:p>
            <a:pPr algn="l">
              <a:lnSpc>
                <a:spcPct val="108000"/>
              </a:lnSpc>
              <a:spcAft>
                <a:spcPts val="400"/>
              </a:spcAft>
            </a:pPr>
            <a:r>
              <a:rPr sz="1250" b="1" i="0">
                <a:solidFill>
                  <a:srgbClr val="1D6FB8"/>
                </a:solidFill>
                <a:latin typeface="Calibri"/>
              </a:rPr>
              <a:t>What if the key developer leaves?</a:t>
            </a:r>
          </a:p>
        </p:txBody>
      </p:sp>
      <p:sp>
        <p:nvSpPr>
          <p:cNvPr id="17" name="TextBox 16"/>
          <p:cNvSpPr txBox="1"/>
          <p:nvPr/>
        </p:nvSpPr>
        <p:spPr>
          <a:xfrm>
            <a:off x="4480560" y="3712464"/>
            <a:ext cx="7132320" cy="640080"/>
          </a:xfrm>
          <a:prstGeom prst="rect">
            <a:avLst/>
          </a:prstGeom>
          <a:noFill/>
        </p:spPr>
        <p:txBody>
          <a:bodyPr wrap="square" anchor="t" lIns="0" rIns="0" tIns="0" bIns="0">
            <a:spAutoFit/>
          </a:bodyPr>
          <a:lstStyle/>
          <a:p>
            <a:pPr algn="l">
              <a:lnSpc>
                <a:spcPct val="110000"/>
              </a:lnSpc>
              <a:spcAft>
                <a:spcPts val="400"/>
              </a:spcAft>
            </a:pPr>
            <a:r>
              <a:rPr sz="1100" b="0" i="0">
                <a:solidFill>
                  <a:srgbClr val="3A4356"/>
                </a:solidFill>
                <a:latin typeface="Calibri"/>
              </a:rPr>
              <a:t>1,777 automated tests define how everything must behave, the architecture is documented in writing, and Phase 4 trains a named CAPEE-side maintainer.</a:t>
            </a:r>
          </a:p>
        </p:txBody>
      </p:sp>
      <p:sp>
        <p:nvSpPr>
          <p:cNvPr id="18" name="Rounded Rectangle 17"/>
          <p:cNvSpPr/>
          <p:nvPr/>
        </p:nvSpPr>
        <p:spPr>
          <a:xfrm>
            <a:off x="411480" y="4517136"/>
            <a:ext cx="11384280" cy="786384"/>
          </a:xfrm>
          <a:prstGeom prst="roundRect">
            <a:avLst>
              <a:gd name="adj" fmla="val 10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608576"/>
            <a:ext cx="3566160" cy="640080"/>
          </a:xfrm>
          <a:prstGeom prst="rect">
            <a:avLst/>
          </a:prstGeom>
          <a:noFill/>
        </p:spPr>
        <p:txBody>
          <a:bodyPr wrap="square" anchor="t" lIns="0" rIns="0" tIns="0" bIns="0">
            <a:spAutoFit/>
          </a:bodyPr>
          <a:lstStyle/>
          <a:p>
            <a:pPr algn="l">
              <a:lnSpc>
                <a:spcPct val="108000"/>
              </a:lnSpc>
              <a:spcAft>
                <a:spcPts val="400"/>
              </a:spcAft>
            </a:pPr>
            <a:r>
              <a:rPr sz="1250" b="1" i="0">
                <a:solidFill>
                  <a:srgbClr val="1D6FB8"/>
                </a:solidFill>
                <a:latin typeface="Calibri"/>
              </a:rPr>
              <a:t>What does it cost to run?</a:t>
            </a:r>
          </a:p>
        </p:txBody>
      </p:sp>
      <p:sp>
        <p:nvSpPr>
          <p:cNvPr id="20" name="TextBox 19"/>
          <p:cNvSpPr txBox="1"/>
          <p:nvPr/>
        </p:nvSpPr>
        <p:spPr>
          <a:xfrm>
            <a:off x="4480560" y="4608576"/>
            <a:ext cx="7132320" cy="640080"/>
          </a:xfrm>
          <a:prstGeom prst="rect">
            <a:avLst/>
          </a:prstGeom>
          <a:noFill/>
        </p:spPr>
        <p:txBody>
          <a:bodyPr wrap="square" anchor="t" lIns="0" rIns="0" tIns="0" bIns="0">
            <a:spAutoFit/>
          </a:bodyPr>
          <a:lstStyle/>
          <a:p>
            <a:pPr algn="l">
              <a:lnSpc>
                <a:spcPct val="110000"/>
              </a:lnSpc>
              <a:spcAft>
                <a:spcPts val="400"/>
              </a:spcAft>
            </a:pPr>
            <a:r>
              <a:rPr sz="1100" b="0" i="0">
                <a:solidFill>
                  <a:srgbClr val="3A4356"/>
                </a:solidFill>
                <a:latin typeface="Calibri"/>
              </a:rPr>
              <a:t>One VM, a standard corporate database, and pay-per-use AI in our tenancy. No licences, no per-seat fees.</a:t>
            </a:r>
          </a:p>
        </p:txBody>
      </p:sp>
      <p:sp>
        <p:nvSpPr>
          <p:cNvPr id="21" name="Rounded Rectangle 20"/>
          <p:cNvSpPr/>
          <p:nvPr/>
        </p:nvSpPr>
        <p:spPr>
          <a:xfrm>
            <a:off x="411480" y="5413248"/>
            <a:ext cx="11384280" cy="78638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504688"/>
            <a:ext cx="3566160" cy="640080"/>
          </a:xfrm>
          <a:prstGeom prst="rect">
            <a:avLst/>
          </a:prstGeom>
          <a:noFill/>
        </p:spPr>
        <p:txBody>
          <a:bodyPr wrap="square" anchor="t" lIns="0" rIns="0" tIns="0" bIns="0">
            <a:spAutoFit/>
          </a:bodyPr>
          <a:lstStyle/>
          <a:p>
            <a:pPr algn="l">
              <a:lnSpc>
                <a:spcPct val="108000"/>
              </a:lnSpc>
              <a:spcAft>
                <a:spcPts val="400"/>
              </a:spcAft>
            </a:pPr>
            <a:r>
              <a:rPr sz="1250" b="1" i="0">
                <a:solidFill>
                  <a:srgbClr val="1D6FB8"/>
                </a:solidFill>
                <a:latin typeface="Calibri"/>
              </a:rPr>
              <a:t>How do we know the numbers are right?</a:t>
            </a:r>
          </a:p>
        </p:txBody>
      </p:sp>
      <p:sp>
        <p:nvSpPr>
          <p:cNvPr id="23" name="TextBox 22"/>
          <p:cNvSpPr txBox="1"/>
          <p:nvPr/>
        </p:nvSpPr>
        <p:spPr>
          <a:xfrm>
            <a:off x="4480560" y="5504688"/>
            <a:ext cx="7132320" cy="640080"/>
          </a:xfrm>
          <a:prstGeom prst="rect">
            <a:avLst/>
          </a:prstGeom>
          <a:noFill/>
        </p:spPr>
        <p:txBody>
          <a:bodyPr wrap="square" anchor="t" lIns="0" rIns="0" tIns="0" bIns="0">
            <a:spAutoFit/>
          </a:bodyPr>
          <a:lstStyle/>
          <a:p>
            <a:pPr algn="l">
              <a:lnSpc>
                <a:spcPct val="110000"/>
              </a:lnSpc>
              <a:spcAft>
                <a:spcPts val="400"/>
              </a:spcAft>
            </a:pPr>
            <a:r>
              <a:rPr sz="1100" b="0" i="0">
                <a:solidFill>
                  <a:srgbClr val="3A4356"/>
                </a:solidFill>
                <a:latin typeface="Calibri"/>
              </a:rPr>
              <a:t>Physics-based cost build-ups on OUR uploaded rates, calibrated against OUR real PO prices — and the accuracy dashboard tracks the error openly, part by part.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FEATURE DEEP-DIVE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Photo to costed BOM — how it works, step by step</a:t>
            </a:r>
          </a:p>
        </p:txBody>
      </p:sp>
      <p:sp>
        <p:nvSpPr>
          <p:cNvPr id="9" name="Rounded Rectangle 8"/>
          <p:cNvSpPr/>
          <p:nvPr/>
        </p:nvSpPr>
        <p:spPr>
          <a:xfrm>
            <a:off x="411480" y="1783080"/>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1D6FB8"/>
                </a:solidFill>
                <a:latin typeface="Calibri"/>
              </a:rPr>
              <a:t>1 · Upload photos</a:t>
            </a:r>
          </a:p>
          <a:p>
            <a:pPr algn="l"/>
            <a:r>
              <a:rPr sz="950">
                <a:solidFill>
                  <a:srgbClr val="3A4356"/>
                </a:solidFill>
                <a:latin typeface="Calibri"/>
              </a:rPr>
              <a:t>Up to 5 photos of the board (+ an optional BOM or pick-and-place file). Photos are auto-downsized in the browser; nothing is stored.</a:t>
            </a:r>
          </a:p>
        </p:txBody>
      </p:sp>
      <p:sp>
        <p:nvSpPr>
          <p:cNvPr id="10" name="Rectangle 9"/>
          <p:cNvSpPr/>
          <p:nvPr/>
        </p:nvSpPr>
        <p:spPr>
          <a:xfrm>
            <a:off x="411480" y="1783080"/>
            <a:ext cx="64008" cy="62179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943600" y="2418588"/>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2569464"/>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1D6FB8"/>
                </a:solidFill>
                <a:latin typeface="Calibri"/>
              </a:rPr>
              <a:t>2 · Board classification</a:t>
            </a:r>
          </a:p>
          <a:p>
            <a:pPr algn="l"/>
            <a:r>
              <a:rPr sz="950">
                <a:solidFill>
                  <a:srgbClr val="3A4356"/>
                </a:solidFill>
                <a:latin typeface="Calibri"/>
              </a:rPr>
              <a:t>AI identifies what the board is — domain (automotive, industrial, consumer) and safety level (ASIL) — so the right cost assumptions apply.</a:t>
            </a:r>
          </a:p>
        </p:txBody>
      </p:sp>
      <p:sp>
        <p:nvSpPr>
          <p:cNvPr id="13" name="Rectangle 12"/>
          <p:cNvSpPr/>
          <p:nvPr/>
        </p:nvSpPr>
        <p:spPr>
          <a:xfrm>
            <a:off x="411480" y="2569464"/>
            <a:ext cx="64008" cy="62179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13"/>
          <p:cNvSpPr/>
          <p:nvPr/>
        </p:nvSpPr>
        <p:spPr>
          <a:xfrm>
            <a:off x="5943600" y="3204972"/>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11480" y="3355848"/>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6B3FA0"/>
                </a:solidFill>
                <a:latin typeface="Calibri"/>
              </a:rPr>
              <a:t>3 · OCR text pass</a:t>
            </a:r>
          </a:p>
          <a:p>
            <a:pPr algn="l"/>
            <a:r>
              <a:rPr sz="950">
                <a:solidFill>
                  <a:srgbClr val="3A4356"/>
                </a:solidFill>
                <a:latin typeface="Calibri"/>
              </a:rPr>
              <a:t>Every printed marking is read: chip part numbers, connector types, silkscreen references — hard evidence, not guesswork.</a:t>
            </a:r>
          </a:p>
        </p:txBody>
      </p:sp>
      <p:sp>
        <p:nvSpPr>
          <p:cNvPr id="16" name="Rectangle 15"/>
          <p:cNvSpPr/>
          <p:nvPr/>
        </p:nvSpPr>
        <p:spPr>
          <a:xfrm>
            <a:off x="411480" y="3355848"/>
            <a:ext cx="64008" cy="62179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5943600" y="3991356"/>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1480" y="4142232"/>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0D7D71"/>
                </a:solidFill>
                <a:latin typeface="Calibri"/>
              </a:rPr>
              <a:t>4 · Full vision BOM extraction</a:t>
            </a:r>
          </a:p>
          <a:p>
            <a:pPr algn="l"/>
            <a:r>
              <a:rPr sz="950">
                <a:solidFill>
                  <a:srgbClr val="3A4356"/>
                </a:solidFill>
                <a:latin typeface="Calibri"/>
              </a:rPr>
              <a:t>The AI locates and identifies every visible component — type, package, value, manufacturer part number (~20 seconds).</a:t>
            </a:r>
          </a:p>
        </p:txBody>
      </p:sp>
      <p:sp>
        <p:nvSpPr>
          <p:cNvPr id="19" name="Rectangle 18"/>
          <p:cNvSpPr/>
          <p:nvPr/>
        </p:nvSpPr>
        <p:spPr>
          <a:xfrm>
            <a:off x="411480" y="4142232"/>
            <a:ext cx="64008" cy="621792"/>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5943600" y="4777740"/>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11480" y="4928616"/>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2A7F50"/>
                </a:solidFill>
                <a:latin typeface="Calibri"/>
              </a:rPr>
              <a:t>5 · Deterministic clean-up &amp; costing</a:t>
            </a:r>
          </a:p>
          <a:p>
            <a:pPr algn="l"/>
            <a:r>
              <a:rPr sz="950">
                <a:solidFill>
                  <a:srgbClr val="3A4356"/>
                </a:solidFill>
                <a:latin typeface="Calibri"/>
              </a:rPr>
              <a:t>Code (not AI) normalises types, parses values, scores per-line confidence, grounds prices against the distributor catalogue, then adds board fabrication + SMT assembly + test on country rates.</a:t>
            </a:r>
          </a:p>
        </p:txBody>
      </p:sp>
      <p:sp>
        <p:nvSpPr>
          <p:cNvPr id="22" name="Rectangle 21"/>
          <p:cNvSpPr/>
          <p:nvPr/>
        </p:nvSpPr>
        <p:spPr>
          <a:xfrm>
            <a:off x="411480" y="4928616"/>
            <a:ext cx="64008" cy="621792"/>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wn Arrow 22"/>
          <p:cNvSpPr/>
          <p:nvPr/>
        </p:nvSpPr>
        <p:spPr>
          <a:xfrm>
            <a:off x="5943600" y="5564124"/>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1480" y="5715000"/>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99651A"/>
                </a:solidFill>
                <a:latin typeface="Calibri"/>
              </a:rPr>
              <a:t>6 · Same photos, same answer</a:t>
            </a:r>
          </a:p>
          <a:p>
            <a:pPr algn="l"/>
            <a:r>
              <a:rPr sz="950">
                <a:solidFill>
                  <a:srgbClr val="3A4356"/>
                </a:solidFill>
                <a:latin typeface="Calibri"/>
              </a:rPr>
              <a:t>The result is cached by a digital fingerprint (SHA-256) — re-running identical photos returns the identical BOM. Export PDF/Excel, save to library, feed the learning loop.</a:t>
            </a:r>
          </a:p>
        </p:txBody>
      </p:sp>
      <p:sp>
        <p:nvSpPr>
          <p:cNvPr id="25" name="Rectangle 24"/>
          <p:cNvSpPr/>
          <p:nvPr/>
        </p:nvSpPr>
        <p:spPr>
          <a:xfrm>
            <a:off x="411480" y="5715000"/>
            <a:ext cx="64008" cy="621792"/>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FEATURE DEEP-DIVE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Photo to costed BOM — technology, accuracy, speed</a:t>
            </a:r>
          </a:p>
        </p:txBody>
      </p:sp>
      <p:sp>
        <p:nvSpPr>
          <p:cNvPr id="9" name="Rounded Rectangle 8"/>
          <p:cNvSpPr/>
          <p:nvPr/>
        </p:nvSpPr>
        <p:spPr>
          <a:xfrm>
            <a:off x="411480" y="1828800"/>
            <a:ext cx="3657600" cy="379476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28800"/>
            <a:ext cx="3657600" cy="822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011680"/>
            <a:ext cx="324612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1D6FB8"/>
                </a:solidFill>
                <a:latin typeface="Calibri"/>
              </a:rPr>
              <a:t>Technology</a:t>
            </a:r>
          </a:p>
        </p:txBody>
      </p:sp>
      <p:sp>
        <p:nvSpPr>
          <p:cNvPr id="12" name="TextBox 11"/>
          <p:cNvSpPr txBox="1"/>
          <p:nvPr/>
        </p:nvSpPr>
        <p:spPr>
          <a:xfrm>
            <a:off x="640080" y="2450592"/>
            <a:ext cx="3246120" cy="3108960"/>
          </a:xfrm>
          <a:prstGeom prst="rect">
            <a:avLst/>
          </a:prstGeom>
          <a:noFill/>
        </p:spPr>
        <p:txBody>
          <a:bodyPr wrap="square" anchor="t" lIns="0" rIns="0" tIns="0" bIns="0">
            <a:spAutoFit/>
          </a:bodyPr>
          <a:lstStyle/>
          <a:p>
            <a:pPr algn="l">
              <a:lnSpc>
                <a:spcPct val="115000"/>
              </a:lnSpc>
              <a:spcAft>
                <a:spcPts val="1000"/>
              </a:spcAft>
            </a:pPr>
            <a:r>
              <a:rPr sz="1150" b="0" i="0">
                <a:solidFill>
                  <a:srgbClr val="3A4356"/>
                </a:solidFill>
                <a:latin typeface="Calibri"/>
              </a:rPr>
              <a:t>• Claude vision model — via our controlled endpoint (Option B) </a:t>
            </a:r>
          </a:p>
          <a:p>
            <a:pPr algn="l">
              <a:lnSpc>
                <a:spcPct val="115000"/>
              </a:lnSpc>
              <a:spcAft>
                <a:spcPts val="1000"/>
              </a:spcAft>
            </a:pPr>
            <a:r>
              <a:rPr sz="1150" b="0" i="0">
                <a:solidFill>
                  <a:srgbClr val="3A4356"/>
                </a:solidFill>
                <a:latin typeface="Calibri"/>
              </a:rPr>
              <a:t>• 5-stage pipeline: classify → OCR → extract → cost → cache</a:t>
            </a:r>
          </a:p>
          <a:p>
            <a:pPr algn="l">
              <a:lnSpc>
                <a:spcPct val="115000"/>
              </a:lnSpc>
              <a:spcAft>
                <a:spcPts val="1000"/>
              </a:spcAft>
            </a:pPr>
            <a:r>
              <a:rPr sz="1150" b="0" i="0">
                <a:solidFill>
                  <a:srgbClr val="3A4356"/>
                </a:solidFill>
                <a:latin typeface="Calibri"/>
              </a:rPr>
              <a:t>• Deterministic TypeScript post-processor for types, values, MPNs</a:t>
            </a:r>
          </a:p>
          <a:p>
            <a:pPr algn="l">
              <a:lnSpc>
                <a:spcPct val="115000"/>
              </a:lnSpc>
              <a:spcAft>
                <a:spcPts val="1000"/>
              </a:spcAft>
            </a:pPr>
            <a:r>
              <a:rPr sz="1150" b="0" i="0">
                <a:solidFill>
                  <a:srgbClr val="3A4356"/>
                </a:solidFill>
                <a:latin typeface="Calibri"/>
              </a:rPr>
              <a:t>• SHA-256 result cache — repeatable, auditable output</a:t>
            </a:r>
          </a:p>
          <a:p>
            <a:pPr algn="l">
              <a:lnSpc>
                <a:spcPct val="115000"/>
              </a:lnSpc>
              <a:spcAft>
                <a:spcPts val="1000"/>
              </a:spcAft>
            </a:pPr>
            <a:r>
              <a:rPr sz="1150" b="0" i="0">
                <a:solidFill>
                  <a:srgbClr val="3A4356"/>
                </a:solidFill>
                <a:latin typeface="Calibri"/>
              </a:rPr>
              <a:t>• Optional live pricing (Nexar/RS/Farnell) — part numbers only, opt-in</a:t>
            </a:r>
          </a:p>
        </p:txBody>
      </p:sp>
      <p:sp>
        <p:nvSpPr>
          <p:cNvPr id="13" name="Rounded Rectangle 12"/>
          <p:cNvSpPr/>
          <p:nvPr/>
        </p:nvSpPr>
        <p:spPr>
          <a:xfrm>
            <a:off x="4297680" y="1828800"/>
            <a:ext cx="3657600" cy="3794760"/>
          </a:xfrm>
          <a:prstGeom prst="roundRect">
            <a:avLst>
              <a:gd name="adj" fmla="val 6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828800"/>
            <a:ext cx="3657600" cy="8229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011680"/>
            <a:ext cx="324612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2A7F50"/>
                </a:solidFill>
                <a:latin typeface="Calibri"/>
              </a:rPr>
              <a:t>Why it is accurate</a:t>
            </a:r>
          </a:p>
        </p:txBody>
      </p:sp>
      <p:sp>
        <p:nvSpPr>
          <p:cNvPr id="16" name="TextBox 15"/>
          <p:cNvSpPr txBox="1"/>
          <p:nvPr/>
        </p:nvSpPr>
        <p:spPr>
          <a:xfrm>
            <a:off x="4526280" y="2450592"/>
            <a:ext cx="3246120" cy="3108960"/>
          </a:xfrm>
          <a:prstGeom prst="rect">
            <a:avLst/>
          </a:prstGeom>
          <a:noFill/>
        </p:spPr>
        <p:txBody>
          <a:bodyPr wrap="square" anchor="t" lIns="0" rIns="0" tIns="0" bIns="0">
            <a:spAutoFit/>
          </a:bodyPr>
          <a:lstStyle/>
          <a:p>
            <a:pPr algn="l">
              <a:lnSpc>
                <a:spcPct val="115000"/>
              </a:lnSpc>
              <a:spcAft>
                <a:spcPts val="1000"/>
              </a:spcAft>
            </a:pPr>
            <a:r>
              <a:rPr sz="1150" b="0" i="0">
                <a:solidFill>
                  <a:srgbClr val="3A4356"/>
                </a:solidFill>
                <a:latin typeface="Calibri"/>
              </a:rPr>
              <a:t>• OCR evidence + vision cross-check — read, not guessed</a:t>
            </a:r>
          </a:p>
          <a:p>
            <a:pPr algn="l">
              <a:lnSpc>
                <a:spcPct val="115000"/>
              </a:lnSpc>
              <a:spcAft>
                <a:spcPts val="1000"/>
              </a:spcAft>
            </a:pPr>
            <a:r>
              <a:rPr sz="1150" b="0" i="0">
                <a:solidFill>
                  <a:srgbClr val="3A4356"/>
                </a:solidFill>
                <a:latin typeface="Calibri"/>
              </a:rPr>
              <a:t>• Code normalises every line; implausible part numbers rejected</a:t>
            </a:r>
          </a:p>
          <a:p>
            <a:pPr algn="l">
              <a:lnSpc>
                <a:spcPct val="115000"/>
              </a:lnSpc>
              <a:spcAft>
                <a:spcPts val="1000"/>
              </a:spcAft>
            </a:pPr>
            <a:r>
              <a:rPr sz="1150" b="0" i="0">
                <a:solidFill>
                  <a:srgbClr val="3A4356"/>
                </a:solidFill>
                <a:latin typeface="Calibri"/>
              </a:rPr>
              <a:t>• Per-line confidence score — low lines flagged for engineer review</a:t>
            </a:r>
          </a:p>
          <a:p>
            <a:pPr algn="l">
              <a:lnSpc>
                <a:spcPct val="115000"/>
              </a:lnSpc>
              <a:spcAft>
                <a:spcPts val="1000"/>
              </a:spcAft>
            </a:pPr>
            <a:r>
              <a:rPr sz="1150" b="0" i="0">
                <a:solidFill>
                  <a:srgbClr val="3A4356"/>
                </a:solidFill>
                <a:latin typeface="Calibri"/>
              </a:rPr>
              <a:t>• Prices grounded against the distributor catalogue, shown as ranges</a:t>
            </a:r>
          </a:p>
          <a:p>
            <a:pPr algn="l">
              <a:lnSpc>
                <a:spcPct val="115000"/>
              </a:lnSpc>
              <a:spcAft>
                <a:spcPts val="1000"/>
              </a:spcAft>
            </a:pPr>
            <a:r>
              <a:rPr sz="1150" b="0" i="0">
                <a:solidFill>
                  <a:srgbClr val="3A4356"/>
                </a:solidFill>
                <a:latin typeface="Calibri"/>
              </a:rPr>
              <a:t>• Learning loop calibrates against real quotes over time</a:t>
            </a:r>
          </a:p>
        </p:txBody>
      </p:sp>
      <p:sp>
        <p:nvSpPr>
          <p:cNvPr id="17" name="Rounded Rectangle 16"/>
          <p:cNvSpPr/>
          <p:nvPr/>
        </p:nvSpPr>
        <p:spPr>
          <a:xfrm>
            <a:off x="8183879" y="1828800"/>
            <a:ext cx="3657600" cy="3794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828800"/>
            <a:ext cx="3657600" cy="82296"/>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9" y="2011680"/>
            <a:ext cx="324612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6B3FA0"/>
                </a:solidFill>
                <a:latin typeface="Calibri"/>
              </a:rPr>
              <a:t>Speed</a:t>
            </a:r>
          </a:p>
        </p:txBody>
      </p:sp>
      <p:sp>
        <p:nvSpPr>
          <p:cNvPr id="20" name="TextBox 19"/>
          <p:cNvSpPr txBox="1"/>
          <p:nvPr/>
        </p:nvSpPr>
        <p:spPr>
          <a:xfrm>
            <a:off x="8412479" y="2450592"/>
            <a:ext cx="3246120" cy="3108960"/>
          </a:xfrm>
          <a:prstGeom prst="rect">
            <a:avLst/>
          </a:prstGeom>
          <a:noFill/>
        </p:spPr>
        <p:txBody>
          <a:bodyPr wrap="square" anchor="t" lIns="0" rIns="0" tIns="0" bIns="0">
            <a:spAutoFit/>
          </a:bodyPr>
          <a:lstStyle/>
          <a:p>
            <a:pPr algn="l">
              <a:lnSpc>
                <a:spcPct val="115000"/>
              </a:lnSpc>
              <a:spcAft>
                <a:spcPts val="1000"/>
              </a:spcAft>
            </a:pPr>
            <a:r>
              <a:rPr sz="1150" b="0" i="0">
                <a:solidFill>
                  <a:srgbClr val="3A4356"/>
                </a:solidFill>
                <a:latin typeface="Calibri"/>
              </a:rPr>
              <a:t>• Main AI pass: ~20 seconds</a:t>
            </a:r>
          </a:p>
          <a:p>
            <a:pPr algn="l">
              <a:lnSpc>
                <a:spcPct val="115000"/>
              </a:lnSpc>
              <a:spcAft>
                <a:spcPts val="1000"/>
              </a:spcAft>
            </a:pPr>
            <a:r>
              <a:rPr sz="1150" b="0" i="0">
                <a:solidFill>
                  <a:srgbClr val="3A4356"/>
                </a:solidFill>
                <a:latin typeface="Calibri"/>
              </a:rPr>
              <a:t>• Full costed BOM: typically under a minute</a:t>
            </a:r>
          </a:p>
          <a:p>
            <a:pPr algn="l">
              <a:lnSpc>
                <a:spcPct val="115000"/>
              </a:lnSpc>
              <a:spcAft>
                <a:spcPts val="1000"/>
              </a:spcAft>
            </a:pPr>
            <a:r>
              <a:rPr sz="1150" b="0" i="0">
                <a:solidFill>
                  <a:srgbClr val="3A4356"/>
                </a:solidFill>
                <a:latin typeface="Calibri"/>
              </a:rPr>
              <a:t>• Repeat of the same board: instant (cache)</a:t>
            </a:r>
          </a:p>
          <a:p>
            <a:pPr algn="l">
              <a:lnSpc>
                <a:spcPct val="115000"/>
              </a:lnSpc>
              <a:spcAft>
                <a:spcPts val="1000"/>
              </a:spcAft>
            </a:pPr>
            <a:r>
              <a:rPr sz="1150" b="0" i="0">
                <a:solidFill>
                  <a:srgbClr val="3A4356"/>
                </a:solidFill>
                <a:latin typeface="Calibri"/>
              </a:rPr>
              <a:t>• Manual alternative: hours to days per board</a:t>
            </a:r>
          </a:p>
          <a:p>
            <a:pPr algn="l">
              <a:lnSpc>
                <a:spcPct val="115000"/>
              </a:lnSpc>
              <a:spcAft>
                <a:spcPts val="1000"/>
              </a:spcAft>
            </a:pPr>
            <a:r>
              <a:rPr sz="1150" b="0" i="0">
                <a:solidFill>
                  <a:srgbClr val="3A4356"/>
                </a:solidFill>
                <a:latin typeface="Calibri"/>
              </a:rPr>
              <a:t>• Works from photos alone — no CAD, no drawings needed</a:t>
            </a:r>
          </a:p>
        </p:txBody>
      </p:sp>
      <p:sp>
        <p:nvSpPr>
          <p:cNvPr id="21" name="Rounded Rectangle 20"/>
          <p:cNvSpPr/>
          <p:nvPr/>
        </p:nvSpPr>
        <p:spPr>
          <a:xfrm>
            <a:off x="411480" y="5870448"/>
            <a:ext cx="11384280" cy="777240"/>
          </a:xfrm>
          <a:prstGeom prst="roundRect">
            <a:avLst>
              <a:gd name="adj" fmla="val 8000"/>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971032"/>
            <a:ext cx="10881360" cy="594360"/>
          </a:xfrm>
          <a:prstGeom prst="rect">
            <a:avLst/>
          </a:prstGeom>
          <a:noFill/>
        </p:spPr>
        <p:txBody>
          <a:bodyPr wrap="square" anchor="t" lIns="0" rIns="0" tIns="0" bIns="0">
            <a:spAutoFit/>
          </a:bodyPr>
          <a:lstStyle/>
          <a:p>
            <a:pPr algn="l">
              <a:lnSpc>
                <a:spcPct val="115000"/>
              </a:lnSpc>
              <a:spcAft>
                <a:spcPts val="400"/>
              </a:spcAft>
            </a:pPr>
            <a:r>
              <a:rPr sz="1200" b="1" i="0">
                <a:solidFill>
                  <a:srgbClr val="99651A"/>
                </a:solidFill>
                <a:latin typeface="Calibri"/>
              </a:rPr>
              <a:t>Honest limits: </a:t>
            </a:r>
            <a:r>
              <a:rPr sz="1150" b="0" i="0">
                <a:solidFill>
                  <a:srgbClr val="3A4356"/>
                </a:solidFill>
                <a:latin typeface="Calibri"/>
              </a:rPr>
              <a:t>a vision BOM is a strong first pass, not gospel — hidden or underside parts need extra photos, and low-confidence lines are deliberately flagged for a human check rather than silently guessed.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FEATURE DEEP-DIVE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CAD file to cost — how it works, step by step</a:t>
            </a:r>
          </a:p>
        </p:txBody>
      </p:sp>
      <p:sp>
        <p:nvSpPr>
          <p:cNvPr id="9" name="Rounded Rectangle 8"/>
          <p:cNvSpPr/>
          <p:nvPr/>
        </p:nvSpPr>
        <p:spPr>
          <a:xfrm>
            <a:off x="411480" y="1783080"/>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1D6FB8"/>
                </a:solidFill>
                <a:latin typeface="Calibri"/>
              </a:rPr>
              <a:t>1 · Upload a CAD model</a:t>
            </a:r>
          </a:p>
          <a:p>
            <a:pPr algn="l"/>
            <a:r>
              <a:rPr sz="950">
                <a:solidFill>
                  <a:srgbClr val="3A4356"/>
                </a:solidFill>
                <a:latin typeface="Calibri"/>
              </a:rPr>
              <a:t>STEP, IGES or STL from any CAD system — as the standalone CAD-to-Cost flow or inside any of the 13 commodity calculators.</a:t>
            </a:r>
          </a:p>
        </p:txBody>
      </p:sp>
      <p:sp>
        <p:nvSpPr>
          <p:cNvPr id="10" name="Rectangle 9"/>
          <p:cNvSpPr/>
          <p:nvPr/>
        </p:nvSpPr>
        <p:spPr>
          <a:xfrm>
            <a:off x="411480" y="1783080"/>
            <a:ext cx="64008" cy="62179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943600" y="2418588"/>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2569464"/>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1D6FB8"/>
                </a:solidFill>
                <a:latin typeface="Calibri"/>
              </a:rPr>
              <a:t>2 · Opened in memory, inside our server</a:t>
            </a:r>
          </a:p>
          <a:p>
            <a:pPr algn="l"/>
            <a:r>
              <a:rPr sz="950">
                <a:solidFill>
                  <a:srgbClr val="3A4356"/>
                </a:solidFill>
                <a:latin typeface="Calibri"/>
              </a:rPr>
              <a:t>The OCCT geometry kernel (the same engine class commercial CAD tools are built on) reads the model in memory. The file is never written to disk and never leaves the server.</a:t>
            </a:r>
          </a:p>
        </p:txBody>
      </p:sp>
      <p:sp>
        <p:nvSpPr>
          <p:cNvPr id="13" name="Rectangle 12"/>
          <p:cNvSpPr/>
          <p:nvPr/>
        </p:nvSpPr>
        <p:spPr>
          <a:xfrm>
            <a:off x="411480" y="2569464"/>
            <a:ext cx="64008" cy="62179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13"/>
          <p:cNvSpPr/>
          <p:nvPr/>
        </p:nvSpPr>
        <p:spPr>
          <a:xfrm>
            <a:off x="5943600" y="3204972"/>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11480" y="3355848"/>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6B3FA0"/>
                </a:solidFill>
                <a:latin typeface="Calibri"/>
              </a:rPr>
              <a:t>3 · The model is measured</a:t>
            </a:r>
          </a:p>
          <a:p>
            <a:pPr algn="l"/>
            <a:r>
              <a:rPr sz="950">
                <a:solidFill>
                  <a:srgbClr val="3A4356"/>
                </a:solidFill>
                <a:latin typeface="Calibri"/>
              </a:rPr>
              <a:t>Exact volume, surface area, bounding box, mean wall thickness, hole count, free-form faces — measured from the geometry, not typed in from a drawing.</a:t>
            </a:r>
          </a:p>
        </p:txBody>
      </p:sp>
      <p:sp>
        <p:nvSpPr>
          <p:cNvPr id="16" name="Rectangle 15"/>
          <p:cNvSpPr/>
          <p:nvPr/>
        </p:nvSpPr>
        <p:spPr>
          <a:xfrm>
            <a:off x="411480" y="3355848"/>
            <a:ext cx="64008" cy="62179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5943600" y="3991356"/>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1480" y="4142232"/>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0D7D71"/>
                </a:solidFill>
                <a:latin typeface="Calibri"/>
              </a:rPr>
              <a:t>4 · Inputs auto-filled</a:t>
            </a:r>
          </a:p>
          <a:p>
            <a:pPr algn="l"/>
            <a:r>
              <a:rPr sz="950">
                <a:solidFill>
                  <a:srgbClr val="3A4356"/>
                </a:solidFill>
                <a:latin typeface="Calibri"/>
              </a:rPr>
              <a:t>Mass from volume × material density, stock/billet size, and suggested process parameters for the chosen commodity — the engineer reviews and adjusts.</a:t>
            </a:r>
          </a:p>
        </p:txBody>
      </p:sp>
      <p:sp>
        <p:nvSpPr>
          <p:cNvPr id="19" name="Rectangle 18"/>
          <p:cNvSpPr/>
          <p:nvPr/>
        </p:nvSpPr>
        <p:spPr>
          <a:xfrm>
            <a:off x="411480" y="4142232"/>
            <a:ext cx="64008" cy="621792"/>
          </a:xfrm>
          <a:prstGeom prst="rect">
            <a:avLst/>
          </a:prstGeom>
          <a:solidFill>
            <a:srgbClr val="0D7D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5943600" y="4777740"/>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11480" y="4928616"/>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2A7F50"/>
                </a:solidFill>
                <a:latin typeface="Calibri"/>
              </a:rPr>
              <a:t>5 · Physics engines cost it</a:t>
            </a:r>
          </a:p>
          <a:p>
            <a:pPr algn="l"/>
            <a:r>
              <a:rPr sz="950">
                <a:solidFill>
                  <a:srgbClr val="3A4356"/>
                </a:solidFill>
                <a:latin typeface="Calibri"/>
              </a:rPr>
              <a:t>Material, cycle or machining time, labour, tooling amortisation, energy and overheads — computed bottom-up on OUR uploaded rates for the chosen country.</a:t>
            </a:r>
          </a:p>
        </p:txBody>
      </p:sp>
      <p:sp>
        <p:nvSpPr>
          <p:cNvPr id="22" name="Rectangle 21"/>
          <p:cNvSpPr/>
          <p:nvPr/>
        </p:nvSpPr>
        <p:spPr>
          <a:xfrm>
            <a:off x="411480" y="4928616"/>
            <a:ext cx="64008" cy="621792"/>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wn Arrow 22"/>
          <p:cNvSpPr/>
          <p:nvPr/>
        </p:nvSpPr>
        <p:spPr>
          <a:xfrm>
            <a:off x="5943600" y="5564124"/>
            <a:ext cx="292608" cy="137160"/>
          </a:xfrm>
          <a:prstGeom prst="downArrow">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1480" y="5715000"/>
            <a:ext cx="11384280" cy="621792"/>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200" b="1">
                <a:solidFill>
                  <a:srgbClr val="99651A"/>
                </a:solidFill>
                <a:latin typeface="Calibri"/>
              </a:rPr>
              <a:t>6 · Defensible result</a:t>
            </a:r>
          </a:p>
          <a:p>
            <a:pPr algn="l"/>
            <a:r>
              <a:rPr sz="950">
                <a:solidFill>
                  <a:srgbClr val="3A4356"/>
                </a:solidFill>
                <a:latin typeface="Calibri"/>
              </a:rPr>
              <a:t>Full cost breakdown + DFM warnings (thin walls, tonnage limits) + an honest uncertainty band — and the learning loop tightens it as real quotes arrive.</a:t>
            </a:r>
          </a:p>
        </p:txBody>
      </p:sp>
      <p:sp>
        <p:nvSpPr>
          <p:cNvPr id="25" name="Rectangle 24"/>
          <p:cNvSpPr/>
          <p:nvPr/>
        </p:nvSpPr>
        <p:spPr>
          <a:xfrm>
            <a:off x="411480" y="5715000"/>
            <a:ext cx="64008" cy="621792"/>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BACKUP · FEATURE DEEP-DIVE</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CAD file to cost — technology, accuracy, speed</a:t>
            </a:r>
          </a:p>
        </p:txBody>
      </p:sp>
      <p:sp>
        <p:nvSpPr>
          <p:cNvPr id="9" name="Rounded Rectangle 8"/>
          <p:cNvSpPr/>
          <p:nvPr/>
        </p:nvSpPr>
        <p:spPr>
          <a:xfrm>
            <a:off x="411480" y="1828800"/>
            <a:ext cx="3657600" cy="379476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28800"/>
            <a:ext cx="3657600" cy="82296"/>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011680"/>
            <a:ext cx="324612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1D6FB8"/>
                </a:solidFill>
                <a:latin typeface="Calibri"/>
              </a:rPr>
              <a:t>Technology</a:t>
            </a:r>
          </a:p>
        </p:txBody>
      </p:sp>
      <p:sp>
        <p:nvSpPr>
          <p:cNvPr id="12" name="TextBox 11"/>
          <p:cNvSpPr txBox="1"/>
          <p:nvPr/>
        </p:nvSpPr>
        <p:spPr>
          <a:xfrm>
            <a:off x="640080" y="2450592"/>
            <a:ext cx="3246120" cy="3108960"/>
          </a:xfrm>
          <a:prstGeom prst="rect">
            <a:avLst/>
          </a:prstGeom>
          <a:noFill/>
        </p:spPr>
        <p:txBody>
          <a:bodyPr wrap="square" anchor="t" lIns="0" rIns="0" tIns="0" bIns="0">
            <a:spAutoFit/>
          </a:bodyPr>
          <a:lstStyle/>
          <a:p>
            <a:pPr algn="l">
              <a:lnSpc>
                <a:spcPct val="115000"/>
              </a:lnSpc>
              <a:spcAft>
                <a:spcPts val="1000"/>
              </a:spcAft>
            </a:pPr>
            <a:r>
              <a:rPr sz="1150" b="0" i="0">
                <a:solidFill>
                  <a:srgbClr val="3A4356"/>
                </a:solidFill>
                <a:latin typeface="Calibri"/>
              </a:rPr>
              <a:t>• The same geometry kernel commercial CAD tools are built on</a:t>
            </a:r>
          </a:p>
          <a:p>
            <a:pPr algn="l">
              <a:lnSpc>
                <a:spcPct val="115000"/>
              </a:lnSpc>
              <a:spcAft>
                <a:spcPts val="1000"/>
              </a:spcAft>
            </a:pPr>
            <a:r>
              <a:rPr sz="1150" b="0" i="0">
                <a:solidFill>
                  <a:srgbClr val="3A4356"/>
                </a:solidFill>
                <a:latin typeface="Calibri"/>
              </a:rPr>
              <a:t>• 18 physics cost engines do the actual costing</a:t>
            </a:r>
          </a:p>
          <a:p>
            <a:pPr algn="l">
              <a:lnSpc>
                <a:spcPct val="115000"/>
              </a:lnSpc>
              <a:spcAft>
                <a:spcPts val="1000"/>
              </a:spcAft>
            </a:pPr>
            <a:r>
              <a:rPr sz="1150" b="0" i="0">
                <a:solidFill>
                  <a:srgbClr val="3A4356"/>
                </a:solidFill>
                <a:latin typeface="Calibri"/>
              </a:rPr>
              <a:t>• The AI never receives the CAD file — only the measurements</a:t>
            </a:r>
          </a:p>
          <a:p>
            <a:pPr algn="l">
              <a:lnSpc>
                <a:spcPct val="115000"/>
              </a:lnSpc>
              <a:spcAft>
                <a:spcPts val="1000"/>
              </a:spcAft>
            </a:pPr>
            <a:r>
              <a:rPr sz="1150" b="0" i="0">
                <a:solidFill>
                  <a:srgbClr val="3A4356"/>
                </a:solidFill>
                <a:latin typeface="Calibri"/>
              </a:rPr>
              <a:t>• Our own rate library, across 20 countries</a:t>
            </a:r>
          </a:p>
        </p:txBody>
      </p:sp>
      <p:sp>
        <p:nvSpPr>
          <p:cNvPr id="13" name="Rounded Rectangle 12"/>
          <p:cNvSpPr/>
          <p:nvPr/>
        </p:nvSpPr>
        <p:spPr>
          <a:xfrm>
            <a:off x="4297680" y="1828800"/>
            <a:ext cx="3657600" cy="3794760"/>
          </a:xfrm>
          <a:prstGeom prst="roundRect">
            <a:avLst>
              <a:gd name="adj" fmla="val 6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828800"/>
            <a:ext cx="3657600" cy="82296"/>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011680"/>
            <a:ext cx="324612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2A7F50"/>
                </a:solidFill>
                <a:latin typeface="Calibri"/>
              </a:rPr>
              <a:t>Why it is accurate</a:t>
            </a:r>
          </a:p>
        </p:txBody>
      </p:sp>
      <p:sp>
        <p:nvSpPr>
          <p:cNvPr id="16" name="TextBox 15"/>
          <p:cNvSpPr txBox="1"/>
          <p:nvPr/>
        </p:nvSpPr>
        <p:spPr>
          <a:xfrm>
            <a:off x="4526280" y="2450592"/>
            <a:ext cx="3246120" cy="3108960"/>
          </a:xfrm>
          <a:prstGeom prst="rect">
            <a:avLst/>
          </a:prstGeom>
          <a:noFill/>
        </p:spPr>
        <p:txBody>
          <a:bodyPr wrap="square" anchor="t" lIns="0" rIns="0" tIns="0" bIns="0">
            <a:spAutoFit/>
          </a:bodyPr>
          <a:lstStyle/>
          <a:p>
            <a:pPr algn="l">
              <a:lnSpc>
                <a:spcPct val="115000"/>
              </a:lnSpc>
              <a:spcAft>
                <a:spcPts val="1000"/>
              </a:spcAft>
            </a:pPr>
            <a:r>
              <a:rPr sz="1150" b="0" i="0">
                <a:solidFill>
                  <a:srgbClr val="3A4356"/>
                </a:solidFill>
                <a:latin typeface="Calibri"/>
              </a:rPr>
              <a:t>• Measured, not estimated — real volume, real mass</a:t>
            </a:r>
          </a:p>
          <a:p>
            <a:pPr algn="l">
              <a:lnSpc>
                <a:spcPct val="115000"/>
              </a:lnSpc>
              <a:spcAft>
                <a:spcPts val="1000"/>
              </a:spcAft>
            </a:pPr>
            <a:r>
              <a:rPr sz="1150" b="0" i="0">
                <a:solidFill>
                  <a:srgbClr val="3A4356"/>
                </a:solidFill>
                <a:latin typeface="Calibri"/>
              </a:rPr>
              <a:t>• Every figure traceable line by line</a:t>
            </a:r>
          </a:p>
          <a:p>
            <a:pPr algn="l">
              <a:lnSpc>
                <a:spcPct val="115000"/>
              </a:lnSpc>
              <a:spcAft>
                <a:spcPts val="1000"/>
              </a:spcAft>
            </a:pPr>
            <a:r>
              <a:rPr sz="1150" b="0" i="0">
                <a:solidFill>
                  <a:srgbClr val="3A4356"/>
                </a:solidFill>
                <a:latin typeface="Calibri"/>
              </a:rPr>
              <a:t>• Checks wall thickness, tonnage and press force</a:t>
            </a:r>
          </a:p>
          <a:p>
            <a:pPr algn="l">
              <a:lnSpc>
                <a:spcPct val="115000"/>
              </a:lnSpc>
              <a:spcAft>
                <a:spcPts val="1000"/>
              </a:spcAft>
            </a:pPr>
            <a:r>
              <a:rPr sz="1150" b="0" i="0">
                <a:solidFill>
                  <a:srgbClr val="3A4356"/>
                </a:solidFill>
                <a:latin typeface="Calibri"/>
              </a:rPr>
              <a:t>• An honest uncertainty band on every result</a:t>
            </a:r>
          </a:p>
          <a:p>
            <a:pPr algn="l">
              <a:lnSpc>
                <a:spcPct val="115000"/>
              </a:lnSpc>
              <a:spcAft>
                <a:spcPts val="1000"/>
              </a:spcAft>
            </a:pPr>
            <a:r>
              <a:rPr sz="1150" b="0" i="0">
                <a:solidFill>
                  <a:srgbClr val="3A4356"/>
                </a:solidFill>
                <a:latin typeface="Calibri"/>
              </a:rPr>
              <a:t>• Three real quotes took the error from 10.9% to 0.3%</a:t>
            </a:r>
          </a:p>
        </p:txBody>
      </p:sp>
      <p:sp>
        <p:nvSpPr>
          <p:cNvPr id="17" name="Rounded Rectangle 16"/>
          <p:cNvSpPr/>
          <p:nvPr/>
        </p:nvSpPr>
        <p:spPr>
          <a:xfrm>
            <a:off x="8183879" y="1828800"/>
            <a:ext cx="3657600" cy="3794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828800"/>
            <a:ext cx="3657600" cy="82296"/>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9" y="2011680"/>
            <a:ext cx="3246120" cy="365760"/>
          </a:xfrm>
          <a:prstGeom prst="rect">
            <a:avLst/>
          </a:prstGeom>
          <a:noFill/>
        </p:spPr>
        <p:txBody>
          <a:bodyPr wrap="square" anchor="t" lIns="0" rIns="0" tIns="0" bIns="0">
            <a:spAutoFit/>
          </a:bodyPr>
          <a:lstStyle/>
          <a:p>
            <a:pPr algn="l">
              <a:lnSpc>
                <a:spcPct val="100000"/>
              </a:lnSpc>
              <a:spcAft>
                <a:spcPts val="400"/>
              </a:spcAft>
            </a:pPr>
            <a:r>
              <a:rPr sz="1450" b="1" i="0">
                <a:solidFill>
                  <a:srgbClr val="6B3FA0"/>
                </a:solidFill>
                <a:latin typeface="Calibri"/>
              </a:rPr>
              <a:t>Speed</a:t>
            </a:r>
          </a:p>
        </p:txBody>
      </p:sp>
      <p:sp>
        <p:nvSpPr>
          <p:cNvPr id="20" name="TextBox 19"/>
          <p:cNvSpPr txBox="1"/>
          <p:nvPr/>
        </p:nvSpPr>
        <p:spPr>
          <a:xfrm>
            <a:off x="8412479" y="2450592"/>
            <a:ext cx="3246120" cy="3108960"/>
          </a:xfrm>
          <a:prstGeom prst="rect">
            <a:avLst/>
          </a:prstGeom>
          <a:noFill/>
        </p:spPr>
        <p:txBody>
          <a:bodyPr wrap="square" anchor="t" lIns="0" rIns="0" tIns="0" bIns="0">
            <a:spAutoFit/>
          </a:bodyPr>
          <a:lstStyle/>
          <a:p>
            <a:pPr algn="l">
              <a:lnSpc>
                <a:spcPct val="115000"/>
              </a:lnSpc>
              <a:spcAft>
                <a:spcPts val="1000"/>
              </a:spcAft>
            </a:pPr>
            <a:r>
              <a:rPr sz="1150" b="0" i="0">
                <a:solidFill>
                  <a:srgbClr val="3A4356"/>
                </a:solidFill>
                <a:latin typeface="Calibri"/>
              </a:rPr>
              <a:t>• Geometry measured in seconds</a:t>
            </a:r>
          </a:p>
          <a:p>
            <a:pPr algn="l">
              <a:lnSpc>
                <a:spcPct val="115000"/>
              </a:lnSpc>
              <a:spcAft>
                <a:spcPts val="1000"/>
              </a:spcAft>
            </a:pPr>
            <a:r>
              <a:rPr sz="1150" b="0" i="0">
                <a:solidFill>
                  <a:srgbClr val="3A4356"/>
                </a:solidFill>
                <a:latin typeface="Calibri"/>
              </a:rPr>
              <a:t>• A first price in a few minutes, mostly review time</a:t>
            </a:r>
          </a:p>
          <a:p>
            <a:pPr algn="l">
              <a:lnSpc>
                <a:spcPct val="115000"/>
              </a:lnSpc>
              <a:spcAft>
                <a:spcPts val="1000"/>
              </a:spcAft>
            </a:pPr>
            <a:r>
              <a:rPr sz="1150" b="0" i="0">
                <a:solidFill>
                  <a:srgbClr val="3A4356"/>
                </a:solidFill>
                <a:latin typeface="Calibri"/>
              </a:rPr>
              <a:t>• By hand: hours of take-off per part</a:t>
            </a:r>
          </a:p>
          <a:p>
            <a:pPr algn="l">
              <a:lnSpc>
                <a:spcPct val="115000"/>
              </a:lnSpc>
              <a:spcAft>
                <a:spcPts val="1000"/>
              </a:spcAft>
            </a:pPr>
            <a:r>
              <a:rPr sz="1150" b="0" i="0">
                <a:solidFill>
                  <a:srgbClr val="3A4356"/>
                </a:solidFill>
                <a:latin typeface="Calibri"/>
              </a:rPr>
              <a:t>• The same flow in 13 commodities — one skill to learn</a:t>
            </a:r>
          </a:p>
        </p:txBody>
      </p:sp>
      <p:sp>
        <p:nvSpPr>
          <p:cNvPr id="21" name="Rounded Rectangle 20"/>
          <p:cNvSpPr/>
          <p:nvPr/>
        </p:nvSpPr>
        <p:spPr>
          <a:xfrm>
            <a:off x="411480" y="5870448"/>
            <a:ext cx="11384280" cy="777240"/>
          </a:xfrm>
          <a:prstGeom prst="roundRect">
            <a:avLst>
              <a:gd name="adj" fmla="val 8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971032"/>
            <a:ext cx="10881360" cy="594360"/>
          </a:xfrm>
          <a:prstGeom prst="rect">
            <a:avLst/>
          </a:prstGeom>
          <a:noFill/>
        </p:spPr>
        <p:txBody>
          <a:bodyPr wrap="square" anchor="t" lIns="0" rIns="0" tIns="0" bIns="0">
            <a:spAutoFit/>
          </a:bodyPr>
          <a:lstStyle/>
          <a:p>
            <a:pPr algn="l">
              <a:lnSpc>
                <a:spcPct val="115000"/>
              </a:lnSpc>
              <a:spcAft>
                <a:spcPts val="400"/>
              </a:spcAft>
            </a:pPr>
            <a:r>
              <a:rPr sz="1200" b="1" i="0">
                <a:solidFill>
                  <a:srgbClr val="2A7F50"/>
                </a:solidFill>
                <a:latin typeface="Calibri"/>
              </a:rPr>
              <a:t>Security, restated: </a:t>
            </a:r>
            <a:r>
              <a:rPr sz="1150" b="1" i="0">
                <a:solidFill>
                  <a:srgbClr val="3A4356"/>
                </a:solidFill>
                <a:latin typeface="Calibri"/>
              </a:rPr>
              <a:t>the CAD file is processed in memory inside our backend and is never stored or transmitted. Only a short numeric geometry summary reaches the AI layer — and in air-gapped mode, nothing leaves at all.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TextBox 4"/>
          <p:cNvSpPr txBox="1"/>
          <p:nvPr/>
        </p:nvSpPr>
        <p:spPr>
          <a:xfrm>
            <a:off x="795528" y="420624"/>
            <a:ext cx="2560320" cy="201168"/>
          </a:xfrm>
          <a:prstGeom prst="rect">
            <a:avLst/>
          </a:prstGeom>
          <a:noFill/>
        </p:spPr>
        <p:txBody>
          <a:bodyPr wrap="square" anchor="t" lIns="0" rIns="0" tIns="0" bIns="0">
            <a:spAutoFit/>
          </a:bodyPr>
          <a:lstStyle/>
          <a:p>
            <a:pPr algn="l">
              <a:lnSpc>
                <a:spcPct val="100000"/>
              </a:lnSpc>
              <a:spcAft>
                <a:spcPts val="400"/>
              </a:spcAft>
            </a:pPr>
            <a:r>
              <a:rPr sz="750" b="0" i="0">
                <a:solidFill>
                  <a:srgbClr val="686F7D"/>
                </a:solidFill>
                <a:latin typeface="Calibri"/>
              </a:rPr>
              <a:t>AI  COST  INTELLIGENCE</a:t>
            </a:r>
          </a:p>
        </p:txBody>
      </p:sp>
      <p:sp>
        <p:nvSpPr>
          <p:cNvPr id="6" name="Rectangle 5"/>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CAD-TO-COST · ZERO MANUAL ENTRY</a:t>
            </a:r>
          </a:p>
        </p:txBody>
      </p:sp>
      <p:sp>
        <p:nvSpPr>
          <p:cNvPr id="8" name="TextBox 7"/>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What's Auto-Captured — Fed to the Cost Engine</a:t>
            </a:r>
          </a:p>
        </p:txBody>
      </p:sp>
      <p:sp>
        <p:nvSpPr>
          <p:cNvPr id="9" name="Rounded Rectangle 8"/>
          <p:cNvSpPr/>
          <p:nvPr/>
        </p:nvSpPr>
        <p:spPr>
          <a:xfrm>
            <a:off x="411480" y="1572768"/>
            <a:ext cx="6720840" cy="365760"/>
          </a:xfrm>
          <a:prstGeom prst="roundRect">
            <a:avLst>
              <a:gd name="adj" fmla="val 8000"/>
            </a:avLst>
          </a:prstGeom>
          <a:solidFill>
            <a:srgbClr val="E8F1FA"/>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6325C"/>
                </a:solidFill>
                <a:latin typeface="Calibri"/>
              </a:rPr>
              <a:t>Auto-captured from geometry (no typing)</a:t>
            </a:r>
          </a:p>
        </p:txBody>
      </p:sp>
      <p:sp>
        <p:nvSpPr>
          <p:cNvPr id="11" name="TextBox 10"/>
          <p:cNvSpPr txBox="1"/>
          <p:nvPr/>
        </p:nvSpPr>
        <p:spPr>
          <a:xfrm>
            <a:off x="4297680" y="1627632"/>
            <a:ext cx="283464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 Feeds this cost driver</a:t>
            </a:r>
          </a:p>
        </p:txBody>
      </p:sp>
      <p:sp>
        <p:nvSpPr>
          <p:cNvPr id="12" name="Rounded Rectangle 11"/>
          <p:cNvSpPr/>
          <p:nvPr/>
        </p:nvSpPr>
        <p:spPr>
          <a:xfrm>
            <a:off x="411480" y="1993392"/>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66544"/>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Volume — exact (OCCT kernel)</a:t>
            </a:r>
          </a:p>
        </p:txBody>
      </p:sp>
      <p:sp>
        <p:nvSpPr>
          <p:cNvPr id="14" name="TextBox 13"/>
          <p:cNvSpPr txBox="1"/>
          <p:nvPr/>
        </p:nvSpPr>
        <p:spPr>
          <a:xfrm>
            <a:off x="4297680" y="2066544"/>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Material mass · stock size</a:t>
            </a:r>
          </a:p>
        </p:txBody>
      </p:sp>
      <p:sp>
        <p:nvSpPr>
          <p:cNvPr id="15" name="Rounded Rectangle 14"/>
          <p:cNvSpPr/>
          <p:nvPr/>
        </p:nvSpPr>
        <p:spPr>
          <a:xfrm>
            <a:off x="411480" y="2414016"/>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487168"/>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Weight = volume × density</a:t>
            </a:r>
          </a:p>
        </p:txBody>
      </p:sp>
      <p:sp>
        <p:nvSpPr>
          <p:cNvPr id="17" name="TextBox 16"/>
          <p:cNvSpPr txBox="1"/>
          <p:nvPr/>
        </p:nvSpPr>
        <p:spPr>
          <a:xfrm>
            <a:off x="4297680" y="2487168"/>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Raw-material £ (Al/steel/iron/Cu/Ti)</a:t>
            </a:r>
          </a:p>
        </p:txBody>
      </p:sp>
      <p:sp>
        <p:nvSpPr>
          <p:cNvPr id="18" name="Rounded Rectangle 17"/>
          <p:cNvSpPr/>
          <p:nvPr/>
        </p:nvSpPr>
        <p:spPr>
          <a:xfrm>
            <a:off x="411480" y="2834640"/>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07792"/>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Bounding box / envelope</a:t>
            </a:r>
          </a:p>
        </p:txBody>
      </p:sp>
      <p:sp>
        <p:nvSpPr>
          <p:cNvPr id="20" name="TextBox 19"/>
          <p:cNvSpPr txBox="1"/>
          <p:nvPr/>
        </p:nvSpPr>
        <p:spPr>
          <a:xfrm>
            <a:off x="4297680" y="2907792"/>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Machine sizing · stock · setups</a:t>
            </a:r>
          </a:p>
        </p:txBody>
      </p:sp>
      <p:sp>
        <p:nvSpPr>
          <p:cNvPr id="21" name="Rounded Rectangle 20"/>
          <p:cNvSpPr/>
          <p:nvPr/>
        </p:nvSpPr>
        <p:spPr>
          <a:xfrm>
            <a:off x="411480" y="3255264"/>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328416"/>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Body / component count</a:t>
            </a:r>
          </a:p>
        </p:txBody>
      </p:sp>
      <p:sp>
        <p:nvSpPr>
          <p:cNvPr id="23" name="TextBox 22"/>
          <p:cNvSpPr txBox="1"/>
          <p:nvPr/>
        </p:nvSpPr>
        <p:spPr>
          <a:xfrm>
            <a:off x="4297680" y="3328416"/>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Assembly cost · BOM line count</a:t>
            </a:r>
          </a:p>
        </p:txBody>
      </p:sp>
      <p:sp>
        <p:nvSpPr>
          <p:cNvPr id="24" name="Rounded Rectangle 23"/>
          <p:cNvSpPr/>
          <p:nvPr/>
        </p:nvSpPr>
        <p:spPr>
          <a:xfrm>
            <a:off x="411480" y="3675888"/>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49040"/>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Hole &amp; boss table — Ø, depth, count</a:t>
            </a:r>
          </a:p>
        </p:txBody>
      </p:sp>
      <p:sp>
        <p:nvSpPr>
          <p:cNvPr id="26" name="TextBox 25"/>
          <p:cNvSpPr txBox="1"/>
          <p:nvPr/>
        </p:nvSpPr>
        <p:spPr>
          <a:xfrm>
            <a:off x="4297680" y="3749040"/>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Drill / bore / tap operations</a:t>
            </a:r>
          </a:p>
        </p:txBody>
      </p:sp>
      <p:sp>
        <p:nvSpPr>
          <p:cNvPr id="27" name="Rounded Rectangle 26"/>
          <p:cNvSpPr/>
          <p:nvPr/>
        </p:nvSpPr>
        <p:spPr>
          <a:xfrm>
            <a:off x="411480" y="4096512"/>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169664"/>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Wall thickness — min/mean/heatmap</a:t>
            </a:r>
          </a:p>
        </p:txBody>
      </p:sp>
      <p:sp>
        <p:nvSpPr>
          <p:cNvPr id="29" name="TextBox 28"/>
          <p:cNvSpPr txBox="1"/>
          <p:nvPr/>
        </p:nvSpPr>
        <p:spPr>
          <a:xfrm>
            <a:off x="4297680" y="4169664"/>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Mould &amp; cast feasibility · cooling</a:t>
            </a:r>
          </a:p>
        </p:txBody>
      </p:sp>
      <p:sp>
        <p:nvSpPr>
          <p:cNvPr id="30" name="Rounded Rectangle 29"/>
          <p:cNvSpPr/>
          <p:nvPr/>
        </p:nvSpPr>
        <p:spPr>
          <a:xfrm>
            <a:off x="411480" y="4517136"/>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590288"/>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Draft &amp; undercut analysis</a:t>
            </a:r>
          </a:p>
        </p:txBody>
      </p:sp>
      <p:sp>
        <p:nvSpPr>
          <p:cNvPr id="32" name="TextBox 31"/>
          <p:cNvSpPr txBox="1"/>
          <p:nvPr/>
        </p:nvSpPr>
        <p:spPr>
          <a:xfrm>
            <a:off x="4297680" y="4590288"/>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Tooling complexity — slides</a:t>
            </a:r>
          </a:p>
        </p:txBody>
      </p:sp>
      <p:sp>
        <p:nvSpPr>
          <p:cNvPr id="33" name="Rounded Rectangle 32"/>
          <p:cNvSpPr/>
          <p:nvPr/>
        </p:nvSpPr>
        <p:spPr>
          <a:xfrm>
            <a:off x="411480" y="4937760"/>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010912"/>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Face-type areas (planar/cyl)</a:t>
            </a:r>
          </a:p>
        </p:txBody>
      </p:sp>
      <p:sp>
        <p:nvSpPr>
          <p:cNvPr id="35" name="TextBox 34"/>
          <p:cNvSpPr txBox="1"/>
          <p:nvPr/>
        </p:nvSpPr>
        <p:spPr>
          <a:xfrm>
            <a:off x="4297680" y="5010912"/>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Machining area · paint area</a:t>
            </a:r>
          </a:p>
        </p:txBody>
      </p:sp>
      <p:sp>
        <p:nvSpPr>
          <p:cNvPr id="36" name="Rounded Rectangle 35"/>
          <p:cNvSpPr/>
          <p:nvPr/>
        </p:nvSpPr>
        <p:spPr>
          <a:xfrm>
            <a:off x="411480" y="5358384"/>
            <a:ext cx="6720840" cy="38404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431536"/>
            <a:ext cx="361188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1D6FB8"/>
                </a:solidFill>
                <a:latin typeface="Calibri"/>
              </a:rPr>
              <a:t>CNC cycle-time &amp; setup estimate</a:t>
            </a:r>
          </a:p>
        </p:txBody>
      </p:sp>
      <p:sp>
        <p:nvSpPr>
          <p:cNvPr id="38" name="TextBox 37"/>
          <p:cNvSpPr txBox="1"/>
          <p:nvPr/>
        </p:nvSpPr>
        <p:spPr>
          <a:xfrm>
            <a:off x="4297680" y="5431536"/>
            <a:ext cx="28346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3A4356"/>
                </a:solidFill>
                <a:latin typeface="Calibri"/>
              </a:rPr>
              <a:t>Process-time baseline</a:t>
            </a:r>
          </a:p>
        </p:txBody>
      </p:sp>
      <p:sp>
        <p:nvSpPr>
          <p:cNvPr id="39" name="Rounded Rectangle 38"/>
          <p:cNvSpPr/>
          <p:nvPr/>
        </p:nvSpPr>
        <p:spPr>
          <a:xfrm>
            <a:off x="7360920" y="1572768"/>
            <a:ext cx="4434840" cy="2514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60920" y="1572768"/>
            <a:ext cx="64008" cy="251460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43800" y="1682496"/>
            <a:ext cx="4142232"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6325C"/>
                </a:solidFill>
                <a:latin typeface="Segoe UI Emoji"/>
              </a:rPr>
              <a:t>⚙</a:t>
            </a:r>
            <a:r>
              <a:rPr sz="1100" b="1" i="0">
                <a:solidFill>
                  <a:srgbClr val="16325C"/>
                </a:solidFill>
                <a:latin typeface="Calibri"/>
              </a:rPr>
              <a:t>  Worked example — Spur Gear (m3 · z38)</a:t>
            </a:r>
          </a:p>
        </p:txBody>
      </p:sp>
      <p:sp>
        <p:nvSpPr>
          <p:cNvPr id="42" name="TextBox 41"/>
          <p:cNvSpPr txBox="1"/>
          <p:nvPr/>
        </p:nvSpPr>
        <p:spPr>
          <a:xfrm>
            <a:off x="7543800" y="2029968"/>
            <a:ext cx="4142232" cy="1920240"/>
          </a:xfrm>
          <a:prstGeom prst="rect">
            <a:avLst/>
          </a:prstGeom>
          <a:noFill/>
        </p:spPr>
        <p:txBody>
          <a:bodyPr wrap="square" anchor="t" lIns="0" rIns="0" tIns="0" bIns="0">
            <a:spAutoFit/>
          </a:bodyPr>
          <a:lstStyle/>
          <a:p>
            <a:pPr algn="l">
              <a:lnSpc>
                <a:spcPct val="105000"/>
              </a:lnSpc>
              <a:spcAft>
                <a:spcPts val="400"/>
              </a:spcAft>
            </a:pPr>
            <a:r>
              <a:rPr sz="950" b="0" i="0">
                <a:solidFill>
                  <a:srgbClr val="3A4356"/>
                </a:solidFill>
                <a:latin typeface="Calibri"/>
              </a:rPr>
              <a:t>20MnCr5 case-hardening steel — captured automatically:</a:t>
            </a:r>
          </a:p>
          <a:p>
            <a:pPr algn="l">
              <a:lnSpc>
                <a:spcPct val="105000"/>
              </a:lnSpc>
              <a:spcAft>
                <a:spcPts val="400"/>
              </a:spcAft>
            </a:pPr>
            <a:r>
              <a:rPr sz="950" b="1" i="0">
                <a:solidFill>
                  <a:srgbClr val="16325C"/>
                </a:solidFill>
                <a:latin typeface="Calibri"/>
              </a:rPr>
              <a:t>   Volume 264.9 cm³  ·  Weight 2.08 kg</a:t>
            </a:r>
          </a:p>
          <a:p>
            <a:pPr algn="l">
              <a:lnSpc>
                <a:spcPct val="105000"/>
              </a:lnSpc>
              <a:spcAft>
                <a:spcPts val="400"/>
              </a:spcAft>
            </a:pPr>
            <a:r>
              <a:rPr sz="950" b="0" i="0">
                <a:solidFill>
                  <a:srgbClr val="3A4356"/>
                </a:solidFill>
                <a:latin typeface="Calibri"/>
              </a:rPr>
              <a:t>   Envelope 120 × 120 × 30 mm  ·  1 body</a:t>
            </a:r>
          </a:p>
          <a:p>
            <a:pPr algn="l">
              <a:lnSpc>
                <a:spcPct val="105000"/>
              </a:lnSpc>
              <a:spcAft>
                <a:spcPts val="400"/>
              </a:spcAft>
            </a:pPr>
            <a:r>
              <a:rPr sz="950" b="1" i="0">
                <a:solidFill>
                  <a:srgbClr val="2A7F50"/>
                </a:solidFill>
                <a:latin typeface="Calibri"/>
              </a:rPr>
              <a:t>→ Should-cost, India ex-works (GBP):</a:t>
            </a:r>
          </a:p>
          <a:p>
            <a:pPr algn="l">
              <a:lnSpc>
                <a:spcPct val="105000"/>
              </a:lnSpc>
              <a:spcAft>
                <a:spcPts val="400"/>
              </a:spcAft>
            </a:pPr>
            <a:r>
              <a:rPr sz="950" b="0" i="0">
                <a:solidFill>
                  <a:srgbClr val="3A4356"/>
                </a:solidFill>
                <a:latin typeface="Calibri"/>
              </a:rPr>
              <a:t>   Material £3.36 · Process £11.40 · Labour £1.36</a:t>
            </a:r>
          </a:p>
          <a:p>
            <a:pPr algn="l">
              <a:lnSpc>
                <a:spcPct val="105000"/>
              </a:lnSpc>
              <a:spcAft>
                <a:spcPts val="400"/>
              </a:spcAft>
            </a:pPr>
            <a:r>
              <a:rPr sz="950" b="0" i="0">
                <a:solidFill>
                  <a:srgbClr val="3A4356"/>
                </a:solidFill>
                <a:latin typeface="Calibri"/>
              </a:rPr>
              <a:t>   Overhead £1.95 · Margin £1.83  + heat-treat £1.77</a:t>
            </a:r>
          </a:p>
          <a:p>
            <a:pPr algn="l">
              <a:lnSpc>
                <a:spcPct val="105000"/>
              </a:lnSpc>
              <a:spcAft>
                <a:spcPts val="400"/>
              </a:spcAft>
            </a:pPr>
            <a:r>
              <a:rPr sz="1000" b="1" i="0">
                <a:solidFill>
                  <a:srgbClr val="16325C"/>
                </a:solidFill>
                <a:latin typeface="Calibri"/>
              </a:rPr>
              <a:t>   =  £21.90 / part  (≈ ₹2,398)  ·  £10.53 / kg</a:t>
            </a:r>
          </a:p>
        </p:txBody>
      </p:sp>
      <p:sp>
        <p:nvSpPr>
          <p:cNvPr id="43" name="Rounded Rectangle 42"/>
          <p:cNvSpPr/>
          <p:nvPr/>
        </p:nvSpPr>
        <p:spPr>
          <a:xfrm>
            <a:off x="7360920" y="4206240"/>
            <a:ext cx="4434840" cy="1600200"/>
          </a:xfrm>
          <a:prstGeom prst="roundRect">
            <a:avLst>
              <a:gd name="adj" fmla="val 5000"/>
            </a:avLst>
          </a:prstGeom>
          <a:solidFill>
            <a:srgbClr val="E8F1FA"/>
          </a:solidFill>
          <a:ln w="9525">
            <a:solidFill>
              <a:srgbClr val="2A7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60920" y="4206240"/>
            <a:ext cx="64008" cy="160020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43800" y="4315968"/>
            <a:ext cx="4142232"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A7F50"/>
                </a:solidFill>
                <a:latin typeface="Segoe UI Emoji"/>
              </a:rPr>
              <a:t>🔒</a:t>
            </a:r>
            <a:r>
              <a:rPr sz="1100" b="1" i="0">
                <a:solidFill>
                  <a:srgbClr val="2A7F50"/>
                </a:solidFill>
                <a:latin typeface="Calibri"/>
              </a:rPr>
              <a:t>  The golden rule</a:t>
            </a:r>
          </a:p>
        </p:txBody>
      </p:sp>
      <p:sp>
        <p:nvSpPr>
          <p:cNvPr id="46" name="TextBox 45"/>
          <p:cNvSpPr txBox="1"/>
          <p:nvPr/>
        </p:nvSpPr>
        <p:spPr>
          <a:xfrm>
            <a:off x="7543800" y="4645152"/>
            <a:ext cx="4142232" cy="1097280"/>
          </a:xfrm>
          <a:prstGeom prst="rect">
            <a:avLst/>
          </a:prstGeom>
          <a:noFill/>
        </p:spPr>
        <p:txBody>
          <a:bodyPr wrap="square" anchor="t" lIns="0" rIns="0" tIns="0" bIns="0">
            <a:spAutoFit/>
          </a:bodyPr>
          <a:lstStyle/>
          <a:p>
            <a:pPr algn="l">
              <a:lnSpc>
                <a:spcPct val="105000"/>
              </a:lnSpc>
              <a:spcAft>
                <a:spcPts val="400"/>
              </a:spcAft>
            </a:pPr>
            <a:r>
              <a:rPr sz="950" b="0" i="0">
                <a:solidFill>
                  <a:srgbClr val="3A4356"/>
                </a:solidFill>
                <a:latin typeface="Calibri"/>
              </a:rPr>
              <a:t>AI never sets a price. It only classifies material &amp; process; every £ is deterministic arithmetic on the measured geometry, bounded and traceable to the rate library — which is what makes the output defensible.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