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watches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For a deployment audience that matters twice over: autonomy here never means the AI quietly sets a price, and nothing it does happens off the record.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 what's newest, because it directly strengthens the security-and-defensibility case this deck makes. Six upgrades shipped in 2026, all built and tested. The one I'd start with is the self-audit: a deterministic layer that re-checks every single estimate against a list of mistakes we've actually seen, and corrects them within bounds — and I can prove it, because we ran it on five real automotive CAD parts and it caught every one, a fuel tank alone falling from two hundred and seventeen pounds to twenty-five. The tool now also learns from your own logged quotes, building per-segment calibration and watching for drift, so it gets tighter on your parts over time. Alongside those, the machine-sizing that used to be hard-coded is now universal across commodities. The negotiation coach names the commodity driving a cost and writes the buyer's counter-argument; the autonomous agent prioritises the savings we can really recover; and the what-if engine answers 'if a commodity moves, what happens' as a defensible conditional. Underneath all of it, everything stays glass-box — every learned number is auditable, nothing is a black box — and the whole thing, CAD engine included, ships in a container whose build is verified in our CI pipeline. That is exactly the combination — checked, learned-from-data, and auditable — that makes these numbers safe to deploy and defend.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seven hundred and ninety-three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(1,005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 (upgraded 2026)</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quote; conformal confidence with a guarantee, a causal negotiation coach, outcome-weighted findings and what-if scenarios — all glass-box</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1,005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THE CONCEPT ·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Agentic vs autonomous agentic — with examples</a:t>
            </a:r>
          </a:p>
        </p:txBody>
      </p:sp>
      <p:sp>
        <p:nvSpPr>
          <p:cNvPr id="9" name="TextBox 8"/>
          <p:cNvSpPr txBox="1"/>
          <p:nvPr/>
        </p:nvSpPr>
        <p:spPr>
          <a:xfrm>
            <a:off x="411480" y="1627632"/>
            <a:ext cx="11338560" cy="365760"/>
          </a:xfrm>
          <a:prstGeom prst="rect">
            <a:avLst/>
          </a:prstGeom>
          <a:noFill/>
        </p:spPr>
        <p:txBody>
          <a:bodyPr wrap="square" anchor="t" lIns="0" rIns="0" tIns="0" bIns="0">
            <a:spAutoFit/>
          </a:bodyPr>
          <a:lstStyle/>
          <a:p>
            <a:pPr algn="l">
              <a:lnSpc>
                <a:spcPct val="105000"/>
              </a:lnSpc>
              <a:spcAft>
                <a:spcPts val="400"/>
              </a:spcAft>
            </a:pPr>
            <a:r>
              <a:rPr sz="1250" b="0" i="1">
                <a:solidFill>
                  <a:srgbClr val="334155"/>
                </a:solidFill>
                <a:latin typeface="Calibri"/>
              </a:rPr>
              <a:t>Two levels of "agentic". On the left the AI acts because you asked and you stay in the loop; on the right it acts on its own, unattended, within limits you set.</a:t>
            </a:r>
          </a:p>
        </p:txBody>
      </p:sp>
      <p:sp>
        <p:nvSpPr>
          <p:cNvPr id="10" name="Rounded Rectangle 9"/>
          <p:cNvSpPr/>
          <p:nvPr/>
        </p:nvSpPr>
        <p:spPr>
          <a:xfrm>
            <a:off x="411480" y="2084831"/>
            <a:ext cx="5559552" cy="3712463"/>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84831"/>
            <a:ext cx="73152" cy="3712463"/>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Agentic AI</a:t>
            </a:r>
          </a:p>
        </p:txBody>
      </p:sp>
      <p:sp>
        <p:nvSpPr>
          <p:cNvPr id="13" name="TextBox 12"/>
          <p:cNvSpPr txBox="1"/>
          <p:nvPr/>
        </p:nvSpPr>
        <p:spPr>
          <a:xfrm>
            <a:off x="66751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Assisted — you trigger it and stay in the loop; a human approves</a:t>
            </a:r>
          </a:p>
        </p:txBody>
      </p:sp>
      <p:sp>
        <p:nvSpPr>
          <p:cNvPr id="14" name="Rounded Rectangle 13"/>
          <p:cNvSpPr/>
          <p:nvPr/>
        </p:nvSpPr>
        <p:spPr>
          <a:xfrm>
            <a:off x="63093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 y="2980943"/>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AI Agent   </a:t>
            </a:r>
            <a:r>
              <a:rPr sz="950" b="0" i="0">
                <a:solidFill>
                  <a:srgbClr val="64748B"/>
                </a:solidFill>
                <a:latin typeface="Calibri"/>
              </a:rPr>
              <a:t>Describe a part in plain English — it builds the full cost model for you.</a:t>
            </a:r>
          </a:p>
        </p:txBody>
      </p:sp>
      <p:sp>
        <p:nvSpPr>
          <p:cNvPr id="17" name="Rounded Rectangle 16"/>
          <p:cNvSpPr/>
          <p:nvPr/>
        </p:nvSpPr>
        <p:spPr>
          <a:xfrm>
            <a:off x="63093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 y="3675887"/>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CAD / photo → cost   </a:t>
            </a:r>
            <a:r>
              <a:rPr sz="950" b="0" i="0">
                <a:solidFill>
                  <a:srgbClr val="64748B"/>
                </a:solidFill>
                <a:latin typeface="Calibri"/>
              </a:rPr>
              <a:t>Upload a STEP file — it measures the geometry and interprets material &amp; process.</a:t>
            </a:r>
          </a:p>
        </p:txBody>
      </p:sp>
      <p:sp>
        <p:nvSpPr>
          <p:cNvPr id="20" name="Rounded Rectangle 19"/>
          <p:cNvSpPr/>
          <p:nvPr/>
        </p:nvSpPr>
        <p:spPr>
          <a:xfrm>
            <a:off x="63093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 y="4370831"/>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Negotiation coach   </a:t>
            </a:r>
            <a:r>
              <a:rPr sz="950" b="0" i="0">
                <a:solidFill>
                  <a:srgbClr val="64748B"/>
                </a:solidFill>
                <a:latin typeface="Calibri"/>
              </a:rPr>
              <a:t>Open a part — it drafts the buyer's counter-argument and target price.</a:t>
            </a:r>
          </a:p>
        </p:txBody>
      </p:sp>
      <p:sp>
        <p:nvSpPr>
          <p:cNvPr id="23" name="Rounded Rectangle 22"/>
          <p:cNvSpPr/>
          <p:nvPr/>
        </p:nvSpPr>
        <p:spPr>
          <a:xfrm>
            <a:off x="63093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5065775"/>
            <a:ext cx="45720" cy="640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Rate-data assistant   </a:t>
            </a:r>
            <a:r>
              <a:rPr sz="950" b="0" i="0">
                <a:solidFill>
                  <a:srgbClr val="64748B"/>
                </a:solidFill>
                <a:latin typeface="Calibri"/>
              </a:rPr>
              <a:t>Ask a costing question — it answers from your own rates, with citations.</a:t>
            </a:r>
          </a:p>
        </p:txBody>
      </p:sp>
      <p:sp>
        <p:nvSpPr>
          <p:cNvPr id="26" name="Rounded Rectangle 25"/>
          <p:cNvSpPr/>
          <p:nvPr/>
        </p:nvSpPr>
        <p:spPr>
          <a:xfrm>
            <a:off x="6217920" y="2084831"/>
            <a:ext cx="5559552" cy="3712463"/>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0" y="2084831"/>
            <a:ext cx="73152" cy="371246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73952" y="2231135"/>
            <a:ext cx="5102352" cy="310896"/>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Autonomous Agentic AI</a:t>
            </a:r>
          </a:p>
        </p:txBody>
      </p:sp>
      <p:sp>
        <p:nvSpPr>
          <p:cNvPr id="29" name="TextBox 28"/>
          <p:cNvSpPr txBox="1"/>
          <p:nvPr/>
        </p:nvSpPr>
        <p:spPr>
          <a:xfrm>
            <a:off x="6473952" y="2578607"/>
            <a:ext cx="5102352" cy="292608"/>
          </a:xfrm>
          <a:prstGeom prst="rect">
            <a:avLst/>
          </a:prstGeom>
          <a:noFill/>
        </p:spPr>
        <p:txBody>
          <a:bodyPr wrap="square" anchor="t" lIns="0" rIns="0" tIns="0" bIns="0">
            <a:spAutoFit/>
          </a:bodyPr>
          <a:lstStyle/>
          <a:p>
            <a:pPr algn="l">
              <a:lnSpc>
                <a:spcPct val="100000"/>
              </a:lnSpc>
              <a:spcAft>
                <a:spcPts val="400"/>
              </a:spcAft>
            </a:pPr>
            <a:r>
              <a:rPr sz="1050" b="0" i="1">
                <a:solidFill>
                  <a:srgbClr val="64748B"/>
                </a:solidFill>
                <a:latin typeface="Calibri"/>
              </a:rPr>
              <a:t>Self-directed — runs unattended on a schedule, within limits you set</a:t>
            </a:r>
          </a:p>
        </p:txBody>
      </p:sp>
      <p:sp>
        <p:nvSpPr>
          <p:cNvPr id="30" name="Rounded Rectangle 29"/>
          <p:cNvSpPr/>
          <p:nvPr/>
        </p:nvSpPr>
        <p:spPr>
          <a:xfrm>
            <a:off x="6437376" y="2980943"/>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37376" y="2980943"/>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1968" y="2980943"/>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Savings monitor   </a:t>
            </a:r>
            <a:r>
              <a:rPr sz="950" b="0" i="0">
                <a:solidFill>
                  <a:srgbClr val="64748B"/>
                </a:solidFill>
                <a:latin typeface="Calibri"/>
              </a:rPr>
              <a:t>Runs on the server, compares paid vs should-cost, opens findings itself — £0.5M/yr found unattended.</a:t>
            </a:r>
          </a:p>
        </p:txBody>
      </p:sp>
      <p:sp>
        <p:nvSpPr>
          <p:cNvPr id="33" name="Rounded Rectangle 32"/>
          <p:cNvSpPr/>
          <p:nvPr/>
        </p:nvSpPr>
        <p:spPr>
          <a:xfrm>
            <a:off x="6437376" y="3675887"/>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37376" y="3675887"/>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01968" y="3675887"/>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Self-audit   </a:t>
            </a:r>
            <a:r>
              <a:rPr sz="950" b="0" i="0">
                <a:solidFill>
                  <a:srgbClr val="64748B"/>
                </a:solidFill>
                <a:latin typeface="Calibri"/>
              </a:rPr>
              <a:t>Re-checks every estimate for known errors and corrects within bounds — nobody asks it to.</a:t>
            </a:r>
          </a:p>
        </p:txBody>
      </p:sp>
      <p:sp>
        <p:nvSpPr>
          <p:cNvPr id="36" name="Rounded Rectangle 35"/>
          <p:cNvSpPr/>
          <p:nvPr/>
        </p:nvSpPr>
        <p:spPr>
          <a:xfrm>
            <a:off x="6437376" y="4370831"/>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37376" y="4370831"/>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01968" y="4370831"/>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Calibration &amp; drift   </a:t>
            </a:r>
            <a:r>
              <a:rPr sz="950" b="0" i="0">
                <a:solidFill>
                  <a:srgbClr val="64748B"/>
                </a:solidFill>
                <a:latin typeface="Calibri"/>
              </a:rPr>
              <a:t>Learns from logged quotes, re-derives factors, and watches for drift continuously.</a:t>
            </a:r>
          </a:p>
        </p:txBody>
      </p:sp>
      <p:sp>
        <p:nvSpPr>
          <p:cNvPr id="39" name="Rounded Rectangle 38"/>
          <p:cNvSpPr/>
          <p:nvPr/>
        </p:nvSpPr>
        <p:spPr>
          <a:xfrm>
            <a:off x="6437376" y="5065775"/>
            <a:ext cx="5120640" cy="6400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37376" y="5065775"/>
            <a:ext cx="45720" cy="640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01968" y="5065775"/>
            <a:ext cx="4956048" cy="640080"/>
          </a:xfrm>
          <a:prstGeom prst="rect">
            <a:avLst/>
          </a:prstGeom>
          <a:noFill/>
        </p:spPr>
        <p:txBody>
          <a:bodyPr wrap="square" anchor="ctr" lIns="0" rIns="0" tIns="0" bIns="0">
            <a:spAutoFit/>
          </a:bodyPr>
          <a:lstStyle/>
          <a:p>
            <a:pPr algn="l">
              <a:lnSpc>
                <a:spcPct val="100000"/>
              </a:lnSpc>
              <a:spcAft>
                <a:spcPts val="400"/>
              </a:spcAft>
            </a:pPr>
            <a:r>
              <a:rPr sz="1100" b="1" i="0">
                <a:solidFill>
                  <a:srgbClr val="0F172A"/>
                </a:solidFill>
                <a:latin typeface="Calibri"/>
              </a:rPr>
              <a:t>Outcome-weighted ranking   </a:t>
            </a:r>
            <a:r>
              <a:rPr sz="950" b="0" i="0">
                <a:solidFill>
                  <a:srgbClr val="64748B"/>
                </a:solidFill>
                <a:latin typeface="Calibri"/>
              </a:rPr>
              <a:t>Learns which findings actually convert and re-prioritises the queue on its own.</a:t>
            </a:r>
          </a:p>
        </p:txBody>
      </p:sp>
      <p:sp>
        <p:nvSpPr>
          <p:cNvPr id="42" name="Rounded Rectangle 41"/>
          <p:cNvSpPr/>
          <p:nvPr/>
        </p:nvSpPr>
        <p:spPr>
          <a:xfrm>
            <a:off x="411480" y="5943600"/>
            <a:ext cx="11365992" cy="621792"/>
          </a:xfrm>
          <a:prstGeom prst="roundRect">
            <a:avLst>
              <a:gd name="adj" fmla="val 8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13232" y="5943600"/>
            <a:ext cx="10881360" cy="621792"/>
          </a:xfrm>
          <a:prstGeom prst="rect">
            <a:avLst/>
          </a:prstGeom>
          <a:noFill/>
        </p:spPr>
        <p:txBody>
          <a:bodyPr wrap="square" anchor="ctr" lIns="0" rIns="0" tIns="0" bIns="0">
            <a:spAutoFit/>
          </a:bodyPr>
          <a:lstStyle/>
          <a:p>
            <a:pPr algn="l">
              <a:lnSpc>
                <a:spcPct val="100000"/>
              </a:lnSpc>
              <a:spcAft>
                <a:spcPts val="400"/>
              </a:spcAft>
            </a:pPr>
            <a:r>
              <a:rPr sz="1150" b="1" i="0">
                <a:solidFill>
                  <a:srgbClr val="FFFFFF"/>
                </a:solidFill>
                <a:latin typeface="Calibri"/>
              </a:rPr>
              <a:t>The common thread:  </a:t>
            </a:r>
            <a:r>
              <a:rPr sz="1150" b="0" i="0">
                <a:solidFill>
                  <a:srgbClr val="E8EEFF"/>
                </a:solidFill>
                <a:latin typeface="Calibri"/>
              </a:rPr>
              <a:t>you set the boundaries and every action stays glass-box and auditable — autonomy never means the AI sets a price in secret.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 · NEW IN 2026</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Latest intelligence — six upgrades that widen the moat</a:t>
            </a:r>
          </a:p>
        </p:txBody>
      </p:sp>
      <p:sp>
        <p:nvSpPr>
          <p:cNvPr id="9" name="Rounded Rectangle 8"/>
          <p:cNvSpPr/>
          <p:nvPr/>
        </p:nvSpPr>
        <p:spPr>
          <a:xfrm>
            <a:off x="411480" y="1828800"/>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67665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2024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4F46E5"/>
                </a:solidFill>
                <a:latin typeface="Calibri"/>
              </a:rPr>
              <a:t>Self-audit &amp; guardrails</a:t>
            </a:r>
          </a:p>
        </p:txBody>
      </p:sp>
      <p:sp>
        <p:nvSpPr>
          <p:cNvPr id="12" name="TextBox 11"/>
          <p:cNvSpPr txBox="1"/>
          <p:nvPr/>
        </p:nvSpPr>
        <p:spPr>
          <a:xfrm>
            <a:off x="3931920" y="191109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A deterministic layer re-checks every estimate for known errors and applies bounded corrections — proven on five real automotive CAD parts (a fuel tank fell from £217 to £25). Geometry stays ground truth; the AI never overrules it.</a:t>
            </a:r>
          </a:p>
        </p:txBody>
      </p:sp>
      <p:sp>
        <p:nvSpPr>
          <p:cNvPr id="13" name="Rounded Rectangle 12"/>
          <p:cNvSpPr/>
          <p:nvPr/>
        </p:nvSpPr>
        <p:spPr>
          <a:xfrm>
            <a:off x="411480" y="2578608"/>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578608"/>
            <a:ext cx="82296" cy="67665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2670048"/>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Learns from your quotes</a:t>
            </a:r>
          </a:p>
        </p:txBody>
      </p:sp>
      <p:sp>
        <p:nvSpPr>
          <p:cNvPr id="16" name="TextBox 15"/>
          <p:cNvSpPr txBox="1"/>
          <p:nvPr/>
        </p:nvSpPr>
        <p:spPr>
          <a:xfrm>
            <a:off x="3931920" y="2660904"/>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Bulk-import logged actuals; the engine builds per-segment calibration and watches for drift, so the number tightens as your own history grows — and status rides on every estimate.</a:t>
            </a:r>
          </a:p>
        </p:txBody>
      </p:sp>
      <p:sp>
        <p:nvSpPr>
          <p:cNvPr id="17" name="Rounded Rectangle 16"/>
          <p:cNvSpPr/>
          <p:nvPr/>
        </p:nvSpPr>
        <p:spPr>
          <a:xfrm>
            <a:off x="411480" y="3328415"/>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28415"/>
            <a:ext cx="82296" cy="67665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419855"/>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Negotiation coach</a:t>
            </a:r>
          </a:p>
        </p:txBody>
      </p:sp>
      <p:sp>
        <p:nvSpPr>
          <p:cNvPr id="20" name="TextBox 19"/>
          <p:cNvSpPr txBox="1"/>
          <p:nvPr/>
        </p:nvSpPr>
        <p:spPr>
          <a:xfrm>
            <a:off x="3931920" y="3410711"/>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Names the cost driver and writes the counter: "a quote of £95 implies aluminium +14% above spot — hold at £86.34."</a:t>
            </a:r>
          </a:p>
        </p:txBody>
      </p:sp>
      <p:sp>
        <p:nvSpPr>
          <p:cNvPr id="21" name="Rounded Rectangle 20"/>
          <p:cNvSpPr/>
          <p:nvPr/>
        </p:nvSpPr>
        <p:spPr>
          <a:xfrm>
            <a:off x="411480" y="4078224"/>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4078224"/>
            <a:ext cx="82296" cy="67665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3232" y="4169664"/>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Outcome-weighted findings</a:t>
            </a:r>
          </a:p>
        </p:txBody>
      </p:sp>
      <p:sp>
        <p:nvSpPr>
          <p:cNvPr id="24" name="TextBox 23"/>
          <p:cNvSpPr txBox="1"/>
          <p:nvPr/>
        </p:nvSpPr>
        <p:spPr>
          <a:xfrm>
            <a:off x="3931920" y="4160520"/>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The agent learns which findings convert and ranks by money it can really recover — a £100k gap that closes beats a £200k gap that never does.</a:t>
            </a:r>
          </a:p>
        </p:txBody>
      </p:sp>
      <p:sp>
        <p:nvSpPr>
          <p:cNvPr id="25" name="Rounded Rectangle 24"/>
          <p:cNvSpPr/>
          <p:nvPr/>
        </p:nvSpPr>
        <p:spPr>
          <a:xfrm>
            <a:off x="411480" y="4828031"/>
            <a:ext cx="11384280" cy="676656"/>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828031"/>
            <a:ext cx="82296" cy="67665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919471"/>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0891B2"/>
                </a:solidFill>
                <a:latin typeface="Calibri"/>
              </a:rPr>
              <a:t>What-if engine</a:t>
            </a:r>
          </a:p>
        </p:txBody>
      </p:sp>
      <p:sp>
        <p:nvSpPr>
          <p:cNvPr id="28" name="TextBox 27"/>
          <p:cNvSpPr txBox="1"/>
          <p:nvPr/>
        </p:nvSpPr>
        <p:spPr>
          <a:xfrm>
            <a:off x="3931920" y="4910327"/>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Drag a commodity ±20% and the price recomputes live; run it across the whole portfolio ("if steel +10%, 7 parts go underwater").</a:t>
            </a:r>
          </a:p>
        </p:txBody>
      </p:sp>
      <p:sp>
        <p:nvSpPr>
          <p:cNvPr id="29" name="Rounded Rectangle 28"/>
          <p:cNvSpPr/>
          <p:nvPr/>
        </p:nvSpPr>
        <p:spPr>
          <a:xfrm>
            <a:off x="411480" y="5577840"/>
            <a:ext cx="11384280" cy="676656"/>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577840"/>
            <a:ext cx="82296" cy="67665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5669280"/>
            <a:ext cx="3200400" cy="502920"/>
          </a:xfrm>
          <a:prstGeom prst="rect">
            <a:avLst/>
          </a:prstGeom>
          <a:noFill/>
        </p:spPr>
        <p:txBody>
          <a:bodyPr wrap="square" anchor="t" lIns="0" rIns="0" tIns="0" bIns="0">
            <a:spAutoFit/>
          </a:bodyPr>
          <a:lstStyle/>
          <a:p>
            <a:pPr algn="l">
              <a:lnSpc>
                <a:spcPct val="100000"/>
              </a:lnSpc>
              <a:spcAft>
                <a:spcPts val="400"/>
              </a:spcAft>
            </a:pPr>
            <a:r>
              <a:rPr sz="1250" b="1" i="0">
                <a:solidFill>
                  <a:srgbClr val="D97706"/>
                </a:solidFill>
                <a:latin typeface="Calibri"/>
              </a:rPr>
              <a:t>Glass-box by design</a:t>
            </a:r>
          </a:p>
        </p:txBody>
      </p:sp>
      <p:sp>
        <p:nvSpPr>
          <p:cNvPr id="32" name="TextBox 31"/>
          <p:cNvSpPr txBox="1"/>
          <p:nvPr/>
        </p:nvSpPr>
        <p:spPr>
          <a:xfrm>
            <a:off x="3931920" y="5660136"/>
            <a:ext cx="7680960" cy="548640"/>
          </a:xfrm>
          <a:prstGeom prst="rect">
            <a:avLst/>
          </a:prstGeom>
          <a:noFill/>
        </p:spPr>
        <p:txBody>
          <a:bodyPr wrap="square" anchor="t" lIns="0" rIns="0" tIns="0" bIns="0">
            <a:spAutoFit/>
          </a:bodyPr>
          <a:lstStyle/>
          <a:p>
            <a:pPr algn="l">
              <a:lnSpc>
                <a:spcPct val="108000"/>
              </a:lnSpc>
              <a:spcAft>
                <a:spcPts val="400"/>
              </a:spcAft>
            </a:pPr>
            <a:r>
              <a:rPr sz="1100" b="0" i="0">
                <a:solidFill>
                  <a:srgbClr val="334155"/>
                </a:solidFill>
                <a:latin typeface="Calibri"/>
              </a:rPr>
              <a:t>Every learned or derived number stays auditable — no black-box weight ever touches the price. The competitor edge is the opposite.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1,005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1,005</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1,005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photos</a:t>
            </a:r>
          </a:p>
          <a:p>
            <a:pPr algn="l"/>
            <a:r>
              <a:rPr sz="950">
                <a:solidFill>
                  <a:srgbClr val="334155"/>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Board classification</a:t>
            </a:r>
          </a:p>
          <a:p>
            <a:pPr algn="l"/>
            <a:r>
              <a:rPr sz="950">
                <a:solidFill>
                  <a:srgbClr val="334155"/>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OCR text pass</a:t>
            </a:r>
          </a:p>
          <a:p>
            <a:pPr algn="l"/>
            <a:r>
              <a:rPr sz="950">
                <a:solidFill>
                  <a:srgbClr val="334155"/>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Full vision BOM extraction</a:t>
            </a:r>
          </a:p>
          <a:p>
            <a:pPr algn="l"/>
            <a:r>
              <a:rPr sz="950">
                <a:solidFill>
                  <a:srgbClr val="334155"/>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Deterministic clean-up &amp; costing</a:t>
            </a:r>
          </a:p>
          <a:p>
            <a:pPr algn="l"/>
            <a:r>
              <a:rPr sz="950">
                <a:solidFill>
                  <a:srgbClr val="334155"/>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Same photos, same answer</a:t>
            </a:r>
          </a:p>
          <a:p>
            <a:pPr algn="l"/>
            <a:r>
              <a:rPr sz="950">
                <a:solidFill>
                  <a:srgbClr val="334155"/>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Claude vision model — via our controlled endpoint (Option B) </a:t>
            </a:r>
          </a:p>
          <a:p>
            <a:pPr algn="l">
              <a:lnSpc>
                <a:spcPct val="112000"/>
              </a:lnSpc>
              <a:spcAft>
                <a:spcPts val="700"/>
              </a:spcAft>
            </a:pPr>
            <a:r>
              <a:rPr sz="1050" b="0" i="0">
                <a:solidFill>
                  <a:srgbClr val="334155"/>
                </a:solidFill>
                <a:latin typeface="Calibri"/>
              </a:rPr>
              <a:t>• 5-stage pipeline: classify → OCR → extract → cost → cache</a:t>
            </a:r>
          </a:p>
          <a:p>
            <a:pPr algn="l">
              <a:lnSpc>
                <a:spcPct val="112000"/>
              </a:lnSpc>
              <a:spcAft>
                <a:spcPts val="700"/>
              </a:spcAft>
            </a:pPr>
            <a:r>
              <a:rPr sz="1050" b="0" i="0">
                <a:solidFill>
                  <a:srgbClr val="334155"/>
                </a:solidFill>
                <a:latin typeface="Calibri"/>
              </a:rPr>
              <a:t>• Deterministic TypeScript post-processor for types, values, MPNs</a:t>
            </a:r>
          </a:p>
          <a:p>
            <a:pPr algn="l">
              <a:lnSpc>
                <a:spcPct val="112000"/>
              </a:lnSpc>
              <a:spcAft>
                <a:spcPts val="700"/>
              </a:spcAft>
            </a:pPr>
            <a:r>
              <a:rPr sz="1050" b="0" i="0">
                <a:solidFill>
                  <a:srgbClr val="334155"/>
                </a:solidFill>
                <a:latin typeface="Calibri"/>
              </a:rPr>
              <a:t>• SHA-256 result cache — repeatable, auditable output</a:t>
            </a:r>
          </a:p>
          <a:p>
            <a:pPr algn="l">
              <a:lnSpc>
                <a:spcPct val="112000"/>
              </a:lnSpc>
              <a:spcAft>
                <a:spcPts val="700"/>
              </a:spcAft>
            </a:pPr>
            <a:r>
              <a:rPr sz="1050" b="0" i="0">
                <a:solidFill>
                  <a:srgbClr val="334155"/>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OCR evidence + vision cross-check — read, not guessed</a:t>
            </a:r>
          </a:p>
          <a:p>
            <a:pPr algn="l">
              <a:lnSpc>
                <a:spcPct val="112000"/>
              </a:lnSpc>
              <a:spcAft>
                <a:spcPts val="700"/>
              </a:spcAft>
            </a:pPr>
            <a:r>
              <a:rPr sz="1050" b="0" i="0">
                <a:solidFill>
                  <a:srgbClr val="334155"/>
                </a:solidFill>
                <a:latin typeface="Calibri"/>
              </a:rPr>
              <a:t>• Code normalises every line; implausible part numbers rejected</a:t>
            </a:r>
          </a:p>
          <a:p>
            <a:pPr algn="l">
              <a:lnSpc>
                <a:spcPct val="112000"/>
              </a:lnSpc>
              <a:spcAft>
                <a:spcPts val="700"/>
              </a:spcAft>
            </a:pPr>
            <a:r>
              <a:rPr sz="1050" b="0" i="0">
                <a:solidFill>
                  <a:srgbClr val="334155"/>
                </a:solidFill>
                <a:latin typeface="Calibri"/>
              </a:rPr>
              <a:t>• Per-line confidence score — low lines flagged for engineer review</a:t>
            </a:r>
          </a:p>
          <a:p>
            <a:pPr algn="l">
              <a:lnSpc>
                <a:spcPct val="112000"/>
              </a:lnSpc>
              <a:spcAft>
                <a:spcPts val="700"/>
              </a:spcAft>
            </a:pPr>
            <a:r>
              <a:rPr sz="1050" b="0" i="0">
                <a:solidFill>
                  <a:srgbClr val="334155"/>
                </a:solidFill>
                <a:latin typeface="Calibri"/>
              </a:rPr>
              <a:t>• Prices grounded against the distributor catalogue, shown as ranges</a:t>
            </a:r>
          </a:p>
          <a:p>
            <a:pPr algn="l">
              <a:lnSpc>
                <a:spcPct val="112000"/>
              </a:lnSpc>
              <a:spcAft>
                <a:spcPts val="700"/>
              </a:spcAft>
            </a:pPr>
            <a:r>
              <a:rPr sz="1050" b="0" i="0">
                <a:solidFill>
                  <a:srgbClr val="334155"/>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Main AI pass: ~20 seconds</a:t>
            </a:r>
          </a:p>
          <a:p>
            <a:pPr algn="l">
              <a:lnSpc>
                <a:spcPct val="112000"/>
              </a:lnSpc>
              <a:spcAft>
                <a:spcPts val="700"/>
              </a:spcAft>
            </a:pPr>
            <a:r>
              <a:rPr sz="1050" b="0" i="0">
                <a:solidFill>
                  <a:srgbClr val="334155"/>
                </a:solidFill>
                <a:latin typeface="Calibri"/>
              </a:rPr>
              <a:t>• Full costed BOM: typically under a minute</a:t>
            </a:r>
          </a:p>
          <a:p>
            <a:pPr algn="l">
              <a:lnSpc>
                <a:spcPct val="112000"/>
              </a:lnSpc>
              <a:spcAft>
                <a:spcPts val="700"/>
              </a:spcAft>
            </a:pPr>
            <a:r>
              <a:rPr sz="1050" b="0" i="0">
                <a:solidFill>
                  <a:srgbClr val="334155"/>
                </a:solidFill>
                <a:latin typeface="Calibri"/>
              </a:rPr>
              <a:t>• Repeat of the same board: instant (cache)</a:t>
            </a:r>
          </a:p>
          <a:p>
            <a:pPr algn="l">
              <a:lnSpc>
                <a:spcPct val="112000"/>
              </a:lnSpc>
              <a:spcAft>
                <a:spcPts val="700"/>
              </a:spcAft>
            </a:pPr>
            <a:r>
              <a:rPr sz="1050" b="0" i="0">
                <a:solidFill>
                  <a:srgbClr val="334155"/>
                </a:solidFill>
                <a:latin typeface="Calibri"/>
              </a:rPr>
              <a:t>• Manual alternative: hours to days per board</a:t>
            </a:r>
          </a:p>
          <a:p>
            <a:pPr algn="l">
              <a:lnSpc>
                <a:spcPct val="112000"/>
              </a:lnSpc>
              <a:spcAft>
                <a:spcPts val="700"/>
              </a:spcAft>
            </a:pPr>
            <a:r>
              <a:rPr sz="1050" b="0" i="0">
                <a:solidFill>
                  <a:srgbClr val="334155"/>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limits: </a:t>
            </a:r>
            <a:r>
              <a:rPr sz="1150" b="0" i="0">
                <a:solidFill>
                  <a:srgbClr val="334155"/>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a CAD model</a:t>
            </a:r>
          </a:p>
          <a:p>
            <a:pPr algn="l"/>
            <a:r>
              <a:rPr sz="950">
                <a:solidFill>
                  <a:srgbClr val="334155"/>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Opened in memory, inside our server</a:t>
            </a:r>
          </a:p>
          <a:p>
            <a:pPr algn="l"/>
            <a:r>
              <a:rPr sz="950">
                <a:solidFill>
                  <a:srgbClr val="334155"/>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The model is measured</a:t>
            </a:r>
          </a:p>
          <a:p>
            <a:pPr algn="l"/>
            <a:r>
              <a:rPr sz="950">
                <a:solidFill>
                  <a:srgbClr val="334155"/>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Inputs auto-filled</a:t>
            </a:r>
          </a:p>
          <a:p>
            <a:pPr algn="l"/>
            <a:r>
              <a:rPr sz="950">
                <a:solidFill>
                  <a:srgbClr val="334155"/>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Physics engines cost it</a:t>
            </a:r>
          </a:p>
          <a:p>
            <a:pPr algn="l"/>
            <a:r>
              <a:rPr sz="950">
                <a:solidFill>
                  <a:srgbClr val="334155"/>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Defensible result</a:t>
            </a:r>
          </a:p>
          <a:p>
            <a:pPr algn="l"/>
            <a:r>
              <a:rPr sz="950">
                <a:solidFill>
                  <a:srgbClr val="334155"/>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OCCT (Open CASCADE) geometry kernel — runs inside our backend</a:t>
            </a:r>
          </a:p>
          <a:p>
            <a:pPr algn="l">
              <a:lnSpc>
                <a:spcPct val="112000"/>
              </a:lnSpc>
              <a:spcAft>
                <a:spcPts val="700"/>
              </a:spcAft>
            </a:pPr>
            <a:r>
              <a:rPr sz="1050" b="0" i="0">
                <a:solidFill>
                  <a:srgbClr val="334155"/>
                </a:solidFill>
                <a:latin typeface="Calibri"/>
              </a:rPr>
              <a:t>• Pure-TypeScript STL fast path — no external process at all</a:t>
            </a:r>
          </a:p>
          <a:p>
            <a:pPr algn="l">
              <a:lnSpc>
                <a:spcPct val="112000"/>
              </a:lnSpc>
              <a:spcAft>
                <a:spcPts val="700"/>
              </a:spcAft>
            </a:pPr>
            <a:r>
              <a:rPr sz="1050" b="0" i="0">
                <a:solidFill>
                  <a:srgbClr val="334155"/>
                </a:solidFill>
                <a:latin typeface="Calibri"/>
              </a:rPr>
              <a:t>• 18 deterministic physics cost engines do the actual costing</a:t>
            </a:r>
          </a:p>
          <a:p>
            <a:pPr algn="l">
              <a:lnSpc>
                <a:spcPct val="112000"/>
              </a:lnSpc>
              <a:spcAft>
                <a:spcPts val="700"/>
              </a:spcAft>
            </a:pPr>
            <a:r>
              <a:rPr sz="1050" b="0" i="0">
                <a:solidFill>
                  <a:srgbClr val="334155"/>
                </a:solidFill>
                <a:latin typeface="Calibri"/>
              </a:rPr>
              <a:t>• AI translates the measured geometry into process inputs — it never receives the CAD file itself</a:t>
            </a:r>
          </a:p>
          <a:p>
            <a:pPr algn="l">
              <a:lnSpc>
                <a:spcPct val="112000"/>
              </a:lnSpc>
              <a:spcAft>
                <a:spcPts val="700"/>
              </a:spcAft>
            </a:pPr>
            <a:r>
              <a:rPr sz="1050" b="0" i="0">
                <a:solidFill>
                  <a:srgbClr val="334155"/>
                </a:solidFill>
                <a:latin typeface="Calibri"/>
              </a:rPr>
              <a:t>• Rate library + 20-country regional rates drive every figure</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Measured, not estimated — exact volume → exact material mass</a:t>
            </a:r>
          </a:p>
          <a:p>
            <a:pPr algn="l">
              <a:lnSpc>
                <a:spcPct val="112000"/>
              </a:lnSpc>
              <a:spcAft>
                <a:spcPts val="700"/>
              </a:spcAft>
            </a:pPr>
            <a:r>
              <a:rPr sz="1050" b="0" i="0">
                <a:solidFill>
                  <a:srgbClr val="334155"/>
                </a:solidFill>
                <a:latin typeface="Calibri"/>
              </a:rPr>
              <a:t>• Physics build-ups traceable line by line (no black box)</a:t>
            </a:r>
          </a:p>
          <a:p>
            <a:pPr algn="l">
              <a:lnSpc>
                <a:spcPct val="112000"/>
              </a:lnSpc>
              <a:spcAft>
                <a:spcPts val="700"/>
              </a:spcAft>
            </a:pPr>
            <a:r>
              <a:rPr sz="1050" b="0" i="0">
                <a:solidFill>
                  <a:srgbClr val="334155"/>
                </a:solidFill>
                <a:latin typeface="Calibri"/>
              </a:rPr>
              <a:t>• DFM sanity checks: wall thickness, clamp tonnage, press force</a:t>
            </a:r>
          </a:p>
          <a:p>
            <a:pPr algn="l">
              <a:lnSpc>
                <a:spcPct val="112000"/>
              </a:lnSpc>
              <a:spcAft>
                <a:spcPts val="700"/>
              </a:spcAft>
            </a:pPr>
            <a:r>
              <a:rPr sz="1050" b="0" i="0">
                <a:solidFill>
                  <a:srgbClr val="334155"/>
                </a:solidFill>
                <a:latin typeface="Calibri"/>
              </a:rPr>
              <a:t>• Honest uncertainty band shown with every result</a:t>
            </a:r>
          </a:p>
          <a:p>
            <a:pPr algn="l">
              <a:lnSpc>
                <a:spcPct val="112000"/>
              </a:lnSpc>
              <a:spcAft>
                <a:spcPts val="700"/>
              </a:spcAft>
            </a:pPr>
            <a:r>
              <a:rPr sz="1050" b="0" i="0">
                <a:solidFill>
                  <a:srgbClr val="334155"/>
                </a:solidFill>
                <a:latin typeface="Calibri"/>
              </a:rPr>
              <a:t>• Calibration on 3 real quotes took machining error 10.9% → 0.3%</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Geometry read and measured in seconds</a:t>
            </a:r>
          </a:p>
          <a:p>
            <a:pPr algn="l">
              <a:lnSpc>
                <a:spcPct val="112000"/>
              </a:lnSpc>
              <a:spcAft>
                <a:spcPts val="700"/>
              </a:spcAft>
            </a:pPr>
            <a:r>
              <a:rPr sz="1050" b="0" i="0">
                <a:solidFill>
                  <a:srgbClr val="334155"/>
                </a:solidFill>
                <a:latin typeface="Calibri"/>
              </a:rPr>
              <a:t>• Costing computes instantly once inputs are filled</a:t>
            </a:r>
          </a:p>
          <a:p>
            <a:pPr algn="l">
              <a:lnSpc>
                <a:spcPct val="112000"/>
              </a:lnSpc>
              <a:spcAft>
                <a:spcPts val="700"/>
              </a:spcAft>
            </a:pPr>
            <a:r>
              <a:rPr sz="1050" b="0" i="0">
                <a:solidFill>
                  <a:srgbClr val="334155"/>
                </a:solidFill>
                <a:latin typeface="Calibri"/>
              </a:rPr>
              <a:t>• Model-to-first-price: a few minutes, mostly review time</a:t>
            </a:r>
          </a:p>
          <a:p>
            <a:pPr algn="l">
              <a:lnSpc>
                <a:spcPct val="112000"/>
              </a:lnSpc>
              <a:spcAft>
                <a:spcPts val="700"/>
              </a:spcAft>
            </a:pPr>
            <a:r>
              <a:rPr sz="1050" b="0" i="0">
                <a:solidFill>
                  <a:srgbClr val="334155"/>
                </a:solidFill>
                <a:latin typeface="Calibri"/>
              </a:rPr>
              <a:t>• Manual alternative: hours of take-off per part</a:t>
            </a:r>
          </a:p>
          <a:p>
            <a:pPr algn="l">
              <a:lnSpc>
                <a:spcPct val="112000"/>
              </a:lnSpc>
              <a:spcAft>
                <a:spcPts val="700"/>
              </a:spcAft>
            </a:pPr>
            <a:r>
              <a:rPr sz="1050" b="0" i="0">
                <a:solidFill>
                  <a:srgbClr val="334155"/>
                </a:solidFill>
                <a:latin typeface="Calibri"/>
              </a:rPr>
              <a:t>•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059669"/>
                </a:solidFill>
                <a:latin typeface="Calibri"/>
              </a:rPr>
              <a:t>Security, restated: </a:t>
            </a:r>
            <a:r>
              <a:rPr sz="1150" b="1" i="0">
                <a:solidFill>
                  <a:srgbClr val="334155"/>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