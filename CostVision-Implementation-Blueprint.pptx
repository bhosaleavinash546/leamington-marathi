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session is the implementation blueprint for CostVision: how we deploy it securely so that no CAD data ever leaves our network, and how we integrate it with our existing CAPEE costing tool. Everything in this deck comes from an actual audit of the platform's code — not vendor promises. One important update since the written plan: the two security controls at the heart of this blueprint — private AI routing and the air-gapped switch — have now been BUILT into the platform and tested live. By the end I'll ask for one decision: approval to start Phase 1 and 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clear ask: approve the first two phases — the security assessment and the architecture design. That's five to seven weeks with existing teams and no new licence spend. Why now? Because the tool itself is finished and proven; what remains is deployment. Why is it safe? Because CAD processing already happens entirely inside the server — we verified this in the code — and the two security controls this plan called for, private AI routing and the air-gapped switch, are now built into the platform and tested live. And why does CAPEE win? Because we are not replacing CAPEE — we're giving it an AI engine and a memory.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of background for anyone new. CostVision costs parts bottom-up with physics across 18 manufacturing processes. It reads CAD files directly, it can cost a circuit board from photographs, and — the newest layer — it learns: from every analysis and every real supplier quote, getting measurably more accurate and even raising savings findings on its own. The green bar shows verified results from live runs, including half a million pounds a year of findings surfaced autonomously in our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architecture, the five building blocks in plain words. The FRONTEND is simply what users see in their browser — nothing installs on laptops. The BACKEND is the engine room on our server, where all calculations happen. The DATABASE is the memory — a standard corporate database our IT already knows how to run and back up. The GEOMETRY ENGINE is the specialist CAD reader — and note, it runs inside our backend, not in any cloud. The AI LAYER is the only piece that talks to an external service — and the control for that is now BUILT into the platform: a single switchboard that every AI call must pass through. Point it at a private endpoint with one setting, or flip the air-gapped switch and it makes no external calls at all. We tested all three modes live and the server announces its mode at start-up for audit.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requirement is absolute: CAD data must never leave our network. Here is the finding that makes this project straightforward: it already doesn't. We audited every outbound connection in the source code. CAD models are processed in memory, inside our server, by the local geometry engine — they are not even saved to disk. The only traffic that leaves today is the AI layer — photographs and derived summaries — plus two optional public feeds. And here is the update since the written plan: the controls that close this gap are already built. Every AI call now goes through one switchboard that can be pointed at a private endpoint or switched off entirely, and we tested all three modes live. So the job is not a redesign — the software side is done; what remains is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security story on one slide. Green, left: what already stays inside — CAD processing, all cost engines, the learning loop, reports. That is the overwhelming majority of the platform. Amber, right: the three flows that go out — and all three are now under our control in the shipped code. The AI layer is the one that matters — photos and derived summaries — and its private routing is built: one setting points every call at our own endpoint. The other two are optional conveniences, and the new air-gapped switch silences them along with everything else, which we verified live.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ways to deploy. Option A: fully air-gapped — everything on our machines, zero external connections, and the switch that enforces it is already implemented and tested; but the vision AI features are reduced. Option C is the public API — I include it only to reject it, because photos would traverse a public endpoint. Option B is our recommendation: the platform runs on-premise, and the AI model runs in OUR OWN cloud tenancy, reached over a private link with a no-data-retention configuration. The routing for this is also already built — a single setting points every AI call at our endpoint; we demonstrated it live. So the software work for both A and B is done; the remaining effort is infrastructure and sign-off. And note — the two options combine: the most sensitive programmes can run air-gapped while the rest use B.</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target architecture. Everything in the grey box is inside our network: engineers and CAPEE come through the corporate gateway with single sign-on; the CostVision server — frontend and backend — runs on our virtual machine, with the CAD geometry engine inside it; the database is our standard encrypted PostgreSQL. The only permitted exit is the internal AI gateway at the bottom — one door, inspected and logged — which connects over a private link to the AI model running in our own cloud tenancy with zero data retention. On the right, the zero-trust rules: authenticate everything, deny all other egress, role-based access, and CAD comes from the PLM vault and is never stored. If presenting live, a simple Fade animation on each layer of this diagram works well.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Function by function: where does CAD data actually go? Opening and measuring the model, detecting features, extracting BOMs, calculating cost — all of it already happens inside our backend, verified in code. The single amber row is photo analysis and AI narrative — and the routing for it is now built: one configuration value points it at the private endpoint. And note the last row — CostVision never stores CAD files at all; they are processed in memory and released. Finally, the air-gapped switch is no longer a promise — it is built and tested, so security can prove zero egress in a witnessed firewall test rather than take our word for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integration philosophy: CAPEE stays the front door — the workflow, approvals and reporting our teams already know. CostVision becomes the engine behind it, called over internal APIs that already exist. The six flows that matter: CAPEE sends a part, gets a full should-cost back. It sends a CAD file, gets auto-filled inputs. It asks about a new part, gets similar history and suggestions. And the best one: every PO price CAPEE already captures feeds the learning loop automatically — CAPEE's data makes CostVision smarter without anyone lifting a finger. One shared rate library and knowledge database means one version of the truth.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scope of work, honestly sized. CostVision needed six bounded changes — and the first two, private AI routing and the air-gap switch, are already done: built, covered by automated tests, and demonstrated live in all three deployment modes. What remains on the CostVision side is company single sign-on, the corporate database, a clean API wrapper for CAPEE, and audit hardening. CAPEE's changes are additive, not invasive: a client in the backend, an AI-insights panel in the UI, and adopting the shared rate library — plus a one-off import of historical quotes so the memory starts smart. Remaining critical path: roughly three to five engineering weeks. Nothing here is architectural surgery.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compliance-minded: encryption everywhere, and the strongest control of all for CAD — it is never stored. Access is company single sign-on with role mapping. Data-loss prevention comes down to one inspected exit door and a firewall that denies everything else — and security can witness the air-gap test themselves. Full audit trails to our SIEM. On standards: ISO 27001 is covered by these controls; SOC 2 is inherited from the certified cloud services; GDPR exposure is minimal with zero-retention AI in the EU region; and for automotive cyber, this is an engineering IT tool outside the vehicle scope, with supply-chain checks built into the build pipeline.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phases. The first two — assessment and design — are what we're asking approval for today. Phase three is a sealed pilot with dummy CAD data, and its exit gate is a security-witnessed test: firewall blocking everything, full test suite passing, zero unexpected traffic. Phase four connects CAPEE, with a real costing done end-to-end by a cost engineer as the gate. Rollout and then steady-state governance follow. First tangible value lands around week eight, when pilot users start getting similar-part suggestions and sourcing sees the first autonomous findings.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risk view. If the cloud tenancy isn't approved, we don't stall — we fall back to the fully air-gapped option, which still delivers the deterministic engines and the learning loop. The learning depends on real quotes being logged — but the CAPEE hook automates that, and a historical import means we don't start from zero. Platform knowledge is protected by the test suite, documentation and a trained CAPEE-side maintainer. And adoption risk is low precisely because users stay in CAPEE — for them, the change is simply that better answers start appearing.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summarise: secure deployment with CAD fully internal is feasible — in fact, the platform was built that way, and the two controls that complete it — private AI routing and the air-gapped switch — are already built, tested and demonstrated live. CAPEE integration is feasible and high-value, with CAPEE remaining the front door. The remaining changes are bounded — roughly three to five weeks, not months — and governance is defined. The ask today is simple: approve Phases 1 and 2, the security assessment and the architecture design. The full written plan, including the security checklist, is ready to hand to the IT-Security team. Thank you — questions welcome.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for the question 'has anyone done this before — are we the only ones?' The answer is reassuring in both directions. No, we are not inventing an unproven category: should-cost software is an established market. aPriori is the leader — CAD-to-cost with physics models, sold to exactly our kind of company. Siemens ships it inside the PLM suite. Tset is the automotive AI challenger — and notably A2MAC1 agreed to acquire them in June 2026 specifically to build AI-enabled costing intelligence, which tells you the whole market believes in the direction we've already built. Boothroyd Dewhurst is the classic methodology, and a wave of AI start-ups is doing CAD-to-quote. So the category is validated by the market. The real question is why our own tool rather than buying one — and that's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half of the backup answer: given the market exists, why build our own? Four things no vendor offers today. One — photo-to-cost for PCBs: photograph a supplier's or competitor's board and get a costed bill of materials; design tools generate BOMs during design, but no costing suite does this from photos. Two — the self-learning loop: CostVision calibrates on our own purchase-order prices, cutting error from about eleven percent to under one percent in testing after just three quotes, and raises findings on its own; the incumbents are only now marketing toward AI-enabled costing. Three — deployment: the commercial tools are cloud SaaS, meaning our CAD and our rates would sit in a vendor's cloud; CostVision runs inside our network with the private-AI and air-gap controls already built. Four — breadth without per-module licences. And the honest caveat management should hear: aPriori's strength is decades of curated cost data. Our counter is that every quote CAPEE logs makes CostVision smarter on OUR parts, OUR suppliers, OUR regions — data no vendor has. The positioning is not 'better than aPriori'; it is an internal, secure, self-learning engine behind CAPEE.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411480"/>
            <a:ext cx="480060" cy="480060"/>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125" b="1">
                <a:solidFill>
                  <a:srgbClr val="FFFFFF"/>
                </a:solidFill>
                <a:latin typeface="Calibri"/>
              </a:rPr>
              <a:t>cv</a:t>
            </a:r>
          </a:p>
        </p:txBody>
      </p:sp>
      <p:sp>
        <p:nvSpPr>
          <p:cNvPr id="5" name="TextBox 4"/>
          <p:cNvSpPr txBox="1"/>
          <p:nvPr/>
        </p:nvSpPr>
        <p:spPr>
          <a:xfrm>
            <a:off x="1051560" y="377190"/>
            <a:ext cx="2377440" cy="292608"/>
          </a:xfrm>
          <a:prstGeom prst="rect">
            <a:avLst/>
          </a:prstGeom>
          <a:noFill/>
        </p:spPr>
        <p:txBody>
          <a:bodyPr wrap="square" anchor="t" lIns="0" rIns="0" tIns="0" bIns="0">
            <a:spAutoFit/>
          </a:bodyPr>
          <a:lstStyle/>
          <a:p>
            <a:pPr algn="l">
              <a:lnSpc>
                <a:spcPct val="100000"/>
              </a:lnSpc>
              <a:spcAft>
                <a:spcPts val="400"/>
              </a:spcAft>
            </a:pPr>
            <a:r>
              <a:rPr sz="2250" b="1" i="0">
                <a:solidFill>
                  <a:srgbClr val="2563EB"/>
                </a:solidFill>
                <a:latin typeface="Calibri"/>
              </a:rPr>
              <a:t>CostVision</a:t>
            </a:r>
          </a:p>
        </p:txBody>
      </p:sp>
      <p:sp>
        <p:nvSpPr>
          <p:cNvPr id="6" name="TextBox 5"/>
          <p:cNvSpPr txBox="1"/>
          <p:nvPr/>
        </p:nvSpPr>
        <p:spPr>
          <a:xfrm>
            <a:off x="1051560" y="685800"/>
            <a:ext cx="2560320" cy="201168"/>
          </a:xfrm>
          <a:prstGeom prst="rect">
            <a:avLst/>
          </a:prstGeom>
          <a:noFill/>
        </p:spPr>
        <p:txBody>
          <a:bodyPr wrap="square" anchor="t" lIns="0" rIns="0" tIns="0" bIns="0">
            <a:spAutoFit/>
          </a:bodyPr>
          <a:lstStyle/>
          <a:p>
            <a:pPr algn="l">
              <a:lnSpc>
                <a:spcPct val="100000"/>
              </a:lnSpc>
              <a:spcAft>
                <a:spcPts val="400"/>
              </a:spcAft>
            </a:pPr>
            <a:r>
              <a:rPr sz="937" b="0" i="0">
                <a:solidFill>
                  <a:srgbClr val="64748B"/>
                </a:solidFill>
                <a:latin typeface="Calibri"/>
              </a:rPr>
              <a:t>AI  COST  INTELLIGENCE</a:t>
            </a:r>
          </a:p>
        </p:txBody>
      </p:sp>
      <p:sp>
        <p:nvSpPr>
          <p:cNvPr id="7" name="TextBox 6"/>
          <p:cNvSpPr txBox="1"/>
          <p:nvPr/>
        </p:nvSpPr>
        <p:spPr>
          <a:xfrm>
            <a:off x="822960" y="1965960"/>
            <a:ext cx="10789920" cy="914400"/>
          </a:xfrm>
          <a:prstGeom prst="rect">
            <a:avLst/>
          </a:prstGeom>
          <a:noFill/>
        </p:spPr>
        <p:txBody>
          <a:bodyPr wrap="square" anchor="t" lIns="0" rIns="0" tIns="0" bIns="0">
            <a:spAutoFit/>
          </a:bodyPr>
          <a:lstStyle/>
          <a:p>
            <a:pPr algn="l">
              <a:lnSpc>
                <a:spcPct val="100000"/>
              </a:lnSpc>
              <a:spcAft>
                <a:spcPts val="400"/>
              </a:spcAft>
            </a:pPr>
            <a:r>
              <a:rPr sz="3600" b="1" i="0">
                <a:solidFill>
                  <a:srgbClr val="0F172A"/>
                </a:solidFill>
                <a:latin typeface="Calibri"/>
              </a:rPr>
              <a:t>CostVision Implementation Blueprint</a:t>
            </a:r>
          </a:p>
        </p:txBody>
      </p:sp>
      <p:sp>
        <p:nvSpPr>
          <p:cNvPr id="8" name="TextBox 7"/>
          <p:cNvSpPr txBox="1"/>
          <p:nvPr/>
        </p:nvSpPr>
        <p:spPr>
          <a:xfrm>
            <a:off x="822960" y="2834640"/>
            <a:ext cx="10424160" cy="822960"/>
          </a:xfrm>
          <a:prstGeom prst="rect">
            <a:avLst/>
          </a:prstGeom>
          <a:noFill/>
        </p:spPr>
        <p:txBody>
          <a:bodyPr wrap="square" anchor="t" lIns="0" rIns="0" tIns="0" bIns="0">
            <a:spAutoFit/>
          </a:bodyPr>
          <a:lstStyle/>
          <a:p>
            <a:pPr algn="l">
              <a:lnSpc>
                <a:spcPct val="100000"/>
              </a:lnSpc>
              <a:spcAft>
                <a:spcPts val="400"/>
              </a:spcAft>
            </a:pPr>
            <a:r>
              <a:rPr sz="1900" b="0" i="0">
                <a:solidFill>
                  <a:srgbClr val="334155"/>
                </a:solidFill>
                <a:latin typeface="Calibri"/>
              </a:rPr>
              <a:t>Secure enterprise deployment inside our network — and integration with CAPEE.</a:t>
            </a:r>
          </a:p>
          <a:p>
            <a:pPr algn="l">
              <a:lnSpc>
                <a:spcPct val="100000"/>
              </a:lnSpc>
              <a:spcAft>
                <a:spcPts val="400"/>
              </a:spcAft>
            </a:pPr>
            <a:r>
              <a:rPr sz="1900" b="0" i="0">
                <a:solidFill>
                  <a:srgbClr val="334155"/>
                </a:solidFill>
                <a:latin typeface="Calibri"/>
              </a:rPr>
              <a:t>All CAD models, drawings and images stay inside the company. Verified in the code.</a:t>
            </a:r>
          </a:p>
        </p:txBody>
      </p:sp>
      <p:sp>
        <p:nvSpPr>
          <p:cNvPr id="9" name="Rounded Rectangle 8"/>
          <p:cNvSpPr/>
          <p:nvPr/>
        </p:nvSpPr>
        <p:spPr>
          <a:xfrm>
            <a:off x="822960" y="4160520"/>
            <a:ext cx="246888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059669"/>
                </a:solidFill>
                <a:latin typeface="Calibri"/>
              </a:rPr>
              <a:t>100% CAD stays internal</a:t>
            </a:r>
          </a:p>
        </p:txBody>
      </p:sp>
      <p:sp>
        <p:nvSpPr>
          <p:cNvPr id="10" name="Rounded Rectangle 9"/>
          <p:cNvSpPr/>
          <p:nvPr/>
        </p:nvSpPr>
        <p:spPr>
          <a:xfrm>
            <a:off x="3520440" y="4160520"/>
            <a:ext cx="246888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2563EB"/>
                </a:solidFill>
                <a:latin typeface="Calibri"/>
              </a:rPr>
              <a:t>AI controls BUILT &amp; tested</a:t>
            </a:r>
          </a:p>
        </p:txBody>
      </p:sp>
      <p:sp>
        <p:nvSpPr>
          <p:cNvPr id="11" name="Rounded Rectangle 10"/>
          <p:cNvSpPr/>
          <p:nvPr/>
        </p:nvSpPr>
        <p:spPr>
          <a:xfrm>
            <a:off x="6217920" y="4160520"/>
            <a:ext cx="246888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7C3AED"/>
                </a:solidFill>
                <a:latin typeface="Calibri"/>
              </a:rPr>
              <a:t>~3–5 weeks remaining</a:t>
            </a:r>
          </a:p>
        </p:txBody>
      </p:sp>
      <p:sp>
        <p:nvSpPr>
          <p:cNvPr id="12" name="Rounded Rectangle 11"/>
          <p:cNvSpPr/>
          <p:nvPr/>
        </p:nvSpPr>
        <p:spPr>
          <a:xfrm>
            <a:off x="8915400" y="4160520"/>
            <a:ext cx="246888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0891B2"/>
                </a:solidFill>
                <a:latin typeface="Calibri"/>
              </a:rPr>
              <a:t>6-phase rollout</a:t>
            </a:r>
          </a:p>
        </p:txBody>
      </p:sp>
      <p:sp>
        <p:nvSpPr>
          <p:cNvPr id="13" name="TextBox 12"/>
          <p:cNvSpPr txBox="1"/>
          <p:nvPr/>
        </p:nvSpPr>
        <p:spPr>
          <a:xfrm>
            <a:off x="822960" y="5943600"/>
            <a:ext cx="1005840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64748B"/>
                </a:solidFill>
                <a:latin typeface="Calibri"/>
              </a:rPr>
              <a:t>Management briefing  ·  July 2026  ·  Grounded in a line-by-line audit of the platform code</a:t>
            </a:r>
          </a:p>
        </p:txBody>
      </p:sp>
      <p:sp>
        <p:nvSpPr>
          <p:cNvPr id="14" name="Rectangle 13"/>
          <p:cNvSpPr/>
          <p:nvPr/>
        </p:nvSpPr>
        <p:spPr>
          <a:xfrm>
            <a:off x="0" y="6711696"/>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PURPOSE OF THIS MEETING</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The decision we are asking for today</a:t>
            </a:r>
          </a:p>
        </p:txBody>
      </p:sp>
      <p:sp>
        <p:nvSpPr>
          <p:cNvPr id="9" name="Rounded Rectangle 8"/>
          <p:cNvSpPr/>
          <p:nvPr/>
        </p:nvSpPr>
        <p:spPr>
          <a:xfrm>
            <a:off x="411480" y="1920240"/>
            <a:ext cx="11384280" cy="1371600"/>
          </a:xfrm>
          <a:prstGeom prst="roundRect">
            <a:avLst>
              <a:gd name="adj" fmla="val 8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148840"/>
            <a:ext cx="10789920" cy="1005840"/>
          </a:xfrm>
          <a:prstGeom prst="rect">
            <a:avLst/>
          </a:prstGeom>
          <a:noFill/>
        </p:spPr>
        <p:txBody>
          <a:bodyPr wrap="square" anchor="t" lIns="0" rIns="0" tIns="0" bIns="0">
            <a:spAutoFit/>
          </a:bodyPr>
          <a:lstStyle/>
          <a:p>
            <a:pPr algn="l">
              <a:lnSpc>
                <a:spcPct val="120000"/>
              </a:lnSpc>
              <a:spcAft>
                <a:spcPts val="400"/>
              </a:spcAft>
            </a:pPr>
            <a:r>
              <a:rPr sz="1700" b="1" i="0">
                <a:solidFill>
                  <a:srgbClr val="2563EB"/>
                </a:solidFill>
                <a:latin typeface="Calibri"/>
              </a:rPr>
              <a:t>Approve Phases 1–2: </a:t>
            </a:r>
            <a:r>
              <a:rPr sz="1700" b="0" i="0">
                <a:solidFill>
                  <a:srgbClr val="334155"/>
                </a:solidFill>
                <a:latin typeface="Calibri"/>
              </a:rPr>
              <a:t>the IT-Security assessment and the architecture design for deploying CostVision inside our network and connecting it to CAPEE.  (~5–7 weeks, existing teams, no licence spend.)</a:t>
            </a:r>
          </a:p>
        </p:txBody>
      </p:sp>
      <p:sp>
        <p:nvSpPr>
          <p:cNvPr id="11" name="Rounded Rectangle 10"/>
          <p:cNvSpPr/>
          <p:nvPr/>
        </p:nvSpPr>
        <p:spPr>
          <a:xfrm>
            <a:off x="411480" y="3657600"/>
            <a:ext cx="3657600" cy="219456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3657600"/>
            <a:ext cx="365760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2563EB"/>
                </a:solidFill>
                <a:latin typeface="Calibri"/>
              </a:rPr>
              <a:t>Why now</a:t>
            </a:r>
          </a:p>
        </p:txBody>
      </p:sp>
      <p:sp>
        <p:nvSpPr>
          <p:cNvPr id="14" name="TextBox 13"/>
          <p:cNvSpPr txBox="1"/>
          <p:nvPr/>
        </p:nvSpPr>
        <p:spPr>
          <a:xfrm>
            <a:off x="640080"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The tool is built, tested (793 automated tests) and proven on live runs — the value is waiting on deployment, not development.</a:t>
            </a:r>
          </a:p>
        </p:txBody>
      </p:sp>
      <p:sp>
        <p:nvSpPr>
          <p:cNvPr id="15" name="Rounded Rectangle 14"/>
          <p:cNvSpPr/>
          <p:nvPr/>
        </p:nvSpPr>
        <p:spPr>
          <a:xfrm>
            <a:off x="4297680" y="3657600"/>
            <a:ext cx="3657600" cy="219456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97680" y="3657600"/>
            <a:ext cx="3657600" cy="822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26280"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059669"/>
                </a:solidFill>
                <a:latin typeface="Calibri"/>
              </a:rPr>
              <a:t>Why it is safe</a:t>
            </a:r>
          </a:p>
        </p:txBody>
      </p:sp>
      <p:sp>
        <p:nvSpPr>
          <p:cNvPr id="18" name="TextBox 17"/>
          <p:cNvSpPr txBox="1"/>
          <p:nvPr/>
        </p:nvSpPr>
        <p:spPr>
          <a:xfrm>
            <a:off x="4526280"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CAD processing already runs fully inside the server. The private AI routing and the air-gapped switch are now BUILT and tested live.</a:t>
            </a:r>
          </a:p>
        </p:txBody>
      </p:sp>
      <p:sp>
        <p:nvSpPr>
          <p:cNvPr id="19" name="Rounded Rectangle 18"/>
          <p:cNvSpPr/>
          <p:nvPr/>
        </p:nvSpPr>
        <p:spPr>
          <a:xfrm>
            <a:off x="8183879" y="3657600"/>
            <a:ext cx="3657600" cy="219456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83879" y="3657600"/>
            <a:ext cx="365760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9"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7C3AED"/>
                </a:solidFill>
                <a:latin typeface="Calibri"/>
              </a:rPr>
              <a:t>Why CAPEE wins</a:t>
            </a:r>
          </a:p>
        </p:txBody>
      </p:sp>
      <p:sp>
        <p:nvSpPr>
          <p:cNvPr id="22" name="TextBox 21"/>
          <p:cNvSpPr txBox="1"/>
          <p:nvPr/>
        </p:nvSpPr>
        <p:spPr>
          <a:xfrm>
            <a:off x="8412479"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CAPEE keeps the workflow; CostVision adds the AI, physics and organisational memory behind it. No tool replacement.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BACKGROUND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CostVision is — a quick recap</a:t>
            </a:r>
          </a:p>
        </p:txBody>
      </p:sp>
      <p:sp>
        <p:nvSpPr>
          <p:cNvPr id="9" name="Rounded Rectangle 8"/>
          <p:cNvSpPr/>
          <p:nvPr/>
        </p:nvSpPr>
        <p:spPr>
          <a:xfrm>
            <a:off x="411480" y="1874519"/>
            <a:ext cx="5577840" cy="129844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12984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002535"/>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2563EB"/>
                </a:solidFill>
                <a:latin typeface="Calibri"/>
              </a:rPr>
              <a:t>18 cost engines</a:t>
            </a:r>
          </a:p>
        </p:txBody>
      </p:sp>
      <p:sp>
        <p:nvSpPr>
          <p:cNvPr id="12" name="TextBox 11"/>
          <p:cNvSpPr txBox="1"/>
          <p:nvPr/>
        </p:nvSpPr>
        <p:spPr>
          <a:xfrm>
            <a:off x="667512" y="2404871"/>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Machining, casting, injection, PCB, software and more — physics-based, every figure traceable</a:t>
            </a:r>
          </a:p>
        </p:txBody>
      </p:sp>
      <p:sp>
        <p:nvSpPr>
          <p:cNvPr id="13" name="Rounded Rectangle 12"/>
          <p:cNvSpPr/>
          <p:nvPr/>
        </p:nvSpPr>
        <p:spPr>
          <a:xfrm>
            <a:off x="6217920" y="1874519"/>
            <a:ext cx="5577840" cy="129844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74519"/>
            <a:ext cx="82296" cy="1298448"/>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2002535"/>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0891B2"/>
                </a:solidFill>
                <a:latin typeface="Calibri"/>
              </a:rPr>
              <a:t>CAD-to-Cost</a:t>
            </a:r>
          </a:p>
        </p:txBody>
      </p:sp>
      <p:sp>
        <p:nvSpPr>
          <p:cNvPr id="16" name="TextBox 15"/>
          <p:cNvSpPr txBox="1"/>
          <p:nvPr/>
        </p:nvSpPr>
        <p:spPr>
          <a:xfrm>
            <a:off x="6473952" y="2404871"/>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Reads STEP/IGES models with a real geometry engine and auto-fills the costing</a:t>
            </a:r>
          </a:p>
        </p:txBody>
      </p:sp>
      <p:sp>
        <p:nvSpPr>
          <p:cNvPr id="17" name="Rounded Rectangle 16"/>
          <p:cNvSpPr/>
          <p:nvPr/>
        </p:nvSpPr>
        <p:spPr>
          <a:xfrm>
            <a:off x="411480" y="3355848"/>
            <a:ext cx="5577840" cy="129844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355848"/>
            <a:ext cx="82296"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83864"/>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7C3AED"/>
                </a:solidFill>
                <a:latin typeface="Calibri"/>
              </a:rPr>
              <a:t>Photo-to-BOM</a:t>
            </a:r>
          </a:p>
        </p:txBody>
      </p:sp>
      <p:sp>
        <p:nvSpPr>
          <p:cNvPr id="20" name="TextBox 19"/>
          <p:cNvSpPr txBox="1"/>
          <p:nvPr/>
        </p:nvSpPr>
        <p:spPr>
          <a:xfrm>
            <a:off x="667512" y="3886200"/>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Costs a PCB from photographs — detects components and builds the bill of materials</a:t>
            </a:r>
          </a:p>
        </p:txBody>
      </p:sp>
      <p:sp>
        <p:nvSpPr>
          <p:cNvPr id="21" name="Rounded Rectangle 20"/>
          <p:cNvSpPr/>
          <p:nvPr/>
        </p:nvSpPr>
        <p:spPr>
          <a:xfrm>
            <a:off x="6217920" y="3355848"/>
            <a:ext cx="5577840" cy="129844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355848"/>
            <a:ext cx="82296" cy="129844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3483864"/>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059669"/>
                </a:solidFill>
                <a:latin typeface="Calibri"/>
              </a:rPr>
              <a:t>Agentic AI</a:t>
            </a:r>
          </a:p>
        </p:txBody>
      </p:sp>
      <p:sp>
        <p:nvSpPr>
          <p:cNvPr id="24" name="TextBox 23"/>
          <p:cNvSpPr txBox="1"/>
          <p:nvPr/>
        </p:nvSpPr>
        <p:spPr>
          <a:xfrm>
            <a:off x="6473952" y="3886200"/>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Learns from every analysis and real quote; suggests, self-corrects and raises findings on its own</a:t>
            </a:r>
          </a:p>
        </p:txBody>
      </p:sp>
      <p:sp>
        <p:nvSpPr>
          <p:cNvPr id="25" name="Rounded Rectangle 24"/>
          <p:cNvSpPr/>
          <p:nvPr/>
        </p:nvSpPr>
        <p:spPr>
          <a:xfrm>
            <a:off x="411480" y="5074920"/>
            <a:ext cx="11384280" cy="1188720"/>
          </a:xfrm>
          <a:prstGeom prst="roundRect">
            <a:avLst>
              <a:gd name="adj" fmla="val 8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257800"/>
            <a:ext cx="10789920" cy="868680"/>
          </a:xfrm>
          <a:prstGeom prst="rect">
            <a:avLst/>
          </a:prstGeom>
          <a:noFill/>
        </p:spPr>
        <p:txBody>
          <a:bodyPr wrap="square" anchor="t" lIns="0" rIns="0" tIns="0" bIns="0">
            <a:spAutoFit/>
          </a:bodyPr>
          <a:lstStyle/>
          <a:p>
            <a:pPr algn="l">
              <a:lnSpc>
                <a:spcPct val="120000"/>
              </a:lnSpc>
              <a:spcAft>
                <a:spcPts val="400"/>
              </a:spcAft>
            </a:pPr>
            <a:r>
              <a:rPr sz="1350" b="1" i="0">
                <a:solidFill>
                  <a:srgbClr val="059669"/>
                </a:solidFill>
                <a:latin typeface="Calibri"/>
              </a:rPr>
              <a:t>Proven, not promised:  </a:t>
            </a:r>
            <a:r>
              <a:rPr sz="1350" b="0" i="0">
                <a:solidFill>
                  <a:srgbClr val="334155"/>
                </a:solidFill>
                <a:latin typeface="Calibri"/>
              </a:rPr>
              <a:t>estimating error cut from 10.9% to 0.3% after learning from 3 real quotes  ·  £512k/yr of pricing issues found autonomously in the live demo  ·  793 automated tests protect it 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TECHNOLOGY, SIMPLY EXPLAINED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the tool is made of — in plain words</a:t>
            </a:r>
          </a:p>
        </p:txBody>
      </p:sp>
      <p:sp>
        <p:nvSpPr>
          <p:cNvPr id="9" name="Rounded Rectangle 8"/>
          <p:cNvSpPr/>
          <p:nvPr/>
        </p:nvSpPr>
        <p:spPr>
          <a:xfrm>
            <a:off x="411480" y="1874519"/>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7680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96595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2563EB"/>
                </a:solidFill>
                <a:latin typeface="Calibri"/>
              </a:rPr>
              <a:t>Frontend</a:t>
            </a:r>
          </a:p>
        </p:txBody>
      </p:sp>
      <p:sp>
        <p:nvSpPr>
          <p:cNvPr id="12" name="TextBox 11"/>
          <p:cNvSpPr txBox="1"/>
          <p:nvPr/>
        </p:nvSpPr>
        <p:spPr>
          <a:xfrm>
            <a:off x="685800" y="230428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What users see</a:t>
            </a:r>
          </a:p>
        </p:txBody>
      </p:sp>
      <p:sp>
        <p:nvSpPr>
          <p:cNvPr id="13" name="TextBox 12"/>
          <p:cNvSpPr txBox="1"/>
          <p:nvPr/>
        </p:nvSpPr>
        <p:spPr>
          <a:xfrm>
            <a:off x="2697480" y="198424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The web application in the browser — forms, dashboards, reports. Nothing is installed on laptops; it is served from our own server.</a:t>
            </a:r>
          </a:p>
        </p:txBody>
      </p:sp>
      <p:sp>
        <p:nvSpPr>
          <p:cNvPr id="14" name="Rounded Rectangle 13"/>
          <p:cNvSpPr/>
          <p:nvPr/>
        </p:nvSpPr>
        <p:spPr>
          <a:xfrm>
            <a:off x="411480" y="2743200"/>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743200"/>
            <a:ext cx="82296" cy="768096"/>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834640"/>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4F46E5"/>
                </a:solidFill>
                <a:latin typeface="Calibri"/>
              </a:rPr>
              <a:t>Backend</a:t>
            </a:r>
          </a:p>
        </p:txBody>
      </p:sp>
      <p:sp>
        <p:nvSpPr>
          <p:cNvPr id="17" name="TextBox 16"/>
          <p:cNvSpPr txBox="1"/>
          <p:nvPr/>
        </p:nvSpPr>
        <p:spPr>
          <a:xfrm>
            <a:off x="685800" y="3172968"/>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The engine room</a:t>
            </a:r>
          </a:p>
        </p:txBody>
      </p:sp>
      <p:sp>
        <p:nvSpPr>
          <p:cNvPr id="18" name="TextBox 17"/>
          <p:cNvSpPr txBox="1"/>
          <p:nvPr/>
        </p:nvSpPr>
        <p:spPr>
          <a:xfrm>
            <a:off x="2697480" y="2852928"/>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The server application that does the work: runs the 18 cost engines, the AI logic and all calculations. Runs on a standard company virtual machine.</a:t>
            </a:r>
          </a:p>
        </p:txBody>
      </p:sp>
      <p:sp>
        <p:nvSpPr>
          <p:cNvPr id="19" name="Rounded Rectangle 18"/>
          <p:cNvSpPr/>
          <p:nvPr/>
        </p:nvSpPr>
        <p:spPr>
          <a:xfrm>
            <a:off x="411480" y="3611879"/>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3611879"/>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70331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7C3AED"/>
                </a:solidFill>
                <a:latin typeface="Calibri"/>
              </a:rPr>
              <a:t>Database</a:t>
            </a:r>
          </a:p>
        </p:txBody>
      </p:sp>
      <p:sp>
        <p:nvSpPr>
          <p:cNvPr id="22" name="TextBox 21"/>
          <p:cNvSpPr txBox="1"/>
          <p:nvPr/>
        </p:nvSpPr>
        <p:spPr>
          <a:xfrm>
            <a:off x="685800" y="404164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The memory</a:t>
            </a:r>
          </a:p>
        </p:txBody>
      </p:sp>
      <p:sp>
        <p:nvSpPr>
          <p:cNvPr id="23" name="TextBox 22"/>
          <p:cNvSpPr txBox="1"/>
          <p:nvPr/>
        </p:nvSpPr>
        <p:spPr>
          <a:xfrm>
            <a:off x="2697480" y="372160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Where rate libraries, saved costings and the AI knowledge base live. Standard corporate database (PostgreSQL), encrypted, backed up by IT.</a:t>
            </a:r>
          </a:p>
        </p:txBody>
      </p:sp>
      <p:sp>
        <p:nvSpPr>
          <p:cNvPr id="24" name="Rounded Rectangle 23"/>
          <p:cNvSpPr/>
          <p:nvPr/>
        </p:nvSpPr>
        <p:spPr>
          <a:xfrm>
            <a:off x="411480" y="4480559"/>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80559"/>
            <a:ext cx="82296" cy="768096"/>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457199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891B2"/>
                </a:solidFill>
                <a:latin typeface="Calibri"/>
              </a:rPr>
              <a:t>CAD engine</a:t>
            </a:r>
          </a:p>
        </p:txBody>
      </p:sp>
      <p:sp>
        <p:nvSpPr>
          <p:cNvPr id="27" name="TextBox 26"/>
          <p:cNvSpPr txBox="1"/>
          <p:nvPr/>
        </p:nvSpPr>
        <p:spPr>
          <a:xfrm>
            <a:off x="685800" y="491032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The 3D model reader</a:t>
            </a:r>
          </a:p>
        </p:txBody>
      </p:sp>
      <p:sp>
        <p:nvSpPr>
          <p:cNvPr id="28" name="TextBox 27"/>
          <p:cNvSpPr txBox="1"/>
          <p:nvPr/>
        </p:nvSpPr>
        <p:spPr>
          <a:xfrm>
            <a:off x="2697480" y="459028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Specialist geometry software (OCCT — the same core used by CAD vendors) that measures the 3D model: volume, weight, walls, holes. Runs INSIDE the backend.</a:t>
            </a:r>
          </a:p>
        </p:txBody>
      </p:sp>
      <p:sp>
        <p:nvSpPr>
          <p:cNvPr id="29" name="Rounded Rectangle 28"/>
          <p:cNvSpPr/>
          <p:nvPr/>
        </p:nvSpPr>
        <p:spPr>
          <a:xfrm>
            <a:off x="411480" y="5349240"/>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1480" y="5349240"/>
            <a:ext cx="82296" cy="7680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5440680"/>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59669"/>
                </a:solidFill>
                <a:latin typeface="Calibri"/>
              </a:rPr>
              <a:t>AI layer</a:t>
            </a:r>
          </a:p>
        </p:txBody>
      </p:sp>
      <p:sp>
        <p:nvSpPr>
          <p:cNvPr id="32" name="TextBox 31"/>
          <p:cNvSpPr txBox="1"/>
          <p:nvPr/>
        </p:nvSpPr>
        <p:spPr>
          <a:xfrm>
            <a:off x="685800" y="5779008"/>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The language brain</a:t>
            </a:r>
          </a:p>
        </p:txBody>
      </p:sp>
      <p:sp>
        <p:nvSpPr>
          <p:cNvPr id="33" name="TextBox 32"/>
          <p:cNvSpPr txBox="1"/>
          <p:nvPr/>
        </p:nvSpPr>
        <p:spPr>
          <a:xfrm>
            <a:off x="2697480" y="5458968"/>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The AI model used for vision and language tasks. NOW BUILT: one switchboard controls every AI call — route it to a private endpoint, or turn it fully OFF (air-gapped).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SECURITY</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The security requirement — and the key finding</a:t>
            </a:r>
          </a:p>
        </p:txBody>
      </p:sp>
      <p:sp>
        <p:nvSpPr>
          <p:cNvPr id="9" name="Rounded Rectangle 8"/>
          <p:cNvSpPr/>
          <p:nvPr/>
        </p:nvSpPr>
        <p:spPr>
          <a:xfrm>
            <a:off x="411480" y="1874519"/>
            <a:ext cx="11384280" cy="1051560"/>
          </a:xfrm>
          <a:prstGeom prst="roundRect">
            <a:avLst>
              <a:gd name="adj" fmla="val 8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57400"/>
            <a:ext cx="10789920" cy="731520"/>
          </a:xfrm>
          <a:prstGeom prst="rect">
            <a:avLst/>
          </a:prstGeom>
          <a:noFill/>
        </p:spPr>
        <p:txBody>
          <a:bodyPr wrap="square" anchor="t" lIns="0" rIns="0" tIns="0" bIns="0">
            <a:spAutoFit/>
          </a:bodyPr>
          <a:lstStyle/>
          <a:p>
            <a:pPr algn="l">
              <a:lnSpc>
                <a:spcPct val="115000"/>
              </a:lnSpc>
              <a:spcAft>
                <a:spcPts val="400"/>
              </a:spcAft>
            </a:pPr>
            <a:r>
              <a:rPr sz="1500" b="1" i="0">
                <a:solidFill>
                  <a:srgbClr val="D97706"/>
                </a:solidFill>
                <a:latin typeface="Calibri"/>
              </a:rPr>
              <a:t>IT-Security requirement:  </a:t>
            </a:r>
            <a:r>
              <a:rPr sz="1500" b="1" i="0">
                <a:solidFill>
                  <a:srgbClr val="0F172A"/>
                </a:solidFill>
                <a:latin typeface="Calibri"/>
              </a:rPr>
              <a:t>no CAD files, engineering drawings or images may leave the company network. Ever.</a:t>
            </a:r>
          </a:p>
        </p:txBody>
      </p:sp>
      <p:sp>
        <p:nvSpPr>
          <p:cNvPr id="11" name="Rounded Rectangle 10"/>
          <p:cNvSpPr/>
          <p:nvPr/>
        </p:nvSpPr>
        <p:spPr>
          <a:xfrm>
            <a:off x="411480" y="3200400"/>
            <a:ext cx="11384280" cy="1828800"/>
          </a:xfrm>
          <a:prstGeom prst="roundRect">
            <a:avLst>
              <a:gd name="adj" fmla="val 8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01568"/>
            <a:ext cx="10789920" cy="1463040"/>
          </a:xfrm>
          <a:prstGeom prst="rect">
            <a:avLst/>
          </a:prstGeom>
          <a:noFill/>
        </p:spPr>
        <p:txBody>
          <a:bodyPr wrap="square" anchor="t" lIns="0" rIns="0" tIns="0" bIns="0">
            <a:spAutoFit/>
          </a:bodyPr>
          <a:lstStyle/>
          <a:p>
            <a:pPr algn="l">
              <a:lnSpc>
                <a:spcPct val="120000"/>
              </a:lnSpc>
              <a:spcAft>
                <a:spcPts val="800"/>
              </a:spcAft>
            </a:pPr>
            <a:r>
              <a:rPr sz="1500" b="1" i="0">
                <a:solidFill>
                  <a:srgbClr val="059669"/>
                </a:solidFill>
                <a:latin typeface="Calibri"/>
              </a:rPr>
              <a:t>The key finding from the code audit:  </a:t>
            </a:r>
            <a:r>
              <a:rPr sz="1500" b="1" i="0">
                <a:solidFill>
                  <a:srgbClr val="0F172A"/>
                </a:solidFill>
                <a:latin typeface="Calibri"/>
              </a:rPr>
              <a:t>CAD files already never leave the server.</a:t>
            </a:r>
          </a:p>
          <a:p>
            <a:pPr algn="l">
              <a:lnSpc>
                <a:spcPct val="120000"/>
              </a:lnSpc>
              <a:spcAft>
                <a:spcPts val="800"/>
              </a:spcAft>
            </a:pPr>
            <a:r>
              <a:rPr sz="1300" b="0" i="0">
                <a:solidFill>
                  <a:srgbClr val="334155"/>
                </a:solidFill>
                <a:latin typeface="Calibri"/>
              </a:rPr>
              <a:t>The geometry engine runs inside our backend and processes CAD models in memory — files are not even written to disk, let alone sent anywhere. The only outbound flows are the AI layer (photos and derived summaries) and two optional public feeds. The controls that close this gap are now BUILT: private AI routing and a provable air-gapped switch, tested live in all three modes.</a:t>
            </a:r>
          </a:p>
        </p:txBody>
      </p:sp>
      <p:sp>
        <p:nvSpPr>
          <p:cNvPr id="13" name="TextBox 12"/>
          <p:cNvSpPr txBox="1"/>
          <p:nvPr/>
        </p:nvSpPr>
        <p:spPr>
          <a:xfrm>
            <a:off x="411480" y="5349240"/>
            <a:ext cx="11338560" cy="822960"/>
          </a:xfrm>
          <a:prstGeom prst="rect">
            <a:avLst/>
          </a:prstGeom>
          <a:noFill/>
        </p:spPr>
        <p:txBody>
          <a:bodyPr wrap="square" anchor="t" lIns="0" rIns="0" tIns="0" bIns="0">
            <a:spAutoFit/>
          </a:bodyPr>
          <a:lstStyle/>
          <a:p>
            <a:pPr algn="l">
              <a:lnSpc>
                <a:spcPct val="120000"/>
              </a:lnSpc>
              <a:spcAft>
                <a:spcPts val="400"/>
              </a:spcAft>
            </a:pPr>
            <a:r>
              <a:rPr sz="1250" b="1" i="0">
                <a:solidFill>
                  <a:srgbClr val="0F172A"/>
                </a:solidFill>
                <a:latin typeface="Calibri"/>
              </a:rPr>
              <a:t>Why you can trust this: </a:t>
            </a:r>
            <a:r>
              <a:rPr sz="1250" b="0" i="0">
                <a:solidFill>
                  <a:srgbClr val="334155"/>
                </a:solidFill>
                <a:latin typeface="Calibri"/>
              </a:rPr>
              <a:t>this is not a vendor claim — we audited every outbound network call in the platform's source code, line by line, and listed each one. The full inventory is in the written plan.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DATA-FLOW MAP</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Where data flows today — verified in the code</a:t>
            </a:r>
          </a:p>
        </p:txBody>
      </p:sp>
      <p:sp>
        <p:nvSpPr>
          <p:cNvPr id="9" name="Rounded Rectangle 8"/>
          <p:cNvSpPr/>
          <p:nvPr/>
        </p:nvSpPr>
        <p:spPr>
          <a:xfrm>
            <a:off x="411480" y="1828800"/>
            <a:ext cx="6858000" cy="4297680"/>
          </a:xfrm>
          <a:prstGeom prst="roundRect">
            <a:avLst>
              <a:gd name="adj" fmla="val 5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11680"/>
            <a:ext cx="630936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059669"/>
                </a:solidFill>
                <a:latin typeface="Calibri"/>
              </a:rPr>
              <a:t>STAYS INSIDE — already ✓</a:t>
            </a:r>
          </a:p>
        </p:txBody>
      </p:sp>
      <p:sp>
        <p:nvSpPr>
          <p:cNvPr id="11" name="Rectangle 10"/>
          <p:cNvSpPr/>
          <p:nvPr/>
        </p:nvSpPr>
        <p:spPr>
          <a:xfrm>
            <a:off x="685800" y="2468880"/>
            <a:ext cx="82296" cy="7315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46888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0F172A"/>
                </a:solidFill>
                <a:latin typeface="Calibri"/>
              </a:rPr>
              <a:t>CAD / geometry processing</a:t>
            </a:r>
          </a:p>
          <a:p>
            <a:pPr algn="l">
              <a:lnSpc>
                <a:spcPct val="105000"/>
              </a:lnSpc>
              <a:spcAft>
                <a:spcPts val="200"/>
              </a:spcAft>
            </a:pPr>
            <a:r>
              <a:rPr sz="1050" b="0" i="0">
                <a:solidFill>
                  <a:srgbClr val="334155"/>
                </a:solidFill>
                <a:latin typeface="Calibri"/>
              </a:rPr>
              <a:t>OCCT engine runs in the backend; files processed in memory, never stored</a:t>
            </a:r>
          </a:p>
        </p:txBody>
      </p:sp>
      <p:sp>
        <p:nvSpPr>
          <p:cNvPr id="13" name="Rectangle 12"/>
          <p:cNvSpPr/>
          <p:nvPr/>
        </p:nvSpPr>
        <p:spPr>
          <a:xfrm>
            <a:off x="685800" y="3337560"/>
            <a:ext cx="82296" cy="7315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33756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0F172A"/>
                </a:solidFill>
                <a:latin typeface="Calibri"/>
              </a:rPr>
              <a:t>All 18 cost engines</a:t>
            </a:r>
          </a:p>
          <a:p>
            <a:pPr algn="l">
              <a:lnSpc>
                <a:spcPct val="105000"/>
              </a:lnSpc>
              <a:spcAft>
                <a:spcPts val="200"/>
              </a:spcAft>
            </a:pPr>
            <a:r>
              <a:rPr sz="1050" b="0" i="0">
                <a:solidFill>
                  <a:srgbClr val="334155"/>
                </a:solidFill>
                <a:latin typeface="Calibri"/>
              </a:rPr>
              <a:t>Physics + maths, fully local</a:t>
            </a:r>
          </a:p>
        </p:txBody>
      </p:sp>
      <p:sp>
        <p:nvSpPr>
          <p:cNvPr id="15" name="Rectangle 14"/>
          <p:cNvSpPr/>
          <p:nvPr/>
        </p:nvSpPr>
        <p:spPr>
          <a:xfrm>
            <a:off x="685800" y="4206240"/>
            <a:ext cx="82296" cy="7315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20624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0F172A"/>
                </a:solidFill>
                <a:latin typeface="Calibri"/>
              </a:rPr>
              <a:t>Knowledge base &amp; learning loop</a:t>
            </a:r>
          </a:p>
          <a:p>
            <a:pPr algn="l">
              <a:lnSpc>
                <a:spcPct val="105000"/>
              </a:lnSpc>
              <a:spcAft>
                <a:spcPts val="200"/>
              </a:spcAft>
            </a:pPr>
            <a:r>
              <a:rPr sz="1050" b="0" i="0">
                <a:solidFill>
                  <a:srgbClr val="334155"/>
                </a:solidFill>
                <a:latin typeface="Calibri"/>
              </a:rPr>
              <a:t>Similarity, calibration, autonomous findings — local database</a:t>
            </a:r>
          </a:p>
        </p:txBody>
      </p:sp>
      <p:sp>
        <p:nvSpPr>
          <p:cNvPr id="17" name="Rectangle 16"/>
          <p:cNvSpPr/>
          <p:nvPr/>
        </p:nvSpPr>
        <p:spPr>
          <a:xfrm>
            <a:off x="685800" y="5074920"/>
            <a:ext cx="82296" cy="7315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07492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0F172A"/>
                </a:solidFill>
                <a:latin typeface="Calibri"/>
              </a:rPr>
              <a:t>BOM file parsing, exports, reports</a:t>
            </a:r>
          </a:p>
          <a:p>
            <a:pPr algn="l">
              <a:lnSpc>
                <a:spcPct val="105000"/>
              </a:lnSpc>
              <a:spcAft>
                <a:spcPts val="200"/>
              </a:spcAft>
            </a:pPr>
            <a:r>
              <a:rPr sz="1050" b="0" i="0">
                <a:solidFill>
                  <a:srgbClr val="334155"/>
                </a:solidFill>
                <a:latin typeface="Calibri"/>
              </a:rPr>
              <a:t>Local parsers, local PDF/Excel generation</a:t>
            </a:r>
          </a:p>
        </p:txBody>
      </p:sp>
      <p:sp>
        <p:nvSpPr>
          <p:cNvPr id="19" name="Rounded Rectangle 18"/>
          <p:cNvSpPr/>
          <p:nvPr/>
        </p:nvSpPr>
        <p:spPr>
          <a:xfrm>
            <a:off x="7589520" y="1828800"/>
            <a:ext cx="4206240" cy="4297680"/>
          </a:xfrm>
          <a:prstGeom prst="roundRect">
            <a:avLst>
              <a:gd name="adj" fmla="val 5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63840" y="2011680"/>
            <a:ext cx="36576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D97706"/>
                </a:solidFill>
                <a:latin typeface="Calibri"/>
              </a:rPr>
              <a:t>LEAVES TODAY — controlled ✓</a:t>
            </a:r>
          </a:p>
        </p:txBody>
      </p:sp>
      <p:sp>
        <p:nvSpPr>
          <p:cNvPr id="21" name="Rectangle 20"/>
          <p:cNvSpPr/>
          <p:nvPr/>
        </p:nvSpPr>
        <p:spPr>
          <a:xfrm>
            <a:off x="7863840" y="2468880"/>
            <a:ext cx="82296" cy="10058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92440" y="2468880"/>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0F172A"/>
                </a:solidFill>
                <a:latin typeface="Calibri"/>
              </a:rPr>
              <a:t>AI layer calls</a:t>
            </a:r>
          </a:p>
          <a:p>
            <a:pPr algn="l">
              <a:lnSpc>
                <a:spcPct val="105000"/>
              </a:lnSpc>
              <a:spcAft>
                <a:spcPts val="200"/>
              </a:spcAft>
            </a:pPr>
            <a:r>
              <a:rPr sz="1050" b="0" i="0">
                <a:solidFill>
                  <a:srgbClr val="334155"/>
                </a:solidFill>
                <a:latin typeface="Calibri"/>
              </a:rPr>
              <a:t>Photos + CAD-derived summaries. Private routing BUILT — one setting points every call at our endpoint</a:t>
            </a:r>
          </a:p>
        </p:txBody>
      </p:sp>
      <p:sp>
        <p:nvSpPr>
          <p:cNvPr id="23" name="Rectangle 22"/>
          <p:cNvSpPr/>
          <p:nvPr/>
        </p:nvSpPr>
        <p:spPr>
          <a:xfrm>
            <a:off x="7863840" y="3639312"/>
            <a:ext cx="82296" cy="100584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92440" y="3639312"/>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0F172A"/>
                </a:solidFill>
                <a:latin typeface="Calibri"/>
              </a:rPr>
              <a:t>Live part pricing (optional, OFF by default)</a:t>
            </a:r>
          </a:p>
          <a:p>
            <a:pPr algn="l">
              <a:lnSpc>
                <a:spcPct val="105000"/>
              </a:lnSpc>
              <a:spcAft>
                <a:spcPts val="200"/>
              </a:spcAft>
            </a:pPr>
            <a:r>
              <a:rPr sz="1050" b="0" i="0">
                <a:solidFill>
                  <a:srgbClr val="334155"/>
                </a:solidFill>
                <a:latin typeface="Calibri"/>
              </a:rPr>
              <a:t>Part-number text only — silenced by the air-gap switch</a:t>
            </a:r>
          </a:p>
        </p:txBody>
      </p:sp>
      <p:sp>
        <p:nvSpPr>
          <p:cNvPr id="25" name="Rectangle 24"/>
          <p:cNvSpPr/>
          <p:nvPr/>
        </p:nvSpPr>
        <p:spPr>
          <a:xfrm>
            <a:off x="7863840" y="4809744"/>
            <a:ext cx="82296" cy="100584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92440" y="4809744"/>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0F172A"/>
                </a:solidFill>
                <a:latin typeface="Calibri"/>
              </a:rPr>
              <a:t>News ticker feeds</a:t>
            </a:r>
          </a:p>
          <a:p>
            <a:pPr algn="l">
              <a:lnSpc>
                <a:spcPct val="105000"/>
              </a:lnSpc>
              <a:spcAft>
                <a:spcPts val="200"/>
              </a:spcAft>
            </a:pPr>
            <a:r>
              <a:rPr sz="1050" b="0" i="0">
                <a:solidFill>
                  <a:srgbClr val="334155"/>
                </a:solidFill>
                <a:latin typeface="Calibri"/>
              </a:rPr>
              <a:t>Public news, no company data — silenced by the air-gap switch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DECISION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Deployment options — our recommendation</a:t>
            </a:r>
          </a:p>
        </p:txBody>
      </p:sp>
      <p:sp>
        <p:nvSpPr>
          <p:cNvPr id="9" name="Rounded Rectangle 8"/>
          <p:cNvSpPr/>
          <p:nvPr/>
        </p:nvSpPr>
        <p:spPr>
          <a:xfrm>
            <a:off x="411480" y="1874519"/>
            <a:ext cx="3657600" cy="41148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3657600"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64748B"/>
                </a:solidFill>
                <a:latin typeface="Calibri"/>
              </a:rPr>
              <a:t>OPTION A</a:t>
            </a:r>
          </a:p>
        </p:txBody>
      </p:sp>
      <p:sp>
        <p:nvSpPr>
          <p:cNvPr id="12" name="TextBox 11"/>
          <p:cNvSpPr txBox="1"/>
          <p:nvPr/>
        </p:nvSpPr>
        <p:spPr>
          <a:xfrm>
            <a:off x="640080"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0F172A"/>
                </a:solidFill>
                <a:latin typeface="Calibri"/>
              </a:rPr>
              <a:t>Fully air-gapped</a:t>
            </a:r>
          </a:p>
        </p:txBody>
      </p:sp>
      <p:sp>
        <p:nvSpPr>
          <p:cNvPr id="13" name="TextBox 12"/>
          <p:cNvSpPr txBox="1"/>
          <p:nvPr/>
        </p:nvSpPr>
        <p:spPr>
          <a:xfrm>
            <a:off x="640080"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Everything on our VMs. AI features off via the built-in AIR-GAPPED switch (already implemented and tested). Deterministic engines fully working.</a:t>
            </a:r>
          </a:p>
        </p:txBody>
      </p:sp>
      <p:sp>
        <p:nvSpPr>
          <p:cNvPr id="14" name="TextBox 13"/>
          <p:cNvSpPr txBox="1"/>
          <p:nvPr/>
        </p:nvSpPr>
        <p:spPr>
          <a:xfrm>
            <a:off x="640080"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 </a:t>
            </a:r>
            <a:r>
              <a:rPr sz="1100" b="0" i="0">
                <a:solidFill>
                  <a:srgbClr val="334155"/>
                </a:solidFill>
                <a:latin typeface="Calibri"/>
              </a:rPr>
              <a:t>Zero external connections — provable today, switch is built</a:t>
            </a:r>
          </a:p>
        </p:txBody>
      </p:sp>
      <p:sp>
        <p:nvSpPr>
          <p:cNvPr id="15" name="TextBox 14"/>
          <p:cNvSpPr txBox="1"/>
          <p:nvPr/>
        </p:nvSpPr>
        <p:spPr>
          <a:xfrm>
            <a:off x="640080"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DC2626"/>
                </a:solidFill>
                <a:latin typeface="Calibri"/>
              </a:rPr>
              <a:t>– </a:t>
            </a:r>
            <a:r>
              <a:rPr sz="1100" b="0" i="0">
                <a:solidFill>
                  <a:srgbClr val="334155"/>
                </a:solidFill>
                <a:latin typeface="Calibri"/>
              </a:rPr>
              <a:t>Reduced AI capability</a:t>
            </a:r>
          </a:p>
        </p:txBody>
      </p:sp>
      <p:sp>
        <p:nvSpPr>
          <p:cNvPr id="16" name="Rounded Rectangle 15"/>
          <p:cNvSpPr/>
          <p:nvPr/>
        </p:nvSpPr>
        <p:spPr>
          <a:xfrm>
            <a:off x="4297680" y="1874519"/>
            <a:ext cx="3657600" cy="411480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97680" y="1874519"/>
            <a:ext cx="365760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26280"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2563EB"/>
                </a:solidFill>
                <a:latin typeface="Calibri"/>
              </a:rPr>
              <a:t>OPTION B  ★ RECOMMENDED</a:t>
            </a:r>
          </a:p>
        </p:txBody>
      </p:sp>
      <p:sp>
        <p:nvSpPr>
          <p:cNvPr id="19" name="TextBox 18"/>
          <p:cNvSpPr txBox="1"/>
          <p:nvPr/>
        </p:nvSpPr>
        <p:spPr>
          <a:xfrm>
            <a:off x="4526280"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0F172A"/>
                </a:solidFill>
                <a:latin typeface="Calibri"/>
              </a:rPr>
              <a:t>Private AI, on-prem core</a:t>
            </a:r>
          </a:p>
        </p:txBody>
      </p:sp>
      <p:sp>
        <p:nvSpPr>
          <p:cNvPr id="20" name="TextBox 19"/>
          <p:cNvSpPr txBox="1"/>
          <p:nvPr/>
        </p:nvSpPr>
        <p:spPr>
          <a:xfrm>
            <a:off x="4526280"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Platform on our VMs. AI calls go to Claude running in OUR OWN cloud tenancy over a private link — no public internet, no data retention.</a:t>
            </a:r>
          </a:p>
        </p:txBody>
      </p:sp>
      <p:sp>
        <p:nvSpPr>
          <p:cNvPr id="21" name="TextBox 20"/>
          <p:cNvSpPr txBox="1"/>
          <p:nvPr/>
        </p:nvSpPr>
        <p:spPr>
          <a:xfrm>
            <a:off x="4526280"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 </a:t>
            </a:r>
            <a:r>
              <a:rPr sz="1100" b="0" i="0">
                <a:solidFill>
                  <a:srgbClr val="334155"/>
                </a:solidFill>
                <a:latin typeface="Calibri"/>
              </a:rPr>
              <a:t>Full capability + data control — routing already BUILT (one setting)</a:t>
            </a:r>
          </a:p>
        </p:txBody>
      </p:sp>
      <p:sp>
        <p:nvSpPr>
          <p:cNvPr id="22" name="TextBox 21"/>
          <p:cNvSpPr txBox="1"/>
          <p:nvPr/>
        </p:nvSpPr>
        <p:spPr>
          <a:xfrm>
            <a:off x="4526280"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DC2626"/>
                </a:solidFill>
                <a:latin typeface="Calibri"/>
              </a:rPr>
              <a:t>– </a:t>
            </a:r>
            <a:r>
              <a:rPr sz="1100" b="0" i="0">
                <a:solidFill>
                  <a:srgbClr val="334155"/>
                </a:solidFill>
                <a:latin typeface="Calibri"/>
              </a:rPr>
              <a:t>Requires cloud tenancy sign-off</a:t>
            </a:r>
          </a:p>
        </p:txBody>
      </p:sp>
      <p:sp>
        <p:nvSpPr>
          <p:cNvPr id="23" name="Rounded Rectangle 22"/>
          <p:cNvSpPr/>
          <p:nvPr/>
        </p:nvSpPr>
        <p:spPr>
          <a:xfrm>
            <a:off x="8183879" y="1874519"/>
            <a:ext cx="3657600" cy="41148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83879" y="1874519"/>
            <a:ext cx="3657600" cy="82296"/>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79"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DC2626"/>
                </a:solidFill>
                <a:latin typeface="Calibri"/>
              </a:rPr>
              <a:t>OPTION C</a:t>
            </a:r>
          </a:p>
        </p:txBody>
      </p:sp>
      <p:sp>
        <p:nvSpPr>
          <p:cNvPr id="26" name="TextBox 25"/>
          <p:cNvSpPr txBox="1"/>
          <p:nvPr/>
        </p:nvSpPr>
        <p:spPr>
          <a:xfrm>
            <a:off x="8412479"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0F172A"/>
                </a:solidFill>
                <a:latin typeface="Calibri"/>
              </a:rPr>
              <a:t>Public AI API</a:t>
            </a:r>
          </a:p>
        </p:txBody>
      </p:sp>
      <p:sp>
        <p:nvSpPr>
          <p:cNvPr id="27" name="TextBox 26"/>
          <p:cNvSpPr txBox="1"/>
          <p:nvPr/>
        </p:nvSpPr>
        <p:spPr>
          <a:xfrm>
            <a:off x="8412479"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Platform on-prem but AI calls to the public API.</a:t>
            </a:r>
          </a:p>
        </p:txBody>
      </p:sp>
      <p:sp>
        <p:nvSpPr>
          <p:cNvPr id="28" name="TextBox 27"/>
          <p:cNvSpPr txBox="1"/>
          <p:nvPr/>
        </p:nvSpPr>
        <p:spPr>
          <a:xfrm>
            <a:off x="8412479"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 </a:t>
            </a:r>
            <a:r>
              <a:rPr sz="1100" b="0" i="0">
                <a:solidFill>
                  <a:srgbClr val="334155"/>
                </a:solidFill>
                <a:latin typeface="Calibri"/>
              </a:rPr>
              <a:t>Simplest</a:t>
            </a:r>
          </a:p>
        </p:txBody>
      </p:sp>
      <p:sp>
        <p:nvSpPr>
          <p:cNvPr id="29" name="TextBox 28"/>
          <p:cNvSpPr txBox="1"/>
          <p:nvPr/>
        </p:nvSpPr>
        <p:spPr>
          <a:xfrm>
            <a:off x="8412479"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DC2626"/>
                </a:solidFill>
                <a:latin typeface="Calibri"/>
              </a:rPr>
              <a:t>– </a:t>
            </a:r>
            <a:r>
              <a:rPr sz="1100" b="0" i="0">
                <a:solidFill>
                  <a:srgbClr val="334155"/>
                </a:solidFill>
                <a:latin typeface="Calibri"/>
              </a:rPr>
              <a:t>Fails our requirement — photos would traverse a public API</a:t>
            </a:r>
          </a:p>
        </p:txBody>
      </p:sp>
      <p:sp>
        <p:nvSpPr>
          <p:cNvPr id="30" name="TextBox 29"/>
          <p:cNvSpPr txBox="1"/>
          <p:nvPr/>
        </p:nvSpPr>
        <p:spPr>
          <a:xfrm>
            <a:off x="411480" y="6172200"/>
            <a:ext cx="113385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Recommendation: Option B — the software for BOTH A and B is already built; what remains is infrastructure sign-off.</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ARCHITECTURE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Target architecture — everything inside our walls</a:t>
            </a:r>
          </a:p>
        </p:txBody>
      </p:sp>
      <p:sp>
        <p:nvSpPr>
          <p:cNvPr id="9" name="Rounded Rectangle 8"/>
          <p:cNvSpPr/>
          <p:nvPr/>
        </p:nvSpPr>
        <p:spPr>
          <a:xfrm>
            <a:off x="411480" y="1783080"/>
            <a:ext cx="8412480" cy="4526280"/>
          </a:xfrm>
          <a:prstGeom prst="roundRect">
            <a:avLst>
              <a:gd name="adj" fmla="val 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874519"/>
            <a:ext cx="77724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64748B"/>
                </a:solidFill>
                <a:latin typeface="Calibri"/>
              </a:rPr>
              <a:t>COMPANY INTERNAL NETWORK</a:t>
            </a:r>
          </a:p>
        </p:txBody>
      </p:sp>
      <p:sp>
        <p:nvSpPr>
          <p:cNvPr id="11" name="Rounded Rectangle 10"/>
          <p:cNvSpPr/>
          <p:nvPr/>
        </p:nvSpPr>
        <p:spPr>
          <a:xfrm>
            <a:off x="777240" y="2240280"/>
            <a:ext cx="3657600" cy="6858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2563EB"/>
                </a:solidFill>
                <a:latin typeface="Calibri"/>
              </a:rPr>
              <a:t>Engineers (browser)  +  CAPEE</a:t>
            </a:r>
          </a:p>
          <a:p>
            <a:pPr algn="l"/>
            <a:r>
              <a:rPr sz="950">
                <a:solidFill>
                  <a:srgbClr val="334155"/>
                </a:solidFill>
                <a:latin typeface="Calibri"/>
              </a:rPr>
              <a:t>single sign-on (Azure AD)</a:t>
            </a:r>
          </a:p>
        </p:txBody>
      </p:sp>
      <p:sp>
        <p:nvSpPr>
          <p:cNvPr id="12" name="Rectangle 11"/>
          <p:cNvSpPr/>
          <p:nvPr/>
        </p:nvSpPr>
        <p:spPr>
          <a:xfrm>
            <a:off x="777240" y="2240280"/>
            <a:ext cx="64008" cy="685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709160" y="2240280"/>
            <a:ext cx="3840480" cy="6858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4F46E5"/>
                </a:solidFill>
                <a:latin typeface="Calibri"/>
              </a:rPr>
              <a:t>Corporate API Gateway</a:t>
            </a:r>
          </a:p>
          <a:p>
            <a:pPr algn="l"/>
            <a:r>
              <a:rPr sz="950">
                <a:solidFill>
                  <a:srgbClr val="334155"/>
                </a:solidFill>
                <a:latin typeface="Calibri"/>
              </a:rPr>
              <a:t>authentication · rate limits · audit logs</a:t>
            </a:r>
          </a:p>
        </p:txBody>
      </p:sp>
      <p:sp>
        <p:nvSpPr>
          <p:cNvPr id="14" name="Rectangle 13"/>
          <p:cNvSpPr/>
          <p:nvPr/>
        </p:nvSpPr>
        <p:spPr>
          <a:xfrm>
            <a:off x="4709160" y="2240280"/>
            <a:ext cx="64008" cy="68580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own Arrow 14"/>
          <p:cNvSpPr/>
          <p:nvPr/>
        </p:nvSpPr>
        <p:spPr>
          <a:xfrm>
            <a:off x="2468880" y="2999232"/>
            <a:ext cx="292608" cy="292608"/>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own Arrow 15"/>
          <p:cNvSpPr/>
          <p:nvPr/>
        </p:nvSpPr>
        <p:spPr>
          <a:xfrm>
            <a:off x="6492240" y="2999232"/>
            <a:ext cx="292608" cy="292608"/>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77240" y="3364992"/>
            <a:ext cx="7772400" cy="96012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7C3AED"/>
                </a:solidFill>
                <a:latin typeface="Calibri"/>
              </a:rPr>
              <a:t>CostVision server (frontend + backend on our VM)</a:t>
            </a:r>
          </a:p>
          <a:p>
            <a:pPr algn="l"/>
            <a:r>
              <a:rPr sz="950">
                <a:solidFill>
                  <a:srgbClr val="334155"/>
                </a:solidFill>
                <a:latin typeface="Calibri"/>
              </a:rPr>
              <a:t>geometry engine (CAD, in-memory) · 18 cost engines · learning loop · report generation</a:t>
            </a:r>
          </a:p>
        </p:txBody>
      </p:sp>
      <p:sp>
        <p:nvSpPr>
          <p:cNvPr id="18" name="Rectangle 17"/>
          <p:cNvSpPr/>
          <p:nvPr/>
        </p:nvSpPr>
        <p:spPr>
          <a:xfrm>
            <a:off x="777240" y="3364992"/>
            <a:ext cx="64008" cy="9601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own Arrow 18"/>
          <p:cNvSpPr/>
          <p:nvPr/>
        </p:nvSpPr>
        <p:spPr>
          <a:xfrm>
            <a:off x="2468880" y="4407408"/>
            <a:ext cx="292608" cy="292608"/>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wn Arrow 19"/>
          <p:cNvSpPr/>
          <p:nvPr/>
        </p:nvSpPr>
        <p:spPr>
          <a:xfrm>
            <a:off x="6492240" y="4407408"/>
            <a:ext cx="292608" cy="292608"/>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77240" y="4773168"/>
            <a:ext cx="3657600" cy="77724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891B2"/>
                </a:solidFill>
                <a:latin typeface="Calibri"/>
              </a:rPr>
              <a:t>Corporate database (PostgreSQL)</a:t>
            </a:r>
          </a:p>
          <a:p>
            <a:pPr algn="l"/>
            <a:r>
              <a:rPr sz="950">
                <a:solidFill>
                  <a:srgbClr val="334155"/>
                </a:solidFill>
                <a:latin typeface="Calibri"/>
              </a:rPr>
              <a:t>rates · knowledge base · encrypted at rest</a:t>
            </a:r>
          </a:p>
        </p:txBody>
      </p:sp>
      <p:sp>
        <p:nvSpPr>
          <p:cNvPr id="22" name="Rectangle 21"/>
          <p:cNvSpPr/>
          <p:nvPr/>
        </p:nvSpPr>
        <p:spPr>
          <a:xfrm>
            <a:off x="777240" y="4773168"/>
            <a:ext cx="64008" cy="77724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09160" y="4773168"/>
            <a:ext cx="3840480" cy="77724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D97706"/>
                </a:solidFill>
                <a:latin typeface="Calibri"/>
              </a:rPr>
              <a:t>Internal AI gateway</a:t>
            </a:r>
          </a:p>
          <a:p>
            <a:pPr algn="l"/>
            <a:r>
              <a:rPr sz="950">
                <a:solidFill>
                  <a:srgbClr val="334155"/>
                </a:solidFill>
                <a:latin typeface="Calibri"/>
              </a:rPr>
              <a:t>ONLY allowed exit · inspected · logged</a:t>
            </a:r>
          </a:p>
        </p:txBody>
      </p:sp>
      <p:sp>
        <p:nvSpPr>
          <p:cNvPr id="24" name="Rectangle 23"/>
          <p:cNvSpPr/>
          <p:nvPr/>
        </p:nvSpPr>
        <p:spPr>
          <a:xfrm>
            <a:off x="4709160" y="4773168"/>
            <a:ext cx="64008" cy="7772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144000" y="4480560"/>
            <a:ext cx="2651760" cy="1828800"/>
          </a:xfrm>
          <a:prstGeom prst="roundRect">
            <a:avLst>
              <a:gd name="adj" fmla="val 8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0" y="4617720"/>
            <a:ext cx="2286000" cy="1645920"/>
          </a:xfrm>
          <a:prstGeom prst="rect">
            <a:avLst/>
          </a:prstGeom>
          <a:noFill/>
        </p:spPr>
        <p:txBody>
          <a:bodyPr wrap="square" anchor="t" lIns="0" rIns="0" tIns="0" bIns="0">
            <a:spAutoFit/>
          </a:bodyPr>
          <a:lstStyle/>
          <a:p>
            <a:pPr algn="l">
              <a:lnSpc>
                <a:spcPct val="110000"/>
              </a:lnSpc>
              <a:spcAft>
                <a:spcPts val="400"/>
              </a:spcAft>
            </a:pPr>
            <a:r>
              <a:rPr sz="1250" b="1" i="0">
                <a:solidFill>
                  <a:srgbClr val="2563EB"/>
                </a:solidFill>
                <a:latin typeface="Calibri"/>
              </a:rPr>
              <a:t>Our cloud tenancy</a:t>
            </a:r>
          </a:p>
          <a:p>
            <a:pPr algn="l">
              <a:lnSpc>
                <a:spcPct val="110000"/>
              </a:lnSpc>
              <a:spcAft>
                <a:spcPts val="400"/>
              </a:spcAft>
            </a:pPr>
            <a:r>
              <a:rPr sz="1050" b="0" i="0">
                <a:solidFill>
                  <a:srgbClr val="334155"/>
                </a:solidFill>
                <a:latin typeface="Calibri"/>
              </a:rPr>
              <a:t>Claude on AWS Bedrock / Google Vertex</a:t>
            </a:r>
          </a:p>
          <a:p>
            <a:pPr algn="l">
              <a:lnSpc>
                <a:spcPct val="110000"/>
              </a:lnSpc>
              <a:spcAft>
                <a:spcPts val="400"/>
              </a:spcAft>
            </a:pPr>
            <a:r>
              <a:rPr sz="1000" b="0" i="0">
                <a:solidFill>
                  <a:srgbClr val="64748B"/>
                </a:solidFill>
                <a:latin typeface="Calibri"/>
              </a:rPr>
              <a:t>private link · no public internet · zero data retention</a:t>
            </a:r>
          </a:p>
        </p:txBody>
      </p:sp>
      <p:sp>
        <p:nvSpPr>
          <p:cNvPr id="27" name="Right Arrow 26"/>
          <p:cNvSpPr/>
          <p:nvPr/>
        </p:nvSpPr>
        <p:spPr>
          <a:xfrm>
            <a:off x="8613648" y="5029200"/>
            <a:ext cx="502920" cy="274320"/>
          </a:xfrm>
          <a:prstGeom prst="rightArrow">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44000" y="2240280"/>
            <a:ext cx="2651760" cy="2011680"/>
          </a:xfrm>
          <a:prstGeom prst="rect">
            <a:avLst/>
          </a:prstGeom>
          <a:noFill/>
        </p:spPr>
        <p:txBody>
          <a:bodyPr wrap="square" anchor="t" lIns="0" rIns="0" tIns="0" bIns="0">
            <a:spAutoFit/>
          </a:bodyPr>
          <a:lstStyle/>
          <a:p>
            <a:pPr algn="l">
              <a:lnSpc>
                <a:spcPct val="110000"/>
              </a:lnSpc>
              <a:spcAft>
                <a:spcPts val="400"/>
              </a:spcAft>
            </a:pPr>
            <a:r>
              <a:rPr sz="1250" b="1" i="0">
                <a:solidFill>
                  <a:srgbClr val="0F172A"/>
                </a:solidFill>
                <a:latin typeface="Calibri"/>
              </a:rPr>
              <a:t>Zero-trust rules</a:t>
            </a:r>
          </a:p>
          <a:p>
            <a:pPr algn="l">
              <a:lnSpc>
                <a:spcPct val="110000"/>
              </a:lnSpc>
              <a:spcAft>
                <a:spcPts val="400"/>
              </a:spcAft>
            </a:pPr>
            <a:r>
              <a:rPr sz="1050" b="0" i="0">
                <a:solidFill>
                  <a:srgbClr val="334155"/>
                </a:solidFill>
                <a:latin typeface="Calibri"/>
              </a:rPr>
              <a:t>• Every request authenticated (Azure AD)</a:t>
            </a:r>
          </a:p>
          <a:p>
            <a:pPr algn="l">
              <a:lnSpc>
                <a:spcPct val="110000"/>
              </a:lnSpc>
              <a:spcAft>
                <a:spcPts val="400"/>
              </a:spcAft>
            </a:pPr>
            <a:r>
              <a:rPr sz="1050" b="0" i="0">
                <a:solidFill>
                  <a:srgbClr val="334155"/>
                </a:solidFill>
                <a:latin typeface="Calibri"/>
              </a:rPr>
              <a:t>• Deny-all egress except the AI gateway</a:t>
            </a:r>
          </a:p>
          <a:p>
            <a:pPr algn="l">
              <a:lnSpc>
                <a:spcPct val="110000"/>
              </a:lnSpc>
              <a:spcAft>
                <a:spcPts val="400"/>
              </a:spcAft>
            </a:pPr>
            <a:r>
              <a:rPr sz="1050" b="0" i="0">
                <a:solidFill>
                  <a:srgbClr val="334155"/>
                </a:solidFill>
                <a:latin typeface="Calibri"/>
              </a:rPr>
              <a:t>• Role-based access (engineer / lead / admin / CAPEE service)</a:t>
            </a:r>
          </a:p>
          <a:p>
            <a:pPr algn="l">
              <a:lnSpc>
                <a:spcPct val="110000"/>
              </a:lnSpc>
              <a:spcAft>
                <a:spcPts val="400"/>
              </a:spcAft>
            </a:pPr>
            <a:r>
              <a:rPr sz="1050" b="0" i="0">
                <a:solidFill>
                  <a:srgbClr val="334155"/>
                </a:solidFill>
                <a:latin typeface="Calibri"/>
              </a:rPr>
              <a:t>• CAD pulled from PLM vault, never stored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CAD DATA PROTECTION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How CAD data is protected</a:t>
            </a:r>
          </a:p>
        </p:txBody>
      </p:sp>
      <p:sp>
        <p:nvSpPr>
          <p:cNvPr id="9" name="Rounded Rectangle 8"/>
          <p:cNvSpPr/>
          <p:nvPr/>
        </p:nvSpPr>
        <p:spPr>
          <a:xfrm>
            <a:off x="411480" y="1920240"/>
            <a:ext cx="11384280" cy="566928"/>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29968"/>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CAD model opened &amp; measured</a:t>
            </a:r>
          </a:p>
        </p:txBody>
      </p:sp>
      <p:sp>
        <p:nvSpPr>
          <p:cNvPr id="11" name="TextBox 10"/>
          <p:cNvSpPr txBox="1"/>
          <p:nvPr/>
        </p:nvSpPr>
        <p:spPr>
          <a:xfrm>
            <a:off x="5303520" y="2029968"/>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Inside our backend (OCCT engine)</a:t>
            </a:r>
          </a:p>
        </p:txBody>
      </p:sp>
      <p:sp>
        <p:nvSpPr>
          <p:cNvPr id="12" name="TextBox 11"/>
          <p:cNvSpPr txBox="1"/>
          <p:nvPr/>
        </p:nvSpPr>
        <p:spPr>
          <a:xfrm>
            <a:off x="8869680" y="2029968"/>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Already local — verified</a:t>
            </a:r>
          </a:p>
        </p:txBody>
      </p:sp>
      <p:sp>
        <p:nvSpPr>
          <p:cNvPr id="13" name="Rounded Rectangle 12"/>
          <p:cNvSpPr/>
          <p:nvPr/>
        </p:nvSpPr>
        <p:spPr>
          <a:xfrm>
            <a:off x="411480" y="2587752"/>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697480"/>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Feature detection (holes, threads, walls)</a:t>
            </a:r>
          </a:p>
        </p:txBody>
      </p:sp>
      <p:sp>
        <p:nvSpPr>
          <p:cNvPr id="15" name="TextBox 14"/>
          <p:cNvSpPr txBox="1"/>
          <p:nvPr/>
        </p:nvSpPr>
        <p:spPr>
          <a:xfrm>
            <a:off x="5303520" y="2697480"/>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Inside our backend</a:t>
            </a:r>
          </a:p>
        </p:txBody>
      </p:sp>
      <p:sp>
        <p:nvSpPr>
          <p:cNvPr id="16" name="TextBox 15"/>
          <p:cNvSpPr txBox="1"/>
          <p:nvPr/>
        </p:nvSpPr>
        <p:spPr>
          <a:xfrm>
            <a:off x="8869680" y="2697480"/>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Already local — verified</a:t>
            </a:r>
          </a:p>
        </p:txBody>
      </p:sp>
      <p:sp>
        <p:nvSpPr>
          <p:cNvPr id="17" name="Rounded Rectangle 16"/>
          <p:cNvSpPr/>
          <p:nvPr/>
        </p:nvSpPr>
        <p:spPr>
          <a:xfrm>
            <a:off x="411480" y="3255264"/>
            <a:ext cx="11384280" cy="566928"/>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364992"/>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BOM extraction from files</a:t>
            </a:r>
          </a:p>
        </p:txBody>
      </p:sp>
      <p:sp>
        <p:nvSpPr>
          <p:cNvPr id="19" name="TextBox 18"/>
          <p:cNvSpPr txBox="1"/>
          <p:nvPr/>
        </p:nvSpPr>
        <p:spPr>
          <a:xfrm>
            <a:off x="5303520" y="3364992"/>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Inside our backend (local parsers)</a:t>
            </a:r>
          </a:p>
        </p:txBody>
      </p:sp>
      <p:sp>
        <p:nvSpPr>
          <p:cNvPr id="20" name="TextBox 19"/>
          <p:cNvSpPr txBox="1"/>
          <p:nvPr/>
        </p:nvSpPr>
        <p:spPr>
          <a:xfrm>
            <a:off x="8869680" y="3364992"/>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Already local — verified</a:t>
            </a:r>
          </a:p>
        </p:txBody>
      </p:sp>
      <p:sp>
        <p:nvSpPr>
          <p:cNvPr id="21" name="Rounded Rectangle 20"/>
          <p:cNvSpPr/>
          <p:nvPr/>
        </p:nvSpPr>
        <p:spPr>
          <a:xfrm>
            <a:off x="411480" y="3922776"/>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032504"/>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Cost calculation &amp; learning</a:t>
            </a:r>
          </a:p>
        </p:txBody>
      </p:sp>
      <p:sp>
        <p:nvSpPr>
          <p:cNvPr id="23" name="TextBox 22"/>
          <p:cNvSpPr txBox="1"/>
          <p:nvPr/>
        </p:nvSpPr>
        <p:spPr>
          <a:xfrm>
            <a:off x="5303520" y="4032504"/>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Inside our backend + our database</a:t>
            </a:r>
          </a:p>
        </p:txBody>
      </p:sp>
      <p:sp>
        <p:nvSpPr>
          <p:cNvPr id="24" name="TextBox 23"/>
          <p:cNvSpPr txBox="1"/>
          <p:nvPr/>
        </p:nvSpPr>
        <p:spPr>
          <a:xfrm>
            <a:off x="8869680" y="4032504"/>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Already local — verified</a:t>
            </a:r>
          </a:p>
        </p:txBody>
      </p:sp>
      <p:sp>
        <p:nvSpPr>
          <p:cNvPr id="25" name="Rounded Rectangle 24"/>
          <p:cNvSpPr/>
          <p:nvPr/>
        </p:nvSpPr>
        <p:spPr>
          <a:xfrm>
            <a:off x="411480" y="4590288"/>
            <a:ext cx="11384280" cy="566928"/>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700016"/>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Photo analysis &amp; AI narrative</a:t>
            </a:r>
          </a:p>
        </p:txBody>
      </p:sp>
      <p:sp>
        <p:nvSpPr>
          <p:cNvPr id="27" name="TextBox 26"/>
          <p:cNvSpPr txBox="1"/>
          <p:nvPr/>
        </p:nvSpPr>
        <p:spPr>
          <a:xfrm>
            <a:off x="5303520" y="4700016"/>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Private AI endpoint (Option B)</a:t>
            </a:r>
          </a:p>
        </p:txBody>
      </p:sp>
      <p:sp>
        <p:nvSpPr>
          <p:cNvPr id="28" name="TextBox 27"/>
          <p:cNvSpPr txBox="1"/>
          <p:nvPr/>
        </p:nvSpPr>
        <p:spPr>
          <a:xfrm>
            <a:off x="8869680" y="4700016"/>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D97706"/>
                </a:solidFill>
                <a:latin typeface="Calibri"/>
              </a:rPr>
              <a:t>→  Routing BUILT — set one value</a:t>
            </a:r>
          </a:p>
        </p:txBody>
      </p:sp>
      <p:sp>
        <p:nvSpPr>
          <p:cNvPr id="29" name="Rounded Rectangle 28"/>
          <p:cNvSpPr/>
          <p:nvPr/>
        </p:nvSpPr>
        <p:spPr>
          <a:xfrm>
            <a:off x="411480" y="5257800"/>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5367528"/>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CAD file storage</a:t>
            </a:r>
          </a:p>
        </p:txBody>
      </p:sp>
      <p:sp>
        <p:nvSpPr>
          <p:cNvPr id="31" name="TextBox 30"/>
          <p:cNvSpPr txBox="1"/>
          <p:nvPr/>
        </p:nvSpPr>
        <p:spPr>
          <a:xfrm>
            <a:off x="5303520" y="5367528"/>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Nowhere — processed in memory only</a:t>
            </a:r>
          </a:p>
        </p:txBody>
      </p:sp>
      <p:sp>
        <p:nvSpPr>
          <p:cNvPr id="32" name="TextBox 31"/>
          <p:cNvSpPr txBox="1"/>
          <p:nvPr/>
        </p:nvSpPr>
        <p:spPr>
          <a:xfrm>
            <a:off x="8869680" y="5367528"/>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Files never written to disk</a:t>
            </a:r>
          </a:p>
        </p:txBody>
      </p:sp>
      <p:sp>
        <p:nvSpPr>
          <p:cNvPr id="33" name="TextBox 32"/>
          <p:cNvSpPr txBox="1"/>
          <p:nvPr/>
        </p:nvSpPr>
        <p:spPr>
          <a:xfrm>
            <a:off x="411480" y="6035040"/>
            <a:ext cx="11338560" cy="548640"/>
          </a:xfrm>
          <a:prstGeom prst="rect">
            <a:avLst/>
          </a:prstGeom>
          <a:noFill/>
        </p:spPr>
        <p:txBody>
          <a:bodyPr wrap="square" anchor="t" lIns="0" rIns="0" tIns="0" bIns="0">
            <a:spAutoFit/>
          </a:bodyPr>
          <a:lstStyle/>
          <a:p>
            <a:pPr algn="l">
              <a:lnSpc>
                <a:spcPct val="115000"/>
              </a:lnSpc>
              <a:spcAft>
                <a:spcPts val="400"/>
              </a:spcAft>
            </a:pPr>
            <a:r>
              <a:rPr sz="1200" b="0" i="1">
                <a:solidFill>
                  <a:srgbClr val="64748B"/>
                </a:solidFill>
                <a:latin typeface="Calibri"/>
              </a:rPr>
              <a:t>Plus: logs never contain CAD payloads; metadata goes to the corporate SIEM; and the "air-gapped" switch is now BUILT &amp; tested — security can PROVE zero egress in a witnessed firewall test.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INTEGRATION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CAPEE + CostVision — better together</a:t>
            </a:r>
          </a:p>
        </p:txBody>
      </p:sp>
      <p:sp>
        <p:nvSpPr>
          <p:cNvPr id="9" name="Rounded Rectangle 8"/>
          <p:cNvSpPr/>
          <p:nvPr/>
        </p:nvSpPr>
        <p:spPr>
          <a:xfrm>
            <a:off x="411480" y="1828800"/>
            <a:ext cx="5120640" cy="192024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11680"/>
            <a:ext cx="4572000" cy="1645920"/>
          </a:xfrm>
          <a:prstGeom prst="rect">
            <a:avLst/>
          </a:prstGeom>
          <a:noFill/>
        </p:spPr>
        <p:txBody>
          <a:bodyPr wrap="square" anchor="t" lIns="0" rIns="0" tIns="0" bIns="0">
            <a:spAutoFit/>
          </a:bodyPr>
          <a:lstStyle/>
          <a:p>
            <a:pPr algn="l">
              <a:lnSpc>
                <a:spcPct val="112000"/>
              </a:lnSpc>
              <a:spcAft>
                <a:spcPts val="500"/>
              </a:spcAft>
            </a:pPr>
            <a:r>
              <a:rPr sz="1500" b="1" i="0">
                <a:solidFill>
                  <a:srgbClr val="0F172A"/>
                </a:solidFill>
                <a:latin typeface="Calibri"/>
              </a:rPr>
              <a:t>CAPEE  (stays the front door)</a:t>
            </a:r>
          </a:p>
          <a:p>
            <a:pPr algn="l">
              <a:lnSpc>
                <a:spcPct val="112000"/>
              </a:lnSpc>
              <a:spcAft>
                <a:spcPts val="500"/>
              </a:spcAft>
            </a:pPr>
            <a:r>
              <a:rPr sz="1200" b="0" i="0">
                <a:solidFill>
                  <a:srgbClr val="334155"/>
                </a:solidFill>
                <a:latin typeface="Calibri"/>
              </a:rPr>
              <a:t>• Costing workflow, approvals, reporting</a:t>
            </a:r>
          </a:p>
          <a:p>
            <a:pPr algn="l">
              <a:lnSpc>
                <a:spcPct val="112000"/>
              </a:lnSpc>
              <a:spcAft>
                <a:spcPts val="500"/>
              </a:spcAft>
            </a:pPr>
            <a:r>
              <a:rPr sz="1200" b="0" i="0">
                <a:solidFill>
                  <a:srgbClr val="334155"/>
                </a:solidFill>
                <a:latin typeface="Calibri"/>
              </a:rPr>
              <a:t>• System of record — unchanged for users</a:t>
            </a:r>
          </a:p>
          <a:p>
            <a:pPr algn="l">
              <a:lnSpc>
                <a:spcPct val="112000"/>
              </a:lnSpc>
              <a:spcAft>
                <a:spcPts val="500"/>
              </a:spcAft>
            </a:pPr>
            <a:r>
              <a:rPr sz="1200" b="0" i="0">
                <a:solidFill>
                  <a:srgbClr val="334155"/>
                </a:solidFill>
                <a:latin typeface="Calibri"/>
              </a:rPr>
              <a:t>• Calls CostVision services behind the scenes</a:t>
            </a:r>
          </a:p>
        </p:txBody>
      </p:sp>
      <p:sp>
        <p:nvSpPr>
          <p:cNvPr id="11" name="Rounded Rectangle 10"/>
          <p:cNvSpPr/>
          <p:nvPr/>
        </p:nvSpPr>
        <p:spPr>
          <a:xfrm>
            <a:off x="6675120" y="1828800"/>
            <a:ext cx="5120640" cy="192024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49440" y="2011680"/>
            <a:ext cx="4572000" cy="1645920"/>
          </a:xfrm>
          <a:prstGeom prst="rect">
            <a:avLst/>
          </a:prstGeom>
          <a:noFill/>
        </p:spPr>
        <p:txBody>
          <a:bodyPr wrap="square" anchor="t" lIns="0" rIns="0" tIns="0" bIns="0">
            <a:spAutoFit/>
          </a:bodyPr>
          <a:lstStyle/>
          <a:p>
            <a:pPr algn="l">
              <a:lnSpc>
                <a:spcPct val="112000"/>
              </a:lnSpc>
              <a:spcAft>
                <a:spcPts val="500"/>
              </a:spcAft>
            </a:pPr>
            <a:r>
              <a:rPr sz="1500" b="1" i="0">
                <a:solidFill>
                  <a:srgbClr val="2563EB"/>
                </a:solidFill>
                <a:latin typeface="Calibri"/>
              </a:rPr>
              <a:t>CostVision  (the engine behind it)</a:t>
            </a:r>
          </a:p>
          <a:p>
            <a:pPr algn="l">
              <a:lnSpc>
                <a:spcPct val="112000"/>
              </a:lnSpc>
              <a:spcAft>
                <a:spcPts val="500"/>
              </a:spcAft>
            </a:pPr>
            <a:r>
              <a:rPr sz="1200" b="0" i="0">
                <a:solidFill>
                  <a:srgbClr val="334155"/>
                </a:solidFill>
                <a:latin typeface="Calibri"/>
              </a:rPr>
              <a:t>• 18 physics cost engines + CAD reading</a:t>
            </a:r>
          </a:p>
          <a:p>
            <a:pPr algn="l">
              <a:lnSpc>
                <a:spcPct val="112000"/>
              </a:lnSpc>
              <a:spcAft>
                <a:spcPts val="500"/>
              </a:spcAft>
            </a:pPr>
            <a:r>
              <a:rPr sz="1200" b="0" i="0">
                <a:solidFill>
                  <a:srgbClr val="334155"/>
                </a:solidFill>
                <a:latin typeface="Calibri"/>
              </a:rPr>
              <a:t>• AI memory: similar parts, self-calibration</a:t>
            </a:r>
          </a:p>
          <a:p>
            <a:pPr algn="l">
              <a:lnSpc>
                <a:spcPct val="112000"/>
              </a:lnSpc>
              <a:spcAft>
                <a:spcPts val="500"/>
              </a:spcAft>
            </a:pPr>
            <a:r>
              <a:rPr sz="1200" b="0" i="0">
                <a:solidFill>
                  <a:srgbClr val="334155"/>
                </a:solidFill>
                <a:latin typeface="Calibri"/>
              </a:rPr>
              <a:t>• Autonomous findings for sourcing</a:t>
            </a:r>
          </a:p>
        </p:txBody>
      </p:sp>
      <p:sp>
        <p:nvSpPr>
          <p:cNvPr id="13" name="Right Arrow 12"/>
          <p:cNvSpPr/>
          <p:nvPr/>
        </p:nvSpPr>
        <p:spPr>
          <a:xfrm>
            <a:off x="5623560" y="2240280"/>
            <a:ext cx="960120" cy="365760"/>
          </a:xfrm>
          <a:prstGeom prst="rightArrow">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Left Arrow 13"/>
          <p:cNvSpPr/>
          <p:nvPr/>
        </p:nvSpPr>
        <p:spPr>
          <a:xfrm>
            <a:off x="5623560" y="2880360"/>
            <a:ext cx="960120" cy="365760"/>
          </a:xfrm>
          <a:prstGeom prst="leftArrow">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40680" y="1920240"/>
            <a:ext cx="1371600" cy="274320"/>
          </a:xfrm>
          <a:prstGeom prst="rect">
            <a:avLst/>
          </a:prstGeom>
          <a:noFill/>
        </p:spPr>
        <p:txBody>
          <a:bodyPr wrap="square" anchor="t" lIns="0" rIns="0" tIns="0" bIns="0">
            <a:spAutoFit/>
          </a:bodyPr>
          <a:lstStyle/>
          <a:p>
            <a:pPr algn="ctr">
              <a:lnSpc>
                <a:spcPct val="100000"/>
              </a:lnSpc>
              <a:spcAft>
                <a:spcPts val="400"/>
              </a:spcAft>
            </a:pPr>
            <a:r>
              <a:rPr sz="950" b="1" i="0">
                <a:solidFill>
                  <a:srgbClr val="2563EB"/>
                </a:solidFill>
                <a:latin typeface="Calibri"/>
              </a:rPr>
              <a:t>requests</a:t>
            </a:r>
          </a:p>
        </p:txBody>
      </p:sp>
      <p:sp>
        <p:nvSpPr>
          <p:cNvPr id="16" name="TextBox 15"/>
          <p:cNvSpPr txBox="1"/>
          <p:nvPr/>
        </p:nvSpPr>
        <p:spPr>
          <a:xfrm>
            <a:off x="5440680" y="3291840"/>
            <a:ext cx="1371600" cy="274320"/>
          </a:xfrm>
          <a:prstGeom prst="rect">
            <a:avLst/>
          </a:prstGeom>
          <a:noFill/>
        </p:spPr>
        <p:txBody>
          <a:bodyPr wrap="square" anchor="t" lIns="0" rIns="0" tIns="0" bIns="0">
            <a:spAutoFit/>
          </a:bodyPr>
          <a:lstStyle/>
          <a:p>
            <a:pPr algn="ctr">
              <a:lnSpc>
                <a:spcPct val="100000"/>
              </a:lnSpc>
              <a:spcAft>
                <a:spcPts val="400"/>
              </a:spcAft>
            </a:pPr>
            <a:r>
              <a:rPr sz="950" b="1" i="0">
                <a:solidFill>
                  <a:srgbClr val="059669"/>
                </a:solidFill>
                <a:latin typeface="Calibri"/>
              </a:rPr>
              <a:t>AI answers</a:t>
            </a:r>
          </a:p>
        </p:txBody>
      </p:sp>
      <p:sp>
        <p:nvSpPr>
          <p:cNvPr id="17" name="Rounded Rectangle 16"/>
          <p:cNvSpPr/>
          <p:nvPr/>
        </p:nvSpPr>
        <p:spPr>
          <a:xfrm>
            <a:off x="411480" y="4114800"/>
            <a:ext cx="11384280" cy="210312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297680"/>
            <a:ext cx="1088136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F172A"/>
                </a:solidFill>
                <a:latin typeface="Calibri"/>
              </a:rPr>
              <a:t>What flows over the connection (internal APIs that already exist)</a:t>
            </a:r>
          </a:p>
        </p:txBody>
      </p:sp>
      <p:sp>
        <p:nvSpPr>
          <p:cNvPr id="19" name="TextBox 18"/>
          <p:cNvSpPr txBox="1"/>
          <p:nvPr/>
        </p:nvSpPr>
        <p:spPr>
          <a:xfrm>
            <a:off x="685800"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Cost a part → </a:t>
            </a:r>
            <a:r>
              <a:rPr sz="1150" b="0" i="0">
                <a:solidFill>
                  <a:srgbClr val="334155"/>
                </a:solidFill>
                <a:latin typeface="Calibri"/>
              </a:rPr>
              <a:t>full should-cost with breakdown</a:t>
            </a:r>
          </a:p>
        </p:txBody>
      </p:sp>
      <p:sp>
        <p:nvSpPr>
          <p:cNvPr id="20" name="TextBox 19"/>
          <p:cNvSpPr txBox="1"/>
          <p:nvPr/>
        </p:nvSpPr>
        <p:spPr>
          <a:xfrm>
            <a:off x="4434840"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CAD file → </a:t>
            </a:r>
            <a:r>
              <a:rPr sz="1150" b="0" i="0">
                <a:solidFill>
                  <a:srgbClr val="334155"/>
                </a:solidFill>
                <a:latin typeface="Calibri"/>
              </a:rPr>
              <a:t>geometry + auto-filled inputs</a:t>
            </a:r>
          </a:p>
        </p:txBody>
      </p:sp>
      <p:sp>
        <p:nvSpPr>
          <p:cNvPr id="21" name="TextBox 20"/>
          <p:cNvSpPr txBox="1"/>
          <p:nvPr/>
        </p:nvSpPr>
        <p:spPr>
          <a:xfrm>
            <a:off x="8183879"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New part → </a:t>
            </a:r>
            <a:r>
              <a:rPr sz="1150" b="0" i="0">
                <a:solidFill>
                  <a:srgbClr val="334155"/>
                </a:solidFill>
                <a:latin typeface="Calibri"/>
              </a:rPr>
              <a:t>similar past parts + suggestions</a:t>
            </a:r>
          </a:p>
        </p:txBody>
      </p:sp>
      <p:sp>
        <p:nvSpPr>
          <p:cNvPr id="22" name="TextBox 21"/>
          <p:cNvSpPr txBox="1"/>
          <p:nvPr/>
        </p:nvSpPr>
        <p:spPr>
          <a:xfrm>
            <a:off x="685800"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PO price → </a:t>
            </a:r>
            <a:r>
              <a:rPr sz="1150" b="0" i="0">
                <a:solidFill>
                  <a:srgbClr val="334155"/>
                </a:solidFill>
                <a:latin typeface="Calibri"/>
              </a:rPr>
              <a:t>feeds the learning loop automatically</a:t>
            </a:r>
          </a:p>
        </p:txBody>
      </p:sp>
      <p:sp>
        <p:nvSpPr>
          <p:cNvPr id="23" name="TextBox 22"/>
          <p:cNvSpPr txBox="1"/>
          <p:nvPr/>
        </p:nvSpPr>
        <p:spPr>
          <a:xfrm>
            <a:off x="4434840"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Dashboard ← </a:t>
            </a:r>
            <a:r>
              <a:rPr sz="1150" b="0" i="0">
                <a:solidFill>
                  <a:srgbClr val="334155"/>
                </a:solidFill>
                <a:latin typeface="Calibri"/>
              </a:rPr>
              <a:t>autonomous findings (£/yr)</a:t>
            </a:r>
          </a:p>
        </p:txBody>
      </p:sp>
      <p:sp>
        <p:nvSpPr>
          <p:cNvPr id="24" name="TextBox 23"/>
          <p:cNvSpPr txBox="1"/>
          <p:nvPr/>
        </p:nvSpPr>
        <p:spPr>
          <a:xfrm>
            <a:off x="8183879"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One shared → </a:t>
            </a:r>
            <a:r>
              <a:rPr sz="1150" b="0" i="0">
                <a:solidFill>
                  <a:srgbClr val="334155"/>
                </a:solidFill>
                <a:latin typeface="Calibri"/>
              </a:rPr>
              <a:t>rate library &amp; knowledge database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SCOPE OF WORK</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each side needs to change</a:t>
            </a:r>
          </a:p>
        </p:txBody>
      </p:sp>
      <p:sp>
        <p:nvSpPr>
          <p:cNvPr id="9" name="Rounded Rectangle 8"/>
          <p:cNvSpPr/>
          <p:nvPr/>
        </p:nvSpPr>
        <p:spPr>
          <a:xfrm>
            <a:off x="411480" y="1874519"/>
            <a:ext cx="5486400" cy="4160520"/>
          </a:xfrm>
          <a:prstGeom prst="roundRect">
            <a:avLst>
              <a:gd name="adj" fmla="val 5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57400"/>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2563EB"/>
                </a:solidFill>
                <a:latin typeface="Calibri"/>
              </a:rPr>
              <a:t>CostVision — 6 items (2 DONE)</a:t>
            </a:r>
          </a:p>
        </p:txBody>
      </p:sp>
      <p:sp>
        <p:nvSpPr>
          <p:cNvPr id="11" name="TextBox 10"/>
          <p:cNvSpPr txBox="1"/>
          <p:nvPr/>
        </p:nvSpPr>
        <p:spPr>
          <a:xfrm>
            <a:off x="685800" y="2514600"/>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59669"/>
                </a:solidFill>
                <a:latin typeface="Calibri"/>
              </a:rPr>
              <a:t>✓ Private AI routing — </a:t>
            </a:r>
            <a:r>
              <a:rPr sz="1100" b="0" i="0">
                <a:solidFill>
                  <a:srgbClr val="059669"/>
                </a:solidFill>
                <a:latin typeface="Calibri"/>
              </a:rPr>
              <a:t>DONE — one setting routes every AI call to our endpoint</a:t>
            </a:r>
          </a:p>
        </p:txBody>
      </p:sp>
      <p:sp>
        <p:nvSpPr>
          <p:cNvPr id="12" name="TextBox 11"/>
          <p:cNvSpPr txBox="1"/>
          <p:nvPr/>
        </p:nvSpPr>
        <p:spPr>
          <a:xfrm>
            <a:off x="685800" y="3090672"/>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59669"/>
                </a:solidFill>
                <a:latin typeface="Calibri"/>
              </a:rPr>
              <a:t>✓ "Air-gapped" switch — </a:t>
            </a:r>
            <a:r>
              <a:rPr sz="1100" b="0" i="0">
                <a:solidFill>
                  <a:srgbClr val="059669"/>
                </a:solidFill>
                <a:latin typeface="Calibri"/>
              </a:rPr>
              <a:t>DONE — provably disables all external calls; tested live</a:t>
            </a:r>
          </a:p>
        </p:txBody>
      </p:sp>
      <p:sp>
        <p:nvSpPr>
          <p:cNvPr id="13" name="TextBox 12"/>
          <p:cNvSpPr txBox="1"/>
          <p:nvPr/>
        </p:nvSpPr>
        <p:spPr>
          <a:xfrm>
            <a:off x="685800" y="3666744"/>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3. Azure AD sign-on — </a:t>
            </a:r>
            <a:r>
              <a:rPr sz="1100" b="0" i="0">
                <a:solidFill>
                  <a:srgbClr val="334155"/>
                </a:solidFill>
                <a:latin typeface="Calibri"/>
              </a:rPr>
              <a:t>replace local logins with company SSO</a:t>
            </a:r>
          </a:p>
        </p:txBody>
      </p:sp>
      <p:sp>
        <p:nvSpPr>
          <p:cNvPr id="14" name="TextBox 13"/>
          <p:cNvSpPr txBox="1"/>
          <p:nvPr/>
        </p:nvSpPr>
        <p:spPr>
          <a:xfrm>
            <a:off x="685800" y="4242816"/>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4. PostgreSQL — </a:t>
            </a:r>
            <a:r>
              <a:rPr sz="1100" b="0" i="0">
                <a:solidFill>
                  <a:srgbClr val="334155"/>
                </a:solidFill>
                <a:latin typeface="Calibri"/>
              </a:rPr>
              <a:t>move from file database to the corporate DB estate</a:t>
            </a:r>
          </a:p>
        </p:txBody>
      </p:sp>
      <p:sp>
        <p:nvSpPr>
          <p:cNvPr id="15" name="TextBox 14"/>
          <p:cNvSpPr txBox="1"/>
          <p:nvPr/>
        </p:nvSpPr>
        <p:spPr>
          <a:xfrm>
            <a:off x="685800" y="4818888"/>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5. Cost API wrapper — </a:t>
            </a:r>
            <a:r>
              <a:rPr sz="1100" b="0" i="0">
                <a:solidFill>
                  <a:srgbClr val="334155"/>
                </a:solidFill>
                <a:latin typeface="Calibri"/>
              </a:rPr>
              <a:t>one clean endpoint per commodity for CAPEE</a:t>
            </a:r>
          </a:p>
        </p:txBody>
      </p:sp>
      <p:sp>
        <p:nvSpPr>
          <p:cNvPr id="16" name="TextBox 15"/>
          <p:cNvSpPr txBox="1"/>
          <p:nvPr/>
        </p:nvSpPr>
        <p:spPr>
          <a:xfrm>
            <a:off x="685800" y="5394960"/>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6. Audit hardening — </a:t>
            </a:r>
            <a:r>
              <a:rPr sz="1100" b="0" i="0">
                <a:solidFill>
                  <a:srgbClr val="334155"/>
                </a:solidFill>
                <a:latin typeface="Calibri"/>
              </a:rPr>
              <a:t>admin audit table + logs to SIEM</a:t>
            </a:r>
          </a:p>
        </p:txBody>
      </p:sp>
      <p:sp>
        <p:nvSpPr>
          <p:cNvPr id="17" name="Rounded Rectangle 16"/>
          <p:cNvSpPr/>
          <p:nvPr/>
        </p:nvSpPr>
        <p:spPr>
          <a:xfrm>
            <a:off x="6263640" y="1874519"/>
            <a:ext cx="5532120" cy="416052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37960" y="2057400"/>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7C3AED"/>
                </a:solidFill>
                <a:latin typeface="Calibri"/>
              </a:rPr>
              <a:t>CAPEE — small, additive changes</a:t>
            </a:r>
          </a:p>
        </p:txBody>
      </p:sp>
      <p:sp>
        <p:nvSpPr>
          <p:cNvPr id="19" name="TextBox 18"/>
          <p:cNvSpPr txBox="1"/>
          <p:nvPr/>
        </p:nvSpPr>
        <p:spPr>
          <a:xfrm>
            <a:off x="6537960" y="2560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0F172A"/>
                </a:solidFill>
                <a:latin typeface="Calibri"/>
              </a:rPr>
              <a:t>Backend  </a:t>
            </a:r>
            <a:r>
              <a:rPr sz="1100" b="1" i="0">
                <a:solidFill>
                  <a:srgbClr val="7C3AED"/>
                </a:solidFill>
                <a:latin typeface="Calibri"/>
              </a:rPr>
              <a:t>· Small</a:t>
            </a:r>
          </a:p>
          <a:p>
            <a:pPr algn="l">
              <a:lnSpc>
                <a:spcPct val="112000"/>
              </a:lnSpc>
              <a:spcAft>
                <a:spcPts val="300"/>
              </a:spcAft>
            </a:pPr>
            <a:r>
              <a:rPr sz="1150" b="0" i="0">
                <a:solidFill>
                  <a:srgbClr val="334155"/>
                </a:solidFill>
                <a:latin typeface="Calibri"/>
              </a:rPr>
              <a:t>HTTP client to call CostVision + token handling; hook PO prices into the learning API</a:t>
            </a:r>
          </a:p>
        </p:txBody>
      </p:sp>
      <p:sp>
        <p:nvSpPr>
          <p:cNvPr id="20" name="TextBox 19"/>
          <p:cNvSpPr txBox="1"/>
          <p:nvPr/>
        </p:nvSpPr>
        <p:spPr>
          <a:xfrm>
            <a:off x="6537960" y="3703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0F172A"/>
                </a:solidFill>
                <a:latin typeface="Calibri"/>
              </a:rPr>
              <a:t>User interface  </a:t>
            </a:r>
            <a:r>
              <a:rPr sz="1100" b="1" i="0">
                <a:solidFill>
                  <a:srgbClr val="7C3AED"/>
                </a:solidFill>
                <a:latin typeface="Calibri"/>
              </a:rPr>
              <a:t>· Medium</a:t>
            </a:r>
          </a:p>
          <a:p>
            <a:pPr algn="l">
              <a:lnSpc>
                <a:spcPct val="112000"/>
              </a:lnSpc>
              <a:spcAft>
                <a:spcPts val="300"/>
              </a:spcAft>
            </a:pPr>
            <a:r>
              <a:rPr sz="1150" b="0" i="0">
                <a:solidFill>
                  <a:srgbClr val="334155"/>
                </a:solidFill>
                <a:latin typeface="Calibri"/>
              </a:rPr>
              <a:t>an "AI insights" panel on the costing screen; a CAD-upload button; a findings widget</a:t>
            </a:r>
          </a:p>
        </p:txBody>
      </p:sp>
      <p:sp>
        <p:nvSpPr>
          <p:cNvPr id="21" name="TextBox 20"/>
          <p:cNvSpPr txBox="1"/>
          <p:nvPr/>
        </p:nvSpPr>
        <p:spPr>
          <a:xfrm>
            <a:off x="6537960" y="4846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0F172A"/>
                </a:solidFill>
                <a:latin typeface="Calibri"/>
              </a:rPr>
              <a:t>Data  </a:t>
            </a:r>
            <a:r>
              <a:rPr sz="1100" b="1" i="0">
                <a:solidFill>
                  <a:srgbClr val="7C3AED"/>
                </a:solidFill>
                <a:latin typeface="Calibri"/>
              </a:rPr>
              <a:t>· Small–Medium</a:t>
            </a:r>
          </a:p>
          <a:p>
            <a:pPr algn="l">
              <a:lnSpc>
                <a:spcPct val="112000"/>
              </a:lnSpc>
              <a:spcAft>
                <a:spcPts val="300"/>
              </a:spcAft>
            </a:pPr>
            <a:r>
              <a:rPr sz="1150" b="0" i="0">
                <a:solidFill>
                  <a:srgbClr val="334155"/>
                </a:solidFill>
                <a:latin typeface="Calibri"/>
              </a:rPr>
              <a:t>adopt the shared rate library; one-off import of historical quotes to seed the memory</a:t>
            </a:r>
          </a:p>
        </p:txBody>
      </p:sp>
      <p:sp>
        <p:nvSpPr>
          <p:cNvPr id="22" name="TextBox 21"/>
          <p:cNvSpPr txBox="1"/>
          <p:nvPr/>
        </p:nvSpPr>
        <p:spPr>
          <a:xfrm>
            <a:off x="411480" y="6217920"/>
            <a:ext cx="11338560" cy="411480"/>
          </a:xfrm>
          <a:prstGeom prst="rect">
            <a:avLst/>
          </a:prstGeom>
          <a:noFill/>
        </p:spPr>
        <p:txBody>
          <a:bodyPr wrap="square" anchor="t" lIns="0" rIns="0" tIns="0" bIns="0">
            <a:spAutoFit/>
          </a:bodyPr>
          <a:lstStyle/>
          <a:p>
            <a:pPr algn="l">
              <a:lnSpc>
                <a:spcPct val="100000"/>
              </a:lnSpc>
              <a:spcAft>
                <a:spcPts val="400"/>
              </a:spcAft>
            </a:pPr>
            <a:r>
              <a:rPr sz="1350" b="1" i="0">
                <a:solidFill>
                  <a:srgbClr val="0F172A"/>
                </a:solidFill>
                <a:latin typeface="Calibri"/>
              </a:rPr>
              <a:t>Items 1–2 are built &amp; tested. Remaining critical path: ~3–5 engineering weeks. No architectural surgery on either side.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COMPLIANCE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Security &amp; compliance — how we tick the boxes</a:t>
            </a:r>
          </a:p>
        </p:txBody>
      </p:sp>
      <p:sp>
        <p:nvSpPr>
          <p:cNvPr id="9" name="Rounded Rectangle 8"/>
          <p:cNvSpPr/>
          <p:nvPr/>
        </p:nvSpPr>
        <p:spPr>
          <a:xfrm>
            <a:off x="411480" y="1874519"/>
            <a:ext cx="5577840" cy="1234440"/>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123444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99339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059669"/>
                </a:solidFill>
                <a:latin typeface="Calibri"/>
              </a:rPr>
              <a:t>Encryption</a:t>
            </a:r>
          </a:p>
        </p:txBody>
      </p:sp>
      <p:sp>
        <p:nvSpPr>
          <p:cNvPr id="12" name="TextBox 11"/>
          <p:cNvSpPr txBox="1"/>
          <p:nvPr/>
        </p:nvSpPr>
        <p:spPr>
          <a:xfrm>
            <a:off x="667512" y="237743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TLS everywhere in transit; encrypted database at rest; CAD never stored at all</a:t>
            </a:r>
          </a:p>
        </p:txBody>
      </p:sp>
      <p:sp>
        <p:nvSpPr>
          <p:cNvPr id="13" name="Rounded Rectangle 12"/>
          <p:cNvSpPr/>
          <p:nvPr/>
        </p:nvSpPr>
        <p:spPr>
          <a:xfrm>
            <a:off x="6217920" y="1874519"/>
            <a:ext cx="5577840" cy="1234440"/>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74519"/>
            <a:ext cx="82296" cy="123444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199339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2563EB"/>
                </a:solidFill>
                <a:latin typeface="Calibri"/>
              </a:rPr>
              <a:t>Access control</a:t>
            </a:r>
          </a:p>
        </p:txBody>
      </p:sp>
      <p:sp>
        <p:nvSpPr>
          <p:cNvPr id="16" name="TextBox 15"/>
          <p:cNvSpPr txBox="1"/>
          <p:nvPr/>
        </p:nvSpPr>
        <p:spPr>
          <a:xfrm>
            <a:off x="6473952" y="237743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Azure AD single sign-on; roles mapped to AD groups; CAPEE uses a least-privilege service account</a:t>
            </a:r>
          </a:p>
        </p:txBody>
      </p:sp>
      <p:sp>
        <p:nvSpPr>
          <p:cNvPr id="17" name="Rounded Rectangle 16"/>
          <p:cNvSpPr/>
          <p:nvPr/>
        </p:nvSpPr>
        <p:spPr>
          <a:xfrm>
            <a:off x="411480" y="3291839"/>
            <a:ext cx="5577840" cy="1234440"/>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291839"/>
            <a:ext cx="82296" cy="12344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1071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D97706"/>
                </a:solidFill>
                <a:latin typeface="Calibri"/>
              </a:rPr>
              <a:t>Data-loss prevention</a:t>
            </a:r>
          </a:p>
        </p:txBody>
      </p:sp>
      <p:sp>
        <p:nvSpPr>
          <p:cNvPr id="20" name="TextBox 19"/>
          <p:cNvSpPr txBox="1"/>
          <p:nvPr/>
        </p:nvSpPr>
        <p:spPr>
          <a:xfrm>
            <a:off x="667512" y="379475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One AI exit door, inspected and logged; firewall denies everything else; witnessed air-gap test (switch built)</a:t>
            </a:r>
          </a:p>
        </p:txBody>
      </p:sp>
      <p:sp>
        <p:nvSpPr>
          <p:cNvPr id="21" name="Rounded Rectangle 20"/>
          <p:cNvSpPr/>
          <p:nvPr/>
        </p:nvSpPr>
        <p:spPr>
          <a:xfrm>
            <a:off x="6217920" y="3291839"/>
            <a:ext cx="5577840" cy="1234440"/>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291839"/>
            <a:ext cx="82296" cy="1234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341071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7C3AED"/>
                </a:solidFill>
                <a:latin typeface="Calibri"/>
              </a:rPr>
              <a:t>Audit trails</a:t>
            </a:r>
          </a:p>
        </p:txBody>
      </p:sp>
      <p:sp>
        <p:nvSpPr>
          <p:cNvPr id="24" name="TextBox 23"/>
          <p:cNvSpPr txBox="1"/>
          <p:nvPr/>
        </p:nvSpPr>
        <p:spPr>
          <a:xfrm>
            <a:off x="6473952" y="379475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Every rate change, knowledge write and admin action attributable to a user; logs to corporate SIEM</a:t>
            </a:r>
          </a:p>
        </p:txBody>
      </p:sp>
      <p:sp>
        <p:nvSpPr>
          <p:cNvPr id="25" name="Rounded Rectangle 24"/>
          <p:cNvSpPr/>
          <p:nvPr/>
        </p:nvSpPr>
        <p:spPr>
          <a:xfrm>
            <a:off x="411480" y="4892040"/>
            <a:ext cx="11384280" cy="123444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074920"/>
            <a:ext cx="10881360" cy="960120"/>
          </a:xfrm>
          <a:prstGeom prst="rect">
            <a:avLst/>
          </a:prstGeom>
          <a:noFill/>
        </p:spPr>
        <p:txBody>
          <a:bodyPr wrap="square" anchor="t" lIns="0" rIns="0" tIns="0" bIns="0">
            <a:spAutoFit/>
          </a:bodyPr>
          <a:lstStyle/>
          <a:p>
            <a:pPr algn="l">
              <a:lnSpc>
                <a:spcPct val="125000"/>
              </a:lnSpc>
              <a:spcAft>
                <a:spcPts val="400"/>
              </a:spcAft>
            </a:pPr>
            <a:r>
              <a:rPr sz="1300" b="1" i="0">
                <a:solidFill>
                  <a:srgbClr val="0F172A"/>
                </a:solidFill>
                <a:latin typeface="Calibri"/>
              </a:rPr>
              <a:t>Standards mapping:  </a:t>
            </a:r>
            <a:r>
              <a:rPr sz="1200" b="0" i="0">
                <a:solidFill>
                  <a:srgbClr val="334155"/>
                </a:solidFill>
                <a:latin typeface="Calibri"/>
              </a:rPr>
              <a:t>ISO 27001 — covered by the controls above, add to ISMS scope  ·  SOC 2 — inherited from the cloud tenancy (Bedrock/Vertex are certified)  ·  GDPR — minimal personal data, zero-retention AI, EU region  ·  ISO/SAE 21434 — engineering IT tool, out of vehicle scope; supply-chain review (SBOM) in CI.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PLAN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Rollout — six phases, value from week eight</a:t>
            </a:r>
          </a:p>
        </p:txBody>
      </p:sp>
      <p:sp>
        <p:nvSpPr>
          <p:cNvPr id="9" name="Chevron 8"/>
          <p:cNvSpPr/>
          <p:nvPr/>
        </p:nvSpPr>
        <p:spPr>
          <a:xfrm>
            <a:off x="365760" y="2103120"/>
            <a:ext cx="2048256" cy="1005840"/>
          </a:xfrm>
          <a:prstGeom prst="chevron">
            <a:avLst>
              <a:gd name="adj" fmla="val 2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1 · Security assessment</a:t>
            </a:r>
          </a:p>
          <a:p>
            <a:r>
              <a:rPr sz="950">
                <a:solidFill>
                  <a:srgbClr val="E8EEFF"/>
                </a:solidFill>
                <a:latin typeface="Calibri"/>
              </a:rPr>
              <a:t>2–3 wks</a:t>
            </a:r>
          </a:p>
        </p:txBody>
      </p:sp>
      <p:sp>
        <p:nvSpPr>
          <p:cNvPr id="10" name="Chevron 9"/>
          <p:cNvSpPr/>
          <p:nvPr/>
        </p:nvSpPr>
        <p:spPr>
          <a:xfrm>
            <a:off x="2127260" y="2103120"/>
            <a:ext cx="2048256" cy="1005840"/>
          </a:xfrm>
          <a:prstGeom prst="chevron">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2 · Architecture design</a:t>
            </a:r>
          </a:p>
          <a:p>
            <a:r>
              <a:rPr sz="950">
                <a:solidFill>
                  <a:srgbClr val="E8EEFF"/>
                </a:solidFill>
                <a:latin typeface="Calibri"/>
              </a:rPr>
              <a:t>3–4 wks</a:t>
            </a:r>
          </a:p>
        </p:txBody>
      </p:sp>
      <p:sp>
        <p:nvSpPr>
          <p:cNvPr id="11" name="Chevron 10"/>
          <p:cNvSpPr/>
          <p:nvPr/>
        </p:nvSpPr>
        <p:spPr>
          <a:xfrm>
            <a:off x="3888760" y="2103120"/>
            <a:ext cx="2048256" cy="1005840"/>
          </a:xfrm>
          <a:prstGeom prst="chevron">
            <a:avLst>
              <a:gd name="adj" fmla="val 28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3 · Pilot (dummy CAD)</a:t>
            </a:r>
          </a:p>
          <a:p>
            <a:r>
              <a:rPr sz="950">
                <a:solidFill>
                  <a:srgbClr val="E8EEFF"/>
                </a:solidFill>
                <a:latin typeface="Calibri"/>
              </a:rPr>
              <a:t>2 wks</a:t>
            </a:r>
          </a:p>
        </p:txBody>
      </p:sp>
      <p:sp>
        <p:nvSpPr>
          <p:cNvPr id="12" name="Chevron 11"/>
          <p:cNvSpPr/>
          <p:nvPr/>
        </p:nvSpPr>
        <p:spPr>
          <a:xfrm>
            <a:off x="5650260" y="2103120"/>
            <a:ext cx="2048256" cy="1005840"/>
          </a:xfrm>
          <a:prstGeom prst="chevron">
            <a:avLst>
              <a:gd name="adj" fmla="val 2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4 · CAPEE pilot</a:t>
            </a:r>
          </a:p>
          <a:p>
            <a:r>
              <a:rPr sz="950">
                <a:solidFill>
                  <a:srgbClr val="E8EEFF"/>
                </a:solidFill>
                <a:latin typeface="Calibri"/>
              </a:rPr>
              <a:t>4–6 wks</a:t>
            </a:r>
          </a:p>
        </p:txBody>
      </p:sp>
      <p:sp>
        <p:nvSpPr>
          <p:cNvPr id="13" name="Chevron 12"/>
          <p:cNvSpPr/>
          <p:nvPr/>
        </p:nvSpPr>
        <p:spPr>
          <a:xfrm>
            <a:off x="7411760" y="2103120"/>
            <a:ext cx="2048256" cy="1005840"/>
          </a:xfrm>
          <a:prstGeom prst="chevron">
            <a:avLst>
              <a:gd name="adj" fmla="val 28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5 · Enterprise rollout</a:t>
            </a:r>
          </a:p>
          <a:p>
            <a:r>
              <a:rPr sz="950">
                <a:solidFill>
                  <a:srgbClr val="E8EEFF"/>
                </a:solidFill>
                <a:latin typeface="Calibri"/>
              </a:rPr>
              <a:t>4 wks</a:t>
            </a:r>
          </a:p>
        </p:txBody>
      </p:sp>
      <p:sp>
        <p:nvSpPr>
          <p:cNvPr id="14" name="Chevron 13"/>
          <p:cNvSpPr/>
          <p:nvPr/>
        </p:nvSpPr>
        <p:spPr>
          <a:xfrm>
            <a:off x="9173260" y="2103120"/>
            <a:ext cx="2048256" cy="1005840"/>
          </a:xfrm>
          <a:prstGeom prst="chevron">
            <a:avLst>
              <a:gd name="adj" fmla="val 28000"/>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6 · Monitor &amp; govern</a:t>
            </a:r>
          </a:p>
          <a:p>
            <a:r>
              <a:rPr sz="950">
                <a:solidFill>
                  <a:srgbClr val="E8EEFF"/>
                </a:solidFill>
                <a:latin typeface="Calibri"/>
              </a:rPr>
              <a:t>ongoing</a:t>
            </a:r>
          </a:p>
        </p:txBody>
      </p:sp>
      <p:sp>
        <p:nvSpPr>
          <p:cNvPr id="15" name="Rounded Rectangle 14"/>
          <p:cNvSpPr/>
          <p:nvPr/>
        </p:nvSpPr>
        <p:spPr>
          <a:xfrm>
            <a:off x="411480" y="3566160"/>
            <a:ext cx="11384280" cy="74980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566160"/>
            <a:ext cx="82296" cy="7498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65760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Phase 3 exit gate</a:t>
            </a:r>
          </a:p>
        </p:txBody>
      </p:sp>
      <p:sp>
        <p:nvSpPr>
          <p:cNvPr id="18" name="TextBox 17"/>
          <p:cNvSpPr txBox="1"/>
          <p:nvPr/>
        </p:nvSpPr>
        <p:spPr>
          <a:xfrm>
            <a:off x="3200400" y="365760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Security-witnessed test: firewall blocks all egress, full test suite passes, zero unexpected traffic.</a:t>
            </a:r>
          </a:p>
        </p:txBody>
      </p:sp>
      <p:sp>
        <p:nvSpPr>
          <p:cNvPr id="19" name="Rounded Rectangle 18"/>
          <p:cNvSpPr/>
          <p:nvPr/>
        </p:nvSpPr>
        <p:spPr>
          <a:xfrm>
            <a:off x="411480" y="4434840"/>
            <a:ext cx="11384280" cy="74980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434840"/>
            <a:ext cx="82296" cy="7498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52628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Phase 4 exit gate</a:t>
            </a:r>
          </a:p>
        </p:txBody>
      </p:sp>
      <p:sp>
        <p:nvSpPr>
          <p:cNvPr id="22" name="TextBox 21"/>
          <p:cNvSpPr txBox="1"/>
          <p:nvPr/>
        </p:nvSpPr>
        <p:spPr>
          <a:xfrm>
            <a:off x="3200400" y="452628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A cost engineer completes a real costing from inside CAPEE with AI insights; accuracy dashboard live.</a:t>
            </a:r>
          </a:p>
        </p:txBody>
      </p:sp>
      <p:sp>
        <p:nvSpPr>
          <p:cNvPr id="23" name="Rounded Rectangle 22"/>
          <p:cNvSpPr/>
          <p:nvPr/>
        </p:nvSpPr>
        <p:spPr>
          <a:xfrm>
            <a:off x="411480" y="5303520"/>
            <a:ext cx="11384280" cy="74980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5303520"/>
            <a:ext cx="82296" cy="7498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39496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First value</a:t>
            </a:r>
          </a:p>
        </p:txBody>
      </p:sp>
      <p:sp>
        <p:nvSpPr>
          <p:cNvPr id="26" name="TextBox 25"/>
          <p:cNvSpPr txBox="1"/>
          <p:nvPr/>
        </p:nvSpPr>
        <p:spPr>
          <a:xfrm>
            <a:off x="3200400" y="539496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Week ~8: pilot users get similar-part suggestions; sourcing sees the first autonomous findings.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HONEST VIEW</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Risks — and how we manage them</a:t>
            </a:r>
          </a:p>
        </p:txBody>
      </p:sp>
      <p:sp>
        <p:nvSpPr>
          <p:cNvPr id="9" name="Rounded Rectangle 8"/>
          <p:cNvSpPr/>
          <p:nvPr/>
        </p:nvSpPr>
        <p:spPr>
          <a:xfrm>
            <a:off x="411480" y="1874519"/>
            <a:ext cx="11384280" cy="93268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93268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984247"/>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Cloud tenancy not approved</a:t>
            </a:r>
          </a:p>
        </p:txBody>
      </p:sp>
      <p:sp>
        <p:nvSpPr>
          <p:cNvPr id="12" name="TextBox 11"/>
          <p:cNvSpPr txBox="1"/>
          <p:nvPr/>
        </p:nvSpPr>
        <p:spPr>
          <a:xfrm>
            <a:off x="685800" y="2377439"/>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D97706"/>
                </a:solidFill>
                <a:latin typeface="Calibri"/>
              </a:rPr>
              <a:t>Likelihood: Medium</a:t>
            </a:r>
          </a:p>
        </p:txBody>
      </p:sp>
      <p:sp>
        <p:nvSpPr>
          <p:cNvPr id="13" name="TextBox 12"/>
          <p:cNvSpPr txBox="1"/>
          <p:nvPr/>
        </p:nvSpPr>
        <p:spPr>
          <a:xfrm>
            <a:off x="4846320" y="1984247"/>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0F172A"/>
                </a:solidFill>
                <a:latin typeface="Calibri"/>
              </a:rPr>
              <a:t>Mitigation:  </a:t>
            </a:r>
            <a:r>
              <a:rPr sz="1150" b="0" i="0">
                <a:solidFill>
                  <a:srgbClr val="334155"/>
                </a:solidFill>
                <a:latin typeface="Calibri"/>
              </a:rPr>
              <a:t>Fall back to Option A (air-gapped) — deterministic engines keep full value today; add a self-hosted vision model later if needed.</a:t>
            </a:r>
          </a:p>
        </p:txBody>
      </p:sp>
      <p:sp>
        <p:nvSpPr>
          <p:cNvPr id="14" name="Rounded Rectangle 13"/>
          <p:cNvSpPr/>
          <p:nvPr/>
        </p:nvSpPr>
        <p:spPr>
          <a:xfrm>
            <a:off x="411480" y="2953511"/>
            <a:ext cx="11384280" cy="93268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953511"/>
            <a:ext cx="82296" cy="93268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063239"/>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Learning depends on logged quotes</a:t>
            </a:r>
          </a:p>
        </p:txBody>
      </p:sp>
      <p:sp>
        <p:nvSpPr>
          <p:cNvPr id="17" name="TextBox 16"/>
          <p:cNvSpPr txBox="1"/>
          <p:nvPr/>
        </p:nvSpPr>
        <p:spPr>
          <a:xfrm>
            <a:off x="685800" y="3456431"/>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2563EB"/>
                </a:solidFill>
                <a:latin typeface="Calibri"/>
              </a:rPr>
              <a:t>Likelihood: Medium</a:t>
            </a:r>
          </a:p>
        </p:txBody>
      </p:sp>
      <p:sp>
        <p:nvSpPr>
          <p:cNvPr id="18" name="TextBox 17"/>
          <p:cNvSpPr txBox="1"/>
          <p:nvPr/>
        </p:nvSpPr>
        <p:spPr>
          <a:xfrm>
            <a:off x="4846320" y="3063239"/>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0F172A"/>
                </a:solidFill>
                <a:latin typeface="Calibri"/>
              </a:rPr>
              <a:t>Mitigation:  </a:t>
            </a:r>
            <a:r>
              <a:rPr sz="1150" b="0" i="0">
                <a:solidFill>
                  <a:srgbClr val="334155"/>
                </a:solidFill>
                <a:latin typeface="Calibri"/>
              </a:rPr>
              <a:t>The CAPEE PO-price hook automates it — quotes flow in without anyone changing habits. Plus a one-off historical import to start smart.</a:t>
            </a:r>
          </a:p>
        </p:txBody>
      </p:sp>
      <p:sp>
        <p:nvSpPr>
          <p:cNvPr id="19" name="Rounded Rectangle 18"/>
          <p:cNvSpPr/>
          <p:nvPr/>
        </p:nvSpPr>
        <p:spPr>
          <a:xfrm>
            <a:off x="411480" y="4032504"/>
            <a:ext cx="11384280" cy="93268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032504"/>
            <a:ext cx="82296" cy="932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142232"/>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Single-team knowledge of the platform</a:t>
            </a:r>
          </a:p>
        </p:txBody>
      </p:sp>
      <p:sp>
        <p:nvSpPr>
          <p:cNvPr id="22" name="TextBox 21"/>
          <p:cNvSpPr txBox="1"/>
          <p:nvPr/>
        </p:nvSpPr>
        <p:spPr>
          <a:xfrm>
            <a:off x="685800" y="4535424"/>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7C3AED"/>
                </a:solidFill>
                <a:latin typeface="Calibri"/>
              </a:rPr>
              <a:t>Likelihood: Low–Med</a:t>
            </a:r>
          </a:p>
        </p:txBody>
      </p:sp>
      <p:sp>
        <p:nvSpPr>
          <p:cNvPr id="23" name="TextBox 22"/>
          <p:cNvSpPr txBox="1"/>
          <p:nvPr/>
        </p:nvSpPr>
        <p:spPr>
          <a:xfrm>
            <a:off x="4846320" y="4142232"/>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0F172A"/>
                </a:solidFill>
                <a:latin typeface="Calibri"/>
              </a:rPr>
              <a:t>Mitigation:  </a:t>
            </a:r>
            <a:r>
              <a:rPr sz="1150" b="0" i="0">
                <a:solidFill>
                  <a:srgbClr val="334155"/>
                </a:solidFill>
                <a:latin typeface="Calibri"/>
              </a:rPr>
              <a:t>793 automated tests, written architecture docs, and a named CAPEE-side maintainer trained during Phase 4.</a:t>
            </a:r>
          </a:p>
        </p:txBody>
      </p:sp>
      <p:sp>
        <p:nvSpPr>
          <p:cNvPr id="24" name="Rounded Rectangle 23"/>
          <p:cNvSpPr/>
          <p:nvPr/>
        </p:nvSpPr>
        <p:spPr>
          <a:xfrm>
            <a:off x="411480" y="5111496"/>
            <a:ext cx="11384280" cy="93268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5111496"/>
            <a:ext cx="82296" cy="93268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221224"/>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Adoption ("another tool")</a:t>
            </a:r>
          </a:p>
        </p:txBody>
      </p:sp>
      <p:sp>
        <p:nvSpPr>
          <p:cNvPr id="27" name="TextBox 26"/>
          <p:cNvSpPr txBox="1"/>
          <p:nvPr/>
        </p:nvSpPr>
        <p:spPr>
          <a:xfrm>
            <a:off x="685800" y="5614416"/>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059669"/>
                </a:solidFill>
                <a:latin typeface="Calibri"/>
              </a:rPr>
              <a:t>Likelihood: Low</a:t>
            </a:r>
          </a:p>
        </p:txBody>
      </p:sp>
      <p:sp>
        <p:nvSpPr>
          <p:cNvPr id="28" name="TextBox 27"/>
          <p:cNvSpPr txBox="1"/>
          <p:nvPr/>
        </p:nvSpPr>
        <p:spPr>
          <a:xfrm>
            <a:off x="4846320" y="5221224"/>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0F172A"/>
                </a:solidFill>
                <a:latin typeface="Calibri"/>
              </a:rPr>
              <a:t>Mitigation:  </a:t>
            </a:r>
            <a:r>
              <a:rPr sz="1150" b="0" i="0">
                <a:solidFill>
                  <a:srgbClr val="334155"/>
                </a:solidFill>
                <a:latin typeface="Calibri"/>
              </a:rPr>
              <a:t>Users stay in CAPEE — CostVision works behind the scenes. Nothing new to learn except better answers appearing.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DECISION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Feasibility verdict — and the ask</a:t>
            </a:r>
          </a:p>
        </p:txBody>
      </p:sp>
      <p:sp>
        <p:nvSpPr>
          <p:cNvPr id="9" name="Rounded Rectangle 8"/>
          <p:cNvSpPr/>
          <p:nvPr/>
        </p:nvSpPr>
        <p:spPr>
          <a:xfrm>
            <a:off x="411480" y="1874519"/>
            <a:ext cx="11384280" cy="640080"/>
          </a:xfrm>
          <a:prstGeom prst="roundRect">
            <a:avLst>
              <a:gd name="adj" fmla="val 13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11679"/>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Secure deployment, CAD fully internal</a:t>
            </a:r>
          </a:p>
        </p:txBody>
      </p:sp>
      <p:sp>
        <p:nvSpPr>
          <p:cNvPr id="11" name="TextBox 10"/>
          <p:cNvSpPr txBox="1"/>
          <p:nvPr/>
        </p:nvSpPr>
        <p:spPr>
          <a:xfrm>
            <a:off x="5029200" y="2011679"/>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59669"/>
                </a:solidFill>
                <a:latin typeface="Calibri"/>
              </a:rPr>
              <a:t>FEASIBLE — CAD never leaves; AI routing + air-gap switch already BUILT</a:t>
            </a:r>
          </a:p>
        </p:txBody>
      </p:sp>
      <p:sp>
        <p:nvSpPr>
          <p:cNvPr id="12" name="Rounded Rectangle 11"/>
          <p:cNvSpPr/>
          <p:nvPr/>
        </p:nvSpPr>
        <p:spPr>
          <a:xfrm>
            <a:off x="411480" y="2624327"/>
            <a:ext cx="11384280" cy="640080"/>
          </a:xfrm>
          <a:prstGeom prst="roundRect">
            <a:avLst>
              <a:gd name="adj" fmla="val 1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761487"/>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CAPEE + CostVision integration</a:t>
            </a:r>
          </a:p>
        </p:txBody>
      </p:sp>
      <p:sp>
        <p:nvSpPr>
          <p:cNvPr id="14" name="TextBox 13"/>
          <p:cNvSpPr txBox="1"/>
          <p:nvPr/>
        </p:nvSpPr>
        <p:spPr>
          <a:xfrm>
            <a:off x="5029200" y="2761487"/>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59669"/>
                </a:solidFill>
                <a:latin typeface="Calibri"/>
              </a:rPr>
              <a:t>FEASIBLE — API-first design; CAPEE stays the front door</a:t>
            </a:r>
          </a:p>
        </p:txBody>
      </p:sp>
      <p:sp>
        <p:nvSpPr>
          <p:cNvPr id="15" name="Rounded Rectangle 14"/>
          <p:cNvSpPr/>
          <p:nvPr/>
        </p:nvSpPr>
        <p:spPr>
          <a:xfrm>
            <a:off x="411480" y="3374135"/>
            <a:ext cx="11384280" cy="640080"/>
          </a:xfrm>
          <a:prstGeom prst="roundRect">
            <a:avLst>
              <a:gd name="adj" fmla="val 13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511295"/>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Changes required</a:t>
            </a:r>
          </a:p>
        </p:txBody>
      </p:sp>
      <p:sp>
        <p:nvSpPr>
          <p:cNvPr id="17" name="TextBox 16"/>
          <p:cNvSpPr txBox="1"/>
          <p:nvPr/>
        </p:nvSpPr>
        <p:spPr>
          <a:xfrm>
            <a:off x="5029200" y="3511295"/>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Head start delivered: 2 of 6 items built — ~3–5 engineering weeks remain</a:t>
            </a:r>
          </a:p>
        </p:txBody>
      </p:sp>
      <p:sp>
        <p:nvSpPr>
          <p:cNvPr id="18" name="Rounded Rectangle 17"/>
          <p:cNvSpPr/>
          <p:nvPr/>
        </p:nvSpPr>
        <p:spPr>
          <a:xfrm>
            <a:off x="411480" y="4123944"/>
            <a:ext cx="11384280" cy="640080"/>
          </a:xfrm>
          <a:prstGeom prst="roundRect">
            <a:avLst>
              <a:gd name="adj" fmla="val 1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261104"/>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Long-term governance</a:t>
            </a:r>
          </a:p>
        </p:txBody>
      </p:sp>
      <p:sp>
        <p:nvSpPr>
          <p:cNvPr id="20" name="TextBox 19"/>
          <p:cNvSpPr txBox="1"/>
          <p:nvPr/>
        </p:nvSpPr>
        <p:spPr>
          <a:xfrm>
            <a:off x="5029200" y="4261104"/>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7C3AED"/>
                </a:solidFill>
                <a:latin typeface="Calibri"/>
              </a:rPr>
              <a:t>Rate-library board · monthly findings review · quarterly access &amp; egress audit</a:t>
            </a:r>
          </a:p>
        </p:txBody>
      </p:sp>
      <p:sp>
        <p:nvSpPr>
          <p:cNvPr id="21" name="Rounded Rectangle 20"/>
          <p:cNvSpPr/>
          <p:nvPr/>
        </p:nvSpPr>
        <p:spPr>
          <a:xfrm>
            <a:off x="411480" y="5120640"/>
            <a:ext cx="11384280" cy="1143000"/>
          </a:xfrm>
          <a:prstGeom prst="roundRect">
            <a:avLst>
              <a:gd name="adj" fmla="val 7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303520"/>
            <a:ext cx="10789920" cy="822960"/>
          </a:xfrm>
          <a:prstGeom prst="rect">
            <a:avLst/>
          </a:prstGeom>
          <a:noFill/>
        </p:spPr>
        <p:txBody>
          <a:bodyPr wrap="square" anchor="t" lIns="0" rIns="0" tIns="0" bIns="0">
            <a:spAutoFit/>
          </a:bodyPr>
          <a:lstStyle/>
          <a:p>
            <a:pPr algn="l">
              <a:lnSpc>
                <a:spcPct val="120000"/>
              </a:lnSpc>
              <a:spcAft>
                <a:spcPts val="400"/>
              </a:spcAft>
            </a:pPr>
            <a:r>
              <a:rPr sz="1600" b="1" i="0">
                <a:solidFill>
                  <a:srgbClr val="2563EB"/>
                </a:solidFill>
                <a:latin typeface="Calibri"/>
              </a:rPr>
              <a:t>The ask today:  </a:t>
            </a:r>
            <a:r>
              <a:rPr sz="1400" b="0" i="0">
                <a:solidFill>
                  <a:srgbClr val="334155"/>
                </a:solidFill>
                <a:latin typeface="Calibri"/>
              </a:rPr>
              <a:t>approve Phase 1 (IT-Security assessment) and Phase 2 (architecture design) — 5–7 weeks, existing teams. The full written plan and security checklist are ready for the security review.</a:t>
            </a:r>
          </a:p>
        </p:txBody>
      </p:sp>
      <p:sp>
        <p:nvSpPr>
          <p:cNvPr id="23" name="Rectangle 22"/>
          <p:cNvSpPr/>
          <p:nvPr/>
        </p:nvSpPr>
        <p:spPr>
          <a:xfrm>
            <a:off x="0" y="6711696"/>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MARKET LANDSCAPE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Has anyone done this? Yes — the market is real</a:t>
            </a:r>
          </a:p>
        </p:txBody>
      </p:sp>
      <p:sp>
        <p:nvSpPr>
          <p:cNvPr id="9" name="Rounded Rectangle 8"/>
          <p:cNvSpPr/>
          <p:nvPr/>
        </p:nvSpPr>
        <p:spPr>
          <a:xfrm>
            <a:off x="411480" y="1810512"/>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10512"/>
            <a:ext cx="82296" cy="71323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883664"/>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2563EB"/>
                </a:solidFill>
                <a:latin typeface="Calibri"/>
              </a:rPr>
              <a:t>aPriori</a:t>
            </a:r>
          </a:p>
        </p:txBody>
      </p:sp>
      <p:sp>
        <p:nvSpPr>
          <p:cNvPr id="12" name="TextBox 11"/>
          <p:cNvSpPr txBox="1"/>
          <p:nvPr/>
        </p:nvSpPr>
        <p:spPr>
          <a:xfrm>
            <a:off x="685800" y="2212848"/>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Market leader (US)</a:t>
            </a:r>
          </a:p>
        </p:txBody>
      </p:sp>
      <p:sp>
        <p:nvSpPr>
          <p:cNvPr id="13" name="TextBox 12"/>
          <p:cNvSpPr txBox="1"/>
          <p:nvPr/>
        </p:nvSpPr>
        <p:spPr>
          <a:xfrm>
            <a:off x="3154680" y="1883664"/>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CAD-to-cost with physics-based models and regional cost databases. Used by Fortune-500 OEMs and Tier-1 suppliers — companies our size already pay for this category.</a:t>
            </a:r>
          </a:p>
        </p:txBody>
      </p:sp>
      <p:sp>
        <p:nvSpPr>
          <p:cNvPr id="14" name="TextBox 13"/>
          <p:cNvSpPr txBox="1"/>
          <p:nvPr/>
        </p:nvSpPr>
        <p:spPr>
          <a:xfrm>
            <a:off x="3154680" y="2313432"/>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apriori.com</a:t>
            </a:r>
          </a:p>
        </p:txBody>
      </p:sp>
      <p:sp>
        <p:nvSpPr>
          <p:cNvPr id="15" name="Rounded Rectangle 14"/>
          <p:cNvSpPr/>
          <p:nvPr/>
        </p:nvSpPr>
        <p:spPr>
          <a:xfrm>
            <a:off x="411480" y="2606040"/>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606040"/>
            <a:ext cx="82296" cy="71323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2679192"/>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4F46E5"/>
                </a:solidFill>
                <a:latin typeface="Calibri"/>
              </a:rPr>
              <a:t>Siemens PCM</a:t>
            </a:r>
          </a:p>
        </p:txBody>
      </p:sp>
      <p:sp>
        <p:nvSpPr>
          <p:cNvPr id="18" name="TextBox 17"/>
          <p:cNvSpPr txBox="1"/>
          <p:nvPr/>
        </p:nvSpPr>
        <p:spPr>
          <a:xfrm>
            <a:off x="685800" y="3008376"/>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PLM giant (Teamcenter)</a:t>
            </a:r>
          </a:p>
        </p:txBody>
      </p:sp>
      <p:sp>
        <p:nvSpPr>
          <p:cNvPr id="19" name="TextBox 18"/>
          <p:cNvSpPr txBox="1"/>
          <p:nvPr/>
        </p:nvSpPr>
        <p:spPr>
          <a:xfrm>
            <a:off x="3154680" y="2679192"/>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Bottom-up should-costing with process models and supplier collaboration, embedded in the Siemens PLM suite.</a:t>
            </a:r>
          </a:p>
        </p:txBody>
      </p:sp>
      <p:sp>
        <p:nvSpPr>
          <p:cNvPr id="20" name="TextBox 19"/>
          <p:cNvSpPr txBox="1"/>
          <p:nvPr/>
        </p:nvSpPr>
        <p:spPr>
          <a:xfrm>
            <a:off x="3154680" y="3108960"/>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siemens.com/teamcenter</a:t>
            </a:r>
          </a:p>
        </p:txBody>
      </p:sp>
      <p:sp>
        <p:nvSpPr>
          <p:cNvPr id="21" name="Rounded Rectangle 20"/>
          <p:cNvSpPr/>
          <p:nvPr/>
        </p:nvSpPr>
        <p:spPr>
          <a:xfrm>
            <a:off x="411480" y="3401568"/>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3401568"/>
            <a:ext cx="82296" cy="7132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3474720"/>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7C3AED"/>
                </a:solidFill>
                <a:latin typeface="Calibri"/>
              </a:rPr>
              <a:t>Tset</a:t>
            </a:r>
          </a:p>
        </p:txBody>
      </p:sp>
      <p:sp>
        <p:nvSpPr>
          <p:cNvPr id="24" name="TextBox 23"/>
          <p:cNvSpPr txBox="1"/>
          <p:nvPr/>
        </p:nvSpPr>
        <p:spPr>
          <a:xfrm>
            <a:off x="685800" y="3803904"/>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AI challenger (Austria, 2018)</a:t>
            </a:r>
          </a:p>
        </p:txBody>
      </p:sp>
      <p:sp>
        <p:nvSpPr>
          <p:cNvPr id="25" name="TextBox 24"/>
          <p:cNvSpPr txBox="1"/>
          <p:nvPr/>
        </p:nvSpPr>
        <p:spPr>
          <a:xfrm>
            <a:off x="3154680" y="3474720"/>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Automotive-focused costing from 3D models and BOMs, 50+ calculation modules plus CO2. Being acquired by A2MAC1 (June 2026) to build "AI-enabled costing intelligence".</a:t>
            </a:r>
          </a:p>
        </p:txBody>
      </p:sp>
      <p:sp>
        <p:nvSpPr>
          <p:cNvPr id="26" name="TextBox 25"/>
          <p:cNvSpPr txBox="1"/>
          <p:nvPr/>
        </p:nvSpPr>
        <p:spPr>
          <a:xfrm>
            <a:off x="3154680" y="3904488"/>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tset.com · globenewswire.com (18 Jun 2026)</a:t>
            </a:r>
          </a:p>
        </p:txBody>
      </p:sp>
      <p:sp>
        <p:nvSpPr>
          <p:cNvPr id="27" name="Rounded Rectangle 26"/>
          <p:cNvSpPr/>
          <p:nvPr/>
        </p:nvSpPr>
        <p:spPr>
          <a:xfrm>
            <a:off x="411480" y="4197096"/>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197096"/>
            <a:ext cx="82296" cy="713232"/>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4270248"/>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891B2"/>
                </a:solidFill>
                <a:latin typeface="Calibri"/>
              </a:rPr>
              <a:t>Boothroyd DFMA</a:t>
            </a:r>
          </a:p>
        </p:txBody>
      </p:sp>
      <p:sp>
        <p:nvSpPr>
          <p:cNvPr id="30" name="TextBox 29"/>
          <p:cNvSpPr txBox="1"/>
          <p:nvPr/>
        </p:nvSpPr>
        <p:spPr>
          <a:xfrm>
            <a:off x="685800" y="4599432"/>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The classic (Dewhurst)</a:t>
            </a:r>
          </a:p>
        </p:txBody>
      </p:sp>
      <p:sp>
        <p:nvSpPr>
          <p:cNvPr id="31" name="TextBox 30"/>
          <p:cNvSpPr txBox="1"/>
          <p:nvPr/>
        </p:nvSpPr>
        <p:spPr>
          <a:xfrm>
            <a:off x="3154680" y="4270248"/>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Design-for-manufacture and concurrent costing — the methodology textbooks are built on, used for decades.</a:t>
            </a:r>
          </a:p>
        </p:txBody>
      </p:sp>
      <p:sp>
        <p:nvSpPr>
          <p:cNvPr id="32" name="TextBox 31"/>
          <p:cNvSpPr txBox="1"/>
          <p:nvPr/>
        </p:nvSpPr>
        <p:spPr>
          <a:xfrm>
            <a:off x="3154680" y="4700016"/>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dfma.com</a:t>
            </a:r>
          </a:p>
        </p:txBody>
      </p:sp>
      <p:sp>
        <p:nvSpPr>
          <p:cNvPr id="33" name="Rounded Rectangle 32"/>
          <p:cNvSpPr/>
          <p:nvPr/>
        </p:nvSpPr>
        <p:spPr>
          <a:xfrm>
            <a:off x="411480" y="4992624"/>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11480" y="4992624"/>
            <a:ext cx="82296" cy="713232"/>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 y="5065776"/>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64748B"/>
                </a:solidFill>
                <a:latin typeface="Calibri"/>
              </a:rPr>
              <a:t>New AI entrants</a:t>
            </a:r>
          </a:p>
        </p:txBody>
      </p:sp>
      <p:sp>
        <p:nvSpPr>
          <p:cNvPr id="36" name="TextBox 35"/>
          <p:cNvSpPr txBox="1"/>
          <p:nvPr/>
        </p:nvSpPr>
        <p:spPr>
          <a:xfrm>
            <a:off x="685800" y="5394960"/>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Start-ups</a:t>
            </a:r>
          </a:p>
        </p:txBody>
      </p:sp>
      <p:sp>
        <p:nvSpPr>
          <p:cNvPr id="37" name="TextBox 36"/>
          <p:cNvSpPr txBox="1"/>
          <p:nvPr/>
        </p:nvSpPr>
        <p:spPr>
          <a:xfrm>
            <a:off x="3154680" y="5065776"/>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Razorlabs Cost Advisor, Emithran and others: AI quotes from CAD files, calibrated on live machining data.</a:t>
            </a:r>
          </a:p>
        </p:txBody>
      </p:sp>
      <p:sp>
        <p:nvSpPr>
          <p:cNvPr id="38" name="TextBox 37"/>
          <p:cNvSpPr txBox="1"/>
          <p:nvPr/>
        </p:nvSpPr>
        <p:spPr>
          <a:xfrm>
            <a:off x="3154680" y="5495544"/>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emithran.com</a:t>
            </a:r>
          </a:p>
        </p:txBody>
      </p:sp>
      <p:sp>
        <p:nvSpPr>
          <p:cNvPr id="39" name="Rounded Rectangle 38"/>
          <p:cNvSpPr/>
          <p:nvPr/>
        </p:nvSpPr>
        <p:spPr>
          <a:xfrm>
            <a:off x="411480" y="5897880"/>
            <a:ext cx="11384280" cy="685800"/>
          </a:xfrm>
          <a:prstGeom prst="roundRect">
            <a:avLst>
              <a:gd name="adj" fmla="val 10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85800" y="6016752"/>
            <a:ext cx="10881360" cy="502920"/>
          </a:xfrm>
          <a:prstGeom prst="rect">
            <a:avLst/>
          </a:prstGeom>
          <a:noFill/>
        </p:spPr>
        <p:txBody>
          <a:bodyPr wrap="square" anchor="t" lIns="0" rIns="0" tIns="0" bIns="0">
            <a:spAutoFit/>
          </a:bodyPr>
          <a:lstStyle/>
          <a:p>
            <a:pPr algn="l">
              <a:lnSpc>
                <a:spcPct val="112000"/>
              </a:lnSpc>
              <a:spcAft>
                <a:spcPts val="400"/>
              </a:spcAft>
            </a:pPr>
            <a:r>
              <a:rPr sz="1200" b="1" i="0">
                <a:solidFill>
                  <a:srgbClr val="2563EB"/>
                </a:solidFill>
                <a:latin typeface="Calibri"/>
              </a:rPr>
              <a:t>Takeaway: </a:t>
            </a:r>
            <a:r>
              <a:rPr sz="1200" b="0" i="0">
                <a:solidFill>
                  <a:srgbClr val="334155"/>
                </a:solidFill>
                <a:latin typeface="Calibri"/>
              </a:rPr>
              <a:t>the should-cost category is proven — large OEMs already pay for it. The question is not IF it works, but why OURS fits us better: security, learning on our own data, and CAPEE integration (next slide).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DIFFERENTIATION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Why ours — what no vendor offers today</a:t>
            </a:r>
          </a:p>
        </p:txBody>
      </p:sp>
      <p:sp>
        <p:nvSpPr>
          <p:cNvPr id="9" name="Rounded Rectangle 8"/>
          <p:cNvSpPr/>
          <p:nvPr/>
        </p:nvSpPr>
        <p:spPr>
          <a:xfrm>
            <a:off x="411480" y="1828800"/>
            <a:ext cx="5577840" cy="1325880"/>
          </a:xfrm>
          <a:prstGeom prst="roundRect">
            <a:avLst>
              <a:gd name="adj" fmla="val 9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82296" cy="132588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938528"/>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PCB photo → costed BOM</a:t>
            </a:r>
          </a:p>
        </p:txBody>
      </p:sp>
      <p:sp>
        <p:nvSpPr>
          <p:cNvPr id="12" name="TextBox 11"/>
          <p:cNvSpPr txBox="1"/>
          <p:nvPr/>
        </p:nvSpPr>
        <p:spPr>
          <a:xfrm>
            <a:off x="667512" y="2286000"/>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34155"/>
                </a:solidFill>
                <a:latin typeface="Calibri"/>
              </a:rPr>
              <a:t>Photograph a circuit board, get a costed bill of materials with live component pricing. Design tools generate BOMs; no mainstream costing suite costs a board from photos.</a:t>
            </a:r>
          </a:p>
        </p:txBody>
      </p:sp>
      <p:sp>
        <p:nvSpPr>
          <p:cNvPr id="13" name="Rounded Rectangle 12"/>
          <p:cNvSpPr/>
          <p:nvPr/>
        </p:nvSpPr>
        <p:spPr>
          <a:xfrm>
            <a:off x="6217920" y="1828800"/>
            <a:ext cx="5577840" cy="1325880"/>
          </a:xfrm>
          <a:prstGeom prst="roundRect">
            <a:avLst>
              <a:gd name="adj" fmla="val 9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28800"/>
            <a:ext cx="82296" cy="132588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1938528"/>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Self-learning on OUR data</a:t>
            </a:r>
          </a:p>
        </p:txBody>
      </p:sp>
      <p:sp>
        <p:nvSpPr>
          <p:cNvPr id="16" name="TextBox 15"/>
          <p:cNvSpPr txBox="1"/>
          <p:nvPr/>
        </p:nvSpPr>
        <p:spPr>
          <a:xfrm>
            <a:off x="6473952" y="2286000"/>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34155"/>
                </a:solidFill>
                <a:latin typeface="Calibri"/>
              </a:rPr>
              <a:t>Calibrates itself on our real PO prices (error 10.9% → 0.3% after 3 quotes in testing) and raises findings autonomously. Incumbents are still marketing toward this.</a:t>
            </a:r>
          </a:p>
        </p:txBody>
      </p:sp>
      <p:sp>
        <p:nvSpPr>
          <p:cNvPr id="17" name="Rounded Rectangle 16"/>
          <p:cNvSpPr/>
          <p:nvPr/>
        </p:nvSpPr>
        <p:spPr>
          <a:xfrm>
            <a:off x="411480" y="3310128"/>
            <a:ext cx="5577840" cy="1325880"/>
          </a:xfrm>
          <a:prstGeom prst="roundRect">
            <a:avLst>
              <a:gd name="adj" fmla="val 9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310128"/>
            <a:ext cx="82296" cy="132588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19856"/>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Runs inside our walls</a:t>
            </a:r>
          </a:p>
        </p:txBody>
      </p:sp>
      <p:sp>
        <p:nvSpPr>
          <p:cNvPr id="20" name="TextBox 19"/>
          <p:cNvSpPr txBox="1"/>
          <p:nvPr/>
        </p:nvSpPr>
        <p:spPr>
          <a:xfrm>
            <a:off x="667512" y="3767328"/>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34155"/>
                </a:solidFill>
                <a:latin typeface="Calibri"/>
              </a:rPr>
              <a:t>Commercial tools are cloud SaaS — our CAD would live in their cloud. CostVision is on-prem with private AI routing and a provable air-gapped switch, both already built.</a:t>
            </a:r>
          </a:p>
        </p:txBody>
      </p:sp>
      <p:sp>
        <p:nvSpPr>
          <p:cNvPr id="21" name="Rounded Rectangle 20"/>
          <p:cNvSpPr/>
          <p:nvPr/>
        </p:nvSpPr>
        <p:spPr>
          <a:xfrm>
            <a:off x="6217920" y="3310128"/>
            <a:ext cx="5577840" cy="1325880"/>
          </a:xfrm>
          <a:prstGeom prst="roundRect">
            <a:avLst>
              <a:gd name="adj" fmla="val 9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310128"/>
            <a:ext cx="82296" cy="132588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3419856"/>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One platform, no module licences</a:t>
            </a:r>
          </a:p>
        </p:txBody>
      </p:sp>
      <p:sp>
        <p:nvSpPr>
          <p:cNvPr id="24" name="TextBox 23"/>
          <p:cNvSpPr txBox="1"/>
          <p:nvPr/>
        </p:nvSpPr>
        <p:spPr>
          <a:xfrm>
            <a:off x="6473952" y="3767328"/>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34155"/>
                </a:solidFill>
                <a:latin typeface="Calibri"/>
              </a:rPr>
              <a:t>18 commodity engines + automotive software costing + carbon + RFQ generation in one codebase. Vendors sell comparable breadth as separately licensed modules.</a:t>
            </a:r>
          </a:p>
        </p:txBody>
      </p:sp>
      <p:sp>
        <p:nvSpPr>
          <p:cNvPr id="25" name="Rounded Rectangle 24"/>
          <p:cNvSpPr/>
          <p:nvPr/>
        </p:nvSpPr>
        <p:spPr>
          <a:xfrm>
            <a:off x="411480" y="4937760"/>
            <a:ext cx="11384280" cy="914400"/>
          </a:xfrm>
          <a:prstGeom prst="roundRect">
            <a:avLst>
              <a:gd name="adj" fmla="val 8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056632"/>
            <a:ext cx="10881360" cy="731520"/>
          </a:xfrm>
          <a:prstGeom prst="rect">
            <a:avLst/>
          </a:prstGeom>
          <a:noFill/>
        </p:spPr>
        <p:txBody>
          <a:bodyPr wrap="square" anchor="t" lIns="0" rIns="0" tIns="0" bIns="0">
            <a:spAutoFit/>
          </a:bodyPr>
          <a:lstStyle/>
          <a:p>
            <a:pPr algn="l">
              <a:lnSpc>
                <a:spcPct val="115000"/>
              </a:lnSpc>
              <a:spcAft>
                <a:spcPts val="400"/>
              </a:spcAft>
            </a:pPr>
            <a:r>
              <a:rPr sz="1200" b="1" i="0">
                <a:solidFill>
                  <a:srgbClr val="D97706"/>
                </a:solidFill>
                <a:latin typeface="Calibri"/>
              </a:rPr>
              <a:t>Honest caveat: </a:t>
            </a:r>
            <a:r>
              <a:rPr sz="1150" b="0" i="0">
                <a:solidFill>
                  <a:srgbClr val="334155"/>
                </a:solidFill>
                <a:latin typeface="Calibri"/>
              </a:rPr>
              <a:t>vendors like aPriori have decades of curated global cost data behind their numbers. Our answer is the learning loop: every quote CAPEE logs turns OUR history into a moat no vendor can buy — and our rates stay confidential.</a:t>
            </a:r>
          </a:p>
        </p:txBody>
      </p:sp>
      <p:sp>
        <p:nvSpPr>
          <p:cNvPr id="27" name="TextBox 26"/>
          <p:cNvSpPr txBox="1"/>
          <p:nvPr/>
        </p:nvSpPr>
        <p:spPr>
          <a:xfrm>
            <a:off x="411480" y="5989320"/>
            <a:ext cx="1133856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0F172A"/>
                </a:solidFill>
                <a:latin typeface="Calibri"/>
              </a:rPr>
              <a:t>Positioning: not "better than aPriori" — an internal, secure, self-learning costing engine behind CAPEE that gets smarter on our own data.</a:t>
            </a:r>
          </a:p>
        </p:txBody>
      </p:sp>
      <p:sp>
        <p:nvSpPr>
          <p:cNvPr id="28" name="TextBox 27"/>
          <p:cNvSpPr txBox="1"/>
          <p:nvPr/>
        </p:nvSpPr>
        <p:spPr>
          <a:xfrm>
            <a:off x="411480" y="6355080"/>
            <a:ext cx="11338560" cy="228600"/>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Sources: apriori.com · siemens.com/teamcenter · tset.com · globenewswire.com (A2MAC1-Tset, 18 Jun 2026) · dfma.com · emithran.com · flux.ai · circuitmind.io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