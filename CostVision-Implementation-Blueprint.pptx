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B7280"/>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2E8B57"/>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it stays the should-cost software our teams already use; CostVision integrates into it and upgrades its engine with AI, physics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watches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For a deployment audience that matters twice over: autonomy here never means the AI quietly sets a price, and nothing it does happens off the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what's newest, because it directly strengthens the security-and-defensibility case this deck makes. Six upgrades shipped in 2026, all built and tested. The one I'd start with is the self-audit: a deterministic layer that re-checks every single estimate against a list of mistakes we've actually seen, and corrects them within bounds — and I can prove it, because we ran it on five real automotive CAD parts and it caught every one, a fuel tank alone falling from two hundred and seventeen pounds to twenty-five. The tool now also learns from your own logged quotes, building per-segment calibration and watching for drift, so it gets tighter on your parts over time. Alongside those, the machine-sizing that used to be hard-coded is now universal across commodities. The negotiation coach names the commodity driving a cost and writes the buyer's counter-argument; the autonomous agent prioritises the savings we can really recover; and the what-if engine answers 'if a commodity moves, what happens' as a defensible conditional. Underneath all of it, everything stays glass-box — every learned number is auditable, nothing is a black box — and the whole thing, CAD engine included, ships in a container whose build is verified in our CI pipeline. That is exactly the combination — checked, learned-from-data, and auditable — that makes these numbers safe to deploy and defend.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in one line: CostVision integrates INTO CAPEE, the should-cost software our teams already use — it doesn't sit beside it. CAPEE keeps the workflow, the approvals and the reporting; what changes is that its costing engine is now powered by CostVision underneath, called over internal APIs that already exist. So users open CAPEE exactly as they do today and simply get better should-cost numbers.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own data makes the engine smarter without anyone lifting a finger. One shared rate library and knowledge database means one version of the truth across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Integrating into CAPEE is feasible and high-value: CostVision plugs in as the should-cost engine while CAPEE stays the tool teams work in.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one thousand seven hundred and seventy-seven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here because the plan you approved is a few months old now, and four things have been built since that are worth knowing about. First, and the one your engineers pushed hardest for: the design-for-manufacture advice used to look at the finished cost and guess backwards. They told me that was too generic, and they were right. It now opens the 3D model and measures every face on the part. Nineteen rules, every one citing a published standard rather than my opinion, and when it flags something it shows you exactly which faces on the model are the problem. Second, gears. Cost engineering and the plant asked for this directly. Gears used to go through the tool as ordinary milled parts, which cannot see a tooth. Now the tool picks the manufacturing process from the geometry itself and works the cycle time out from the machine kinematics. Third, landed cost. A should-cost now includes duty, carbon border tax and origin rules, so the number is what the part costs at our door rather than at the supplier's gate. Fourth, long-term agreements are now priced properly — the annual quantity and the programme lifetime are separate, which they always should have been. And the amber bar is me being straight. The gear model is structurally right but it is running on representative shop figures, not yours, and we have not yet checked a gear against a cost we know. The tool says so itself on every estimate. Give me your machine list and two costed gears and that gap closes.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aimed squarely at you, and it is short on purpose. The gear model is built. The arithmetic behind the cycle times is the gear-train maths, and you can check it line by line — the tool prints the sum. What it does not have is your shop. Right now it is running on representative feeds and speeds and a representative machine list, and it says so on every single estimate it produces. I would rather it under-claim than have it quietly pretend. So there are three things I need, and they are in order of how much each one moves the number. First, your gear machine list — the classes, the hourly rates, and the capacity limits. That is the single biggest one, because right now the tool is choosing between fourteen machine classes I have described rather than fourteen machines you actually own. Second, the feeds and speeds by material and module, plus what a hob costs and how many parts it cuts between regrinds. Those drive the cycle time, and the cycle time drives the cost. Third, and this is the one that turns it from a model into a proven model — two gears where you already know the real cost. Ideally one that is just hobbed and one that is hardened and ground, because those are the two ends of the range. Until we do that comparison, everything I have shown you is internally consistent but unproven. The effort is about half a day of exports plus two costings you have already done. Nothing new has to be measured, and nothing has to be created for 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photo-to-BOM workflow in six steps. An engineer photographs a circuit board — up to five photos, and optionally a BOM or pick-and-place file if one exists. Step two: the AI first classifies what kind of board it is, including automotive safety level, so the right cost assumptions apply. Step three is an OCR pass — it literally reads the part numbers printed on the chips, which anchors the analysis in hard evidence. Step four is the full vision extraction: every visible component located, typed and identified, in about twenty seconds. Step five matters for trust: ordinary deterministic code — not AI — cleans the list, scores confidence line by line, grounds prices against a distributor catalogue, and then builds the full cost: bare board fabrication, component purchase, SMT assembly time and test, on our country rates. And step six: the result is fingerprinted and cached, so the same photos always give the same answer — an auditable property no ad-hoc AI chat can offer.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feature from three angles. Technology: the vision model runs through our controlled endpoint, inside a five-stage pipeline, and everything after the AI step is plain deterministic code — including a fingerprint cache that makes results repeatable and auditable. Live distributor pricing is opt-in and sends only part-number text, never images. Accuracy: the OCR pass means part numbers are read off the chips, not guessed; the post-processor rejects implausible part numbers; every line carries a confidence score and low ones are flagged for review; and prices are grounded against a catalogue and shown as ranges, not false precision. Speed: the heavy AI pass is about twenty seconds, a full costed BOM lands in under a minute, and repeating the same board is instant. The honest limit to state up front: it can only see what is photographed — underside components need an underside photo — and where it is unsure it says so and asks for a human check. That is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CAD-to-cost workflow. An engineer uploads a STEP, IGES or STL model — either in the dedicated CAD-to-Cost flow or directly inside any of thirteen commodity calculators. Step two is the security headline: the geometry engine opens the model in memory, inside our own server — the file is never written to disk and never leaves the network. Step three, the engine measures the part: exact volume, surface area, wall thickness, holes — numbers measured from the actual geometry rather than read off a drawing by eye. Step four, those measurements auto-fill the costing inputs — mass, stock size, suggested process parameters — which the engineer reviews rather than types. Step five, the physics engines build the cost bottom-up on our own rates. And step six, the output is a defensible breakdown with manufacturability warnings and an honest uncertainty band that tightens as the learning loop absorbs real quotes.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CAD-to-cost from the same three angles. Technology: the geometry work is done by OCCT — Open CASCADE, the same engineering kernel class that commercial CAD packages build on — running inside our backend, with a pure-TypeScript fast path for STL files. The costing itself is done by our eighteen deterministic physics engines. The AI's only job is translating the measured geometry into sensible process inputs — and it never receives the CAD file, only a short numeric summary. Accuracy: the inputs are measured, not estimated — exact volume gives exact mass; every cost line is traceable; manufacturability checks catch physically impossible set-ups; the uncertainty band is shown honestly; and calibration against just three real quotes took machining error from eleven percent to a third of a percent. Speed: seconds to measure, instant to cost, minutes to a defensible first price — against hours of manual take-off. And the green bar restates the point that matters most in this room: the CAD never leaves our walls, full stop.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the question directly: what does the tool pull off the model on its own, and where does each thing go. Left, every item is measured with nothing typed; right, the cost driver it feeds. Volume and weight from the kernel make material exact; the envelope sizes machine and stock; body count is assembly and BOM scope; holes become drilling; wall thickness decides mould and cast feasibility; draft flags undercuts that need slides; face areas drive machining and paint. On the right, the real gear — two kilos of gear steel, about twenty-two pounds ex-works from India, in sterling. And the guardrail: the AI never sets the price. It classifies; the engine does deterministic maths on the geometry, every rate traceable.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16325C"/>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FFFFFF"/>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8FA3CC"/>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FFFFFF"/>
                </a:solidFill>
                <a:latin typeface="Cambria"/>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CADCFC"/>
                </a:solidFill>
                <a:latin typeface="Calibri"/>
              </a:rPr>
              <a:t>Secure deployment inside our network — integrated into CAPEE, our existing should-cost software.</a:t>
            </a:r>
          </a:p>
          <a:p>
            <a:pPr algn="l">
              <a:lnSpc>
                <a:spcPct val="100000"/>
              </a:lnSpc>
              <a:spcAft>
                <a:spcPts val="400"/>
              </a:spcAft>
            </a:pPr>
            <a:r>
              <a:rPr sz="1900" b="0" i="0">
                <a:solidFill>
                  <a:srgbClr val="CADCFC"/>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E8B57"/>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1D6FB8"/>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6B3FA0"/>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E8074"/>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8FA3CC"/>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1D6FB8"/>
                </a:solidFill>
                <a:latin typeface="Calibri"/>
              </a:rPr>
              <a:t>Approve Phases 1–2: </a:t>
            </a:r>
            <a:r>
              <a:rPr sz="1700" b="0" i="0">
                <a:solidFill>
                  <a:srgbClr val="3A4356"/>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1D6FB8"/>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The tool is built, tested (1,777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E8B57"/>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6B3FA0"/>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CAPEE is our existing should-cost software; CostVision plugs into it to upgrade its engine with AI, physics and memory. No rip-and-replace.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E8074"/>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E8B57"/>
                </a:solidFill>
                <a:latin typeface="Calibri"/>
              </a:rPr>
              <a:t>Agentic AI (upgraded 2026)</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Learns from every quote; conformal confidence with a guarantee, a causal negotiation coach, outcome-weighted findings and what-if scenarios — all glass-box</a:t>
            </a:r>
          </a:p>
        </p:txBody>
      </p:sp>
      <p:sp>
        <p:nvSpPr>
          <p:cNvPr id="25" name="Rounded Rectangle 24"/>
          <p:cNvSpPr/>
          <p:nvPr/>
        </p:nvSpPr>
        <p:spPr>
          <a:xfrm>
            <a:off x="411480" y="5074920"/>
            <a:ext cx="11384280" cy="118872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2E8B57"/>
                </a:solidFill>
                <a:latin typeface="Calibri"/>
              </a:rPr>
              <a:t>Proven, not promised:  </a:t>
            </a:r>
            <a:r>
              <a:rPr sz="1350" b="0" i="0">
                <a:solidFill>
                  <a:srgbClr val="3A4356"/>
                </a:solidFill>
                <a:latin typeface="Calibri"/>
              </a:rPr>
              <a:t>estimating error cut from 10.9% to 0.3% after learning from 3 real quotes  ·  £512k/yr of pricing issues found autonomously in the live demo  ·  1,777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CONCEPT ·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Agentic vs autonomous agentic — with examples</a:t>
            </a:r>
          </a:p>
        </p:txBody>
      </p:sp>
      <p:sp>
        <p:nvSpPr>
          <p:cNvPr id="9" name="TextBox 8"/>
          <p:cNvSpPr txBox="1"/>
          <p:nvPr/>
        </p:nvSpPr>
        <p:spPr>
          <a:xfrm>
            <a:off x="411480" y="1627632"/>
            <a:ext cx="11338560" cy="365760"/>
          </a:xfrm>
          <a:prstGeom prst="rect">
            <a:avLst/>
          </a:prstGeom>
          <a:noFill/>
        </p:spPr>
        <p:txBody>
          <a:bodyPr wrap="square" anchor="t" lIns="0" rIns="0" tIns="0" bIns="0">
            <a:spAutoFit/>
          </a:bodyPr>
          <a:lstStyle/>
          <a:p>
            <a:pPr algn="l">
              <a:lnSpc>
                <a:spcPct val="105000"/>
              </a:lnSpc>
              <a:spcAft>
                <a:spcPts val="400"/>
              </a:spcAft>
            </a:pPr>
            <a:r>
              <a:rPr sz="1250" b="0" i="1">
                <a:solidFill>
                  <a:srgbClr val="3A4356"/>
                </a:solidFill>
                <a:latin typeface="Calibri"/>
              </a:rPr>
              <a:t>Two levels. On the left it acts because you asked. On the right it acts on its own, within limits you set.</a:t>
            </a:r>
          </a:p>
        </p:txBody>
      </p:sp>
      <p:sp>
        <p:nvSpPr>
          <p:cNvPr id="10" name="Rounded Rectangle 9"/>
          <p:cNvSpPr/>
          <p:nvPr/>
        </p:nvSpPr>
        <p:spPr>
          <a:xfrm>
            <a:off x="411480" y="2084831"/>
            <a:ext cx="5559552" cy="371246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84831"/>
            <a:ext cx="73152" cy="3712463"/>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1D6FB8"/>
                </a:solidFill>
                <a:latin typeface="Calibri"/>
              </a:rPr>
              <a:t>Agentic AI</a:t>
            </a:r>
          </a:p>
        </p:txBody>
      </p:sp>
      <p:sp>
        <p:nvSpPr>
          <p:cNvPr id="13" name="TextBox 12"/>
          <p:cNvSpPr txBox="1"/>
          <p:nvPr/>
        </p:nvSpPr>
        <p:spPr>
          <a:xfrm>
            <a:off x="66751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B7280"/>
                </a:solidFill>
                <a:latin typeface="Calibri"/>
              </a:rPr>
              <a:t>Assisted — you trigger it and stay in the loop; a human approves</a:t>
            </a:r>
          </a:p>
        </p:txBody>
      </p:sp>
      <p:sp>
        <p:nvSpPr>
          <p:cNvPr id="14" name="Rounded Rectangle 13"/>
          <p:cNvSpPr/>
          <p:nvPr/>
        </p:nvSpPr>
        <p:spPr>
          <a:xfrm>
            <a:off x="63093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2980943"/>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AI Agent   </a:t>
            </a:r>
            <a:r>
              <a:rPr sz="950" b="0" i="0">
                <a:solidFill>
                  <a:srgbClr val="6B7280"/>
                </a:solidFill>
                <a:latin typeface="Calibri"/>
              </a:rPr>
              <a:t>Describe a part in plain English; it builds the cost model.</a:t>
            </a:r>
          </a:p>
        </p:txBody>
      </p:sp>
      <p:sp>
        <p:nvSpPr>
          <p:cNvPr id="17" name="Rounded Rectangle 16"/>
          <p:cNvSpPr/>
          <p:nvPr/>
        </p:nvSpPr>
        <p:spPr>
          <a:xfrm>
            <a:off x="63093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 y="3675887"/>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CAD / photo → cost   </a:t>
            </a:r>
            <a:r>
              <a:rPr sz="950" b="0" i="0">
                <a:solidFill>
                  <a:srgbClr val="6B7280"/>
                </a:solidFill>
                <a:latin typeface="Calibri"/>
              </a:rPr>
              <a:t>Upload a file; it measures the part and picks the process.</a:t>
            </a:r>
          </a:p>
        </p:txBody>
      </p:sp>
      <p:sp>
        <p:nvSpPr>
          <p:cNvPr id="20" name="Rounded Rectangle 19"/>
          <p:cNvSpPr/>
          <p:nvPr/>
        </p:nvSpPr>
        <p:spPr>
          <a:xfrm>
            <a:off x="63093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 y="4370831"/>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Negotiation coach   </a:t>
            </a:r>
            <a:r>
              <a:rPr sz="950" b="0" i="0">
                <a:solidFill>
                  <a:srgbClr val="6B7280"/>
                </a:solidFill>
                <a:latin typeface="Calibri"/>
              </a:rPr>
              <a:t>Open a part; it drafts your counter-argument and target.</a:t>
            </a:r>
          </a:p>
        </p:txBody>
      </p:sp>
      <p:sp>
        <p:nvSpPr>
          <p:cNvPr id="23" name="Rounded Rectangle 22"/>
          <p:cNvSpPr/>
          <p:nvPr/>
        </p:nvSpPr>
        <p:spPr>
          <a:xfrm>
            <a:off x="63093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5065775"/>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Rate-data assistant   </a:t>
            </a:r>
            <a:r>
              <a:rPr sz="950" b="0" i="0">
                <a:solidFill>
                  <a:srgbClr val="6B7280"/>
                </a:solidFill>
                <a:latin typeface="Calibri"/>
              </a:rPr>
              <a:t>Ask a costing question; it answers from your own rates.</a:t>
            </a:r>
          </a:p>
        </p:txBody>
      </p:sp>
      <p:sp>
        <p:nvSpPr>
          <p:cNvPr id="26" name="Rounded Rectangle 25"/>
          <p:cNvSpPr/>
          <p:nvPr/>
        </p:nvSpPr>
        <p:spPr>
          <a:xfrm>
            <a:off x="6217920" y="2084831"/>
            <a:ext cx="5559552" cy="3712463"/>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2084831"/>
            <a:ext cx="73152" cy="3712463"/>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6B3FA0"/>
                </a:solidFill>
                <a:latin typeface="Calibri"/>
              </a:rPr>
              <a:t>Autonomous Agentic AI</a:t>
            </a:r>
          </a:p>
        </p:txBody>
      </p:sp>
      <p:sp>
        <p:nvSpPr>
          <p:cNvPr id="29" name="TextBox 28"/>
          <p:cNvSpPr txBox="1"/>
          <p:nvPr/>
        </p:nvSpPr>
        <p:spPr>
          <a:xfrm>
            <a:off x="647395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B7280"/>
                </a:solidFill>
                <a:latin typeface="Calibri"/>
              </a:rPr>
              <a:t>Self-directed — runs unattended on a schedule, within limits you set</a:t>
            </a:r>
          </a:p>
        </p:txBody>
      </p:sp>
      <p:sp>
        <p:nvSpPr>
          <p:cNvPr id="30" name="Rounded Rectangle 29"/>
          <p:cNvSpPr/>
          <p:nvPr/>
        </p:nvSpPr>
        <p:spPr>
          <a:xfrm>
            <a:off x="643737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980943"/>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Savings monitor   </a:t>
            </a:r>
            <a:r>
              <a:rPr sz="950" b="0" i="0">
                <a:solidFill>
                  <a:srgbClr val="6B7280"/>
                </a:solidFill>
                <a:latin typeface="Calibri"/>
              </a:rPr>
              <a:t>Compares what we pay with should-cost — £0.5M/yr found unattended.</a:t>
            </a:r>
          </a:p>
        </p:txBody>
      </p:sp>
      <p:sp>
        <p:nvSpPr>
          <p:cNvPr id="33" name="Rounded Rectangle 32"/>
          <p:cNvSpPr/>
          <p:nvPr/>
        </p:nvSpPr>
        <p:spPr>
          <a:xfrm>
            <a:off x="643737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675887"/>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Self-audit   </a:t>
            </a:r>
            <a:r>
              <a:rPr sz="950" b="0" i="0">
                <a:solidFill>
                  <a:srgbClr val="6B7280"/>
                </a:solidFill>
                <a:latin typeface="Calibri"/>
              </a:rPr>
              <a:t>Re-checks every estimate and corrects it. Nobody asks it to.</a:t>
            </a:r>
          </a:p>
        </p:txBody>
      </p:sp>
      <p:sp>
        <p:nvSpPr>
          <p:cNvPr id="36" name="Rounded Rectangle 35"/>
          <p:cNvSpPr/>
          <p:nvPr/>
        </p:nvSpPr>
        <p:spPr>
          <a:xfrm>
            <a:off x="643737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37376" y="4370831"/>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Calibration &amp; drift   </a:t>
            </a:r>
            <a:r>
              <a:rPr sz="950" b="0" i="0">
                <a:solidFill>
                  <a:srgbClr val="6B7280"/>
                </a:solidFill>
                <a:latin typeface="Calibri"/>
              </a:rPr>
              <a:t>Learns from logged quotes and watches for drift.</a:t>
            </a:r>
          </a:p>
        </p:txBody>
      </p:sp>
      <p:sp>
        <p:nvSpPr>
          <p:cNvPr id="39" name="Rounded Rectangle 38"/>
          <p:cNvSpPr/>
          <p:nvPr/>
        </p:nvSpPr>
        <p:spPr>
          <a:xfrm>
            <a:off x="643737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7376" y="5065775"/>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Outcome-weighted ranking   </a:t>
            </a:r>
            <a:r>
              <a:rPr sz="950" b="0" i="0">
                <a:solidFill>
                  <a:srgbClr val="6B7280"/>
                </a:solidFill>
                <a:latin typeface="Calibri"/>
              </a:rPr>
              <a:t>Learns which findings actually convert, and re-ranks them.</a:t>
            </a:r>
          </a:p>
        </p:txBody>
      </p:sp>
      <p:sp>
        <p:nvSpPr>
          <p:cNvPr id="42" name="Rounded Rectangle 41"/>
          <p:cNvSpPr/>
          <p:nvPr/>
        </p:nvSpPr>
        <p:spPr>
          <a:xfrm>
            <a:off x="411480" y="5943600"/>
            <a:ext cx="11365992" cy="621792"/>
          </a:xfrm>
          <a:prstGeom prst="roundRect">
            <a:avLst>
              <a:gd name="adj" fmla="val 8000"/>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43600"/>
            <a:ext cx="10881360" cy="621792"/>
          </a:xfrm>
          <a:prstGeom prst="rect">
            <a:avLst/>
          </a:prstGeom>
          <a:noFill/>
        </p:spPr>
        <p:txBody>
          <a:bodyPr wrap="square" anchor="ctr" lIns="0" rIns="0" tIns="0" bIns="0">
            <a:spAutoFit/>
          </a:bodyPr>
          <a:lstStyle/>
          <a:p>
            <a:pPr algn="l">
              <a:lnSpc>
                <a:spcPct val="100000"/>
              </a:lnSpc>
              <a:spcAft>
                <a:spcPts val="400"/>
              </a:spcAft>
            </a:pPr>
            <a:r>
              <a:rPr sz="1150" b="1" i="0">
                <a:solidFill>
                  <a:srgbClr val="FFFFFF"/>
                </a:solidFill>
                <a:latin typeface="Calibri"/>
              </a:rPr>
              <a:t>The common thread:  </a:t>
            </a:r>
            <a:r>
              <a:rPr sz="1150" b="0" i="0">
                <a:solidFill>
                  <a:srgbClr val="E8EEFF"/>
                </a:solidFill>
                <a:latin typeface="Calibri"/>
              </a:rPr>
              <a:t>you set the boundaries, and every action stays auditable. Autonomy never means the AI sets a price in secret.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BACKGROUND · NEW IN 2026</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Latest intelligence — six upgrades that widen the moat</a:t>
            </a:r>
          </a:p>
        </p:txBody>
      </p:sp>
      <p:sp>
        <p:nvSpPr>
          <p:cNvPr id="9" name="Rounded Rectangle 8"/>
          <p:cNvSpPr/>
          <p:nvPr/>
        </p:nvSpPr>
        <p:spPr>
          <a:xfrm>
            <a:off x="411480" y="182880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Self-audit &amp; guardrails</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A deterministic layer re-checks every estimate for known errors and applies bounded corrections — proven on five real automotive CAD parts (a fuel tank fell from £217 to £25). Geometry stays ground truth; the AI never overrules it.</a:t>
            </a:r>
          </a:p>
        </p:txBody>
      </p:sp>
      <p:sp>
        <p:nvSpPr>
          <p:cNvPr id="13" name="Rounded Rectangle 12"/>
          <p:cNvSpPr/>
          <p:nvPr/>
        </p:nvSpPr>
        <p:spPr>
          <a:xfrm>
            <a:off x="411480" y="2578608"/>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Learns from your quotes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Bulk-import logged actuals; the engine builds per-segment calibration and watches for drift, so the number tightens as your own history grows — and status rides on every estimate.</a:t>
            </a:r>
          </a:p>
        </p:txBody>
      </p:sp>
      <p:sp>
        <p:nvSpPr>
          <p:cNvPr id="17" name="Rounded Rectangle 16"/>
          <p:cNvSpPr/>
          <p:nvPr/>
        </p:nvSpPr>
        <p:spPr>
          <a:xfrm>
            <a:off x="411480" y="3328415"/>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Negotiation coach</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Names the cost driver and writes the counter: "a quote of £95 implies aluminium +14% above spot — hold at £86.34."</a:t>
            </a:r>
          </a:p>
        </p:txBody>
      </p:sp>
      <p:sp>
        <p:nvSpPr>
          <p:cNvPr id="21" name="Rounded Rectangle 20"/>
          <p:cNvSpPr/>
          <p:nvPr/>
        </p:nvSpPr>
        <p:spPr>
          <a:xfrm>
            <a:off x="411480" y="4078224"/>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Outcome-weighted findings</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The agent learns which findings convert and ranks by money it can really recover — a £100k gap that closes beats a £200k gap that never does.</a:t>
            </a:r>
          </a:p>
        </p:txBody>
      </p:sp>
      <p:sp>
        <p:nvSpPr>
          <p:cNvPr id="25" name="Rounded Rectangle 24"/>
          <p:cNvSpPr/>
          <p:nvPr/>
        </p:nvSpPr>
        <p:spPr>
          <a:xfrm>
            <a:off x="411480" y="4828031"/>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E8074"/>
                </a:solidFill>
                <a:latin typeface="Calibri"/>
              </a:rPr>
              <a:t>What-if engine</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Drag a commodity ±20% and the price recomputes live; run it across the whole portfolio ("if steel +10%, 7 parts go underwater").</a:t>
            </a:r>
          </a:p>
        </p:txBody>
      </p:sp>
      <p:sp>
        <p:nvSpPr>
          <p:cNvPr id="29" name="Rounded Rectangle 28"/>
          <p:cNvSpPr/>
          <p:nvPr/>
        </p:nvSpPr>
        <p:spPr>
          <a:xfrm>
            <a:off x="411480" y="5577840"/>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B7791F"/>
                </a:solidFill>
                <a:latin typeface="Calibri"/>
              </a:rPr>
              <a:t>Glass-box by design</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Every learned or derived number stays auditable — no black-box weight ever touches the price. The competitor edge is the opposite.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B7280"/>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B7280"/>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B7280"/>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E8074"/>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B7280"/>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E8B57"/>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B7280"/>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B7791F"/>
                </a:solidFill>
                <a:latin typeface="Calibri"/>
              </a:rPr>
              <a:t>IT-Security requirement:  </a:t>
            </a:r>
            <a:r>
              <a:rPr sz="1500" b="1" i="0">
                <a:solidFill>
                  <a:srgbClr val="16325C"/>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2E8B57"/>
                </a:solidFill>
                <a:latin typeface="Calibri"/>
              </a:rPr>
              <a:t>The key finding from the code audit:  </a:t>
            </a:r>
            <a:r>
              <a:rPr sz="1500" b="1" i="0">
                <a:solidFill>
                  <a:srgbClr val="16325C"/>
                </a:solidFill>
                <a:latin typeface="Calibri"/>
              </a:rPr>
              <a:t>CAD files already never leave the server.</a:t>
            </a:r>
          </a:p>
          <a:p>
            <a:pPr algn="l">
              <a:lnSpc>
                <a:spcPct val="120000"/>
              </a:lnSpc>
              <a:spcAft>
                <a:spcPts val="800"/>
              </a:spcAft>
            </a:pPr>
            <a:r>
              <a:rPr sz="1300" b="0" i="0">
                <a:solidFill>
                  <a:srgbClr val="3A4356"/>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16325C"/>
                </a:solidFill>
                <a:latin typeface="Calibri"/>
              </a:rPr>
              <a:t>Why you can trust this: </a:t>
            </a:r>
            <a:r>
              <a:rPr sz="1250" b="0" i="0">
                <a:solidFill>
                  <a:srgbClr val="3A4356"/>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E8B57"/>
                </a:solidFill>
                <a:latin typeface="Calibri"/>
              </a:rPr>
              <a:t>STAYS INSIDE — already ✓</a:t>
            </a:r>
          </a:p>
        </p:txBody>
      </p:sp>
      <p:sp>
        <p:nvSpPr>
          <p:cNvPr id="11" name="Rectangle 10"/>
          <p:cNvSpPr/>
          <p:nvPr/>
        </p:nvSpPr>
        <p:spPr>
          <a:xfrm>
            <a:off x="685800" y="2468880"/>
            <a:ext cx="82296"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CAD / geometry processing</a:t>
            </a:r>
          </a:p>
          <a:p>
            <a:pPr algn="l">
              <a:lnSpc>
                <a:spcPct val="105000"/>
              </a:lnSpc>
              <a:spcAft>
                <a:spcPts val="200"/>
              </a:spcAft>
            </a:pPr>
            <a:r>
              <a:rPr sz="1050" b="0" i="0">
                <a:solidFill>
                  <a:srgbClr val="3A4356"/>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All 18 cost engines</a:t>
            </a:r>
          </a:p>
          <a:p>
            <a:pPr algn="l">
              <a:lnSpc>
                <a:spcPct val="105000"/>
              </a:lnSpc>
              <a:spcAft>
                <a:spcPts val="200"/>
              </a:spcAft>
            </a:pPr>
            <a:r>
              <a:rPr sz="1050" b="0" i="0">
                <a:solidFill>
                  <a:srgbClr val="3A4356"/>
                </a:solidFill>
                <a:latin typeface="Calibri"/>
              </a:rPr>
              <a:t>Physics + maths, fully local</a:t>
            </a:r>
          </a:p>
        </p:txBody>
      </p:sp>
      <p:sp>
        <p:nvSpPr>
          <p:cNvPr id="15" name="Rectangle 14"/>
          <p:cNvSpPr/>
          <p:nvPr/>
        </p:nvSpPr>
        <p:spPr>
          <a:xfrm>
            <a:off x="685800" y="4206240"/>
            <a:ext cx="82296"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Knowledge base &amp; learning loop</a:t>
            </a:r>
          </a:p>
          <a:p>
            <a:pPr algn="l">
              <a:lnSpc>
                <a:spcPct val="105000"/>
              </a:lnSpc>
              <a:spcAft>
                <a:spcPts val="200"/>
              </a:spcAft>
            </a:pPr>
            <a:r>
              <a:rPr sz="1050" b="0" i="0">
                <a:solidFill>
                  <a:srgbClr val="3A4356"/>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BOM file parsing, exports, reports</a:t>
            </a:r>
          </a:p>
          <a:p>
            <a:pPr algn="l">
              <a:lnSpc>
                <a:spcPct val="105000"/>
              </a:lnSpc>
              <a:spcAft>
                <a:spcPts val="200"/>
              </a:spcAft>
            </a:pPr>
            <a:r>
              <a:rPr sz="1050" b="0" i="0">
                <a:solidFill>
                  <a:srgbClr val="3A4356"/>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B7791F"/>
                </a:solidFill>
                <a:latin typeface="Calibri"/>
              </a:rPr>
              <a:t>LEAVES TODAY — controlled ✓</a:t>
            </a:r>
          </a:p>
        </p:txBody>
      </p:sp>
      <p:sp>
        <p:nvSpPr>
          <p:cNvPr id="21" name="Rectangle 20"/>
          <p:cNvSpPr/>
          <p:nvPr/>
        </p:nvSpPr>
        <p:spPr>
          <a:xfrm>
            <a:off x="7863840" y="2468880"/>
            <a:ext cx="82296" cy="10058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AI layer calls</a:t>
            </a:r>
          </a:p>
          <a:p>
            <a:pPr algn="l">
              <a:lnSpc>
                <a:spcPct val="105000"/>
              </a:lnSpc>
              <a:spcAft>
                <a:spcPts val="200"/>
              </a:spcAft>
            </a:pPr>
            <a:r>
              <a:rPr sz="1050" b="0" i="0">
                <a:solidFill>
                  <a:srgbClr val="3A4356"/>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Live part pricing (optional, OFF by default)</a:t>
            </a:r>
          </a:p>
          <a:p>
            <a:pPr algn="l">
              <a:lnSpc>
                <a:spcPct val="105000"/>
              </a:lnSpc>
              <a:spcAft>
                <a:spcPts val="200"/>
              </a:spcAft>
            </a:pPr>
            <a:r>
              <a:rPr sz="1050" b="0" i="0">
                <a:solidFill>
                  <a:srgbClr val="3A4356"/>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News ticker feeds</a:t>
            </a:r>
          </a:p>
          <a:p>
            <a:pPr algn="l">
              <a:lnSpc>
                <a:spcPct val="105000"/>
              </a:lnSpc>
              <a:spcAft>
                <a:spcPts val="200"/>
              </a:spcAft>
            </a:pPr>
            <a:r>
              <a:rPr sz="1050" b="0" i="0">
                <a:solidFill>
                  <a:srgbClr val="3A4356"/>
                </a:solidFill>
                <a:latin typeface="Calibri"/>
              </a:rPr>
              <a:t>Public news, no company data — silenced by the air-gap switch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B7280"/>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 </a:t>
            </a:r>
            <a:r>
              <a:rPr sz="1100" b="0" i="0">
                <a:solidFill>
                  <a:srgbClr val="3A4356"/>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OPTION B  </a:t>
            </a:r>
            <a:r>
              <a:rPr sz="1200" b="1" i="0">
                <a:solidFill>
                  <a:srgbClr val="1D6FB8"/>
                </a:solidFill>
                <a:latin typeface="Segoe UI Emoji"/>
              </a:rPr>
              <a:t>★</a:t>
            </a:r>
            <a:r>
              <a:rPr sz="1200" b="1" i="0">
                <a:solidFill>
                  <a:srgbClr val="1D6FB8"/>
                </a:solidFill>
                <a:latin typeface="Calibri"/>
              </a:rPr>
              <a:t>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 </a:t>
            </a:r>
            <a:r>
              <a:rPr sz="1100" b="0" i="0">
                <a:solidFill>
                  <a:srgbClr val="3A4356"/>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 </a:t>
            </a:r>
            <a:r>
              <a:rPr sz="1100" b="0" i="0">
                <a:solidFill>
                  <a:srgbClr val="3A4356"/>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Recommendation: Option B — the software for BOTH A and B is already built; what remains is infrastructure sign-off.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B7280"/>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Engineers (browser)  +  CAPEE</a:t>
            </a:r>
          </a:p>
          <a:p>
            <a:pPr algn="l"/>
            <a:r>
              <a:rPr sz="950">
                <a:solidFill>
                  <a:srgbClr val="3A4356"/>
                </a:solidFill>
                <a:latin typeface="Calibri"/>
              </a:rPr>
              <a:t>single sign-on (Azure AD)</a:t>
            </a:r>
          </a:p>
        </p:txBody>
      </p:sp>
      <p:sp>
        <p:nvSpPr>
          <p:cNvPr id="12" name="Rectangle 11"/>
          <p:cNvSpPr/>
          <p:nvPr/>
        </p:nvSpPr>
        <p:spPr>
          <a:xfrm>
            <a:off x="777240" y="2240280"/>
            <a:ext cx="64008" cy="685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Corporate API Gateway</a:t>
            </a:r>
          </a:p>
          <a:p>
            <a:pPr algn="l"/>
            <a:r>
              <a:rPr sz="950">
                <a:solidFill>
                  <a:srgbClr val="3A4356"/>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CostVision server (frontend + backend on our VM)</a:t>
            </a:r>
          </a:p>
          <a:p>
            <a:pPr algn="l"/>
            <a:r>
              <a:rPr sz="950">
                <a:solidFill>
                  <a:srgbClr val="3A4356"/>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E8074"/>
                </a:solidFill>
                <a:latin typeface="Calibri"/>
              </a:rPr>
              <a:t>Corporate database (PostgreSQL)</a:t>
            </a:r>
          </a:p>
          <a:p>
            <a:pPr algn="l"/>
            <a:r>
              <a:rPr sz="950">
                <a:solidFill>
                  <a:srgbClr val="3A4356"/>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B7791F"/>
                </a:solidFill>
                <a:latin typeface="Calibri"/>
              </a:rPr>
              <a:t>Internal AI gateway</a:t>
            </a:r>
          </a:p>
          <a:p>
            <a:pPr algn="l"/>
            <a:r>
              <a:rPr sz="950">
                <a:solidFill>
                  <a:srgbClr val="3A4356"/>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1D6FB8"/>
                </a:solidFill>
                <a:latin typeface="Calibri"/>
              </a:rPr>
              <a:t>Our cloud tenancy</a:t>
            </a:r>
          </a:p>
          <a:p>
            <a:pPr algn="l">
              <a:lnSpc>
                <a:spcPct val="110000"/>
              </a:lnSpc>
              <a:spcAft>
                <a:spcPts val="400"/>
              </a:spcAft>
            </a:pPr>
            <a:r>
              <a:rPr sz="1050" b="0" i="0">
                <a:solidFill>
                  <a:srgbClr val="3A4356"/>
                </a:solidFill>
                <a:latin typeface="Calibri"/>
              </a:rPr>
              <a:t>Claude on AWS Bedrock / Google Vertex</a:t>
            </a:r>
          </a:p>
          <a:p>
            <a:pPr algn="l">
              <a:lnSpc>
                <a:spcPct val="110000"/>
              </a:lnSpc>
              <a:spcAft>
                <a:spcPts val="400"/>
              </a:spcAft>
            </a:pPr>
            <a:r>
              <a:rPr sz="1000" b="0" i="0">
                <a:solidFill>
                  <a:srgbClr val="6B7280"/>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16325C"/>
                </a:solidFill>
                <a:latin typeface="Calibri"/>
              </a:rPr>
              <a:t>Zero-trust rules</a:t>
            </a:r>
          </a:p>
          <a:p>
            <a:pPr algn="l">
              <a:lnSpc>
                <a:spcPct val="110000"/>
              </a:lnSpc>
              <a:spcAft>
                <a:spcPts val="400"/>
              </a:spcAft>
            </a:pPr>
            <a:r>
              <a:rPr sz="1050" b="0" i="0">
                <a:solidFill>
                  <a:srgbClr val="3A4356"/>
                </a:solidFill>
                <a:latin typeface="Calibri"/>
              </a:rPr>
              <a:t>• Every request authenticated (Azure AD)</a:t>
            </a:r>
          </a:p>
          <a:p>
            <a:pPr algn="l">
              <a:lnSpc>
                <a:spcPct val="110000"/>
              </a:lnSpc>
              <a:spcAft>
                <a:spcPts val="400"/>
              </a:spcAft>
            </a:pPr>
            <a:r>
              <a:rPr sz="1050" b="0" i="0">
                <a:solidFill>
                  <a:srgbClr val="3A4356"/>
                </a:solidFill>
                <a:latin typeface="Calibri"/>
              </a:rPr>
              <a:t>• Deny-all egress except the AI gateway</a:t>
            </a:r>
          </a:p>
          <a:p>
            <a:pPr algn="l">
              <a:lnSpc>
                <a:spcPct val="110000"/>
              </a:lnSpc>
              <a:spcAft>
                <a:spcPts val="400"/>
              </a:spcAft>
            </a:pPr>
            <a:r>
              <a:rPr sz="1050" b="0" i="0">
                <a:solidFill>
                  <a:srgbClr val="3A4356"/>
                </a:solidFill>
                <a:latin typeface="Calibri"/>
              </a:rPr>
              <a:t>• Role-based access (engineer / lead / admin / CAPEE service)</a:t>
            </a:r>
          </a:p>
          <a:p>
            <a:pPr algn="l">
              <a:lnSpc>
                <a:spcPct val="110000"/>
              </a:lnSpc>
              <a:spcAft>
                <a:spcPts val="400"/>
              </a:spcAft>
            </a:pPr>
            <a:r>
              <a:rPr sz="1050" b="0" i="0">
                <a:solidFill>
                  <a:srgbClr val="3A4356"/>
                </a:solidFill>
                <a:latin typeface="Calibri"/>
              </a:rPr>
              <a:t>• CAD pulled from PLM vault, never stored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E8B57"/>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E8B57"/>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E8B57"/>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E8B57"/>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B7791F"/>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E8B57"/>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B7280"/>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CostVision inside CAPEE — should-cost, upgraded</a:t>
            </a:r>
          </a:p>
        </p:txBody>
      </p:sp>
      <p:sp>
        <p:nvSpPr>
          <p:cNvPr id="9" name="Rounded Rectangle 8"/>
          <p:cNvSpPr/>
          <p:nvPr/>
        </p:nvSpPr>
        <p:spPr>
          <a:xfrm>
            <a:off x="411480" y="1828800"/>
            <a:ext cx="5120640"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16325C"/>
                </a:solidFill>
                <a:latin typeface="Calibri"/>
              </a:rPr>
              <a:t>CAPEE  (existing should-cost software)</a:t>
            </a:r>
          </a:p>
          <a:p>
            <a:pPr algn="l">
              <a:lnSpc>
                <a:spcPct val="112000"/>
              </a:lnSpc>
              <a:spcAft>
                <a:spcPts val="500"/>
              </a:spcAft>
            </a:pPr>
            <a:r>
              <a:rPr sz="1200" b="0" i="0">
                <a:solidFill>
                  <a:srgbClr val="3A4356"/>
                </a:solidFill>
                <a:latin typeface="Calibri"/>
              </a:rPr>
              <a:t>• Should-cost workflow, approvals, reporting</a:t>
            </a:r>
          </a:p>
          <a:p>
            <a:pPr algn="l">
              <a:lnSpc>
                <a:spcPct val="112000"/>
              </a:lnSpc>
              <a:spcAft>
                <a:spcPts val="500"/>
              </a:spcAft>
            </a:pPr>
            <a:r>
              <a:rPr sz="1200" b="0" i="0">
                <a:solidFill>
                  <a:srgbClr val="3A4356"/>
                </a:solidFill>
                <a:latin typeface="Calibri"/>
              </a:rPr>
              <a:t>• System of record — unchanged for users</a:t>
            </a:r>
          </a:p>
          <a:p>
            <a:pPr algn="l">
              <a:lnSpc>
                <a:spcPct val="112000"/>
              </a:lnSpc>
              <a:spcAft>
                <a:spcPts val="500"/>
              </a:spcAft>
            </a:pPr>
            <a:r>
              <a:rPr sz="1200" b="0" i="0">
                <a:solidFill>
                  <a:srgbClr val="3A4356"/>
                </a:solidFill>
                <a:latin typeface="Calibri"/>
              </a:rPr>
              <a:t>• Its costing engine now powered by CostVision</a:t>
            </a:r>
          </a:p>
        </p:txBody>
      </p:sp>
      <p:sp>
        <p:nvSpPr>
          <p:cNvPr id="11" name="Rounded Rectangle 10"/>
          <p:cNvSpPr/>
          <p:nvPr/>
        </p:nvSpPr>
        <p:spPr>
          <a:xfrm>
            <a:off x="6675120" y="1828800"/>
            <a:ext cx="5120640" cy="19202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1D6FB8"/>
                </a:solidFill>
                <a:latin typeface="Calibri"/>
              </a:rPr>
              <a:t>CostVision  (the engine it plugs in)</a:t>
            </a:r>
          </a:p>
          <a:p>
            <a:pPr algn="l">
              <a:lnSpc>
                <a:spcPct val="112000"/>
              </a:lnSpc>
              <a:spcAft>
                <a:spcPts val="500"/>
              </a:spcAft>
            </a:pPr>
            <a:r>
              <a:rPr sz="1200" b="0" i="0">
                <a:solidFill>
                  <a:srgbClr val="3A4356"/>
                </a:solidFill>
                <a:latin typeface="Calibri"/>
              </a:rPr>
              <a:t>• 18 physics cost engines + CAD reading</a:t>
            </a:r>
          </a:p>
          <a:p>
            <a:pPr algn="l">
              <a:lnSpc>
                <a:spcPct val="112000"/>
              </a:lnSpc>
              <a:spcAft>
                <a:spcPts val="500"/>
              </a:spcAft>
            </a:pPr>
            <a:r>
              <a:rPr sz="1200" b="0" i="0">
                <a:solidFill>
                  <a:srgbClr val="3A4356"/>
                </a:solidFill>
                <a:latin typeface="Calibri"/>
              </a:rPr>
              <a:t>• AI memory: similar parts, self-calibration</a:t>
            </a:r>
          </a:p>
          <a:p>
            <a:pPr algn="l">
              <a:lnSpc>
                <a:spcPct val="112000"/>
              </a:lnSpc>
              <a:spcAft>
                <a:spcPts val="500"/>
              </a:spcAft>
            </a:pPr>
            <a:r>
              <a:rPr sz="1200" b="0" i="0">
                <a:solidFill>
                  <a:srgbClr val="3A4356"/>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1D6FB8"/>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E8B57"/>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6325C"/>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Cost a part → </a:t>
            </a:r>
            <a:r>
              <a:rPr sz="1150" b="0" i="0">
                <a:solidFill>
                  <a:srgbClr val="3A4356"/>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CAD file → </a:t>
            </a:r>
            <a:r>
              <a:rPr sz="1150" b="0" i="0">
                <a:solidFill>
                  <a:srgbClr val="3A4356"/>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New part → </a:t>
            </a:r>
            <a:r>
              <a:rPr sz="1150" b="0" i="0">
                <a:solidFill>
                  <a:srgbClr val="3A4356"/>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PO price → </a:t>
            </a:r>
            <a:r>
              <a:rPr sz="1150" b="0" i="0">
                <a:solidFill>
                  <a:srgbClr val="3A4356"/>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Dashboard ← </a:t>
            </a:r>
            <a:r>
              <a:rPr sz="1150" b="0" i="0">
                <a:solidFill>
                  <a:srgbClr val="3A4356"/>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One shared → </a:t>
            </a:r>
            <a:r>
              <a:rPr sz="1150" b="0" i="0">
                <a:solidFill>
                  <a:srgbClr val="3A4356"/>
                </a:solidFill>
                <a:latin typeface="Calibri"/>
              </a:rPr>
              <a:t>rate library &amp; knowledge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2E8B57"/>
                </a:solidFill>
                <a:latin typeface="Calibri"/>
              </a:rPr>
              <a:t>✓ Private AI routing — </a:t>
            </a:r>
            <a:r>
              <a:rPr sz="1100" b="0" i="0">
                <a:solidFill>
                  <a:srgbClr val="2E8B57"/>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2E8B57"/>
                </a:solidFill>
                <a:latin typeface="Calibri"/>
              </a:rPr>
              <a:t>✓ "Air-gapped" switch — </a:t>
            </a:r>
            <a:r>
              <a:rPr sz="1100" b="0" i="0">
                <a:solidFill>
                  <a:srgbClr val="2E8B57"/>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3. Azure AD sign-on — </a:t>
            </a:r>
            <a:r>
              <a:rPr sz="1100" b="0" i="0">
                <a:solidFill>
                  <a:srgbClr val="3A4356"/>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4. PostgreSQL — </a:t>
            </a:r>
            <a:r>
              <a:rPr sz="1100" b="0" i="0">
                <a:solidFill>
                  <a:srgbClr val="3A4356"/>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5. Cost API wrapper — </a:t>
            </a:r>
            <a:r>
              <a:rPr sz="1100" b="0" i="0">
                <a:solidFill>
                  <a:srgbClr val="3A4356"/>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6. Audit hardening — </a:t>
            </a:r>
            <a:r>
              <a:rPr sz="1100" b="0" i="0">
                <a:solidFill>
                  <a:srgbClr val="3A4356"/>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Backend  </a:t>
            </a:r>
            <a:r>
              <a:rPr sz="1100" b="1" i="0">
                <a:solidFill>
                  <a:srgbClr val="6B3FA0"/>
                </a:solidFill>
                <a:latin typeface="Calibri"/>
              </a:rPr>
              <a:t>· Small</a:t>
            </a:r>
          </a:p>
          <a:p>
            <a:pPr algn="l">
              <a:lnSpc>
                <a:spcPct val="112000"/>
              </a:lnSpc>
              <a:spcAft>
                <a:spcPts val="300"/>
              </a:spcAft>
            </a:pPr>
            <a:r>
              <a:rPr sz="1150" b="0" i="0">
                <a:solidFill>
                  <a:srgbClr val="3A4356"/>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User interface  </a:t>
            </a:r>
            <a:r>
              <a:rPr sz="1100" b="1" i="0">
                <a:solidFill>
                  <a:srgbClr val="6B3FA0"/>
                </a:solidFill>
                <a:latin typeface="Calibri"/>
              </a:rPr>
              <a:t>· Medium</a:t>
            </a:r>
          </a:p>
          <a:p>
            <a:pPr algn="l">
              <a:lnSpc>
                <a:spcPct val="112000"/>
              </a:lnSpc>
              <a:spcAft>
                <a:spcPts val="300"/>
              </a:spcAft>
            </a:pPr>
            <a:r>
              <a:rPr sz="1150" b="0" i="0">
                <a:solidFill>
                  <a:srgbClr val="3A4356"/>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Data  </a:t>
            </a:r>
            <a:r>
              <a:rPr sz="1100" b="1" i="0">
                <a:solidFill>
                  <a:srgbClr val="6B3FA0"/>
                </a:solidFill>
                <a:latin typeface="Calibri"/>
              </a:rPr>
              <a:t>· Small–Medium</a:t>
            </a:r>
          </a:p>
          <a:p>
            <a:pPr algn="l">
              <a:lnSpc>
                <a:spcPct val="112000"/>
              </a:lnSpc>
              <a:spcAft>
                <a:spcPts val="300"/>
              </a:spcAft>
            </a:pPr>
            <a:r>
              <a:rPr sz="1150" b="0" i="0">
                <a:solidFill>
                  <a:srgbClr val="3A4356"/>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16325C"/>
                </a:solidFill>
                <a:latin typeface="Calibri"/>
              </a:rPr>
              <a:t>Items 1–2 are built &amp; tested. Remaining critical path: ~3–5 engineering weeks. No architectural surgery on either 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E8B57"/>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B7791F"/>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6B3FA0"/>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16325C"/>
                </a:solidFill>
                <a:latin typeface="Calibri"/>
              </a:rPr>
              <a:t>Standards mapping:  </a:t>
            </a:r>
            <a:r>
              <a:rPr sz="1200" b="0" i="0">
                <a:solidFill>
                  <a:srgbClr val="3A4356"/>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16325C"/>
                </a:solidFill>
                <a:latin typeface="Calibri"/>
              </a:rPr>
              <a:t>After go-live we track: </a:t>
            </a:r>
            <a:r>
              <a:rPr sz="1150" b="0" i="0">
                <a:solidFill>
                  <a:srgbClr val="3A4356"/>
                </a:solidFill>
                <a:latin typeface="Calibri"/>
              </a:rPr>
              <a:t>accuracy vs PO prices · costings via CAPEE · £ findings actioned · adoption.   Approval today → pilot value by ~September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B7791F"/>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1D6FB8"/>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6B3FA0"/>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1,777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Users stay in CAPEE — CostVision works behind the scenes. Nothing new to learn except better answers appearing.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Integration into CAPEE</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FEASIBLE — API-first; plugs into CAPEE as its should-cost engine, no rip-and-replace</a:t>
            </a:r>
          </a:p>
        </p:txBody>
      </p:sp>
      <p:sp>
        <p:nvSpPr>
          <p:cNvPr id="15" name="Rounded Rectangle 14"/>
          <p:cNvSpPr/>
          <p:nvPr/>
        </p:nvSpPr>
        <p:spPr>
          <a:xfrm>
            <a:off x="411480" y="3374135"/>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1D6FB8"/>
                </a:solidFill>
                <a:latin typeface="Calibri"/>
              </a:rPr>
              <a:t>The ask today:  </a:t>
            </a:r>
            <a:r>
              <a:rPr sz="1400" b="0" i="0">
                <a:solidFill>
                  <a:srgbClr val="3A4356"/>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B7280"/>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B7280"/>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B3FA0"/>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B7280"/>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E8074"/>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B7280"/>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B7280"/>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B7280"/>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1D6FB8"/>
                </a:solidFill>
                <a:latin typeface="Calibri"/>
              </a:rPr>
              <a:t>Takeaway: </a:t>
            </a:r>
            <a:r>
              <a:rPr sz="1200" b="0" i="0">
                <a:solidFill>
                  <a:srgbClr val="3A4356"/>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Costs a board from a photograph</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No mainstream costing suite does this. Design tools build a BOM during design; none of them price one from a picture.</a:t>
            </a:r>
          </a:p>
        </p:txBody>
      </p:sp>
      <p:sp>
        <p:nvSpPr>
          <p:cNvPr id="13" name="Rounded Rectangle 12"/>
          <p:cNvSpPr/>
          <p:nvPr/>
        </p:nvSpPr>
        <p:spPr>
          <a:xfrm>
            <a:off x="6217920" y="1828800"/>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Learns from our own prices</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Error fell from 10.9% to 0.3% after three real quotes. The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Commercial tools are cloud — our CAD would live in their cloud. This one is on-premise, with the controls already built.</a:t>
            </a:r>
          </a:p>
        </p:txBody>
      </p:sp>
      <p:sp>
        <p:nvSpPr>
          <p:cNvPr id="21" name="Rounded Rectangle 20"/>
          <p:cNvSpPr/>
          <p:nvPr/>
        </p:nvSpPr>
        <p:spPr>
          <a:xfrm>
            <a:off x="6217920" y="3310128"/>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19 commodities, software costing, carbon and RFQ in one product. Vendors sell that breadth as separate licences.</a:t>
            </a:r>
          </a:p>
        </p:txBody>
      </p:sp>
      <p:sp>
        <p:nvSpPr>
          <p:cNvPr id="25" name="Rounded Rectangle 24"/>
          <p:cNvSpPr/>
          <p:nvPr/>
        </p:nvSpPr>
        <p:spPr>
          <a:xfrm>
            <a:off x="411480" y="4937760"/>
            <a:ext cx="11384280" cy="91440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B7791F"/>
                </a:solidFill>
                <a:latin typeface="Calibri"/>
              </a:rPr>
              <a:t>Honest caveat: </a:t>
            </a:r>
            <a:r>
              <a:rPr sz="1150" b="0" i="0">
                <a:solidFill>
                  <a:srgbClr val="3A4356"/>
                </a:solidFill>
                <a:latin typeface="Calibri"/>
              </a:rPr>
              <a:t>vendors like aPriori have decades of curated cost data behind their numbers. Our answer is the learning loop — every quote we log builds a history no vendor can sell us,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Positioning: not "better than aPriori" — a secure, in-house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DCE3EE"/>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B7280"/>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1D6FB8"/>
                </a:solidFill>
                <a:latin typeface="Calibri"/>
              </a:rPr>
              <a:t>How admins load company data</a:t>
            </a:r>
          </a:p>
          <a:p>
            <a:pPr algn="l">
              <a:lnSpc>
                <a:spcPct val="115000"/>
              </a:lnSpc>
              <a:spcAft>
                <a:spcPts val="700"/>
              </a:spcAft>
            </a:pPr>
            <a:r>
              <a:rPr sz="1150" b="0" i="0">
                <a:solidFill>
                  <a:srgbClr val="3A4356"/>
                </a:solidFill>
                <a:latin typeface="Calibri"/>
              </a:rPr>
              <a:t>1.  Download the Excel template — six sheets: Materials · Machines · Labour · Energy · FX · Overhead.</a:t>
            </a:r>
          </a:p>
          <a:p>
            <a:pPr algn="l">
              <a:lnSpc>
                <a:spcPct val="115000"/>
              </a:lnSpc>
              <a:spcAft>
                <a:spcPts val="700"/>
              </a:spcAft>
            </a:pPr>
            <a:r>
              <a:rPr sz="1150" b="0" i="0">
                <a:solidFill>
                  <a:srgbClr val="3A4356"/>
                </a:solidFill>
                <a:latin typeface="Calibri"/>
              </a:rPr>
              <a:t>2.  Fill in our rates and upload — every row is validated; the file becomes the active library instantly.</a:t>
            </a:r>
          </a:p>
          <a:p>
            <a:pPr algn="l">
              <a:lnSpc>
                <a:spcPct val="115000"/>
              </a:lnSpc>
              <a:spcAft>
                <a:spcPts val="700"/>
              </a:spcAft>
            </a:pPr>
            <a:r>
              <a:rPr sz="1150" b="0" i="0">
                <a:solidFill>
                  <a:srgbClr val="3A4356"/>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2E8B57"/>
                </a:solidFill>
                <a:latin typeface="Calibri"/>
              </a:rPr>
              <a:t>Proven live today:  </a:t>
            </a:r>
            <a:r>
              <a:rPr sz="1100" b="0" i="0">
                <a:solidFill>
                  <a:srgbClr val="3A4356"/>
                </a:solidFill>
                <a:latin typeface="Calibri"/>
              </a:rPr>
              <a:t>a full workbook uploaded and accepted — 328 materials, 171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16325C"/>
                </a:solidFill>
                <a:latin typeface="Calibri"/>
              </a:rPr>
              <a:t>Also built in:</a:t>
            </a:r>
          </a:p>
          <a:p>
            <a:pPr algn="l">
              <a:lnSpc>
                <a:spcPct val="112000"/>
              </a:lnSpc>
              <a:spcAft>
                <a:spcPts val="300"/>
              </a:spcAft>
            </a:pPr>
            <a:r>
              <a:rPr sz="1100" b="0" i="0">
                <a:solidFill>
                  <a:srgbClr val="3A4356"/>
                </a:solidFill>
                <a:latin typeface="Calibri"/>
              </a:rPr>
              <a:t>• 20 country rate sets, 8 labour categories each</a:t>
            </a:r>
          </a:p>
          <a:p>
            <a:pPr algn="l">
              <a:lnSpc>
                <a:spcPct val="112000"/>
              </a:lnSpc>
              <a:spcAft>
                <a:spcPts val="300"/>
              </a:spcAft>
            </a:pPr>
            <a:r>
              <a:rPr sz="1100" b="0" i="0">
                <a:solidFill>
                  <a:srgbClr val="3A4356"/>
                </a:solidFill>
                <a:latin typeface="Calibri"/>
              </a:rPr>
              <a:t>• PCB country cost table — admin-editable</a:t>
            </a:r>
          </a:p>
          <a:p>
            <a:pPr algn="l">
              <a:lnSpc>
                <a:spcPct val="112000"/>
              </a:lnSpc>
              <a:spcAft>
                <a:spcPts val="300"/>
              </a:spcAft>
            </a:pPr>
            <a:r>
              <a:rPr sz="1100" b="0" i="0">
                <a:solidFill>
                  <a:srgbClr val="3A4356"/>
                </a:solidFill>
                <a:latin typeface="Calibri"/>
              </a:rPr>
              <a:t>• Separate rate library for software costing</a:t>
            </a:r>
          </a:p>
          <a:p>
            <a:pPr algn="l">
              <a:lnSpc>
                <a:spcPct val="112000"/>
              </a:lnSpc>
              <a:spcAft>
                <a:spcPts val="300"/>
              </a:spcAft>
            </a:pPr>
            <a:r>
              <a:rPr sz="1100" b="0" i="0">
                <a:solidFill>
                  <a:srgbClr val="3A4356"/>
                </a:solidFill>
                <a:latin typeface="Calibri"/>
              </a:rPr>
              <a:t>• One click back to built-in defaults, full audit trail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Engineering — </a:t>
            </a:r>
            <a:r>
              <a:rPr sz="1100" b="0" i="0">
                <a:solidFill>
                  <a:srgbClr val="3A4356"/>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Infrastructure — </a:t>
            </a:r>
            <a:r>
              <a:rPr sz="1100" b="0" i="0">
                <a:solidFill>
                  <a:srgbClr val="3A4356"/>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AI usage — </a:t>
            </a:r>
            <a:r>
              <a:rPr sz="1100" b="0" i="0">
                <a:solidFill>
                  <a:srgbClr val="3A4356"/>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Licence spend — </a:t>
            </a:r>
            <a:r>
              <a:rPr sz="1100" b="0" i="0">
                <a:solidFill>
                  <a:srgbClr val="3A4356"/>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E8B57"/>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Savings found — </a:t>
            </a:r>
            <a:r>
              <a:rPr sz="1100" b="0" i="0">
                <a:solidFill>
                  <a:srgbClr val="3A4356"/>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Licence avoided — </a:t>
            </a:r>
            <a:r>
              <a:rPr sz="1100" b="0" i="0">
                <a:solidFill>
                  <a:srgbClr val="3A4356"/>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Speed — </a:t>
            </a:r>
            <a:r>
              <a:rPr sz="1100" b="0" i="0">
                <a:solidFill>
                  <a:srgbClr val="3A4356"/>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Leverage — </a:t>
            </a:r>
            <a:r>
              <a:rPr sz="1100" b="0" i="0">
                <a:solidFill>
                  <a:srgbClr val="3A4356"/>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OUR IP:  </a:t>
            </a:r>
            <a:r>
              <a:rPr sz="1350" b="1" i="0">
                <a:solidFill>
                  <a:srgbClr val="16325C"/>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B7791F"/>
                </a:solidFill>
                <a:latin typeface="Calibri"/>
              </a:rPr>
              <a:t>Honest numbers: </a:t>
            </a:r>
            <a:r>
              <a:rPr sz="1150" b="0" i="0">
                <a:solidFill>
                  <a:srgbClr val="3A4356"/>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B7280"/>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1D6FB8"/>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6B3FA0"/>
                </a:solidFill>
                <a:latin typeface="Calibri"/>
              </a:rPr>
              <a:t>1,777</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E8B57"/>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E8074"/>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findings raised by the autonomous agent in the live demo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WHAT CHANGED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Built since this plan was written</a:t>
            </a:r>
          </a:p>
        </p:txBody>
      </p:sp>
      <p:sp>
        <p:nvSpPr>
          <p:cNvPr id="9" name="Rounded Rectangle 8"/>
          <p:cNvSpPr/>
          <p:nvPr/>
        </p:nvSpPr>
        <p:spPr>
          <a:xfrm>
            <a:off x="411480" y="1783080"/>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82296" cy="9875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20"/>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The tool now reads the part, not the price</a:t>
            </a:r>
          </a:p>
        </p:txBody>
      </p:sp>
      <p:sp>
        <p:nvSpPr>
          <p:cNvPr id="12" name="TextBox 11"/>
          <p:cNvSpPr txBox="1"/>
          <p:nvPr/>
        </p:nvSpPr>
        <p:spPr>
          <a:xfrm>
            <a:off x="685800" y="2185416"/>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Your engineers said the old design advice was too generic. It now opens the 3D model and measures every face — 19 rules, each citing a published standard, and it shows you the exact faces at fault.</a:t>
            </a:r>
          </a:p>
        </p:txBody>
      </p:sp>
      <p:sp>
        <p:nvSpPr>
          <p:cNvPr id="13" name="Rounded Rectangle 12"/>
          <p:cNvSpPr/>
          <p:nvPr/>
        </p:nvSpPr>
        <p:spPr>
          <a:xfrm>
            <a:off x="411480" y="2898648"/>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98648"/>
            <a:ext cx="82296" cy="9875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90088"/>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Gear cutting is its own commodity</a:t>
            </a:r>
          </a:p>
        </p:txBody>
      </p:sp>
      <p:sp>
        <p:nvSpPr>
          <p:cNvPr id="16" name="TextBox 15"/>
          <p:cNvSpPr txBox="1"/>
          <p:nvPr/>
        </p:nvSpPr>
        <p:spPr>
          <a:xfrm>
            <a:off x="685800" y="3300984"/>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Asked for by cost engineering and the plant. Gears no longer go through the milling model — the tool picks the process from the geometry and works the cycle out from the gear itself.</a:t>
            </a:r>
          </a:p>
        </p:txBody>
      </p:sp>
      <p:sp>
        <p:nvSpPr>
          <p:cNvPr id="17" name="Rounded Rectangle 16"/>
          <p:cNvSpPr/>
          <p:nvPr/>
        </p:nvSpPr>
        <p:spPr>
          <a:xfrm>
            <a:off x="411480" y="4014215"/>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14215"/>
            <a:ext cx="82296" cy="9875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05655"/>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6B3FA0"/>
                </a:solidFill>
                <a:latin typeface="Calibri"/>
              </a:rPr>
              <a:t>Landed cost, duty and customs</a:t>
            </a:r>
          </a:p>
        </p:txBody>
      </p:sp>
      <p:sp>
        <p:nvSpPr>
          <p:cNvPr id="20" name="TextBox 19"/>
          <p:cNvSpPr txBox="1"/>
          <p:nvPr/>
        </p:nvSpPr>
        <p:spPr>
          <a:xfrm>
            <a:off x="685800" y="4416551"/>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Duty, carbon border levy, rules of origin and incoterms. The should-cost now lands at your door, not at the supplier gate.</a:t>
            </a:r>
          </a:p>
        </p:txBody>
      </p:sp>
      <p:sp>
        <p:nvSpPr>
          <p:cNvPr id="21" name="Rounded Rectangle 20"/>
          <p:cNvSpPr/>
          <p:nvPr/>
        </p:nvSpPr>
        <p:spPr>
          <a:xfrm>
            <a:off x="411480" y="5129784"/>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29784"/>
            <a:ext cx="82296" cy="987552"/>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221224"/>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0E8074"/>
                </a:solidFill>
                <a:latin typeface="Calibri"/>
              </a:rPr>
              <a:t>Long-term agreements priced correctly</a:t>
            </a:r>
          </a:p>
        </p:txBody>
      </p:sp>
      <p:sp>
        <p:nvSpPr>
          <p:cNvPr id="24" name="TextBox 23"/>
          <p:cNvSpPr txBox="1"/>
          <p:nvPr/>
        </p:nvSpPr>
        <p:spPr>
          <a:xfrm>
            <a:off x="685800" y="5532120"/>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Annual volume and programme lifetime are separate inputs now, so a five-year award is not priced as if it were all bought in year one.</a:t>
            </a:r>
          </a:p>
        </p:txBody>
      </p:sp>
      <p:sp>
        <p:nvSpPr>
          <p:cNvPr id="25" name="Rounded Rectangle 24"/>
          <p:cNvSpPr/>
          <p:nvPr/>
        </p:nvSpPr>
        <p:spPr>
          <a:xfrm>
            <a:off x="411480" y="6263640"/>
            <a:ext cx="11384280" cy="384048"/>
          </a:xfrm>
          <a:prstGeom prst="roundRect">
            <a:avLst>
              <a:gd name="adj" fmla="val 6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6263640"/>
            <a:ext cx="10881360" cy="384048"/>
          </a:xfrm>
          <a:prstGeom prst="rect">
            <a:avLst/>
          </a:prstGeom>
          <a:noFill/>
        </p:spPr>
        <p:txBody>
          <a:bodyPr wrap="square" anchor="ctr" lIns="0" rIns="0" tIns="0" bIns="0">
            <a:spAutoFit/>
          </a:bodyPr>
          <a:lstStyle/>
          <a:p>
            <a:pPr algn="l">
              <a:lnSpc>
                <a:spcPct val="110000"/>
              </a:lnSpc>
              <a:spcAft>
                <a:spcPts val="400"/>
              </a:spcAft>
            </a:pPr>
            <a:r>
              <a:rPr sz="1050" b="1" i="0">
                <a:solidFill>
                  <a:srgbClr val="B7791F"/>
                </a:solidFill>
                <a:latin typeface="Calibri"/>
              </a:rPr>
              <a:t>Straight about the gap: </a:t>
            </a:r>
            <a:r>
              <a:rPr sz="1050" b="0" i="0">
                <a:solidFill>
                  <a:srgbClr val="3A4356"/>
                </a:solidFill>
                <a:latin typeface="Calibri"/>
              </a:rPr>
              <a:t>the gear model runs on representative shop figures until the plant supplies its own, and no gear has yet been checked against a known actual. Every gear estimate says so.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THE ASK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from the plant to make this quotable</a:t>
            </a:r>
          </a:p>
        </p:txBody>
      </p:sp>
      <p:sp>
        <p:nvSpPr>
          <p:cNvPr id="9" name="TextBox 8"/>
          <p:cNvSpPr txBox="1"/>
          <p:nvPr/>
        </p:nvSpPr>
        <p:spPr>
          <a:xfrm>
            <a:off x="411480" y="1737360"/>
            <a:ext cx="11384280" cy="45720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The engine is built and the arithmetic is auditable. What it does not yet have is </a:t>
            </a:r>
            <a:r>
              <a:rPr sz="1250" b="1" i="0">
                <a:solidFill>
                  <a:srgbClr val="16325C"/>
                </a:solidFill>
                <a:latin typeface="Calibri"/>
              </a:rPr>
              <a:t>your</a:t>
            </a:r>
            <a:r>
              <a:rPr sz="1250" b="0" i="0">
                <a:solidFill>
                  <a:srgbClr val="3A4356"/>
                </a:solidFill>
                <a:latin typeface="Calibri"/>
              </a:rPr>
              <a:t> shop data — and until it does, a gear estimate is directional, not quotable. Three things close that gap.</a:t>
            </a:r>
          </a:p>
        </p:txBody>
      </p:sp>
      <p:sp>
        <p:nvSpPr>
          <p:cNvPr id="10" name="Rounded Rectangle 9"/>
          <p:cNvSpPr/>
          <p:nvPr/>
        </p:nvSpPr>
        <p:spPr>
          <a:xfrm>
            <a:off x="411480" y="2377440"/>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377440"/>
            <a:ext cx="82296" cy="10972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51760"/>
            <a:ext cx="548640" cy="548640"/>
          </a:xfrm>
          <a:prstGeom prst="roundRect">
            <a:avLst>
              <a:gd name="adj" fmla="val 3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51760"/>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1</a:t>
            </a:r>
          </a:p>
        </p:txBody>
      </p:sp>
      <p:sp>
        <p:nvSpPr>
          <p:cNvPr id="14" name="TextBox 13"/>
          <p:cNvSpPr txBox="1"/>
          <p:nvPr/>
        </p:nvSpPr>
        <p:spPr>
          <a:xfrm>
            <a:off x="1417320" y="2523744"/>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The gear machine list</a:t>
            </a:r>
          </a:p>
        </p:txBody>
      </p:sp>
      <p:sp>
        <p:nvSpPr>
          <p:cNvPr id="15" name="Rounded Rectangle 14"/>
          <p:cNvSpPr/>
          <p:nvPr/>
        </p:nvSpPr>
        <p:spPr>
          <a:xfrm>
            <a:off x="9692640" y="2542032"/>
            <a:ext cx="1920240" cy="274320"/>
          </a:xfrm>
          <a:prstGeom prst="roundRect">
            <a:avLst>
              <a:gd name="adj" fmla="val 15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0" y="2542032"/>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Highest impact</a:t>
            </a:r>
          </a:p>
        </p:txBody>
      </p:sp>
      <p:sp>
        <p:nvSpPr>
          <p:cNvPr id="17" name="TextBox 16"/>
          <p:cNvSpPr txBox="1"/>
          <p:nvPr/>
        </p:nvSpPr>
        <p:spPr>
          <a:xfrm>
            <a:off x="1417320" y="2889504"/>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Machine class, £/hr, and the capacity limits — biggest module, largest diameter, widest face. The tool currently picks from 14 representative machine classes; yours replace them outright.</a:t>
            </a:r>
          </a:p>
        </p:txBody>
      </p:sp>
      <p:sp>
        <p:nvSpPr>
          <p:cNvPr id="18" name="Rounded Rectangle 17"/>
          <p:cNvSpPr/>
          <p:nvPr/>
        </p:nvSpPr>
        <p:spPr>
          <a:xfrm>
            <a:off x="411480" y="3602736"/>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3602736"/>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8368" y="3877056"/>
            <a:ext cx="548640" cy="548640"/>
          </a:xfrm>
          <a:prstGeom prst="roundRect">
            <a:avLst>
              <a:gd name="adj" fmla="val 30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77056"/>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2</a:t>
            </a:r>
          </a:p>
        </p:txBody>
      </p:sp>
      <p:sp>
        <p:nvSpPr>
          <p:cNvPr id="22" name="TextBox 21"/>
          <p:cNvSpPr txBox="1"/>
          <p:nvPr/>
        </p:nvSpPr>
        <p:spPr>
          <a:xfrm>
            <a:off x="1417320" y="3749040"/>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Feeds, speeds and tool life</a:t>
            </a:r>
          </a:p>
        </p:txBody>
      </p:sp>
      <p:sp>
        <p:nvSpPr>
          <p:cNvPr id="23" name="Rounded Rectangle 22"/>
          <p:cNvSpPr/>
          <p:nvPr/>
        </p:nvSpPr>
        <p:spPr>
          <a:xfrm>
            <a:off x="9692640" y="3767328"/>
            <a:ext cx="1920240" cy="274320"/>
          </a:xfrm>
          <a:prstGeom prst="roundRect">
            <a:avLst>
              <a:gd name="adj" fmla="val 15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3767328"/>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Second</a:t>
            </a:r>
          </a:p>
        </p:txBody>
      </p:sp>
      <p:sp>
        <p:nvSpPr>
          <p:cNvPr id="25" name="TextBox 24"/>
          <p:cNvSpPr txBox="1"/>
          <p:nvPr/>
        </p:nvSpPr>
        <p:spPr>
          <a:xfrm>
            <a:off x="1417320" y="4114800"/>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Cutting speed and axial feed by material and module band, hob and cutter price, and parts between regrinds. These drive the cycle time, and the cycle time drives the cost.</a:t>
            </a:r>
          </a:p>
        </p:txBody>
      </p:sp>
      <p:sp>
        <p:nvSpPr>
          <p:cNvPr id="26" name="Rounded Rectangle 25"/>
          <p:cNvSpPr/>
          <p:nvPr/>
        </p:nvSpPr>
        <p:spPr>
          <a:xfrm>
            <a:off x="411480" y="4828032"/>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28032"/>
            <a:ext cx="82296" cy="10972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 y="5102352"/>
            <a:ext cx="548640" cy="548640"/>
          </a:xfrm>
          <a:prstGeom prst="roundRect">
            <a:avLst>
              <a:gd name="adj" fmla="val 30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102352"/>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3</a:t>
            </a:r>
          </a:p>
        </p:txBody>
      </p:sp>
      <p:sp>
        <p:nvSpPr>
          <p:cNvPr id="30" name="TextBox 29"/>
          <p:cNvSpPr txBox="1"/>
          <p:nvPr/>
        </p:nvSpPr>
        <p:spPr>
          <a:xfrm>
            <a:off x="1417320" y="4974336"/>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Two gears you already know the cost of</a:t>
            </a:r>
          </a:p>
        </p:txBody>
      </p:sp>
      <p:sp>
        <p:nvSpPr>
          <p:cNvPr id="31" name="Rounded Rectangle 30"/>
          <p:cNvSpPr/>
          <p:nvPr/>
        </p:nvSpPr>
        <p:spPr>
          <a:xfrm>
            <a:off x="9692640" y="4992624"/>
            <a:ext cx="1920240" cy="274320"/>
          </a:xfrm>
          <a:prstGeom prst="roundRect">
            <a:avLst>
              <a:gd name="adj" fmla="val 15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640" y="4992624"/>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The proof</a:t>
            </a:r>
          </a:p>
        </p:txBody>
      </p:sp>
      <p:sp>
        <p:nvSpPr>
          <p:cNvPr id="33" name="TextBox 32"/>
          <p:cNvSpPr txBox="1"/>
          <p:nvPr/>
        </p:nvSpPr>
        <p:spPr>
          <a:xfrm>
            <a:off x="1417320" y="5340096"/>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Ideally one hobbed-only and one hardened-and-ground. Without them nothing above is validated — the model is internally consistent but unproven against reality.</a:t>
            </a:r>
          </a:p>
        </p:txBody>
      </p:sp>
      <p:sp>
        <p:nvSpPr>
          <p:cNvPr id="34" name="Rounded Rectangle 33"/>
          <p:cNvSpPr/>
          <p:nvPr/>
        </p:nvSpPr>
        <p:spPr>
          <a:xfrm>
            <a:off x="411480" y="6108192"/>
            <a:ext cx="11384280" cy="457200"/>
          </a:xfrm>
          <a:prstGeom prst="roundRect">
            <a:avLst>
              <a:gd name="adj" fmla="val 7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6108192"/>
            <a:ext cx="10881360" cy="457200"/>
          </a:xfrm>
          <a:prstGeom prst="rect">
            <a:avLst/>
          </a:prstGeom>
          <a:noFill/>
        </p:spPr>
        <p:txBody>
          <a:bodyPr wrap="square" anchor="ctr" lIns="0" rIns="0" tIns="0" bIns="0">
            <a:spAutoFit/>
          </a:bodyPr>
          <a:lstStyle/>
          <a:p>
            <a:pPr algn="l">
              <a:lnSpc>
                <a:spcPct val="110000"/>
              </a:lnSpc>
              <a:spcAft>
                <a:spcPts val="400"/>
              </a:spcAft>
            </a:pPr>
            <a:r>
              <a:rPr sz="1100" b="1" i="0">
                <a:solidFill>
                  <a:srgbClr val="2E8B57"/>
                </a:solidFill>
                <a:latin typeface="Calibri"/>
              </a:rPr>
              <a:t>Effort on your side: </a:t>
            </a:r>
            <a:r>
              <a:rPr sz="1100" b="0" i="0">
                <a:solidFill>
                  <a:srgbClr val="3A4356"/>
                </a:solidFill>
                <a:latin typeface="Calibri"/>
              </a:rPr>
              <a:t>roughly half a day to export the machine list and the feeds table, plus two costings you have already done. Nothing new has to be 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1,777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Photo to costed BOM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1 · Upload photos</a:t>
            </a:r>
          </a:p>
          <a:p>
            <a:pPr algn="l"/>
            <a:r>
              <a:rPr sz="950">
                <a:solidFill>
                  <a:srgbClr val="3A4356"/>
                </a:solidFill>
                <a:latin typeface="Calibri"/>
              </a:rPr>
              <a:t>Up to 5 photos of the board (+ an optional BOM or pick-and-place file). Photos are auto-downsized in the browser; nothing is stored.</a:t>
            </a:r>
          </a:p>
        </p:txBody>
      </p:sp>
      <p:sp>
        <p:nvSpPr>
          <p:cNvPr id="10" name="Rectangle 9"/>
          <p:cNvSpPr/>
          <p:nvPr/>
        </p:nvSpPr>
        <p:spPr>
          <a:xfrm>
            <a:off x="411480" y="1783080"/>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2 · Board classification</a:t>
            </a:r>
          </a:p>
          <a:p>
            <a:pPr algn="l"/>
            <a:r>
              <a:rPr sz="950">
                <a:solidFill>
                  <a:srgbClr val="3A4356"/>
                </a:solidFill>
                <a:latin typeface="Calibri"/>
              </a:rPr>
              <a:t>AI identifies what the board is — domain (automotive, industrial, consumer) and safety level (ASIL) — so the right cost assumptions apply.</a:t>
            </a:r>
          </a:p>
        </p:txBody>
      </p:sp>
      <p:sp>
        <p:nvSpPr>
          <p:cNvPr id="13" name="Rectangle 12"/>
          <p:cNvSpPr/>
          <p:nvPr/>
        </p:nvSpPr>
        <p:spPr>
          <a:xfrm>
            <a:off x="411480" y="2569464"/>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3 · OCR text pass</a:t>
            </a:r>
          </a:p>
          <a:p>
            <a:pPr algn="l"/>
            <a:r>
              <a:rPr sz="950">
                <a:solidFill>
                  <a:srgbClr val="3A4356"/>
                </a:solidFill>
                <a:latin typeface="Calibri"/>
              </a:rPr>
              <a:t>Every printed marking is read: chip part numbers, connector types, silkscreen references — hard evidence, not guesswork.</a:t>
            </a:r>
          </a:p>
        </p:txBody>
      </p:sp>
      <p:sp>
        <p:nvSpPr>
          <p:cNvPr id="16" name="Rectangle 15"/>
          <p:cNvSpPr/>
          <p:nvPr/>
        </p:nvSpPr>
        <p:spPr>
          <a:xfrm>
            <a:off x="411480" y="3355848"/>
            <a:ext cx="64008" cy="62179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E8074"/>
                </a:solidFill>
                <a:latin typeface="Calibri"/>
              </a:rPr>
              <a:t>4 · Full vision BOM extraction</a:t>
            </a:r>
          </a:p>
          <a:p>
            <a:pPr algn="l"/>
            <a:r>
              <a:rPr sz="950">
                <a:solidFill>
                  <a:srgbClr val="3A4356"/>
                </a:solidFill>
                <a:latin typeface="Calibri"/>
              </a:rPr>
              <a:t>The AI locates and identifies every visible component — type, package, value, manufacturer part number (~20 seconds).</a:t>
            </a:r>
          </a:p>
        </p:txBody>
      </p:sp>
      <p:sp>
        <p:nvSpPr>
          <p:cNvPr id="19" name="Rectangle 18"/>
          <p:cNvSpPr/>
          <p:nvPr/>
        </p:nvSpPr>
        <p:spPr>
          <a:xfrm>
            <a:off x="411480" y="4142232"/>
            <a:ext cx="64008" cy="621792"/>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E8B57"/>
                </a:solidFill>
                <a:latin typeface="Calibri"/>
              </a:rPr>
              <a:t>5 · Deterministic clean-up &amp; costing</a:t>
            </a:r>
          </a:p>
          <a:p>
            <a:pPr algn="l"/>
            <a:r>
              <a:rPr sz="950">
                <a:solidFill>
                  <a:srgbClr val="3A4356"/>
                </a:solidFill>
                <a:latin typeface="Calibri"/>
              </a:rPr>
              <a:t>Code (not AI) normalises types, parses values, scores per-line confidence, grounds prices against the distributor catalogue, then adds board fabrication + SMT assembly + test on country rates.</a:t>
            </a:r>
          </a:p>
        </p:txBody>
      </p:sp>
      <p:sp>
        <p:nvSpPr>
          <p:cNvPr id="22" name="Rectangle 21"/>
          <p:cNvSpPr/>
          <p:nvPr/>
        </p:nvSpPr>
        <p:spPr>
          <a:xfrm>
            <a:off x="411480" y="4928616"/>
            <a:ext cx="64008" cy="62179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B7791F"/>
                </a:solidFill>
                <a:latin typeface="Calibri"/>
              </a:rPr>
              <a:t>6 · Same photos, same answer</a:t>
            </a:r>
          </a:p>
          <a:p>
            <a:pPr algn="l"/>
            <a:r>
              <a:rPr sz="950">
                <a:solidFill>
                  <a:srgbClr val="3A4356"/>
                </a:solidFill>
                <a:latin typeface="Calibri"/>
              </a:rPr>
              <a:t>The result is cached by a digital fingerprint (SHA-256) — re-running identical photos returns the identical BOM. Export PDF/Excel, save to library, feed the learning loop.</a:t>
            </a:r>
          </a:p>
        </p:txBody>
      </p:sp>
      <p:sp>
        <p:nvSpPr>
          <p:cNvPr id="25" name="Rectangle 24"/>
          <p:cNvSpPr/>
          <p:nvPr/>
        </p:nvSpPr>
        <p:spPr>
          <a:xfrm>
            <a:off x="411480" y="5715000"/>
            <a:ext cx="64008" cy="62179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Photo to costed BOM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Claude vision model — via our controlled endpoint (Option B) </a:t>
            </a:r>
          </a:p>
          <a:p>
            <a:pPr algn="l">
              <a:lnSpc>
                <a:spcPct val="115000"/>
              </a:lnSpc>
              <a:spcAft>
                <a:spcPts val="1000"/>
              </a:spcAft>
            </a:pPr>
            <a:r>
              <a:rPr sz="1150" b="0" i="0">
                <a:solidFill>
                  <a:srgbClr val="3A4356"/>
                </a:solidFill>
                <a:latin typeface="Calibri"/>
              </a:rPr>
              <a:t>• 5-stage pipeline: classify → OCR → extract → cost → cache</a:t>
            </a:r>
          </a:p>
          <a:p>
            <a:pPr algn="l">
              <a:lnSpc>
                <a:spcPct val="115000"/>
              </a:lnSpc>
              <a:spcAft>
                <a:spcPts val="1000"/>
              </a:spcAft>
            </a:pPr>
            <a:r>
              <a:rPr sz="1150" b="0" i="0">
                <a:solidFill>
                  <a:srgbClr val="3A4356"/>
                </a:solidFill>
                <a:latin typeface="Calibri"/>
              </a:rPr>
              <a:t>• Deterministic TypeScript post-processor for types, values, MPNs</a:t>
            </a:r>
          </a:p>
          <a:p>
            <a:pPr algn="l">
              <a:lnSpc>
                <a:spcPct val="115000"/>
              </a:lnSpc>
              <a:spcAft>
                <a:spcPts val="1000"/>
              </a:spcAft>
            </a:pPr>
            <a:r>
              <a:rPr sz="1150" b="0" i="0">
                <a:solidFill>
                  <a:srgbClr val="3A4356"/>
                </a:solidFill>
                <a:latin typeface="Calibri"/>
              </a:rPr>
              <a:t>• SHA-256 result cache — repeatable, auditable output</a:t>
            </a:r>
          </a:p>
          <a:p>
            <a:pPr algn="l">
              <a:lnSpc>
                <a:spcPct val="115000"/>
              </a:lnSpc>
              <a:spcAft>
                <a:spcPts val="1000"/>
              </a:spcAft>
            </a:pPr>
            <a:r>
              <a:rPr sz="1150" b="0" i="0">
                <a:solidFill>
                  <a:srgbClr val="3A4356"/>
                </a:solidFill>
                <a:latin typeface="Calibri"/>
              </a:rPr>
              <a:t>• Optional live pricing (Nexar/RS/Farnell) — part numbers only, opt-in</a:t>
            </a:r>
          </a:p>
        </p:txBody>
      </p:sp>
      <p:sp>
        <p:nvSpPr>
          <p:cNvPr id="13" name="Rounded Rectangle 12"/>
          <p:cNvSpPr/>
          <p:nvPr/>
        </p:nvSpPr>
        <p:spPr>
          <a:xfrm>
            <a:off x="4297680" y="1828800"/>
            <a:ext cx="3657600" cy="3794760"/>
          </a:xfrm>
          <a:prstGeom prst="roundRect">
            <a:avLst>
              <a:gd name="adj" fmla="val 6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E8B57"/>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OCR evidence + vision cross-check — read, not guessed</a:t>
            </a:r>
          </a:p>
          <a:p>
            <a:pPr algn="l">
              <a:lnSpc>
                <a:spcPct val="115000"/>
              </a:lnSpc>
              <a:spcAft>
                <a:spcPts val="1000"/>
              </a:spcAft>
            </a:pPr>
            <a:r>
              <a:rPr sz="1150" b="0" i="0">
                <a:solidFill>
                  <a:srgbClr val="3A4356"/>
                </a:solidFill>
                <a:latin typeface="Calibri"/>
              </a:rPr>
              <a:t>• Code normalises every line; implausible part numbers rejected</a:t>
            </a:r>
          </a:p>
          <a:p>
            <a:pPr algn="l">
              <a:lnSpc>
                <a:spcPct val="115000"/>
              </a:lnSpc>
              <a:spcAft>
                <a:spcPts val="1000"/>
              </a:spcAft>
            </a:pPr>
            <a:r>
              <a:rPr sz="1150" b="0" i="0">
                <a:solidFill>
                  <a:srgbClr val="3A4356"/>
                </a:solidFill>
                <a:latin typeface="Calibri"/>
              </a:rPr>
              <a:t>• Per-line confidence score — low lines flagged for engineer review</a:t>
            </a:r>
          </a:p>
          <a:p>
            <a:pPr algn="l">
              <a:lnSpc>
                <a:spcPct val="115000"/>
              </a:lnSpc>
              <a:spcAft>
                <a:spcPts val="1000"/>
              </a:spcAft>
            </a:pPr>
            <a:r>
              <a:rPr sz="1150" b="0" i="0">
                <a:solidFill>
                  <a:srgbClr val="3A4356"/>
                </a:solidFill>
                <a:latin typeface="Calibri"/>
              </a:rPr>
              <a:t>• Prices grounded against the distributor catalogue, shown as ranges</a:t>
            </a:r>
          </a:p>
          <a:p>
            <a:pPr algn="l">
              <a:lnSpc>
                <a:spcPct val="115000"/>
              </a:lnSpc>
              <a:spcAft>
                <a:spcPts val="1000"/>
              </a:spcAft>
            </a:pPr>
            <a:r>
              <a:rPr sz="1150" b="0" i="0">
                <a:solidFill>
                  <a:srgbClr val="3A4356"/>
                </a:solidFill>
                <a:latin typeface="Calibri"/>
              </a:rPr>
              <a:t>• Learning loop calibrates against real quotes over time</a:t>
            </a:r>
          </a:p>
        </p:txBody>
      </p:sp>
      <p:sp>
        <p:nvSpPr>
          <p:cNvPr id="17" name="Rounded Rectangle 16"/>
          <p:cNvSpPr/>
          <p:nvPr/>
        </p:nvSpPr>
        <p:spPr>
          <a:xfrm>
            <a:off x="8183879" y="1828800"/>
            <a:ext cx="3657600" cy="3794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Main AI pass: ~20 seconds</a:t>
            </a:r>
          </a:p>
          <a:p>
            <a:pPr algn="l">
              <a:lnSpc>
                <a:spcPct val="115000"/>
              </a:lnSpc>
              <a:spcAft>
                <a:spcPts val="1000"/>
              </a:spcAft>
            </a:pPr>
            <a:r>
              <a:rPr sz="1150" b="0" i="0">
                <a:solidFill>
                  <a:srgbClr val="3A4356"/>
                </a:solidFill>
                <a:latin typeface="Calibri"/>
              </a:rPr>
              <a:t>• Full costed BOM: typically under a minute</a:t>
            </a:r>
          </a:p>
          <a:p>
            <a:pPr algn="l">
              <a:lnSpc>
                <a:spcPct val="115000"/>
              </a:lnSpc>
              <a:spcAft>
                <a:spcPts val="1000"/>
              </a:spcAft>
            </a:pPr>
            <a:r>
              <a:rPr sz="1150" b="0" i="0">
                <a:solidFill>
                  <a:srgbClr val="3A4356"/>
                </a:solidFill>
                <a:latin typeface="Calibri"/>
              </a:rPr>
              <a:t>• Repeat of the same board: instant (cache)</a:t>
            </a:r>
          </a:p>
          <a:p>
            <a:pPr algn="l">
              <a:lnSpc>
                <a:spcPct val="115000"/>
              </a:lnSpc>
              <a:spcAft>
                <a:spcPts val="1000"/>
              </a:spcAft>
            </a:pPr>
            <a:r>
              <a:rPr sz="1150" b="0" i="0">
                <a:solidFill>
                  <a:srgbClr val="3A4356"/>
                </a:solidFill>
                <a:latin typeface="Calibri"/>
              </a:rPr>
              <a:t>• Manual alternative: hours to days per board</a:t>
            </a:r>
          </a:p>
          <a:p>
            <a:pPr algn="l">
              <a:lnSpc>
                <a:spcPct val="115000"/>
              </a:lnSpc>
              <a:spcAft>
                <a:spcPts val="1000"/>
              </a:spcAft>
            </a:pPr>
            <a:r>
              <a:rPr sz="1150" b="0" i="0">
                <a:solidFill>
                  <a:srgbClr val="3A4356"/>
                </a:solidFill>
                <a:latin typeface="Calibri"/>
              </a:rPr>
              <a:t>• Works from photos alone — no CAD, no drawings needed</a:t>
            </a:r>
          </a:p>
        </p:txBody>
      </p:sp>
      <p:sp>
        <p:nvSpPr>
          <p:cNvPr id="21" name="Rounded Rectangle 20"/>
          <p:cNvSpPr/>
          <p:nvPr/>
        </p:nvSpPr>
        <p:spPr>
          <a:xfrm>
            <a:off x="411480" y="5870448"/>
            <a:ext cx="11384280" cy="77724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B7791F"/>
                </a:solidFill>
                <a:latin typeface="Calibri"/>
              </a:rPr>
              <a:t>Honest limits: </a:t>
            </a:r>
            <a:r>
              <a:rPr sz="1150" b="0" i="0">
                <a:solidFill>
                  <a:srgbClr val="3A4356"/>
                </a:solidFill>
                <a:latin typeface="Calibri"/>
              </a:rPr>
              <a:t>a vision BOM is a strong first pass, not gospel — hidden or underside parts need extra photos, and low-confidence lines are deliberately flagged for a human check rather than silently guessed.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1 · Upload a CAD model</a:t>
            </a:r>
          </a:p>
          <a:p>
            <a:pPr algn="l"/>
            <a:r>
              <a:rPr sz="950">
                <a:solidFill>
                  <a:srgbClr val="3A4356"/>
                </a:solidFill>
                <a:latin typeface="Calibri"/>
              </a:rPr>
              <a:t>STEP, IGES or STL from any CAD system — as the standalone CAD-to-Cost flow or inside any of the 13 commodity calculators.</a:t>
            </a:r>
          </a:p>
        </p:txBody>
      </p:sp>
      <p:sp>
        <p:nvSpPr>
          <p:cNvPr id="10" name="Rectangle 9"/>
          <p:cNvSpPr/>
          <p:nvPr/>
        </p:nvSpPr>
        <p:spPr>
          <a:xfrm>
            <a:off x="411480" y="1783080"/>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2 · Opened in memory, inside our server</a:t>
            </a:r>
          </a:p>
          <a:p>
            <a:pPr algn="l"/>
            <a:r>
              <a:rPr sz="950">
                <a:solidFill>
                  <a:srgbClr val="3A4356"/>
                </a:solidFill>
                <a:latin typeface="Calibri"/>
              </a:rPr>
              <a:t>The OCCT geometry kernel (the same engine class commercial CAD tools are built on) reads the model in memory. The file is never written to disk and never leaves the server.</a:t>
            </a:r>
          </a:p>
        </p:txBody>
      </p:sp>
      <p:sp>
        <p:nvSpPr>
          <p:cNvPr id="13" name="Rectangle 12"/>
          <p:cNvSpPr/>
          <p:nvPr/>
        </p:nvSpPr>
        <p:spPr>
          <a:xfrm>
            <a:off x="411480" y="2569464"/>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3 · The model is measured</a:t>
            </a:r>
          </a:p>
          <a:p>
            <a:pPr algn="l"/>
            <a:r>
              <a:rPr sz="950">
                <a:solidFill>
                  <a:srgbClr val="3A4356"/>
                </a:solidFill>
                <a:latin typeface="Calibri"/>
              </a:rPr>
              <a:t>Exact volume, surface area, bounding box, mean wall thickness, hole count, free-form faces — measured from the geometry, not typed in from a drawing.</a:t>
            </a:r>
          </a:p>
        </p:txBody>
      </p:sp>
      <p:sp>
        <p:nvSpPr>
          <p:cNvPr id="16" name="Rectangle 15"/>
          <p:cNvSpPr/>
          <p:nvPr/>
        </p:nvSpPr>
        <p:spPr>
          <a:xfrm>
            <a:off x="411480" y="3355848"/>
            <a:ext cx="64008" cy="62179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E8074"/>
                </a:solidFill>
                <a:latin typeface="Calibri"/>
              </a:rPr>
              <a:t>4 · Inputs auto-filled</a:t>
            </a:r>
          </a:p>
          <a:p>
            <a:pPr algn="l"/>
            <a:r>
              <a:rPr sz="950">
                <a:solidFill>
                  <a:srgbClr val="3A4356"/>
                </a:solidFill>
                <a:latin typeface="Calibri"/>
              </a:rPr>
              <a:t>Mass from volume × material density, stock/billet size, and suggested process parameters for the chosen commodity — the engineer reviews and adjusts.</a:t>
            </a:r>
          </a:p>
        </p:txBody>
      </p:sp>
      <p:sp>
        <p:nvSpPr>
          <p:cNvPr id="19" name="Rectangle 18"/>
          <p:cNvSpPr/>
          <p:nvPr/>
        </p:nvSpPr>
        <p:spPr>
          <a:xfrm>
            <a:off x="411480" y="4142232"/>
            <a:ext cx="64008" cy="621792"/>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E8B57"/>
                </a:solidFill>
                <a:latin typeface="Calibri"/>
              </a:rPr>
              <a:t>5 · Physics engines cost it</a:t>
            </a:r>
          </a:p>
          <a:p>
            <a:pPr algn="l"/>
            <a:r>
              <a:rPr sz="950">
                <a:solidFill>
                  <a:srgbClr val="3A4356"/>
                </a:solidFill>
                <a:latin typeface="Calibri"/>
              </a:rPr>
              <a:t>Material, cycle or machining time, labour, tooling amortisation, energy and overheads — computed bottom-up on OUR uploaded rates for the chosen country.</a:t>
            </a:r>
          </a:p>
        </p:txBody>
      </p:sp>
      <p:sp>
        <p:nvSpPr>
          <p:cNvPr id="22" name="Rectangle 21"/>
          <p:cNvSpPr/>
          <p:nvPr/>
        </p:nvSpPr>
        <p:spPr>
          <a:xfrm>
            <a:off x="411480" y="4928616"/>
            <a:ext cx="64008" cy="62179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B7791F"/>
                </a:solidFill>
                <a:latin typeface="Calibri"/>
              </a:rPr>
              <a:t>6 · Defensible result</a:t>
            </a:r>
          </a:p>
          <a:p>
            <a:pPr algn="l"/>
            <a:r>
              <a:rPr sz="950">
                <a:solidFill>
                  <a:srgbClr val="3A4356"/>
                </a:solidFill>
                <a:latin typeface="Calibri"/>
              </a:rPr>
              <a:t>Full cost breakdown + DFM warnings (thin walls, tonnage limits) + an honest uncertainty band — and the learning loop tightens it as real quotes arrive.</a:t>
            </a:r>
          </a:p>
        </p:txBody>
      </p:sp>
      <p:sp>
        <p:nvSpPr>
          <p:cNvPr id="25" name="Rectangle 24"/>
          <p:cNvSpPr/>
          <p:nvPr/>
        </p:nvSpPr>
        <p:spPr>
          <a:xfrm>
            <a:off x="411480" y="5715000"/>
            <a:ext cx="64008" cy="62179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CAD file to cost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The same geometry kernel commercial CAD tools are built on</a:t>
            </a:r>
          </a:p>
          <a:p>
            <a:pPr algn="l">
              <a:lnSpc>
                <a:spcPct val="115000"/>
              </a:lnSpc>
              <a:spcAft>
                <a:spcPts val="1000"/>
              </a:spcAft>
            </a:pPr>
            <a:r>
              <a:rPr sz="1150" b="0" i="0">
                <a:solidFill>
                  <a:srgbClr val="3A4356"/>
                </a:solidFill>
                <a:latin typeface="Calibri"/>
              </a:rPr>
              <a:t>• 18 physics cost engines do the actual costing</a:t>
            </a:r>
          </a:p>
          <a:p>
            <a:pPr algn="l">
              <a:lnSpc>
                <a:spcPct val="115000"/>
              </a:lnSpc>
              <a:spcAft>
                <a:spcPts val="1000"/>
              </a:spcAft>
            </a:pPr>
            <a:r>
              <a:rPr sz="1150" b="0" i="0">
                <a:solidFill>
                  <a:srgbClr val="3A4356"/>
                </a:solidFill>
                <a:latin typeface="Calibri"/>
              </a:rPr>
              <a:t>• The AI never receives the CAD file — only the measurements</a:t>
            </a:r>
          </a:p>
          <a:p>
            <a:pPr algn="l">
              <a:lnSpc>
                <a:spcPct val="115000"/>
              </a:lnSpc>
              <a:spcAft>
                <a:spcPts val="1000"/>
              </a:spcAft>
            </a:pPr>
            <a:r>
              <a:rPr sz="1150" b="0" i="0">
                <a:solidFill>
                  <a:srgbClr val="3A4356"/>
                </a:solidFill>
                <a:latin typeface="Calibri"/>
              </a:rPr>
              <a:t>• Our own rate library, across 20 countries</a:t>
            </a:r>
          </a:p>
        </p:txBody>
      </p:sp>
      <p:sp>
        <p:nvSpPr>
          <p:cNvPr id="13" name="Rounded Rectangle 12"/>
          <p:cNvSpPr/>
          <p:nvPr/>
        </p:nvSpPr>
        <p:spPr>
          <a:xfrm>
            <a:off x="4297680" y="1828800"/>
            <a:ext cx="3657600" cy="3794760"/>
          </a:xfrm>
          <a:prstGeom prst="roundRect">
            <a:avLst>
              <a:gd name="adj" fmla="val 6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E8B57"/>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Measured, not estimated — real volume, real mass</a:t>
            </a:r>
          </a:p>
          <a:p>
            <a:pPr algn="l">
              <a:lnSpc>
                <a:spcPct val="115000"/>
              </a:lnSpc>
              <a:spcAft>
                <a:spcPts val="1000"/>
              </a:spcAft>
            </a:pPr>
            <a:r>
              <a:rPr sz="1150" b="0" i="0">
                <a:solidFill>
                  <a:srgbClr val="3A4356"/>
                </a:solidFill>
                <a:latin typeface="Calibri"/>
              </a:rPr>
              <a:t>• Every figure traceable line by line</a:t>
            </a:r>
          </a:p>
          <a:p>
            <a:pPr algn="l">
              <a:lnSpc>
                <a:spcPct val="115000"/>
              </a:lnSpc>
              <a:spcAft>
                <a:spcPts val="1000"/>
              </a:spcAft>
            </a:pPr>
            <a:r>
              <a:rPr sz="1150" b="0" i="0">
                <a:solidFill>
                  <a:srgbClr val="3A4356"/>
                </a:solidFill>
                <a:latin typeface="Calibri"/>
              </a:rPr>
              <a:t>• Checks wall thickness, tonnage and press force</a:t>
            </a:r>
          </a:p>
          <a:p>
            <a:pPr algn="l">
              <a:lnSpc>
                <a:spcPct val="115000"/>
              </a:lnSpc>
              <a:spcAft>
                <a:spcPts val="1000"/>
              </a:spcAft>
            </a:pPr>
            <a:r>
              <a:rPr sz="1150" b="0" i="0">
                <a:solidFill>
                  <a:srgbClr val="3A4356"/>
                </a:solidFill>
                <a:latin typeface="Calibri"/>
              </a:rPr>
              <a:t>• An honest uncertainty band on every result</a:t>
            </a:r>
          </a:p>
          <a:p>
            <a:pPr algn="l">
              <a:lnSpc>
                <a:spcPct val="115000"/>
              </a:lnSpc>
              <a:spcAft>
                <a:spcPts val="1000"/>
              </a:spcAft>
            </a:pPr>
            <a:r>
              <a:rPr sz="1150" b="0" i="0">
                <a:solidFill>
                  <a:srgbClr val="3A4356"/>
                </a:solidFill>
                <a:latin typeface="Calibri"/>
              </a:rPr>
              <a:t>• Three real quotes took the error from 10.9% to 0.3%</a:t>
            </a:r>
          </a:p>
        </p:txBody>
      </p:sp>
      <p:sp>
        <p:nvSpPr>
          <p:cNvPr id="17" name="Rounded Rectangle 16"/>
          <p:cNvSpPr/>
          <p:nvPr/>
        </p:nvSpPr>
        <p:spPr>
          <a:xfrm>
            <a:off x="8183879" y="1828800"/>
            <a:ext cx="3657600" cy="3794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Geometry measured in seconds</a:t>
            </a:r>
          </a:p>
          <a:p>
            <a:pPr algn="l">
              <a:lnSpc>
                <a:spcPct val="115000"/>
              </a:lnSpc>
              <a:spcAft>
                <a:spcPts val="1000"/>
              </a:spcAft>
            </a:pPr>
            <a:r>
              <a:rPr sz="1150" b="0" i="0">
                <a:solidFill>
                  <a:srgbClr val="3A4356"/>
                </a:solidFill>
                <a:latin typeface="Calibri"/>
              </a:rPr>
              <a:t>• A first price in a few minutes, mostly review time</a:t>
            </a:r>
          </a:p>
          <a:p>
            <a:pPr algn="l">
              <a:lnSpc>
                <a:spcPct val="115000"/>
              </a:lnSpc>
              <a:spcAft>
                <a:spcPts val="1000"/>
              </a:spcAft>
            </a:pPr>
            <a:r>
              <a:rPr sz="1150" b="0" i="0">
                <a:solidFill>
                  <a:srgbClr val="3A4356"/>
                </a:solidFill>
                <a:latin typeface="Calibri"/>
              </a:rPr>
              <a:t>• By hand: hours of take-off per part</a:t>
            </a:r>
          </a:p>
          <a:p>
            <a:pPr algn="l">
              <a:lnSpc>
                <a:spcPct val="115000"/>
              </a:lnSpc>
              <a:spcAft>
                <a:spcPts val="1000"/>
              </a:spcAft>
            </a:pPr>
            <a:r>
              <a:rPr sz="1150" b="0" i="0">
                <a:solidFill>
                  <a:srgbClr val="3A4356"/>
                </a:solidFill>
                <a:latin typeface="Calibri"/>
              </a:rPr>
              <a:t>• The same flow in 13 commodities — one skill to learn</a:t>
            </a:r>
          </a:p>
        </p:txBody>
      </p:sp>
      <p:sp>
        <p:nvSpPr>
          <p:cNvPr id="21" name="Rounded Rectangle 20"/>
          <p:cNvSpPr/>
          <p:nvPr/>
        </p:nvSpPr>
        <p:spPr>
          <a:xfrm>
            <a:off x="411480" y="5870448"/>
            <a:ext cx="11384280" cy="77724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2E8B57"/>
                </a:solidFill>
                <a:latin typeface="Calibri"/>
              </a:rPr>
              <a:t>Security, restated: </a:t>
            </a:r>
            <a:r>
              <a:rPr sz="1150" b="1" i="0">
                <a:solidFill>
                  <a:srgbClr val="3A4356"/>
                </a:solidFill>
                <a:latin typeface="Calibri"/>
              </a:rPr>
              <a:t>the CAD file is processed in memory inside our backend and is never stored or transmitted. Only a short numeric geometry summary reaches the AI layer — and in air-gapped mode, nothing leaves at all.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CAD-TO-COST · ZERO MANUAL ENTRY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What's Auto-Captured — Fed to the Cost Engine</a:t>
            </a:r>
          </a:p>
        </p:txBody>
      </p:sp>
      <p:sp>
        <p:nvSpPr>
          <p:cNvPr id="9" name="Rounded Rectangle 8"/>
          <p:cNvSpPr/>
          <p:nvPr/>
        </p:nvSpPr>
        <p:spPr>
          <a:xfrm>
            <a:off x="411480" y="1572768"/>
            <a:ext cx="6720840" cy="365760"/>
          </a:xfrm>
          <a:prstGeom prst="roundRect">
            <a:avLst>
              <a:gd name="adj" fmla="val 8000"/>
            </a:avLst>
          </a:prstGeom>
          <a:solidFill>
            <a:srgbClr val="E8F1F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6325C"/>
                </a:solidFill>
                <a:latin typeface="Calibri"/>
              </a:rPr>
              <a:t>Auto-captured from geometry (no typing)</a:t>
            </a:r>
          </a:p>
        </p:txBody>
      </p:sp>
      <p:sp>
        <p:nvSpPr>
          <p:cNvPr id="11" name="TextBox 10"/>
          <p:cNvSpPr txBox="1"/>
          <p:nvPr/>
        </p:nvSpPr>
        <p:spPr>
          <a:xfrm>
            <a:off x="4297680" y="1627632"/>
            <a:ext cx="283464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 Feeds this cost driver</a:t>
            </a:r>
          </a:p>
        </p:txBody>
      </p:sp>
      <p:sp>
        <p:nvSpPr>
          <p:cNvPr id="12" name="Rounded Rectangle 11"/>
          <p:cNvSpPr/>
          <p:nvPr/>
        </p:nvSpPr>
        <p:spPr>
          <a:xfrm>
            <a:off x="411480" y="1993392"/>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6654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Volume — exact (OCCT kernel)</a:t>
            </a:r>
          </a:p>
        </p:txBody>
      </p:sp>
      <p:sp>
        <p:nvSpPr>
          <p:cNvPr id="14" name="TextBox 13"/>
          <p:cNvSpPr txBox="1"/>
          <p:nvPr/>
        </p:nvSpPr>
        <p:spPr>
          <a:xfrm>
            <a:off x="4297680" y="206654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Material mass · stock size</a:t>
            </a:r>
          </a:p>
        </p:txBody>
      </p:sp>
      <p:sp>
        <p:nvSpPr>
          <p:cNvPr id="15" name="Rounded Rectangle 14"/>
          <p:cNvSpPr/>
          <p:nvPr/>
        </p:nvSpPr>
        <p:spPr>
          <a:xfrm>
            <a:off x="411480" y="2414016"/>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8716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Weight = volume × density</a:t>
            </a:r>
          </a:p>
        </p:txBody>
      </p:sp>
      <p:sp>
        <p:nvSpPr>
          <p:cNvPr id="17" name="TextBox 16"/>
          <p:cNvSpPr txBox="1"/>
          <p:nvPr/>
        </p:nvSpPr>
        <p:spPr>
          <a:xfrm>
            <a:off x="4297680" y="248716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Raw-material £ (Al/steel/iron/Cu/Ti)</a:t>
            </a:r>
          </a:p>
        </p:txBody>
      </p:sp>
      <p:sp>
        <p:nvSpPr>
          <p:cNvPr id="18" name="Rounded Rectangle 17"/>
          <p:cNvSpPr/>
          <p:nvPr/>
        </p:nvSpPr>
        <p:spPr>
          <a:xfrm>
            <a:off x="411480" y="2834640"/>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0779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Bounding box / envelope</a:t>
            </a:r>
          </a:p>
        </p:txBody>
      </p:sp>
      <p:sp>
        <p:nvSpPr>
          <p:cNvPr id="20" name="TextBox 19"/>
          <p:cNvSpPr txBox="1"/>
          <p:nvPr/>
        </p:nvSpPr>
        <p:spPr>
          <a:xfrm>
            <a:off x="4297680" y="290779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Machine sizing · stock · setups</a:t>
            </a:r>
          </a:p>
        </p:txBody>
      </p:sp>
      <p:sp>
        <p:nvSpPr>
          <p:cNvPr id="21" name="Rounded Rectangle 20"/>
          <p:cNvSpPr/>
          <p:nvPr/>
        </p:nvSpPr>
        <p:spPr>
          <a:xfrm>
            <a:off x="411480" y="3255264"/>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2841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Body / component count</a:t>
            </a:r>
          </a:p>
        </p:txBody>
      </p:sp>
      <p:sp>
        <p:nvSpPr>
          <p:cNvPr id="23" name="TextBox 22"/>
          <p:cNvSpPr txBox="1"/>
          <p:nvPr/>
        </p:nvSpPr>
        <p:spPr>
          <a:xfrm>
            <a:off x="4297680" y="332841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Assembly cost · BOM line count</a:t>
            </a:r>
          </a:p>
        </p:txBody>
      </p:sp>
      <p:sp>
        <p:nvSpPr>
          <p:cNvPr id="24" name="Rounded Rectangle 23"/>
          <p:cNvSpPr/>
          <p:nvPr/>
        </p:nvSpPr>
        <p:spPr>
          <a:xfrm>
            <a:off x="411480" y="3675888"/>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49040"/>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Hole &amp; boss table — Ø, depth, count</a:t>
            </a:r>
          </a:p>
        </p:txBody>
      </p:sp>
      <p:sp>
        <p:nvSpPr>
          <p:cNvPr id="26" name="TextBox 25"/>
          <p:cNvSpPr txBox="1"/>
          <p:nvPr/>
        </p:nvSpPr>
        <p:spPr>
          <a:xfrm>
            <a:off x="4297680" y="3749040"/>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Drill / bore / tap operations</a:t>
            </a:r>
          </a:p>
        </p:txBody>
      </p:sp>
      <p:sp>
        <p:nvSpPr>
          <p:cNvPr id="27" name="Rounded Rectangle 26"/>
          <p:cNvSpPr/>
          <p:nvPr/>
        </p:nvSpPr>
        <p:spPr>
          <a:xfrm>
            <a:off x="411480" y="4096512"/>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16966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Wall thickness — min/mean/heatmap</a:t>
            </a:r>
          </a:p>
        </p:txBody>
      </p:sp>
      <p:sp>
        <p:nvSpPr>
          <p:cNvPr id="29" name="TextBox 28"/>
          <p:cNvSpPr txBox="1"/>
          <p:nvPr/>
        </p:nvSpPr>
        <p:spPr>
          <a:xfrm>
            <a:off x="4297680" y="416966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Mould &amp; cast feasibility · cooling</a:t>
            </a:r>
          </a:p>
        </p:txBody>
      </p:sp>
      <p:sp>
        <p:nvSpPr>
          <p:cNvPr id="30" name="Rounded Rectangle 29"/>
          <p:cNvSpPr/>
          <p:nvPr/>
        </p:nvSpPr>
        <p:spPr>
          <a:xfrm>
            <a:off x="411480" y="4517136"/>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59028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Draft &amp; undercut analysis</a:t>
            </a:r>
          </a:p>
        </p:txBody>
      </p:sp>
      <p:sp>
        <p:nvSpPr>
          <p:cNvPr id="32" name="TextBox 31"/>
          <p:cNvSpPr txBox="1"/>
          <p:nvPr/>
        </p:nvSpPr>
        <p:spPr>
          <a:xfrm>
            <a:off x="4297680" y="459028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Tooling complexity — slides</a:t>
            </a:r>
          </a:p>
        </p:txBody>
      </p:sp>
      <p:sp>
        <p:nvSpPr>
          <p:cNvPr id="33" name="Rounded Rectangle 32"/>
          <p:cNvSpPr/>
          <p:nvPr/>
        </p:nvSpPr>
        <p:spPr>
          <a:xfrm>
            <a:off x="411480" y="4937760"/>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01091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Face-type areas (planar/cyl)</a:t>
            </a:r>
          </a:p>
        </p:txBody>
      </p:sp>
      <p:sp>
        <p:nvSpPr>
          <p:cNvPr id="35" name="TextBox 34"/>
          <p:cNvSpPr txBox="1"/>
          <p:nvPr/>
        </p:nvSpPr>
        <p:spPr>
          <a:xfrm>
            <a:off x="4297680" y="501091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Machining area · paint area</a:t>
            </a:r>
          </a:p>
        </p:txBody>
      </p:sp>
      <p:sp>
        <p:nvSpPr>
          <p:cNvPr id="36" name="Rounded Rectangle 35"/>
          <p:cNvSpPr/>
          <p:nvPr/>
        </p:nvSpPr>
        <p:spPr>
          <a:xfrm>
            <a:off x="411480" y="5358384"/>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43153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CNC cycle-time &amp; setup estimate</a:t>
            </a:r>
          </a:p>
        </p:txBody>
      </p:sp>
      <p:sp>
        <p:nvSpPr>
          <p:cNvPr id="38" name="TextBox 37"/>
          <p:cNvSpPr txBox="1"/>
          <p:nvPr/>
        </p:nvSpPr>
        <p:spPr>
          <a:xfrm>
            <a:off x="4297680" y="543153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Process-time baseline</a:t>
            </a:r>
          </a:p>
        </p:txBody>
      </p:sp>
      <p:sp>
        <p:nvSpPr>
          <p:cNvPr id="39" name="Rounded Rectangle 38"/>
          <p:cNvSpPr/>
          <p:nvPr/>
        </p:nvSpPr>
        <p:spPr>
          <a:xfrm>
            <a:off x="7360920" y="1572768"/>
            <a:ext cx="4434840" cy="25146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60920" y="1572768"/>
            <a:ext cx="64008" cy="25146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43800" y="1682496"/>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6325C"/>
                </a:solidFill>
                <a:latin typeface="Segoe UI Emoji"/>
              </a:rPr>
              <a:t>⚙</a:t>
            </a:r>
            <a:r>
              <a:rPr sz="1100" b="1" i="0">
                <a:solidFill>
                  <a:srgbClr val="16325C"/>
                </a:solidFill>
                <a:latin typeface="Calibri"/>
              </a:rPr>
              <a:t>  Worked example — Spur Gear (m3 · z38)</a:t>
            </a:r>
          </a:p>
        </p:txBody>
      </p:sp>
      <p:sp>
        <p:nvSpPr>
          <p:cNvPr id="42" name="TextBox 41"/>
          <p:cNvSpPr txBox="1"/>
          <p:nvPr/>
        </p:nvSpPr>
        <p:spPr>
          <a:xfrm>
            <a:off x="7543800" y="2029968"/>
            <a:ext cx="4142232" cy="1920240"/>
          </a:xfrm>
          <a:prstGeom prst="rect">
            <a:avLst/>
          </a:prstGeom>
          <a:noFill/>
        </p:spPr>
        <p:txBody>
          <a:bodyPr wrap="square" anchor="t" lIns="0" rIns="0" tIns="0" bIns="0">
            <a:spAutoFit/>
          </a:bodyPr>
          <a:lstStyle/>
          <a:p>
            <a:pPr algn="l">
              <a:lnSpc>
                <a:spcPct val="105000"/>
              </a:lnSpc>
              <a:spcAft>
                <a:spcPts val="400"/>
              </a:spcAft>
            </a:pPr>
            <a:r>
              <a:rPr sz="950" b="0" i="0">
                <a:solidFill>
                  <a:srgbClr val="3A4356"/>
                </a:solidFill>
                <a:latin typeface="Calibri"/>
              </a:rPr>
              <a:t>20MnCr5 case-hardening steel — captured automatically:</a:t>
            </a:r>
          </a:p>
          <a:p>
            <a:pPr algn="l">
              <a:lnSpc>
                <a:spcPct val="105000"/>
              </a:lnSpc>
              <a:spcAft>
                <a:spcPts val="400"/>
              </a:spcAft>
            </a:pPr>
            <a:r>
              <a:rPr sz="950" b="1" i="0">
                <a:solidFill>
                  <a:srgbClr val="16325C"/>
                </a:solidFill>
                <a:latin typeface="Calibri"/>
              </a:rPr>
              <a:t>   Volume 264.9 cm³  ·  Weight 2.08 kg</a:t>
            </a:r>
          </a:p>
          <a:p>
            <a:pPr algn="l">
              <a:lnSpc>
                <a:spcPct val="105000"/>
              </a:lnSpc>
              <a:spcAft>
                <a:spcPts val="400"/>
              </a:spcAft>
            </a:pPr>
            <a:r>
              <a:rPr sz="950" b="0" i="0">
                <a:solidFill>
                  <a:srgbClr val="3A4356"/>
                </a:solidFill>
                <a:latin typeface="Calibri"/>
              </a:rPr>
              <a:t>   Envelope 120 × 120 × 30 mm  ·  1 body</a:t>
            </a:r>
          </a:p>
          <a:p>
            <a:pPr algn="l">
              <a:lnSpc>
                <a:spcPct val="105000"/>
              </a:lnSpc>
              <a:spcAft>
                <a:spcPts val="400"/>
              </a:spcAft>
            </a:pPr>
            <a:r>
              <a:rPr sz="950" b="1" i="0">
                <a:solidFill>
                  <a:srgbClr val="2E8B57"/>
                </a:solidFill>
                <a:latin typeface="Calibri"/>
              </a:rPr>
              <a:t>→ Should-cost, India ex-works (GBP):</a:t>
            </a:r>
          </a:p>
          <a:p>
            <a:pPr algn="l">
              <a:lnSpc>
                <a:spcPct val="105000"/>
              </a:lnSpc>
              <a:spcAft>
                <a:spcPts val="400"/>
              </a:spcAft>
            </a:pPr>
            <a:r>
              <a:rPr sz="950" b="0" i="0">
                <a:solidFill>
                  <a:srgbClr val="3A4356"/>
                </a:solidFill>
                <a:latin typeface="Calibri"/>
              </a:rPr>
              <a:t>   Material £3.36 · Process £11.40 · Labour £1.36</a:t>
            </a:r>
          </a:p>
          <a:p>
            <a:pPr algn="l">
              <a:lnSpc>
                <a:spcPct val="105000"/>
              </a:lnSpc>
              <a:spcAft>
                <a:spcPts val="400"/>
              </a:spcAft>
            </a:pPr>
            <a:r>
              <a:rPr sz="950" b="0" i="0">
                <a:solidFill>
                  <a:srgbClr val="3A4356"/>
                </a:solidFill>
                <a:latin typeface="Calibri"/>
              </a:rPr>
              <a:t>   Overhead £1.95 · Margin £1.83  + heat-treat £1.77</a:t>
            </a:r>
          </a:p>
          <a:p>
            <a:pPr algn="l">
              <a:lnSpc>
                <a:spcPct val="105000"/>
              </a:lnSpc>
              <a:spcAft>
                <a:spcPts val="400"/>
              </a:spcAft>
            </a:pPr>
            <a:r>
              <a:rPr sz="1000" b="1" i="0">
                <a:solidFill>
                  <a:srgbClr val="16325C"/>
                </a:solidFill>
                <a:latin typeface="Calibri"/>
              </a:rPr>
              <a:t>   =  £21.90 / part  (≈ ₹2,398)  ·  £10.53 / kg</a:t>
            </a:r>
          </a:p>
        </p:txBody>
      </p:sp>
      <p:sp>
        <p:nvSpPr>
          <p:cNvPr id="43" name="Rounded Rectangle 42"/>
          <p:cNvSpPr/>
          <p:nvPr/>
        </p:nvSpPr>
        <p:spPr>
          <a:xfrm>
            <a:off x="7360920" y="4206240"/>
            <a:ext cx="4434840" cy="1600200"/>
          </a:xfrm>
          <a:prstGeom prst="roundRect">
            <a:avLst>
              <a:gd name="adj" fmla="val 5000"/>
            </a:avLst>
          </a:prstGeom>
          <a:solidFill>
            <a:srgbClr val="E8F1F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60920" y="4206240"/>
            <a:ext cx="64008" cy="1600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43800" y="4315968"/>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E8B57"/>
                </a:solidFill>
                <a:latin typeface="Segoe UI Emoji"/>
              </a:rPr>
              <a:t>🔒</a:t>
            </a:r>
            <a:r>
              <a:rPr sz="1100" b="1" i="0">
                <a:solidFill>
                  <a:srgbClr val="2E8B57"/>
                </a:solidFill>
                <a:latin typeface="Calibri"/>
              </a:rPr>
              <a:t>  The golden rule</a:t>
            </a:r>
          </a:p>
        </p:txBody>
      </p:sp>
      <p:sp>
        <p:nvSpPr>
          <p:cNvPr id="46" name="TextBox 45"/>
          <p:cNvSpPr txBox="1"/>
          <p:nvPr/>
        </p:nvSpPr>
        <p:spPr>
          <a:xfrm>
            <a:off x="7543800" y="4645152"/>
            <a:ext cx="4142232" cy="1097280"/>
          </a:xfrm>
          <a:prstGeom prst="rect">
            <a:avLst/>
          </a:prstGeom>
          <a:noFill/>
        </p:spPr>
        <p:txBody>
          <a:bodyPr wrap="square" anchor="t" lIns="0" rIns="0" tIns="0" bIns="0">
            <a:spAutoFit/>
          </a:bodyPr>
          <a:lstStyle/>
          <a:p>
            <a:pPr algn="l">
              <a:lnSpc>
                <a:spcPct val="105000"/>
              </a:lnSpc>
              <a:spcAft>
                <a:spcPts val="400"/>
              </a:spcAft>
            </a:pPr>
            <a:r>
              <a:rPr sz="950" b="0" i="0">
                <a:solidFill>
                  <a:srgbClr val="3A4356"/>
                </a:solidFill>
                <a:latin typeface="Calibri"/>
              </a:rPr>
              <a:t>AI never sets a price. It only classifies material &amp; process; every £ is deterministic arithmetic on the measured geometry, bounded and traceable to the rate library — which is what makes the output defensible.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