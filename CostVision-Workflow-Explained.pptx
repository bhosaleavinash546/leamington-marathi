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The scoring card is unchanged — ten minus two per critical, one per major, half per minor; savings root-sum-square of the top three, capped at forty. And one addition at the bottom: the context gates.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5–7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Score</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Start at 10. Minus 2 per critical, 1 per major, ½ per minor finding. Two scores: manufacturability and assembly, each 1–10.</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0E8074"/>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0E8074"/>
                </a:solidFill>
                <a:latin typeface="Calibri" pitchFamily="34" charset="0"/>
                <a:ea typeface="Calibri" pitchFamily="34" charset="-122"/>
                <a:cs typeface="Calibri" pitchFamily="34" charset="-120"/>
              </a:rPr>
              <a:t>HOW THE SCORE</a:t>
            </a:r>
            <a:endParaRPr lang="en-US" sz="1000" dirty="0"/>
          </a:p>
          <a:p>
            <a:pPr indent="0" marL="0">
              <a:buNone/>
            </a:pPr>
            <a:r>
              <a:rPr lang="en-US" sz="1000" b="1" spc="40" kern="0" dirty="0">
                <a:solidFill>
                  <a:srgbClr val="0E8074"/>
                </a:solidFill>
                <a:latin typeface="Calibri" pitchFamily="34" charset="0"/>
                <a:ea typeface="Calibri" pitchFamily="34" charset="-122"/>
                <a:cs typeface="Calibri" pitchFamily="34" charset="-120"/>
              </a:rPr>
              <a:t>IS BUILT</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Start at 10.
</a:t>
            </a:r>
            <a:pPr indent="0" marL="0">
              <a:buNone/>
            </a:pPr>
            <a:r>
              <a:rPr lang="en-US" sz="860" b="1" dirty="0">
                <a:solidFill>
                  <a:srgbClr val="B03A2E"/>
                </a:solidFill>
                <a:latin typeface="Calibri" pitchFamily="34" charset="0"/>
                <a:ea typeface="Calibri" pitchFamily="34" charset="-122"/>
                <a:cs typeface="Calibri" pitchFamily="34" charset="-120"/>
              </a:rPr>
              <a:t>− 2.0 </a:t>
            </a:r>
            <a:pPr indent="0" marL="0">
              <a:buNone/>
            </a:pPr>
            <a:r>
              <a:rPr lang="en-US" sz="860" dirty="0">
                <a:solidFill>
                  <a:srgbClr val="3A4356"/>
                </a:solidFill>
                <a:latin typeface="Calibri" pitchFamily="34" charset="0"/>
                <a:ea typeface="Calibri" pitchFamily="34" charset="-122"/>
                <a:cs typeface="Calibri" pitchFamily="34" charset="-120"/>
              </a:rPr>
              <a:t>per critical finding
</a:t>
            </a:r>
            <a:pPr indent="0" marL="0">
              <a:buNone/>
            </a:pPr>
            <a:r>
              <a:rPr lang="en-US" sz="860" b="1" dirty="0">
                <a:solidFill>
                  <a:srgbClr val="B7791F"/>
                </a:solidFill>
                <a:latin typeface="Calibri" pitchFamily="34" charset="0"/>
                <a:ea typeface="Calibri" pitchFamily="34" charset="-122"/>
                <a:cs typeface="Calibri" pitchFamily="34" charset="-120"/>
              </a:rPr>
              <a:t>− 1.0 </a:t>
            </a:r>
            <a:pPr indent="0" marL="0">
              <a:buNone/>
            </a:pPr>
            <a:r>
              <a:rPr lang="en-US" sz="860" dirty="0">
                <a:solidFill>
                  <a:srgbClr val="3A4356"/>
                </a:solidFill>
                <a:latin typeface="Calibri" pitchFamily="34" charset="0"/>
                <a:ea typeface="Calibri" pitchFamily="34" charset="-122"/>
                <a:cs typeface="Calibri" pitchFamily="34" charset="-120"/>
              </a:rPr>
              <a:t>per major finding
</a:t>
            </a:r>
            <a:pPr indent="0" marL="0">
              <a:buNone/>
            </a:pPr>
            <a:r>
              <a:rPr lang="en-US" sz="860" b="1" dirty="0">
                <a:solidFill>
                  <a:srgbClr val="6B7280"/>
                </a:solidFill>
                <a:latin typeface="Calibri" pitchFamily="34" charset="0"/>
                <a:ea typeface="Calibri" pitchFamily="34" charset="-122"/>
                <a:cs typeface="Calibri" pitchFamily="34" charset="-120"/>
              </a:rPr>
              <a:t>− 0.5 </a:t>
            </a:r>
            <a:pPr indent="0" marL="0">
              <a:buNone/>
            </a:pPr>
            <a:r>
              <a:rPr lang="en-US" sz="860" dirty="0">
                <a:solidFill>
                  <a:srgbClr val="3A4356"/>
                </a:solidFill>
                <a:latin typeface="Calibri" pitchFamily="34" charset="0"/>
                <a:ea typeface="Calibri" pitchFamily="34" charset="-122"/>
                <a:cs typeface="Calibri" pitchFamily="34" charset="-120"/>
              </a:rPr>
              <a:t>per minor finding
</a:t>
            </a:r>
            <a:pPr indent="0" marL="0">
              <a:buNone/>
            </a:pPr>
            <a:r>
              <a:rPr lang="en-US" sz="860" b="1" dirty="0">
                <a:solidFill>
                  <a:srgbClr val="2E8B57"/>
                </a:solidFill>
                <a:latin typeface="Calibri" pitchFamily="34" charset="0"/>
                <a:ea typeface="Calibri" pitchFamily="34" charset="-122"/>
                <a:cs typeface="Calibri" pitchFamily="34" charset="-120"/>
              </a:rPr>
              <a:t>− 0 </a:t>
            </a:r>
            <a:pPr indent="0" marL="0">
              <a:buNone/>
            </a:pPr>
            <a:r>
              <a:rPr lang="en-US" sz="860" dirty="0">
                <a:solidFill>
                  <a:srgbClr val="3A4356"/>
                </a:solidFill>
                <a:latin typeface="Calibri" pitchFamily="34" charset="0"/>
                <a:ea typeface="Calibri" pitchFamily="34" charset="-122"/>
                <a:cs typeface="Calibri" pitchFamily="34" charset="-120"/>
              </a:rPr>
              <a:t>for opportunities
</a:t>
            </a:r>
            <a:pPr indent="0" marL="0">
              <a:buNone/>
            </a:pPr>
            <a:r>
              <a:rPr lang="en-US" sz="860" dirty="0">
                <a:solidFill>
                  <a:srgbClr val="3A4356"/>
                </a:solidFill>
                <a:latin typeface="Calibri" pitchFamily="34" charset="0"/>
                <a:ea typeface="Calibri" pitchFamily="34" charset="-122"/>
                <a:cs typeface="Calibri" pitchFamily="34" charset="-120"/>
              </a:rPr>
              <a:t>Never below 1, never above 10. Two scores: DFM (manufacturability) and DFA (assembly).
</a:t>
            </a:r>
            <a:pPr indent="0" marL="0">
              <a:buNone/>
            </a:pPr>
            <a:r>
              <a:rPr lang="en-US" sz="860" b="1" dirty="0">
                <a:solidFill>
                  <a:srgbClr val="16325C"/>
                </a:solidFill>
                <a:latin typeface="Calibri" pitchFamily="34" charset="0"/>
                <a:ea typeface="Calibri" pitchFamily="34" charset="-122"/>
                <a:cs typeface="Calibri" pitchFamily="34" charset="-120"/>
              </a:rPr>
              <a:t>Saving headline: </a:t>
            </a:r>
            <a:pPr indent="0" marL="0">
              <a:buNone/>
            </a:pPr>
            <a:r>
              <a:rPr lang="en-US" sz="860" dirty="0">
                <a:solidFill>
                  <a:srgbClr val="3A4356"/>
                </a:solidFill>
                <a:latin typeface="Calibri" pitchFamily="34" charset="0"/>
                <a:ea typeface="Calibri" pitchFamily="34" charset="-122"/>
                <a:cs typeface="Calibri" pitchFamily="34" charset="-120"/>
              </a:rPr>
              <a:t>the three biggest findings combined root-sum-square — not added — and capped at 40%, so overlapping fixes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tool-estimated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"Save" is the rule’s own estimate; the headline combines the top three.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slides 1–2: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 every separate inspection, finishing step, transfer and second operator is a step that classical DFA says should justify itself.</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2026-08-06T08:02:15Z</dcterms:created>
  <dcterms:modified xsi:type="dcterms:W3CDTF">2026-08-06T08:02:15Z</dcterms:modified>
</cp:coreProperties>
</file>