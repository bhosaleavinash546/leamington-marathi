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AI reads the part, the costing engine does every calculation, and a person approves the answer.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two slides: how the whole thing connects, and what it is worth measured against doing the same job by hand. About eight minutes. Section two is the first worked example — a die-cast aluminium housing, followed through all twelve stages from CAD file to defensible price, including the calculation shown in full so you can check it. Fourteen slides, about twenty-two minutes, and it is the heart of the pack. Section three does the same thing on a completely different part, an injection-moulded bumper fascia, plus paint, plus two findings that I genuinely did not predict. Ten slides, about eighteen minutes. Section four is five minutes on what the tool cannot do. And the strip along the bottom is there because I have been in enough of these meetings. If the hour collapses to ten minutes, take slides three, four, eighteen, twenty-seven and twenty-nine.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walk through the twelve stages, I want to give you the whole thing on one picture, because I think the bird’s-eye view answers half the questions before they get asked. Start in the middle. That dark box is the cost calculation engine, and everything on this slide connects to it. It is fixed arithmetic — the same eight buckets, the same formulas, every part, every time. There is no AI inside that box and no judgement inside it. Coming in from the left, the four ways work arrives: a three-D CAD model, a photograph of a circuit board, a plain description or an RFQ sheet, and the two things only a person can supply — how many a year and where we plan to make them. Those inputs hit the blue box, the geometry kernel, which measures the part. From there, look up. That purple box sits deliberately outside the dashed line, and it is the single most important thing on this slide. It is the only outbound call on the costing path. What goes up is a description of a shape — volumes, wall thicknesses, hole counts. What comes back is words: "aluminium die-casting alloy", "high-pressure die cast". No prices go up, no rates go up, no drawings go up. And there are two controls on it: we can route it to a private endpoint inside our own cloud tenancy, or we can set the air-gapped flag and the call simply refuses to happen, with the deterministic costing still working perfectly. Those words come back down into the amber box — the guardrails. Nine automatic checks, plus the autocorrect. If the AI and the measurements disagree, the measurements win, automatically. Only then does anything reach the engine. On the right of the engine, two feeds. The rate library — materials, machines, labour, twenty regions — which is the only source of money anywhere in the tool. And the local database, which holds our parts, our quotes and, importantly, our real actuals, which feed back in and calibrate the estimates over time. Below the engine, the uncertainty layer, which turns a single number into an honest range. And out to the right, what our engineer actually receives: the eight-bucket cost with every figure traceable, the operation list, the confidence band and country comparison, and the exportable negotiation pack. The top-right box is there for completeness and for the security conversation. There are three other things that can talk to the internet — live component pricing for circuit boards, an industry news feed, and a metal-price ticker that is display-only and does not price any part. All three are optional and all three are off by default. So if you remember one line from this slide: the kernel measures, the AI names, the guardrails check, the engine calculates, a person approves — and the only thing that ever leaves your network is a description of a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go into how it works, let me put the commercial case on the table, because that is the question I would be asking. On the left is what costing this housing looks like today. Open the CAD and take the measurements. Decide the material grade and go and find a price. Decide the process route and pick a machine. Build the cycle time operation by operation. Key it all into CAPEE and correct the typos. Then sanity-check it and iterate with an engineer. Call it six hours for a moderately complex part, and be honest — a different engineer doing the same part next week gets a different answer, because every one of those steps is a judgement. On the right, the same part through this tool. Upload the file. The measuring, the classification, the safety checks and the whole calculation run unattended in about two minutes. Then our engineer spends fifteen minutes reviewing every AI call and confirming or overriding it, seven minutes setting volume and region and looking at the confidence band, and five minutes exporting the report. Half an hour. And it is the same answer every time, for everyone. I want to be careful here: the two minutes is the machine, the half hour is the human. We have not automated the engineer away — we have taken the mechanical work off them and left them the judgement, which is the bit they are actually good at. The table at the bottom left shows how that plays out across the part types we actually buy. A bracket, ten times faster. This casting, twelve. A moulded fascia with paint, thirteen. And the standout is the circuit board — building a two-hundred-line bill of materials by hand and pricing every component is genuinely two to four days of work, and the tool does it from a photograph in about forty-five minutes. What that buys the programme is on the right, and it is not a headcount argument. It is coverage. The same team can cost eight to ten times more parts, which means you stop cherry-picking the top twenty spend items and start covering the tail where the leakage actually is. You get the same answer twice, which you simply cannot do by hand. And critically you get the number during design, while the wall thickness can still be changed, rather than after the quote has landed and the tool is already cut. One caveat I want to say out loud: the timings on this slide are planning assumptions, not measured results. I have tried to be realistic rather than flattering. Run twenty parts through it and replace them with your own numbers — the tool logs its own run times, so that measurement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AI reads.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AI. This is the one stage out of twelve that it owns, so let us be precise about it. What is it given? Only the measurements from the previous slide, plus the part name. It does not see a price list. It does not see our rate library. It cannot see what the answer ought to be. What does it say back? Four things. The material family — an aluminium die-casting alloy. How it is made — high-pressure die casting, meaning molten aluminium injected into a steel mould under very high pressure. What happens next — machine finishing. And how sure it is: eighty-four percent. Now the red box, which is the answer to "but what if the AI gets it wrong". The AI cannot set a price or any part of a price. It cannot change a measured dimension or the weight. It cannot choose the machine or the cycle time. It cannot touch the rate library. And it cannot override a safety check. Those are not rules we ask it to follow — it has no access to any of those things. One more thing on the confidence score, because it does real work. At eighty-four percent the tool proceeds but flags the call for review. There is a hard rule in the code: if the material confidence falls below fifty percent, a warning fires that says the suggestion is a coin toss and asks for a part photo or a manual confirmation, and that warning stays attached to the result until a person clears it. A confident-sounding wrong answer is the most dangerous thing an AI can give you, so we make the uncertainty visible rather than hiding it. In plain terms: the AI does what an experienced engineer does in the first ten seconds of picking up a part. It saves setup time. It does not do the costing, and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First, the process. The AI suggested die casting, but the engine does not simply accept that.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is rejected because you would cut away about eighty percent of the metal — absurd on cost. Gravity die casting is rejected because it cannot reliably fill walls that thin. Second, and this is check four from the previous slide — the press. When you inject molten aluminium at high pressure it tries to force the two halves of the mould apart. The press has to clamp it shut. So the engine takes the shadow area of the part, which it measured from the CAD, multiplies it by the pressure inside the mould, and gets the force trying to open the tool. Add a safety margin, and pick the smallest press in the library that can hold it. That comes out at sixteen hundred tonnes. Why does this matter commercially? Because every machine carries its own hourly rate. A bigger press costs more per hour to own and to run. Choose too big a machine and you overstate the cost — you go into a negotiation asking for the wrong number. Choose too small and the part physically cannot be made. So the engine sizes it by calculation rather than defaulting, and it flags the choice for our engineer to confirm. And in the purple box, the summary of who did what. The AI proposed. The engine disposed. If the AI had said sand casting, the three millimetre walls would have overruled it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reads those measurements and names what the part is — words only, never money. The guards check the AI against the measurements and autocorrect it where they disagree, and the measurements always win. The engine does every calculation — sizes the machine, builds the cycle times, fills the eight buckets, reprices across twenty countries — with fixed, traceable formulas. And our engineer sets the commercial context, confirms every AI call, and signs off the number. The line in the middle is the whole tool in one sentence. The AI reads the part. The engine does every calculation. A person approves the answer.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The AI then does its one job and hands back four words: talc-filled polypropylene, injection moulded in one shot, painted to a Class-A finish, eighty-seven percent confident. Four words and a score. No numbers. It still cannot see a price list, a rate or a machine.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AI reads the part.  The costing engine does every calculation.  A person approves the answer.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3–4</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classify, guard, calculate, approve. Includes the calculation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5–18</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19–28</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29</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 4 (what it is worth) · slide 18 (the housing on one page) · slide 27 (the two findings) · slide 29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786384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feeds one engine. Only one arrow leaves the building.</a:t>
            </a:r>
            <a:endParaRPr lang="en-US" sz="1200" dirty="0"/>
          </a:p>
        </p:txBody>
      </p:sp>
      <p:sp>
        <p:nvSpPr>
          <p:cNvPr id="6" name="Shape 4"/>
          <p:cNvSpPr/>
          <p:nvPr/>
        </p:nvSpPr>
        <p:spPr>
          <a:xfrm>
            <a:off x="9098280" y="288036"/>
            <a:ext cx="109728" cy="109728"/>
          </a:xfrm>
          <a:prstGeom prst="ellipse">
            <a:avLst/>
          </a:prstGeom>
          <a:solidFill>
            <a:srgbClr val="1D6FB8"/>
          </a:solidFill>
          <a:ln/>
        </p:spPr>
      </p:sp>
      <p:sp>
        <p:nvSpPr>
          <p:cNvPr id="7" name="Text 5"/>
          <p:cNvSpPr/>
          <p:nvPr/>
        </p:nvSpPr>
        <p:spPr>
          <a:xfrm>
            <a:off x="9253728" y="237744"/>
            <a:ext cx="868680" cy="219456"/>
          </a:xfrm>
          <a:prstGeom prst="rect">
            <a:avLst/>
          </a:prstGeom>
          <a:noFill/>
          <a:ln/>
        </p:spPr>
        <p:txBody>
          <a:bodyPr wrap="square" lIns="0" tIns="0" rIns="0" bIns="0" rtlCol="0" anchor="ctr"/>
          <a:lstStyle/>
          <a:p>
            <a:pPr indent="0" marL="0">
              <a:buNone/>
            </a:pPr>
            <a:r>
              <a:rPr lang="en-US" sz="820" dirty="0">
                <a:solidFill>
                  <a:srgbClr val="3A4356"/>
                </a:solidFill>
                <a:latin typeface="Calibri" pitchFamily="34" charset="0"/>
                <a:ea typeface="Calibri" pitchFamily="34" charset="-122"/>
                <a:cs typeface="Calibri" pitchFamily="34" charset="-120"/>
              </a:rPr>
              <a:t>Measure</a:t>
            </a:r>
            <a:endParaRPr lang="en-US" sz="820" dirty="0"/>
          </a:p>
        </p:txBody>
      </p:sp>
      <p:sp>
        <p:nvSpPr>
          <p:cNvPr id="8" name="Shape 6"/>
          <p:cNvSpPr/>
          <p:nvPr/>
        </p:nvSpPr>
        <p:spPr>
          <a:xfrm>
            <a:off x="10012680" y="288036"/>
            <a:ext cx="109728" cy="109728"/>
          </a:xfrm>
          <a:prstGeom prst="ellipse">
            <a:avLst/>
          </a:prstGeom>
          <a:solidFill>
            <a:srgbClr val="6B3FA0"/>
          </a:solidFill>
          <a:ln/>
        </p:spPr>
      </p:sp>
      <p:sp>
        <p:nvSpPr>
          <p:cNvPr id="9" name="Text 7"/>
          <p:cNvSpPr/>
          <p:nvPr/>
        </p:nvSpPr>
        <p:spPr>
          <a:xfrm>
            <a:off x="10168128" y="237744"/>
            <a:ext cx="868680" cy="219456"/>
          </a:xfrm>
          <a:prstGeom prst="rect">
            <a:avLst/>
          </a:prstGeom>
          <a:noFill/>
          <a:ln/>
        </p:spPr>
        <p:txBody>
          <a:bodyPr wrap="square" lIns="0" tIns="0" rIns="0" bIns="0" rtlCol="0" anchor="ctr"/>
          <a:lstStyle/>
          <a:p>
            <a:pPr indent="0" marL="0">
              <a:buNone/>
            </a:pPr>
            <a:r>
              <a:rPr lang="en-US" sz="820" dirty="0">
                <a:solidFill>
                  <a:srgbClr val="3A4356"/>
                </a:solidFill>
                <a:latin typeface="Calibri" pitchFamily="34" charset="0"/>
                <a:ea typeface="Calibri" pitchFamily="34" charset="-122"/>
                <a:cs typeface="Calibri" pitchFamily="34" charset="-120"/>
              </a:rPr>
              <a:t>AI</a:t>
            </a:r>
            <a:endParaRPr lang="en-US" sz="820" dirty="0"/>
          </a:p>
        </p:txBody>
      </p:sp>
      <p:sp>
        <p:nvSpPr>
          <p:cNvPr id="10" name="Shape 8"/>
          <p:cNvSpPr/>
          <p:nvPr/>
        </p:nvSpPr>
        <p:spPr>
          <a:xfrm>
            <a:off x="10927080" y="288036"/>
            <a:ext cx="109728" cy="109728"/>
          </a:xfrm>
          <a:prstGeom prst="ellipse">
            <a:avLst/>
          </a:prstGeom>
          <a:solidFill>
            <a:srgbClr val="B7791F"/>
          </a:solidFill>
          <a:ln/>
        </p:spPr>
      </p:sp>
      <p:sp>
        <p:nvSpPr>
          <p:cNvPr id="11" name="Text 9"/>
          <p:cNvSpPr/>
          <p:nvPr/>
        </p:nvSpPr>
        <p:spPr>
          <a:xfrm>
            <a:off x="11082528" y="237744"/>
            <a:ext cx="868680" cy="219456"/>
          </a:xfrm>
          <a:prstGeom prst="rect">
            <a:avLst/>
          </a:prstGeom>
          <a:noFill/>
          <a:ln/>
        </p:spPr>
        <p:txBody>
          <a:bodyPr wrap="square" lIns="0" tIns="0" rIns="0" bIns="0" rtlCol="0" anchor="ctr"/>
          <a:lstStyle/>
          <a:p>
            <a:pPr indent="0" marL="0">
              <a:buNone/>
            </a:pPr>
            <a:r>
              <a:rPr lang="en-US" sz="820" dirty="0">
                <a:solidFill>
                  <a:srgbClr val="3A4356"/>
                </a:solidFill>
                <a:latin typeface="Calibri" pitchFamily="34" charset="0"/>
                <a:ea typeface="Calibri" pitchFamily="34" charset="-122"/>
                <a:cs typeface="Calibri" pitchFamily="34" charset="-120"/>
              </a:rPr>
              <a:t>Guardrail</a:t>
            </a:r>
            <a:endParaRPr lang="en-US" sz="820" dirty="0"/>
          </a:p>
        </p:txBody>
      </p:sp>
      <p:sp>
        <p:nvSpPr>
          <p:cNvPr id="12" name="Shape 10"/>
          <p:cNvSpPr/>
          <p:nvPr/>
        </p:nvSpPr>
        <p:spPr>
          <a:xfrm>
            <a:off x="9098280" y="544068"/>
            <a:ext cx="109728" cy="109728"/>
          </a:xfrm>
          <a:prstGeom prst="ellipse">
            <a:avLst/>
          </a:prstGeom>
          <a:solidFill>
            <a:srgbClr val="0E8074"/>
          </a:solidFill>
          <a:ln/>
        </p:spPr>
      </p:sp>
      <p:sp>
        <p:nvSpPr>
          <p:cNvPr id="13" name="Text 11"/>
          <p:cNvSpPr/>
          <p:nvPr/>
        </p:nvSpPr>
        <p:spPr>
          <a:xfrm>
            <a:off x="9253728" y="493776"/>
            <a:ext cx="868680" cy="219456"/>
          </a:xfrm>
          <a:prstGeom prst="rect">
            <a:avLst/>
          </a:prstGeom>
          <a:noFill/>
          <a:ln/>
        </p:spPr>
        <p:txBody>
          <a:bodyPr wrap="square" lIns="0" tIns="0" rIns="0" bIns="0" rtlCol="0" anchor="ctr"/>
          <a:lstStyle/>
          <a:p>
            <a:pPr indent="0" marL="0">
              <a:buNone/>
            </a:pPr>
            <a:r>
              <a:rPr lang="en-US" sz="820" dirty="0">
                <a:solidFill>
                  <a:srgbClr val="3A4356"/>
                </a:solidFill>
                <a:latin typeface="Calibri" pitchFamily="34" charset="0"/>
                <a:ea typeface="Calibri" pitchFamily="34" charset="-122"/>
                <a:cs typeface="Calibri" pitchFamily="34" charset="-120"/>
              </a:rPr>
              <a:t>Engine</a:t>
            </a:r>
            <a:endParaRPr lang="en-US" sz="820" dirty="0"/>
          </a:p>
        </p:txBody>
      </p:sp>
      <p:sp>
        <p:nvSpPr>
          <p:cNvPr id="14" name="Shape 12"/>
          <p:cNvSpPr/>
          <p:nvPr/>
        </p:nvSpPr>
        <p:spPr>
          <a:xfrm>
            <a:off x="10012680" y="544068"/>
            <a:ext cx="109728" cy="109728"/>
          </a:xfrm>
          <a:prstGeom prst="ellipse">
            <a:avLst/>
          </a:prstGeom>
          <a:solidFill>
            <a:srgbClr val="2E8B57"/>
          </a:solidFill>
          <a:ln/>
        </p:spPr>
      </p:sp>
      <p:sp>
        <p:nvSpPr>
          <p:cNvPr id="15" name="Text 13"/>
          <p:cNvSpPr/>
          <p:nvPr/>
        </p:nvSpPr>
        <p:spPr>
          <a:xfrm>
            <a:off x="10168128" y="493776"/>
            <a:ext cx="868680" cy="219456"/>
          </a:xfrm>
          <a:prstGeom prst="rect">
            <a:avLst/>
          </a:prstGeom>
          <a:noFill/>
          <a:ln/>
        </p:spPr>
        <p:txBody>
          <a:bodyPr wrap="square" lIns="0" tIns="0" rIns="0" bIns="0" rtlCol="0" anchor="ctr"/>
          <a:lstStyle/>
          <a:p>
            <a:pPr indent="0" marL="0">
              <a:buNone/>
            </a:pPr>
            <a:r>
              <a:rPr lang="en-US" sz="820" dirty="0">
                <a:solidFill>
                  <a:srgbClr val="3A4356"/>
                </a:solidFill>
                <a:latin typeface="Calibri" pitchFamily="34" charset="0"/>
                <a:ea typeface="Calibri" pitchFamily="34" charset="-122"/>
                <a:cs typeface="Calibri" pitchFamily="34" charset="-120"/>
              </a:rPr>
              <a:t>Human / output</a:t>
            </a:r>
            <a:endParaRPr lang="en-US" sz="820" dirty="0"/>
          </a:p>
        </p:txBody>
      </p:sp>
      <p:sp>
        <p:nvSpPr>
          <p:cNvPr id="16" name="Shape 14"/>
          <p:cNvSpPr/>
          <p:nvPr/>
        </p:nvSpPr>
        <p:spPr>
          <a:xfrm>
            <a:off x="2331720" y="932688"/>
            <a:ext cx="4754880" cy="868680"/>
          </a:xfrm>
          <a:prstGeom prst="roundRect">
            <a:avLst>
              <a:gd name="adj" fmla="val 9474"/>
            </a:avLst>
          </a:prstGeom>
          <a:solidFill>
            <a:srgbClr val="F1EBF8"/>
          </a:solidFill>
          <a:ln w="19050">
            <a:solidFill>
              <a:srgbClr val="6B3FA0"/>
            </a:solidFill>
            <a:prstDash val="dash"/>
          </a:ln>
        </p:spPr>
      </p:sp>
      <p:sp>
        <p:nvSpPr>
          <p:cNvPr id="17" name="Shape 15"/>
          <p:cNvSpPr/>
          <p:nvPr/>
        </p:nvSpPr>
        <p:spPr>
          <a:xfrm>
            <a:off x="2468880" y="1170432"/>
            <a:ext cx="402336" cy="402336"/>
          </a:xfrm>
          <a:prstGeom prst="ellipse">
            <a:avLst/>
          </a:prstGeom>
          <a:solidFill>
            <a:srgbClr val="6B3FA0"/>
          </a:solidFill>
          <a:ln/>
        </p:spPr>
      </p:sp>
      <p:pic>
        <p:nvPicPr>
          <p:cNvPr id="1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19" name="Text 16"/>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LEAVES YOUR NETWORK — the only outbound call</a:t>
            </a:r>
            <a:endParaRPr lang="en-US" sz="800" dirty="0"/>
          </a:p>
        </p:txBody>
      </p:sp>
      <p:sp>
        <p:nvSpPr>
          <p:cNvPr id="20" name="Text 17"/>
          <p:cNvSpPr/>
          <p:nvPr/>
        </p:nvSpPr>
        <p:spPr>
          <a:xfrm>
            <a:off x="2999232" y="1179576"/>
            <a:ext cx="3977640" cy="36576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Claude API · classification only. </a:t>
            </a:r>
            <a:pPr indent="0" marL="0">
              <a:buNone/>
            </a:pPr>
            <a:r>
              <a:rPr lang="en-US" sz="900" dirty="0">
                <a:solidFill>
                  <a:srgbClr val="3A4356"/>
                </a:solidFill>
                <a:latin typeface="Calibri" pitchFamily="34" charset="0"/>
                <a:ea typeface="Calibri" pitchFamily="34" charset="-122"/>
                <a:cs typeface="Calibri" pitchFamily="34" charset="-120"/>
              </a:rPr>
              <a:t>Geometry out, words back. No prices, no rates, no drawings.</a:t>
            </a:r>
            <a:endParaRPr lang="en-US" sz="900" dirty="0"/>
          </a:p>
        </p:txBody>
      </p:sp>
      <p:sp>
        <p:nvSpPr>
          <p:cNvPr id="21" name="Text 18"/>
          <p:cNvSpPr/>
          <p:nvPr/>
        </p:nvSpPr>
        <p:spPr>
          <a:xfrm>
            <a:off x="2999232" y="156362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switches it off entirely</a:t>
            </a:r>
            <a:endParaRPr lang="en-US" sz="800" dirty="0"/>
          </a:p>
        </p:txBody>
      </p:sp>
      <p:sp>
        <p:nvSpPr>
          <p:cNvPr id="22" name="Shape 19"/>
          <p:cNvSpPr/>
          <p:nvPr/>
        </p:nvSpPr>
        <p:spPr>
          <a:xfrm>
            <a:off x="7315200" y="932688"/>
            <a:ext cx="4416552" cy="868680"/>
          </a:xfrm>
          <a:prstGeom prst="roundRect">
            <a:avLst>
              <a:gd name="adj" fmla="val 9474"/>
            </a:avLst>
          </a:prstGeom>
          <a:solidFill>
            <a:srgbClr val="FFFFFF"/>
          </a:solidFill>
          <a:ln w="12700">
            <a:solidFill>
              <a:srgbClr val="DCE3EE"/>
            </a:solidFill>
            <a:prstDash val="dash"/>
          </a:ln>
        </p:spPr>
      </p:sp>
      <p:sp>
        <p:nvSpPr>
          <p:cNvPr id="23" name="Text 20"/>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4" name="Text 21"/>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25" name="Shape 22"/>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26" name="Shape 23"/>
          <p:cNvSpPr/>
          <p:nvPr/>
        </p:nvSpPr>
        <p:spPr>
          <a:xfrm>
            <a:off x="685800" y="1874520"/>
            <a:ext cx="3200400" cy="256032"/>
          </a:xfrm>
          <a:prstGeom prst="roundRect">
            <a:avLst>
              <a:gd name="adj" fmla="val 50000"/>
            </a:avLst>
          </a:prstGeom>
          <a:solidFill>
            <a:srgbClr val="0E8074"/>
          </a:solidFill>
          <a:ln/>
        </p:spPr>
      </p:sp>
      <p:sp>
        <p:nvSpPr>
          <p:cNvPr id="27" name="Text 24"/>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28" name="Shape 25"/>
          <p:cNvSpPr/>
          <p:nvPr/>
        </p:nvSpPr>
        <p:spPr>
          <a:xfrm>
            <a:off x="3794760" y="1801368"/>
            <a:ext cx="0" cy="649224"/>
          </a:xfrm>
          <a:prstGeom prst="line">
            <a:avLst/>
          </a:prstGeom>
          <a:noFill/>
          <a:ln w="19050">
            <a:solidFill>
              <a:srgbClr val="6B3FA0"/>
            </a:solidFill>
            <a:prstDash val="dash"/>
            <a:headEnd type="triangle"/>
            <a:tailEnd type="triangle"/>
          </a:ln>
        </p:spPr>
      </p:sp>
      <p:sp>
        <p:nvSpPr>
          <p:cNvPr id="29" name="Text 26"/>
          <p:cNvSpPr/>
          <p:nvPr/>
        </p:nvSpPr>
        <p:spPr>
          <a:xfrm>
            <a:off x="594360" y="2231136"/>
            <a:ext cx="187452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0" name="Shape 27"/>
          <p:cNvSpPr/>
          <p:nvPr/>
        </p:nvSpPr>
        <p:spPr>
          <a:xfrm>
            <a:off x="594360" y="2505456"/>
            <a:ext cx="18745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713232" y="2505456"/>
            <a:ext cx="163677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3D CAD model</a:t>
            </a:r>
            <a:endParaRPr lang="en-US" sz="880" dirty="0"/>
          </a:p>
          <a:p>
            <a:pPr indent="0" marL="0">
              <a:buNone/>
            </a:pPr>
            <a:r>
              <a:rPr lang="en-US" sz="880" dirty="0">
                <a:solidFill>
                  <a:srgbClr val="3A4356"/>
                </a:solidFill>
                <a:latin typeface="Calibri" pitchFamily="34" charset="0"/>
                <a:ea typeface="Calibri" pitchFamily="34" charset="-122"/>
                <a:cs typeface="Calibri" pitchFamily="34" charset="-120"/>
              </a:rPr>
              <a:t>(STEP / IGES / STL)</a:t>
            </a:r>
            <a:endParaRPr lang="en-US" sz="880" dirty="0"/>
          </a:p>
        </p:txBody>
      </p:sp>
      <p:sp>
        <p:nvSpPr>
          <p:cNvPr id="32" name="Shape 29"/>
          <p:cNvSpPr/>
          <p:nvPr/>
        </p:nvSpPr>
        <p:spPr>
          <a:xfrm>
            <a:off x="594360" y="3236976"/>
            <a:ext cx="1874520" cy="621792"/>
          </a:xfrm>
          <a:prstGeom prst="roundRect">
            <a:avLst>
              <a:gd name="adj" fmla="val 10294"/>
            </a:avLst>
          </a:prstGeom>
          <a:solidFill>
            <a:srgbClr val="FFFFFF"/>
          </a:solidFill>
          <a:ln w="12700">
            <a:solidFill>
              <a:srgbClr val="DCE3EE"/>
            </a:solidFill>
            <a:prstDash val="solid"/>
          </a:ln>
        </p:spPr>
      </p:sp>
      <p:sp>
        <p:nvSpPr>
          <p:cNvPr id="33" name="Text 30"/>
          <p:cNvSpPr/>
          <p:nvPr/>
        </p:nvSpPr>
        <p:spPr>
          <a:xfrm>
            <a:off x="713232" y="3236976"/>
            <a:ext cx="163677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Photo of a PCB</a:t>
            </a:r>
            <a:endParaRPr lang="en-US" sz="880" dirty="0"/>
          </a:p>
        </p:txBody>
      </p:sp>
      <p:sp>
        <p:nvSpPr>
          <p:cNvPr id="34" name="Shape 31"/>
          <p:cNvSpPr/>
          <p:nvPr/>
        </p:nvSpPr>
        <p:spPr>
          <a:xfrm>
            <a:off x="594360" y="3968496"/>
            <a:ext cx="1874520" cy="621792"/>
          </a:xfrm>
          <a:prstGeom prst="roundRect">
            <a:avLst>
              <a:gd name="adj" fmla="val 10294"/>
            </a:avLst>
          </a:prstGeom>
          <a:solidFill>
            <a:srgbClr val="FFFFFF"/>
          </a:solidFill>
          <a:ln w="12700">
            <a:solidFill>
              <a:srgbClr val="DCE3EE"/>
            </a:solidFill>
            <a:prstDash val="solid"/>
          </a:ln>
        </p:spPr>
      </p:sp>
      <p:sp>
        <p:nvSpPr>
          <p:cNvPr id="35" name="Text 32"/>
          <p:cNvSpPr/>
          <p:nvPr/>
        </p:nvSpPr>
        <p:spPr>
          <a:xfrm>
            <a:off x="713232" y="3968496"/>
            <a:ext cx="163677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Plain description</a:t>
            </a:r>
            <a:endParaRPr lang="en-US" sz="880" dirty="0"/>
          </a:p>
          <a:p>
            <a:pPr indent="0" marL="0">
              <a:buNone/>
            </a:pPr>
            <a:r>
              <a:rPr lang="en-US" sz="880" dirty="0">
                <a:solidFill>
                  <a:srgbClr val="3A4356"/>
                </a:solidFill>
                <a:latin typeface="Calibri" pitchFamily="34" charset="0"/>
                <a:ea typeface="Calibri" pitchFamily="34" charset="-122"/>
                <a:cs typeface="Calibri" pitchFamily="34" charset="-120"/>
              </a:rPr>
              <a:t>or an RFQ sheet</a:t>
            </a:r>
            <a:endParaRPr lang="en-US" sz="880" dirty="0"/>
          </a:p>
        </p:txBody>
      </p:sp>
      <p:sp>
        <p:nvSpPr>
          <p:cNvPr id="36" name="Shape 33"/>
          <p:cNvSpPr/>
          <p:nvPr/>
        </p:nvSpPr>
        <p:spPr>
          <a:xfrm>
            <a:off x="594360" y="4700016"/>
            <a:ext cx="1874520" cy="621792"/>
          </a:xfrm>
          <a:prstGeom prst="roundRect">
            <a:avLst>
              <a:gd name="adj" fmla="val 10294"/>
            </a:avLst>
          </a:prstGeom>
          <a:solidFill>
            <a:srgbClr val="FFFFFF"/>
          </a:solidFill>
          <a:ln w="12700">
            <a:solidFill>
              <a:srgbClr val="DCE3EE"/>
            </a:solidFill>
            <a:prstDash val="solid"/>
          </a:ln>
        </p:spPr>
      </p:sp>
      <p:sp>
        <p:nvSpPr>
          <p:cNvPr id="37" name="Text 34"/>
          <p:cNvSpPr/>
          <p:nvPr/>
        </p:nvSpPr>
        <p:spPr>
          <a:xfrm>
            <a:off x="713232" y="4700016"/>
            <a:ext cx="163677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Volume + region</a:t>
            </a:r>
            <a:endParaRPr lang="en-US" sz="880" dirty="0"/>
          </a:p>
          <a:p>
            <a:pPr indent="0" marL="0">
              <a:buNone/>
            </a:pPr>
            <a:r>
              <a:rPr lang="en-US" sz="880" dirty="0">
                <a:solidFill>
                  <a:srgbClr val="3A4356"/>
                </a:solidFill>
                <a:latin typeface="Calibri" pitchFamily="34" charset="0"/>
                <a:ea typeface="Calibri" pitchFamily="34" charset="-122"/>
                <a:cs typeface="Calibri" pitchFamily="34" charset="-120"/>
              </a:rPr>
              <a:t>(the engineer types)</a:t>
            </a:r>
            <a:endParaRPr lang="en-US" sz="880" dirty="0"/>
          </a:p>
        </p:txBody>
      </p:sp>
      <p:sp>
        <p:nvSpPr>
          <p:cNvPr id="38" name="Text 35"/>
          <p:cNvSpPr/>
          <p:nvPr/>
        </p:nvSpPr>
        <p:spPr>
          <a:xfrm>
            <a:off x="10058400" y="2231136"/>
            <a:ext cx="169164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39" name="Shape 36"/>
          <p:cNvSpPr/>
          <p:nvPr/>
        </p:nvSpPr>
        <p:spPr>
          <a:xfrm>
            <a:off x="10058400" y="2505456"/>
            <a:ext cx="169164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10177272" y="2505456"/>
            <a:ext cx="145389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8-bucket cost, with</a:t>
            </a:r>
            <a:endParaRPr lang="en-US" sz="880" dirty="0"/>
          </a:p>
          <a:p>
            <a:pPr indent="0" marL="0">
              <a:buNone/>
            </a:pPr>
            <a:r>
              <a:rPr lang="en-US" sz="880" dirty="0">
                <a:solidFill>
                  <a:srgbClr val="3A4356"/>
                </a:solidFill>
                <a:latin typeface="Calibri" pitchFamily="34" charset="0"/>
                <a:ea typeface="Calibri" pitchFamily="34" charset="-122"/>
                <a:cs typeface="Calibri" pitchFamily="34" charset="-120"/>
              </a:rPr>
              <a:t>every figure traceable</a:t>
            </a:r>
            <a:endParaRPr lang="en-US" sz="880" dirty="0"/>
          </a:p>
        </p:txBody>
      </p:sp>
      <p:sp>
        <p:nvSpPr>
          <p:cNvPr id="41" name="Shape 38"/>
          <p:cNvSpPr/>
          <p:nvPr/>
        </p:nvSpPr>
        <p:spPr>
          <a:xfrm>
            <a:off x="10058400" y="3236976"/>
            <a:ext cx="169164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10177272" y="3236976"/>
            <a:ext cx="145389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Operation list —</a:t>
            </a:r>
            <a:endParaRPr lang="en-US" sz="880" dirty="0"/>
          </a:p>
          <a:p>
            <a:pPr indent="0" marL="0">
              <a:buNone/>
            </a:pPr>
            <a:r>
              <a:rPr lang="en-US" sz="880" dirty="0">
                <a:solidFill>
                  <a:srgbClr val="3A4356"/>
                </a:solidFill>
                <a:latin typeface="Calibri" pitchFamily="34" charset="0"/>
                <a:ea typeface="Calibri" pitchFamily="34" charset="-122"/>
                <a:cs typeface="Calibri" pitchFamily="34" charset="-120"/>
              </a:rPr>
              <a:t>what takes the time</a:t>
            </a:r>
            <a:endParaRPr lang="en-US" sz="880" dirty="0"/>
          </a:p>
        </p:txBody>
      </p:sp>
      <p:sp>
        <p:nvSpPr>
          <p:cNvPr id="43" name="Shape 40"/>
          <p:cNvSpPr/>
          <p:nvPr/>
        </p:nvSpPr>
        <p:spPr>
          <a:xfrm>
            <a:off x="10058400" y="3968496"/>
            <a:ext cx="1691640" cy="621792"/>
          </a:xfrm>
          <a:prstGeom prst="roundRect">
            <a:avLst>
              <a:gd name="adj" fmla="val 10294"/>
            </a:avLst>
          </a:prstGeom>
          <a:solidFill>
            <a:srgbClr val="FFFFFF"/>
          </a:solidFill>
          <a:ln w="12700">
            <a:solidFill>
              <a:srgbClr val="DCE3EE"/>
            </a:solidFill>
            <a:prstDash val="solid"/>
          </a:ln>
        </p:spPr>
      </p:sp>
      <p:sp>
        <p:nvSpPr>
          <p:cNvPr id="44" name="Text 41"/>
          <p:cNvSpPr/>
          <p:nvPr/>
        </p:nvSpPr>
        <p:spPr>
          <a:xfrm>
            <a:off x="10177272" y="3968496"/>
            <a:ext cx="145389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Confidence band +</a:t>
            </a:r>
            <a:endParaRPr lang="en-US" sz="880" dirty="0"/>
          </a:p>
          <a:p>
            <a:pPr indent="0" marL="0">
              <a:buNone/>
            </a:pPr>
            <a:r>
              <a:rPr lang="en-US" sz="880" dirty="0">
                <a:solidFill>
                  <a:srgbClr val="3A4356"/>
                </a:solidFill>
                <a:latin typeface="Calibri" pitchFamily="34" charset="0"/>
                <a:ea typeface="Calibri" pitchFamily="34" charset="-122"/>
                <a:cs typeface="Calibri" pitchFamily="34" charset="-120"/>
              </a:rPr>
              <a:t>20-country comparison</a:t>
            </a:r>
            <a:endParaRPr lang="en-US" sz="880" dirty="0"/>
          </a:p>
        </p:txBody>
      </p:sp>
      <p:sp>
        <p:nvSpPr>
          <p:cNvPr id="45" name="Shape 42"/>
          <p:cNvSpPr/>
          <p:nvPr/>
        </p:nvSpPr>
        <p:spPr>
          <a:xfrm>
            <a:off x="10058400" y="4700016"/>
            <a:ext cx="1691640" cy="621792"/>
          </a:xfrm>
          <a:prstGeom prst="roundRect">
            <a:avLst>
              <a:gd name="adj" fmla="val 10294"/>
            </a:avLst>
          </a:prstGeom>
          <a:solidFill>
            <a:srgbClr val="FFFFFF"/>
          </a:solidFill>
          <a:ln w="12700">
            <a:solidFill>
              <a:srgbClr val="DCE3EE"/>
            </a:solidFill>
            <a:prstDash val="solid"/>
          </a:ln>
        </p:spPr>
      </p:sp>
      <p:sp>
        <p:nvSpPr>
          <p:cNvPr id="46" name="Text 43"/>
          <p:cNvSpPr/>
          <p:nvPr/>
        </p:nvSpPr>
        <p:spPr>
          <a:xfrm>
            <a:off x="10177272" y="4700016"/>
            <a:ext cx="145389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PDF · Excel · PowerPoint</a:t>
            </a:r>
            <a:endParaRPr lang="en-US" sz="880" dirty="0"/>
          </a:p>
          <a:p>
            <a:pPr indent="0" marL="0">
              <a:buNone/>
            </a:pPr>
            <a:r>
              <a:rPr lang="en-US" sz="880" dirty="0">
                <a:solidFill>
                  <a:srgbClr val="3A4356"/>
                </a:solidFill>
                <a:latin typeface="Calibri" pitchFamily="34" charset="0"/>
                <a:ea typeface="Calibri" pitchFamily="34" charset="-122"/>
                <a:cs typeface="Calibri" pitchFamily="34" charset="-120"/>
              </a:rPr>
              <a:t>negotiation pack</a:t>
            </a:r>
            <a:endParaRPr lang="en-US" sz="880" dirty="0"/>
          </a:p>
        </p:txBody>
      </p:sp>
      <p:sp>
        <p:nvSpPr>
          <p:cNvPr id="47" name="Shape 44"/>
          <p:cNvSpPr/>
          <p:nvPr/>
        </p:nvSpPr>
        <p:spPr>
          <a:xfrm>
            <a:off x="2788920" y="2450592"/>
            <a:ext cx="2011680" cy="1188720"/>
          </a:xfrm>
          <a:prstGeom prst="roundRect">
            <a:avLst>
              <a:gd name="adj" fmla="val 6923"/>
            </a:avLst>
          </a:prstGeom>
          <a:solidFill>
            <a:srgbClr val="E8F1FA"/>
          </a:solidFill>
          <a:ln w="17780">
            <a:solidFill>
              <a:srgbClr val="1D6FB8"/>
            </a:solidFill>
            <a:prstDash val="solid"/>
          </a:ln>
        </p:spPr>
      </p:sp>
      <p:sp>
        <p:nvSpPr>
          <p:cNvPr id="48" name="Shape 45"/>
          <p:cNvSpPr/>
          <p:nvPr/>
        </p:nvSpPr>
        <p:spPr>
          <a:xfrm>
            <a:off x="2916936" y="2578608"/>
            <a:ext cx="329184" cy="329184"/>
          </a:xfrm>
          <a:prstGeom prst="ellipse">
            <a:avLst/>
          </a:prstGeom>
          <a:solidFill>
            <a:srgbClr val="1D6FB8"/>
          </a:solidFill>
          <a:ln/>
        </p:spPr>
      </p:sp>
      <p:pic>
        <p:nvPicPr>
          <p:cNvPr id="49" name="Image 1" descr="preencoded.png">    </p:cNvPr>
          <p:cNvPicPr>
            <a:picLocks noChangeAspect="1"/>
          </p:cNvPicPr>
          <p:nvPr/>
        </p:nvPicPr>
        <p:blipFill>
          <a:blip r:embed="rId2"/>
          <a:stretch>
            <a:fillRect/>
          </a:stretch>
        </p:blipFill>
        <p:spPr>
          <a:xfrm>
            <a:off x="2999232" y="2660904"/>
            <a:ext cx="164592" cy="164592"/>
          </a:xfrm>
          <a:prstGeom prst="rect">
            <a:avLst/>
          </a:prstGeom>
        </p:spPr>
      </p:pic>
      <p:sp>
        <p:nvSpPr>
          <p:cNvPr id="50" name="Text 46"/>
          <p:cNvSpPr/>
          <p:nvPr/>
        </p:nvSpPr>
        <p:spPr>
          <a:xfrm>
            <a:off x="3319272" y="2569464"/>
            <a:ext cx="1353312" cy="256032"/>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Geometry kernel</a:t>
            </a:r>
            <a:endParaRPr lang="en-US" sz="1050" dirty="0"/>
          </a:p>
        </p:txBody>
      </p:sp>
      <p:sp>
        <p:nvSpPr>
          <p:cNvPr id="51" name="Text 47"/>
          <p:cNvSpPr/>
          <p:nvPr/>
        </p:nvSpPr>
        <p:spPr>
          <a:xfrm>
            <a:off x="2935224" y="2926080"/>
            <a:ext cx="1719072" cy="585216"/>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OCCT via the OCP bindings. Volume, walls, holes and faces — measured, never guessed.</a:t>
            </a:r>
            <a:endParaRPr lang="en-US" sz="840" dirty="0"/>
          </a:p>
        </p:txBody>
      </p:sp>
      <p:sp>
        <p:nvSpPr>
          <p:cNvPr id="52" name="Shape 48"/>
          <p:cNvSpPr/>
          <p:nvPr/>
        </p:nvSpPr>
        <p:spPr>
          <a:xfrm>
            <a:off x="2788920" y="4160520"/>
            <a:ext cx="2011680" cy="1188720"/>
          </a:xfrm>
          <a:prstGeom prst="roundRect">
            <a:avLst>
              <a:gd name="adj" fmla="val 6923"/>
            </a:avLst>
          </a:prstGeom>
          <a:solidFill>
            <a:srgbClr val="FCF3E3"/>
          </a:solidFill>
          <a:ln w="17780">
            <a:solidFill>
              <a:srgbClr val="B7791F"/>
            </a:solidFill>
            <a:prstDash val="solid"/>
          </a:ln>
        </p:spPr>
      </p:sp>
      <p:sp>
        <p:nvSpPr>
          <p:cNvPr id="53" name="Shape 49"/>
          <p:cNvSpPr/>
          <p:nvPr/>
        </p:nvSpPr>
        <p:spPr>
          <a:xfrm>
            <a:off x="2916936" y="4288536"/>
            <a:ext cx="329184" cy="329184"/>
          </a:xfrm>
          <a:prstGeom prst="ellipse">
            <a:avLst/>
          </a:prstGeom>
          <a:solidFill>
            <a:srgbClr val="B7791F"/>
          </a:solidFill>
          <a:ln/>
        </p:spPr>
      </p:sp>
      <p:pic>
        <p:nvPicPr>
          <p:cNvPr id="54" name="Image 2" descr="preencoded.png">    </p:cNvPr>
          <p:cNvPicPr>
            <a:picLocks noChangeAspect="1"/>
          </p:cNvPicPr>
          <p:nvPr/>
        </p:nvPicPr>
        <p:blipFill>
          <a:blip r:embed="rId3"/>
          <a:stretch>
            <a:fillRect/>
          </a:stretch>
        </p:blipFill>
        <p:spPr>
          <a:xfrm>
            <a:off x="2999232" y="4370832"/>
            <a:ext cx="164592" cy="164592"/>
          </a:xfrm>
          <a:prstGeom prst="rect">
            <a:avLst/>
          </a:prstGeom>
        </p:spPr>
      </p:pic>
      <p:sp>
        <p:nvSpPr>
          <p:cNvPr id="55" name="Text 50"/>
          <p:cNvSpPr/>
          <p:nvPr/>
        </p:nvSpPr>
        <p:spPr>
          <a:xfrm>
            <a:off x="3319272" y="4279392"/>
            <a:ext cx="1353312" cy="256032"/>
          </a:xfrm>
          <a:prstGeom prst="rect">
            <a:avLst/>
          </a:prstGeom>
          <a:noFill/>
          <a:ln/>
        </p:spPr>
        <p:txBody>
          <a:bodyPr wrap="square" lIns="0" tIns="0" rIns="0" bIns="0" rtlCol="0" anchor="ctr"/>
          <a:lstStyle/>
          <a:p>
            <a:pPr indent="0" marL="0">
              <a:buNone/>
            </a:pPr>
            <a:r>
              <a:rPr lang="en-US" sz="1050" b="1" dirty="0">
                <a:solidFill>
                  <a:srgbClr val="B7791F"/>
                </a:solidFill>
                <a:latin typeface="Calibri" pitchFamily="34" charset="0"/>
                <a:ea typeface="Calibri" pitchFamily="34" charset="-122"/>
                <a:cs typeface="Calibri" pitchFamily="34" charset="-120"/>
              </a:rPr>
              <a:t>Guardrails</a:t>
            </a:r>
            <a:endParaRPr lang="en-US" sz="1050" dirty="0"/>
          </a:p>
        </p:txBody>
      </p:sp>
      <p:sp>
        <p:nvSpPr>
          <p:cNvPr id="56" name="Text 51"/>
          <p:cNvSpPr/>
          <p:nvPr/>
        </p:nvSpPr>
        <p:spPr>
          <a:xfrm>
            <a:off x="2935224" y="4636008"/>
            <a:ext cx="1719072" cy="585216"/>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Nine automatic checks plus autocorrect. Measurements always beat the AI.</a:t>
            </a:r>
            <a:endParaRPr lang="en-US" sz="840" dirty="0"/>
          </a:p>
        </p:txBody>
      </p:sp>
      <p:sp>
        <p:nvSpPr>
          <p:cNvPr id="57" name="Shape 52"/>
          <p:cNvSpPr/>
          <p:nvPr/>
        </p:nvSpPr>
        <p:spPr>
          <a:xfrm>
            <a:off x="7772400" y="2450592"/>
            <a:ext cx="2011680" cy="1188720"/>
          </a:xfrm>
          <a:prstGeom prst="roundRect">
            <a:avLst>
              <a:gd name="adj" fmla="val 6923"/>
            </a:avLst>
          </a:prstGeom>
          <a:solidFill>
            <a:srgbClr val="E6F4F1"/>
          </a:solidFill>
          <a:ln w="17780">
            <a:solidFill>
              <a:srgbClr val="0E8074"/>
            </a:solidFill>
            <a:prstDash val="solid"/>
          </a:ln>
        </p:spPr>
      </p:sp>
      <p:sp>
        <p:nvSpPr>
          <p:cNvPr id="58" name="Shape 53"/>
          <p:cNvSpPr/>
          <p:nvPr/>
        </p:nvSpPr>
        <p:spPr>
          <a:xfrm>
            <a:off x="7900416" y="2578608"/>
            <a:ext cx="329184" cy="329184"/>
          </a:xfrm>
          <a:prstGeom prst="ellipse">
            <a:avLst/>
          </a:prstGeom>
          <a:solidFill>
            <a:srgbClr val="0E8074"/>
          </a:solidFill>
          <a:ln/>
        </p:spPr>
      </p:sp>
      <p:pic>
        <p:nvPicPr>
          <p:cNvPr id="59" name="Image 3" descr="preencoded.png">    </p:cNvPr>
          <p:cNvPicPr>
            <a:picLocks noChangeAspect="1"/>
          </p:cNvPicPr>
          <p:nvPr/>
        </p:nvPicPr>
        <p:blipFill>
          <a:blip r:embed="rId4"/>
          <a:stretch>
            <a:fillRect/>
          </a:stretch>
        </p:blipFill>
        <p:spPr>
          <a:xfrm>
            <a:off x="7982712" y="2660904"/>
            <a:ext cx="164592" cy="164592"/>
          </a:xfrm>
          <a:prstGeom prst="rect">
            <a:avLst/>
          </a:prstGeom>
        </p:spPr>
      </p:pic>
      <p:sp>
        <p:nvSpPr>
          <p:cNvPr id="60" name="Text 54"/>
          <p:cNvSpPr/>
          <p:nvPr/>
        </p:nvSpPr>
        <p:spPr>
          <a:xfrm>
            <a:off x="8302752" y="2569464"/>
            <a:ext cx="1353312" cy="256032"/>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Rate library</a:t>
            </a:r>
            <a:endParaRPr lang="en-US" sz="1050" dirty="0"/>
          </a:p>
        </p:txBody>
      </p:sp>
      <p:sp>
        <p:nvSpPr>
          <p:cNvPr id="61" name="Text 55"/>
          <p:cNvSpPr/>
          <p:nvPr/>
        </p:nvSpPr>
        <p:spPr>
          <a:xfrm>
            <a:off x="7918704" y="2926080"/>
            <a:ext cx="1719072" cy="585216"/>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40" dirty="0"/>
          </a:p>
        </p:txBody>
      </p:sp>
      <p:sp>
        <p:nvSpPr>
          <p:cNvPr id="62" name="Shape 56"/>
          <p:cNvSpPr/>
          <p:nvPr/>
        </p:nvSpPr>
        <p:spPr>
          <a:xfrm>
            <a:off x="7772400" y="4160520"/>
            <a:ext cx="2011680" cy="1188720"/>
          </a:xfrm>
          <a:prstGeom prst="roundRect">
            <a:avLst>
              <a:gd name="adj" fmla="val 6923"/>
            </a:avLst>
          </a:prstGeom>
          <a:solidFill>
            <a:srgbClr val="E6F4F1"/>
          </a:solidFill>
          <a:ln w="17780">
            <a:solidFill>
              <a:srgbClr val="0E8074"/>
            </a:solidFill>
            <a:prstDash val="solid"/>
          </a:ln>
        </p:spPr>
      </p:sp>
      <p:sp>
        <p:nvSpPr>
          <p:cNvPr id="63" name="Shape 57"/>
          <p:cNvSpPr/>
          <p:nvPr/>
        </p:nvSpPr>
        <p:spPr>
          <a:xfrm>
            <a:off x="7900416" y="4288536"/>
            <a:ext cx="329184" cy="329184"/>
          </a:xfrm>
          <a:prstGeom prst="ellipse">
            <a:avLst/>
          </a:prstGeom>
          <a:solidFill>
            <a:srgbClr val="0E8074"/>
          </a:solidFill>
          <a:ln/>
        </p:spPr>
      </p:sp>
      <p:pic>
        <p:nvPicPr>
          <p:cNvPr id="64" name="Image 4" descr="preencoded.png">    </p:cNvPr>
          <p:cNvPicPr>
            <a:picLocks noChangeAspect="1"/>
          </p:cNvPicPr>
          <p:nvPr/>
        </p:nvPicPr>
        <p:blipFill>
          <a:blip r:embed="rId5"/>
          <a:stretch>
            <a:fillRect/>
          </a:stretch>
        </p:blipFill>
        <p:spPr>
          <a:xfrm>
            <a:off x="7982712" y="4370832"/>
            <a:ext cx="164592" cy="164592"/>
          </a:xfrm>
          <a:prstGeom prst="rect">
            <a:avLst/>
          </a:prstGeom>
        </p:spPr>
      </p:pic>
      <p:sp>
        <p:nvSpPr>
          <p:cNvPr id="65" name="Text 58"/>
          <p:cNvSpPr/>
          <p:nvPr/>
        </p:nvSpPr>
        <p:spPr>
          <a:xfrm>
            <a:off x="8302752" y="4279392"/>
            <a:ext cx="1353312" cy="256032"/>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Local database</a:t>
            </a:r>
            <a:endParaRPr lang="en-US" sz="1050" dirty="0"/>
          </a:p>
        </p:txBody>
      </p:sp>
      <p:sp>
        <p:nvSpPr>
          <p:cNvPr id="66" name="Text 59"/>
          <p:cNvSpPr/>
          <p:nvPr/>
        </p:nvSpPr>
        <p:spPr>
          <a:xfrm>
            <a:off x="7918704" y="4636008"/>
            <a:ext cx="1719072" cy="585216"/>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Parts, quotes and real actuals — these feed the learning loop back in.</a:t>
            </a:r>
            <a:endParaRPr lang="en-US" sz="840" dirty="0"/>
          </a:p>
        </p:txBody>
      </p:sp>
      <p:sp>
        <p:nvSpPr>
          <p:cNvPr id="67" name="Shape 60"/>
          <p:cNvSpPr/>
          <p:nvPr/>
        </p:nvSpPr>
        <p:spPr>
          <a:xfrm>
            <a:off x="5120640" y="4956048"/>
            <a:ext cx="2286000" cy="868680"/>
          </a:xfrm>
          <a:prstGeom prst="roundRect">
            <a:avLst>
              <a:gd name="adj" fmla="val 9474"/>
            </a:avLst>
          </a:prstGeom>
          <a:solidFill>
            <a:srgbClr val="EAF6EF"/>
          </a:solidFill>
          <a:ln w="17780">
            <a:solidFill>
              <a:srgbClr val="2E8B57"/>
            </a:solidFill>
            <a:prstDash val="solid"/>
          </a:ln>
        </p:spPr>
      </p:sp>
      <p:sp>
        <p:nvSpPr>
          <p:cNvPr id="68" name="Text 61"/>
          <p:cNvSpPr/>
          <p:nvPr/>
        </p:nvSpPr>
        <p:spPr>
          <a:xfrm>
            <a:off x="5266944" y="5074920"/>
            <a:ext cx="1993392" cy="256032"/>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Uncertainty &amp; calibration</a:t>
            </a:r>
            <a:endParaRPr lang="en-US" sz="1050" dirty="0"/>
          </a:p>
        </p:txBody>
      </p:sp>
      <p:sp>
        <p:nvSpPr>
          <p:cNvPr id="69" name="Text 62"/>
          <p:cNvSpPr/>
          <p:nvPr/>
        </p:nvSpPr>
        <p:spPr>
          <a:xfrm>
            <a:off x="5266944" y="5431536"/>
            <a:ext cx="1993392" cy="265176"/>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Monte-Carlo band, learned from real actuals.</a:t>
            </a:r>
            <a:endParaRPr lang="en-US" sz="840" dirty="0"/>
          </a:p>
        </p:txBody>
      </p:sp>
      <p:sp>
        <p:nvSpPr>
          <p:cNvPr id="70" name="Shape 63"/>
          <p:cNvSpPr/>
          <p:nvPr/>
        </p:nvSpPr>
        <p:spPr>
          <a:xfrm>
            <a:off x="5120640" y="3218688"/>
            <a:ext cx="2286000" cy="1444752"/>
          </a:xfrm>
          <a:prstGeom prst="roundRect">
            <a:avLst>
              <a:gd name="adj" fmla="val 6329"/>
            </a:avLst>
          </a:prstGeom>
          <a:solidFill>
            <a:srgbClr val="0E5A5A"/>
          </a:solidFill>
          <a:ln/>
        </p:spPr>
      </p:sp>
      <p:sp>
        <p:nvSpPr>
          <p:cNvPr id="71" name="Shape 64"/>
          <p:cNvSpPr/>
          <p:nvPr/>
        </p:nvSpPr>
        <p:spPr>
          <a:xfrm>
            <a:off x="6016752" y="3364992"/>
            <a:ext cx="493776" cy="493776"/>
          </a:xfrm>
          <a:prstGeom prst="ellipse">
            <a:avLst/>
          </a:prstGeom>
          <a:solidFill>
            <a:srgbClr val="17A398"/>
          </a:solidFill>
          <a:ln/>
        </p:spPr>
      </p:sp>
      <p:pic>
        <p:nvPicPr>
          <p:cNvPr id="72" name="Image 5" descr="preencoded.png">    </p:cNvPr>
          <p:cNvPicPr>
            <a:picLocks noChangeAspect="1"/>
          </p:cNvPicPr>
          <p:nvPr/>
        </p:nvPicPr>
        <p:blipFill>
          <a:blip r:embed="rId6"/>
          <a:stretch>
            <a:fillRect/>
          </a:stretch>
        </p:blipFill>
        <p:spPr>
          <a:xfrm>
            <a:off x="6144768" y="3493008"/>
            <a:ext cx="237744" cy="237744"/>
          </a:xfrm>
          <a:prstGeom prst="rect">
            <a:avLst/>
          </a:prstGeom>
        </p:spPr>
      </p:pic>
      <p:sp>
        <p:nvSpPr>
          <p:cNvPr id="73" name="Text 65"/>
          <p:cNvSpPr/>
          <p:nvPr/>
        </p:nvSpPr>
        <p:spPr>
          <a:xfrm>
            <a:off x="5230368" y="3931920"/>
            <a:ext cx="2066544"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CALCULATION</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ENGINE</a:t>
            </a:r>
            <a:endParaRPr lang="en-US" sz="1200" dirty="0"/>
          </a:p>
        </p:txBody>
      </p:sp>
      <p:sp>
        <p:nvSpPr>
          <p:cNvPr id="74" name="Text 66"/>
          <p:cNvSpPr/>
          <p:nvPr/>
        </p:nvSpPr>
        <p:spPr>
          <a:xfrm>
            <a:off x="5230368" y="4370832"/>
            <a:ext cx="2066544" cy="274320"/>
          </a:xfrm>
          <a:prstGeom prst="rect">
            <a:avLst/>
          </a:prstGeom>
          <a:noFill/>
          <a:ln/>
        </p:spPr>
        <p:txBody>
          <a:bodyPr wrap="square" lIns="0" tIns="0" rIns="0" bIns="0" rtlCol="0" anchor="t"/>
          <a:lstStyle/>
          <a:p>
            <a:pPr algn="ctr" indent="0" marL="0">
              <a:buNone/>
            </a:pPr>
            <a:r>
              <a:rPr lang="en-US" sz="840" dirty="0">
                <a:solidFill>
                  <a:srgbClr val="9FD9CF"/>
                </a:solidFill>
                <a:latin typeface="Calibri" pitchFamily="34" charset="0"/>
                <a:ea typeface="Calibri" pitchFamily="34" charset="-122"/>
                <a:cs typeface="Calibri" pitchFamily="34" charset="-120"/>
              </a:rPr>
              <a:t>Fixed arithmetic. 8 buckets.</a:t>
            </a:r>
            <a:endParaRPr lang="en-US" sz="840" dirty="0"/>
          </a:p>
          <a:p>
            <a:pPr algn="ctr" indent="0" marL="0">
              <a:buNone/>
            </a:pPr>
            <a:r>
              <a:rPr lang="en-US" sz="840" dirty="0">
                <a:solidFill>
                  <a:srgbClr val="9FD9CF"/>
                </a:solidFill>
                <a:latin typeface="Calibri" pitchFamily="34" charset="0"/>
                <a:ea typeface="Calibri" pitchFamily="34" charset="-122"/>
                <a:cs typeface="Calibri" pitchFamily="34" charset="-120"/>
              </a:rPr>
              <a:t>No AI, no judgement.</a:t>
            </a:r>
            <a:endParaRPr lang="en-US" sz="840" dirty="0"/>
          </a:p>
        </p:txBody>
      </p:sp>
      <p:sp>
        <p:nvSpPr>
          <p:cNvPr id="75" name="Shape 67"/>
          <p:cNvSpPr/>
          <p:nvPr/>
        </p:nvSpPr>
        <p:spPr>
          <a:xfrm>
            <a:off x="2468880" y="2944368"/>
            <a:ext cx="320040" cy="0"/>
          </a:xfrm>
          <a:prstGeom prst="line">
            <a:avLst/>
          </a:prstGeom>
          <a:noFill/>
          <a:ln w="22225">
            <a:solidFill>
              <a:srgbClr val="1D6FB8"/>
            </a:solidFill>
            <a:prstDash val="solid"/>
            <a:tailEnd type="triangle"/>
          </a:ln>
        </p:spPr>
      </p:sp>
      <p:sp>
        <p:nvSpPr>
          <p:cNvPr id="76" name="Shape 68"/>
          <p:cNvSpPr/>
          <p:nvPr/>
        </p:nvSpPr>
        <p:spPr>
          <a:xfrm>
            <a:off x="2468880" y="4654296"/>
            <a:ext cx="320040" cy="0"/>
          </a:xfrm>
          <a:prstGeom prst="line">
            <a:avLst/>
          </a:prstGeom>
          <a:noFill/>
          <a:ln w="22225">
            <a:solidFill>
              <a:srgbClr val="1D6FB8"/>
            </a:solidFill>
            <a:prstDash val="solid"/>
            <a:tailEnd type="triangle"/>
          </a:ln>
        </p:spPr>
      </p:sp>
      <p:sp>
        <p:nvSpPr>
          <p:cNvPr id="77" name="Shape 69"/>
          <p:cNvSpPr/>
          <p:nvPr/>
        </p:nvSpPr>
        <p:spPr>
          <a:xfrm>
            <a:off x="4800600" y="3310128"/>
            <a:ext cx="320040" cy="301752"/>
          </a:xfrm>
          <a:prstGeom prst="line">
            <a:avLst/>
          </a:prstGeom>
          <a:noFill/>
          <a:ln w="22225">
            <a:solidFill>
              <a:srgbClr val="B7791F"/>
            </a:solidFill>
            <a:prstDash val="solid"/>
            <a:tailEnd type="triangle"/>
          </a:ln>
        </p:spPr>
      </p:sp>
      <p:sp>
        <p:nvSpPr>
          <p:cNvPr id="78" name="Shape 70"/>
          <p:cNvSpPr/>
          <p:nvPr/>
        </p:nvSpPr>
        <p:spPr>
          <a:xfrm flipV="1">
            <a:off x="4800600" y="4224528"/>
            <a:ext cx="320040" cy="256032"/>
          </a:xfrm>
          <a:prstGeom prst="line">
            <a:avLst/>
          </a:prstGeom>
          <a:noFill/>
          <a:ln w="22225">
            <a:solidFill>
              <a:srgbClr val="B7791F"/>
            </a:solidFill>
            <a:prstDash val="solid"/>
            <a:tailEnd type="triangle"/>
          </a:ln>
        </p:spPr>
      </p:sp>
      <p:sp>
        <p:nvSpPr>
          <p:cNvPr id="79" name="Shape 71"/>
          <p:cNvSpPr/>
          <p:nvPr/>
        </p:nvSpPr>
        <p:spPr>
          <a:xfrm flipH="1">
            <a:off x="7406640" y="3310128"/>
            <a:ext cx="365760" cy="301752"/>
          </a:xfrm>
          <a:prstGeom prst="line">
            <a:avLst/>
          </a:prstGeom>
          <a:noFill/>
          <a:ln w="22225">
            <a:solidFill>
              <a:srgbClr val="0E8074"/>
            </a:solidFill>
            <a:prstDash val="solid"/>
            <a:tailEnd type="triangle"/>
          </a:ln>
        </p:spPr>
      </p:sp>
      <p:sp>
        <p:nvSpPr>
          <p:cNvPr id="80" name="Shape 72"/>
          <p:cNvSpPr/>
          <p:nvPr/>
        </p:nvSpPr>
        <p:spPr>
          <a:xfrm>
            <a:off x="7406640" y="4224528"/>
            <a:ext cx="365760" cy="256032"/>
          </a:xfrm>
          <a:prstGeom prst="line">
            <a:avLst/>
          </a:prstGeom>
          <a:noFill/>
          <a:ln w="22225">
            <a:solidFill>
              <a:srgbClr val="0E8074"/>
            </a:solidFill>
            <a:prstDash val="solid"/>
            <a:tailEnd type="triangle"/>
          </a:ln>
        </p:spPr>
      </p:sp>
      <p:sp>
        <p:nvSpPr>
          <p:cNvPr id="81" name="Shape 73"/>
          <p:cNvSpPr/>
          <p:nvPr/>
        </p:nvSpPr>
        <p:spPr>
          <a:xfrm>
            <a:off x="6263640" y="4663440"/>
            <a:ext cx="0" cy="292608"/>
          </a:xfrm>
          <a:prstGeom prst="line">
            <a:avLst/>
          </a:prstGeom>
          <a:noFill/>
          <a:ln w="22225">
            <a:solidFill>
              <a:srgbClr val="2E8B57"/>
            </a:solidFill>
            <a:prstDash val="solid"/>
            <a:tailEnd type="triangle"/>
          </a:ln>
        </p:spPr>
      </p:sp>
      <p:sp>
        <p:nvSpPr>
          <p:cNvPr id="82" name="Shape 74"/>
          <p:cNvSpPr/>
          <p:nvPr/>
        </p:nvSpPr>
        <p:spPr>
          <a:xfrm>
            <a:off x="7406640" y="3941064"/>
            <a:ext cx="2651760" cy="0"/>
          </a:xfrm>
          <a:prstGeom prst="line">
            <a:avLst/>
          </a:prstGeom>
          <a:noFill/>
          <a:ln w="31750">
            <a:solidFill>
              <a:srgbClr val="2E8B57"/>
            </a:solidFill>
            <a:prstDash val="solid"/>
            <a:tailEnd type="triangle"/>
          </a:ln>
        </p:spPr>
      </p:sp>
      <p:sp>
        <p:nvSpPr>
          <p:cNvPr id="83" name="Text 75"/>
          <p:cNvSpPr/>
          <p:nvPr/>
        </p:nvSpPr>
        <p:spPr>
          <a:xfrm>
            <a:off x="7863840" y="3694176"/>
            <a:ext cx="1737360" cy="219456"/>
          </a:xfrm>
          <a:prstGeom prst="rect">
            <a:avLst/>
          </a:prstGeom>
          <a:noFill/>
          <a:ln/>
        </p:spPr>
        <p:txBody>
          <a:bodyPr wrap="square" lIns="0" tIns="0" rIns="0" bIns="0" rtlCol="0" anchor="ctr"/>
          <a:lstStyle/>
          <a:p>
            <a:pPr algn="ctr" indent="0" marL="0">
              <a:buNone/>
            </a:pPr>
            <a:r>
              <a:rPr lang="en-US" sz="820" b="1" i="1" dirty="0">
                <a:solidFill>
                  <a:srgbClr val="2E8B57"/>
                </a:solidFill>
                <a:latin typeface="Calibri" pitchFamily="34" charset="0"/>
                <a:ea typeface="Calibri" pitchFamily="34" charset="-122"/>
                <a:cs typeface="Calibri" pitchFamily="34" charset="-120"/>
              </a:rPr>
              <a:t>the answer</a:t>
            </a:r>
            <a:endParaRPr lang="en-US" sz="820" dirty="0"/>
          </a:p>
        </p:txBody>
      </p:sp>
      <p:sp>
        <p:nvSpPr>
          <p:cNvPr id="84" name="Text 76"/>
          <p:cNvSpPr/>
          <p:nvPr/>
        </p:nvSpPr>
        <p:spPr>
          <a:xfrm>
            <a:off x="457200" y="6053328"/>
            <a:ext cx="11274552" cy="43891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the kernel measures, the AI names, the guardrails check, the engine calculates, a person approves. </a:t>
            </a:r>
            <a:pPr indent="0" marL="0">
              <a:buNone/>
            </a:pPr>
            <a:r>
              <a:rPr lang="en-US" sz="1050" b="1" dirty="0">
                <a:solidFill>
                  <a:srgbClr val="16325C"/>
                </a:solidFill>
                <a:latin typeface="Calibri" pitchFamily="34" charset="0"/>
                <a:ea typeface="Calibri" pitchFamily="34" charset="-122"/>
                <a:cs typeface="Calibri" pitchFamily="34" charset="-120"/>
              </a:rPr>
              <a:t>The AI can reach none of the money — not the rate library, not the arithmetic — </a:t>
            </a:r>
            <a:pPr indent="0" marL="0">
              <a:buNone/>
            </a:pPr>
            <a:r>
              <a:rPr lang="en-US" sz="1050" dirty="0">
                <a:solidFill>
                  <a:srgbClr val="3A4356"/>
                </a:solidFill>
                <a:latin typeface="Calibri" pitchFamily="34" charset="0"/>
                <a:ea typeface="Calibri" pitchFamily="34" charset="-122"/>
                <a:cs typeface="Calibri" pitchFamily="34" charset="-120"/>
              </a:rPr>
              <a:t>and the only thing that ever leaves your network is a description of a shape.</a:t>
            </a:r>
            <a:endParaRPr lang="en-US" sz="1050" dirty="0"/>
          </a:p>
        </p:txBody>
      </p:sp>
      <p:sp>
        <p:nvSpPr>
          <p:cNvPr id="85" name="Text 7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6" name="Text 7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It Is Worth — Manual vs Automated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done both ways</a:t>
            </a:r>
            <a:endParaRPr lang="en-US" sz="1200" dirty="0"/>
          </a:p>
        </p:txBody>
      </p:sp>
      <p:sp>
        <p:nvSpPr>
          <p:cNvPr id="5" name="Shape 3"/>
          <p:cNvSpPr/>
          <p:nvPr/>
        </p:nvSpPr>
        <p:spPr>
          <a:xfrm>
            <a:off x="457200" y="1115568"/>
            <a:ext cx="5623560" cy="3127248"/>
          </a:xfrm>
          <a:prstGeom prst="roundRect">
            <a:avLst>
              <a:gd name="adj" fmla="val 2924"/>
            </a:avLst>
          </a:prstGeom>
          <a:solidFill>
            <a:srgbClr val="FFFFFF"/>
          </a:solidFill>
          <a:ln w="12700">
            <a:solidFill>
              <a:srgbClr val="DCE3EE"/>
            </a:solidFill>
            <a:prstDash val="solid"/>
          </a:ln>
        </p:spPr>
      </p:sp>
      <p:sp>
        <p:nvSpPr>
          <p:cNvPr id="6" name="Text 4"/>
          <p:cNvSpPr/>
          <p:nvPr/>
        </p:nvSpPr>
        <p:spPr>
          <a:xfrm>
            <a:off x="685800" y="1216152"/>
            <a:ext cx="5120640" cy="219456"/>
          </a:xfrm>
          <a:prstGeom prst="rect">
            <a:avLst/>
          </a:prstGeom>
          <a:noFill/>
          <a:ln/>
        </p:spPr>
        <p:txBody>
          <a:bodyPr wrap="square" lIns="0" tIns="0" rIns="0" bIns="0" rtlCol="0" anchor="ctr"/>
          <a:lstStyle/>
          <a:p>
            <a:pPr indent="0" marL="0">
              <a:buNone/>
            </a:pPr>
            <a:r>
              <a:rPr lang="en-US" sz="1000" b="1" spc="60" kern="0" dirty="0">
                <a:solidFill>
                  <a:srgbClr val="6B7280"/>
                </a:solidFill>
                <a:latin typeface="Calibri" pitchFamily="34" charset="0"/>
                <a:ea typeface="Calibri" pitchFamily="34" charset="-122"/>
                <a:cs typeface="Calibri" pitchFamily="34" charset="-120"/>
              </a:rPr>
              <a:t>TODAY — CAD → CAPEE, BY HAND</a:t>
            </a:r>
            <a:endParaRPr lang="en-US" sz="1000" dirty="0"/>
          </a:p>
        </p:txBody>
      </p:sp>
      <p:sp>
        <p:nvSpPr>
          <p:cNvPr id="7" name="Shape 5"/>
          <p:cNvSpPr/>
          <p:nvPr/>
        </p:nvSpPr>
        <p:spPr>
          <a:xfrm>
            <a:off x="621792" y="1499616"/>
            <a:ext cx="5349240" cy="310896"/>
          </a:xfrm>
          <a:prstGeom prst="rect">
            <a:avLst/>
          </a:prstGeom>
          <a:solidFill>
            <a:srgbClr val="F4F7FB"/>
          </a:solidFill>
          <a:ln/>
        </p:spPr>
      </p:sp>
      <p:sp>
        <p:nvSpPr>
          <p:cNvPr id="8" name="Text 6"/>
          <p:cNvSpPr/>
          <p:nvPr/>
        </p:nvSpPr>
        <p:spPr>
          <a:xfrm>
            <a:off x="713232" y="1517904"/>
            <a:ext cx="384048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Open the CAD, measure, read the drawing</a:t>
            </a:r>
            <a:endParaRPr lang="en-US" sz="1000" dirty="0"/>
          </a:p>
        </p:txBody>
      </p:sp>
      <p:sp>
        <p:nvSpPr>
          <p:cNvPr id="9" name="Text 7"/>
          <p:cNvSpPr/>
          <p:nvPr/>
        </p:nvSpPr>
        <p:spPr>
          <a:xfrm>
            <a:off x="4572000" y="1517904"/>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45–90 min</a:t>
            </a:r>
            <a:endParaRPr lang="en-US" sz="1000" dirty="0"/>
          </a:p>
        </p:txBody>
      </p:sp>
      <p:sp>
        <p:nvSpPr>
          <p:cNvPr id="10" name="Text 8"/>
          <p:cNvSpPr/>
          <p:nvPr/>
        </p:nvSpPr>
        <p:spPr>
          <a:xfrm>
            <a:off x="713232" y="1847088"/>
            <a:ext cx="384048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Choose the material grade, look up a price</a:t>
            </a:r>
            <a:endParaRPr lang="en-US" sz="1000" dirty="0"/>
          </a:p>
        </p:txBody>
      </p:sp>
      <p:sp>
        <p:nvSpPr>
          <p:cNvPr id="11" name="Text 9"/>
          <p:cNvSpPr/>
          <p:nvPr/>
        </p:nvSpPr>
        <p:spPr>
          <a:xfrm>
            <a:off x="4572000" y="1847088"/>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20–30 min</a:t>
            </a:r>
            <a:endParaRPr lang="en-US" sz="1000" dirty="0"/>
          </a:p>
        </p:txBody>
      </p:sp>
      <p:sp>
        <p:nvSpPr>
          <p:cNvPr id="12" name="Shape 10"/>
          <p:cNvSpPr/>
          <p:nvPr/>
        </p:nvSpPr>
        <p:spPr>
          <a:xfrm>
            <a:off x="621792" y="2157984"/>
            <a:ext cx="5349240" cy="310896"/>
          </a:xfrm>
          <a:prstGeom prst="rect">
            <a:avLst/>
          </a:prstGeom>
          <a:solidFill>
            <a:srgbClr val="F4F7FB"/>
          </a:solidFill>
          <a:ln/>
        </p:spPr>
      </p:sp>
      <p:sp>
        <p:nvSpPr>
          <p:cNvPr id="13" name="Text 11"/>
          <p:cNvSpPr/>
          <p:nvPr/>
        </p:nvSpPr>
        <p:spPr>
          <a:xfrm>
            <a:off x="713232" y="2176272"/>
            <a:ext cx="384048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Choose the process route and the machine</a:t>
            </a:r>
            <a:endParaRPr lang="en-US" sz="1000" dirty="0"/>
          </a:p>
        </p:txBody>
      </p:sp>
      <p:sp>
        <p:nvSpPr>
          <p:cNvPr id="14" name="Text 12"/>
          <p:cNvSpPr/>
          <p:nvPr/>
        </p:nvSpPr>
        <p:spPr>
          <a:xfrm>
            <a:off x="4572000" y="2176272"/>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30–60 min</a:t>
            </a:r>
            <a:endParaRPr lang="en-US" sz="1000" dirty="0"/>
          </a:p>
        </p:txBody>
      </p:sp>
      <p:sp>
        <p:nvSpPr>
          <p:cNvPr id="15" name="Text 13"/>
          <p:cNvSpPr/>
          <p:nvPr/>
        </p:nvSpPr>
        <p:spPr>
          <a:xfrm>
            <a:off x="713232" y="2505456"/>
            <a:ext cx="384048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Build the cycle time, operation by operation</a:t>
            </a:r>
            <a:endParaRPr lang="en-US" sz="1000" dirty="0"/>
          </a:p>
        </p:txBody>
      </p:sp>
      <p:sp>
        <p:nvSpPr>
          <p:cNvPr id="16" name="Text 14"/>
          <p:cNvSpPr/>
          <p:nvPr/>
        </p:nvSpPr>
        <p:spPr>
          <a:xfrm>
            <a:off x="4572000" y="2505456"/>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60–120 min</a:t>
            </a:r>
            <a:endParaRPr lang="en-US" sz="1000" dirty="0"/>
          </a:p>
        </p:txBody>
      </p:sp>
      <p:sp>
        <p:nvSpPr>
          <p:cNvPr id="17" name="Shape 15"/>
          <p:cNvSpPr/>
          <p:nvPr/>
        </p:nvSpPr>
        <p:spPr>
          <a:xfrm>
            <a:off x="621792" y="2816352"/>
            <a:ext cx="5349240" cy="310896"/>
          </a:xfrm>
          <a:prstGeom prst="rect">
            <a:avLst/>
          </a:prstGeom>
          <a:solidFill>
            <a:srgbClr val="F4F7FB"/>
          </a:solidFill>
          <a:ln/>
        </p:spPr>
      </p:sp>
      <p:sp>
        <p:nvSpPr>
          <p:cNvPr id="18" name="Text 16"/>
          <p:cNvSpPr/>
          <p:nvPr/>
        </p:nvSpPr>
        <p:spPr>
          <a:xfrm>
            <a:off x="713232" y="2834640"/>
            <a:ext cx="384048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Key it all into CAPEE, correct the typos</a:t>
            </a:r>
            <a:endParaRPr lang="en-US" sz="1000" dirty="0"/>
          </a:p>
        </p:txBody>
      </p:sp>
      <p:sp>
        <p:nvSpPr>
          <p:cNvPr id="19" name="Text 17"/>
          <p:cNvSpPr/>
          <p:nvPr/>
        </p:nvSpPr>
        <p:spPr>
          <a:xfrm>
            <a:off x="457200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45–60 min</a:t>
            </a:r>
            <a:endParaRPr lang="en-US" sz="1000" dirty="0"/>
          </a:p>
        </p:txBody>
      </p:sp>
      <p:sp>
        <p:nvSpPr>
          <p:cNvPr id="20" name="Text 18"/>
          <p:cNvSpPr/>
          <p:nvPr/>
        </p:nvSpPr>
        <p:spPr>
          <a:xfrm>
            <a:off x="713232" y="3163824"/>
            <a:ext cx="384048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Sanity-check and iterate with an engineer</a:t>
            </a:r>
            <a:endParaRPr lang="en-US" sz="1000" dirty="0"/>
          </a:p>
        </p:txBody>
      </p:sp>
      <p:sp>
        <p:nvSpPr>
          <p:cNvPr id="21" name="Text 19"/>
          <p:cNvSpPr/>
          <p:nvPr/>
        </p:nvSpPr>
        <p:spPr>
          <a:xfrm>
            <a:off x="4572000" y="3163824"/>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60–90 min</a:t>
            </a:r>
            <a:endParaRPr lang="en-US" sz="1000" dirty="0"/>
          </a:p>
        </p:txBody>
      </p:sp>
      <p:sp>
        <p:nvSpPr>
          <p:cNvPr id="22" name="Shape 20"/>
          <p:cNvSpPr/>
          <p:nvPr/>
        </p:nvSpPr>
        <p:spPr>
          <a:xfrm>
            <a:off x="713232" y="3547872"/>
            <a:ext cx="5166360" cy="0"/>
          </a:xfrm>
          <a:prstGeom prst="line">
            <a:avLst/>
          </a:prstGeom>
          <a:noFill/>
          <a:ln w="12700">
            <a:solidFill>
              <a:srgbClr val="DCE3EE"/>
            </a:solidFill>
            <a:prstDash val="solid"/>
          </a:ln>
        </p:spPr>
      </p:sp>
      <p:sp>
        <p:nvSpPr>
          <p:cNvPr id="23" name="Text 21"/>
          <p:cNvSpPr/>
          <p:nvPr/>
        </p:nvSpPr>
        <p:spPr>
          <a:xfrm>
            <a:off x="713232" y="3621024"/>
            <a:ext cx="384048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One die-cast housing</a:t>
            </a:r>
            <a:endParaRPr lang="en-US" sz="1100" dirty="0"/>
          </a:p>
        </p:txBody>
      </p:sp>
      <p:sp>
        <p:nvSpPr>
          <p:cNvPr id="24" name="Text 22"/>
          <p:cNvSpPr/>
          <p:nvPr/>
        </p:nvSpPr>
        <p:spPr>
          <a:xfrm>
            <a:off x="4572000" y="3621024"/>
            <a:ext cx="1325880" cy="274320"/>
          </a:xfrm>
          <a:prstGeom prst="rect">
            <a:avLst/>
          </a:prstGeom>
          <a:noFill/>
          <a:ln/>
        </p:spPr>
        <p:txBody>
          <a:bodyPr wrap="square" lIns="0" tIns="0" rIns="0" bIns="0" rtlCol="0" anchor="ctr"/>
          <a:lstStyle/>
          <a:p>
            <a:pPr algn="r" indent="0" marL="0">
              <a:buNone/>
            </a:pPr>
            <a:r>
              <a:rPr lang="en-US" sz="1200" b="1" dirty="0">
                <a:solidFill>
                  <a:srgbClr val="B03A2E"/>
                </a:solidFill>
                <a:latin typeface="Calibri" pitchFamily="34" charset="0"/>
                <a:ea typeface="Calibri" pitchFamily="34" charset="-122"/>
                <a:cs typeface="Calibri" pitchFamily="34" charset="-120"/>
              </a:rPr>
              <a:t>≈ 6 hours</a:t>
            </a:r>
            <a:endParaRPr lang="en-US" sz="1200" dirty="0"/>
          </a:p>
        </p:txBody>
      </p:sp>
      <p:sp>
        <p:nvSpPr>
          <p:cNvPr id="25" name="Text 23"/>
          <p:cNvSpPr/>
          <p:nvPr/>
        </p:nvSpPr>
        <p:spPr>
          <a:xfrm>
            <a:off x="713232" y="3913632"/>
            <a:ext cx="5120640" cy="237744"/>
          </a:xfrm>
          <a:prstGeom prst="rect">
            <a:avLst/>
          </a:prstGeom>
          <a:noFill/>
          <a:ln/>
        </p:spPr>
        <p:txBody>
          <a:bodyPr wrap="square" lIns="0" tIns="0" rIns="0" bIns="0" rtlCol="0" anchor="ctr"/>
          <a:lstStyle/>
          <a:p>
            <a:pPr indent="0" marL="0">
              <a:buNone/>
            </a:pPr>
            <a:r>
              <a:rPr lang="en-US" sz="940" i="1" dirty="0">
                <a:solidFill>
                  <a:srgbClr val="6B7280"/>
                </a:solidFill>
                <a:latin typeface="Calibri" pitchFamily="34" charset="0"/>
                <a:ea typeface="Calibri" pitchFamily="34" charset="-122"/>
                <a:cs typeface="Calibri" pitchFamily="34" charset="-120"/>
              </a:rPr>
              <a:t>…and a different engineer gets a different answer.</a:t>
            </a:r>
            <a:endParaRPr lang="en-US" sz="940" dirty="0"/>
          </a:p>
        </p:txBody>
      </p:sp>
      <p:sp>
        <p:nvSpPr>
          <p:cNvPr id="26" name="Shape 24"/>
          <p:cNvSpPr/>
          <p:nvPr/>
        </p:nvSpPr>
        <p:spPr>
          <a:xfrm>
            <a:off x="6291072" y="1115568"/>
            <a:ext cx="5440680" cy="3127248"/>
          </a:xfrm>
          <a:prstGeom prst="roundRect">
            <a:avLst>
              <a:gd name="adj" fmla="val 2924"/>
            </a:avLst>
          </a:prstGeom>
          <a:solidFill>
            <a:srgbClr val="EAF6EF"/>
          </a:solidFill>
          <a:ln w="19050">
            <a:solidFill>
              <a:srgbClr val="2E8B57"/>
            </a:solidFill>
            <a:prstDash val="solid"/>
          </a:ln>
        </p:spPr>
      </p:sp>
      <p:sp>
        <p:nvSpPr>
          <p:cNvPr id="27" name="Text 25"/>
          <p:cNvSpPr/>
          <p:nvPr/>
        </p:nvSpPr>
        <p:spPr>
          <a:xfrm>
            <a:off x="6519672" y="1216152"/>
            <a:ext cx="4937760" cy="219456"/>
          </a:xfrm>
          <a:prstGeom prst="rect">
            <a:avLst/>
          </a:prstGeom>
          <a:noFill/>
          <a:ln/>
        </p:spPr>
        <p:txBody>
          <a:bodyPr wrap="square" lIns="0" tIns="0" rIns="0" bIns="0" rtlCol="0" anchor="ctr"/>
          <a:lstStyle/>
          <a:p>
            <a:pPr indent="0" marL="0">
              <a:buNone/>
            </a:pPr>
            <a:r>
              <a:rPr lang="en-US" sz="1000" b="1" spc="60" kern="0" dirty="0">
                <a:solidFill>
                  <a:srgbClr val="2E8B57"/>
                </a:solidFill>
                <a:latin typeface="Calibri" pitchFamily="34" charset="0"/>
                <a:ea typeface="Calibri" pitchFamily="34" charset="-122"/>
                <a:cs typeface="Calibri" pitchFamily="34" charset="-120"/>
              </a:rPr>
              <a:t>WITH COSTVISION</a:t>
            </a:r>
            <a:endParaRPr lang="en-US" sz="1000" dirty="0"/>
          </a:p>
        </p:txBody>
      </p:sp>
      <p:sp>
        <p:nvSpPr>
          <p:cNvPr id="28" name="Shape 26"/>
          <p:cNvSpPr/>
          <p:nvPr/>
        </p:nvSpPr>
        <p:spPr>
          <a:xfrm>
            <a:off x="6455664" y="1499616"/>
            <a:ext cx="5166360" cy="310896"/>
          </a:xfrm>
          <a:prstGeom prst="rect">
            <a:avLst/>
          </a:prstGeom>
          <a:solidFill>
            <a:srgbClr val="FFFFFF"/>
          </a:solidFill>
          <a:ln/>
        </p:spPr>
      </p:sp>
      <p:sp>
        <p:nvSpPr>
          <p:cNvPr id="29" name="Text 27"/>
          <p:cNvSpPr/>
          <p:nvPr/>
        </p:nvSpPr>
        <p:spPr>
          <a:xfrm>
            <a:off x="6547104" y="1517904"/>
            <a:ext cx="374904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Upload the CAD file</a:t>
            </a:r>
            <a:endParaRPr lang="en-US" sz="1000" dirty="0"/>
          </a:p>
        </p:txBody>
      </p:sp>
      <p:sp>
        <p:nvSpPr>
          <p:cNvPr id="30" name="Text 28"/>
          <p:cNvSpPr/>
          <p:nvPr/>
        </p:nvSpPr>
        <p:spPr>
          <a:xfrm>
            <a:off x="10332720" y="1517904"/>
            <a:ext cx="118872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 min</a:t>
            </a:r>
            <a:endParaRPr lang="en-US" sz="1000" dirty="0"/>
          </a:p>
        </p:txBody>
      </p:sp>
      <p:sp>
        <p:nvSpPr>
          <p:cNvPr id="31" name="Text 29"/>
          <p:cNvSpPr/>
          <p:nvPr/>
        </p:nvSpPr>
        <p:spPr>
          <a:xfrm>
            <a:off x="6547104" y="1847088"/>
            <a:ext cx="374904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 · classify · guard · calculate</a:t>
            </a:r>
            <a:endParaRPr lang="en-US" sz="1000" dirty="0"/>
          </a:p>
        </p:txBody>
      </p:sp>
      <p:sp>
        <p:nvSpPr>
          <p:cNvPr id="32" name="Text 30"/>
          <p:cNvSpPr/>
          <p:nvPr/>
        </p:nvSpPr>
        <p:spPr>
          <a:xfrm>
            <a:off x="10332720" y="1847088"/>
            <a:ext cx="118872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2 min</a:t>
            </a:r>
            <a:endParaRPr lang="en-US" sz="1000" dirty="0"/>
          </a:p>
        </p:txBody>
      </p:sp>
      <p:sp>
        <p:nvSpPr>
          <p:cNvPr id="33" name="Text 31"/>
          <p:cNvSpPr/>
          <p:nvPr/>
        </p:nvSpPr>
        <p:spPr>
          <a:xfrm>
            <a:off x="6547104" y="2176272"/>
            <a:ext cx="3749040" cy="292608"/>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 all of it, unattended</a:t>
            </a:r>
            <a:endParaRPr lang="en-US" sz="1000" dirty="0"/>
          </a:p>
        </p:txBody>
      </p:sp>
      <p:sp>
        <p:nvSpPr>
          <p:cNvPr id="34" name="Text 32"/>
          <p:cNvSpPr/>
          <p:nvPr/>
        </p:nvSpPr>
        <p:spPr>
          <a:xfrm>
            <a:off x="6547104" y="2505456"/>
            <a:ext cx="374904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Engineer reviews every AI call and confirms</a:t>
            </a:r>
            <a:endParaRPr lang="en-US" sz="1000" dirty="0"/>
          </a:p>
        </p:txBody>
      </p:sp>
      <p:sp>
        <p:nvSpPr>
          <p:cNvPr id="35" name="Text 33"/>
          <p:cNvSpPr/>
          <p:nvPr/>
        </p:nvSpPr>
        <p:spPr>
          <a:xfrm>
            <a:off x="10332720" y="2505456"/>
            <a:ext cx="118872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15 min</a:t>
            </a:r>
            <a:endParaRPr lang="en-US" sz="1000" dirty="0"/>
          </a:p>
        </p:txBody>
      </p:sp>
      <p:sp>
        <p:nvSpPr>
          <p:cNvPr id="36" name="Shape 34"/>
          <p:cNvSpPr/>
          <p:nvPr/>
        </p:nvSpPr>
        <p:spPr>
          <a:xfrm>
            <a:off x="6455664" y="2816352"/>
            <a:ext cx="5166360" cy="310896"/>
          </a:xfrm>
          <a:prstGeom prst="rect">
            <a:avLst/>
          </a:prstGeom>
          <a:solidFill>
            <a:srgbClr val="FFFFFF"/>
          </a:solidFill>
          <a:ln/>
        </p:spPr>
      </p:sp>
      <p:sp>
        <p:nvSpPr>
          <p:cNvPr id="37" name="Text 35"/>
          <p:cNvSpPr/>
          <p:nvPr/>
        </p:nvSpPr>
        <p:spPr>
          <a:xfrm>
            <a:off x="6547104" y="2834640"/>
            <a:ext cx="374904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Set volume and region, check the band</a:t>
            </a:r>
            <a:endParaRPr lang="en-US" sz="1000" dirty="0"/>
          </a:p>
        </p:txBody>
      </p:sp>
      <p:sp>
        <p:nvSpPr>
          <p:cNvPr id="38" name="Text 36"/>
          <p:cNvSpPr/>
          <p:nvPr/>
        </p:nvSpPr>
        <p:spPr>
          <a:xfrm>
            <a:off x="10332720" y="2834640"/>
            <a:ext cx="118872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7 min</a:t>
            </a:r>
            <a:endParaRPr lang="en-US" sz="1000" dirty="0"/>
          </a:p>
        </p:txBody>
      </p:sp>
      <p:sp>
        <p:nvSpPr>
          <p:cNvPr id="39" name="Text 37"/>
          <p:cNvSpPr/>
          <p:nvPr/>
        </p:nvSpPr>
        <p:spPr>
          <a:xfrm>
            <a:off x="6547104" y="3163824"/>
            <a:ext cx="374904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Export the report</a:t>
            </a:r>
            <a:endParaRPr lang="en-US" sz="1000" dirty="0"/>
          </a:p>
        </p:txBody>
      </p:sp>
      <p:sp>
        <p:nvSpPr>
          <p:cNvPr id="40" name="Text 38"/>
          <p:cNvSpPr/>
          <p:nvPr/>
        </p:nvSpPr>
        <p:spPr>
          <a:xfrm>
            <a:off x="10332720" y="3163824"/>
            <a:ext cx="118872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5 min</a:t>
            </a:r>
            <a:endParaRPr lang="en-US" sz="1000" dirty="0"/>
          </a:p>
        </p:txBody>
      </p:sp>
      <p:sp>
        <p:nvSpPr>
          <p:cNvPr id="41" name="Shape 39"/>
          <p:cNvSpPr/>
          <p:nvPr/>
        </p:nvSpPr>
        <p:spPr>
          <a:xfrm>
            <a:off x="6547104" y="3547872"/>
            <a:ext cx="4983480" cy="0"/>
          </a:xfrm>
          <a:prstGeom prst="line">
            <a:avLst/>
          </a:prstGeom>
          <a:noFill/>
          <a:ln w="12700">
            <a:solidFill>
              <a:srgbClr val="2E8B57"/>
            </a:solidFill>
            <a:prstDash val="solid"/>
          </a:ln>
        </p:spPr>
      </p:sp>
      <p:sp>
        <p:nvSpPr>
          <p:cNvPr id="42" name="Text 40"/>
          <p:cNvSpPr/>
          <p:nvPr/>
        </p:nvSpPr>
        <p:spPr>
          <a:xfrm>
            <a:off x="6547104" y="3621024"/>
            <a:ext cx="37490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same die-cast housing</a:t>
            </a:r>
            <a:endParaRPr lang="en-US" sz="1100" dirty="0"/>
          </a:p>
        </p:txBody>
      </p:sp>
      <p:sp>
        <p:nvSpPr>
          <p:cNvPr id="43" name="Text 41"/>
          <p:cNvSpPr/>
          <p:nvPr/>
        </p:nvSpPr>
        <p:spPr>
          <a:xfrm>
            <a:off x="10332720" y="3621024"/>
            <a:ext cx="1188720" cy="274320"/>
          </a:xfrm>
          <a:prstGeom prst="rect">
            <a:avLst/>
          </a:prstGeom>
          <a:noFill/>
          <a:ln/>
        </p:spPr>
        <p:txBody>
          <a:bodyPr wrap="square" lIns="0" tIns="0" rIns="0" bIns="0" rtlCol="0" anchor="ctr"/>
          <a:lstStyle/>
          <a:p>
            <a:pPr algn="r" indent="0" marL="0">
              <a:buNone/>
            </a:pPr>
            <a:r>
              <a:rPr lang="en-US" sz="1200" b="1" dirty="0">
                <a:solidFill>
                  <a:srgbClr val="2E8B57"/>
                </a:solidFill>
                <a:latin typeface="Calibri" pitchFamily="34" charset="0"/>
                <a:ea typeface="Calibri" pitchFamily="34" charset="-122"/>
                <a:cs typeface="Calibri" pitchFamily="34" charset="-120"/>
              </a:rPr>
              <a:t>≈ 30 min</a:t>
            </a:r>
            <a:endParaRPr lang="en-US" sz="1200" dirty="0"/>
          </a:p>
        </p:txBody>
      </p:sp>
      <p:sp>
        <p:nvSpPr>
          <p:cNvPr id="44" name="Text 42"/>
          <p:cNvSpPr/>
          <p:nvPr/>
        </p:nvSpPr>
        <p:spPr>
          <a:xfrm>
            <a:off x="6547104" y="3913632"/>
            <a:ext cx="4937760" cy="237744"/>
          </a:xfrm>
          <a:prstGeom prst="rect">
            <a:avLst/>
          </a:prstGeom>
          <a:noFill/>
          <a:ln/>
        </p:spPr>
        <p:txBody>
          <a:bodyPr wrap="square" lIns="0" tIns="0" rIns="0" bIns="0" rtlCol="0" anchor="ctr"/>
          <a:lstStyle/>
          <a:p>
            <a:pPr indent="0" marL="0">
              <a:buNone/>
            </a:pPr>
            <a:r>
              <a:rPr lang="en-US" sz="940" i="1" dirty="0">
                <a:solidFill>
                  <a:srgbClr val="2E8B57"/>
                </a:solidFill>
                <a:latin typeface="Calibri" pitchFamily="34" charset="0"/>
                <a:ea typeface="Calibri" pitchFamily="34" charset="-122"/>
                <a:cs typeface="Calibri" pitchFamily="34" charset="-120"/>
              </a:rPr>
              <a:t>…and it is the same answer every time, for everyone.</a:t>
            </a:r>
            <a:endParaRPr lang="en-US" sz="940" dirty="0"/>
          </a:p>
        </p:txBody>
      </p:sp>
      <p:sp>
        <p:nvSpPr>
          <p:cNvPr id="45" name="Shape 43"/>
          <p:cNvSpPr/>
          <p:nvPr/>
        </p:nvSpPr>
        <p:spPr>
          <a:xfrm>
            <a:off x="457200" y="4407408"/>
            <a:ext cx="6858000" cy="1572768"/>
          </a:xfrm>
          <a:prstGeom prst="roundRect">
            <a:avLst>
              <a:gd name="adj" fmla="val 5814"/>
            </a:avLst>
          </a:prstGeom>
          <a:solidFill>
            <a:srgbClr val="FFFFFF"/>
          </a:solidFill>
          <a:ln w="12700">
            <a:solidFill>
              <a:srgbClr val="DCE3EE"/>
            </a:solidFill>
            <a:prstDash val="solid"/>
          </a:ln>
        </p:spPr>
      </p:sp>
      <p:sp>
        <p:nvSpPr>
          <p:cNvPr id="46" name="Text 44"/>
          <p:cNvSpPr/>
          <p:nvPr/>
        </p:nvSpPr>
        <p:spPr>
          <a:xfrm>
            <a:off x="685800" y="4498848"/>
            <a:ext cx="6400800" cy="219456"/>
          </a:xfrm>
          <a:prstGeom prst="rect">
            <a:avLst/>
          </a:prstGeom>
          <a:noFill/>
          <a:ln/>
        </p:spPr>
        <p:txBody>
          <a:bodyPr wrap="square" lIns="0" tIns="0" rIns="0" bIns="0" rtlCol="0" anchor="ctr"/>
          <a:lstStyle/>
          <a:p>
            <a:pPr indent="0" marL="0">
              <a:buNone/>
            </a:pPr>
            <a:r>
              <a:rPr lang="en-US" sz="1000" b="1" spc="50" kern="0" dirty="0">
                <a:solidFill>
                  <a:srgbClr val="16325C"/>
                </a:solidFill>
                <a:latin typeface="Calibri" pitchFamily="34" charset="0"/>
                <a:ea typeface="Calibri" pitchFamily="34" charset="-122"/>
                <a:cs typeface="Calibri" pitchFamily="34" charset="-120"/>
              </a:rPr>
              <a:t>ACROSS THE PART TYPES YOU ACTUALLY BUY</a:t>
            </a:r>
            <a:endParaRPr lang="en-US" sz="1000" dirty="0"/>
          </a:p>
        </p:txBody>
      </p:sp>
      <p:sp>
        <p:nvSpPr>
          <p:cNvPr id="47" name="Text 45"/>
          <p:cNvSpPr/>
          <p:nvPr/>
        </p:nvSpPr>
        <p:spPr>
          <a:xfrm>
            <a:off x="713232" y="4745736"/>
            <a:ext cx="2468880" cy="182880"/>
          </a:xfrm>
          <a:prstGeom prst="rect">
            <a:avLst/>
          </a:prstGeom>
          <a:noFill/>
          <a:ln/>
        </p:spPr>
        <p:txBody>
          <a:bodyPr wrap="square" lIns="0" tIns="0" rIns="0" bIns="0" rtlCol="0" anchor="ctr"/>
          <a:lstStyle/>
          <a:p>
            <a:pPr algn="l" indent="0" marL="0">
              <a:buNone/>
            </a:pPr>
            <a:r>
              <a:rPr lang="en-US" sz="820" b="1" dirty="0">
                <a:solidFill>
                  <a:srgbClr val="6B7280"/>
                </a:solidFill>
                <a:latin typeface="Calibri" pitchFamily="34" charset="0"/>
                <a:ea typeface="Calibri" pitchFamily="34" charset="-122"/>
                <a:cs typeface="Calibri" pitchFamily="34" charset="-120"/>
              </a:rPr>
              <a:t>Part</a:t>
            </a:r>
            <a:endParaRPr lang="en-US" sz="820" dirty="0"/>
          </a:p>
        </p:txBody>
      </p:sp>
      <p:sp>
        <p:nvSpPr>
          <p:cNvPr id="48" name="Text 46"/>
          <p:cNvSpPr/>
          <p:nvPr/>
        </p:nvSpPr>
        <p:spPr>
          <a:xfrm>
            <a:off x="3246120" y="4745736"/>
            <a:ext cx="1463040" cy="182880"/>
          </a:xfrm>
          <a:prstGeom prst="rect">
            <a:avLst/>
          </a:prstGeom>
          <a:noFill/>
          <a:ln/>
        </p:spPr>
        <p:txBody>
          <a:bodyPr wrap="square" lIns="0" tIns="0" rIns="0" bIns="0" rtlCol="0" anchor="ctr"/>
          <a:lstStyle/>
          <a:p>
            <a:pPr algn="r" indent="0" marL="0">
              <a:buNone/>
            </a:pPr>
            <a:r>
              <a:rPr lang="en-US" sz="820" b="1" dirty="0">
                <a:solidFill>
                  <a:srgbClr val="6B7280"/>
                </a:solidFill>
                <a:latin typeface="Calibri" pitchFamily="34" charset="0"/>
                <a:ea typeface="Calibri" pitchFamily="34" charset="-122"/>
                <a:cs typeface="Calibri" pitchFamily="34" charset="-120"/>
              </a:rPr>
              <a:t>By hand</a:t>
            </a:r>
            <a:endParaRPr lang="en-US" sz="820" dirty="0"/>
          </a:p>
        </p:txBody>
      </p:sp>
      <p:sp>
        <p:nvSpPr>
          <p:cNvPr id="49" name="Text 47"/>
          <p:cNvSpPr/>
          <p:nvPr/>
        </p:nvSpPr>
        <p:spPr>
          <a:xfrm>
            <a:off x="4800600" y="4745736"/>
            <a:ext cx="1280160" cy="182880"/>
          </a:xfrm>
          <a:prstGeom prst="rect">
            <a:avLst/>
          </a:prstGeom>
          <a:noFill/>
          <a:ln/>
        </p:spPr>
        <p:txBody>
          <a:bodyPr wrap="square" lIns="0" tIns="0" rIns="0" bIns="0" rtlCol="0" anchor="ctr"/>
          <a:lstStyle/>
          <a:p>
            <a:pPr algn="r" indent="0" marL="0">
              <a:buNone/>
            </a:pPr>
            <a:r>
              <a:rPr lang="en-US" sz="820" b="1" dirty="0">
                <a:solidFill>
                  <a:srgbClr val="6B7280"/>
                </a:solidFill>
                <a:latin typeface="Calibri" pitchFamily="34" charset="0"/>
                <a:ea typeface="Calibri" pitchFamily="34" charset="-122"/>
                <a:cs typeface="Calibri" pitchFamily="34" charset="-120"/>
              </a:rPr>
              <a:t>CostVision</a:t>
            </a:r>
            <a:endParaRPr lang="en-US" sz="820" dirty="0"/>
          </a:p>
        </p:txBody>
      </p:sp>
      <p:sp>
        <p:nvSpPr>
          <p:cNvPr id="50" name="Text 48"/>
          <p:cNvSpPr/>
          <p:nvPr/>
        </p:nvSpPr>
        <p:spPr>
          <a:xfrm>
            <a:off x="6172200" y="4745736"/>
            <a:ext cx="1005840" cy="182880"/>
          </a:xfrm>
          <a:prstGeom prst="rect">
            <a:avLst/>
          </a:prstGeom>
          <a:noFill/>
          <a:ln/>
        </p:spPr>
        <p:txBody>
          <a:bodyPr wrap="square" lIns="0" tIns="0" rIns="0" bIns="0" rtlCol="0" anchor="ctr"/>
          <a:lstStyle/>
          <a:p>
            <a:pPr algn="r" indent="0" marL="0">
              <a:buNone/>
            </a:pPr>
            <a:r>
              <a:rPr lang="en-US" sz="820" b="1" dirty="0">
                <a:solidFill>
                  <a:srgbClr val="6B7280"/>
                </a:solidFill>
                <a:latin typeface="Calibri" pitchFamily="34" charset="0"/>
                <a:ea typeface="Calibri" pitchFamily="34" charset="-122"/>
                <a:cs typeface="Calibri" pitchFamily="34" charset="-120"/>
              </a:rPr>
              <a:t>Faster by</a:t>
            </a:r>
            <a:endParaRPr lang="en-US" sz="820" dirty="0"/>
          </a:p>
        </p:txBody>
      </p:sp>
      <p:sp>
        <p:nvSpPr>
          <p:cNvPr id="51" name="Shape 49"/>
          <p:cNvSpPr/>
          <p:nvPr/>
        </p:nvSpPr>
        <p:spPr>
          <a:xfrm>
            <a:off x="621792" y="4928616"/>
            <a:ext cx="6583680" cy="228600"/>
          </a:xfrm>
          <a:prstGeom prst="rect">
            <a:avLst/>
          </a:prstGeom>
          <a:solidFill>
            <a:srgbClr val="F4F7FB"/>
          </a:solidFill>
          <a:ln/>
        </p:spPr>
      </p:sp>
      <p:sp>
        <p:nvSpPr>
          <p:cNvPr id="52" name="Text 50"/>
          <p:cNvSpPr/>
          <p:nvPr/>
        </p:nvSpPr>
        <p:spPr>
          <a:xfrm>
            <a:off x="713232" y="4946904"/>
            <a:ext cx="2468880" cy="21031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Machined bracket</a:t>
            </a:r>
            <a:endParaRPr lang="en-US" sz="920" dirty="0"/>
          </a:p>
        </p:txBody>
      </p:sp>
      <p:sp>
        <p:nvSpPr>
          <p:cNvPr id="53" name="Text 51"/>
          <p:cNvSpPr/>
          <p:nvPr/>
        </p:nvSpPr>
        <p:spPr>
          <a:xfrm>
            <a:off x="3246120" y="4946904"/>
            <a:ext cx="146304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2–3 h</a:t>
            </a:r>
            <a:endParaRPr lang="en-US" sz="920" dirty="0"/>
          </a:p>
        </p:txBody>
      </p:sp>
      <p:sp>
        <p:nvSpPr>
          <p:cNvPr id="54" name="Text 52"/>
          <p:cNvSpPr/>
          <p:nvPr/>
        </p:nvSpPr>
        <p:spPr>
          <a:xfrm>
            <a:off x="4800600" y="4946904"/>
            <a:ext cx="128016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 min</a:t>
            </a:r>
            <a:endParaRPr lang="en-US" sz="920" dirty="0"/>
          </a:p>
        </p:txBody>
      </p:sp>
      <p:sp>
        <p:nvSpPr>
          <p:cNvPr id="55" name="Text 53"/>
          <p:cNvSpPr/>
          <p:nvPr/>
        </p:nvSpPr>
        <p:spPr>
          <a:xfrm>
            <a:off x="6172200" y="4946904"/>
            <a:ext cx="1005840" cy="210312"/>
          </a:xfrm>
          <a:prstGeom prst="rect">
            <a:avLst/>
          </a:prstGeom>
          <a:noFill/>
          <a:ln/>
        </p:spPr>
        <p:txBody>
          <a:bodyPr wrap="square" lIns="0" tIns="0" rIns="0" bIns="0" rtlCol="0" anchor="ctr"/>
          <a:lstStyle/>
          <a:p>
            <a:pPr algn="r" indent="0" marL="0">
              <a:buNone/>
            </a:pPr>
            <a:r>
              <a:rPr lang="en-US" sz="920" b="1" dirty="0">
                <a:solidFill>
                  <a:srgbClr val="2E8B57"/>
                </a:solidFill>
                <a:latin typeface="Calibri" pitchFamily="34" charset="0"/>
                <a:ea typeface="Calibri" pitchFamily="34" charset="-122"/>
                <a:cs typeface="Calibri" pitchFamily="34" charset="-120"/>
              </a:rPr>
              <a:t>≈ 10×</a:t>
            </a:r>
            <a:endParaRPr lang="en-US" sz="920" dirty="0"/>
          </a:p>
        </p:txBody>
      </p:sp>
      <p:sp>
        <p:nvSpPr>
          <p:cNvPr id="56" name="Text 54"/>
          <p:cNvSpPr/>
          <p:nvPr/>
        </p:nvSpPr>
        <p:spPr>
          <a:xfrm>
            <a:off x="713232" y="5193792"/>
            <a:ext cx="2468880" cy="21031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Die-cast housing</a:t>
            </a:r>
            <a:endParaRPr lang="en-US" sz="920" dirty="0"/>
          </a:p>
        </p:txBody>
      </p:sp>
      <p:sp>
        <p:nvSpPr>
          <p:cNvPr id="57" name="Text 55"/>
          <p:cNvSpPr/>
          <p:nvPr/>
        </p:nvSpPr>
        <p:spPr>
          <a:xfrm>
            <a:off x="3246120" y="5193792"/>
            <a:ext cx="146304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5–7 h</a:t>
            </a:r>
            <a:endParaRPr lang="en-US" sz="920" dirty="0"/>
          </a:p>
        </p:txBody>
      </p:sp>
      <p:sp>
        <p:nvSpPr>
          <p:cNvPr id="58" name="Text 56"/>
          <p:cNvSpPr/>
          <p:nvPr/>
        </p:nvSpPr>
        <p:spPr>
          <a:xfrm>
            <a:off x="4800600" y="5193792"/>
            <a:ext cx="128016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 min</a:t>
            </a:r>
            <a:endParaRPr lang="en-US" sz="920" dirty="0"/>
          </a:p>
        </p:txBody>
      </p:sp>
      <p:sp>
        <p:nvSpPr>
          <p:cNvPr id="59" name="Text 57"/>
          <p:cNvSpPr/>
          <p:nvPr/>
        </p:nvSpPr>
        <p:spPr>
          <a:xfrm>
            <a:off x="6172200" y="5193792"/>
            <a:ext cx="1005840" cy="210312"/>
          </a:xfrm>
          <a:prstGeom prst="rect">
            <a:avLst/>
          </a:prstGeom>
          <a:noFill/>
          <a:ln/>
        </p:spPr>
        <p:txBody>
          <a:bodyPr wrap="square" lIns="0" tIns="0" rIns="0" bIns="0" rtlCol="0" anchor="ctr"/>
          <a:lstStyle/>
          <a:p>
            <a:pPr algn="r" indent="0" marL="0">
              <a:buNone/>
            </a:pPr>
            <a:r>
              <a:rPr lang="en-US" sz="920" b="1" dirty="0">
                <a:solidFill>
                  <a:srgbClr val="2E8B57"/>
                </a:solidFill>
                <a:latin typeface="Calibri" pitchFamily="34" charset="0"/>
                <a:ea typeface="Calibri" pitchFamily="34" charset="-122"/>
                <a:cs typeface="Calibri" pitchFamily="34" charset="-120"/>
              </a:rPr>
              <a:t>≈ 12×</a:t>
            </a:r>
            <a:endParaRPr lang="en-US" sz="920" dirty="0"/>
          </a:p>
        </p:txBody>
      </p:sp>
      <p:sp>
        <p:nvSpPr>
          <p:cNvPr id="60" name="Shape 58"/>
          <p:cNvSpPr/>
          <p:nvPr/>
        </p:nvSpPr>
        <p:spPr>
          <a:xfrm>
            <a:off x="621792" y="5422392"/>
            <a:ext cx="6583680" cy="228600"/>
          </a:xfrm>
          <a:prstGeom prst="rect">
            <a:avLst/>
          </a:prstGeom>
          <a:solidFill>
            <a:srgbClr val="F4F7FB"/>
          </a:solidFill>
          <a:ln/>
        </p:spPr>
      </p:sp>
      <p:sp>
        <p:nvSpPr>
          <p:cNvPr id="61" name="Text 59"/>
          <p:cNvSpPr/>
          <p:nvPr/>
        </p:nvSpPr>
        <p:spPr>
          <a:xfrm>
            <a:off x="713232" y="5440680"/>
            <a:ext cx="2468880" cy="21031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Moulded fascia + paint</a:t>
            </a:r>
            <a:endParaRPr lang="en-US" sz="920" dirty="0"/>
          </a:p>
        </p:txBody>
      </p:sp>
      <p:sp>
        <p:nvSpPr>
          <p:cNvPr id="62" name="Text 60"/>
          <p:cNvSpPr/>
          <p:nvPr/>
        </p:nvSpPr>
        <p:spPr>
          <a:xfrm>
            <a:off x="3246120" y="5440680"/>
            <a:ext cx="146304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7–10 h</a:t>
            </a:r>
            <a:endParaRPr lang="en-US" sz="920" dirty="0"/>
          </a:p>
        </p:txBody>
      </p:sp>
      <p:sp>
        <p:nvSpPr>
          <p:cNvPr id="63" name="Text 61"/>
          <p:cNvSpPr/>
          <p:nvPr/>
        </p:nvSpPr>
        <p:spPr>
          <a:xfrm>
            <a:off x="4800600" y="5440680"/>
            <a:ext cx="128016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40 min</a:t>
            </a:r>
            <a:endParaRPr lang="en-US" sz="920" dirty="0"/>
          </a:p>
        </p:txBody>
      </p:sp>
      <p:sp>
        <p:nvSpPr>
          <p:cNvPr id="64" name="Text 62"/>
          <p:cNvSpPr/>
          <p:nvPr/>
        </p:nvSpPr>
        <p:spPr>
          <a:xfrm>
            <a:off x="6172200" y="5440680"/>
            <a:ext cx="1005840" cy="210312"/>
          </a:xfrm>
          <a:prstGeom prst="rect">
            <a:avLst/>
          </a:prstGeom>
          <a:noFill/>
          <a:ln/>
        </p:spPr>
        <p:txBody>
          <a:bodyPr wrap="square" lIns="0" tIns="0" rIns="0" bIns="0" rtlCol="0" anchor="ctr"/>
          <a:lstStyle/>
          <a:p>
            <a:pPr algn="r" indent="0" marL="0">
              <a:buNone/>
            </a:pPr>
            <a:r>
              <a:rPr lang="en-US" sz="920" b="1" dirty="0">
                <a:solidFill>
                  <a:srgbClr val="2E8B57"/>
                </a:solidFill>
                <a:latin typeface="Calibri" pitchFamily="34" charset="0"/>
                <a:ea typeface="Calibri" pitchFamily="34" charset="-122"/>
                <a:cs typeface="Calibri" pitchFamily="34" charset="-120"/>
              </a:rPr>
              <a:t>≈ 13×</a:t>
            </a:r>
            <a:endParaRPr lang="en-US" sz="920" dirty="0"/>
          </a:p>
        </p:txBody>
      </p:sp>
      <p:sp>
        <p:nvSpPr>
          <p:cNvPr id="65" name="Text 63"/>
          <p:cNvSpPr/>
          <p:nvPr/>
        </p:nvSpPr>
        <p:spPr>
          <a:xfrm>
            <a:off x="713232" y="5687568"/>
            <a:ext cx="2468880" cy="21031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PCB / PCBA from a photo</a:t>
            </a:r>
            <a:endParaRPr lang="en-US" sz="920" dirty="0"/>
          </a:p>
        </p:txBody>
      </p:sp>
      <p:sp>
        <p:nvSpPr>
          <p:cNvPr id="66" name="Text 64"/>
          <p:cNvSpPr/>
          <p:nvPr/>
        </p:nvSpPr>
        <p:spPr>
          <a:xfrm>
            <a:off x="3246120" y="5687568"/>
            <a:ext cx="146304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 days</a:t>
            </a:r>
            <a:endParaRPr lang="en-US" sz="920" dirty="0"/>
          </a:p>
        </p:txBody>
      </p:sp>
      <p:sp>
        <p:nvSpPr>
          <p:cNvPr id="67" name="Text 65"/>
          <p:cNvSpPr/>
          <p:nvPr/>
        </p:nvSpPr>
        <p:spPr>
          <a:xfrm>
            <a:off x="4800600" y="5687568"/>
            <a:ext cx="128016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45 min</a:t>
            </a:r>
            <a:endParaRPr lang="en-US" sz="920" dirty="0"/>
          </a:p>
        </p:txBody>
      </p:sp>
      <p:sp>
        <p:nvSpPr>
          <p:cNvPr id="68" name="Text 66"/>
          <p:cNvSpPr/>
          <p:nvPr/>
        </p:nvSpPr>
        <p:spPr>
          <a:xfrm>
            <a:off x="6172200" y="5687568"/>
            <a:ext cx="1005840" cy="210312"/>
          </a:xfrm>
          <a:prstGeom prst="rect">
            <a:avLst/>
          </a:prstGeom>
          <a:noFill/>
          <a:ln/>
        </p:spPr>
        <p:txBody>
          <a:bodyPr wrap="square" lIns="0" tIns="0" rIns="0" bIns="0" rtlCol="0" anchor="ctr"/>
          <a:lstStyle/>
          <a:p>
            <a:pPr algn="r" indent="0" marL="0">
              <a:buNone/>
            </a:pPr>
            <a:r>
              <a:rPr lang="en-US" sz="920" b="1" dirty="0">
                <a:solidFill>
                  <a:srgbClr val="2E8B57"/>
                </a:solidFill>
                <a:latin typeface="Calibri" pitchFamily="34" charset="0"/>
                <a:ea typeface="Calibri" pitchFamily="34" charset="-122"/>
                <a:cs typeface="Calibri" pitchFamily="34" charset="-120"/>
              </a:rPr>
              <a:t>≈ 25×</a:t>
            </a:r>
            <a:endParaRPr lang="en-US" sz="920" dirty="0"/>
          </a:p>
        </p:txBody>
      </p:sp>
      <p:sp>
        <p:nvSpPr>
          <p:cNvPr id="69" name="Shape 67"/>
          <p:cNvSpPr/>
          <p:nvPr/>
        </p:nvSpPr>
        <p:spPr>
          <a:xfrm>
            <a:off x="7543800" y="4407408"/>
            <a:ext cx="4187952" cy="1572768"/>
          </a:xfrm>
          <a:prstGeom prst="roundRect">
            <a:avLst>
              <a:gd name="adj" fmla="val 5814"/>
            </a:avLst>
          </a:prstGeom>
          <a:solidFill>
            <a:srgbClr val="16325C"/>
          </a:solidFill>
          <a:ln/>
        </p:spPr>
      </p:sp>
      <p:sp>
        <p:nvSpPr>
          <p:cNvPr id="70" name="Text 68"/>
          <p:cNvSpPr/>
          <p:nvPr/>
        </p:nvSpPr>
        <p:spPr>
          <a:xfrm>
            <a:off x="7772400" y="4498848"/>
            <a:ext cx="3749040" cy="219456"/>
          </a:xfrm>
          <a:prstGeom prst="rect">
            <a:avLst/>
          </a:prstGeom>
          <a:noFill/>
          <a:ln/>
        </p:spPr>
        <p:txBody>
          <a:bodyPr wrap="square" lIns="0" tIns="0" rIns="0" bIns="0" rtlCol="0" anchor="ctr"/>
          <a:lstStyle/>
          <a:p>
            <a:pPr indent="0" marL="0">
              <a:buNone/>
            </a:pPr>
            <a:r>
              <a:rPr lang="en-US" sz="950" b="1" spc="50" kern="0" dirty="0">
                <a:solidFill>
                  <a:srgbClr val="9FB6E0"/>
                </a:solidFill>
                <a:latin typeface="Calibri" pitchFamily="34" charset="0"/>
                <a:ea typeface="Calibri" pitchFamily="34" charset="-122"/>
                <a:cs typeface="Calibri" pitchFamily="34" charset="-120"/>
              </a:rPr>
              <a:t>WHAT THAT BUYS THE PROGRAMME</a:t>
            </a:r>
            <a:endParaRPr lang="en-US" sz="950" dirty="0"/>
          </a:p>
        </p:txBody>
      </p:sp>
      <p:sp>
        <p:nvSpPr>
          <p:cNvPr id="71" name="Text 69"/>
          <p:cNvSpPr/>
          <p:nvPr/>
        </p:nvSpPr>
        <p:spPr>
          <a:xfrm>
            <a:off x="7772400" y="4791456"/>
            <a:ext cx="1280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8–10×</a:t>
            </a:r>
            <a:endParaRPr lang="en-US" sz="1200" dirty="0"/>
          </a:p>
        </p:txBody>
      </p:sp>
      <p:sp>
        <p:nvSpPr>
          <p:cNvPr id="72" name="Text 70"/>
          <p:cNvSpPr/>
          <p:nvPr/>
        </p:nvSpPr>
        <p:spPr>
          <a:xfrm>
            <a:off x="9098280" y="4791456"/>
            <a:ext cx="2468880" cy="310896"/>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more parts costed by the same team</a:t>
            </a:r>
            <a:endParaRPr lang="en-US" sz="900" dirty="0"/>
          </a:p>
        </p:txBody>
      </p:sp>
      <p:sp>
        <p:nvSpPr>
          <p:cNvPr id="73" name="Text 71"/>
          <p:cNvSpPr/>
          <p:nvPr/>
        </p:nvSpPr>
        <p:spPr>
          <a:xfrm>
            <a:off x="7772400" y="5157216"/>
            <a:ext cx="1280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Same answer</a:t>
            </a:r>
            <a:endParaRPr lang="en-US" sz="1200" dirty="0"/>
          </a:p>
        </p:txBody>
      </p:sp>
      <p:sp>
        <p:nvSpPr>
          <p:cNvPr id="74" name="Text 72"/>
          <p:cNvSpPr/>
          <p:nvPr/>
        </p:nvSpPr>
        <p:spPr>
          <a:xfrm>
            <a:off x="9098280" y="5157216"/>
            <a:ext cx="2468880" cy="310896"/>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twice — impossible by hand</a:t>
            </a:r>
            <a:endParaRPr lang="en-US" sz="900" dirty="0"/>
          </a:p>
        </p:txBody>
      </p:sp>
      <p:sp>
        <p:nvSpPr>
          <p:cNvPr id="75" name="Text 73"/>
          <p:cNvSpPr/>
          <p:nvPr/>
        </p:nvSpPr>
        <p:spPr>
          <a:xfrm>
            <a:off x="7772400" y="5522976"/>
            <a:ext cx="1280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During design</a:t>
            </a:r>
            <a:endParaRPr lang="en-US" sz="1200" dirty="0"/>
          </a:p>
        </p:txBody>
      </p:sp>
      <p:sp>
        <p:nvSpPr>
          <p:cNvPr id="76" name="Text 74"/>
          <p:cNvSpPr/>
          <p:nvPr/>
        </p:nvSpPr>
        <p:spPr>
          <a:xfrm>
            <a:off x="9098280" y="5522976"/>
            <a:ext cx="2468880" cy="310896"/>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not after the quote lands</a:t>
            </a:r>
            <a:endParaRPr lang="en-US" sz="900" dirty="0"/>
          </a:p>
        </p:txBody>
      </p:sp>
      <p:sp>
        <p:nvSpPr>
          <p:cNvPr id="77" name="Text 75"/>
          <p:cNvSpPr/>
          <p:nvPr/>
        </p:nvSpPr>
        <p:spPr>
          <a:xfrm>
            <a:off x="457200" y="6089904"/>
            <a:ext cx="11274552"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Timings are planning assumptions for a moderately complex part, not measured results. Replace them with your own after a 20-part pilot — the tool logs its own run times.</a:t>
            </a:r>
            <a:endParaRPr lang="en-US" sz="90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Recognise the recipe</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with a confidence score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one stage the AI owns — and the hard limits on it</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AI</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the measurements from the previous slide — plus the part name and the shape signature. It never sees a price list, and it never sees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514600"/>
          </a:xfrm>
          <a:prstGeom prst="roundRect">
            <a:avLst>
              <a:gd name="adj" fmla="val 3636"/>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sp>
        <p:nvSpPr>
          <p:cNvPr id="31" name="Shape 24"/>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2" name="Text 25"/>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3" name="Text 26"/>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4" name="Shape 27"/>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5" name="Text 28"/>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and it cannot.</a:t>
            </a:r>
            <a:endParaRPr lang="en-US" sz="1200" dirty="0"/>
          </a:p>
        </p:txBody>
      </p:sp>
      <p:sp>
        <p:nvSpPr>
          <p:cNvPr id="36"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and why a 1,600-tonne press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and it flags the choice for the engineer to confirm.</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Who decided all this?  </a:t>
            </a:r>
            <a:pPr indent="0" marL="0">
              <a:buNone/>
            </a:pPr>
            <a:r>
              <a:rPr lang="en-US" sz="1150" b="1" dirty="0">
                <a:solidFill>
                  <a:srgbClr val="6B3FA0"/>
                </a:solidFill>
                <a:latin typeface="Calibri" pitchFamily="34" charset="0"/>
                <a:ea typeface="Calibri" pitchFamily="34" charset="-122"/>
                <a:cs typeface="Calibri" pitchFamily="34" charset="-120"/>
              </a:rPr>
              <a:t>The AI </a:t>
            </a:r>
            <a:pPr indent="0" marL="0">
              <a:buNone/>
            </a:pPr>
            <a:r>
              <a:rPr lang="en-US" sz="1150" dirty="0">
                <a:solidFill>
                  <a:srgbClr val="3A4356"/>
                </a:solidFill>
                <a:latin typeface="Calibri" pitchFamily="34" charset="0"/>
                <a:ea typeface="Calibri" pitchFamily="34" charset="-122"/>
                <a:cs typeface="Calibri" pitchFamily="34" charset="-120"/>
              </a:rPr>
              <a:t>suggested "die casting". </a:t>
            </a:r>
            <a:pPr indent="0" marL="0">
              <a:buNone/>
            </a:pPr>
            <a:r>
              <a:rPr lang="en-US" sz="1150" b="1" dirty="0">
                <a:solidFill>
                  <a:srgbClr val="0E8074"/>
                </a:solidFill>
                <a:latin typeface="Calibri" pitchFamily="34" charset="0"/>
                <a:ea typeface="Calibri" pitchFamily="34" charset="-122"/>
                <a:cs typeface="Calibri" pitchFamily="34" charset="-120"/>
              </a:rPr>
              <a:t>The engine </a:t>
            </a:r>
            <a:pPr indent="0" marL="0">
              <a:buNone/>
            </a:pPr>
            <a:r>
              <a:rPr lang="en-US" sz="1150" dirty="0">
                <a:solidFill>
                  <a:srgbClr val="3A4356"/>
                </a:solidFill>
                <a:latin typeface="Calibri" pitchFamily="34" charset="0"/>
                <a:ea typeface="Calibri" pitchFamily="34" charset="-122"/>
                <a:cs typeface="Calibri" pitchFamily="34" charset="-120"/>
              </a:rPr>
              <a:t>then tested that suggestion against the measured geometry, rejected the alternatives on physical grounds, and sized the press by calculation. </a:t>
            </a:r>
            <a:pPr indent="0" marL="0">
              <a:buNone/>
            </a:pPr>
            <a:r>
              <a:rPr lang="en-US" sz="1150" b="1" dirty="0">
                <a:solidFill>
                  <a:srgbClr val="16325C"/>
                </a:solidFill>
                <a:latin typeface="Calibri" pitchFamily="34" charset="0"/>
                <a:ea typeface="Calibri" pitchFamily="34" charset="-122"/>
                <a:cs typeface="Calibri" pitchFamily="34" charset="-120"/>
              </a:rPr>
              <a:t>The AI proposed; the engine disposed. </a:t>
            </a:r>
            <a:pPr indent="0" marL="0">
              <a:buNone/>
            </a:pPr>
            <a:r>
              <a:rPr lang="en-US" sz="1150" dirty="0">
                <a:solidFill>
                  <a:srgbClr val="3A4356"/>
                </a:solidFill>
                <a:latin typeface="Calibri" pitchFamily="34" charset="0"/>
                <a:ea typeface="Calibri" pitchFamily="34" charset="-122"/>
                <a:cs typeface="Calibri" pitchFamily="34" charset="-120"/>
              </a:rPr>
              <a:t>If the AI had said "sand casting", the 3 mm walls would have overruled it.</a:t>
            </a:r>
            <a:endParaRPr lang="en-US" sz="115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Reads and names it</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Reviews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Confirms every AI call</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AI reads the part.   The engine does every calculation.   A person approves the answer.</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Recognise the recipe</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with a confidence score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274320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the AI is involved, the AI hands back four words and a confidence score, and it still has no access to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 3.16 × wall² . At 3.0 mm that is 28.4 seconds — over half the whole cycle. Wall thickness enters SQUARED, so it is the most powerful lever in moulding.</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2026-08-03T11:03:42Z</dcterms:created>
  <dcterms:modified xsi:type="dcterms:W3CDTF">2026-08-03T11:03:42Z</dcterms:modified>
</cp:coreProperties>
</file>