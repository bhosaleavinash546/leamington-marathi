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6.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±32%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two slides: how the whole thing connects, and what it is worth measured against doing the same job by hand. About eight minutes. Section two is the first worked example — a die-cast aluminium housing, followed through all twelve stages from CAD file to defensible price, including the calculation shown in full so you can check it. Fifteen slides, about twenty-two minutes, and it is the heart of the pack. Section three does the same thing on a completely different part, an injection-moulded bumper fascia, plus paint, plus two findings that I genuinely did not predict. Ten slides, about eighteen minutes. Section four is five minutes on what the tool cannot do. And the strip along the bottom is there because I have been in enough of these meetings. If the hour collapses to ten minutes, take slide three, the two business-case slides, slide twenty-one, slide thirty and slide thirty-two.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3–5</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6–21</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22–31</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32</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4–5 (the business case) · slide 21 (the housing on one page) · slide 30 (the two findings) · slide 32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Rules derive every cost input; the engineer answers what geometry cannot know; the AI is optional.</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19" name="Shape 17"/>
          <p:cNvSpPr/>
          <p:nvPr/>
        </p:nvSpPr>
        <p:spPr>
          <a:xfrm>
            <a:off x="2468880" y="1170432"/>
            <a:ext cx="402336" cy="402336"/>
          </a:xfrm>
          <a:prstGeom prst="ellipse">
            <a:avLst/>
          </a:prstGeom>
          <a:solidFill>
            <a:srgbClr val="6B3FA0"/>
          </a:solidFill>
          <a:ln/>
        </p:spPr>
      </p:sp>
      <p:pic>
        <p:nvPicPr>
          <p:cNvPr id="20"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1" name="Text 18"/>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2" name="Text 19"/>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No prices, no rates, no drawings.</a:t>
            </a:r>
            <a:endParaRPr lang="en-US" sz="870" dirty="0"/>
          </a:p>
        </p:txBody>
      </p:sp>
      <p:sp>
        <p:nvSpPr>
          <p:cNvPr id="23" name="Text 20"/>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4" name="Shape 21"/>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5" name="Text 22"/>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6" name="Text 23"/>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27" name="Shape 24"/>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28" name="Shape 25"/>
          <p:cNvSpPr/>
          <p:nvPr/>
        </p:nvSpPr>
        <p:spPr>
          <a:xfrm>
            <a:off x="685800" y="1874520"/>
            <a:ext cx="3200400" cy="256032"/>
          </a:xfrm>
          <a:prstGeom prst="roundRect">
            <a:avLst>
              <a:gd name="adj" fmla="val 50000"/>
            </a:avLst>
          </a:prstGeom>
          <a:solidFill>
            <a:srgbClr val="0E8074"/>
          </a:solidFill>
          <a:ln/>
        </p:spPr>
      </p:sp>
      <p:sp>
        <p:nvSpPr>
          <p:cNvPr id="29" name="Text 26"/>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0" name="Shape 27"/>
          <p:cNvSpPr/>
          <p:nvPr/>
        </p:nvSpPr>
        <p:spPr>
          <a:xfrm>
            <a:off x="3794760" y="1837944"/>
            <a:ext cx="0" cy="612648"/>
          </a:xfrm>
          <a:prstGeom prst="line">
            <a:avLst/>
          </a:prstGeom>
          <a:noFill/>
          <a:ln w="19050">
            <a:solidFill>
              <a:srgbClr val="6B3FA0"/>
            </a:solidFill>
            <a:prstDash val="dash"/>
            <a:headEnd type="triangle"/>
            <a:tailEnd type="triangle"/>
          </a:ln>
        </p:spPr>
      </p:sp>
      <p:sp>
        <p:nvSpPr>
          <p:cNvPr id="31" name="Text 28"/>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2" name="Shape 29"/>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3" name="Text 30"/>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4" name="Shape 31"/>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5" name="Text 32"/>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6" name="Shape 33"/>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37" name="Text 34"/>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38" name="Shape 35"/>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39" name="Text 36"/>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0" name="Text 37"/>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1" name="Shape 38"/>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3" name="Shape 40"/>
          <p:cNvSpPr/>
          <p:nvPr/>
        </p:nvSpPr>
        <p:spPr>
          <a:xfrm>
            <a:off x="10104120" y="3236976"/>
            <a:ext cx="1645920" cy="621792"/>
          </a:xfrm>
          <a:prstGeom prst="roundRect">
            <a:avLst>
              <a:gd name="adj" fmla="val 10294"/>
            </a:avLst>
          </a:prstGeom>
          <a:solidFill>
            <a:srgbClr val="FFFFFF"/>
          </a:solidFill>
          <a:ln w="12700">
            <a:solidFill>
              <a:srgbClr val="DCE3EE"/>
            </a:solidFill>
            <a:prstDash val="solid"/>
          </a:ln>
        </p:spPr>
      </p:sp>
      <p:sp>
        <p:nvSpPr>
          <p:cNvPr id="44" name="Text 41"/>
          <p:cNvSpPr/>
          <p:nvPr/>
        </p:nvSpPr>
        <p:spPr>
          <a:xfrm>
            <a:off x="10222992" y="323697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5" name="Shape 42"/>
          <p:cNvSpPr/>
          <p:nvPr/>
        </p:nvSpPr>
        <p:spPr>
          <a:xfrm>
            <a:off x="10104120" y="3968496"/>
            <a:ext cx="1645920" cy="621792"/>
          </a:xfrm>
          <a:prstGeom prst="roundRect">
            <a:avLst>
              <a:gd name="adj" fmla="val 10294"/>
            </a:avLst>
          </a:prstGeom>
          <a:solidFill>
            <a:srgbClr val="FFFFFF"/>
          </a:solidFill>
          <a:ln w="12700">
            <a:solidFill>
              <a:srgbClr val="DCE3EE"/>
            </a:solidFill>
            <a:prstDash val="solid"/>
          </a:ln>
        </p:spPr>
      </p:sp>
      <p:sp>
        <p:nvSpPr>
          <p:cNvPr id="46" name="Text 43"/>
          <p:cNvSpPr/>
          <p:nvPr/>
        </p:nvSpPr>
        <p:spPr>
          <a:xfrm>
            <a:off x="10222992" y="396849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47" name="Shape 44"/>
          <p:cNvSpPr/>
          <p:nvPr/>
        </p:nvSpPr>
        <p:spPr>
          <a:xfrm>
            <a:off x="10104120" y="4700016"/>
            <a:ext cx="1645920" cy="621792"/>
          </a:xfrm>
          <a:prstGeom prst="roundRect">
            <a:avLst>
              <a:gd name="adj" fmla="val 10294"/>
            </a:avLst>
          </a:prstGeom>
          <a:solidFill>
            <a:srgbClr val="FFFFFF"/>
          </a:solidFill>
          <a:ln w="12700">
            <a:solidFill>
              <a:srgbClr val="DCE3EE"/>
            </a:solidFill>
            <a:prstDash val="solid"/>
          </a:ln>
        </p:spPr>
      </p:sp>
      <p:sp>
        <p:nvSpPr>
          <p:cNvPr id="48" name="Text 45"/>
          <p:cNvSpPr/>
          <p:nvPr/>
        </p:nvSpPr>
        <p:spPr>
          <a:xfrm>
            <a:off x="10222992" y="470001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49" name="Shape 46"/>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0" name="Shape 47"/>
          <p:cNvSpPr/>
          <p:nvPr/>
        </p:nvSpPr>
        <p:spPr>
          <a:xfrm>
            <a:off x="2734056" y="2560320"/>
            <a:ext cx="310896" cy="310896"/>
          </a:xfrm>
          <a:prstGeom prst="ellipse">
            <a:avLst/>
          </a:prstGeom>
          <a:solidFill>
            <a:srgbClr val="1D6FB8"/>
          </a:solidFill>
          <a:ln/>
        </p:spPr>
      </p:sp>
      <p:pic>
        <p:nvPicPr>
          <p:cNvPr id="51"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2" name="Text 48"/>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3" name="Text 49"/>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4" name="Shape 50"/>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55" name="Shape 51"/>
          <p:cNvSpPr/>
          <p:nvPr/>
        </p:nvSpPr>
        <p:spPr>
          <a:xfrm>
            <a:off x="2734056" y="3822192"/>
            <a:ext cx="310896" cy="310896"/>
          </a:xfrm>
          <a:prstGeom prst="ellipse">
            <a:avLst/>
          </a:prstGeom>
          <a:solidFill>
            <a:srgbClr val="4F46E5"/>
          </a:solidFill>
          <a:ln/>
        </p:spPr>
      </p:sp>
      <p:pic>
        <p:nvPicPr>
          <p:cNvPr id="56"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57" name="Text 52"/>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engine</a:t>
            </a:r>
            <a:endParaRPr lang="en-US" sz="1000" dirty="0"/>
          </a:p>
        </p:txBody>
      </p:sp>
      <p:sp>
        <p:nvSpPr>
          <p:cNvPr id="58" name="Text 53"/>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12 commodities. Derives every cost input from the measurement — cycle, tooling, press, yield.</a:t>
            </a:r>
            <a:endParaRPr lang="en-US" sz="820" dirty="0"/>
          </a:p>
        </p:txBody>
      </p:sp>
      <p:sp>
        <p:nvSpPr>
          <p:cNvPr id="59" name="Shape 54"/>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0" name="Shape 55"/>
          <p:cNvSpPr/>
          <p:nvPr/>
        </p:nvSpPr>
        <p:spPr>
          <a:xfrm>
            <a:off x="2734056" y="5084064"/>
            <a:ext cx="310896" cy="310896"/>
          </a:xfrm>
          <a:prstGeom prst="ellipse">
            <a:avLst/>
          </a:prstGeom>
          <a:solidFill>
            <a:srgbClr val="2E8B57"/>
          </a:solidFill>
          <a:ln/>
        </p:spPr>
      </p:sp>
      <p:pic>
        <p:nvPicPr>
          <p:cNvPr id="61"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2" name="Text 56"/>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3" name="Text 57"/>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4" name="Shape 58"/>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65" name="Shape 59"/>
          <p:cNvSpPr/>
          <p:nvPr/>
        </p:nvSpPr>
        <p:spPr>
          <a:xfrm>
            <a:off x="5020056" y="2560320"/>
            <a:ext cx="310896" cy="310896"/>
          </a:xfrm>
          <a:prstGeom prst="ellipse">
            <a:avLst/>
          </a:prstGeom>
          <a:solidFill>
            <a:srgbClr val="B7791F"/>
          </a:solidFill>
          <a:ln/>
        </p:spPr>
      </p:sp>
      <p:pic>
        <p:nvPicPr>
          <p:cNvPr id="66"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67" name="Text 60"/>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68" name="Text 61"/>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9 sanity checks + physics caps. Measurements beat the AI; AI cycle claims are capped.</a:t>
            </a:r>
            <a:endParaRPr lang="en-US" sz="820" dirty="0"/>
          </a:p>
        </p:txBody>
      </p:sp>
      <p:sp>
        <p:nvSpPr>
          <p:cNvPr id="69" name="Shape 62"/>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0" name="Shape 63"/>
          <p:cNvSpPr/>
          <p:nvPr/>
        </p:nvSpPr>
        <p:spPr>
          <a:xfrm>
            <a:off x="7900416" y="2560320"/>
            <a:ext cx="310896" cy="310896"/>
          </a:xfrm>
          <a:prstGeom prst="ellipse">
            <a:avLst/>
          </a:prstGeom>
          <a:solidFill>
            <a:srgbClr val="0E8074"/>
          </a:solidFill>
          <a:ln/>
        </p:spPr>
      </p:sp>
      <p:pic>
        <p:nvPicPr>
          <p:cNvPr id="71"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2" name="Text 64"/>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3" name="Text 65"/>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4" name="Shape 66"/>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75" name="Shape 67"/>
          <p:cNvSpPr/>
          <p:nvPr/>
        </p:nvSpPr>
        <p:spPr>
          <a:xfrm>
            <a:off x="7900416" y="3822192"/>
            <a:ext cx="310896" cy="310896"/>
          </a:xfrm>
          <a:prstGeom prst="ellipse">
            <a:avLst/>
          </a:prstGeom>
          <a:solidFill>
            <a:srgbClr val="0E8074"/>
          </a:solidFill>
          <a:ln/>
        </p:spPr>
      </p:sp>
      <p:pic>
        <p:nvPicPr>
          <p:cNvPr id="76"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77" name="Text 68"/>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78" name="Text 69"/>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79" name="Shape 70"/>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0" name="Text 71"/>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1" name="Text 72"/>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2" name="Shape 73"/>
          <p:cNvSpPr/>
          <p:nvPr/>
        </p:nvSpPr>
        <p:spPr>
          <a:xfrm>
            <a:off x="4892040" y="3712464"/>
            <a:ext cx="1965960" cy="1444752"/>
          </a:xfrm>
          <a:prstGeom prst="roundRect">
            <a:avLst>
              <a:gd name="adj" fmla="val 6329"/>
            </a:avLst>
          </a:prstGeom>
          <a:solidFill>
            <a:srgbClr val="0E5A5A"/>
          </a:solidFill>
          <a:ln/>
        </p:spPr>
      </p:sp>
      <p:sp>
        <p:nvSpPr>
          <p:cNvPr id="83" name="Shape 74"/>
          <p:cNvSpPr/>
          <p:nvPr/>
        </p:nvSpPr>
        <p:spPr>
          <a:xfrm>
            <a:off x="5632704" y="3840480"/>
            <a:ext cx="457200" cy="457200"/>
          </a:xfrm>
          <a:prstGeom prst="ellipse">
            <a:avLst/>
          </a:prstGeom>
          <a:solidFill>
            <a:srgbClr val="17A398"/>
          </a:solidFill>
          <a:ln/>
        </p:spPr>
      </p:sp>
      <p:pic>
        <p:nvPicPr>
          <p:cNvPr id="84"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85" name="Text 75"/>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86" name="Text 76"/>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87" name="Shape 77"/>
          <p:cNvSpPr/>
          <p:nvPr/>
        </p:nvSpPr>
        <p:spPr>
          <a:xfrm>
            <a:off x="2423160" y="3008376"/>
            <a:ext cx="182880" cy="0"/>
          </a:xfrm>
          <a:prstGeom prst="line">
            <a:avLst/>
          </a:prstGeom>
          <a:noFill/>
          <a:ln w="22225">
            <a:solidFill>
              <a:srgbClr val="1D6FB8"/>
            </a:solidFill>
            <a:prstDash val="solid"/>
            <a:tailEnd type="triangle"/>
          </a:ln>
        </p:spPr>
      </p:sp>
      <p:sp>
        <p:nvSpPr>
          <p:cNvPr id="88" name="Shape 78"/>
          <p:cNvSpPr/>
          <p:nvPr/>
        </p:nvSpPr>
        <p:spPr>
          <a:xfrm>
            <a:off x="2423160" y="5385816"/>
            <a:ext cx="182880" cy="0"/>
          </a:xfrm>
          <a:prstGeom prst="line">
            <a:avLst/>
          </a:prstGeom>
          <a:noFill/>
          <a:ln w="22225">
            <a:solidFill>
              <a:srgbClr val="1D6FB8"/>
            </a:solidFill>
            <a:prstDash val="solid"/>
            <a:tailEnd type="triangle"/>
          </a:ln>
        </p:spPr>
      </p:sp>
      <p:sp>
        <p:nvSpPr>
          <p:cNvPr id="89" name="Shape 79"/>
          <p:cNvSpPr/>
          <p:nvPr/>
        </p:nvSpPr>
        <p:spPr>
          <a:xfrm>
            <a:off x="3566160" y="3566160"/>
            <a:ext cx="0" cy="146304"/>
          </a:xfrm>
          <a:prstGeom prst="line">
            <a:avLst/>
          </a:prstGeom>
          <a:noFill/>
          <a:ln w="22225">
            <a:solidFill>
              <a:srgbClr val="1D6FB8"/>
            </a:solidFill>
            <a:prstDash val="solid"/>
            <a:tailEnd type="triangle"/>
          </a:ln>
        </p:spPr>
      </p:sp>
      <p:sp>
        <p:nvSpPr>
          <p:cNvPr id="90" name="Shape 80"/>
          <p:cNvSpPr/>
          <p:nvPr/>
        </p:nvSpPr>
        <p:spPr>
          <a:xfrm flipV="1">
            <a:off x="3566160" y="4828032"/>
            <a:ext cx="0" cy="146304"/>
          </a:xfrm>
          <a:prstGeom prst="line">
            <a:avLst/>
          </a:prstGeom>
          <a:noFill/>
          <a:ln w="22225">
            <a:solidFill>
              <a:srgbClr val="2E8B57"/>
            </a:solidFill>
            <a:prstDash val="solid"/>
            <a:tailEnd type="triangle"/>
          </a:ln>
        </p:spPr>
      </p:sp>
      <p:sp>
        <p:nvSpPr>
          <p:cNvPr id="91" name="Shape 81"/>
          <p:cNvSpPr/>
          <p:nvPr/>
        </p:nvSpPr>
        <p:spPr>
          <a:xfrm flipH="1">
            <a:off x="4526280" y="3008376"/>
            <a:ext cx="365760" cy="283464"/>
          </a:xfrm>
          <a:prstGeom prst="line">
            <a:avLst/>
          </a:prstGeom>
          <a:noFill/>
          <a:ln w="17780">
            <a:solidFill>
              <a:srgbClr val="B7791F"/>
            </a:solidFill>
            <a:prstDash val="solid"/>
            <a:tailEnd type="triangle"/>
          </a:ln>
        </p:spPr>
      </p:sp>
      <p:sp>
        <p:nvSpPr>
          <p:cNvPr id="92" name="Shape 82"/>
          <p:cNvSpPr/>
          <p:nvPr/>
        </p:nvSpPr>
        <p:spPr>
          <a:xfrm>
            <a:off x="4526280" y="4270248"/>
            <a:ext cx="365760" cy="0"/>
          </a:xfrm>
          <a:prstGeom prst="line">
            <a:avLst/>
          </a:prstGeom>
          <a:noFill/>
          <a:ln w="22225">
            <a:solidFill>
              <a:srgbClr val="4F46E5"/>
            </a:solidFill>
            <a:prstDash val="solid"/>
            <a:tailEnd type="triangle"/>
          </a:ln>
        </p:spPr>
      </p:sp>
      <p:sp>
        <p:nvSpPr>
          <p:cNvPr id="93" name="Shape 83"/>
          <p:cNvSpPr/>
          <p:nvPr/>
        </p:nvSpPr>
        <p:spPr>
          <a:xfrm flipH="1">
            <a:off x="7223760" y="3008376"/>
            <a:ext cx="548640" cy="0"/>
          </a:xfrm>
          <a:prstGeom prst="line">
            <a:avLst/>
          </a:prstGeom>
          <a:noFill/>
          <a:ln w="22225">
            <a:solidFill>
              <a:srgbClr val="0E8074"/>
            </a:solidFill>
            <a:prstDash val="solid"/>
            <a:tailEnd type="triangle"/>
          </a:ln>
        </p:spPr>
      </p:sp>
      <p:sp>
        <p:nvSpPr>
          <p:cNvPr id="94" name="Shape 84"/>
          <p:cNvSpPr/>
          <p:nvPr/>
        </p:nvSpPr>
        <p:spPr>
          <a:xfrm flipH="1">
            <a:off x="6858000" y="3008376"/>
            <a:ext cx="365760" cy="923544"/>
          </a:xfrm>
          <a:prstGeom prst="line">
            <a:avLst/>
          </a:prstGeom>
          <a:noFill/>
          <a:ln w="22225">
            <a:solidFill>
              <a:srgbClr val="0E8074"/>
            </a:solidFill>
            <a:prstDash val="solid"/>
            <a:tailEnd type="triangle"/>
          </a:ln>
        </p:spPr>
      </p:sp>
      <p:sp>
        <p:nvSpPr>
          <p:cNvPr id="95" name="Shape 85"/>
          <p:cNvSpPr/>
          <p:nvPr/>
        </p:nvSpPr>
        <p:spPr>
          <a:xfrm flipH="1">
            <a:off x="6858000" y="4270248"/>
            <a:ext cx="914400" cy="0"/>
          </a:xfrm>
          <a:prstGeom prst="line">
            <a:avLst/>
          </a:prstGeom>
          <a:noFill/>
          <a:ln w="22225">
            <a:solidFill>
              <a:srgbClr val="0E8074"/>
            </a:solidFill>
            <a:prstDash val="solid"/>
            <a:tailEnd type="triangle"/>
          </a:ln>
        </p:spPr>
      </p:sp>
      <p:sp>
        <p:nvSpPr>
          <p:cNvPr id="96" name="Shape 86"/>
          <p:cNvSpPr/>
          <p:nvPr/>
        </p:nvSpPr>
        <p:spPr>
          <a:xfrm>
            <a:off x="6858000" y="4846320"/>
            <a:ext cx="914400" cy="502920"/>
          </a:xfrm>
          <a:prstGeom prst="line">
            <a:avLst/>
          </a:prstGeom>
          <a:noFill/>
          <a:ln w="22225">
            <a:solidFill>
              <a:srgbClr val="2E8B57"/>
            </a:solidFill>
            <a:prstDash val="solid"/>
            <a:tailEnd type="triangle"/>
          </a:ln>
        </p:spPr>
      </p:sp>
      <p:sp>
        <p:nvSpPr>
          <p:cNvPr id="97" name="Shape 87"/>
          <p:cNvSpPr/>
          <p:nvPr/>
        </p:nvSpPr>
        <p:spPr>
          <a:xfrm>
            <a:off x="9692640" y="5440680"/>
            <a:ext cx="411480" cy="0"/>
          </a:xfrm>
          <a:prstGeom prst="line">
            <a:avLst/>
          </a:prstGeom>
          <a:noFill/>
          <a:ln w="22225">
            <a:solidFill>
              <a:srgbClr val="2E8B57"/>
            </a:solidFill>
            <a:prstDash val="solid"/>
            <a:tailEnd type="triangle"/>
          </a:ln>
        </p:spPr>
      </p:sp>
      <p:sp>
        <p:nvSpPr>
          <p:cNvPr id="98" name="Shape 88"/>
          <p:cNvSpPr/>
          <p:nvPr/>
        </p:nvSpPr>
        <p:spPr>
          <a:xfrm>
            <a:off x="9692640" y="3008376"/>
            <a:ext cx="411480" cy="0"/>
          </a:xfrm>
          <a:prstGeom prst="line">
            <a:avLst/>
          </a:prstGeom>
          <a:noFill/>
          <a:ln w="22225">
            <a:solidFill>
              <a:srgbClr val="2E8B57"/>
            </a:solidFill>
            <a:prstDash val="solid"/>
            <a:tailEnd type="triangle"/>
          </a:ln>
        </p:spPr>
      </p:sp>
      <p:sp>
        <p:nvSpPr>
          <p:cNvPr id="99" name="Shape 89"/>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00" name="Text 90"/>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the kernel measures, the rules derive, the engineer answers, the guardrails check, the engine calculates — and the AI is an optional second opinion that can reach none of the money.</a:t>
            </a:r>
            <a:endParaRPr lang="en-US" sz="1050" dirty="0"/>
          </a:p>
        </p:txBody>
      </p:sp>
      <p:sp>
        <p:nvSpPr>
          <p:cNvPr id="101" name="Text 9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02" name="Text 9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87168"/>
            <a:ext cx="5394960" cy="457200"/>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endParaRPr lang="en-US" sz="1200" dirty="0"/>
          </a:p>
        </p:txBody>
      </p:sp>
      <p:sp>
        <p:nvSpPr>
          <p:cNvPr id="30" name="Text 21"/>
          <p:cNvSpPr/>
          <p:nvPr/>
        </p:nvSpPr>
        <p:spPr>
          <a:xfrm>
            <a:off x="457200" y="2798064"/>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806440"/>
            <a:ext cx="5394960" cy="566928"/>
          </a:xfrm>
          <a:prstGeom prst="roundRect">
            <a:avLst>
              <a:gd name="adj" fmla="val 12903"/>
            </a:avLst>
          </a:prstGeom>
          <a:solidFill>
            <a:srgbClr val="EAF6EF"/>
          </a:solidFill>
          <a:ln w="12700">
            <a:solidFill>
              <a:srgbClr val="2E8B57"/>
            </a:solidFill>
            <a:prstDash val="solid"/>
          </a:ln>
        </p:spPr>
      </p:sp>
      <p:sp>
        <p:nvSpPr>
          <p:cNvPr id="71" name="Text 61"/>
          <p:cNvSpPr/>
          <p:nvPr/>
        </p:nvSpPr>
        <p:spPr>
          <a:xfrm>
            <a:off x="621792" y="5806440"/>
            <a:ext cx="5120640" cy="566928"/>
          </a:xfrm>
          <a:prstGeom prst="rect">
            <a:avLst/>
          </a:prstGeom>
          <a:noFill/>
          <a:ln/>
        </p:spPr>
        <p:txBody>
          <a:bodyPr wrap="square" lIns="0" tIns="0" rIns="0" bIns="0" rtlCol="0" anchor="ctr"/>
          <a:lstStyle/>
          <a:p>
            <a:pPr indent="0" marL="0">
              <a:buNone/>
            </a:pPr>
            <a:r>
              <a:rPr lang="en-US" sz="930" b="1" dirty="0">
                <a:solidFill>
                  <a:srgbClr val="2E8B57"/>
                </a:solidFill>
                <a:latin typeface="Calibri" pitchFamily="34" charset="0"/>
                <a:ea typeface="Calibri" pitchFamily="34" charset="-122"/>
                <a:cs typeface="Calibri" pitchFamily="34" charset="-120"/>
              </a:rPr>
              <a:t>Capacity, not headcount:  </a:t>
            </a:r>
            <a:pPr indent="0" marL="0">
              <a:buNone/>
            </a:pPr>
            <a:r>
              <a:rPr lang="en-US" sz="930" dirty="0">
                <a:solidFill>
                  <a:srgbClr val="3A4356"/>
                </a:solidFill>
                <a:latin typeface="Calibri" pitchFamily="34" charset="0"/>
                <a:ea typeface="Calibri" pitchFamily="34" charset="-122"/>
                <a:cs typeface="Calibri" pitchFamily="34" charset="-120"/>
              </a:rPr>
              <a:t>at these times one engineer reviews 15–25 should-costs a day instead of preparing 1–2 — the saved hours go into negotiation, not data entry.</a:t>
            </a:r>
            <a:endParaRPr lang="en-US" sz="93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£25.82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£14.05</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£2.91</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+32%</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15%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 3.16 × wall² . At 3.0 mm that is 28.4 seconds — over half the whole cycle. Wall thickness enters SQUARED, so it is the most powerful lever in moulding.</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2026-08-04T17:59:53Z</dcterms:created>
  <dcterms:modified xsi:type="dcterms:W3CDTF">2026-08-04T17:59:53Z</dcterms:modified>
</cp:coreProperties>
</file>