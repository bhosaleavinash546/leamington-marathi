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four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three business-case slides, slide twenty-five, slide thirty-five and slide thirty-seven.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challenge from our own review was tooling: where do the die and mould numbers come from? Two slides, and everything on them is read out of the source code, not summarised from memory. The method first, five steps, identical across commodities. One: the kernel measures the size drivers — projected area per cavity, volume, faces, holes, undercuts. Two: a parametric build-up prices the tool as a base block plus per-cavity machining plus extras, in constants a toolmaker can argue with individually — six thousand pounds of bolster and ejector system, two and a half thousand plus fifty-five pounds per square centimetre per cavity, three and a half thousand per sliding action. Three: the tool steel follows the programme — the shots you need decide whether it is a prototype tool at roughly half cost or a hardened production tool at one-point-three-five times, and the steel decides the life. Four: life gives the number of tools the programme consumes, and the cost amortises over the annual volume, with tolerance and surface-finish uplifts on top. Five — and this is the confidence point: there are TWO independent estimates, the advisor formula and the geometry kernel’s own B-rep parametric, blended by geometric mean when they both exist; and a real toolmaker quotation overrides both, always. On the right, the two biggest tools with the actual formulas: the injection mould, where the cavity count is itself cost-ranked, and the die-cast die, where every undercut face the kernel counts adds ten thousand pounds of sliding section. On the bumper the advisor and the kernel blend to four hundred and seven thousand; the worked example in this deck uses the four-twenty quotation instead, because a quote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method, three more commodities, and one honest gap. The forging die: a block that scales with the part’s footprint and weight, machining per impression, the die steel as a multiplier, plus heat treatment and polishing — and the life is keyed to the ALLOY, because an aluminium forging is gentle on a die at eighty thousand hits while a superalloy destroys one in three and a half thousand. That alloy-keyed life replaced a flat constant that was over-charging aluminium tooling by a factor of two to four — a defect this engine found and fixed, with the test to prove it. The stamping die: priced by die type and station count, scaled by blank size and by how hard the steel being cut is — and the life law says exactly how much faster boron steel eats a tool than mild steel. The blow mould: per-cavity cost grows with the litres the container holds, the mould material sets both cost and life. Machining has no die — fixtures and programming NRE, amortised the same way. And the gap, said out loud because it builds more confidence than hiding it: investment-casting tooling has no parametric model, so the tool stops and asks for a quotation instead of inventing one. The bottom line is the audit trail: every constant on these two slides lives in a named, unit-tested source file. I did not summarise these formulas from memory — they are read out of the code, and the code is the same code that prices every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3–6</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7–25</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26–36</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37</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4–6 (the business case) · slide 25 (the housing on one page) · slide 35 (the two findings) · slide 37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It cannot set a price, pick a machine, or write a DFM score or saving.</a:t>
            </a:r>
            <a:endParaRPr lang="en-US" sz="870" dirty="0"/>
          </a:p>
        </p:txBody>
      </p:sp>
      <p:sp>
        <p:nvSpPr>
          <p:cNvPr id="26" name="Text 23"/>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Method, and Moulds &amp; Dies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Parametric build-ups from measured geometry — every constant in a named source file, none of it from AI</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kernel measures what tools scale with: projected area per cavity/impression, part volume, bounding box, face count, hole count, undercut count. Nothing is typed in.</a:t>
            </a:r>
            <a:endParaRPr lang="en-US" sz="79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 parametric build-up prices the tool</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Base block + per-cavity (or per-impression / per-station) machining + extras — in £ constants a toolmaker can argue with line by line, not a single opaque number.</a:t>
            </a:r>
            <a:endParaRPr lang="en-US" sz="79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programme sets the tool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Steel class follows the shots the programme needs (annual volume × 5 yr ÷ cavities): prototype ×0.55 · standard P20 ×1.0 · hardened production ×1.35 · high-wear ×1.7 — and the steel sets the life.</a:t>
            </a:r>
            <a:endParaRPr lang="en-US" sz="79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tools needed = ceil(programme shots ÷ tool life); tooling £/part = tool cost × tools ÷ annual volume — then tolerance (×1.0–2.0) and surface-finish (up to ×1.6 painted Class-A) uplifts.</a:t>
            </a:r>
            <a:endParaRPr lang="en-US" sz="79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blended; a quote always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kernel prices the tool independently from the B-rep; when both exist they are geometric-mean blended (sanity-clamped). A toolmaker QUOTATION overrides everything — the £420k bumper mould is an input, never an estimate.</a:t>
            </a:r>
            <a:endParaRPr lang="en-US" sz="79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TWO BIGGEST TOOLS, FORMULA BY FORMULA</a:t>
            </a:r>
            <a:endParaRPr lang="en-US" sz="850" dirty="0"/>
          </a:p>
        </p:txBody>
      </p:sp>
      <p:sp>
        <p:nvSpPr>
          <p:cNvPr id="31" name="Shape 29"/>
          <p:cNvSpPr/>
          <p:nvPr/>
        </p:nvSpPr>
        <p:spPr>
          <a:xfrm>
            <a:off x="6720840" y="1298448"/>
            <a:ext cx="5010912" cy="2212848"/>
          </a:xfrm>
          <a:prstGeom prst="roundRect">
            <a:avLst>
              <a:gd name="adj" fmla="val 3719"/>
            </a:avLst>
          </a:prstGeom>
          <a:solidFill>
            <a:srgbClr val="FFFFFF"/>
          </a:solidFill>
          <a:ln w="15875">
            <a:solidFill>
              <a:srgbClr val="0E8074"/>
            </a:solidFill>
            <a:prstDash val="solid"/>
          </a:ln>
        </p:spPr>
      </p:sp>
      <p:sp>
        <p:nvSpPr>
          <p:cNvPr id="32" name="Text 30"/>
          <p:cNvSpPr/>
          <p:nvPr/>
        </p:nvSpPr>
        <p:spPr>
          <a:xfrm>
            <a:off x="6903720" y="1389888"/>
            <a:ext cx="4663440" cy="201168"/>
          </a:xfrm>
          <a:prstGeom prst="rect">
            <a:avLst/>
          </a:prstGeom>
          <a:noFill/>
          <a:ln/>
        </p:spPr>
        <p:txBody>
          <a:bodyPr wrap="square" lIns="0" tIns="0" rIns="0" bIns="0" rtlCol="0" anchor="ctr"/>
          <a:lstStyle/>
          <a:p>
            <a:pPr indent="0" marL="0">
              <a:buNone/>
            </a:pPr>
            <a:r>
              <a:rPr lang="en-US" sz="880" b="1" dirty="0">
                <a:solidFill>
                  <a:srgbClr val="16325C"/>
                </a:solidFill>
                <a:latin typeface="Courier New" pitchFamily="34" charset="0"/>
                <a:ea typeface="Courier New" pitchFamily="34" charset="-122"/>
                <a:cs typeface="Courier New" pitchFamily="34" charset="-120"/>
              </a:rPr>
              <a:t>INJECTION MOULD  ·  estimateMouldCost()</a:t>
            </a:r>
            <a:endParaRPr lang="en-US" sz="880" dirty="0"/>
          </a:p>
        </p:txBody>
      </p:sp>
      <p:sp>
        <p:nvSpPr>
          <p:cNvPr id="33" name="Text 31"/>
          <p:cNvSpPr/>
          <p:nvPr/>
        </p:nvSpPr>
        <p:spPr>
          <a:xfrm>
            <a:off x="6903720" y="1609344"/>
            <a:ext cx="4709160" cy="457200"/>
          </a:xfrm>
          <a:prstGeom prst="rect">
            <a:avLst/>
          </a:prstGeom>
          <a:noFill/>
          <a:ln/>
        </p:spPr>
        <p:txBody>
          <a:bodyPr wrap="square" lIns="0" tIns="0" rIns="0" bIns="0" rtlCol="0" anchor="t"/>
          <a:lstStyle/>
          <a:p>
            <a:pPr indent="0" marL="0">
              <a:buNone/>
            </a:pPr>
            <a:r>
              <a:rPr lang="en-US" sz="760" dirty="0">
                <a:solidFill>
                  <a:srgbClr val="3A4356"/>
                </a:solidFill>
                <a:latin typeface="Courier New" pitchFamily="34" charset="0"/>
                <a:ea typeface="Courier New" pitchFamily="34" charset="-122"/>
                <a:cs typeface="Courier New" pitchFamily="34" charset="-120"/>
              </a:rPr>
              <a:t>total = [ £6,000 base  +  (£2,500 + area/cavity × £55) × n^0.9 ] × steel factor</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        + side-actions × £3,500  +  hot runner (£4,000 + £2,500 per drop)</a:t>
            </a:r>
            <a:endParaRPr lang="en-US" sz="760" dirty="0"/>
          </a:p>
        </p:txBody>
      </p:sp>
      <p:sp>
        <p:nvSpPr>
          <p:cNvPr id="34" name="Text 32"/>
          <p:cNvSpPr/>
          <p:nvPr/>
        </p:nvSpPr>
        <p:spPr>
          <a:xfrm>
            <a:off x="6903720" y="2103120"/>
            <a:ext cx="4709160" cy="1335024"/>
          </a:xfrm>
          <a:prstGeom prst="rect">
            <a:avLst/>
          </a:prstGeom>
          <a:noFill/>
          <a:ln/>
        </p:spPr>
        <p:txBody>
          <a:bodyPr wrap="square" lIns="0" tIns="0" rIns="0" bIns="0" rtlCol="0" anchor="t"/>
          <a:lstStyle/>
          <a:p>
            <a:pPr indent="0" marL="0">
              <a:buNone/>
            </a:pPr>
            <a:r>
              <a:rPr lang="en-US" sz="800" b="1" dirty="0">
                <a:solidFill>
                  <a:srgbClr val="0E8074"/>
                </a:solidFill>
                <a:latin typeface="Calibri" pitchFamily="34" charset="0"/>
                <a:ea typeface="Calibri" pitchFamily="34" charset="-122"/>
                <a:cs typeface="Calibri" pitchFamily="34" charset="-120"/>
              </a:rPr>
              <a:t>Why n^0.9: </a:t>
            </a:r>
            <a:pPr indent="0" marL="0">
              <a:buNone/>
            </a:pPr>
            <a:r>
              <a:rPr lang="en-US" sz="800" dirty="0">
                <a:solidFill>
                  <a:srgbClr val="3A4356"/>
                </a:solidFill>
                <a:latin typeface="Calibri" pitchFamily="34" charset="0"/>
                <a:ea typeface="Calibri" pitchFamily="34" charset="-122"/>
                <a:cs typeface="Calibri" pitchFamily="34" charset="-120"/>
              </a:rPr>
              <a:t>the Nth identical cavity is cheaper than the first — and the cavity count itself is COST-RANKED (mould NRE vs cycle share per candidate, losers printed in the trace).
</a:t>
            </a:r>
            <a:pPr indent="0" marL="0">
              <a:buNone/>
            </a:pPr>
            <a:r>
              <a:rPr lang="en-US" sz="800" b="1" dirty="0">
                <a:solidFill>
                  <a:srgbClr val="16325C"/>
                </a:solidFill>
                <a:latin typeface="Calibri" pitchFamily="34" charset="0"/>
                <a:ea typeface="Calibri" pitchFamily="34" charset="-122"/>
                <a:cs typeface="Calibri" pitchFamily="34" charset="-120"/>
              </a:rPr>
              <a:t>The bumper, worked: </a:t>
            </a:r>
            <a:pPr indent="0" marL="0">
              <a:buNone/>
            </a:pPr>
            <a:r>
              <a:rPr lang="en-US" sz="800" dirty="0">
                <a:solidFill>
                  <a:srgbClr val="3A4356"/>
                </a:solidFill>
                <a:latin typeface="Calibri" pitchFamily="34" charset="0"/>
                <a:ea typeface="Calibri" pitchFamily="34" charset="-122"/>
                <a:cs typeface="Calibri" pitchFamily="34" charset="-120"/>
              </a:rPr>
              <a:t>1 cavity (2-up needs 7,388 t &gt; the 3,500 t largest press) × 9,000 cm² × production steel + 3 slides → advisor estimate ⊕ kernel’s independent £412k B-rep parametric, geometric mean → £407k. The deck’s worked example uses the £420k toolmaker quotation instead — because a quote always wins.</a:t>
            </a:r>
            <a:endParaRPr lang="en-US" sz="800" dirty="0"/>
          </a:p>
        </p:txBody>
      </p:sp>
      <p:sp>
        <p:nvSpPr>
          <p:cNvPr id="35" name="Shape 33"/>
          <p:cNvSpPr/>
          <p:nvPr/>
        </p:nvSpPr>
        <p:spPr>
          <a:xfrm>
            <a:off x="6720840" y="3639312"/>
            <a:ext cx="5010912" cy="2103120"/>
          </a:xfrm>
          <a:prstGeom prst="roundRect">
            <a:avLst>
              <a:gd name="adj" fmla="val 3913"/>
            </a:avLst>
          </a:prstGeom>
          <a:solidFill>
            <a:srgbClr val="FFFFFF"/>
          </a:solidFill>
          <a:ln w="15875">
            <a:solidFill>
              <a:srgbClr val="0E8074"/>
            </a:solidFill>
            <a:prstDash val="solid"/>
          </a:ln>
        </p:spPr>
      </p:sp>
      <p:sp>
        <p:nvSpPr>
          <p:cNvPr id="36" name="Text 34"/>
          <p:cNvSpPr/>
          <p:nvPr/>
        </p:nvSpPr>
        <p:spPr>
          <a:xfrm>
            <a:off x="6903720" y="3730752"/>
            <a:ext cx="4663440" cy="201168"/>
          </a:xfrm>
          <a:prstGeom prst="rect">
            <a:avLst/>
          </a:prstGeom>
          <a:noFill/>
          <a:ln/>
        </p:spPr>
        <p:txBody>
          <a:bodyPr wrap="square" lIns="0" tIns="0" rIns="0" bIns="0" rtlCol="0" anchor="ctr"/>
          <a:lstStyle/>
          <a:p>
            <a:pPr indent="0" marL="0">
              <a:buNone/>
            </a:pPr>
            <a:r>
              <a:rPr lang="en-US" sz="880" b="1" dirty="0">
                <a:solidFill>
                  <a:srgbClr val="16325C"/>
                </a:solidFill>
                <a:latin typeface="Courier New" pitchFamily="34" charset="0"/>
                <a:ea typeface="Courier New" pitchFamily="34" charset="-122"/>
                <a:cs typeface="Courier New" pitchFamily="34" charset="-120"/>
              </a:rPr>
              <a:t>HPDC DIE  ·  kernel parametric (B-rep)</a:t>
            </a:r>
            <a:endParaRPr lang="en-US" sz="880" dirty="0"/>
          </a:p>
        </p:txBody>
      </p:sp>
      <p:sp>
        <p:nvSpPr>
          <p:cNvPr id="37" name="Text 35"/>
          <p:cNvSpPr/>
          <p:nvPr/>
        </p:nvSpPr>
        <p:spPr>
          <a:xfrm>
            <a:off x="6903720" y="3950208"/>
            <a:ext cx="4709160" cy="603504"/>
          </a:xfrm>
          <a:prstGeom prst="rect">
            <a:avLst/>
          </a:prstGeom>
          <a:noFill/>
          <a:ln/>
        </p:spPr>
        <p:txBody>
          <a:bodyPr wrap="square" lIns="0" tIns="0" rIns="0" bIns="0" rtlCol="0" anchor="t"/>
          <a:lstStyle/>
          <a:p>
            <a:pPr indent="0" marL="0">
              <a:buNone/>
            </a:pPr>
            <a:r>
              <a:rPr lang="en-US" sz="760" dirty="0">
                <a:solidFill>
                  <a:srgbClr val="3A4356"/>
                </a:solidFill>
                <a:latin typeface="Courier New" pitchFamily="34" charset="0"/>
                <a:ea typeface="Courier New" pitchFamily="34" charset="-122"/>
                <a:cs typeface="Courier New" pitchFamily="34" charset="-120"/>
              </a:rPr>
              <a:t>complexity = faces × £150 + holes × £400 + undercuts × £10,000</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die = complexity × (bbox litres)^0.45, floored £40k/£80k/£120k by</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shot weight, capped £300k   ·   die life: 150,000 shots</a:t>
            </a:r>
            <a:endParaRPr lang="en-US" sz="760" dirty="0"/>
          </a:p>
        </p:txBody>
      </p:sp>
      <p:sp>
        <p:nvSpPr>
          <p:cNvPr id="38" name="Text 36"/>
          <p:cNvSpPr/>
          <p:nvPr/>
        </p:nvSpPr>
        <p:spPr>
          <a:xfrm>
            <a:off x="6903720" y="4572000"/>
            <a:ext cx="4709160" cy="1097280"/>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Every undercut face the kernel counts is £10,000 of sliding tool section </a:t>
            </a:r>
            <a:pPr indent="0" marL="0">
              <a:buNone/>
            </a:pPr>
            <a:r>
              <a:rPr lang="en-US" sz="800" dirty="0">
                <a:solidFill>
                  <a:srgbClr val="3A4356"/>
                </a:solidFill>
                <a:latin typeface="Calibri" pitchFamily="34" charset="0"/>
                <a:ea typeface="Calibri" pitchFamily="34" charset="-122"/>
                <a:cs typeface="Calibri" pitchFamily="34" charset="-120"/>
              </a:rPr>
              <a:t>— the die price moves with measured features, not with anyone’s optimism. Gravity moulds and sand patterns have their own kernel parametrics (sand: £1.5k–£50k, complexity-driven). Life bands: HPDC 150k · gravity 50k · sand 8k · investment 5k shots.</a:t>
            </a:r>
            <a:endParaRPr lang="en-US" sz="800" dirty="0"/>
          </a:p>
        </p:txBody>
      </p:sp>
      <p:sp>
        <p:nvSpPr>
          <p:cNvPr id="39" name="Shape 37"/>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0" name="Text 38"/>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parametric build-up from measured geometry, steel class from the programme volume, life from the steel, amortised over the tools the programme actually consumes — and a real quotation beats the estimate every time.</a:t>
            </a:r>
            <a:endParaRPr lang="en-US" sz="980" dirty="0"/>
          </a:p>
        </p:txBody>
      </p:sp>
      <p:sp>
        <p:nvSpPr>
          <p:cNvPr id="41" name="Text 3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2" name="Text 4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method, commodity by commodity — with the honest gap stated</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estimateForgingDieCost() / DieLife()</a:t>
            </a:r>
            <a:endParaRPr lang="en-US" sz="840" dirty="0"/>
          </a:p>
        </p:txBody>
      </p:sp>
      <p:sp>
        <p:nvSpPr>
          <p:cNvPr id="7" name="Text 5"/>
          <p:cNvSpPr/>
          <p:nvPr/>
        </p:nvSpPr>
        <p:spPr>
          <a:xfrm>
            <a:off x="640080" y="1426464"/>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die = [ £6,000 + area × £45 + part kg × £250 ] × die steel</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impressions × (£3,500 + area × £55) × complexity × steel</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heat treat (£2,500 + area × £6) + polish £800/impression</a:t>
            </a:r>
            <a:endParaRPr lang="en-US" sz="720" dirty="0"/>
          </a:p>
        </p:txBody>
      </p:sp>
      <p:sp>
        <p:nvSpPr>
          <p:cNvPr id="8" name="Text 6"/>
          <p:cNvSpPr/>
          <p:nvPr/>
        </p:nvSpPr>
        <p:spPr>
          <a:xfrm>
            <a:off x="640080" y="2121408"/>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Die steel: hammer ×0.85 · H13 ×1.0 · premium ×1.4. Complexity ×0.8–1.4. LIFE IS ALLOY-KEYED — aluminium 80k · carbon steel 40k · alloy steel 30k · stainless 18k · titanium 8k · superalloy 3,500 hits — × complexity (0.6–1.3) × size penalty (100/area)^0.2. A flat die life was a live defect this engine fixed: it over-charged aluminium tooling 2–4× and under-charged titanium.</a:t>
            </a:r>
            <a:endParaRPr lang="en-US" sz="79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estimateStampingDieCost() / DieLife()</a:t>
            </a:r>
            <a:endParaRPr lang="en-US" sz="840" dirty="0"/>
          </a:p>
        </p:txBody>
      </p:sp>
      <p:sp>
        <p:nvSpPr>
          <p:cNvPr id="11" name="Text 9"/>
          <p:cNvSpPr/>
          <p:nvPr/>
        </p:nvSpPr>
        <p:spPr>
          <a:xfrm>
            <a:off x="6382512" y="1426464"/>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die = (base + stations × per-station) × size × hardness</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size = 0.5 + blank cm²/500      hardness: mild 1.0 → boron ≈1.8</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single £6k+£2.5k/stn · progressive £12k+£6k/stn · transfer £20k+£9k/stn · fine-blank £30k+£12k/stn</a:t>
            </a:r>
            <a:endParaRPr lang="en-US" sz="720" dirty="0"/>
          </a:p>
        </p:txBody>
      </p:sp>
      <p:sp>
        <p:nvSpPr>
          <p:cNvPr id="12" name="Text 10"/>
          <p:cNvSpPr/>
          <p:nvPr/>
        </p:nvSpPr>
        <p:spPr>
          <a:xfrm>
            <a:off x="6382512" y="2121408"/>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Life = 1M × (300 ÷ shear MPa)^1.3 × thickness factor × 0.6 if fine-blanking, clamped 50k–3M strokes. Harder, thicker steel wears the tool faster and the formula says by how much.</a:t>
            </a:r>
            <a:endParaRPr lang="en-US" sz="79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estimateBlowMouldCost()</a:t>
            </a:r>
            <a:endParaRPr lang="en-US" sz="840" dirty="0"/>
          </a:p>
        </p:txBody>
      </p:sp>
      <p:sp>
        <p:nvSpPr>
          <p:cNvPr id="15" name="Text 13"/>
          <p:cNvSpPr/>
          <p:nvPr/>
        </p:nvSpPr>
        <p:spPr>
          <a:xfrm>
            <a:off x="640080" y="3767328"/>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mould = [ base £4k–£7k + (process £1.8k–£3.8k + litres × £900) × n^0.9 ]</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mould material  +  cooling 6% (15% high-cooling)</a:t>
            </a:r>
            <a:endParaRPr lang="en-US" sz="720" dirty="0"/>
          </a:p>
        </p:txBody>
      </p:sp>
      <p:sp>
        <p:nvSpPr>
          <p:cNvPr id="16" name="Text 14"/>
          <p:cNvSpPr/>
          <p:nvPr/>
        </p:nvSpPr>
        <p:spPr>
          <a:xfrm>
            <a:off x="640080" y="4462272"/>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EBM aluminium is the workhorse; IBM/SBM carry a core-rod/preform premium. Life follows the mould material: aluminium 500k · P20 1M · H13 2M shots.</a:t>
            </a:r>
            <a:endParaRPr lang="en-US" sz="79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MACHINING · CAST+MACHINE · THE HONEST GAP</a:t>
            </a:r>
            <a:endParaRPr lang="en-US" sz="840" dirty="0"/>
          </a:p>
        </p:txBody>
      </p:sp>
      <p:sp>
        <p:nvSpPr>
          <p:cNvPr id="19" name="Text 17"/>
          <p:cNvSpPr/>
          <p:nvPr/>
        </p:nvSpPr>
        <p:spPr>
          <a:xfrm>
            <a:off x="6382512" y="3767328"/>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No die: fixtures + CNC programming NRE (cast+machine books £15,000</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of secondary-machining NRE), amortised over annual volume.</a:t>
            </a:r>
            <a:endParaRPr lang="en-US" sz="720" dirty="0"/>
          </a:p>
        </p:txBody>
      </p:sp>
      <p:sp>
        <p:nvSpPr>
          <p:cNvPr id="20" name="Text 18"/>
          <p:cNvSpPr/>
          <p:nvPr/>
        </p:nvSpPr>
        <p:spPr>
          <a:xfrm>
            <a:off x="6382512" y="4462272"/>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And the former gap, now closed by the tooling deep-dive: INVESTMENT-CASTING tooling is priced as what it physically is — a wax-injection tool is an aluminium/P20 mould at low pressure, so the mould shop model prices it. A toolmaker quotation still overrides every estimate on this slide.</a:t>
            </a:r>
            <a:endParaRPr lang="en-US" sz="79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80" dirty="0">
                <a:solidFill>
                  <a:srgbClr val="3A4356"/>
                </a:solidFill>
                <a:latin typeface="Calibri" pitchFamily="34" charset="0"/>
                <a:ea typeface="Calibri" pitchFamily="34" charset="-122"/>
                <a:cs typeface="Calibri" pitchFamily="34" charset="-120"/>
              </a:rPr>
              <a:t>every tool is now priced the way a toolmaker quotes it — design/CNC/EDM/polish/fitting/tryout hours × toolroom rates, steel by the kilogram, bought-outs each, the shop’s 22% overhead as its own line (toolmaking.ts + the estimators; the bumper mould lands £423,985 against its £420k real quotation) — auditable line by line, changed only by a code review, and never written by an AI.</a:t>
            </a:r>
            <a:endParaRPr lang="en-US" sz="98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2026-08-05T09:00:01Z</dcterms:created>
  <dcterms:modified xsi:type="dcterms:W3CDTF">2026-08-05T09:00:01Z</dcterms:modified>
</cp:coreProperties>
</file>