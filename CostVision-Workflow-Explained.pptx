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thirty-seven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slideLayout" Target="../slideLayouts/slideLayout1.xml"/><Relationship Id="rId8"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3–7</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8–26</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27–37</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38</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5–7 (the business case) · slide 26 (the housing on one page) · slide 36 (the two findings) · slide 38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36776"/>
            <a:ext cx="397764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Routable to a private endpoint · AIR_GAPPED=1 refuses the call — CAD costing still works</a:t>
            </a:r>
            <a:endParaRPr lang="en-US" sz="76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AI vision reads it (↑)</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423160" y="3008376"/>
            <a:ext cx="182880" cy="0"/>
          </a:xfrm>
          <a:prstGeom prst="line">
            <a:avLst/>
          </a:prstGeom>
          <a:noFill/>
          <a:ln w="22225">
            <a:solidFill>
              <a:srgbClr val="1D6FB8"/>
            </a:solidFill>
            <a:prstDash val="solid"/>
            <a:tailEnd type="triangle"/>
          </a:ln>
        </p:spPr>
      </p:sp>
      <p:sp>
        <p:nvSpPr>
          <p:cNvPr id="61" name="Shape 53"/>
          <p:cNvSpPr/>
          <p:nvPr/>
        </p:nvSpPr>
        <p:spPr>
          <a:xfrm>
            <a:off x="3611880" y="3566160"/>
            <a:ext cx="0" cy="146304"/>
          </a:xfrm>
          <a:prstGeom prst="line">
            <a:avLst/>
          </a:prstGeom>
          <a:noFill/>
          <a:ln w="22225">
            <a:solidFill>
              <a:srgbClr val="4F46E5"/>
            </a:solidFill>
            <a:prstDash val="solid"/>
            <a:tailEnd type="triangle"/>
          </a:ln>
        </p:spPr>
      </p:sp>
      <p:sp>
        <p:nvSpPr>
          <p:cNvPr id="62" name="Shape 54"/>
          <p:cNvSpPr/>
          <p:nvPr/>
        </p:nvSpPr>
        <p:spPr>
          <a:xfrm>
            <a:off x="4754880" y="3008376"/>
            <a:ext cx="228600" cy="0"/>
          </a:xfrm>
          <a:prstGeom prst="line">
            <a:avLst/>
          </a:prstGeom>
          <a:noFill/>
          <a:ln w="22225">
            <a:solidFill>
              <a:srgbClr val="4F46E5"/>
            </a:solidFill>
            <a:prstDash val="solid"/>
            <a:tailEnd type="triangle"/>
          </a:ln>
        </p:spPr>
      </p:sp>
      <p:sp>
        <p:nvSpPr>
          <p:cNvPr id="63" name="Shape 55"/>
          <p:cNvSpPr/>
          <p:nvPr/>
        </p:nvSpPr>
        <p:spPr>
          <a:xfrm flipV="1">
            <a:off x="4754880" y="3520440"/>
            <a:ext cx="228600" cy="749808"/>
          </a:xfrm>
          <a:prstGeom prst="line">
            <a:avLst/>
          </a:prstGeom>
          <a:noFill/>
          <a:ln w="17780">
            <a:solidFill>
              <a:srgbClr val="4F46E5"/>
            </a:solidFill>
            <a:prstDash val="solid"/>
            <a:tailEnd type="triangle"/>
          </a:ln>
        </p:spPr>
      </p:sp>
      <p:sp>
        <p:nvSpPr>
          <p:cNvPr id="64" name="Shape 56"/>
          <p:cNvSpPr/>
          <p:nvPr/>
        </p:nvSpPr>
        <p:spPr>
          <a:xfrm>
            <a:off x="7086600" y="3063240"/>
            <a:ext cx="411480" cy="0"/>
          </a:xfrm>
          <a:prstGeom prst="line">
            <a:avLst/>
          </a:prstGeom>
          <a:noFill/>
          <a:ln w="22225">
            <a:solidFill>
              <a:srgbClr val="B7791F"/>
            </a:solidFill>
            <a:prstDash val="solid"/>
            <a:tailEnd type="triangle"/>
          </a:ln>
        </p:spPr>
      </p:sp>
      <p:sp>
        <p:nvSpPr>
          <p:cNvPr id="65" name="Shape 57"/>
          <p:cNvSpPr/>
          <p:nvPr/>
        </p:nvSpPr>
        <p:spPr>
          <a:xfrm flipH="1">
            <a:off x="7086600" y="4773168"/>
            <a:ext cx="411480" cy="347472"/>
          </a:xfrm>
          <a:prstGeom prst="line">
            <a:avLst/>
          </a:prstGeom>
          <a:noFill/>
          <a:ln w="17780">
            <a:solidFill>
              <a:srgbClr val="0E8074"/>
            </a:solidFill>
            <a:prstDash val="solid"/>
            <a:tailEnd type="triangle"/>
          </a:ln>
        </p:spPr>
      </p:sp>
      <p:sp>
        <p:nvSpPr>
          <p:cNvPr id="66" name="Shape 58"/>
          <p:cNvSpPr/>
          <p:nvPr/>
        </p:nvSpPr>
        <p:spPr>
          <a:xfrm flipV="1">
            <a:off x="6035040" y="3685032"/>
            <a:ext cx="0" cy="1161288"/>
          </a:xfrm>
          <a:prstGeom prst="line">
            <a:avLst/>
          </a:prstGeom>
          <a:noFill/>
          <a:ln w="17780">
            <a:solidFill>
              <a:srgbClr val="2E8B57"/>
            </a:solidFill>
            <a:prstDash val="solid"/>
            <a:tailEnd type="triangle"/>
          </a:ln>
        </p:spPr>
      </p:sp>
      <p:sp>
        <p:nvSpPr>
          <p:cNvPr id="67" name="Shape 59"/>
          <p:cNvSpPr/>
          <p:nvPr/>
        </p:nvSpPr>
        <p:spPr>
          <a:xfrm>
            <a:off x="9784080" y="3246120"/>
            <a:ext cx="320040" cy="0"/>
          </a:xfrm>
          <a:prstGeom prst="line">
            <a:avLst/>
          </a:prstGeom>
          <a:noFill/>
          <a:ln w="22225">
            <a:solidFill>
              <a:srgbClr val="2E8B57"/>
            </a:solidFill>
            <a:prstDash val="solid"/>
            <a:tailEnd type="triangle"/>
          </a:ln>
        </p:spPr>
      </p:sp>
      <p:sp>
        <p:nvSpPr>
          <p:cNvPr id="68" name="Shape 60"/>
          <p:cNvSpPr/>
          <p:nvPr/>
        </p:nvSpPr>
        <p:spPr>
          <a:xfrm>
            <a:off x="9784080" y="4754880"/>
            <a:ext cx="320040" cy="685800"/>
          </a:xfrm>
          <a:prstGeom prst="line">
            <a:avLst/>
          </a:prstGeom>
          <a:noFill/>
          <a:ln w="17780">
            <a:solidFill>
              <a:srgbClr val="2E8B57"/>
            </a:solidFill>
            <a:prstDash val="solid"/>
            <a:tailEnd type="triangle"/>
          </a:ln>
        </p:spPr>
      </p:sp>
      <p:sp>
        <p:nvSpPr>
          <p:cNvPr id="69" name="Shape 61"/>
          <p:cNvSpPr/>
          <p:nvPr/>
        </p:nvSpPr>
        <p:spPr>
          <a:xfrm>
            <a:off x="4197096" y="2368296"/>
            <a:ext cx="548640" cy="155448"/>
          </a:xfrm>
          <a:prstGeom prst="roundRect">
            <a:avLst>
              <a:gd name="adj" fmla="val 50000"/>
            </a:avLst>
          </a:prstGeom>
          <a:solidFill>
            <a:srgbClr val="4F46E5"/>
          </a:solidFill>
          <a:ln/>
        </p:spPr>
      </p:sp>
      <p:sp>
        <p:nvSpPr>
          <p:cNvPr id="70" name="Text 62"/>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1" name="Shape 63"/>
          <p:cNvSpPr/>
          <p:nvPr/>
        </p:nvSpPr>
        <p:spPr>
          <a:xfrm>
            <a:off x="4197096" y="3630168"/>
            <a:ext cx="548640" cy="155448"/>
          </a:xfrm>
          <a:prstGeom prst="roundRect">
            <a:avLst>
              <a:gd name="adj" fmla="val 50000"/>
            </a:avLst>
          </a:prstGeom>
          <a:solidFill>
            <a:srgbClr val="4F46E5"/>
          </a:solidFill>
          <a:ln/>
        </p:spPr>
      </p:sp>
      <p:sp>
        <p:nvSpPr>
          <p:cNvPr id="72" name="Text 64"/>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3" name="Shape 65"/>
          <p:cNvSpPr/>
          <p:nvPr/>
        </p:nvSpPr>
        <p:spPr>
          <a:xfrm>
            <a:off x="6528816" y="2368296"/>
            <a:ext cx="548640" cy="155448"/>
          </a:xfrm>
          <a:prstGeom prst="roundRect">
            <a:avLst>
              <a:gd name="adj" fmla="val 50000"/>
            </a:avLst>
          </a:prstGeom>
          <a:solidFill>
            <a:srgbClr val="B7791F"/>
          </a:solidFill>
          <a:ln/>
        </p:spPr>
      </p:sp>
      <p:sp>
        <p:nvSpPr>
          <p:cNvPr id="74" name="Text 66"/>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5" name="Shape 67"/>
          <p:cNvSpPr/>
          <p:nvPr/>
        </p:nvSpPr>
        <p:spPr>
          <a:xfrm>
            <a:off x="9226296" y="2368296"/>
            <a:ext cx="548640" cy="155448"/>
          </a:xfrm>
          <a:prstGeom prst="roundRect">
            <a:avLst>
              <a:gd name="adj" fmla="val 50000"/>
            </a:avLst>
          </a:prstGeom>
          <a:solidFill>
            <a:srgbClr val="0E8074"/>
          </a:solidFill>
          <a:ln/>
        </p:spPr>
      </p:sp>
      <p:sp>
        <p:nvSpPr>
          <p:cNvPr id="76" name="Text 68"/>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7" name="Shape 69"/>
          <p:cNvSpPr/>
          <p:nvPr/>
        </p:nvSpPr>
        <p:spPr>
          <a:xfrm>
            <a:off x="9226296" y="4270248"/>
            <a:ext cx="548640" cy="155448"/>
          </a:xfrm>
          <a:prstGeom prst="roundRect">
            <a:avLst>
              <a:gd name="adj" fmla="val 50000"/>
            </a:avLst>
          </a:prstGeom>
          <a:solidFill>
            <a:srgbClr val="0E8074"/>
          </a:solidFill>
          <a:ln/>
        </p:spPr>
      </p:sp>
      <p:sp>
        <p:nvSpPr>
          <p:cNvPr id="78" name="Text 70"/>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9" name="Shape 71"/>
          <p:cNvSpPr/>
          <p:nvPr/>
        </p:nvSpPr>
        <p:spPr>
          <a:xfrm>
            <a:off x="6528816" y="4764024"/>
            <a:ext cx="548640" cy="155448"/>
          </a:xfrm>
          <a:prstGeom prst="roundRect">
            <a:avLst>
              <a:gd name="adj" fmla="val 50000"/>
            </a:avLst>
          </a:prstGeom>
          <a:solidFill>
            <a:srgbClr val="2E8B57"/>
          </a:solidFill>
          <a:ln/>
        </p:spPr>
      </p:sp>
      <p:sp>
        <p:nvSpPr>
          <p:cNvPr id="80" name="Text 72"/>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1" name="Shape 73"/>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2" name="Text 74"/>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3"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4"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~37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2026-08-05T11:11:21Z</dcterms:created>
  <dcterms:modified xsi:type="dcterms:W3CDTF">2026-08-05T11:11:21Z</dcterms:modified>
</cp:coreProperties>
</file>