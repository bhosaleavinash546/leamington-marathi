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6.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AI reads the part, the costing engine does every calculation, and a person approves the answer.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four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 three, the three business-case slides, slide twenty-five, slide thirty-five and slide thirty-seven.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 Three annotations on this version of the picture, from questions this room asked. Every box badged AUTO runs unattended — the only HUMAN badge on the slide is the engineer, answering material, duty, volume and region, and approving. WHO picks the machine and the tonnage: the indigo rules-and-optimisers box — presses and dies sized by clamp and forming physics, and the machining routing and mould cavitation actually cost-ranked, with the losing options printed in the trace. And WHERE the DFM, DFA and saving ideas come from: the cost engine itself — rule thresholds and geometry advisors, every idea priced — not from the AI; you can see that on the outputs column now, and it is verified in the source code. Two more things this version of the picture carries. The little green card top-left is why to believe the boxes: the tool is deterministic — same file and same answers give the same price, every time; twelve of the eighteen commodities are fully rules-driven and the slide says so honestly; the arithmetic sits behind roughly one and a half thousand automated tests; and it has been validated against six real parts with independent manual costs, at about thirteen percent fleet error. And the small dashed arrow feeding back into the local database is the flywheel: every won quote and real invoice we record calibrates the estimates and tightens the confidence band — this is a tool that gets better the more we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is the real argument — this is capacity, not headcount.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thirty-seven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fifteen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AI reads.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AI. This is the one stage out of twelve that it owns, so let us be precise about it. What is it given? Only the measurements from the previous slide, plus the part name. It does not see a price list. It does not see our rate library. It cannot see what the answer ought to be. What does it say back? Four things. The material family — an aluminium die-casting alloy. How it is made — high-pressure die casting, meaning molten aluminium injected into a steel mould under very high pressure. What happens next — machine finishing. And how sure it is: eighty-four percent. Now the red box, which is the answer to "but what if the AI gets it wrong". The AI cannot set a price or any part of a price. It cannot change a measured dimension or the weight. It cannot choose the machine or the cycle time. It cannot touch the rate library. And it cannot override a safety check. Those are not rules we ask it to follow — it has no access to any of those things. One more thing on the confidence score, because it does real work. At eighty-four percent the tool proceeds but flags the call for review. There is a hard rule in the code: if the material confidence falls below fifty percent, a warning fires that says the suggestion is a coin toss and asks for a part photo or a manual confirmation, and that warning stays attached to the result until a person clears it. A confident-sounding wrong answer is the most dangerous thing an AI can give you, so we make the uncertainty visible rather than hiding it. In plain terms: the AI does what an experienced engineer does in the first ten seconds of picking up a part. It saves setup time. It does not do the costing, and it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First, the process. The AI suggested die casting, but the engine does not simply accept that.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is rejected because you would cut away about eighty percent of the metal — absurd on cost. Gravity die casting is rejected because it cannot reliably fill walls that thin. Second, and this is check four from the previous slide — the press. When you inject molten aluminium at high pressure it tries to force the two halves of the mould apart. The press has to clamp it shut. So the engine takes the shadow area of the part, which it measured from the CAD, multiplies it by the pressure inside the mould, and gets the force trying to open the tool. Add a safety margin, and pick the smallest press in the library that can hold it. That comes out at sixteen hundred tonnes. Why does this matter commercially? Because every machine carries its own hourly rate. A bigger press costs more per hour to own and to run. Choose too big a machine and you overstate the cost — you go into a negotiation asking for the wrong number. Choose too small and the part physically cannot be made. So the engine sizes it by calculation rather than defaulting, and it flags the choice for our engineer to confirm. And in the purple box, the summary of who did what. The AI proposed. The engine disposed. If the AI had said sand casting, the three millimetre walls would have overruled it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around thirty-seven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challenge from our own review was tooling: where do the die and mould numbers come from? Two slides, and everything on them is read out of the source code, not summarised from memory. The method first, five steps, identical across commodities. One: the kernel measures the size drivers — projected area per cavity, volume, faces, holes, undercuts. Two: a parametric build-up prices the tool as a base block plus per-cavity machining plus extras, in constants a toolmaker can argue with individually — six thousand pounds of bolster and ejector system, two and a half thousand plus fifty-five pounds per square centimetre per cavity, three and a half thousand per sliding action. Three: the tool steel follows the programme — the shots you need decide whether it is a prototype tool at roughly half cost or a hardened production tool at one-point-three-five times, and the steel decides the life. Four: life gives the number of tools the programme consumes, and the cost amortises over the annual volume, with tolerance and surface-finish uplifts on top. Five — and this is the confidence point: there are TWO independent estimates, the advisor formula and the geometry kernel’s own B-rep parametric, blended by geometric mean when they both exist; and a real toolmaker quotation overrides both, always. On the right, the two biggest tools with the actual formulas: the injection mould, where the cavity count is itself cost-ranked, and the die-cast die, where every undercut face the kernel counts adds ten thousand pounds of sliding section. On the bumper the advisor and the kernel blend to four hundred and seven thousand; the worked example in this deck uses the four-twenty quotation instead, because a quote always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method, three more commodities, and one honest gap. The forging die: a block that scales with the part’s footprint and weight, machining per impression, the die steel as a multiplier, plus heat treatment and polishing — and the life is keyed to the ALLOY, because an aluminium forging is gentle on a die at eighty thousand hits while a superalloy destroys one in three and a half thousand. That alloy-keyed life replaced a flat constant that was over-charging aluminium tooling by a factor of two to four — a defect this engine found and fixed, with the test to prove it. The stamping die: priced by die type and station count, scaled by blank size and by how hard the steel being cut is — and the life law says exactly how much faster boron steel eats a tool than mild steel. The blow mould: per-cavity cost grows with the litres the container holds, the mould material sets both cost and life. Machining has no die — fixtures and programming NRE, amortised the same way. And the gap, said out loud because it builds more confidence than hiding it: investment-casting tooling has no parametric model, so the tool stops and asks for a quotation instead of inventing one. The bottom line is the audit trail: every constant on these two slides lives in a named, unit-tested source file. I did not summarise these formulas from memory — they are read out of the code, and the code is the same code that prices every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reads those measurements and names what the part is — words only, never money. The guards check the AI against the measurements and autocorrect it where they disagree, and the measurements always win. The engine does every calculation — sizes the machine, builds the cycle times, fills the eight buckets, reprices across twenty countries — with fixed, traceable formulas. And our engineer sets the commercial context, confirms every AI call, and signs off the number. The line in the middle is the whole tool in one sentence. The AI reads the part. The engine does every calculation. A person approves the answer.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twenty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The AI then does its one job and hands back four words: talc-filled polypropylene, injection moulded in one shot, painted to a Class-A finish, eighty-seven percent confident. Four words and a score. No numbers. It still cannot see a price list, a rate or a machine.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Twenty commodities are modelled.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slideLayout" Target="../slideLayouts/slideLayout1.xml"/><Relationship Id="rId8"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AI reads the part.  The costing engine does every calculation.  A person approves the answer.</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and what it is worth against costing by hand</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3–6</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7–25</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26–36</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37</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 3 (how it connects) · slides 4–6 (the business case) · slide 25 (the housing on one page) · slide 35 (the two findings) · slide 37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E8B57"/>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660" b="1" spc="40" kern="0" dirty="0">
                <a:solidFill>
                  <a:srgbClr val="2E8B57"/>
                </a:solidFill>
                <a:latin typeface="Calibri" pitchFamily="34" charset="0"/>
                <a:ea typeface="Calibri" pitchFamily="34" charset="-122"/>
                <a:cs typeface="Calibri" pitchFamily="34" charset="-120"/>
              </a:rPr>
              <a:t>WHY TRUST THIS PICTURE</a:t>
            </a:r>
            <a:endParaRPr lang="en-US" sz="66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690" dirty="0">
                <a:solidFill>
                  <a:srgbClr val="3A4356"/>
                </a:solidFill>
                <a:latin typeface="Calibri" pitchFamily="34" charset="0"/>
                <a:ea typeface="Calibri" pitchFamily="34" charset="-122"/>
                <a:cs typeface="Calibri" pitchFamily="34" charset="-120"/>
              </a:rPr>
              <a:t>Same file + answers = same price</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12 of 18 commodities rules-driven</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~1,490 automated tests</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6 real parts · fleet error ≈13%</a:t>
            </a:r>
            <a:endParaRPr lang="en-US" sz="690" dirty="0"/>
          </a:p>
        </p:txBody>
      </p:sp>
      <p:sp>
        <p:nvSpPr>
          <p:cNvPr id="21" name="Shape 19"/>
          <p:cNvSpPr/>
          <p:nvPr/>
        </p:nvSpPr>
        <p:spPr>
          <a:xfrm>
            <a:off x="2331720" y="932688"/>
            <a:ext cx="4754880" cy="905256"/>
          </a:xfrm>
          <a:prstGeom prst="roundRect">
            <a:avLst>
              <a:gd name="adj" fmla="val 9091"/>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5" name="Text 22"/>
          <p:cNvSpPr/>
          <p:nvPr/>
        </p:nvSpPr>
        <p:spPr>
          <a:xfrm>
            <a:off x="2999232" y="1179576"/>
            <a:ext cx="3977640" cy="402336"/>
          </a:xfrm>
          <a:prstGeom prst="rect">
            <a:avLst/>
          </a:prstGeom>
          <a:noFill/>
          <a:ln/>
        </p:spPr>
        <p:txBody>
          <a:bodyPr wrap="square" lIns="0" tIns="0" rIns="0" bIns="0" rtlCol="0" anchor="t"/>
          <a:lstStyle/>
          <a:p>
            <a:pPr indent="0" marL="0">
              <a:buNone/>
            </a:pPr>
            <a:r>
              <a:rPr lang="en-US" sz="870" dirty="0">
                <a:solidFill>
                  <a:srgbClr val="3A4356"/>
                </a:solidFill>
                <a:latin typeface="Calibri" pitchFamily="34" charset="0"/>
                <a:ea typeface="Calibri" pitchFamily="34" charset="-122"/>
                <a:cs typeface="Calibri" pitchFamily="34" charset="-120"/>
              </a:rPr>
              <a:t>Three modes: </a:t>
            </a:r>
            <a:pPr indent="0" marL="0">
              <a:buNone/>
            </a:pPr>
            <a:r>
              <a:rPr lang="en-US" sz="87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870" dirty="0">
                <a:solidFill>
                  <a:srgbClr val="3A4356"/>
                </a:solidFill>
                <a:latin typeface="Calibri" pitchFamily="34" charset="0"/>
                <a:ea typeface="Calibri" pitchFamily="34" charset="-122"/>
                <a:cs typeface="Calibri" pitchFamily="34" charset="-120"/>
              </a:rPr>
              <a:t>Classification only — geometry out, words back. It cannot set a price, pick a machine, or write a DFM score or saving.</a:t>
            </a:r>
            <a:endParaRPr lang="en-US" sz="870" dirty="0"/>
          </a:p>
        </p:txBody>
      </p:sp>
      <p:sp>
        <p:nvSpPr>
          <p:cNvPr id="26" name="Text 23"/>
          <p:cNvSpPr/>
          <p:nvPr/>
        </p:nvSpPr>
        <p:spPr>
          <a:xfrm>
            <a:off x="2999232" y="1609344"/>
            <a:ext cx="3977640" cy="182880"/>
          </a:xfrm>
          <a:prstGeom prst="rect">
            <a:avLst/>
          </a:prstGeom>
          <a:noFill/>
          <a:ln/>
        </p:spPr>
        <p:txBody>
          <a:bodyPr wrap="square" lIns="0" tIns="0" rIns="0" bIns="0" rtlCol="0" anchor="ctr"/>
          <a:lstStyle/>
          <a:p>
            <a:pPr indent="0" marL="0">
              <a:buNone/>
            </a:pPr>
            <a:r>
              <a:rPr lang="en-US" sz="800" i="1" dirty="0">
                <a:solidFill>
                  <a:srgbClr val="6B3FA0"/>
                </a:solidFill>
                <a:latin typeface="Calibri" pitchFamily="34" charset="0"/>
                <a:ea typeface="Calibri" pitchFamily="34" charset="-122"/>
                <a:cs typeface="Calibri" pitchFamily="34" charset="-120"/>
              </a:rPr>
              <a:t>Routable to a private endpoint · AIR_GAPPED=1 refuses the call — costing still works</a:t>
            </a:r>
            <a:endParaRPr lang="en-US" sz="80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31" name="Shape 28"/>
          <p:cNvSpPr/>
          <p:nvPr/>
        </p:nvSpPr>
        <p:spPr>
          <a:xfrm>
            <a:off x="685800" y="1874520"/>
            <a:ext cx="3200400" cy="256032"/>
          </a:xfrm>
          <a:prstGeom prst="roundRect">
            <a:avLst>
              <a:gd name="adj" fmla="val 50000"/>
            </a:avLst>
          </a:prstGeom>
          <a:solidFill>
            <a:srgbClr val="0E8074"/>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Text 4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44" name="Shape 4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45" name="Text 42"/>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46" name="Shape 4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47" name="Text 44"/>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48" name="Shape 4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49" name="Text 46"/>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0" name="Shape 4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priced saving</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ideas — engine, not AI</a:t>
            </a:r>
            <a:endParaRPr lang="en-US" sz="860" dirty="0"/>
          </a:p>
        </p:txBody>
      </p:sp>
      <p:sp>
        <p:nvSpPr>
          <p:cNvPr id="52" name="Shape 49"/>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54" name="Shape 51"/>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55" name="Shape 52"/>
          <p:cNvSpPr/>
          <p:nvPr/>
        </p:nvSpPr>
        <p:spPr>
          <a:xfrm>
            <a:off x="2734056" y="2560320"/>
            <a:ext cx="310896" cy="310896"/>
          </a:xfrm>
          <a:prstGeom prst="ellipse">
            <a:avLst/>
          </a:prstGeom>
          <a:solidFill>
            <a:srgbClr val="1D6FB8"/>
          </a:solidFill>
          <a:ln/>
        </p:spPr>
      </p:sp>
      <p:pic>
        <p:nvPicPr>
          <p:cNvPr id="56"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57" name="Text 53"/>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58" name="Text 54"/>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59" name="Shape 55"/>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0" name="Shape 56"/>
          <p:cNvSpPr/>
          <p:nvPr/>
        </p:nvSpPr>
        <p:spPr>
          <a:xfrm>
            <a:off x="2734056" y="3822192"/>
            <a:ext cx="310896" cy="310896"/>
          </a:xfrm>
          <a:prstGeom prst="ellipse">
            <a:avLst/>
          </a:prstGeom>
          <a:solidFill>
            <a:srgbClr val="4F46E5"/>
          </a:solidFill>
          <a:ln/>
        </p:spPr>
      </p:sp>
      <p:pic>
        <p:nvPicPr>
          <p:cNvPr id="61"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2" name="Text 57"/>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3" name="Text 58"/>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64" name="Shape 59"/>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65" name="Shape 60"/>
          <p:cNvSpPr/>
          <p:nvPr/>
        </p:nvSpPr>
        <p:spPr>
          <a:xfrm>
            <a:off x="2734056" y="5084064"/>
            <a:ext cx="310896" cy="310896"/>
          </a:xfrm>
          <a:prstGeom prst="ellipse">
            <a:avLst/>
          </a:prstGeom>
          <a:solidFill>
            <a:srgbClr val="2E8B57"/>
          </a:solidFill>
          <a:ln/>
        </p:spPr>
      </p:sp>
      <p:pic>
        <p:nvPicPr>
          <p:cNvPr id="66"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67" name="Text 61"/>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68" name="Text 62"/>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69" name="Shape 63"/>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70" name="Shape 64"/>
          <p:cNvSpPr/>
          <p:nvPr/>
        </p:nvSpPr>
        <p:spPr>
          <a:xfrm>
            <a:off x="5020056" y="2560320"/>
            <a:ext cx="310896" cy="310896"/>
          </a:xfrm>
          <a:prstGeom prst="ellipse">
            <a:avLst/>
          </a:prstGeom>
          <a:solidFill>
            <a:srgbClr val="B7791F"/>
          </a:solidFill>
          <a:ln/>
        </p:spPr>
      </p:sp>
      <p:pic>
        <p:nvPicPr>
          <p:cNvPr id="71"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2" name="Text 65"/>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73" name="Text 66"/>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beat the AI.</a:t>
            </a:r>
            <a:endParaRPr lang="en-US" sz="820" dirty="0"/>
          </a:p>
        </p:txBody>
      </p:sp>
      <p:sp>
        <p:nvSpPr>
          <p:cNvPr id="74" name="Shape 67"/>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75" name="Shape 68"/>
          <p:cNvSpPr/>
          <p:nvPr/>
        </p:nvSpPr>
        <p:spPr>
          <a:xfrm>
            <a:off x="7900416" y="2560320"/>
            <a:ext cx="310896" cy="310896"/>
          </a:xfrm>
          <a:prstGeom prst="ellipse">
            <a:avLst/>
          </a:prstGeom>
          <a:solidFill>
            <a:srgbClr val="0E8074"/>
          </a:solidFill>
          <a:ln/>
        </p:spPr>
      </p:sp>
      <p:pic>
        <p:nvPicPr>
          <p:cNvPr id="76"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77" name="Text 69"/>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78" name="Text 70"/>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79" name="Shape 71"/>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80" name="Shape 72"/>
          <p:cNvSpPr/>
          <p:nvPr/>
        </p:nvSpPr>
        <p:spPr>
          <a:xfrm>
            <a:off x="7900416" y="3822192"/>
            <a:ext cx="310896" cy="310896"/>
          </a:xfrm>
          <a:prstGeom prst="ellipse">
            <a:avLst/>
          </a:prstGeom>
          <a:solidFill>
            <a:srgbClr val="0E8074"/>
          </a:solidFill>
          <a:ln/>
        </p:spPr>
      </p:sp>
      <p:pic>
        <p:nvPicPr>
          <p:cNvPr id="81"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2" name="Text 73"/>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83" name="Text 74"/>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84" name="Shape 75"/>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85" name="Text 76"/>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86" name="Text 77"/>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87" name="Shape 78"/>
          <p:cNvSpPr/>
          <p:nvPr/>
        </p:nvSpPr>
        <p:spPr>
          <a:xfrm>
            <a:off x="4892040" y="3712464"/>
            <a:ext cx="1965960" cy="1444752"/>
          </a:xfrm>
          <a:prstGeom prst="roundRect">
            <a:avLst>
              <a:gd name="adj" fmla="val 6329"/>
            </a:avLst>
          </a:prstGeom>
          <a:solidFill>
            <a:srgbClr val="0E5A5A"/>
          </a:solidFill>
          <a:ln/>
        </p:spPr>
      </p:sp>
      <p:sp>
        <p:nvSpPr>
          <p:cNvPr id="88" name="Shape 79"/>
          <p:cNvSpPr/>
          <p:nvPr/>
        </p:nvSpPr>
        <p:spPr>
          <a:xfrm>
            <a:off x="5632704" y="3840480"/>
            <a:ext cx="457200" cy="457200"/>
          </a:xfrm>
          <a:prstGeom prst="ellipse">
            <a:avLst/>
          </a:prstGeom>
          <a:solidFill>
            <a:srgbClr val="17A398"/>
          </a:solidFill>
          <a:ln/>
        </p:spPr>
      </p:sp>
      <p:pic>
        <p:nvPicPr>
          <p:cNvPr id="89"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0" name="Text 80"/>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1" name="Text 81"/>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2" name="Shape 82"/>
          <p:cNvSpPr/>
          <p:nvPr/>
        </p:nvSpPr>
        <p:spPr>
          <a:xfrm>
            <a:off x="3904488" y="2368296"/>
            <a:ext cx="548640" cy="155448"/>
          </a:xfrm>
          <a:prstGeom prst="roundRect">
            <a:avLst>
              <a:gd name="adj" fmla="val 50000"/>
            </a:avLst>
          </a:prstGeom>
          <a:solidFill>
            <a:srgbClr val="1D6FB8"/>
          </a:solidFill>
          <a:ln/>
        </p:spPr>
      </p:sp>
      <p:sp>
        <p:nvSpPr>
          <p:cNvPr id="93" name="Text 83"/>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4" name="Shape 84"/>
          <p:cNvSpPr/>
          <p:nvPr/>
        </p:nvSpPr>
        <p:spPr>
          <a:xfrm>
            <a:off x="3904488" y="3630168"/>
            <a:ext cx="548640" cy="155448"/>
          </a:xfrm>
          <a:prstGeom prst="roundRect">
            <a:avLst>
              <a:gd name="adj" fmla="val 50000"/>
            </a:avLst>
          </a:prstGeom>
          <a:solidFill>
            <a:srgbClr val="4F46E5"/>
          </a:solidFill>
          <a:ln/>
        </p:spPr>
      </p:sp>
      <p:sp>
        <p:nvSpPr>
          <p:cNvPr id="95" name="Text 85"/>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6" name="Shape 86"/>
          <p:cNvSpPr/>
          <p:nvPr/>
        </p:nvSpPr>
        <p:spPr>
          <a:xfrm>
            <a:off x="6236208" y="2368296"/>
            <a:ext cx="548640" cy="155448"/>
          </a:xfrm>
          <a:prstGeom prst="roundRect">
            <a:avLst>
              <a:gd name="adj" fmla="val 50000"/>
            </a:avLst>
          </a:prstGeom>
          <a:solidFill>
            <a:srgbClr val="B7791F"/>
          </a:solidFill>
          <a:ln/>
        </p:spPr>
      </p:sp>
      <p:sp>
        <p:nvSpPr>
          <p:cNvPr id="97" name="Text 87"/>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8" name="Shape 88"/>
          <p:cNvSpPr/>
          <p:nvPr/>
        </p:nvSpPr>
        <p:spPr>
          <a:xfrm>
            <a:off x="9070848" y="2368296"/>
            <a:ext cx="548640" cy="155448"/>
          </a:xfrm>
          <a:prstGeom prst="roundRect">
            <a:avLst>
              <a:gd name="adj" fmla="val 50000"/>
            </a:avLst>
          </a:prstGeom>
          <a:solidFill>
            <a:srgbClr val="0E8074"/>
          </a:solidFill>
          <a:ln/>
        </p:spPr>
      </p:sp>
      <p:sp>
        <p:nvSpPr>
          <p:cNvPr id="99" name="Text 89"/>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0" name="Shape 90"/>
          <p:cNvSpPr/>
          <p:nvPr/>
        </p:nvSpPr>
        <p:spPr>
          <a:xfrm>
            <a:off x="9070848" y="3630168"/>
            <a:ext cx="548640" cy="155448"/>
          </a:xfrm>
          <a:prstGeom prst="roundRect">
            <a:avLst>
              <a:gd name="adj" fmla="val 50000"/>
            </a:avLst>
          </a:prstGeom>
          <a:solidFill>
            <a:srgbClr val="0E8074"/>
          </a:solidFill>
          <a:ln/>
        </p:spPr>
      </p:sp>
      <p:sp>
        <p:nvSpPr>
          <p:cNvPr id="101" name="Text 91"/>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2" name="Shape 92"/>
          <p:cNvSpPr/>
          <p:nvPr/>
        </p:nvSpPr>
        <p:spPr>
          <a:xfrm>
            <a:off x="9070848" y="4892040"/>
            <a:ext cx="548640" cy="155448"/>
          </a:xfrm>
          <a:prstGeom prst="roundRect">
            <a:avLst>
              <a:gd name="adj" fmla="val 50000"/>
            </a:avLst>
          </a:prstGeom>
          <a:solidFill>
            <a:srgbClr val="2E8B57"/>
          </a:solidFill>
          <a:ln/>
        </p:spPr>
      </p:sp>
      <p:sp>
        <p:nvSpPr>
          <p:cNvPr id="103" name="Text 93"/>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4" name="Shape 94"/>
          <p:cNvSpPr/>
          <p:nvPr/>
        </p:nvSpPr>
        <p:spPr>
          <a:xfrm>
            <a:off x="6236208" y="3630168"/>
            <a:ext cx="548640" cy="155448"/>
          </a:xfrm>
          <a:prstGeom prst="roundRect">
            <a:avLst>
              <a:gd name="adj" fmla="val 50000"/>
            </a:avLst>
          </a:prstGeom>
          <a:solidFill>
            <a:srgbClr val="0E8074"/>
          </a:solidFill>
          <a:ln/>
        </p:spPr>
      </p:sp>
      <p:sp>
        <p:nvSpPr>
          <p:cNvPr id="105" name="Text 95"/>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6" name="Shape 96"/>
          <p:cNvSpPr/>
          <p:nvPr/>
        </p:nvSpPr>
        <p:spPr>
          <a:xfrm>
            <a:off x="3904488" y="4892040"/>
            <a:ext cx="548640" cy="155448"/>
          </a:xfrm>
          <a:prstGeom prst="roundRect">
            <a:avLst>
              <a:gd name="adj" fmla="val 50000"/>
            </a:avLst>
          </a:prstGeom>
          <a:solidFill>
            <a:srgbClr val="2E8B57"/>
          </a:solidFill>
          <a:ln/>
        </p:spPr>
      </p:sp>
      <p:sp>
        <p:nvSpPr>
          <p:cNvPr id="107" name="Text 97"/>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108" name="Shape 98"/>
          <p:cNvSpPr/>
          <p:nvPr/>
        </p:nvSpPr>
        <p:spPr>
          <a:xfrm>
            <a:off x="2423160" y="3008376"/>
            <a:ext cx="182880" cy="0"/>
          </a:xfrm>
          <a:prstGeom prst="line">
            <a:avLst/>
          </a:prstGeom>
          <a:noFill/>
          <a:ln w="22225">
            <a:solidFill>
              <a:srgbClr val="1D6FB8"/>
            </a:solidFill>
            <a:prstDash val="solid"/>
            <a:tailEnd type="triangle"/>
          </a:ln>
        </p:spPr>
      </p:sp>
      <p:sp>
        <p:nvSpPr>
          <p:cNvPr id="109" name="Shape 99"/>
          <p:cNvSpPr/>
          <p:nvPr/>
        </p:nvSpPr>
        <p:spPr>
          <a:xfrm>
            <a:off x="2423160" y="5385816"/>
            <a:ext cx="182880" cy="0"/>
          </a:xfrm>
          <a:prstGeom prst="line">
            <a:avLst/>
          </a:prstGeom>
          <a:noFill/>
          <a:ln w="22225">
            <a:solidFill>
              <a:srgbClr val="1D6FB8"/>
            </a:solidFill>
            <a:prstDash val="solid"/>
            <a:tailEnd type="triangle"/>
          </a:ln>
        </p:spPr>
      </p:sp>
      <p:sp>
        <p:nvSpPr>
          <p:cNvPr id="110" name="Shape 100"/>
          <p:cNvSpPr/>
          <p:nvPr/>
        </p:nvSpPr>
        <p:spPr>
          <a:xfrm>
            <a:off x="3566160" y="3566160"/>
            <a:ext cx="0" cy="146304"/>
          </a:xfrm>
          <a:prstGeom prst="line">
            <a:avLst/>
          </a:prstGeom>
          <a:noFill/>
          <a:ln w="22225">
            <a:solidFill>
              <a:srgbClr val="1D6FB8"/>
            </a:solidFill>
            <a:prstDash val="solid"/>
            <a:tailEnd type="triangle"/>
          </a:ln>
        </p:spPr>
      </p:sp>
      <p:sp>
        <p:nvSpPr>
          <p:cNvPr id="111" name="Shape 101"/>
          <p:cNvSpPr/>
          <p:nvPr/>
        </p:nvSpPr>
        <p:spPr>
          <a:xfrm flipV="1">
            <a:off x="3566160" y="4828032"/>
            <a:ext cx="0" cy="146304"/>
          </a:xfrm>
          <a:prstGeom prst="line">
            <a:avLst/>
          </a:prstGeom>
          <a:noFill/>
          <a:ln w="22225">
            <a:solidFill>
              <a:srgbClr val="2E8B57"/>
            </a:solidFill>
            <a:prstDash val="solid"/>
            <a:tailEnd type="triangle"/>
          </a:ln>
        </p:spPr>
      </p:sp>
      <p:sp>
        <p:nvSpPr>
          <p:cNvPr id="112" name="Shape 102"/>
          <p:cNvSpPr/>
          <p:nvPr/>
        </p:nvSpPr>
        <p:spPr>
          <a:xfrm flipH="1">
            <a:off x="4526280" y="3008376"/>
            <a:ext cx="365760" cy="283464"/>
          </a:xfrm>
          <a:prstGeom prst="line">
            <a:avLst/>
          </a:prstGeom>
          <a:noFill/>
          <a:ln w="17780">
            <a:solidFill>
              <a:srgbClr val="B7791F"/>
            </a:solidFill>
            <a:prstDash val="solid"/>
            <a:tailEnd type="triangle"/>
          </a:ln>
        </p:spPr>
      </p:sp>
      <p:sp>
        <p:nvSpPr>
          <p:cNvPr id="113" name="Shape 103"/>
          <p:cNvSpPr/>
          <p:nvPr/>
        </p:nvSpPr>
        <p:spPr>
          <a:xfrm>
            <a:off x="4526280" y="4270248"/>
            <a:ext cx="365760" cy="0"/>
          </a:xfrm>
          <a:prstGeom prst="line">
            <a:avLst/>
          </a:prstGeom>
          <a:noFill/>
          <a:ln w="22225">
            <a:solidFill>
              <a:srgbClr val="4F46E5"/>
            </a:solidFill>
            <a:prstDash val="solid"/>
            <a:tailEnd type="triangle"/>
          </a:ln>
        </p:spPr>
      </p:sp>
      <p:sp>
        <p:nvSpPr>
          <p:cNvPr id="114" name="Shape 104"/>
          <p:cNvSpPr/>
          <p:nvPr/>
        </p:nvSpPr>
        <p:spPr>
          <a:xfrm flipH="1">
            <a:off x="7223760" y="3008376"/>
            <a:ext cx="548640" cy="0"/>
          </a:xfrm>
          <a:prstGeom prst="line">
            <a:avLst/>
          </a:prstGeom>
          <a:noFill/>
          <a:ln w="22225">
            <a:solidFill>
              <a:srgbClr val="0E8074"/>
            </a:solidFill>
            <a:prstDash val="solid"/>
            <a:tailEnd type="triangle"/>
          </a:ln>
        </p:spPr>
      </p:sp>
      <p:sp>
        <p:nvSpPr>
          <p:cNvPr id="115" name="Shape 105"/>
          <p:cNvSpPr/>
          <p:nvPr/>
        </p:nvSpPr>
        <p:spPr>
          <a:xfrm flipH="1">
            <a:off x="6858000" y="3008376"/>
            <a:ext cx="365760" cy="923544"/>
          </a:xfrm>
          <a:prstGeom prst="line">
            <a:avLst/>
          </a:prstGeom>
          <a:noFill/>
          <a:ln w="22225">
            <a:solidFill>
              <a:srgbClr val="0E8074"/>
            </a:solidFill>
            <a:prstDash val="solid"/>
            <a:tailEnd type="triangle"/>
          </a:ln>
        </p:spPr>
      </p:sp>
      <p:sp>
        <p:nvSpPr>
          <p:cNvPr id="116" name="Shape 106"/>
          <p:cNvSpPr/>
          <p:nvPr/>
        </p:nvSpPr>
        <p:spPr>
          <a:xfrm flipH="1">
            <a:off x="6858000" y="4270248"/>
            <a:ext cx="914400" cy="0"/>
          </a:xfrm>
          <a:prstGeom prst="line">
            <a:avLst/>
          </a:prstGeom>
          <a:noFill/>
          <a:ln w="22225">
            <a:solidFill>
              <a:srgbClr val="0E8074"/>
            </a:solidFill>
            <a:prstDash val="solid"/>
            <a:tailEnd type="triangle"/>
          </a:ln>
        </p:spPr>
      </p:sp>
      <p:sp>
        <p:nvSpPr>
          <p:cNvPr id="117" name="Shape 107"/>
          <p:cNvSpPr/>
          <p:nvPr/>
        </p:nvSpPr>
        <p:spPr>
          <a:xfrm>
            <a:off x="6858000" y="4846320"/>
            <a:ext cx="914400" cy="502920"/>
          </a:xfrm>
          <a:prstGeom prst="line">
            <a:avLst/>
          </a:prstGeom>
          <a:noFill/>
          <a:ln w="22225">
            <a:solidFill>
              <a:srgbClr val="2E8B57"/>
            </a:solidFill>
            <a:prstDash val="solid"/>
            <a:tailEnd type="triangle"/>
          </a:ln>
        </p:spPr>
      </p:sp>
      <p:sp>
        <p:nvSpPr>
          <p:cNvPr id="118" name="Shape 108"/>
          <p:cNvSpPr/>
          <p:nvPr/>
        </p:nvSpPr>
        <p:spPr>
          <a:xfrm>
            <a:off x="9692640" y="5440680"/>
            <a:ext cx="411480" cy="0"/>
          </a:xfrm>
          <a:prstGeom prst="line">
            <a:avLst/>
          </a:prstGeom>
          <a:noFill/>
          <a:ln w="22225">
            <a:solidFill>
              <a:srgbClr val="2E8B57"/>
            </a:solidFill>
            <a:prstDash val="solid"/>
            <a:tailEnd type="triangle"/>
          </a:ln>
        </p:spPr>
      </p:sp>
      <p:sp>
        <p:nvSpPr>
          <p:cNvPr id="119" name="Shape 109"/>
          <p:cNvSpPr/>
          <p:nvPr/>
        </p:nvSpPr>
        <p:spPr>
          <a:xfrm flipH="1">
            <a:off x="9692640" y="4498848"/>
            <a:ext cx="411480" cy="0"/>
          </a:xfrm>
          <a:prstGeom prst="line">
            <a:avLst/>
          </a:prstGeom>
          <a:noFill/>
          <a:ln w="17780">
            <a:solidFill>
              <a:srgbClr val="2E8B57"/>
            </a:solidFill>
            <a:prstDash val="dash"/>
            <a:tailEnd type="triangle"/>
          </a:ln>
        </p:spPr>
      </p:sp>
      <p:sp>
        <p:nvSpPr>
          <p:cNvPr id="120" name="Text 110"/>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600" i="1" dirty="0">
                <a:solidFill>
                  <a:srgbClr val="2E8B57"/>
                </a:solidFill>
                <a:latin typeface="Calibri" pitchFamily="34" charset="0"/>
                <a:ea typeface="Calibri" pitchFamily="34" charset="-122"/>
                <a:cs typeface="Calibri" pitchFamily="34" charset="-120"/>
              </a:rPr>
              <a:t>actuals</a:t>
            </a:r>
            <a:endParaRPr lang="en-US" sz="600" dirty="0"/>
          </a:p>
          <a:p>
            <a:pPr algn="ctr" indent="0" marL="0">
              <a:buNone/>
            </a:pPr>
            <a:r>
              <a:rPr lang="en-US" sz="600" i="1" dirty="0">
                <a:solidFill>
                  <a:srgbClr val="2E8B57"/>
                </a:solidFill>
                <a:latin typeface="Calibri" pitchFamily="34" charset="0"/>
                <a:ea typeface="Calibri" pitchFamily="34" charset="-122"/>
                <a:cs typeface="Calibri" pitchFamily="34" charset="-120"/>
              </a:rPr>
              <a:t>feed back</a:t>
            </a:r>
            <a:endParaRPr lang="en-US" sz="600" dirty="0"/>
          </a:p>
        </p:txBody>
      </p:sp>
      <p:sp>
        <p:nvSpPr>
          <p:cNvPr id="121" name="Shape 111"/>
          <p:cNvSpPr/>
          <p:nvPr/>
        </p:nvSpPr>
        <p:spPr>
          <a:xfrm>
            <a:off x="9692640" y="3008376"/>
            <a:ext cx="411480" cy="0"/>
          </a:xfrm>
          <a:prstGeom prst="line">
            <a:avLst/>
          </a:prstGeom>
          <a:noFill/>
          <a:ln w="22225">
            <a:solidFill>
              <a:srgbClr val="2E8B57"/>
            </a:solidFill>
            <a:prstDash val="solid"/>
            <a:tailEnd type="triangle"/>
          </a:ln>
        </p:spPr>
      </p:sp>
      <p:sp>
        <p:nvSpPr>
          <p:cNvPr id="122" name="Shape 112"/>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23" name="Text 113"/>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an optional second opinion that can reach none of the money.</a:t>
            </a:r>
            <a:endParaRPr lang="en-US" sz="1050" dirty="0"/>
          </a:p>
        </p:txBody>
      </p:sp>
      <p:sp>
        <p:nvSpPr>
          <p:cNvPr id="124" name="Text 1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25" name="Text 1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should-cost, by commodity: CostVision measured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~37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Recognise the recipe</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with a confidence score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one stage the AI owns — and the hard limits on it</a:t>
            </a:r>
            <a:endParaRPr lang="en-US" sz="1200" dirty="0"/>
          </a:p>
        </p:txBody>
      </p:sp>
      <p:sp>
        <p:nvSpPr>
          <p:cNvPr id="5" name="Shape 3"/>
          <p:cNvSpPr/>
          <p:nvPr/>
        </p:nvSpPr>
        <p:spPr>
          <a:xfrm>
            <a:off x="94183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THE AI</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Only the measurements from the previous slide — plus the part name and the shape signature. It never sees a price list, and it never sees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514600"/>
          </a:xfrm>
          <a:prstGeom prst="roundRect">
            <a:avLst>
              <a:gd name="adj" fmla="val 3636"/>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sp>
        <p:nvSpPr>
          <p:cNvPr id="31" name="Shape 24"/>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2" name="Text 25"/>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3" name="Text 26"/>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4" name="Shape 27"/>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5" name="Text 28"/>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and it cannot.</a:t>
            </a:r>
            <a:endParaRPr lang="en-US" sz="1200" dirty="0"/>
          </a:p>
        </p:txBody>
      </p:sp>
      <p:sp>
        <p:nvSpPr>
          <p:cNvPr id="36"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and why a 1,600-tonne press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and it flags the choice for the engineer to confirm.</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Who decided all this?  </a:t>
            </a:r>
            <a:pPr indent="0" marL="0">
              <a:buNone/>
            </a:pPr>
            <a:r>
              <a:rPr lang="en-US" sz="1150" b="1" dirty="0">
                <a:solidFill>
                  <a:srgbClr val="6B3FA0"/>
                </a:solidFill>
                <a:latin typeface="Calibri" pitchFamily="34" charset="0"/>
                <a:ea typeface="Calibri" pitchFamily="34" charset="-122"/>
                <a:cs typeface="Calibri" pitchFamily="34" charset="-120"/>
              </a:rPr>
              <a:t>The AI </a:t>
            </a:r>
            <a:pPr indent="0" marL="0">
              <a:buNone/>
            </a:pPr>
            <a:r>
              <a:rPr lang="en-US" sz="1150" dirty="0">
                <a:solidFill>
                  <a:srgbClr val="3A4356"/>
                </a:solidFill>
                <a:latin typeface="Calibri" pitchFamily="34" charset="0"/>
                <a:ea typeface="Calibri" pitchFamily="34" charset="-122"/>
                <a:cs typeface="Calibri" pitchFamily="34" charset="-120"/>
              </a:rPr>
              <a:t>suggested "die casting". </a:t>
            </a:r>
            <a:pPr indent="0" marL="0">
              <a:buNone/>
            </a:pPr>
            <a:r>
              <a:rPr lang="en-US" sz="1150" b="1" dirty="0">
                <a:solidFill>
                  <a:srgbClr val="0E8074"/>
                </a:solidFill>
                <a:latin typeface="Calibri" pitchFamily="34" charset="0"/>
                <a:ea typeface="Calibri" pitchFamily="34" charset="-122"/>
                <a:cs typeface="Calibri" pitchFamily="34" charset="-120"/>
              </a:rPr>
              <a:t>The engine </a:t>
            </a:r>
            <a:pPr indent="0" marL="0">
              <a:buNone/>
            </a:pPr>
            <a:r>
              <a:rPr lang="en-US" sz="1150" dirty="0">
                <a:solidFill>
                  <a:srgbClr val="3A4356"/>
                </a:solidFill>
                <a:latin typeface="Calibri" pitchFamily="34" charset="0"/>
                <a:ea typeface="Calibri" pitchFamily="34" charset="-122"/>
                <a:cs typeface="Calibri" pitchFamily="34" charset="-120"/>
              </a:rPr>
              <a:t>then tested that suggestion against the measured geometry, rejected the alternatives on physical grounds, and sized the press by calculation. </a:t>
            </a:r>
            <a:pPr indent="0" marL="0">
              <a:buNone/>
            </a:pPr>
            <a:r>
              <a:rPr lang="en-US" sz="1150" b="1" dirty="0">
                <a:solidFill>
                  <a:srgbClr val="16325C"/>
                </a:solidFill>
                <a:latin typeface="Calibri" pitchFamily="34" charset="0"/>
                <a:ea typeface="Calibri" pitchFamily="34" charset="-122"/>
                <a:cs typeface="Calibri" pitchFamily="34" charset="-120"/>
              </a:rPr>
              <a:t>The AI proposed; the engine disposed. </a:t>
            </a:r>
            <a:pPr indent="0" marL="0">
              <a:buNone/>
            </a:pPr>
            <a:r>
              <a:rPr lang="en-US" sz="1150" dirty="0">
                <a:solidFill>
                  <a:srgbClr val="3A4356"/>
                </a:solidFill>
                <a:latin typeface="Calibri" pitchFamily="34" charset="0"/>
                <a:ea typeface="Calibri" pitchFamily="34" charset="-122"/>
                <a:cs typeface="Calibri" pitchFamily="34" charset="-120"/>
              </a:rPr>
              <a:t>If the AI had said "sand casting", the 3 mm walls would have overruled it.</a:t>
            </a:r>
            <a:endParaRPr lang="en-US" sz="115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~37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Score and roadmap by arithmetic</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part starts at 10/10: minus 2 per critical, 1 per major, 0.5 per minor. The DFA score runs the same way on assembly rules. Actions become the roadmap: low-risk quick wins vs long-term changes — a filter over the same list, nothing new invented.</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Method, and Moulds &amp; Dies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Parametric build-ups from measured geometry — every constant in a named source file, none of it from AI</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E8074"/>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kernel measures what tools scale with: projected area per cavity/impression, part volume, bounding box, face count, hole count, undercut count. Nothing is typed in.</a:t>
            </a:r>
            <a:endParaRPr lang="en-US" sz="79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E8074"/>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A parametric build-up prices the tool</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Base block + per-cavity (or per-impression / per-station) machining + extras — in £ constants a toolmaker can argue with line by line, not a single opaque number.</a:t>
            </a:r>
            <a:endParaRPr lang="en-US" sz="79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E8074"/>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programme sets the tool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Steel class follows the shots the programme needs (annual volume × 5 yr ÷ cavities): prototype ×0.55 · standard P20 ×1.0 · hardened production ×1.35 · high-wear ×1.7 — and the steel sets the life.</a:t>
            </a:r>
            <a:endParaRPr lang="en-US" sz="79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E8074"/>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tools needed = ceil(programme shots ÷ tool life); tooling £/part = tool cost × tools ÷ annual volume — then tolerance (×1.0–2.0) and surface-finish (up to ×1.6 painted Class-A) uplifts.</a:t>
            </a:r>
            <a:endParaRPr lang="en-US" sz="79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E8074"/>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blended; a quote always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kernel prices the tool independently from the B-rep; when both exist they are geometric-mean blended (sanity-clamped). A toolmaker QUOTATION overrides everything — the £420k bumper mould is an input, never an estimate.</a:t>
            </a:r>
            <a:endParaRPr lang="en-US" sz="79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THE TWO BIGGEST TOOLS, FORMULA BY FORMULA</a:t>
            </a:r>
            <a:endParaRPr lang="en-US" sz="850" dirty="0"/>
          </a:p>
        </p:txBody>
      </p:sp>
      <p:sp>
        <p:nvSpPr>
          <p:cNvPr id="31" name="Shape 29"/>
          <p:cNvSpPr/>
          <p:nvPr/>
        </p:nvSpPr>
        <p:spPr>
          <a:xfrm>
            <a:off x="6720840" y="1298448"/>
            <a:ext cx="5010912" cy="2212848"/>
          </a:xfrm>
          <a:prstGeom prst="roundRect">
            <a:avLst>
              <a:gd name="adj" fmla="val 3719"/>
            </a:avLst>
          </a:prstGeom>
          <a:solidFill>
            <a:srgbClr val="FFFFFF"/>
          </a:solidFill>
          <a:ln w="15875">
            <a:solidFill>
              <a:srgbClr val="0E8074"/>
            </a:solidFill>
            <a:prstDash val="solid"/>
          </a:ln>
        </p:spPr>
      </p:sp>
      <p:sp>
        <p:nvSpPr>
          <p:cNvPr id="32" name="Text 30"/>
          <p:cNvSpPr/>
          <p:nvPr/>
        </p:nvSpPr>
        <p:spPr>
          <a:xfrm>
            <a:off x="6903720" y="1389888"/>
            <a:ext cx="4663440" cy="201168"/>
          </a:xfrm>
          <a:prstGeom prst="rect">
            <a:avLst/>
          </a:prstGeom>
          <a:noFill/>
          <a:ln/>
        </p:spPr>
        <p:txBody>
          <a:bodyPr wrap="square" lIns="0" tIns="0" rIns="0" bIns="0" rtlCol="0" anchor="ctr"/>
          <a:lstStyle/>
          <a:p>
            <a:pPr indent="0" marL="0">
              <a:buNone/>
            </a:pPr>
            <a:r>
              <a:rPr lang="en-US" sz="880" b="1" dirty="0">
                <a:solidFill>
                  <a:srgbClr val="16325C"/>
                </a:solidFill>
                <a:latin typeface="Courier New" pitchFamily="34" charset="0"/>
                <a:ea typeface="Courier New" pitchFamily="34" charset="-122"/>
                <a:cs typeface="Courier New" pitchFamily="34" charset="-120"/>
              </a:rPr>
              <a:t>INJECTION MOULD  ·  estimateMouldCost()</a:t>
            </a:r>
            <a:endParaRPr lang="en-US" sz="880" dirty="0"/>
          </a:p>
        </p:txBody>
      </p:sp>
      <p:sp>
        <p:nvSpPr>
          <p:cNvPr id="33" name="Text 31"/>
          <p:cNvSpPr/>
          <p:nvPr/>
        </p:nvSpPr>
        <p:spPr>
          <a:xfrm>
            <a:off x="6903720" y="1609344"/>
            <a:ext cx="4709160" cy="457200"/>
          </a:xfrm>
          <a:prstGeom prst="rect">
            <a:avLst/>
          </a:prstGeom>
          <a:noFill/>
          <a:ln/>
        </p:spPr>
        <p:txBody>
          <a:bodyPr wrap="square" lIns="0" tIns="0" rIns="0" bIns="0" rtlCol="0" anchor="t"/>
          <a:lstStyle/>
          <a:p>
            <a:pPr indent="0" marL="0">
              <a:buNone/>
            </a:pPr>
            <a:r>
              <a:rPr lang="en-US" sz="760" dirty="0">
                <a:solidFill>
                  <a:srgbClr val="3A4356"/>
                </a:solidFill>
                <a:latin typeface="Courier New" pitchFamily="34" charset="0"/>
                <a:ea typeface="Courier New" pitchFamily="34" charset="-122"/>
                <a:cs typeface="Courier New" pitchFamily="34" charset="-120"/>
              </a:rPr>
              <a:t>total = [ £6,000 base  +  (£2,500 + area/cavity × £55) × n^0.9 ] × steel factor</a:t>
            </a:r>
            <a:endParaRPr lang="en-US" sz="760" dirty="0"/>
          </a:p>
          <a:p>
            <a:pPr indent="0" marL="0">
              <a:buNone/>
            </a:pPr>
            <a:r>
              <a:rPr lang="en-US" sz="760" dirty="0">
                <a:solidFill>
                  <a:srgbClr val="3A4356"/>
                </a:solidFill>
                <a:latin typeface="Courier New" pitchFamily="34" charset="0"/>
                <a:ea typeface="Courier New" pitchFamily="34" charset="-122"/>
                <a:cs typeface="Courier New" pitchFamily="34" charset="-120"/>
              </a:rPr>
              <a:t>        + side-actions × £3,500  +  hot runner (£4,000 + £2,500 per drop)</a:t>
            </a:r>
            <a:endParaRPr lang="en-US" sz="760" dirty="0"/>
          </a:p>
        </p:txBody>
      </p:sp>
      <p:sp>
        <p:nvSpPr>
          <p:cNvPr id="34" name="Text 32"/>
          <p:cNvSpPr/>
          <p:nvPr/>
        </p:nvSpPr>
        <p:spPr>
          <a:xfrm>
            <a:off x="6903720" y="2103120"/>
            <a:ext cx="4709160" cy="1335024"/>
          </a:xfrm>
          <a:prstGeom prst="rect">
            <a:avLst/>
          </a:prstGeom>
          <a:noFill/>
          <a:ln/>
        </p:spPr>
        <p:txBody>
          <a:bodyPr wrap="square" lIns="0" tIns="0" rIns="0" bIns="0" rtlCol="0" anchor="t"/>
          <a:lstStyle/>
          <a:p>
            <a:pPr indent="0" marL="0">
              <a:buNone/>
            </a:pPr>
            <a:r>
              <a:rPr lang="en-US" sz="800" b="1" dirty="0">
                <a:solidFill>
                  <a:srgbClr val="0E8074"/>
                </a:solidFill>
                <a:latin typeface="Calibri" pitchFamily="34" charset="0"/>
                <a:ea typeface="Calibri" pitchFamily="34" charset="-122"/>
                <a:cs typeface="Calibri" pitchFamily="34" charset="-120"/>
              </a:rPr>
              <a:t>Why n^0.9: </a:t>
            </a:r>
            <a:pPr indent="0" marL="0">
              <a:buNone/>
            </a:pPr>
            <a:r>
              <a:rPr lang="en-US" sz="800" dirty="0">
                <a:solidFill>
                  <a:srgbClr val="3A4356"/>
                </a:solidFill>
                <a:latin typeface="Calibri" pitchFamily="34" charset="0"/>
                <a:ea typeface="Calibri" pitchFamily="34" charset="-122"/>
                <a:cs typeface="Calibri" pitchFamily="34" charset="-120"/>
              </a:rPr>
              <a:t>the Nth identical cavity is cheaper than the first — and the cavity count itself is COST-RANKED (mould NRE vs cycle share per candidate, losers printed in the trace).
</a:t>
            </a:r>
            <a:pPr indent="0" marL="0">
              <a:buNone/>
            </a:pPr>
            <a:r>
              <a:rPr lang="en-US" sz="800" b="1" dirty="0">
                <a:solidFill>
                  <a:srgbClr val="16325C"/>
                </a:solidFill>
                <a:latin typeface="Calibri" pitchFamily="34" charset="0"/>
                <a:ea typeface="Calibri" pitchFamily="34" charset="-122"/>
                <a:cs typeface="Calibri" pitchFamily="34" charset="-120"/>
              </a:rPr>
              <a:t>The bumper, worked: </a:t>
            </a:r>
            <a:pPr indent="0" marL="0">
              <a:buNone/>
            </a:pPr>
            <a:r>
              <a:rPr lang="en-US" sz="800" dirty="0">
                <a:solidFill>
                  <a:srgbClr val="3A4356"/>
                </a:solidFill>
                <a:latin typeface="Calibri" pitchFamily="34" charset="0"/>
                <a:ea typeface="Calibri" pitchFamily="34" charset="-122"/>
                <a:cs typeface="Calibri" pitchFamily="34" charset="-120"/>
              </a:rPr>
              <a:t>1 cavity (2-up needs 7,388 t &gt; the 3,500 t largest press) × 9,000 cm² × production steel + 3 slides → advisor estimate ⊕ kernel’s independent £412k B-rep parametric, geometric mean → £407k. The deck’s worked example uses the £420k toolmaker quotation instead — because a quote always wins.</a:t>
            </a:r>
            <a:endParaRPr lang="en-US" sz="800" dirty="0"/>
          </a:p>
        </p:txBody>
      </p:sp>
      <p:sp>
        <p:nvSpPr>
          <p:cNvPr id="35" name="Shape 33"/>
          <p:cNvSpPr/>
          <p:nvPr/>
        </p:nvSpPr>
        <p:spPr>
          <a:xfrm>
            <a:off x="6720840" y="3639312"/>
            <a:ext cx="5010912" cy="2103120"/>
          </a:xfrm>
          <a:prstGeom prst="roundRect">
            <a:avLst>
              <a:gd name="adj" fmla="val 3913"/>
            </a:avLst>
          </a:prstGeom>
          <a:solidFill>
            <a:srgbClr val="FFFFFF"/>
          </a:solidFill>
          <a:ln w="15875">
            <a:solidFill>
              <a:srgbClr val="0E8074"/>
            </a:solidFill>
            <a:prstDash val="solid"/>
          </a:ln>
        </p:spPr>
      </p:sp>
      <p:sp>
        <p:nvSpPr>
          <p:cNvPr id="36" name="Text 34"/>
          <p:cNvSpPr/>
          <p:nvPr/>
        </p:nvSpPr>
        <p:spPr>
          <a:xfrm>
            <a:off x="6903720" y="3730752"/>
            <a:ext cx="4663440" cy="201168"/>
          </a:xfrm>
          <a:prstGeom prst="rect">
            <a:avLst/>
          </a:prstGeom>
          <a:noFill/>
          <a:ln/>
        </p:spPr>
        <p:txBody>
          <a:bodyPr wrap="square" lIns="0" tIns="0" rIns="0" bIns="0" rtlCol="0" anchor="ctr"/>
          <a:lstStyle/>
          <a:p>
            <a:pPr indent="0" marL="0">
              <a:buNone/>
            </a:pPr>
            <a:r>
              <a:rPr lang="en-US" sz="880" b="1" dirty="0">
                <a:solidFill>
                  <a:srgbClr val="16325C"/>
                </a:solidFill>
                <a:latin typeface="Courier New" pitchFamily="34" charset="0"/>
                <a:ea typeface="Courier New" pitchFamily="34" charset="-122"/>
                <a:cs typeface="Courier New" pitchFamily="34" charset="-120"/>
              </a:rPr>
              <a:t>HPDC DIE  ·  kernel parametric (B-rep)</a:t>
            </a:r>
            <a:endParaRPr lang="en-US" sz="880" dirty="0"/>
          </a:p>
        </p:txBody>
      </p:sp>
      <p:sp>
        <p:nvSpPr>
          <p:cNvPr id="37" name="Text 35"/>
          <p:cNvSpPr/>
          <p:nvPr/>
        </p:nvSpPr>
        <p:spPr>
          <a:xfrm>
            <a:off x="6903720" y="3950208"/>
            <a:ext cx="4709160" cy="603504"/>
          </a:xfrm>
          <a:prstGeom prst="rect">
            <a:avLst/>
          </a:prstGeom>
          <a:noFill/>
          <a:ln/>
        </p:spPr>
        <p:txBody>
          <a:bodyPr wrap="square" lIns="0" tIns="0" rIns="0" bIns="0" rtlCol="0" anchor="t"/>
          <a:lstStyle/>
          <a:p>
            <a:pPr indent="0" marL="0">
              <a:buNone/>
            </a:pPr>
            <a:r>
              <a:rPr lang="en-US" sz="760" dirty="0">
                <a:solidFill>
                  <a:srgbClr val="3A4356"/>
                </a:solidFill>
                <a:latin typeface="Courier New" pitchFamily="34" charset="0"/>
                <a:ea typeface="Courier New" pitchFamily="34" charset="-122"/>
                <a:cs typeface="Courier New" pitchFamily="34" charset="-120"/>
              </a:rPr>
              <a:t>complexity = faces × £150 + holes × £400 + undercuts × £10,000</a:t>
            </a:r>
            <a:endParaRPr lang="en-US" sz="760" dirty="0"/>
          </a:p>
          <a:p>
            <a:pPr indent="0" marL="0">
              <a:buNone/>
            </a:pPr>
            <a:r>
              <a:rPr lang="en-US" sz="760" dirty="0">
                <a:solidFill>
                  <a:srgbClr val="3A4356"/>
                </a:solidFill>
                <a:latin typeface="Courier New" pitchFamily="34" charset="0"/>
                <a:ea typeface="Courier New" pitchFamily="34" charset="-122"/>
                <a:cs typeface="Courier New" pitchFamily="34" charset="-120"/>
              </a:rPr>
              <a:t>die = complexity × (bbox litres)^0.45, floored £40k/£80k/£120k by</a:t>
            </a:r>
            <a:endParaRPr lang="en-US" sz="760" dirty="0"/>
          </a:p>
          <a:p>
            <a:pPr indent="0" marL="0">
              <a:buNone/>
            </a:pPr>
            <a:r>
              <a:rPr lang="en-US" sz="760" dirty="0">
                <a:solidFill>
                  <a:srgbClr val="3A4356"/>
                </a:solidFill>
                <a:latin typeface="Courier New" pitchFamily="34" charset="0"/>
                <a:ea typeface="Courier New" pitchFamily="34" charset="-122"/>
                <a:cs typeface="Courier New" pitchFamily="34" charset="-120"/>
              </a:rPr>
              <a:t>shot weight, capped £300k   ·   die life: 150,000 shots</a:t>
            </a:r>
            <a:endParaRPr lang="en-US" sz="760" dirty="0"/>
          </a:p>
        </p:txBody>
      </p:sp>
      <p:sp>
        <p:nvSpPr>
          <p:cNvPr id="38" name="Text 36"/>
          <p:cNvSpPr/>
          <p:nvPr/>
        </p:nvSpPr>
        <p:spPr>
          <a:xfrm>
            <a:off x="6903720" y="4572000"/>
            <a:ext cx="4709160" cy="1097280"/>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Every undercut face the kernel counts is £10,000 of sliding tool section </a:t>
            </a:r>
            <a:pPr indent="0" marL="0">
              <a:buNone/>
            </a:pPr>
            <a:r>
              <a:rPr lang="en-US" sz="800" dirty="0">
                <a:solidFill>
                  <a:srgbClr val="3A4356"/>
                </a:solidFill>
                <a:latin typeface="Calibri" pitchFamily="34" charset="0"/>
                <a:ea typeface="Calibri" pitchFamily="34" charset="-122"/>
                <a:cs typeface="Calibri" pitchFamily="34" charset="-120"/>
              </a:rPr>
              <a:t>— the die price moves with measured features, not with anyone’s optimism. Gravity moulds and sand patterns have their own kernel parametrics (sand: £1.5k–£50k, complexity-driven). Life bands: HPDC 150k · gravity 50k · sand 8k · investment 5k shots.</a:t>
            </a:r>
            <a:endParaRPr lang="en-US" sz="800" dirty="0"/>
          </a:p>
        </p:txBody>
      </p:sp>
      <p:sp>
        <p:nvSpPr>
          <p:cNvPr id="39" name="Shape 37"/>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0" name="Text 38"/>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parametric build-up from measured geometry, steel class from the programme volume, life from the steel, amortised over the tools the programme actually consumes — and a real quotation beats the estimate every time.</a:t>
            </a:r>
            <a:endParaRPr lang="en-US" sz="980" dirty="0"/>
          </a:p>
        </p:txBody>
      </p:sp>
      <p:sp>
        <p:nvSpPr>
          <p:cNvPr id="41" name="Text 3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2" name="Text 4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method, commodity by commodity — with the honest gap stated</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E8074"/>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estimateForgingDieCost() / DieLife()</a:t>
            </a:r>
            <a:endParaRPr lang="en-US" sz="840" dirty="0"/>
          </a:p>
        </p:txBody>
      </p:sp>
      <p:sp>
        <p:nvSpPr>
          <p:cNvPr id="7" name="Text 5"/>
          <p:cNvSpPr/>
          <p:nvPr/>
        </p:nvSpPr>
        <p:spPr>
          <a:xfrm>
            <a:off x="640080" y="1426464"/>
            <a:ext cx="5166360" cy="658368"/>
          </a:xfrm>
          <a:prstGeom prst="rect">
            <a:avLst/>
          </a:prstGeom>
          <a:noFill/>
          <a:ln/>
        </p:spPr>
        <p:txBody>
          <a:bodyPr wrap="square" lIns="0" tIns="0" rIns="0" bIns="0" rtlCol="0" anchor="t"/>
          <a:lstStyle/>
          <a:p>
            <a:pPr indent="0" marL="0">
              <a:buNone/>
            </a:pPr>
            <a:r>
              <a:rPr lang="en-US" sz="720" dirty="0">
                <a:solidFill>
                  <a:srgbClr val="3A4356"/>
                </a:solidFill>
                <a:latin typeface="Courier New" pitchFamily="34" charset="0"/>
                <a:ea typeface="Courier New" pitchFamily="34" charset="-122"/>
                <a:cs typeface="Courier New" pitchFamily="34" charset="-120"/>
              </a:rPr>
              <a:t>die = [ £6,000 + area × £45 + part kg × £250 ] × die steel</a:t>
            </a:r>
            <a:endParaRPr lang="en-US" sz="720" dirty="0"/>
          </a:p>
          <a:p>
            <a:pPr indent="0" marL="0">
              <a:buNone/>
            </a:pPr>
            <a:r>
              <a:rPr lang="en-US" sz="720" dirty="0">
                <a:solidFill>
                  <a:srgbClr val="3A4356"/>
                </a:solidFill>
                <a:latin typeface="Courier New" pitchFamily="34" charset="0"/>
                <a:ea typeface="Courier New" pitchFamily="34" charset="-122"/>
                <a:cs typeface="Courier New" pitchFamily="34" charset="-120"/>
              </a:rPr>
              <a:t>    + impressions × (£3,500 + area × £55) × complexity × steel</a:t>
            </a:r>
            <a:endParaRPr lang="en-US" sz="720" dirty="0"/>
          </a:p>
          <a:p>
            <a:pPr indent="0" marL="0">
              <a:buNone/>
            </a:pPr>
            <a:r>
              <a:rPr lang="en-US" sz="720" dirty="0">
                <a:solidFill>
                  <a:srgbClr val="3A4356"/>
                </a:solidFill>
                <a:latin typeface="Courier New" pitchFamily="34" charset="0"/>
                <a:ea typeface="Courier New" pitchFamily="34" charset="-122"/>
                <a:cs typeface="Courier New" pitchFamily="34" charset="-120"/>
              </a:rPr>
              <a:t>    + heat treat (£2,500 + area × £6) + polish £800/impression</a:t>
            </a:r>
            <a:endParaRPr lang="en-US" sz="720" dirty="0"/>
          </a:p>
        </p:txBody>
      </p:sp>
      <p:sp>
        <p:nvSpPr>
          <p:cNvPr id="8" name="Text 6"/>
          <p:cNvSpPr/>
          <p:nvPr/>
        </p:nvSpPr>
        <p:spPr>
          <a:xfrm>
            <a:off x="640080" y="2121408"/>
            <a:ext cx="5166360" cy="113385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Die steel: hammer ×0.85 · H13 ×1.0 · premium ×1.4. Complexity ×0.8–1.4. LIFE IS ALLOY-KEYED — aluminium 80k · carbon steel 40k · alloy steel 30k · stainless 18k · titanium 8k · superalloy 3,500 hits — × complexity (0.6–1.3) × size penalty (100/area)^0.2. A flat die life was a live defect this engine fixed: it over-charged aluminium tooling 2–4× and under-charged titanium.</a:t>
            </a:r>
            <a:endParaRPr lang="en-US" sz="79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E8074"/>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estimateStampingDieCost() / DieLife()</a:t>
            </a:r>
            <a:endParaRPr lang="en-US" sz="840" dirty="0"/>
          </a:p>
        </p:txBody>
      </p:sp>
      <p:sp>
        <p:nvSpPr>
          <p:cNvPr id="11" name="Text 9"/>
          <p:cNvSpPr/>
          <p:nvPr/>
        </p:nvSpPr>
        <p:spPr>
          <a:xfrm>
            <a:off x="6382512" y="1426464"/>
            <a:ext cx="5166360" cy="658368"/>
          </a:xfrm>
          <a:prstGeom prst="rect">
            <a:avLst/>
          </a:prstGeom>
          <a:noFill/>
          <a:ln/>
        </p:spPr>
        <p:txBody>
          <a:bodyPr wrap="square" lIns="0" tIns="0" rIns="0" bIns="0" rtlCol="0" anchor="t"/>
          <a:lstStyle/>
          <a:p>
            <a:pPr indent="0" marL="0">
              <a:buNone/>
            </a:pPr>
            <a:r>
              <a:rPr lang="en-US" sz="720" dirty="0">
                <a:solidFill>
                  <a:srgbClr val="3A4356"/>
                </a:solidFill>
                <a:latin typeface="Courier New" pitchFamily="34" charset="0"/>
                <a:ea typeface="Courier New" pitchFamily="34" charset="-122"/>
                <a:cs typeface="Courier New" pitchFamily="34" charset="-120"/>
              </a:rPr>
              <a:t>die = (base + stations × per-station) × size × hardness</a:t>
            </a:r>
            <a:endParaRPr lang="en-US" sz="720" dirty="0"/>
          </a:p>
          <a:p>
            <a:pPr indent="0" marL="0">
              <a:buNone/>
            </a:pPr>
            <a:r>
              <a:rPr lang="en-US" sz="720" dirty="0">
                <a:solidFill>
                  <a:srgbClr val="3A4356"/>
                </a:solidFill>
                <a:latin typeface="Courier New" pitchFamily="34" charset="0"/>
                <a:ea typeface="Courier New" pitchFamily="34" charset="-122"/>
                <a:cs typeface="Courier New" pitchFamily="34" charset="-120"/>
              </a:rPr>
              <a:t>size = 0.5 + blank cm²/500      hardness: mild 1.0 → boron ≈1.8</a:t>
            </a:r>
            <a:endParaRPr lang="en-US" sz="720" dirty="0"/>
          </a:p>
          <a:p>
            <a:pPr indent="0" marL="0">
              <a:buNone/>
            </a:pPr>
            <a:r>
              <a:rPr lang="en-US" sz="720" dirty="0">
                <a:solidFill>
                  <a:srgbClr val="3A4356"/>
                </a:solidFill>
                <a:latin typeface="Courier New" pitchFamily="34" charset="0"/>
                <a:ea typeface="Courier New" pitchFamily="34" charset="-122"/>
                <a:cs typeface="Courier New" pitchFamily="34" charset="-120"/>
              </a:rPr>
              <a:t>single £6k+£2.5k/stn · progressive £12k+£6k/stn · transfer £20k+£9k/stn · fine-blank £30k+£12k/stn</a:t>
            </a:r>
            <a:endParaRPr lang="en-US" sz="720" dirty="0"/>
          </a:p>
        </p:txBody>
      </p:sp>
      <p:sp>
        <p:nvSpPr>
          <p:cNvPr id="12" name="Text 10"/>
          <p:cNvSpPr/>
          <p:nvPr/>
        </p:nvSpPr>
        <p:spPr>
          <a:xfrm>
            <a:off x="6382512" y="2121408"/>
            <a:ext cx="5166360" cy="113385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Life = 1M × (300 ÷ shear MPa)^1.3 × thickness factor × 0.6 if fine-blanking, clamped 50k–3M strokes. Harder, thicker steel wears the tool faster and the formula says by how much.</a:t>
            </a:r>
            <a:endParaRPr lang="en-US" sz="79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E8074"/>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estimateBlowMouldCost()</a:t>
            </a:r>
            <a:endParaRPr lang="en-US" sz="840" dirty="0"/>
          </a:p>
        </p:txBody>
      </p:sp>
      <p:sp>
        <p:nvSpPr>
          <p:cNvPr id="15" name="Text 13"/>
          <p:cNvSpPr/>
          <p:nvPr/>
        </p:nvSpPr>
        <p:spPr>
          <a:xfrm>
            <a:off x="640080" y="3767328"/>
            <a:ext cx="5166360" cy="658368"/>
          </a:xfrm>
          <a:prstGeom prst="rect">
            <a:avLst/>
          </a:prstGeom>
          <a:noFill/>
          <a:ln/>
        </p:spPr>
        <p:txBody>
          <a:bodyPr wrap="square" lIns="0" tIns="0" rIns="0" bIns="0" rtlCol="0" anchor="t"/>
          <a:lstStyle/>
          <a:p>
            <a:pPr indent="0" marL="0">
              <a:buNone/>
            </a:pPr>
            <a:r>
              <a:rPr lang="en-US" sz="720" dirty="0">
                <a:solidFill>
                  <a:srgbClr val="3A4356"/>
                </a:solidFill>
                <a:latin typeface="Courier New" pitchFamily="34" charset="0"/>
                <a:ea typeface="Courier New" pitchFamily="34" charset="-122"/>
                <a:cs typeface="Courier New" pitchFamily="34" charset="-120"/>
              </a:rPr>
              <a:t>mould = [ base £4k–£7k + (process £1.8k–£3.8k + litres × £900) × n^0.9 ]</a:t>
            </a:r>
            <a:endParaRPr lang="en-US" sz="720" dirty="0"/>
          </a:p>
          <a:p>
            <a:pPr indent="0" marL="0">
              <a:buNone/>
            </a:pPr>
            <a:r>
              <a:rPr lang="en-US" sz="720" dirty="0">
                <a:solidFill>
                  <a:srgbClr val="3A4356"/>
                </a:solidFill>
                <a:latin typeface="Courier New" pitchFamily="34" charset="0"/>
                <a:ea typeface="Courier New" pitchFamily="34" charset="-122"/>
                <a:cs typeface="Courier New" pitchFamily="34" charset="-120"/>
              </a:rPr>
              <a:t>        × mould material  +  cooling 6% (15% high-cooling)</a:t>
            </a:r>
            <a:endParaRPr lang="en-US" sz="720" dirty="0"/>
          </a:p>
        </p:txBody>
      </p:sp>
      <p:sp>
        <p:nvSpPr>
          <p:cNvPr id="16" name="Text 14"/>
          <p:cNvSpPr/>
          <p:nvPr/>
        </p:nvSpPr>
        <p:spPr>
          <a:xfrm>
            <a:off x="640080" y="4462272"/>
            <a:ext cx="5166360" cy="113385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EBM aluminium is the workhorse; IBM/SBM carry a core-rod/preform premium. Life follows the mould material: aluminium 500k · P20 1M · H13 2M shots.</a:t>
            </a:r>
            <a:endParaRPr lang="en-US" sz="79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E8074"/>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MACHINING · CAST+MACHINE · THE HONEST GAP</a:t>
            </a:r>
            <a:endParaRPr lang="en-US" sz="840" dirty="0"/>
          </a:p>
        </p:txBody>
      </p:sp>
      <p:sp>
        <p:nvSpPr>
          <p:cNvPr id="19" name="Text 17"/>
          <p:cNvSpPr/>
          <p:nvPr/>
        </p:nvSpPr>
        <p:spPr>
          <a:xfrm>
            <a:off x="6382512" y="3767328"/>
            <a:ext cx="5166360" cy="658368"/>
          </a:xfrm>
          <a:prstGeom prst="rect">
            <a:avLst/>
          </a:prstGeom>
          <a:noFill/>
          <a:ln/>
        </p:spPr>
        <p:txBody>
          <a:bodyPr wrap="square" lIns="0" tIns="0" rIns="0" bIns="0" rtlCol="0" anchor="t"/>
          <a:lstStyle/>
          <a:p>
            <a:pPr indent="0" marL="0">
              <a:buNone/>
            </a:pPr>
            <a:r>
              <a:rPr lang="en-US" sz="720" dirty="0">
                <a:solidFill>
                  <a:srgbClr val="3A4356"/>
                </a:solidFill>
                <a:latin typeface="Courier New" pitchFamily="34" charset="0"/>
                <a:ea typeface="Courier New" pitchFamily="34" charset="-122"/>
                <a:cs typeface="Courier New" pitchFamily="34" charset="-120"/>
              </a:rPr>
              <a:t>No die: fixtures + CNC programming NRE (cast+machine books £15,000</a:t>
            </a:r>
            <a:endParaRPr lang="en-US" sz="720" dirty="0"/>
          </a:p>
          <a:p>
            <a:pPr indent="0" marL="0">
              <a:buNone/>
            </a:pPr>
            <a:r>
              <a:rPr lang="en-US" sz="720" dirty="0">
                <a:solidFill>
                  <a:srgbClr val="3A4356"/>
                </a:solidFill>
                <a:latin typeface="Courier New" pitchFamily="34" charset="0"/>
                <a:ea typeface="Courier New" pitchFamily="34" charset="-122"/>
                <a:cs typeface="Courier New" pitchFamily="34" charset="-120"/>
              </a:rPr>
              <a:t>of secondary-machining NRE), amortised over annual volume.</a:t>
            </a:r>
            <a:endParaRPr lang="en-US" sz="720" dirty="0"/>
          </a:p>
        </p:txBody>
      </p:sp>
      <p:sp>
        <p:nvSpPr>
          <p:cNvPr id="20" name="Text 18"/>
          <p:cNvSpPr/>
          <p:nvPr/>
        </p:nvSpPr>
        <p:spPr>
          <a:xfrm>
            <a:off x="6382512" y="4462272"/>
            <a:ext cx="5166360" cy="113385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And the gap stated out loud: INVESTMENT-CASTING tooling has no parametric model — the tool STOPS AND ASKS for a toolmaker quotation rather than inventing a band. An asked question beats a guessed constant.</a:t>
            </a:r>
            <a:endParaRPr lang="en-US" sz="79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Why you can trust these numbers:  </a:t>
            </a:r>
            <a:pPr indent="0" marL="0">
              <a:buNone/>
            </a:pPr>
            <a:r>
              <a:rPr lang="en-US" sz="980" dirty="0">
                <a:solidFill>
                  <a:srgbClr val="3A4356"/>
                </a:solidFill>
                <a:latin typeface="Calibri" pitchFamily="34" charset="0"/>
                <a:ea typeface="Calibri" pitchFamily="34" charset="-122"/>
                <a:cs typeface="Calibri" pitchFamily="34" charset="-120"/>
              </a:rPr>
              <a:t>every constant lives in a named, unit-tested source file (forging-advisor.ts, sheet-metal-advisor.ts, blow-advisor.ts, injection-moulding.ts, the geometry kernel) — auditable line by line, changed only by a code review, and never written by an AI.</a:t>
            </a:r>
            <a:endParaRPr lang="en-US" sz="98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Reads and names it</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Reviews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Confirms every AI call</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AI reads the part.   The engine does every calculation.   A person approves the answer.</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Recognise the recipe</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with a confidence score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274320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the AI is involved, the AI hands back four words and a confidence score, and it still has no access to a price, a rate or a machine.</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Twenty commodities are modelled. A genuinely novel process needs a new module — days of work, not minutes, and it needs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2026-08-05T08:00:25Z</dcterms:created>
  <dcterms:modified xsi:type="dcterms:W3CDTF">2026-08-05T08:00:25Z</dcterms:modified>
</cp:coreProperties>
</file>