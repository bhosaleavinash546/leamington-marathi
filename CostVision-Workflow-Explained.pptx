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three pounds twenty-two of opportunity against a twenty-five pound piece cost.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below the twelve point eight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three pounds twenty-two per part of combined opportunity, about thirteen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the PCB flow,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3–9</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10–28</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29–39</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40</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28 (the housing on one page) · slide 38 (the two findings) · slide 40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1,530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00" i="1" dirty="0">
                <a:solidFill>
                  <a:srgbClr val="6B3FA0"/>
                </a:solidFill>
                <a:latin typeface="Calibri" pitchFamily="34" charset="0"/>
                <a:ea typeface="Calibri" pitchFamily="34" charset="-122"/>
                <a:cs typeface="Calibri" pitchFamily="34" charset="-120"/>
              </a:rPr>
              <a:t>Routable to a private endpoint · AIR_GAPPED=1 refuses the call — CAD and manual costing still work; only the PCB photo path stops</a:t>
            </a:r>
            <a:endParaRPr lang="en-US" sz="7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620" b="1" spc="40" kern="0" dirty="0">
                <a:solidFill>
                  <a:srgbClr val="FFFFFF"/>
                </a:solidFill>
                <a:latin typeface="Calibri" pitchFamily="34" charset="0"/>
                <a:ea typeface="Calibri" pitchFamily="34" charset="-122"/>
                <a:cs typeface="Calibri" pitchFamily="34" charset="-120"/>
              </a:rPr>
              <a:t>NEEDS THE AI</a:t>
            </a:r>
            <a:endParaRPr lang="en-US" sz="62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71" name="Shape 66"/>
          <p:cNvSpPr/>
          <p:nvPr/>
        </p:nvSpPr>
        <p:spPr>
          <a:xfrm>
            <a:off x="2734056" y="5084064"/>
            <a:ext cx="310896" cy="310896"/>
          </a:xfrm>
          <a:prstGeom prst="ellipse">
            <a:avLst/>
          </a:prstGeom>
          <a:solidFill>
            <a:srgbClr val="2E8B57"/>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6" name="Shape 70"/>
          <p:cNvSpPr/>
          <p:nvPr/>
        </p:nvSpPr>
        <p:spPr>
          <a:xfrm>
            <a:off x="5020056" y="2560320"/>
            <a:ext cx="310896" cy="310896"/>
          </a:xfrm>
          <a:prstGeom prst="ellipse">
            <a:avLst/>
          </a:prstGeom>
          <a:solidFill>
            <a:srgbClr val="B7791F"/>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81" name="Shape 74"/>
          <p:cNvSpPr/>
          <p:nvPr/>
        </p:nvSpPr>
        <p:spPr>
          <a:xfrm>
            <a:off x="7900416" y="2560320"/>
            <a:ext cx="310896" cy="310896"/>
          </a:xfrm>
          <a:prstGeom prst="ellipse">
            <a:avLst/>
          </a:prstGeom>
          <a:solidFill>
            <a:srgbClr val="0E8074"/>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6" name="Shape 78"/>
          <p:cNvSpPr/>
          <p:nvPr/>
        </p:nvSpPr>
        <p:spPr>
          <a:xfrm>
            <a:off x="7900416" y="3822192"/>
            <a:ext cx="310896" cy="310896"/>
          </a:xfrm>
          <a:prstGeom prst="ellipse">
            <a:avLst/>
          </a:prstGeom>
          <a:solidFill>
            <a:srgbClr val="0E8074"/>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6236208" y="2368296"/>
            <a:ext cx="548640" cy="155448"/>
          </a:xfrm>
          <a:prstGeom prst="roundRect">
            <a:avLst>
              <a:gd name="adj" fmla="val 50000"/>
            </a:avLst>
          </a:prstGeom>
          <a:solidFill>
            <a:srgbClr val="B7791F"/>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9070848" y="2368296"/>
            <a:ext cx="548640" cy="155448"/>
          </a:xfrm>
          <a:prstGeom prst="roundRect">
            <a:avLst>
              <a:gd name="adj" fmla="val 50000"/>
            </a:avLst>
          </a:prstGeom>
          <a:solidFill>
            <a:srgbClr val="0E8074"/>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9070848" y="3630168"/>
            <a:ext cx="548640" cy="155448"/>
          </a:xfrm>
          <a:prstGeom prst="roundRect">
            <a:avLst>
              <a:gd name="adj" fmla="val 50000"/>
            </a:avLst>
          </a:prstGeom>
          <a:solidFill>
            <a:srgbClr val="0E8074"/>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8" name="Shape 98"/>
          <p:cNvSpPr/>
          <p:nvPr/>
        </p:nvSpPr>
        <p:spPr>
          <a:xfrm>
            <a:off x="9070848" y="4892040"/>
            <a:ext cx="548640" cy="155448"/>
          </a:xfrm>
          <a:prstGeom prst="roundRect">
            <a:avLst>
              <a:gd name="adj" fmla="val 50000"/>
            </a:avLst>
          </a:prstGeom>
          <a:solidFill>
            <a:srgbClr val="2E8B57"/>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0" name="Shape 100"/>
          <p:cNvSpPr/>
          <p:nvPr/>
        </p:nvSpPr>
        <p:spPr>
          <a:xfrm>
            <a:off x="6236208" y="3630168"/>
            <a:ext cx="548640" cy="155448"/>
          </a:xfrm>
          <a:prstGeom prst="roundRect">
            <a:avLst>
              <a:gd name="adj" fmla="val 50000"/>
            </a:avLst>
          </a:prstGeom>
          <a:solidFill>
            <a:srgbClr val="0E8074"/>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2" name="Shape 102"/>
          <p:cNvSpPr/>
          <p:nvPr/>
        </p:nvSpPr>
        <p:spPr>
          <a:xfrm>
            <a:off x="3904488" y="4892040"/>
            <a:ext cx="548640" cy="155448"/>
          </a:xfrm>
          <a:prstGeom prst="roundRect">
            <a:avLst>
              <a:gd name="adj" fmla="val 50000"/>
            </a:avLst>
          </a:prstGeom>
          <a:solidFill>
            <a:srgbClr val="2E8B57"/>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E8B57"/>
            </a:solidFill>
            <a:prstDash val="solid"/>
            <a:tailEnd type="triangle"/>
          </a:ln>
        </p:spPr>
      </p:sp>
      <p:sp>
        <p:nvSpPr>
          <p:cNvPr id="118" name="Shape 108"/>
          <p:cNvSpPr/>
          <p:nvPr/>
        </p:nvSpPr>
        <p:spPr>
          <a:xfrm flipH="1">
            <a:off x="4526280" y="3008376"/>
            <a:ext cx="365760" cy="283464"/>
          </a:xfrm>
          <a:prstGeom prst="line">
            <a:avLst/>
          </a:prstGeom>
          <a:noFill/>
          <a:ln w="17780">
            <a:solidFill>
              <a:srgbClr val="B7791F"/>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E8074"/>
            </a:solidFill>
            <a:prstDash val="solid"/>
            <a:tailEnd type="triangle"/>
          </a:ln>
        </p:spPr>
      </p:sp>
      <p:sp>
        <p:nvSpPr>
          <p:cNvPr id="121" name="Shape 111"/>
          <p:cNvSpPr/>
          <p:nvPr/>
        </p:nvSpPr>
        <p:spPr>
          <a:xfrm flipH="1">
            <a:off x="6858000" y="3008376"/>
            <a:ext cx="365760" cy="923544"/>
          </a:xfrm>
          <a:prstGeom prst="line">
            <a:avLst/>
          </a:prstGeom>
          <a:noFill/>
          <a:ln w="22225">
            <a:solidFill>
              <a:srgbClr val="0E8074"/>
            </a:solidFill>
            <a:prstDash val="solid"/>
            <a:tailEnd type="triangle"/>
          </a:ln>
        </p:spPr>
      </p:sp>
      <p:sp>
        <p:nvSpPr>
          <p:cNvPr id="122" name="Shape 112"/>
          <p:cNvSpPr/>
          <p:nvPr/>
        </p:nvSpPr>
        <p:spPr>
          <a:xfrm flipH="1">
            <a:off x="6858000" y="4270248"/>
            <a:ext cx="914400" cy="0"/>
          </a:xfrm>
          <a:prstGeom prst="line">
            <a:avLst/>
          </a:prstGeom>
          <a:noFill/>
          <a:ln w="22225">
            <a:solidFill>
              <a:srgbClr val="0E8074"/>
            </a:solidFill>
            <a:prstDash val="solid"/>
            <a:tailEnd type="triangle"/>
          </a:ln>
        </p:spPr>
      </p:sp>
      <p:sp>
        <p:nvSpPr>
          <p:cNvPr id="123" name="Shape 113"/>
          <p:cNvSpPr/>
          <p:nvPr/>
        </p:nvSpPr>
        <p:spPr>
          <a:xfrm>
            <a:off x="6858000" y="4846320"/>
            <a:ext cx="914400" cy="502920"/>
          </a:xfrm>
          <a:prstGeom prst="line">
            <a:avLst/>
          </a:prstGeom>
          <a:noFill/>
          <a:ln w="22225">
            <a:solidFill>
              <a:srgbClr val="2E8B57"/>
            </a:solidFill>
            <a:prstDash val="solid"/>
            <a:tailEnd type="triangle"/>
          </a:ln>
        </p:spPr>
      </p:sp>
      <p:sp>
        <p:nvSpPr>
          <p:cNvPr id="124" name="Shape 114"/>
          <p:cNvSpPr/>
          <p:nvPr/>
        </p:nvSpPr>
        <p:spPr>
          <a:xfrm>
            <a:off x="9692640" y="5440680"/>
            <a:ext cx="411480" cy="0"/>
          </a:xfrm>
          <a:prstGeom prst="line">
            <a:avLst/>
          </a:prstGeom>
          <a:noFill/>
          <a:ln w="22225">
            <a:solidFill>
              <a:srgbClr val="2E8B57"/>
            </a:solidFill>
            <a:prstDash val="solid"/>
            <a:tailEnd type="triangle"/>
          </a:ln>
        </p:spPr>
      </p:sp>
      <p:sp>
        <p:nvSpPr>
          <p:cNvPr id="125" name="Shape 115"/>
          <p:cNvSpPr/>
          <p:nvPr/>
        </p:nvSpPr>
        <p:spPr>
          <a:xfrm flipH="1">
            <a:off x="9692640" y="4498848"/>
            <a:ext cx="411480" cy="0"/>
          </a:xfrm>
          <a:prstGeom prst="line">
            <a:avLst/>
          </a:prstGeom>
          <a:noFill/>
          <a:ln w="17780">
            <a:solidFill>
              <a:srgbClr val="2E8B57"/>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7" name="Shape 117"/>
          <p:cNvSpPr/>
          <p:nvPr/>
        </p:nvSpPr>
        <p:spPr>
          <a:xfrm>
            <a:off x="9692640" y="3008376"/>
            <a:ext cx="411480" cy="0"/>
          </a:xfrm>
          <a:prstGeom prst="line">
            <a:avLst/>
          </a:prstGeom>
          <a:noFill/>
          <a:ln w="22225">
            <a:solidFill>
              <a:srgbClr val="2E8B57"/>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606040" y="4956048"/>
            <a:ext cx="2148840" cy="950976"/>
          </a:xfrm>
          <a:prstGeom prst="roundRect">
            <a:avLst>
              <a:gd name="adj" fmla="val 8654"/>
            </a:avLst>
          </a:prstGeom>
          <a:solidFill>
            <a:srgbClr val="FBEAE8"/>
          </a:solidFill>
          <a:ln w="15875">
            <a:solidFill>
              <a:srgbClr val="B03A2E"/>
            </a:solidFill>
            <a:prstDash val="solid"/>
          </a:ln>
        </p:spPr>
      </p:sp>
      <p:sp>
        <p:nvSpPr>
          <p:cNvPr id="61" name="Text 53"/>
          <p:cNvSpPr/>
          <p:nvPr/>
        </p:nvSpPr>
        <p:spPr>
          <a:xfrm>
            <a:off x="2743200" y="5010912"/>
            <a:ext cx="1874520" cy="164592"/>
          </a:xfrm>
          <a:prstGeom prst="rect">
            <a:avLst/>
          </a:prstGeom>
          <a:noFill/>
          <a:ln/>
        </p:spPr>
        <p:txBody>
          <a:bodyPr wrap="square" lIns="0" tIns="0" rIns="0" bIns="0" rtlCol="0" anchor="ctr"/>
          <a:lstStyle/>
          <a:p>
            <a:pPr indent="0" marL="0">
              <a:buNone/>
            </a:pPr>
            <a:r>
              <a:rPr lang="en-US" sz="720" b="1" spc="40" kern="0" dirty="0">
                <a:solidFill>
                  <a:srgbClr val="B03A2E"/>
                </a:solidFill>
                <a:latin typeface="Calibri" pitchFamily="34" charset="0"/>
                <a:ea typeface="Calibri" pitchFamily="34" charset="-122"/>
                <a:cs typeface="Calibri" pitchFamily="34" charset="-120"/>
              </a:rPr>
              <a:t>IF THE NETWORK IS OFF</a:t>
            </a:r>
            <a:endParaRPr lang="en-US" sz="720" dirty="0"/>
          </a:p>
        </p:txBody>
      </p:sp>
      <p:sp>
        <p:nvSpPr>
          <p:cNvPr id="62" name="Text 54"/>
          <p:cNvSpPr/>
          <p:nvPr/>
        </p:nvSpPr>
        <p:spPr>
          <a:xfrm>
            <a:off x="2743200" y="5175504"/>
            <a:ext cx="1874520" cy="676656"/>
          </a:xfrm>
          <a:prstGeom prst="rect">
            <a:avLst/>
          </a:prstGeom>
          <a:noFill/>
          <a:ln/>
        </p:spPr>
        <p:txBody>
          <a:bodyPr wrap="square" lIns="0" tIns="0" rIns="0" bIns="0" rtlCol="0" anchor="t"/>
          <a:lstStyle/>
          <a:p>
            <a:pPr indent="0" marL="0">
              <a:buNone/>
            </a:pPr>
            <a:r>
              <a:rPr lang="en-US" sz="660" dirty="0">
                <a:solidFill>
                  <a:srgbClr val="3A4356"/>
                </a:solidFill>
                <a:latin typeface="Calibri" pitchFamily="34" charset="0"/>
                <a:ea typeface="Calibri" pitchFamily="34" charset="-122"/>
                <a:cs typeface="Calibri" pitchFamily="34" charset="-120"/>
              </a:rPr>
              <a:t>AIR_GAPPED=1 blocks this flow — a photo cannot be costed without the vision read. CAD and manual costing are unaffected.</a:t>
            </a:r>
            <a:endParaRPr lang="en-US" sz="660" dirty="0"/>
          </a:p>
          <a:p>
            <a:pPr indent="0" marL="0">
              <a:buNone/>
            </a:pPr>
            <a:r>
              <a:rPr lang="en-US" sz="660" dirty="0">
                <a:solidFill>
                  <a:srgbClr val="3A4356"/>
                </a:solidFill>
                <a:latin typeface="Calibri" pitchFamily="34" charset="0"/>
                <a:ea typeface="Calibri" pitchFamily="34" charset="-122"/>
                <a:cs typeface="Calibri" pitchFamily="34" charset="-120"/>
              </a:rPr>
              <a:t>Live distributor pricing exists but is OFF by default; the offline catalogue is the source.</a:t>
            </a:r>
            <a:endParaRPr lang="en-US" sz="660" dirty="0"/>
          </a:p>
        </p:txBody>
      </p:sp>
      <p:sp>
        <p:nvSpPr>
          <p:cNvPr id="63" name="Shape 55"/>
          <p:cNvSpPr/>
          <p:nvPr/>
        </p:nvSpPr>
        <p:spPr>
          <a:xfrm>
            <a:off x="2423160" y="3008376"/>
            <a:ext cx="182880" cy="0"/>
          </a:xfrm>
          <a:prstGeom prst="line">
            <a:avLst/>
          </a:prstGeom>
          <a:noFill/>
          <a:ln w="22225">
            <a:solidFill>
              <a:srgbClr val="1D6FB8"/>
            </a:solidFill>
            <a:prstDash val="solid"/>
            <a:tailEnd type="triangle"/>
          </a:ln>
        </p:spPr>
      </p:sp>
      <p:sp>
        <p:nvSpPr>
          <p:cNvPr id="64" name="Shape 56"/>
          <p:cNvSpPr/>
          <p:nvPr/>
        </p:nvSpPr>
        <p:spPr>
          <a:xfrm>
            <a:off x="3611880" y="3566160"/>
            <a:ext cx="0" cy="146304"/>
          </a:xfrm>
          <a:prstGeom prst="line">
            <a:avLst/>
          </a:prstGeom>
          <a:noFill/>
          <a:ln w="22225">
            <a:solidFill>
              <a:srgbClr val="4F46E5"/>
            </a:solidFill>
            <a:prstDash val="solid"/>
            <a:tailEnd type="triangle"/>
          </a:ln>
        </p:spPr>
      </p:sp>
      <p:sp>
        <p:nvSpPr>
          <p:cNvPr id="65" name="Shape 57"/>
          <p:cNvSpPr/>
          <p:nvPr/>
        </p:nvSpPr>
        <p:spPr>
          <a:xfrm>
            <a:off x="4754880" y="3008376"/>
            <a:ext cx="228600" cy="0"/>
          </a:xfrm>
          <a:prstGeom prst="line">
            <a:avLst/>
          </a:prstGeom>
          <a:noFill/>
          <a:ln w="22225">
            <a:solidFill>
              <a:srgbClr val="4F46E5"/>
            </a:solidFill>
            <a:prstDash val="solid"/>
            <a:tailEnd type="triangle"/>
          </a:ln>
        </p:spPr>
      </p:sp>
      <p:sp>
        <p:nvSpPr>
          <p:cNvPr id="66" name="Shape 58"/>
          <p:cNvSpPr/>
          <p:nvPr/>
        </p:nvSpPr>
        <p:spPr>
          <a:xfrm flipV="1">
            <a:off x="4754880" y="3520440"/>
            <a:ext cx="228600" cy="749808"/>
          </a:xfrm>
          <a:prstGeom prst="line">
            <a:avLst/>
          </a:prstGeom>
          <a:noFill/>
          <a:ln w="17780">
            <a:solidFill>
              <a:srgbClr val="4F46E5"/>
            </a:solidFill>
            <a:prstDash val="solid"/>
            <a:tailEnd type="triangle"/>
          </a:ln>
        </p:spPr>
      </p:sp>
      <p:sp>
        <p:nvSpPr>
          <p:cNvPr id="67" name="Shape 59"/>
          <p:cNvSpPr/>
          <p:nvPr/>
        </p:nvSpPr>
        <p:spPr>
          <a:xfrm>
            <a:off x="7086600" y="3063240"/>
            <a:ext cx="411480" cy="0"/>
          </a:xfrm>
          <a:prstGeom prst="line">
            <a:avLst/>
          </a:prstGeom>
          <a:noFill/>
          <a:ln w="22225">
            <a:solidFill>
              <a:srgbClr val="B7791F"/>
            </a:solidFill>
            <a:prstDash val="solid"/>
            <a:tailEnd type="triangle"/>
          </a:ln>
        </p:spPr>
      </p:sp>
      <p:sp>
        <p:nvSpPr>
          <p:cNvPr id="68" name="Shape 60"/>
          <p:cNvSpPr/>
          <p:nvPr/>
        </p:nvSpPr>
        <p:spPr>
          <a:xfrm flipH="1">
            <a:off x="7086600" y="4773168"/>
            <a:ext cx="411480" cy="347472"/>
          </a:xfrm>
          <a:prstGeom prst="line">
            <a:avLst/>
          </a:prstGeom>
          <a:noFill/>
          <a:ln w="17780">
            <a:solidFill>
              <a:srgbClr val="0E8074"/>
            </a:solidFill>
            <a:prstDash val="solid"/>
            <a:tailEnd type="triangle"/>
          </a:ln>
        </p:spPr>
      </p:sp>
      <p:sp>
        <p:nvSpPr>
          <p:cNvPr id="69" name="Shape 61"/>
          <p:cNvSpPr/>
          <p:nvPr/>
        </p:nvSpPr>
        <p:spPr>
          <a:xfrm flipV="1">
            <a:off x="6035040" y="3685032"/>
            <a:ext cx="0" cy="1161288"/>
          </a:xfrm>
          <a:prstGeom prst="line">
            <a:avLst/>
          </a:prstGeom>
          <a:noFill/>
          <a:ln w="17780">
            <a:solidFill>
              <a:srgbClr val="2E8B57"/>
            </a:solidFill>
            <a:prstDash val="solid"/>
            <a:tailEnd type="triangle"/>
          </a:ln>
        </p:spPr>
      </p:sp>
      <p:sp>
        <p:nvSpPr>
          <p:cNvPr id="70" name="Shape 62"/>
          <p:cNvSpPr/>
          <p:nvPr/>
        </p:nvSpPr>
        <p:spPr>
          <a:xfrm>
            <a:off x="9784080" y="3246120"/>
            <a:ext cx="320040" cy="0"/>
          </a:xfrm>
          <a:prstGeom prst="line">
            <a:avLst/>
          </a:prstGeom>
          <a:noFill/>
          <a:ln w="22225">
            <a:solidFill>
              <a:srgbClr val="2E8B57"/>
            </a:solidFill>
            <a:prstDash val="solid"/>
            <a:tailEnd type="triangle"/>
          </a:ln>
        </p:spPr>
      </p:sp>
      <p:sp>
        <p:nvSpPr>
          <p:cNvPr id="71" name="Shape 63"/>
          <p:cNvSpPr/>
          <p:nvPr/>
        </p:nvSpPr>
        <p:spPr>
          <a:xfrm>
            <a:off x="9784080" y="4754880"/>
            <a:ext cx="320040" cy="685800"/>
          </a:xfrm>
          <a:prstGeom prst="line">
            <a:avLst/>
          </a:prstGeom>
          <a:noFill/>
          <a:ln w="17780">
            <a:solidFill>
              <a:srgbClr val="2E8B57"/>
            </a:solidFill>
            <a:prstDash val="solid"/>
            <a:tailEnd type="triangle"/>
          </a:ln>
        </p:spPr>
      </p:sp>
      <p:sp>
        <p:nvSpPr>
          <p:cNvPr id="72" name="Shape 64"/>
          <p:cNvSpPr/>
          <p:nvPr/>
        </p:nvSpPr>
        <p:spPr>
          <a:xfrm>
            <a:off x="4197096" y="2368296"/>
            <a:ext cx="548640" cy="155448"/>
          </a:xfrm>
          <a:prstGeom prst="roundRect">
            <a:avLst>
              <a:gd name="adj" fmla="val 50000"/>
            </a:avLst>
          </a:prstGeom>
          <a:solidFill>
            <a:srgbClr val="4F46E5"/>
          </a:solidFill>
          <a:ln/>
        </p:spPr>
      </p:sp>
      <p:sp>
        <p:nvSpPr>
          <p:cNvPr id="73" name="Text 65"/>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4" name="Shape 66"/>
          <p:cNvSpPr/>
          <p:nvPr/>
        </p:nvSpPr>
        <p:spPr>
          <a:xfrm>
            <a:off x="4197096" y="3630168"/>
            <a:ext cx="548640" cy="155448"/>
          </a:xfrm>
          <a:prstGeom prst="roundRect">
            <a:avLst>
              <a:gd name="adj" fmla="val 50000"/>
            </a:avLst>
          </a:prstGeom>
          <a:solidFill>
            <a:srgbClr val="4F46E5"/>
          </a:solidFill>
          <a:ln/>
        </p:spPr>
      </p:sp>
      <p:sp>
        <p:nvSpPr>
          <p:cNvPr id="75" name="Text 67"/>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6" name="Shape 68"/>
          <p:cNvSpPr/>
          <p:nvPr/>
        </p:nvSpPr>
        <p:spPr>
          <a:xfrm>
            <a:off x="6528816" y="2368296"/>
            <a:ext cx="548640" cy="155448"/>
          </a:xfrm>
          <a:prstGeom prst="roundRect">
            <a:avLst>
              <a:gd name="adj" fmla="val 50000"/>
            </a:avLst>
          </a:prstGeom>
          <a:solidFill>
            <a:srgbClr val="B7791F"/>
          </a:solidFill>
          <a:ln/>
        </p:spPr>
      </p:sp>
      <p:sp>
        <p:nvSpPr>
          <p:cNvPr id="77" name="Text 69"/>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8" name="Shape 70"/>
          <p:cNvSpPr/>
          <p:nvPr/>
        </p:nvSpPr>
        <p:spPr>
          <a:xfrm>
            <a:off x="9226296" y="2368296"/>
            <a:ext cx="548640" cy="155448"/>
          </a:xfrm>
          <a:prstGeom prst="roundRect">
            <a:avLst>
              <a:gd name="adj" fmla="val 50000"/>
            </a:avLst>
          </a:prstGeom>
          <a:solidFill>
            <a:srgbClr val="0E8074"/>
          </a:solidFill>
          <a:ln/>
        </p:spPr>
      </p:sp>
      <p:sp>
        <p:nvSpPr>
          <p:cNvPr id="79" name="Text 71"/>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0" name="Shape 72"/>
          <p:cNvSpPr/>
          <p:nvPr/>
        </p:nvSpPr>
        <p:spPr>
          <a:xfrm>
            <a:off x="9226296" y="4270248"/>
            <a:ext cx="548640" cy="155448"/>
          </a:xfrm>
          <a:prstGeom prst="roundRect">
            <a:avLst>
              <a:gd name="adj" fmla="val 50000"/>
            </a:avLst>
          </a:prstGeom>
          <a:solidFill>
            <a:srgbClr val="0E8074"/>
          </a:solidFill>
          <a:ln/>
        </p:spPr>
      </p:sp>
      <p:sp>
        <p:nvSpPr>
          <p:cNvPr id="81" name="Text 73"/>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2" name="Shape 74"/>
          <p:cNvSpPr/>
          <p:nvPr/>
        </p:nvSpPr>
        <p:spPr>
          <a:xfrm>
            <a:off x="6528816" y="4764024"/>
            <a:ext cx="548640" cy="155448"/>
          </a:xfrm>
          <a:prstGeom prst="roundRect">
            <a:avLst>
              <a:gd name="adj" fmla="val 50000"/>
            </a:avLst>
          </a:prstGeom>
          <a:solidFill>
            <a:srgbClr val="2E8B57"/>
          </a:solidFill>
          <a:ln/>
        </p:spPr>
      </p:sp>
      <p:sp>
        <p:nvSpPr>
          <p:cNvPr id="83" name="Text 75"/>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4" name="Shape 76"/>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5" name="Text 77"/>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6" name="Text 7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7" name="Text 7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£3.22/part of ranked opportunity on the £25.14 reference part — 12.8%, of which the commercial levers alone are £5.28.</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12.8%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sits below the 12.8%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£150k of opportunity identified across the basket,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B7791F"/>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B7791F"/>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B7791F"/>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B7791F"/>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B7791F"/>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£3.22/part </a:t>
            </a:r>
            <a:pPr indent="0" marL="0">
              <a:buNone/>
            </a:pPr>
            <a:r>
              <a:rPr lang="en-US" sz="1100" dirty="0">
                <a:solidFill>
                  <a:srgbClr val="3A4356"/>
                </a:solidFill>
                <a:latin typeface="Calibri" pitchFamily="34" charset="0"/>
                <a:ea typeface="Calibri" pitchFamily="34" charset="-122"/>
                <a:cs typeface="Calibri" pitchFamily="34" charset="-120"/>
              </a:rPr>
              <a:t>(~12.8%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A CAD file, a PCB photo, or a typed form</a:t>
            </a:r>
            <a:endParaRPr lang="en-US" sz="70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the file</a:t>
            </a:r>
            <a:endParaRPr lang="en-US" sz="62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STEP · IGES · STL · JPG</a:t>
            </a:r>
            <a:endParaRPr lang="en-US" sz="62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The Python kernel measures the solid</a:t>
            </a:r>
            <a:endParaRPr lang="en-US" sz="70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OCCTGeometry</a:t>
            </a:r>
            <a:endParaRPr lang="en-US" sz="62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size, walls, holes, draft</a:t>
            </a:r>
            <a:endParaRPr lang="en-US" sz="62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162 rules turn measurements into cost inputs</a:t>
            </a:r>
            <a:endParaRPr lang="en-US" sz="70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UniversalStackInput</a:t>
            </a:r>
            <a:endParaRPr lang="en-US" sz="62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material, operations, tooling</a:t>
            </a:r>
            <a:endParaRPr lang="en-US" sz="62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690" i="1" dirty="0">
                <a:solidFill>
                  <a:srgbClr val="16325C"/>
                </a:solidFill>
                <a:latin typeface="Calibri" pitchFamily="34" charset="0"/>
                <a:ea typeface="Calibri" pitchFamily="34" charset="-122"/>
                <a:cs typeface="Calibri" pitchFamily="34" charset="-120"/>
              </a:rPr>
              <a:t>TypeScript · 29,229 lines · 1,530 tests · same code runs in the browser and on the server</a:t>
            </a:r>
            <a:endParaRPr lang="en-US" sz="69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core.ts works out the 8 cost buckets</a:t>
            </a:r>
            <a:endParaRPr lang="en-US" sz="6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18 commodity modules</a:t>
            </a:r>
            <a:endParaRPr lang="en-US" sz="6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Optimisers pick the cheapest capable machine</a:t>
            </a:r>
            <a:endParaRPr lang="en-US" sz="6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Guardrails check every number</a:t>
            </a:r>
            <a:endParaRPr lang="en-US" sz="6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560" b="1" dirty="0">
                <a:solidFill>
                  <a:srgbClr val="6B7280"/>
                </a:solidFill>
                <a:latin typeface="Calibri" pitchFamily="34" charset="0"/>
                <a:ea typeface="Calibri" pitchFamily="34" charset="-122"/>
                <a:cs typeface="Calibri" pitchFamily="34" charset="-120"/>
              </a:rPr>
              <a:t>HANDS ON  </a:t>
            </a:r>
            <a:pPr indent="0" marL="0">
              <a:buNone/>
            </a:pPr>
            <a:r>
              <a:rPr lang="en-US" sz="740" b="1" dirty="0">
                <a:solidFill>
                  <a:srgbClr val="16325C"/>
                </a:solidFill>
                <a:latin typeface="Consolas" pitchFamily="34" charset="0"/>
                <a:ea typeface="Consolas" pitchFamily="34" charset="-122"/>
                <a:cs typeface="Consolas" pitchFamily="34" charset="-120"/>
              </a:rPr>
              <a:t>PartCostResult</a:t>
            </a:r>
            <a:pPr indent="0" marL="0">
              <a:buNone/>
            </a:pPr>
            <a:r>
              <a:rPr lang="en-US" sz="660" dirty="0">
                <a:solidFill>
                  <a:srgbClr val="3A4356"/>
                </a:solidFill>
                <a:latin typeface="Calibri" pitchFamily="34" charset="0"/>
                <a:ea typeface="Calibri" pitchFamily="34" charset="-122"/>
                <a:cs typeface="Calibri" pitchFamily="34" charset="-120"/>
              </a:rPr>
              <a:t>  — the 8 buckets, plus where every number came from</a:t>
            </a:r>
            <a:endParaRPr lang="en-US" sz="56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69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Guardrails, self-audit and the confidence band</a:t>
            </a:r>
            <a:endParaRPr lang="en-US" sz="70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a checked cost</a:t>
            </a:r>
            <a:endParaRPr lang="en-US" sz="62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plus any warnings</a:t>
            </a:r>
            <a:endParaRPr lang="en-US" sz="62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Findings become savings, ranked by money</a:t>
            </a:r>
            <a:endParaRPr lang="en-US" sz="70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RankedOpportunities</a:t>
            </a:r>
            <a:endParaRPr lang="en-US" sz="62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what to do, what it is worth</a:t>
            </a:r>
            <a:endParaRPr lang="en-US" sz="62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Saved on your server; reports made in the browser</a:t>
            </a:r>
            <a:endParaRPr lang="en-US" sz="70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SQLite · 12 tables</a:t>
            </a:r>
            <a:endParaRPr lang="en-US" sz="62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PDF · Excel · PowerPoint</a:t>
            </a:r>
            <a:endParaRPr lang="en-US" sz="62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00" b="1" spc="40" kern="0" dirty="0">
                <a:solidFill>
                  <a:srgbClr val="6B7280"/>
                </a:solidFill>
                <a:latin typeface="Calibri" pitchFamily="34" charset="0"/>
                <a:ea typeface="Calibri" pitchFamily="34" charset="-122"/>
                <a:cs typeface="Calibri" pitchFamily="34" charset="-120"/>
              </a:rPr>
              <a:t>WHAT IS INSIDE EACH PARCEL</a:t>
            </a:r>
            <a:endParaRPr lang="en-US" sz="70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OCCTGeometry</a:t>
            </a:r>
            <a:endParaRPr lang="en-US" sz="64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64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UniversalStackInput</a:t>
            </a:r>
            <a:endParaRPr lang="en-US" sz="64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64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PartCostResult</a:t>
            </a:r>
            <a:endParaRPr lang="en-US" sz="64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64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RankedOpportunities</a:t>
            </a:r>
            <a:endParaRPr lang="en-US" sz="64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64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Geometry kernel</a:t>
            </a:r>
            <a:endParaRPr lang="en-US" sz="74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Python 3 + Open CASCADE (via OCP)</a:t>
            </a:r>
            <a:endParaRPr lang="en-US" sz="74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1,587</a:t>
            </a:r>
            <a:endParaRPr lang="en-US" sz="74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LGPL-2.1 + exc. / Apache-2.0</a:t>
            </a:r>
            <a:endParaRPr lang="en-US" sz="74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3D viewer</a:t>
            </a:r>
            <a:endParaRPr lang="en-US" sz="74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three.js (WebGL)</a:t>
            </a:r>
            <a:endParaRPr lang="en-US" sz="74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2,334</a:t>
            </a:r>
            <a:endParaRPr lang="en-US" sz="74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 engine (core + 18 modules)</a:t>
            </a:r>
            <a:endParaRPr lang="en-US" sz="74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no framework</a:t>
            </a:r>
            <a:endParaRPr lang="en-US" sz="74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29,229</a:t>
            </a:r>
            <a:endParaRPr lang="en-US" sz="74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Cost-input rules (162 of them)</a:t>
            </a:r>
            <a:endParaRPr lang="en-US" sz="74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7,525</a:t>
            </a:r>
            <a:endParaRPr lang="en-US" sz="74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Optimisers + DFM / idea levers</a:t>
            </a:r>
            <a:endParaRPr lang="en-US" sz="74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1,973</a:t>
            </a:r>
            <a:endParaRPr lang="en-US" sz="74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Guardrails + self-audit</a:t>
            </a:r>
            <a:endParaRPr lang="en-US" sz="74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(engine + server)</a:t>
            </a:r>
            <a:endParaRPr lang="en-US" sz="74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780</a:t>
            </a:r>
            <a:endParaRPr lang="en-US" sz="74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Rate library — 20 regions</a:t>
            </a:r>
            <a:endParaRPr lang="en-US" sz="74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data files, in git</a:t>
            </a:r>
            <a:endParaRPr lang="en-US" sz="74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2,501</a:t>
            </a:r>
            <a:endParaRPr lang="en-US" sz="74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data</a:t>
            </a:r>
            <a:endParaRPr lang="en-US" sz="74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Server + database</a:t>
            </a:r>
            <a:endParaRPr lang="en-US" sz="74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Express + SQLite</a:t>
            </a:r>
            <a:endParaRPr lang="en-US" sz="74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14,215</a:t>
            </a:r>
            <a:endParaRPr lang="en-US" sz="74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Localhost only</a:t>
            </a:r>
            <a:endParaRPr lang="en-US" sz="74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AI classifier — OPTIONAL</a:t>
            </a:r>
            <a:endParaRPr lang="en-US" sz="74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Anthropic SDK</a:t>
            </a:r>
            <a:endParaRPr lang="en-US" sz="74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~900</a:t>
            </a:r>
            <a:endParaRPr lang="en-US" sz="74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SDK free · API paid per token</a:t>
            </a:r>
            <a:endParaRPr lang="en-US" sz="74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YES — the only one</a:t>
            </a:r>
            <a:endParaRPr lang="en-US" sz="74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Automated tests</a:t>
            </a:r>
            <a:endParaRPr lang="en-US" sz="74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Vitest</a:t>
            </a:r>
            <a:endParaRPr lang="en-US" sz="74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17,507</a:t>
            </a:r>
            <a:endParaRPr lang="en-US" sz="74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69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69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20" b="1" dirty="0">
                <a:solidFill>
                  <a:srgbClr val="6B3FA0"/>
                </a:solidFill>
                <a:latin typeface="Calibri" pitchFamily="34" charset="0"/>
                <a:ea typeface="Calibri" pitchFamily="34" charset="-122"/>
                <a:cs typeface="Calibri" pitchFamily="34" charset="-120"/>
              </a:rPr>
              <a:t>API calls</a:t>
            </a:r>
            <a:endParaRPr lang="en-US" sz="72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One — and optional</a:t>
            </a:r>
            <a:endParaRPr lang="en-US" sz="72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6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20" b="1" dirty="0">
                <a:solidFill>
                  <a:srgbClr val="2E8B57"/>
                </a:solidFill>
                <a:latin typeface="Calibri" pitchFamily="34" charset="0"/>
                <a:ea typeface="Calibri" pitchFamily="34" charset="-122"/>
                <a:cs typeface="Calibri" pitchFamily="34" charset="-120"/>
              </a:rPr>
              <a:t>KPI calls</a:t>
            </a:r>
            <a:endParaRPr lang="en-US" sz="72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None. Not one.</a:t>
            </a:r>
            <a:endParaRPr lang="en-US" sz="72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6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20" b="1" dirty="0">
                <a:solidFill>
                  <a:srgbClr val="B7791F"/>
                </a:solidFill>
                <a:latin typeface="Calibri" pitchFamily="34" charset="0"/>
                <a:ea typeface="Calibri" pitchFamily="34" charset="-122"/>
                <a:cs typeface="Calibri" pitchFamily="34" charset="-120"/>
              </a:rPr>
              <a:t>Error telemetry</a:t>
            </a:r>
            <a:endParaRPr lang="en-US" sz="72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Yes — stays in-house</a:t>
            </a:r>
            <a:endParaRPr lang="en-US" sz="72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6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20" b="1" dirty="0">
                <a:solidFill>
                  <a:srgbClr val="6B7280"/>
                </a:solidFill>
                <a:latin typeface="Calibri" pitchFamily="34" charset="0"/>
                <a:ea typeface="Calibri" pitchFamily="34" charset="-122"/>
                <a:cs typeface="Calibri" pitchFamily="34" charset="-120"/>
              </a:rPr>
              <a:t>Optional feeds</a:t>
            </a:r>
            <a:endParaRPr lang="en-US" sz="72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Off by default</a:t>
            </a:r>
            <a:endParaRPr lang="en-US" sz="72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6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Python kernel → JSON on stdout</a:t>
            </a:r>
            <a:endParaRPr lang="en-US" sz="66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status: success|error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boundingBox: {xMm,yMm,zMm}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volume: {mm3, cm3}</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surfaceArea: {mm2, cm2}</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fillRatio: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topology: {solidCount,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shellCount, voidCount,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enclosesSealedVoid,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openShell}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wallThickness: {minMm,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maxMm, meanMm, p95Mm,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method, uniformity}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draftAnalysis: {undercut-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FaceCount, minPositive-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DraftDeg,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setupAnalysis: {estimated-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SetupCount, principal-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Directions[]}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cncCycleTimeEstimate: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weights: {aluminiumKg,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steelKg, plasticKg}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featureTable, detected-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Hardware, bendCount</a:t>
            </a:r>
            <a:endParaRPr lang="en-US" sz="61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660" i="1" dirty="0">
                <a:solidFill>
                  <a:srgbClr val="B7791F"/>
                </a:solidFill>
                <a:latin typeface="Calibri" pitchFamily="34" charset="0"/>
                <a:ea typeface="Calibri" pitchFamily="34" charset="-122"/>
                <a:cs typeface="Calibri" pitchFamily="34" charset="-120"/>
              </a:rPr>
              <a:t>Measured. Never guessed.</a:t>
            </a:r>
            <a:endParaRPr lang="en-US" sz="66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162 rules + engineer answers</a:t>
            </a:r>
            <a:endParaRPr lang="en-US" sz="66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rawMaterial: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netWeightKg: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materialUtilization: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directCost?: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consumablesCostPerPart?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partsPerCycle: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oee: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manning: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labourEfficiency: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 {totalToolingCost,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amortizationVolume, mode}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packagingPerPart: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logisticsPerPart: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overheadPct · marginPct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annualVolume?</a:t>
            </a:r>
            <a:endParaRPr lang="en-US" sz="61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660" i="1" dirty="0">
                <a:solidFill>
                  <a:srgbClr val="0E8074"/>
                </a:solidFill>
                <a:latin typeface="Calibri" pitchFamily="34" charset="0"/>
                <a:ea typeface="Calibri" pitchFamily="34" charset="-122"/>
                <a:cs typeface="Calibri" pitchFamily="34" charset="-120"/>
              </a:rPr>
              <a:t>Geometry wins; engineer fills gaps.</a:t>
            </a:r>
            <a:endParaRPr lang="en-US" sz="66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core.ts :: computeUniversalStack()</a:t>
            </a:r>
            <a:endParaRPr lang="en-US" sz="66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breakdown: Breakdown8Bucket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rawMaterial · process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 · tooling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packaging · logistics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overhead · margin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operationDetails: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machineId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processCost, labourCost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oee, manning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factoryCost · subtotal · total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toolingNRE?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traceability: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field, value, unit,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rateSource, rateId,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confidence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warnings?: string[]</a:t>
            </a:r>
            <a:endParaRPr lang="en-US" sz="61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660" i="1" dirty="0">
                <a:solidFill>
                  <a:srgbClr val="1D6FB8"/>
                </a:solidFill>
                <a:latin typeface="Calibri" pitchFamily="34" charset="0"/>
                <a:ea typeface="Calibri" pitchFamily="34" charset="-122"/>
                <a:cs typeface="Calibri" pitchFamily="34" charset="-120"/>
              </a:rPr>
              <a:t>traceability[] = the printed derivation.</a:t>
            </a:r>
            <a:endParaRPr lang="en-US" sz="66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dfm-dfa → opportunity-ranking</a:t>
            </a:r>
            <a:endParaRPr lang="en-US" sz="66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groups: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category: LeverCategory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label: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opportunities: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action: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basis: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detail?: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savingPct: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risk · timeframe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owner?: design|supplier|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sourcing|assumption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signal: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groupSavingPerPart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topSavingPerPart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all: RankedOpportunity[]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verificationChecks: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title, detail, action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partTotal</a:t>
            </a:r>
            <a:endParaRPr lang="en-US" sz="61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660" i="1" dirty="0">
                <a:solidFill>
                  <a:srgbClr val="2E8B57"/>
                </a:solidFill>
                <a:latin typeface="Calibri" pitchFamily="34" charset="0"/>
                <a:ea typeface="Calibri" pitchFamily="34" charset="-122"/>
                <a:cs typeface="Calibri" pitchFamily="34" charset="-120"/>
              </a:rPr>
              <a:t>Ranked by money, never scored.</a:t>
            </a:r>
            <a:endParaRPr lang="en-US" sz="66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better-sqlite3 — one file, your server</a:t>
            </a:r>
            <a:endParaRPr lang="en-US" sz="66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projects (id, user_id, kind,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name, data,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scenarios (id, 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description,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created_by,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supplier_quotes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scenario_id, supplier_name,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supplier_country, unit_price,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currency, moq,</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lead_time_weeks, tooling_cost)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bom_items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parent_scenario_id,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child_scenario_id, quantity,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unit_cost_override)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rate_library (id,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 updated_by)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rate_overrides (id, tbl,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row_id, field, value)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users · shared_costings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material_price_overrides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price_fetch_log · app_settings</a:t>
            </a:r>
            <a:endParaRPr lang="en-US" sz="61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660" i="1" dirty="0">
                <a:solidFill>
                  <a:srgbClr val="6B3FA0"/>
                </a:solidFill>
                <a:latin typeface="Calibri" pitchFamily="34" charset="0"/>
                <a:ea typeface="Calibri" pitchFamily="34" charset="-122"/>
                <a:cs typeface="Calibri" pitchFamily="34" charset="-120"/>
              </a:rPr>
              <a:t>data columns hold the JSON above.</a:t>
            </a:r>
            <a:endParaRPr lang="en-US" sz="66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1,530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2026-08-06T13:29:47Z</dcterms:created>
  <dcterms:modified xsi:type="dcterms:W3CDTF">2026-08-06T13:29:47Z</dcterms:modified>
</cp:coreProperties>
</file>