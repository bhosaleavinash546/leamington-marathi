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4.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5.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charts/chart6.xml" ContentType="application/vnd.openxmlformats-officedocument.drawingml.chart+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CostVision (midpoint)</c:v>
                </c:pt>
              </c:strCache>
            </c:strRef>
          </c:tx>
          <c:spPr>
            <a:solidFill>
              <a:srgbClr val="0E8074"/>
            </a:solidFill>
            <a:effectLst/>
          </c:spPr>
          <c:invertIfNegative val="0"/>
          <c:dLbls>
            <c:numFmt formatCode="#,##0" sourceLinked="0"/>
            <c:txPr>
              <a:bodyPr/>
              <a:lstStyle/>
              <a:p>
                <a:pPr>
                  <a:defRPr b="0" i="0" strike="noStrike" sz="800" u="none">
                    <a:solidFill>
                      <a:srgbClr val="3A4356"/>
                    </a:solidFill>
                    <a:latin typeface="Arial"/>
                  </a:defRPr>
                </a:pPr>
              </a:p>
            </c:txPr>
            <c:showLegendKey val="0"/>
            <c:showVal val="1"/>
            <c:showCatName val="0"/>
            <c:showSerName val="0"/>
            <c:showPercent val="0"/>
            <c:showBubbleSize val="0"/>
            <c:showLeaderLines val="0"/>
          </c:dLbls>
          <c:cat>
            <c:multiLvlStrRef>
              <c:f>Sheet1!$A$2:$A$8</c:f>
              <c:multiLvlStrCache>
                <c:ptCount val="7"/>
                <c:lvl>
                  <c:pt idx="0">
                    <c:v>Cast+mach</c:v>
                  </c:pt>
                  <c:pt idx="1">
                    <c:v>Machining</c:v>
                  </c:pt>
                  <c:pt idx="2">
                    <c:v>Inj. mould</c:v>
                  </c:pt>
                  <c:pt idx="3">
                    <c:v>Forging</c:v>
                  </c:pt>
                  <c:pt idx="4">
                    <c:v>Sheet metal</c:v>
                  </c:pt>
                  <c:pt idx="5">
                    <c:v>Blow mould</c:v>
                  </c:pt>
                  <c:pt idx="6">
                    <c:v>PCB photo</c:v>
                  </c:pt>
                </c:lvl>
              </c:multiLvlStrCache>
            </c:multiLvlStrRef>
          </c:cat>
          <c:val>
            <c:numRef>
              <c:f>Sheet1!$B$2:$B$8</c:f>
              <c:numCache>
                <c:formatCode>General</c:formatCode>
                <c:ptCount val="7"/>
                <c:pt idx="0">
                  <c:v>12.5</c:v>
                </c:pt>
                <c:pt idx="1">
                  <c:v>12.5</c:v>
                </c:pt>
                <c:pt idx="2">
                  <c:v>12.5</c:v>
                </c:pt>
                <c:pt idx="3">
                  <c:v>12.5</c:v>
                </c:pt>
                <c:pt idx="4">
                  <c:v>12.5</c:v>
                </c:pt>
                <c:pt idx="5">
                  <c:v>12.5</c:v>
                </c:pt>
                <c:pt idx="6">
                  <c:v>10</c:v>
                </c:pt>
              </c:numCache>
            </c:numRef>
          </c:val>
        </c:ser>
        <c:ser>
          <c:idx val="1"/>
          <c:order val="1"/>
          <c:tx>
            <c:strRef>
              <c:f>Sheet1!$C$1</c:f>
              <c:strCache>
                <c:ptCount val="1"/>
                <c:pt idx="0">
                  <c:v>CAPEE by hand (midpoint)</c:v>
                </c:pt>
              </c:strCache>
            </c:strRef>
          </c:tx>
          <c:spPr>
            <a:solidFill>
              <a:srgbClr val="B7791F"/>
            </a:solidFill>
            <a:effectLst/>
          </c:spPr>
          <c:invertIfNegative val="0"/>
          <c:dLbls>
            <c:numFmt formatCode="#,##0" sourceLinked="0"/>
            <c:txPr>
              <a:bodyPr/>
              <a:lstStyle/>
              <a:p>
                <a:pPr>
                  <a:defRPr b="0" i="0" strike="noStrike" sz="800" u="none">
                    <a:solidFill>
                      <a:srgbClr val="3A4356"/>
                    </a:solidFill>
                    <a:latin typeface="Arial"/>
                  </a:defRPr>
                </a:pPr>
              </a:p>
            </c:txPr>
            <c:showLegendKey val="0"/>
            <c:showVal val="1"/>
            <c:showCatName val="0"/>
            <c:showSerName val="0"/>
            <c:showPercent val="0"/>
            <c:showBubbleSize val="0"/>
            <c:showLeaderLines val="0"/>
          </c:dLbls>
          <c:cat>
            <c:multiLvlStrRef>
              <c:f>Sheet1!$A$2:$A$8</c:f>
              <c:multiLvlStrCache>
                <c:ptCount val="7"/>
                <c:lvl>
                  <c:pt idx="0">
                    <c:v>Cast+mach</c:v>
                  </c:pt>
                  <c:pt idx="1">
                    <c:v>Machining</c:v>
                  </c:pt>
                  <c:pt idx="2">
                    <c:v>Inj. mould</c:v>
                  </c:pt>
                  <c:pt idx="3">
                    <c:v>Forging</c:v>
                  </c:pt>
                  <c:pt idx="4">
                    <c:v>Sheet metal</c:v>
                  </c:pt>
                  <c:pt idx="5">
                    <c:v>Blow mould</c:v>
                  </c:pt>
                  <c:pt idx="6">
                    <c:v>PCB photo</c:v>
                  </c:pt>
                </c:lvl>
              </c:multiLvlStrCache>
            </c:multiLvlStrRef>
          </c:cat>
          <c:val>
            <c:numRef>
              <c:f>Sheet1!$C$2:$C$8</c:f>
              <c:numCache>
                <c:formatCode>General</c:formatCode>
                <c:ptCount val="7"/>
                <c:pt idx="0">
                  <c:v>270</c:v>
                </c:pt>
                <c:pt idx="1">
                  <c:v>210</c:v>
                </c:pt>
                <c:pt idx="2">
                  <c:v>210</c:v>
                </c:pt>
                <c:pt idx="3">
                  <c:v>210</c:v>
                </c:pt>
                <c:pt idx="4">
                  <c:v>150</c:v>
                </c:pt>
                <c:pt idx="5">
                  <c:v>210</c:v>
                </c:pt>
                <c:pt idx="6">
                  <c:v>300</c:v>
                </c:pt>
              </c:numCache>
            </c:numRef>
          </c:val>
        </c:ser>
        <c:dLbls>
          <c:numFmt formatCode="#,##0" sourceLinked="0"/>
          <c:txPr>
            <a:bodyPr/>
            <a:lstStyle/>
            <a:p>
              <a:pPr>
                <a:defRPr b="0" i="0" strike="noStrike" sz="800" u="none">
                  <a:solidFill>
                    <a:srgbClr val="3A435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3A4356"/>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CE3EE"/>
              </a:solidFill>
              <a:prstDash val="solid"/>
              <a:round/>
            </a:ln>
          </c:spPr>
        </c:majorGridlines>
        <c:title>
          <c:tx>
            <c:rich>
              <a:bodyPr/>
              <a:lstStyle/>
              <a:p>
                <a:pPr>
                  <a:defRPr sz="900" b="0" i="0" u="none" strike="noStrike">
                    <a:solidFill>
                      <a:srgbClr val="000000"/>
                    </a:solidFill>
                    <a:latin typeface="Arial"/>
                  </a:defRPr>
                </a:pPr>
                <a:r>
                  <a:rPr sz="900" b="0" i="0" u="none" strike="noStrike">
                    <a:solidFill>
                      <a:srgbClr val="000000"/>
                    </a:solidFill>
                    <a:latin typeface="Arial"/>
                  </a:rPr>
                  <a:t>minutes</a:t>
                </a:r>
              </a:p>
            </c:rich>
          </c:tx>
          <c:layout/>
          <c:overlay val="0"/>
        </c:title>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B728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16325C"/>
                </a:solidFill>
                <a:latin typeface="Arial"/>
              </a:defRPr>
            </a:pPr>
            <a:r>
              <a:rPr sz="1000" b="0" i="0" u="none" strike="noStrike">
                <a:solidFill>
                  <a:srgbClr val="16325C"/>
                </a:solidFill>
                <a:latin typeface="Arial"/>
              </a:rPr>
              <a:t>18 commodities</a:t>
            </a:r>
          </a:p>
        </c:rich>
      </c:tx>
      <c:layout/>
      <c:overlay val="0"/>
    </c:title>
    <c:autoTitleDeleted val="0"/>
    <c:plotArea>
      <c:layout/>
      <c:doughnutChart>
        <c:varyColors val="1"/>
        <c:ser>
          <c:idx val="0"/>
          <c:order val="0"/>
          <c:tx>
            <c:strRef>
              <c:f>Sheet1!$B$1</c:f>
              <c:strCache>
                <c:ptCount val="1"/>
                <c:pt idx="0">
                  <c:v>Commodity coverage</c:v>
                </c:pt>
              </c:strCache>
            </c:strRef>
          </c:tx>
          <c:spPr>
            <a:solidFill>
              <a:schemeClr val="accent1"/>
            </a:solidFill>
            <a:ln w="9525" cap="flat">
              <a:solidFill>
                <a:srgbClr val="F9F9F9"/>
              </a:solidFill>
              <a:prstDash val="solid"/>
              <a:round/>
            </a:ln>
            <a:effectLst/>
          </c:spPr>
          <c:dPt>
            <c:idx val="0"/>
            <c:bubble3D val="0"/>
            <c:spPr>
              <a:solidFill>
                <a:srgbClr val="0E8074"/>
              </a:solidFill>
              <a:effectLst/>
            </c:spPr>
          </c:dPt>
          <c:dPt>
            <c:idx val="1"/>
            <c:bubble3D val="0"/>
            <c:spPr>
              <a:solidFill>
                <a:srgbClr val="B7791F"/>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Deterministic rules (12)</c:v>
                </c:pt>
                <c:pt idx="1">
                  <c:v>AI-assisted (6)</c:v>
                </c:pt>
              </c:strCache>
            </c:strRef>
          </c:cat>
          <c:val>
            <c:numRef>
              <c:f>Sheet1!$B$2:$B$3</c:f>
              <c:numCache>
                <c:ptCount val="2"/>
                <c:pt idx="0">
                  <c:v>12</c:v>
                </c:pt>
                <c:pt idx="1">
                  <c:v>6</c:v>
                </c:pt>
              </c:numCache>
            </c:numRef>
          </c:val>
        </c:ser>
        <c:firstSliceAng val="0"/>
        <c:holeSize val="60"/>
      </c:doughnutChart>
      <c:spPr>
        <a:no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16325C"/>
                </a:solidFill>
                <a:latin typeface="Arial"/>
              </a:defRPr>
            </a:pPr>
            <a:r>
              <a:rPr sz="1000" b="0" i="0" u="none" strike="noStrike">
                <a:solidFill>
                  <a:srgbClr val="16325C"/>
                </a:solidFill>
                <a:latin typeface="Arial"/>
              </a:rPr>
              <a:t>8 parts costed, 8 of 8 succeeded</a:t>
            </a:r>
          </a:p>
        </c:rich>
      </c:tx>
      <c:layout/>
      <c:overlay val="0"/>
    </c:title>
    <c:autoTitleDeleted val="0"/>
    <c:plotArea>
      <c:layout/>
      <c:doughnutChart>
        <c:varyColors val="1"/>
        <c:ser>
          <c:idx val="0"/>
          <c:order val="0"/>
          <c:tx>
            <c:strRef>
              <c:f>Sheet1!$B$1</c:f>
              <c:strCache>
                <c:ptCount val="1"/>
                <c:pt idx="0">
                  <c:v>Verification</c:v>
                </c:pt>
              </c:strCache>
            </c:strRef>
          </c:tx>
          <c:spPr>
            <a:solidFill>
              <a:schemeClr val="accent1"/>
            </a:solidFill>
            <a:ln w="9525" cap="flat">
              <a:solidFill>
                <a:srgbClr val="F9F9F9"/>
              </a:solidFill>
              <a:prstDash val="solid"/>
              <a:round/>
            </a:ln>
            <a:effectLst/>
          </c:spPr>
          <c:dPt>
            <c:idx val="0"/>
            <c:bubble3D val="0"/>
            <c:spPr>
              <a:solidFill>
                <a:srgbClr val="2E8B57"/>
              </a:solidFill>
              <a:effectLst/>
            </c:spPr>
          </c:dPt>
          <c:dPt>
            <c:idx val="1"/>
            <c:bubble3D val="0"/>
            <c:spPr>
              <a:solidFill>
                <a:srgbClr val="B7791F"/>
              </a:solidFill>
              <a:effectLst/>
            </c:spPr>
          </c:dPt>
          <c:dPt>
            <c:idx val="2"/>
            <c:bubble3D val="0"/>
            <c:spPr>
              <a:solidFill>
                <a:srgbClr val="DCE3EE"/>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Inside manual band (3)</c:v>
                </c:pt>
                <c:pt idx="1">
                  <c:v>Within ±30% (3)</c:v>
                </c:pt>
                <c:pt idx="2">
                  <c:v>No manual yet (2)</c:v>
                </c:pt>
              </c:strCache>
            </c:strRef>
          </c:cat>
          <c:val>
            <c:numRef>
              <c:f>Sheet1!$B$2:$B$4</c:f>
              <c:numCache>
                <c:ptCount val="3"/>
                <c:pt idx="0">
                  <c:v>3</c:v>
                </c:pt>
                <c:pt idx="1">
                  <c:v>3</c:v>
                </c:pt>
                <c:pt idx="2">
                  <c:v>2</c:v>
                </c:pt>
              </c:numCache>
            </c:numRef>
          </c:val>
        </c:ser>
        <c:firstSliceAng val="0"/>
        <c:holeSize val="60"/>
      </c:doughnutChart>
      <c:spPr>
        <a:no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housing</c:v>
                </c:pt>
              </c:strCache>
            </c:strRef>
          </c:tx>
          <c:spPr>
            <a:solidFill>
              <a:srgbClr val="0E8074"/>
            </a:solidFill>
            <a:effectLst/>
          </c:spPr>
          <c:invertIfNegative val="0"/>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dPt>
            <c:idx val="0"/>
            <c:invertIfNegative val="0"/>
            <c:bubble3D val="0"/>
            <c:spPr>
              <a:solidFill>
                <a:srgbClr val="0E8074"/>
              </a:solidFill>
              <a:effectLst/>
            </c:spPr>
          </c:dPt>
          <c:dPt>
            <c:idx val="1"/>
            <c:invertIfNegative val="0"/>
            <c:bubble3D val="0"/>
            <c:spPr>
              <a:solidFill>
                <a:srgbClr val="6B7280"/>
              </a:solidFill>
              <a:effectLst/>
            </c:spPr>
          </c:dPt>
          <c:cat>
            <c:multiLvlStrRef>
              <c:f>Sheet1!$A$2:$A$3</c:f>
              <c:multiLvlStrCache>
                <c:ptCount val="2"/>
                <c:lvl>
                  <c:pt idx="0">
                    <c:v>Everything after it</c:v>
                  </c:pt>
                  <c:pt idx="1">
                    <c:v>The casting shot</c:v>
                  </c:pt>
                </c:lvl>
              </c:multiLvlStrCache>
            </c:multiLvlStrRef>
          </c:cat>
          <c:val>
            <c:numRef>
              <c:f>Sheet1!$B$2:$B$3</c:f>
              <c:numCache>
                <c:formatCode>General</c:formatCode>
                <c:ptCount val="2"/>
                <c:pt idx="0">
                  <c:v>29.89</c:v>
                </c:pt>
                <c:pt idx="1">
                  <c:v>2.68</c:v>
                </c:pt>
              </c:numCache>
            </c:numRef>
          </c:val>
        </c:ser>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42"/>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part</c:v>
                </c:pt>
              </c:strCache>
            </c:strRef>
          </c:tx>
          <c:spPr>
            <a:solidFill>
              <a:srgbClr val="0E8074"/>
            </a:solidFill>
            <a:effectLst/>
          </c:spPr>
          <c:invertIfNegative val="0"/>
          <c:dLbls>
            <c:numFmt formatCode="£0.00" sourceLinked="0"/>
            <c:txPr>
              <a:bodyPr/>
              <a:lstStyle/>
              <a:p>
                <a:pPr>
                  <a:defRPr b="0" i="0" strike="noStrike" sz="900" u="none">
                    <a:solidFill>
                      <a:srgbClr val="3A4356"/>
                    </a:solidFill>
                    <a:latin typeface="Calibri"/>
                  </a:defRPr>
                </a:pPr>
              </a:p>
            </c:txPr>
            <c:showLegendKey val="0"/>
            <c:showVal val="1"/>
            <c:showCatName val="0"/>
            <c:showSerName val="0"/>
            <c:showPercent val="0"/>
            <c:showBubbleSize val="0"/>
            <c:showLeaderLines val="0"/>
          </c:dLbls>
          <c:cat>
            <c:multiLvlStrRef>
              <c:f>Sheet1!$A$2:$A$9</c:f>
              <c:multiLvlStrCache>
                <c:ptCount val="8"/>
                <c:lvl>
                  <c:pt idx="0">
                    <c:v>Margin</c:v>
                  </c:pt>
                  <c:pt idx="1">
                    <c:v>Overhead</c:v>
                  </c:pt>
                  <c:pt idx="2">
                    <c:v>Logistics</c:v>
                  </c:pt>
                  <c:pt idx="3">
                    <c:v>Packaging</c:v>
                  </c:pt>
                  <c:pt idx="4">
                    <c:v>Tooling</c:v>
                  </c:pt>
                  <c:pt idx="5">
                    <c:v>Labour</c:v>
                  </c:pt>
                  <c:pt idx="6">
                    <c:v>Process</c:v>
                  </c:pt>
                  <c:pt idx="7">
                    <c:v>Material</c:v>
                  </c:pt>
                </c:lvl>
              </c:multiLvlStrCache>
            </c:multiLvlStrRef>
          </c:cat>
          <c:val>
            <c:numRef>
              <c:f>Sheet1!$B$2:$B$9</c:f>
              <c:numCache>
                <c:formatCode>General</c:formatCode>
                <c:ptCount val="8"/>
                <c:pt idx="0">
                  <c:v>3.18</c:v>
                </c:pt>
                <c:pt idx="1">
                  <c:v>3.61</c:v>
                </c:pt>
                <c:pt idx="2">
                  <c:v>1.1</c:v>
                </c:pt>
                <c:pt idx="3">
                  <c:v>0.6</c:v>
                </c:pt>
                <c:pt idx="4">
                  <c:v>2.17</c:v>
                </c:pt>
                <c:pt idx="5">
                  <c:v>1.36</c:v>
                </c:pt>
                <c:pt idx="6">
                  <c:v>14.34</c:v>
                </c:pt>
                <c:pt idx="7">
                  <c:v>12.18</c:v>
                </c:pt>
              </c:numCache>
            </c:numRef>
          </c:val>
        </c:ser>
        <c:dLbls>
          <c:numFmt formatCode="£0.00" sourceLinked="0"/>
          <c:txPr>
            <a:bodyPr/>
            <a:lstStyle/>
            <a:p>
              <a:pPr>
                <a:defRPr b="0" i="0" strike="noStrike" sz="900" u="none">
                  <a:solidFill>
                    <a:srgbClr val="3A4356"/>
                  </a:solidFill>
                  <a:latin typeface="Calibri"/>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19"/>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part</c:v>
                </c:pt>
              </c:strCache>
            </c:strRef>
          </c:tx>
          <c:spPr>
            <a:solidFill>
              <a:srgbClr val="0E8074"/>
            </a:solidFill>
            <a:effectLst/>
          </c:spPr>
          <c:invertIfNegative val="0"/>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cat>
            <c:multiLvlStrRef>
              <c:f>Sheet1!$A$2:$A$9</c:f>
              <c:multiLvlStrCache>
                <c:ptCount val="8"/>
                <c:lvl>
                  <c:pt idx="0">
                    <c:v>Margin</c:v>
                  </c:pt>
                  <c:pt idx="1">
                    <c:v>Overhead</c:v>
                  </c:pt>
                  <c:pt idx="2">
                    <c:v>Logistics</c:v>
                  </c:pt>
                  <c:pt idx="3">
                    <c:v>Packaging</c:v>
                  </c:pt>
                  <c:pt idx="4">
                    <c:v>Tooling</c:v>
                  </c:pt>
                  <c:pt idx="5">
                    <c:v>Labour</c:v>
                  </c:pt>
                  <c:pt idx="6">
                    <c:v>Process</c:v>
                  </c:pt>
                  <c:pt idx="7">
                    <c:v>Material</c:v>
                  </c:pt>
                </c:lvl>
              </c:multiLvlStrCache>
            </c:multiLvlStrRef>
          </c:cat>
          <c:val>
            <c:numRef>
              <c:f>Sheet1!$B$2:$B$9</c:f>
              <c:numCache>
                <c:formatCode>General</c:formatCode>
                <c:ptCount val="8"/>
                <c:pt idx="0">
                  <c:v>2.15</c:v>
                </c:pt>
                <c:pt idx="1">
                  <c:v>2.18</c:v>
                </c:pt>
                <c:pt idx="2">
                  <c:v>2.4</c:v>
                </c:pt>
                <c:pt idx="3">
                  <c:v>1.2</c:v>
                </c:pt>
                <c:pt idx="4">
                  <c:v>11.2</c:v>
                </c:pt>
                <c:pt idx="5">
                  <c:v>0.05</c:v>
                </c:pt>
                <c:pt idx="6">
                  <c:v>2.45</c:v>
                </c:pt>
                <c:pt idx="7">
                  <c:v>4.46</c:v>
                </c:pt>
              </c:numCache>
            </c:numRef>
          </c:val>
        </c:ser>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5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1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all for coming back. In the last session I showed you what this tool produces. The feedback I got — very fairly — was that the workflow itself was still a black box. People told me they could not follow who does what, and where the AI actually sits in all this. So today I am going to open the box. I am going to take one real part — a die-cast aluminium housing, the sort of thing we buy tens of thousands of a year — and walk it through the tool from the moment we upload the CAD file to the moment a buyer walks into a supplier meeting with a number. Every single step. And I will keep colour-coding who owns each step, because that is the bit that has been confusing. Blue is measuring. Purple is the AI. Amber is the safety checks. Teal is the costing engine doing the arithmetic. Green is where a human signs it off. If you take one line away today, take the line on the screen: the rules derive every input, the engine does every calculation, a person approves the answer — and the AI is an optional second opinion, off by default. Everything I show you for the next twenty minutes is an elaboration of that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map of where we are going, because there is more here than an hour needs and I would rather you chose than sat through all of it. Section one, four slides: how the whole thing connects, and what it is worth measured against doing the same job by hand — including the category-by-category comparison with CAPEE from our internal review. About eight minutes. Section two is the first worked example — a die-cast aluminium housing, followed through all twelve stages from CAD file to defensible price, including the calculation shown in full so you can check it. Eighteen slides, about twenty-two minutes, and it is the heart of the pack. Section three does the same thing on a completely different part, an injection-moulded bumper fascia, plus paint, plus two findings that I genuinely did not predict. Eleven slides, about eighteen minutes. Section four is five minutes on what the tool cannot do. And the strip along the bottom is there because I have been in enough of these meetings. If the hour collapses to ten minutes, take slide three, the three business-case slides, slide twenty-five, slide thirty-five and slide thirty-seven. Everything in between is the evidence for those five, and you can read it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twelve stages, the whole thing on one picture — and one important update since the last session: the tool is now deterministic by default. Start in the middle-left. The blue box measures the part — OCCT, real geometry, never guessed. Below it the indigo box is new: the rules engine. Twelve commodities of explicit engineering rules that derive every cost input straight from the measurement — cycle times, tooling, press size, yield. Where geometry genuinely cannot know something — what the part is made of, whether it is safety-critical, how many a year — the tool does not guess. It stops and asks the engineer, that is the green box, and the costing is blocked until a person answers. That combination is what changed: the purple box at the top, the AI, is now OPTIONAL. Three modes on the form: Rules only, which is the default and makes no outbound call at all; Compare, which runs both and shows you exactly where they disagree, field by field; and AI-led, the old behaviour, kept for comparison. When the AI does run, its words come down through the amber guardrails — nine sanity checks, and its numbers are overwritten wherever the rules can derive the value, its machining time capped by what the stock could physically give up. On the right, unchanged: the rate library is still the only source of money in the tool, the local database holds our parts and real actuals for calibration, the engine is still fixed eight-bucket arithmetic with no judgement in it, and the uncertainty layer turns the number into an honest range. The one line: the kernel measures, the rules derive, the engineer answers, the guardrails check, the engine calculates. The AI is a second opinion — useful, optional, and unable to reach the money. Three annotations on this version of the picture, from questions this room asked. Every box badged AUTO runs unattended — the only HUMAN badge on the slide is the engineer, answering material, duty, volume and region, and approving. WHO picks the machine and the tonnage: the indigo rules-and-optimisers box — presses and dies sized by clamp and forming physics, and the machining routing and mould cavitation actually cost-ranked, with the losing options printed in the trace. And WHERE the DFM, DFA and saving ideas come from: the cost engine itself — rule thresholds and geometry advisors, every idea priced — not from the AI; you can see that on the outputs column now, and it is verified in the source code. Two more things this version of the picture carries. The little green card top-left is why to believe the boxes: the tool is deterministic — same file and same answers give the same price, every time; twelve of the eighteen commodities are fully rules-driven and the slide says so honestly; the arithmetic sits behind roughly one and a half thousand automated tests; and it has been validated against six real parts with independent manual costs, at about thirteen percent fleet error. And the small dashed arrow feeding back into the local database is the flywheel: every won quote and real invoice we record calibrates the estimates and tightens the confidence band — this is a tool that gets better the more we use it. One flow deserves its own sentence because it is the exception to the rules-first rule: the PCB photo. A photograph has no geometry for the kernel to measure, so this is the one input where the AI is REQUIRED — its vision reads the board and names the components and the fab spec. But naming is all it does: the board spec is then stabilised deterministically, every component price is snapped to our OFFLINE price catalogue with class-median caps — the model never prices a component — and the deterministic PCB fabrication and assembly models cost the board from the rate library like any other part. The live distributor pricing you see top-right is optional and off by default. So even on the one path that needs the AI’s eyes, the money never comes from the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business case starts with time, because time is the thing nobody disputes. The left side shows what the CostVision minutes actually contain — upload, automatic measurement and derivation, then the engineer answers the two to five questions geometry cannot answer, reviews the band and approves. Ten to fifteen minutes end to end for a CAD part, and I want to be precise: that is not unattended time, that is an engineer at the screen owning the answer. The table is the same should-cost by commodity. One row is a confirmed baseline — casting plus machining, four to five hours in CAPEE, measured by us. The other CAPEE figures are team-reported working numbers and the slide says so; I would rather show you an honest label than a precise-looking guess. The chart makes the point the table makes: the green bars are barely visible against the amber ones. And the box at the bottom is the real argument — this is capacity, not headcount. At these times one engineer reviews fifteen to twenty-five should-costs a day instead of preparing one or two. The hours we save do not disappear, they move into negotiation preparation, which is where the money actually is. Two additions from our own review. First, the single biggest category of saving is input data feeding: in CAPEE every measurement and cycle input is read off the CAD and keyed by hand; here the geometry kernel measures the file and feeds the cost engine automatically. Second, the total: hours saved equals the per-part difference times the annual number of parts, summed over the commodities. On an illustrative five-hundred-part annual mix over this table’s own midpoints that is roughly one thousand six hundred and fifty hours a year — about one engineer-year. That mix is illustrative and the slide says so; substitute our real annual volumes and the tool’s own logged run times to firm it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our internal review with the manager, made presentable — seven categories, and I will take them in order. One, input data feeding, and this is the big one: in CAPEE every measurement and every cycle input is read off the CAD by a person and keyed in by hand; here the geometry kernel measures the file and feeds the cost engine automatically. Two, machine and tonnage selection: CAPEE partially automates this; here it is automatic and, more importantly, cost-ranked — the press is sized by physics, and the machining routing and the mould cavitation are chosen by price with the losing alternatives printed in the trace, so the choice defends itself. Three, coverage: at these cycle times one engineer reviews fifteen to twenty-five should-costs a day, which means directional cost support early in the programme, while the design can still move. Four, the total: hours saved per part times annual parts, summed by commodity — on an illustrative five-hundred-part mix, about one thousand six hundred and fifty hours a year, roughly one engineer-year; that mix is illustrative and we will substitute our real volumes. Five, and I checked this in the source code before putting it on a slide: the DFM and DFA insights are generated by the deterministic cost engine — thirty-seven threshold rules and ten geometry advisors, scores by fixed arithmetic — not by the AI. CAPEE has nothing equivalent. Six, same answer for the cost-saving ideas: they come from the engine’s rule layer and the optimisers, each one priced in pounds per part with a named lever owner; the AI is allowed to add commentary and nothing else. And seven, everything a conventional tool does not do: twenty regions priced on every run, the confidence band, the negotiation pack, full derivation on every line, the self-audit, learning from actuals, landed cost including duty and carbon border adjustment, and the air-gapped mode for IP-sensitive programmes.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half of the business case: evidence, coverage, and what it costs to run. Four headline figures, all measured. Sixteen to thirty times faster on the baseline we confirmed ourselves. Zero marginal cost per estimate in the default mode — there is no AI call, no per-seat metering on the costing path, it is arithmetic on our own server. Twenty manufacturing regions priced on every single run. And every line of every estimate prints its own derivation — that is what makes it usable in a supplier meeting. The table is the accuracy evidence: six real parts with independent manual bottom-up costs. Three inside the manual band. Three within about thirty percent, every one of them an over-estimate — the miss direction you can live with, because an over-estimate is a negotiating position and an under-estimate is a signed mistake. Fleet error fifteen percent, against twenty-eight for the AI path on the same parts. The two donuts: twelve of eighteen commodities run fully deterministic today, and of the eight parts we costed, all eight produced a number — the AI path managed five of eight before we hardened it. And the amber strip is deliberate, because this deck goes up, and the fastest way to lose the room is to overclaim: it does not read drawings yet, it asks rather than guesses on material, and six parts is six parts — we widen the validation set before any of these figures goes into a commitment. Everything on this slide can be regenerated from the tool this afternoon.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is the orientation done. Now I want to slow right down and take one real part through all twelve stages, because the only way to judge a costing tool is to watch it work on something concrete. This is a die-cast aluminium housing. Over the next fourteen slides you will see exactly what the geometry kernel measures and what the AI is allowed to say about it, the four automatic guards and the autocorrect that fires when the AI and the measurements disagree, how the press gets chosen by physics rather than by default, where every single cutting minute comes from, and then the eight buckets, the country comparison, the confidence band and the human sign-off. If you take nothing else from this section, take the calculation slide. It is the one you can check with a calculator while I am talking.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part. A die-cast aluminium housing — the sort of thing that sits on an engine or a gearbox and that we buy tens of thousands of a year without ever really knowing what it should cost. Two point eight kilos finished. Walls about three millimetres. Two precision bores that have to be reamed. Sixteen holes that get drilled and tapped. Two faces that have to be machined flat because something bolts to them. And a projected shadow of one thousand six hundred and fifty square centimetres, which is going to decide which press it runs on. I want you to look at that list on the right and register one thing: every single number on it came out of the three-D model. Nobody typed them in, nobody estimated them off a drawing, and if we open the same file tomorrow we get exactly the same numbers. That is the foundation everything else in this deck is built on. The picture is an illustration rather than a photograph, but it is drawn to the dimensions the tool actually measured — so what you are looking at is the part as the software sees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part and here is the map of where we are going. The housing weighs two point eight kilos finished, has walls about three millimetres thick, two precision bores, sixteen holes that need drilling and threading, and two faces that must be machined flat. We buy sixty thousand a year and we are looking at making them in China. Underneath, the five phases. Blue, we measure. Purple, the optional AI reads — and in the default Rules mode this phase is skipped entirely, the rules and the engineer answer instead. Amber, four automatic safety checks run. Teal, the engine calculates. Green, a person checks and signs. Twelve stages in total, and the whole thing takes about two minutes of computer time. Now look at the box at the bottom, because this answers the question I was asked most often last time — how much of this is AI? Of the twelve stages, the AI owns exactly one. One. Three stages are measurement, two are safety checks, four are arithmetic, two are human review. That is deliberate. We did not build an AI tool and bolt some costing onto it. We built a costing engine and gave it a very small, very bounded AI assistant to do the one job AI is genuinely good at — recognising what something is. Everything else is engineering that we can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one. Our engineer uploads the CAD file, and types in two things the drawing cannot possibly tell us: how many we need a year, and where we plan to make them. Those two numbers matter enormously — the volume decides how thinly the tooling cost is spread, and the location decides which labour and machine rates apply. Stage two is the measuring. The geometry kernel opens the 3D model and measures it like a very fast, very precise digital ruler. It computes the exact solid volume — one thousand and thirty-seven cubic centimetres. Note what it does NOT do: it does not tell you the weight, because weight needs a density and nothing has named the material yet. So it publishes a weight for every candidate density — aluminium, steel, plastic, cast iron, copper, titanium — and waits. On aluminium that is two point eight kilos. It finds the walls are about three millimetres. It counts two precision bores, sixteen holes that need threading, two faces that must be machined flat. I want to labour this point because it is where people assume AI is involved. It is not. This is geometry. Nobody typed these numbers and nobody estimated them. Give it the same file tomorrow and you get identical results — which, incidentally, is why two different engineers costing the same part now get the same answer, which was never true with spreadsheets. Stage three is a small step with a huge consequence. The tool asks: is this hollow or solid? Three millimetre walls around an enclosed space means hollow — a casting. So the cutting machines are only tidying up surfaces. If it wrongly decided this was a solid block of aluminium, it would price machining the entire shape out of solid metal, and the answer would come out roughly double. One sense-check, and it protects the whole number. And notice the purple box. Where is the AI so far? Nowhere. It has not been involved at all. That ordering is deliberate — we establish the facts first, so that when the AI does speak, we already have something independent to check it against.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was asked what the geometry kernel actually is, so let me answer that properly, including the commercial question underneath it. A geometry kernel is the mathematical engine that understands solid shapes. It is the same class of software that sits underneath CATIA, SolidWorks and NX — when you drag a face in CAD, a kernel is doing the maths. Ours is Open CASCADE, usually called OCCT, and we drive it from Python through its official bindings, called OCP. Worth being precise: the measurement code calls OCP directly, so there is one fewer library sitting between your CAD file and the number. The important distinction is that it reads the real geometry, not a picture of it. A STEP file describes a cylinder as a genuine mathematical cylinder with a radius and an axis. A mesh file only has triangles that look round. That is why we can say "this is a twelve millimetre bore, forty millimetres deep, and it goes all the way through" with certainty rather than approximation. Is it open source? Yes, and I want to be transparent about the licences because someone will ask. Open CASCADE is LGPL version two point one with a linking exception, which is what lets us use it in a commercial tool. The OCP bindings are Apache two point zero. The three-D viewer you see on screen is three.js, which is MIT. All permissive, all long-established, all free. Practically that means three things. There is no per-seat CAD licence to buy for the costing tool. There is no vendor who can change the terms on us. And — this is the one that matters for us — no third party ever sees the model, because the kernel runs as a process on our own server. The CAD file is measured exactly where it sits. How does it actually measure? Four things. It integrates the solid to get an exact volume, then publishes a weight for every candidate density and waits for something to name the material. It walks every cylindrical face to build the hole table — diameter from the exact radius, depth from the surface parameter span, and through-versus-blind by comparing that depth to the bounding box. It ray-casts inside the solid to find true wall thickness, which is the measurement that distinguishes a casting from a machined block. And it classifies every face by surface type, so the flats we will have to mill are counted rather than guessed. And the honest limitation, which I would rather you hear from me. The kernel is exact about what is in the model and completely silent about what is not. It cannot read a tolerance, a surface finish or a material callout unless the CAD file actually carries it. Those still come off the drawing or from our engineer. It measures. It does not interpret.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four, the AI — and the first thing to say has changed since this deck was first written: this stage is OPTIONAL, and by default it does not run at all. The default mode is Rules only — the geometry kernel measures, the rules derive every cost input, and the two or three things geometry cannot know, the material and the duty questions, are answered by our engineer on the form. No outbound call, nothing leaves the network, and the costing is complete. The AI exists for the other two modes. In Compare it reads the part alongside the rules and we see field by field where the two disagree. In AI-led — kept mainly for comparison — it does the classification job you see on the left: it is handed the measurements and the shape signature, never a price list, never the rate library, and it hands back words — aluminium die-casting alloy, high-pressure die cast, machine-finished — with a confidence score. The red box is unchanged and worth reading slowly, because every line is enforced in code, not requested in a prompt: the AI cannot set a price or any part of one, cannot change a measured dimension, cannot choose the machine or the cycle time, cannot touch the rate library, cannot override a safety check — and cannot overrule anything the engineer entered. An engineer’s entry outranks the model everywhere, always. When the AI does run, the confidence score is not decoration. At eighty-four percent the tool proceeds but flags the call for review. Below fifty percent a hard rule fires and stays on the result until a person clears it — because a confident-sounding wrong answer is the most dangerous thing an AI can produce, so uncertainty is made visible rather than smoothed over. In plain terms: the AI does the job an experienced engineer does in the first ten seconds of picking up a part. It saves setup time when we want a second opinion. It does not do the costing, it cannot — and on the default path it is not even in the room: the engineer’s answers replace its reading entirely.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I most wanted to get in front of you, because it answers the question "what if the AI is wrong". The answer is that the tool assumes it might be, and checks. Four checks ran on this part, before a single pound was calculated. Check one. To sell us a two point eight kilo casting, the supplier does not melt two point eight kilos. They pour four point eight three kilos. The difference runs down the feed channels and into the overflow, and gets recycled at scrap value. If you cost only the part weight you understate the metal by seventy percent. This is the single most common error in casting cost, and the tool cannot make it. Check two. On a casting, the bores and the holes are already cast in. The cutter is removing a thin skim to hit tolerance. So machining adds time, not material. If the model were allowed to think the cutter was carving the shape out of metal, the cost would roughly double. The guard caps machining to a finishing envelope. Check three. Because this part has machined faces, a model can be tempted to say "machined from solid billet". The guard keeps casting as the primary process and redirects the material to a genuine die-casting alloy, not a wrought grade — different alloys have genuinely different prices per kilo. Check four is machine sizing, and I will give that its own slide in a moment. Now the amber box, and this is the autocorrect feature you asked about. When the AI and the measurements disagree, the measurements win. Automatically. Every time. The tool corrects the input, writes down what it changed and why, and shows our engineer. It never quietly proceeds with something it knows is wrong. And why four checks rather than one general one? Because a cast-and-machined part has four distinct ways to go wrong, and each guard was written after a specific real-world costing mistake. They are lessons, not decoration.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into the engine, and this is where the real engineering lives. Two questions get answered here: which process, and which machine — and one thing to hold onto throughout: every answer on this slide is a DEFAULT, not a decree. First, the process, and note who decides: the rules engine, by default with no AI call at all. It tests the measured shape against what each process can physically do. Three millimetre walls, a hollow shape, sixty thousand a year — that combination points firmly at high-pressure die casting. Sand casting is rejected because it cannot reliably produce three millimetre walls at that quality or speed. Machining from solid would cut away about eighty percent of the metal — absurd on cost. Gravity die casting cannot reliably fill walls that thin. In the optional AI modes the model offers its own reading — here it agreed, die casting — and where it disagrees, the physics wins. Second, the press. Molten aluminium injected under pressure tries to force the two mould halves apart, so the engine takes the shadow area it measured from the CAD, multiplies by the cavity pressure, adds a safety margin, and picks the smallest press in the library that clamps it: sixteen hundred tonnes. Smallest-that-covers is also cheapest-per-hour on the ladder, so the sizing IS the cost optimisation. Third — and this is the point our own review sharpened — all of it is optional the moment our engineer enters data. Pin the process on the form and the pin is honoured everywhere, including on re-analysis. Pick a different machine by hand and the tool respects the choice: it keeps your machine, prices its own alternative alongside as a negotiation lever, and the self-audit challenges the selection in both directions — a machine bigger than the physics needs is flagged with the pounds-per-part it wastes, a smaller one with the reason it cannot work. Enter a toolmaker quotation and it overrides every tooling estimate. The tool decides where the engineer has not; the engineer outranks the tool everywhere they have. And the purple box is the one line to remember: the rules engine decided, the optional AI seconded, a pinned engineer choice overrides both — and physics argues back at anyone, human or machine, who picks a process the walls cannot survive.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was asked to show the calculation rather than assert it, so this slide is the arithmetic behind the two numbers that matter most on a casting: which press, and how many minutes of cutting. Left-hand side, the press. The kernel measures the projected shadow of the part — the silhouette you would see looking down the direction the die opens — and gets one thousand six hundred and fifty square centimetres. Aluminium high-pressure die casting runs at about seventy megapascals of cavity pressure; that is a material property, not an opinion. Multiply the two and you get the force trying to blow the die open: one thousand one hundred and seventy-eight tonnes. The engine applies a twenty percent safety factor, so we need a press that can hold one thousand four hundred and thirteen tonnes. Then it walks the ladder — one sixty, five hundred, eight hundred, sixteen hundred — and takes the smallest one that covers it. Sixteen hundred tonnes, one hundred and thirty-seven pounds fifty-five an hour. Nothing on that left-hand side was typed in by a person. The area came out of the model, the pressure is a property of the alloy, and the ladder and the rates are the rate library. Right-hand side, the cutting minutes, and this is where people are most sceptical, so let us be concrete. Every feature the kernel found gets its own time from a published shop formula. Two faces at one eighty by one twenty millimetres: nought point two zero minutes of approach plus the area divided by eight thousand square millimetres a minute of face-mill coverage — three point seven seven minutes each. Two bores at forty millimetres diameter, forty-five deep: nought point five plus forty-five times nought point zero five — three point five eight each. Sixteen blind holes at eight millimetres: nought point one five plus depth times nought point zero two, plus a tenth of a minute because a blind hole needs its bottom finishing — nought point eight five each. Add it up with a thirty percent uplift for the reamed tolerance on the bores and the geometry proposes twenty-eight point two minutes. Now watch what happens next, because this is the guard doing real work in front of you. The near-net envelope says a two point eight kilo casting cannot need more than nought point one hours plus nought point zero seven hours per kilo of finishing — seventeen point eight minutes. Twenty-eight is above that, so the guard caps it. And the routing we actually costed from the supplier is fifteen point nine minutes, which sits inside both. Three independent numbers, bounding each other. That is the point I want you to take away. When they agree, as they do here, the number stands. When they disagree badly, that is the signal — either the part is not really near-net, or the routing is wrong, or the quote is padded. Either way, you find out before the meeting rather than during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detail people usually want and rarely get, so let us go through it properly — and I have deliberately laid this table out so you can check any row with a calculator while I am talking. Take the milling row. The five-axis machine costs eighty-five pounds an hour. The cut itself takes nought point one one of an hour. But a machine is never a hundred percent available, so the engine divides by the overall equipment effectiveness — eighty-five percent — which gives nought point one two nine four of an hour of machine occupied. Eighty-five pounds times that is eleven pounds exactly. Then labour: half an operator at twenty-six pounds an hour for that time is one pound fifty-nine. Twelve fifty-nine for the operation. Every row on this slide works the same way and every row multiplies out. The casting shot: fifty-five seconds on the sixteen-hundred-tonne press at one hundred and thirty-seven fifty-five an hour, plus a two percent reject uplift, is two pounds sixty-eight. Boring and reaming the two bores, nine seventy-three. Drilling and tapping sixteen holes on a cheaper drill-and-tap machine at thirty pounds an hour, three twenty-four. Leak test, deburr and wash, four pounds. Plus a small amortised setup. Add it up: nought point three nine of an hour of machine time, twenty-eight pounds of machine and four pounds fifty-nine of labour — thirty-two pounds fifty-seven at UK rates. On the right, how a cycle time is actually built, and I want to draw your eye to that third box. The divide-by-OEE column is the one people miss. It is the difference between costing the theoretical best case and costing the factory as it really runs. Now the chart at the bottom, which for me is the single most valuable output on this part. The famous casting shot — the thing everyone pictures when you say die casting — is two pounds sixty-eight. Eight percent. Cutting metal is twenty-five eighty-nine, seventy-nine percent; add the test and clean-up and everything after the shot is twenty-nine eighty-nine, ninety-two percent. Think about what that means for a negotiation. If you go in to argue about the price of aluminium, you are arguing about eight percent of the making cost. The money is in cycle time. So the productive conversation with that supplier is about fixturing, tool paths and how many seconds each operation really takes.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money comes together. Every part this tool costs — whether it is a one pound stamped bracket or this casting — is built into the same eight buckets. Material, process, labour, tooling, packaging, logistics, overhead, margin. Always the same eight. For this housing made in China: the metal, costed at the poured weight and net of the scrap we get back on the runner, is twelve pounds eighteen. The making — the casting shot plus all the machining — is fourteen thirty-four. People one thirty-six. The die spread across the year, two seventeen. Packaging and transport, one pound seventy between them. Then factory overhead at twelve percent and a nine percent supplier margin. Thirty-eight pounds fifty-five. Bottom right, the same part priced elsewhere, and every one of those is a full recalculation on that country’s own rates, not a fudge factor. India thirty-seven seventeen. China thirty-eight fifty-five. Mexico forty forty-four. The UK, fifty-nine sixty. And the reason the gap is not larger is worth understanding, because buyers get this wrong. Look at the metal: twelve pounds eighteen in China, twelve fifty-six in the UK. Aluminium is a world commodity — it costs roughly the same everywhere. What actually changes between countries is the labour, the machine and the overhead rates. On a machining-heavy part like this, that is the whole difference. Two rules at the bottom that I would ask you to hold onto. First, always the same eight buckets, which is what lets you compare two completely different parts honestly — and overhead is applied once, margin is applied once, never twice, which is a classic quoting trick. Second, every figure traces back to a driver. Material is measured weight times a published metal price. Process is calculated time times a machine rate. If you change an input you can point at exactly why the number moved. There is no black box anywhere in the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stages left, and they are the two that make this usable in a real negotiation rather than just interesting. Stage eleven. The tool does not give you one number pretending to be exact. It runs the whole calculation four thousand times, varying the inputs it is least confident about — and it varies them by different amounts, because tooling estimates are genuinely less certain than a published metal price. Overhead and margin are percentages of policy, so they simply follow. What comes out is a range: ten percent of the runs came in below thirty-two thirty-one, ten percent came in above forty-five thirty-eight, and the middle of the distribution is our thirty-eight fifty-five. About plus or minus seventeen percent on this part. I would rather hand you an honest range than a falsely precise number, and the width of that band is itself information — it is wider here than it would be on a simple pressing, because a machining-heavy casting carries more cycle-time risk. Stage twelve, and this is the one I care most about. Every AI suggestion arrives as an editable pre-fill. Highlighted. Never silently applied. Our engineer can change the material, the process, the machine, the cycle time, the rates — and the whole cost recalculates instantly. The tool proposes. The engineer disposes. The last line of defence is a person, and it always will be. And here is what it is all for. A supplier quotes fifty-two pounds for this part. That is above our P90 — above where ninety percent of our simulated outcomes landed. Our buyer no longer has to say "that feels high". They can open the operation list and say: your machining time looks about thirty percent above what this geometry needs, walk me through your fixturing. That is a completely different conversation, and it is the reason this tool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question I get every time is where the plus-or-minus comes from, so here is the mechanism, exactly as the code does it. Step one: every cost line already carries a confidence grade from its provenance — measured geometry and library rates are High, derived values Medium, assumptions Low. Step two: those grades become spreads — five, twelve and twenty-two percent at one sigma — with per-bucket reality on top: tooling estimates get one-point-eight times the spread because tooling is genuinely the least certain thing we estimate, packaging and logistics get less because they are contracted, and overhead and margin are never perturbed at all because they are policy percentages — they are recomputed inside every trial exactly as the real engine composes them. Step three: four thousand trials. Each one multiplies every base bucket by a lognormal factor — always positive, mean one — and rebuilds the stack. Step four: sort the four thousand totals and read off the tenth, fiftieth and ninetieth percentiles. That is the band on the result card. Three properties worth stating. It is seeded, so the same part gives the same band every time — it is reproducible and it is unit-tested. It is calibrated: once we have enough real actuals in a segment, a conformal layer replaces the prior with a band that provably covers the target share of real outcomes — that is a statistical guarantee, and until we have the data the tool says it is on the prior. And it is honest by construction: assumptions widen the band automatically, so a part costed on guesses cannot pretend to precision. The one line: the band is the same arithmetic run four thousand times with each input exactly as uncertain as its provenance says.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Sections twelve to fifteen of every report — DFM, DFA, cost optimisation and the roadmap — come from one deterministic rule engine, and I want to show exactly how, because the honest answer to "is this AI opinion?" is no. Step one: the engine runs AFTER the costing and reads the finished result — the eight buckets and the same measured inputs the estimate used. It critiques the numbers that were actually costed. Step two: around thirty-seven fixed thresholds fire — material utilisation below sixty percent is critical, below seventy-two major; OEE below seventy critical; every bucket compared to its commodity benchmark band. Each hit carries a severity, a saving percentage and a recommendation, all constants in code. Step three: ten per-process advisor modules add the geometry findings — heavy sections that will draw porosity, sharp corners that start hot tears, missing draft, near-net opportunities — read from the measured solid, not guessed. Step four: the score is arithmetic — start at ten, minus two per critical, one per major, half per minor — and the roadmap is a filter of the same actions by risk and timeframe. Two properties to underline. The saving headline is root-sum-square of the top three issues capped at forty percent — we deliberately do not add up every opportunity, because stacked savings never materialise additively. And the AI cannot touch any of it: in AI mode it may add commentary to the analysis panel, but no score, severity or saving in this report comes from a model. Source: src slash engine slash dfm-dfa dot ts plus the ten advisor modules — one function, feeding both the screen and the PDF, so the two can never disagree.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buyer challenged us with exactly the right question: the tool costed a five-machine routing and then recommended consolidating it with multi-axis machining — why did it not just pick the right machine in the first place? So now it does, and I want to show the mechanism. Step one: before any pound is booked, the routing optimiser prices the feasible alternatives — the split routing on cheap three-axis stations with a fixturing per approach direction, the single-setup five-axis consolidation, the turning-led route when the part is round — including batch setup amortisation and the per-part handling every extra fixturing costs. Cheapest capable routing wins. Step two: the losers are printed in the derivation trace next to the chosen machine, so the process line comes with its own defence. Step three: the suggestion layer reads the same arithmetic — it no longer critiques the tool’s own choices, it flips to "routing verified optimal" when the lever is already taken, and every finding is tagged with who owns the lever. And step four is my favourite, because it is the honest one: on the very report that prompted the question, the old advice said multi-axis consolidation, eleven percent, long term. The optimiser ranked it and consolidation loses on that part. The new suggestion is a quick-win re-quote: the same machining content on the cheapest capable machines is six pounds ninety-five cheaper per part — twenty percent of the machining spend — and the report says out loud that consolidation was ranked and does not win. Three rules of engagement: the AI never picks the machine, an engineer’s explicit choice is respected with the delta surfaced beside it, and if there is no verifiable delta there is no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one question precisely: how does the tool price a die or a mould? Not as a percentage of the part price, and not from a lookup table — it writes the toolmaker’s quotation itself. The method first. One toolmaking shop model prices every commodity: design at fifty-eight pounds an hour, CNC at fifty-two, EDM at fifty-eight, bench fitting at forty-eight, polishing at forty-five, press tryout at eighty-five; tool steels by the kilogram from P20 at six-eighty to powder-metallurgy grades at fourteen; hot-runner drops and core-pull cylinders at catalogue prices; and the shop’s twenty-two percent overhead and profit as its own visible line. The hours come from one law — twelve plus three-point-four times area to the nought-point-seven-two per cavity, depth-corrected — with EDM, polishing and fitting as fractions driven by complexity and finish grade. And the right-hand side is why you can believe it: the bumper fascia mould, the one tool we hold a real toolmaker’s quotation for, printed line by line exactly as the engine builds it. Five hundred and sixty-eight hours of design. Eight and a half tonnes of steel. Two thousand seven hundred hours of CNC. Every line ends in a number a toolmaker can argue with — and the total lands at four hundred and twenty-four thousand against a real quotation of four hundred and twenty. Within one percent. The old single-formula parametric said six hundred and ninety. That is the confidence claim: the engine does not estimate a tooling number, it composes a quotation you can take to a die shop and argue line by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shop, three more commodities — and every card reads like the quotation a die shop would send. The forging die: blocks at four times the impression silhouette in real die steels priced by the kilogram, sinking hours per impression scaled by complexity and by how hard the chosen steel is to cut, EDM, hardening priced per kilogram of block, polishing per impression, tryout strokes. The die life is keyed to the alloy being forged — aluminium is gentle on a die at eighty thousand hits, a superalloy destroys one in three and a half thousand — times complexity and a size penalty. The stamping die: die set plus strip-design engineering plus per-station steel and hours split across wire EDM, CNC and bench fitting — and as validation, the shop model and the geometry kernel’s independent estimate agree within one and a half percent on the reference die. The blow mould scales with the litres the container holds, in aluminium or steel, with the life following the mould material. And the bottom-right card closes the loop: the kernel stays primary where it has a B-rep; the shop model answers the STL and manual paths that used to have to ask; and investment tooling is priced as the wax-injection mould it physically is. One rule survives everything on both slides: a real toolmaker quotation beats every estimate,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have been asked, quite reasonably, whether this thing makes numbers up. Let me answer it precisely rather than reassuringly, because the precise answer is more useful. On the left, all eight buckets and what each one is actually made of. Material is measured volume times a density times a published price per kilo. Process is cycle time divided by machine availability, times a machine rate from our library. Labour is that same time times the manning level times a wage-grade rate. Tooling is the die cost our engineer entered, divided by the parts it will make. Packaging and logistics are typed in directly. Overhead and margin are percentages of the figures above, applied once each. Read down that list and notice what is missing. Not one of those six lines contains a number the AI produced. It cannot, because the AI never sees the rate library and never touches the arithmetic. On the right, the checks that run automatically on every single estimate. If the AI reports a volume more than twenty-five percent away from what we measured, that warns; more than fifty percent and it is an error. Weight must equal volume times density to within twenty percent. If material confidence drops under fifty percent, it asks for a photo or a manual confirmation. Any cycle time outside one point eight seconds to twenty-four hours is physically implausible and gets rejected. Near-net machining is capped to a finish envelope. And the machine must be big enough for the part or it is flagged. Every one of those is code. That distinction matters — a prompt can be talked out of a rule; a line of code cannot. Now the honest part, and please hear both halves of it. We do say that no AI-invented number ever becomes money. The AI hands over words, and the engine takes it from there. What we do not say is that the AI is never wrong. It can misread a part. It might look at an unusual casting and call it something else. That is exactly why it carries a confidence score, why those checks run automatically, and why a person signs the result before it goes anywhere. Anyone who tells you their AI never makes a mistake is selling you something. And one last thing, which is the test I would apply to any costing tool. Run the same file with the same inputs a hundred times and you get thirty-eight fifty-five a hundred times. The arithmetic is fixed code. The answer cannot drift between runs, between two engineers, or between one supplier meeting and the next one. That is what makes it defensible.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put the whole thing on one page, because this is the answer to the question you asked me after the last session. Five players, left to right, in the order they act. The ruler measures the CAD file and gives the same answer every time. The AI is the optional player: off by default, and when it does run it names what the part is — words only, never money. The guards check it against the measurements and autocorrect where they disagree, and the measurements always win. The engine does every calculation — sizes the machine, builds the cycle times, fills the eight buckets, reprices across twenty countries — with fixed, traceable formulas. And our engineer answers what geometry cannot know, overrides any choice they disagree with — their entry always wins — and signs off the number. The line in the middle is the whole tool in one sentence. The rules derive. The engine calculates. A person approves. The AI is an optional second opinion. And the result on this housing: a defensible forty pounds ninety-nine, with a thirty-five to forty-seven confidence band, produced in about two minutes, and every penny traceable to either a measurement or a published rate. That is the workflow. I am very happy to take questions — and if it would help, I can run this live on any part you want to throw at me, and you can watch each of these stages happen in real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worked example, and the reason it is here is to answer a fair question: is this a tool, or is it a demo that only works on one part? So we do it all again on something as different as I could find — an injection-moulded bumper fascia. Same kernel, same AI, same rate library, same eight buckets, same person signing it off. What changes is which bucket holds the money, and the answer is going to surprise you. Along the way you will see cooling time calculated from wall thickness and what half a millimetre of wall is actually worth, and the paint line costed properly from film thickness rather than as a percentage uplift on the moulded price. And it ends with two findings that I would not have predicted before we ran it — which is, in the end, the whole argument for having the tool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 second worked example, and I have chosen a part that could not be much more different from the casting: a front bumper fascia. It is talc-filled polypropylene, four point two kilos, walls three millimetres thick, roughly one point eight metres by half a metre, with six undercut features that need sliding sections in the tool for the lamp and sensor apertures, and it is Class-A painted. Sixty thousand a year, made in China — deliberately the same volume and the same country as the casting so you can compare like with like. Look at the five phases across the middle and compare them with the strip I showed you on the casting. They are identical. Same twelve stages, same owners, same colours. The geometry kernel is the same kernel. The AI does the same one job. The rate library is the same library. The engine builds the same eight buckets. That is the point of this second example, and it is worth saying out loud: we have not built twenty different tools. We have built one method that applies to twenty commodities. When someone brings us a part we have never costed before, nothing new has to be invented. What does change — and this is what makes it worth your time — is which bucket ends up holding the money. On the casting it was the machining. On this part it is somewhere completely different, and I think the answer will surprise you as much as it surprised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here is the second part, chosen because it could hardly be more different from the casting while still being something every one of us would recognise. A front bumper fascia. Four point two kilos of talc-filled polypropylene, walls three millimetres thick, one point eight metres across. The grille aperture, the two fog-lamp openings and the parking-sensor holes all face back against the direction the mould opens, so the tool needs six sliding sections to release the part — and each of those slides is real money in the mould. The projected shadow is nine thousand nine hundred square centimetres, which is six times the casting, and that single number is going to drive the biggest process decision on this part. Note the last two rows deliberately: sixty thousand a year, made in China. Exactly the same volume and the same country as the casting, so when we compare the two at the end we are comparing like with like rather than two different sourcing scenarios.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one to four, and I will go quickly because the method is the one you have already seen. The kernel opens the model and measures. Volume, and on polypropylene that is four point two kilos. Wall thickness, three millimetres — hold onto that, it matters more than you would think. The projected shadow in the direction the mould opens, nine thousand nine hundred square centimetres. The painted surface area, one point six square metres. And then the measurement that I find genuinely clever: it classifies every face by its angle to the mould-opening direction and counts the ones pointing back against the draw. Six of them. Every one of those needs a sliding section in the tool so the part can be released, and every slide is real money in the mould. Nobody counted those by eye off a drawing. In the optional AI modes the model then does its one job and hands back four words: talc-filled polypropylene, injection moulded in one shot, painted to a Class-A finish, eighty-seven percent confident. Four words and a score. No numbers. It still cannot see a price list, a rate or a machine — and in the default Rules mode this step is skipped: the filename, the geometry and the engineer’s answer supply the same facts. And the box across the bottom is the one I would underline. That projected shadow, nine thousand nine hundred square centimetres, decides the biggest process number on this part. Molten plastic pushing outwards across that area is what tries to force the mould open, so it sets the press size — and the press rate then sets the moulding cost. A part this size simply cannot be moulded on a small machine, no matter how cheap that machine is per hour. We will see exactly what that costs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five to seven. Four guards run on this part, and they are different guards from the casting — because a moulded part goes wrong in different ways. Guard one, the runner. On a cold-runner tool, every shot also produces a sprue and runner — six hundred to nine hundred grams of plastic that is not the part. This tool has a hot runner, so the shot weight is the part weight. The guard makes sure we neither charge for plastic that does not exist nor forget it when the tool is cold-runner. Guard two, cooling. And this is the number people guess and should not. Cool time is three point one six times the wall thickness squared. At three millimetres that is twenty-eight point four seconds — more than half the entire cycle. Notice it is the wall SQUARED. Take the wall from three millimetres to two point five and you take about nine seconds out of every shot. That is the single most powerful lever in injection moulding, and it is a design decision, not a purchasing one. Guard three is the press, and it is the same physics as the die-casting slide, just a different commodity. Nine thousand nine hundred square centimetres of shadow, times twenty-five megapascals of cavity pressure, times a fifteen percent safety factor, gives two thousand nine hundred tonnes of clamp force needed. The engine walks the ladder and takes the smallest press that covers it — three and a half thousand tonnes at three hundred and six pounds an hour. Guard four, the tool cost. A four hundred and twenty thousand pound mould is a quotation from a toolmaker, not something we invent. The tool takes it as an input, applies the Class-A finish uplift, and shows you the arithmetic. Now the red box, because this is the commercial argument for having the guard at all. If you let the model sit on a default two-thousand-tonne press, you cost the moulding at a hundred and seventy-eight pounds an hour instead of three hundred and six. Forty-two percent too cheap. And worse than being wrong — the part would never mould, because that press cannot hold the tool shut. You would walk into a supplier meeting and negotiate hard against a price that is physically impossible to deliver. That is the kind of mistake that costs credibility, and you only need to make it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exists because cooling is the biggest single number in a moulding cycle and the one everybody used to guess. Here is exactly how the tool calculates it now — from first principles, and I can defend every symbol. Step one, the law: a moulded wall cooling between two mould faces is textbook transient heat conduction, and the exact solution says cooling time equals wall squared, divided by pi squared times the thermal diffusivity, times the log of a temperature ratio — how far the melt has to fall against how much margin there is at ejection. The wall enters squared because heat has to diffuse out through half the thickness. That is physics, not a fitted curve. Step two: each of nineteen resin families carries its real processing temperatures. Polypropylene — this bumper — melts in at two hundred and thirty, the mould runs at forty, the part ejects safely at eighty-five. Step three is the honest part: the diffusivity is not taken from a textbook, it is calibrated once so that at those reference temperatures the formula reproduces the curated industry factor exactly — for PP, three point one six seconds per millimetre squared. That calibration deliberately absorbs what the ideal equation ignores, like the latent heat a crystallising polymer gives up and the imperfect contact between plastic and steel. So adopting the physics did not move a single estimate — it changed the provenance from “a constant we assert” to “a law you can check”. Step four: it is evaluated at the ninety-fifth percentile wall, because the part ejects when its thickest section is stiff, and the result is clamped to within a factor of two of the curated value so a bad temperature input cannot run away with the cost. And the payoff is on the right: because it is a formula, it answers questions a constant never could. Chill the mould to twenty degrees and cooling drops four and a half seconds a shot, priced by the law. Thin the wall half a millimetre and nine seconds come out, one pound eleven a part. Those are the two conversations this slide is built to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treatment for the bumper — show the calculation, do not assert it. Left-hand side, the press, and I want you to notice that it is literally the same slide as the casting with different numbers in it. Projected shadow off the CAD, nine thousand nine hundred square centimetres. Cavity pressure for a large thin-wall polypropylene part, twenty-five megapascals. Multiply: two thousand five hundred and twenty-four tonnes trying to force the mould open. Fifteen percent safety factor, two thousand nine hundred and two tonnes. Walk the ladder — eight hundred, twelve hundred, two thousand, three and a half thousand — and take the smallest that covers it. Three and a half thousand tonnes at three hundred and six pounds twelve an hour. Same physics, same rule, same code path. Different commodity. Right-hand side, the cycle, and here I want to be precise about which numbers are calculated and which are entered, because that distinction matters. Fill, pack and eject are process inputs — four and a half seconds, twelve seconds, nine seconds — they come from the moulder or from our process engineer. But the cooling term is calculated: three point one six times the wall thickness squared. Three millimetres squared is nine, times three point one six is twenty-eight point four four seconds. Then the engine adds a two percent reject uplift and you get fifty-five seconds. Cooling is over half of that cycle, and it is the one term the tool works out for itself rather than accepting. Which brings me to the box along the bottom, and this is the most commercially useful thing on the slide. Because the wall enters squared, taking half a millimetre out of it — three millimetres down to two point five — drops the cooling from twenty-eight point four to nineteen point eight seconds. The whole cycle falls by nearly nine seconds. The press cost per part drops eighty-nine pence, and the UK part cost drops one pound eleven. Now think about who that conversation belongs to. That is not a purchasing conversation. You cannot negotiate eighty-nine pence out of a moulder who is already running an efficient press. That is a design conversation, and it has to happen before the design is frozen. What the tool gives you is the ability to put a hard number on it while there is still time to act — and in my experience that is worth more than any of the negotiation the rest of this deck talks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eight to ten. Left-hand box, how the fifty-five second cycle is built, and every line of it is calculated rather than typed. Four and a half seconds to fill the cavity. Twelve seconds packing and holding under pressure. Twenty-eight point four seconds cooling — which, remember, is three point one six times three millimetres squared. Nine seconds to open and eject. Plus a two percent reject uplift. Fifty-five seconds. Right-hand box, and this is the arithmetic you can check while I talk. Fifty-five seconds is nought point zero one five three of an hour. Divide by eighty-five percent machine availability and the press is occupied for nought point zero one eight of an hour. Times three hundred and six pounds twelve an hour gives five pounds fifty-one of machine. Add half an operator at nineteen eighty an hour, seventeen pence of labour. Five pounds sixty-seven — and if you add the two rounded figures on the slide you get sixty-eight, because both are rounded to the penny; the engine carries the full precision. And now stop and look at that number, because it is the whole making cost of a car bumper. Five pounds sixty-seven. On the casting, making the part was thirty-two fifty-seven. Here it is under six pounds — one shot, fifty-five seconds, done. So where did the money go? Look at the chart. The tooling bar — eleven pounds twenty — is more than twice the next biggest bucket, and it is bigger than the resin, the press and the labour added together. On this part, the tool IS the cost. Twenty-six pounds eight in China, and that is unpainted and ex-works — paint is a separate operation and I will come to it. And look at the country row, because it makes a point I would not have predicted. China twenty-six oh eight, the UK thirty-one oh six. Only nineteen percent apart. On the casting the UK was fifty-five percent above China. Why the difference? Because the tool, the packaging and the logistics do not get cheaper by moving the factory, and the resin is a world price. Only the press hours and the labour move — and on this part there are barely any labour hours to move. The lesson for a sourcing strategy is worth stating plainly: offshoring saves you a lot on a labour-heavy part and very little on a tooling-heavy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owe you the other half of this part, because a bumper is not finished when it comes off the press — it gets painted, and paint is not a rounding error. The formula at the top is the whole of it, and it is the standard paint-shop calculation rather than anything we invented. Wet litres equals the area you are covering times the dry film thickness you need, divided by the solids content of the paint times the transfer efficiency of the booth. Work it through for the basecoat, because that is where the money is. One point six square metres of bumper, twenty microns of dry film — that is thirty-two millilitres of actual paint on the car. But basecoat is only twenty-five percent solids, and only sixty percent of what the gun sprays lands on the part. So you have to buy two hundred and thirteen millilitres of wet paint to get thirty-two millilitres of dry film on the car. At twenty-six pounds a litre, five pounds fifty-five. Add the primer and the clearcoat, add six percent for rework because painted parts do get rejected, and the paint material alone is eleven pounds. Then the line itself — fifty-five parts an hour, divided by eighty-five percent availability, at a hundred and two pounds an hour — two thirty-two. Two operators, eighty-five pence. Masking fixtures spread over the year, seventy-five pence. So the delivered bumper, painted and ex-works in China, is thirty-nine pounds twenty-two. The moulded part was twenty-six oh eight. Paint is a third of the delivered cost, and half of the paint is one litre of basecoat. Now the box that I would put in front of a purchasing team. Transfer efficiency is the number nobody argues about and everybody should. At sixty percent, four of every ten pounds of basecoat you buy ends up in the booth filters instead of on the car. Move one line from sixty to seventy percent with better electrostatics and the basecoat drops from five fifty-five to four seventy-six a part — on sixty thousand parts a year that is forty-seven thousand pounds, from one process parameter. If we had costed paint as a percentage uplift on the moulded price, which is what most tools do, that number would simply not exist. And the honest note at the bottom. We cost the paint line as a separate costing, not as a bucket inside the moulding one, because in the real world it is usually a separate supplier with its own overhead and margin. The thirty-nine twenty-two adds two ex-works costs — it does not double-count anybody’s margin.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stop on these two, because they are the return on having done any of this. Finding one. Tooling is eleven pounds twenty of a twenty-six pound part. Forty-three percent — the biggest single bucket, and larger than the resin, the press and the labour added together, which come to six pounds ninety-six between them. On the casting, tooling was two pounds seventeen, about six percent. Same method, same engine, same eight buckets — and the money has moved to a completely different place. Finding two. China twenty-six oh eight against a UK thirty-one oh six. A nineteen percent gap. On the casting that same comparison was fifty-five percent. The reason is straightforward once you see it: the tool, the packaging and the logistics do not get cheaper by moving the factory, and polypropylene is a world price. The only things that actually move are press hours and labour, and this part has almost no labour in it. Now the row that matters, which is what each of those changes on Monday morning. Finding one says stop negotiating the piece price and go and negotiate the tooling deal instead. Who owns the tool. Over how many parts it is amortised. What happens at end of programme. Amortised over five years instead of one, this part is fifteen fourteen rather than twenty-six oh eight — and no amount of piece-price haggling gets you eleven pounds. Finding two says do not move a tooling-heavy part offshore expecting the savings you got on a casting. Nineteen percent, once you set it against freight, lead time, quality risk and the cost of transferring the tool, may not clear the bar at all. That is a decision you would rather make with a number than a hunch. And I would put one honest question to the room. Before we ran this, would anybody here have told you the tool was forty-three percent of a bumper, or that offshoring it saves only nineteen percent? I would not have. That is exactly what the method is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two stages, and then the payoff. Stage eleven, the honest range. Nineteen eighty-three to thirty-three sixteen, plus or minus twenty-six percent. That is wider than the casting was, and the reason is worth knowing: on this part a very large share of the answer rides on one tooling quotation, and tooling is the input the tool trusts least. The band is telling you where the risk actually sits. Stage twelve, and here the engineer has a lever that did not exist on the casting. How long do we amortise the tool over? Over one year, sixty thousand parts, tooling is eleven pounds twenty and the part is twenty-six pounds eight. Over a three-year programme it is three seventy-three and the part is under seventeen pounds. Over five years, two twenty-four and fifteen fourteen. Same part, same supplier, same tool — nearly eleven pounds of difference, and it is purely a commercial decision about programme life. If a supplier quotes you twenty-six pounds while amortising over one year, that is not them being expensive, that is them carrying tooling risk. Now you can have that conversation properly. And one thing I owe you for completeness: this is the unpainted, ex-works fascia. Paint is a separate operation on a separate line, and the tool costs it separately — at UK rates it comes out at about fifteen pounds a part, of which eleven is the paint material itself. So paint roughly doubles the delivered cost of a bumper, which is exactly why the industry cares so much about body-colour versus grained finishes. Now the table across the middle, which for me is the single most valuable slide in this pack. Two parts. One method. Look at where the money is. Making the casting cost thirty-two fifty-seven; moulding the bumper cost five sixty-seven — one shot beats four machining operations, comfortably. But tooling on the casting was two pounds seventeen and on the bumper it is eleven twenty. The biggest bucket flips from process to tooling. The China-to-UK gap collapses from fifty-five percent to nineteen. And the lever you push in a supplier meeting changes completely — cycle time and fixturing on one, programme volume and wall thickness on the other. And that is the whole argument for having this tool at all. Nobody in this room could have told you in advance that the money was in machining on one part and in tooling on the other. Not reliably, not with numbers you could defend. The method finds it. Every time, on any part, without anyone having to already know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would rather you heard the limits from me than found them yourself in three months, so here are six, honestly. One, and it is the one I get asked most: it cannot cost an assembly from a single CAD file. It will happily roll up an assembly from parts you have already costed — that works today. What it cannot do is open one assembly model and work out which parts are in it, how they join, and what the assembly labour is. That needs a person to define the structure. We looked hard at whether that could be automated and concluded honestly that it cannot, not reliably. Two, it cannot read a tolerance or a surface finish. The kernel measures shape and it measures it exactly, but a plus-or-minus two-hundredths callout or a roughness value is an annotation, and most CAD files we receive do not carry them. Those still come off the drawing or out of our engineer’s head. Three, it cannot guarantee the AI classified the part correctly. It can misread something unusual. That is precisely why there is a confidence score, why nine checks run automatically on every estimate, and why a person signs the result. Our claim is narrow and deliberate: no AI-invented number ever becomes money. It is not that the AI is never wrong. Four, it does not replace a quotation. This is a should-cost — what the part ought to cost on stated assumptions. It is a negotiating instrument and a design-feedback loop. It is not a price and it does not replace an RFQ. Five, it cannot keep the duty and tariff data fresh on its own. Rates decay. The engine will block a rate that is unverified or more than ninety days old rather than quietly using it — which is the right behaviour — but somebody still has to run the refresh against the official tariff service. Six, it cannot cost a process it has never met. Twenty commodities are modelled. Something genuinely novel needs a new module: days of work, and a process engineer to specify it. And the reason I am showing you this slide at all is on the navy strip. A tool that claims no limits is a tool nobody should trust with a supplier negotiation. Every one of those six is either on the roadmap or is a job we have deliberately chosen to leave with a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1.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8" Type="http://schemas.openxmlformats.org/officeDocument/2006/relationships/chart" Target="/ppt/charts/chart1.xml"/><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9" Type="http://schemas.openxmlformats.org/officeDocument/2006/relationships/slideLayout" Target="../slideLayouts/slideLayout1.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image" Target="../media/image-6-1.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1.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slideLayout" Target="../slideLayouts/slideLayout1.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image" Target="../media/image-37-5.png"/><Relationship Id="rId6" Type="http://schemas.openxmlformats.org/officeDocument/2006/relationships/image" Target="../media/image-37-6.png"/><Relationship Id="rId7" Type="http://schemas.openxmlformats.org/officeDocument/2006/relationships/slideLayout" Target="../slideLayouts/slideLayout1.xml"/><Relationship Id="rId8"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731520" y="1188720"/>
            <a:ext cx="731520" cy="731520"/>
          </a:xfrm>
          <a:prstGeom prst="roundRect">
            <a:avLst>
              <a:gd name="adj" fmla="val 22000"/>
            </a:avLst>
          </a:prstGeom>
          <a:solidFill>
            <a:srgbClr val="4F46E5"/>
          </a:solidFill>
          <a:ln/>
        </p:spPr>
      </p:sp>
      <p:sp>
        <p:nvSpPr>
          <p:cNvPr id="3" name="Text 1"/>
          <p:cNvSpPr/>
          <p:nvPr/>
        </p:nvSpPr>
        <p:spPr>
          <a:xfrm>
            <a:off x="731520" y="118872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CV</a:t>
            </a:r>
            <a:endParaRPr lang="en-US" sz="2400" dirty="0"/>
          </a:p>
        </p:txBody>
      </p:sp>
      <p:sp>
        <p:nvSpPr>
          <p:cNvPr id="4" name="Text 2"/>
          <p:cNvSpPr/>
          <p:nvPr/>
        </p:nvSpPr>
        <p:spPr>
          <a:xfrm>
            <a:off x="1627632" y="1298448"/>
            <a:ext cx="548640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CostVision</a:t>
            </a:r>
            <a:endParaRPr lang="en-US" sz="1900" dirty="0"/>
          </a:p>
        </p:txBody>
      </p:sp>
      <p:sp>
        <p:nvSpPr>
          <p:cNvPr id="5" name="Text 3"/>
          <p:cNvSpPr/>
          <p:nvPr/>
        </p:nvSpPr>
        <p:spPr>
          <a:xfrm>
            <a:off x="1627632" y="1627632"/>
            <a:ext cx="5486400" cy="274320"/>
          </a:xfrm>
          <a:prstGeom prst="rect">
            <a:avLst/>
          </a:prstGeom>
          <a:noFill/>
          <a:ln/>
        </p:spPr>
        <p:txBody>
          <a:bodyPr wrap="square" lIns="0" tIns="0" rIns="0" bIns="0" rtlCol="0" anchor="ctr"/>
          <a:lstStyle/>
          <a:p>
            <a:pPr indent="0" marL="0">
              <a:buNone/>
            </a:pPr>
            <a:r>
              <a:rPr lang="en-US" sz="1150" dirty="0">
                <a:solidFill>
                  <a:srgbClr val="8FA3CC"/>
                </a:solidFill>
                <a:latin typeface="Calibri" pitchFamily="34" charset="0"/>
                <a:ea typeface="Calibri" pitchFamily="34" charset="-122"/>
                <a:cs typeface="Calibri" pitchFamily="34" charset="-120"/>
              </a:rPr>
              <a:t>AI Cost Intelligence</a:t>
            </a:r>
            <a:endParaRPr lang="en-US" sz="1150" dirty="0"/>
          </a:p>
        </p:txBody>
      </p:sp>
      <p:sp>
        <p:nvSpPr>
          <p:cNvPr id="6" name="Text 4"/>
          <p:cNvSpPr/>
          <p:nvPr/>
        </p:nvSpPr>
        <p:spPr>
          <a:xfrm>
            <a:off x="731520" y="2057400"/>
            <a:ext cx="10698480" cy="73152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How CostVision Actually Works</a:t>
            </a:r>
            <a:endParaRPr lang="en-US" sz="4200" dirty="0"/>
          </a:p>
        </p:txBody>
      </p:sp>
      <p:sp>
        <p:nvSpPr>
          <p:cNvPr id="7" name="Text 5"/>
          <p:cNvSpPr/>
          <p:nvPr/>
        </p:nvSpPr>
        <p:spPr>
          <a:xfrm>
            <a:off x="731520" y="2880360"/>
            <a:ext cx="10698480" cy="411480"/>
          </a:xfrm>
          <a:prstGeom prst="rect">
            <a:avLst/>
          </a:prstGeom>
          <a:noFill/>
          <a:ln/>
        </p:spPr>
        <p:txBody>
          <a:bodyPr wrap="square" lIns="0" tIns="0" rIns="0" bIns="0" rtlCol="0" anchor="ctr"/>
          <a:lstStyle/>
          <a:p>
            <a:pPr indent="0" marL="0">
              <a:buNone/>
            </a:pPr>
            <a:r>
              <a:rPr lang="en-US" sz="2000" dirty="0">
                <a:solidFill>
                  <a:srgbClr val="CADCFC"/>
                </a:solidFill>
                <a:latin typeface="Calibri" pitchFamily="34" charset="0"/>
                <a:ea typeface="Calibri" pitchFamily="34" charset="-122"/>
                <a:cs typeface="Calibri" pitchFamily="34" charset="-120"/>
              </a:rPr>
              <a:t>Who does what — followed end to end on one real part</a:t>
            </a:r>
            <a:endParaRPr lang="en-US" sz="2000" dirty="0"/>
          </a:p>
        </p:txBody>
      </p:sp>
      <p:sp>
        <p:nvSpPr>
          <p:cNvPr id="8" name="Shape 6"/>
          <p:cNvSpPr/>
          <p:nvPr/>
        </p:nvSpPr>
        <p:spPr>
          <a:xfrm>
            <a:off x="731520" y="3611880"/>
            <a:ext cx="10698480" cy="685800"/>
          </a:xfrm>
          <a:prstGeom prst="roundRect">
            <a:avLst>
              <a:gd name="adj" fmla="val 13333"/>
            </a:avLst>
          </a:prstGeom>
          <a:solidFill>
            <a:srgbClr val="24406E"/>
          </a:solidFill>
          <a:ln/>
        </p:spPr>
      </p:sp>
      <p:sp>
        <p:nvSpPr>
          <p:cNvPr id="9" name="Text 7"/>
          <p:cNvSpPr/>
          <p:nvPr/>
        </p:nvSpPr>
        <p:spPr>
          <a:xfrm>
            <a:off x="1005840" y="3611880"/>
            <a:ext cx="10149840" cy="685800"/>
          </a:xfrm>
          <a:prstGeom prst="rect">
            <a:avLst/>
          </a:prstGeom>
          <a:noFill/>
          <a:ln/>
        </p:spPr>
        <p:txBody>
          <a:bodyPr wrap="square" lIns="0" tIns="0" rIns="0" bIns="0" rtlCol="0" anchor="ctr"/>
          <a:lstStyle/>
          <a:p>
            <a:pPr indent="0" marL="0">
              <a:buNone/>
            </a:pPr>
            <a:r>
              <a:rPr lang="en-US" sz="1500" b="1" dirty="0">
                <a:solidFill>
                  <a:srgbClr val="9FB6DF"/>
                </a:solidFill>
                <a:latin typeface="Calibri" pitchFamily="34" charset="0"/>
                <a:ea typeface="Calibri" pitchFamily="34" charset="-122"/>
                <a:cs typeface="Calibri" pitchFamily="34" charset="-120"/>
              </a:rPr>
              <a:t>The one line to remember:  </a:t>
            </a:r>
            <a:pPr indent="0" marL="0">
              <a:buNone/>
            </a:pPr>
            <a:r>
              <a:rPr lang="en-US" sz="1500" b="1" dirty="0">
                <a:solidFill>
                  <a:srgbClr val="FFFFFF"/>
                </a:solidFill>
                <a:latin typeface="Calibri" pitchFamily="34" charset="0"/>
                <a:ea typeface="Calibri" pitchFamily="34" charset="-122"/>
                <a:cs typeface="Calibri" pitchFamily="34" charset="-120"/>
              </a:rPr>
              <a:t>the rules derive every input, the engine does every calculation, a person approves the answer — and the AI is an optional second opinion.</a:t>
            </a:r>
            <a:endParaRPr lang="en-US" sz="1500" dirty="0"/>
          </a:p>
        </p:txBody>
      </p:sp>
      <p:sp>
        <p:nvSpPr>
          <p:cNvPr id="10" name="Text 8"/>
          <p:cNvSpPr/>
          <p:nvPr/>
        </p:nvSpPr>
        <p:spPr>
          <a:xfrm>
            <a:off x="731520" y="4663440"/>
            <a:ext cx="10698480" cy="274320"/>
          </a:xfrm>
          <a:prstGeom prst="rect">
            <a:avLst/>
          </a:prstGeom>
          <a:noFill/>
          <a:ln/>
        </p:spPr>
        <p:txBody>
          <a:bodyPr wrap="square" lIns="0" tIns="0" rIns="0" bIns="0" rtlCol="0" anchor="ctr"/>
          <a:lstStyle/>
          <a:p>
            <a:pPr indent="0" marL="0">
              <a:buNone/>
            </a:pPr>
            <a:r>
              <a:rPr lang="en-US" sz="1300" dirty="0">
                <a:solidFill>
                  <a:srgbClr val="8FA3CC"/>
                </a:solidFill>
                <a:latin typeface="Calibri" pitchFamily="34" charset="0"/>
                <a:ea typeface="Calibri" pitchFamily="34" charset="-122"/>
                <a:cs typeface="Calibri" pitchFamily="34" charset="-120"/>
              </a:rPr>
              <a:t>Worked example: die-cast aluminium housing · 2.8 kg · 60,000 per year · made in China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457200" y="201168"/>
            <a:ext cx="548640" cy="548640"/>
          </a:xfrm>
          <a:prstGeom prst="roundRect">
            <a:avLst>
              <a:gd name="adj" fmla="val 22000"/>
            </a:avLst>
          </a:prstGeom>
          <a:solidFill>
            <a:srgbClr val="4F46E5"/>
          </a:solidFill>
          <a:ln/>
        </p:spPr>
      </p:sp>
      <p:sp>
        <p:nvSpPr>
          <p:cNvPr id="3" name="Text 1"/>
          <p:cNvSpPr/>
          <p:nvPr/>
        </p:nvSpPr>
        <p:spPr>
          <a:xfrm>
            <a:off x="457200" y="20116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CV</a:t>
            </a:r>
            <a:endParaRPr lang="en-US" sz="1800" dirty="0"/>
          </a:p>
        </p:txBody>
      </p:sp>
      <p:sp>
        <p:nvSpPr>
          <p:cNvPr id="4" name="Text 2"/>
          <p:cNvSpPr/>
          <p:nvPr/>
        </p:nvSpPr>
        <p:spPr>
          <a:xfrm>
            <a:off x="1143000" y="182880"/>
            <a:ext cx="7863840" cy="402336"/>
          </a:xfrm>
          <a:prstGeom prst="rect">
            <a:avLst/>
          </a:prstGeom>
          <a:noFill/>
          <a:ln/>
        </p:spPr>
        <p:txBody>
          <a:bodyPr wrap="square" lIns="0" tIns="0" rIns="0" bIns="0" rtlCol="0" anchor="ctr"/>
          <a:lstStyle/>
          <a:p>
            <a:pPr indent="0" marL="0">
              <a:buNone/>
            </a:pPr>
            <a:r>
              <a:rPr lang="en-US" sz="2400" b="1" dirty="0">
                <a:solidFill>
                  <a:srgbClr val="16325C"/>
                </a:solidFill>
                <a:latin typeface="Cambria" pitchFamily="34" charset="0"/>
                <a:ea typeface="Cambria" pitchFamily="34" charset="-122"/>
                <a:cs typeface="Cambria" pitchFamily="34" charset="-120"/>
              </a:rPr>
              <a:t>What We Are Going to Cover</a:t>
            </a:r>
            <a:endParaRPr lang="en-US" sz="2400" dirty="0"/>
          </a:p>
        </p:txBody>
      </p:sp>
      <p:sp>
        <p:nvSpPr>
          <p:cNvPr id="5" name="Text 3"/>
          <p:cNvSpPr/>
          <p:nvPr/>
        </p:nvSpPr>
        <p:spPr>
          <a:xfrm>
            <a:off x="1143000" y="603504"/>
            <a:ext cx="8229600" cy="256032"/>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Four sections, about an hour — or five slides if that is all the time there is</a:t>
            </a:r>
            <a:endParaRPr lang="en-US" sz="1200" dirty="0"/>
          </a:p>
        </p:txBody>
      </p:sp>
      <p:sp>
        <p:nvSpPr>
          <p:cNvPr id="6" name="Shape 4"/>
          <p:cNvSpPr/>
          <p:nvPr/>
        </p:nvSpPr>
        <p:spPr>
          <a:xfrm>
            <a:off x="457200" y="1115568"/>
            <a:ext cx="11274552" cy="950976"/>
          </a:xfrm>
          <a:prstGeom prst="roundRect">
            <a:avLst>
              <a:gd name="adj" fmla="val 9615"/>
            </a:avLst>
          </a:prstGeom>
          <a:solidFill>
            <a:srgbClr val="FFFFFF"/>
          </a:solidFill>
          <a:ln w="12700">
            <a:solidFill>
              <a:srgbClr val="DCE3EE"/>
            </a:solidFill>
            <a:prstDash val="solid"/>
          </a:ln>
        </p:spPr>
      </p:sp>
      <p:sp>
        <p:nvSpPr>
          <p:cNvPr id="7" name="Shape 5"/>
          <p:cNvSpPr/>
          <p:nvPr/>
        </p:nvSpPr>
        <p:spPr>
          <a:xfrm>
            <a:off x="713232" y="1371600"/>
            <a:ext cx="438912" cy="438912"/>
          </a:xfrm>
          <a:prstGeom prst="ellipse">
            <a:avLst/>
          </a:prstGeom>
          <a:solidFill>
            <a:srgbClr val="1D6FB8"/>
          </a:solidFill>
          <a:ln/>
        </p:spPr>
      </p:sp>
      <p:sp>
        <p:nvSpPr>
          <p:cNvPr id="8" name="Text 6"/>
          <p:cNvSpPr/>
          <p:nvPr/>
        </p:nvSpPr>
        <p:spPr>
          <a:xfrm>
            <a:off x="713232" y="1371600"/>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1</a:t>
            </a:r>
            <a:endParaRPr lang="en-US" sz="1900" dirty="0"/>
          </a:p>
        </p:txBody>
      </p:sp>
      <p:sp>
        <p:nvSpPr>
          <p:cNvPr id="9" name="Text 7"/>
          <p:cNvSpPr/>
          <p:nvPr/>
        </p:nvSpPr>
        <p:spPr>
          <a:xfrm>
            <a:off x="1298448" y="1243584"/>
            <a:ext cx="6766560" cy="292608"/>
          </a:xfrm>
          <a:prstGeom prst="rect">
            <a:avLst/>
          </a:prstGeom>
          <a:noFill/>
          <a:ln/>
        </p:spPr>
        <p:txBody>
          <a:bodyPr wrap="square" lIns="0" tIns="0" rIns="0" bIns="0" rtlCol="0" anchor="ctr"/>
          <a:lstStyle/>
          <a:p>
            <a:pPr indent="0" marL="0">
              <a:buNone/>
            </a:pPr>
            <a:r>
              <a:rPr lang="en-US" sz="1300" b="1" dirty="0">
                <a:solidFill>
                  <a:srgbClr val="1D6FB8"/>
                </a:solidFill>
                <a:latin typeface="Calibri" pitchFamily="34" charset="0"/>
                <a:ea typeface="Calibri" pitchFamily="34" charset="-122"/>
                <a:cs typeface="Calibri" pitchFamily="34" charset="-120"/>
              </a:rPr>
              <a:t>Orientation</a:t>
            </a:r>
            <a:endParaRPr lang="en-US" sz="1300" dirty="0"/>
          </a:p>
        </p:txBody>
      </p:sp>
      <p:sp>
        <p:nvSpPr>
          <p:cNvPr id="10" name="Text 8"/>
          <p:cNvSpPr/>
          <p:nvPr/>
        </p:nvSpPr>
        <p:spPr>
          <a:xfrm>
            <a:off x="1298448" y="1554480"/>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How the whole thing connects, and what it is worth against costing by hand</a:t>
            </a:r>
            <a:endParaRPr lang="en-US" sz="1020" dirty="0"/>
          </a:p>
        </p:txBody>
      </p:sp>
      <p:sp>
        <p:nvSpPr>
          <p:cNvPr id="11" name="Text 9"/>
          <p:cNvSpPr/>
          <p:nvPr/>
        </p:nvSpPr>
        <p:spPr>
          <a:xfrm>
            <a:off x="9326880" y="1261872"/>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Slides 3–6</a:t>
            </a:r>
            <a:endParaRPr lang="en-US" sz="960" dirty="0"/>
          </a:p>
        </p:txBody>
      </p:sp>
      <p:sp>
        <p:nvSpPr>
          <p:cNvPr id="12" name="Text 10"/>
          <p:cNvSpPr/>
          <p:nvPr/>
        </p:nvSpPr>
        <p:spPr>
          <a:xfrm>
            <a:off x="10835640" y="1261872"/>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8 min</a:t>
            </a:r>
            <a:endParaRPr lang="en-US" sz="1100" dirty="0"/>
          </a:p>
        </p:txBody>
      </p:sp>
      <p:sp>
        <p:nvSpPr>
          <p:cNvPr id="13" name="Shape 11"/>
          <p:cNvSpPr/>
          <p:nvPr/>
        </p:nvSpPr>
        <p:spPr>
          <a:xfrm>
            <a:off x="9326880" y="1591056"/>
            <a:ext cx="2286000" cy="274320"/>
          </a:xfrm>
          <a:prstGeom prst="roundRect">
            <a:avLst>
              <a:gd name="adj" fmla="val 50000"/>
            </a:avLst>
          </a:prstGeom>
          <a:solidFill>
            <a:srgbClr val="EAF6EF"/>
          </a:solidFill>
          <a:ln w="12700">
            <a:solidFill>
              <a:srgbClr val="2E8B57"/>
            </a:solidFill>
            <a:prstDash val="solid"/>
          </a:ln>
        </p:spPr>
      </p:sp>
      <p:sp>
        <p:nvSpPr>
          <p:cNvPr id="14" name="Text 12"/>
          <p:cNvSpPr/>
          <p:nvPr/>
        </p:nvSpPr>
        <p:spPr>
          <a:xfrm>
            <a:off x="9326880" y="1591056"/>
            <a:ext cx="2286000" cy="274320"/>
          </a:xfrm>
          <a:prstGeom prst="rect">
            <a:avLst/>
          </a:prstGeom>
          <a:noFill/>
          <a:ln/>
        </p:spPr>
        <p:txBody>
          <a:bodyPr wrap="square" lIns="0" tIns="0" rIns="0" bIns="0" rtlCol="0" anchor="ctr"/>
          <a:lstStyle/>
          <a:p>
            <a:pPr algn="ctr" indent="0" marL="0">
              <a:buNone/>
            </a:pPr>
            <a:r>
              <a:rPr lang="en-US" sz="840" b="1" dirty="0">
                <a:solidFill>
                  <a:srgbClr val="2E8B57"/>
                </a:solidFill>
                <a:latin typeface="Calibri" pitchFamily="34" charset="0"/>
                <a:ea typeface="Calibri" pitchFamily="34" charset="-122"/>
                <a:cs typeface="Calibri" pitchFamily="34" charset="-120"/>
              </a:rPr>
              <a:t>★  on the 10-minute path</a:t>
            </a:r>
            <a:endParaRPr lang="en-US" sz="840" dirty="0"/>
          </a:p>
        </p:txBody>
      </p:sp>
      <p:sp>
        <p:nvSpPr>
          <p:cNvPr id="15" name="Shape 13"/>
          <p:cNvSpPr/>
          <p:nvPr/>
        </p:nvSpPr>
        <p:spPr>
          <a:xfrm>
            <a:off x="457200" y="2176272"/>
            <a:ext cx="11274552" cy="950976"/>
          </a:xfrm>
          <a:prstGeom prst="roundRect">
            <a:avLst>
              <a:gd name="adj" fmla="val 9615"/>
            </a:avLst>
          </a:prstGeom>
          <a:solidFill>
            <a:srgbClr val="FFFFFF"/>
          </a:solidFill>
          <a:ln w="12700">
            <a:solidFill>
              <a:srgbClr val="DCE3EE"/>
            </a:solidFill>
            <a:prstDash val="solid"/>
          </a:ln>
        </p:spPr>
      </p:sp>
      <p:sp>
        <p:nvSpPr>
          <p:cNvPr id="16" name="Shape 14"/>
          <p:cNvSpPr/>
          <p:nvPr/>
        </p:nvSpPr>
        <p:spPr>
          <a:xfrm>
            <a:off x="713232" y="2432304"/>
            <a:ext cx="438912" cy="438912"/>
          </a:xfrm>
          <a:prstGeom prst="ellipse">
            <a:avLst/>
          </a:prstGeom>
          <a:solidFill>
            <a:srgbClr val="0E8074"/>
          </a:solidFill>
          <a:ln/>
        </p:spPr>
      </p:sp>
      <p:sp>
        <p:nvSpPr>
          <p:cNvPr id="17" name="Text 15"/>
          <p:cNvSpPr/>
          <p:nvPr/>
        </p:nvSpPr>
        <p:spPr>
          <a:xfrm>
            <a:off x="713232" y="2432304"/>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2</a:t>
            </a:r>
            <a:endParaRPr lang="en-US" sz="1900" dirty="0"/>
          </a:p>
        </p:txBody>
      </p:sp>
      <p:sp>
        <p:nvSpPr>
          <p:cNvPr id="18" name="Text 16"/>
          <p:cNvSpPr/>
          <p:nvPr/>
        </p:nvSpPr>
        <p:spPr>
          <a:xfrm>
            <a:off x="1298448" y="2304288"/>
            <a:ext cx="6766560" cy="292608"/>
          </a:xfrm>
          <a:prstGeom prst="rect">
            <a:avLst/>
          </a:prstGeom>
          <a:noFill/>
          <a:ln/>
        </p:spPr>
        <p:txBody>
          <a:bodyPr wrap="square" lIns="0" tIns="0" rIns="0" bIns="0" rtlCol="0" anchor="ctr"/>
          <a:lstStyle/>
          <a:p>
            <a:pPr indent="0" marL="0">
              <a:buNone/>
            </a:pPr>
            <a:r>
              <a:rPr lang="en-US" sz="1300" b="1" dirty="0">
                <a:solidFill>
                  <a:srgbClr val="0E8074"/>
                </a:solidFill>
                <a:latin typeface="Calibri" pitchFamily="34" charset="0"/>
                <a:ea typeface="Calibri" pitchFamily="34" charset="-122"/>
                <a:cs typeface="Calibri" pitchFamily="34" charset="-120"/>
              </a:rPr>
              <a:t>Worked example one — die-cast aluminium housing</a:t>
            </a:r>
            <a:endParaRPr lang="en-US" sz="1300" dirty="0"/>
          </a:p>
        </p:txBody>
      </p:sp>
      <p:sp>
        <p:nvSpPr>
          <p:cNvPr id="19" name="Text 17"/>
          <p:cNvSpPr/>
          <p:nvPr/>
        </p:nvSpPr>
        <p:spPr>
          <a:xfrm>
            <a:off x="1298448" y="2615184"/>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Twelve stages end to end: measure, derive, guard, calculate, approve — including the calculation and the confidence band shown in full.</a:t>
            </a:r>
            <a:endParaRPr lang="en-US" sz="1020" dirty="0"/>
          </a:p>
        </p:txBody>
      </p:sp>
      <p:sp>
        <p:nvSpPr>
          <p:cNvPr id="20" name="Text 18"/>
          <p:cNvSpPr/>
          <p:nvPr/>
        </p:nvSpPr>
        <p:spPr>
          <a:xfrm>
            <a:off x="9326880" y="2322576"/>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Slides 7–25</a:t>
            </a:r>
            <a:endParaRPr lang="en-US" sz="960" dirty="0"/>
          </a:p>
        </p:txBody>
      </p:sp>
      <p:sp>
        <p:nvSpPr>
          <p:cNvPr id="21" name="Text 19"/>
          <p:cNvSpPr/>
          <p:nvPr/>
        </p:nvSpPr>
        <p:spPr>
          <a:xfrm>
            <a:off x="10835640" y="2322576"/>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22 min</a:t>
            </a:r>
            <a:endParaRPr lang="en-US" sz="1100" dirty="0"/>
          </a:p>
        </p:txBody>
      </p:sp>
      <p:sp>
        <p:nvSpPr>
          <p:cNvPr id="22" name="Shape 20"/>
          <p:cNvSpPr/>
          <p:nvPr/>
        </p:nvSpPr>
        <p:spPr>
          <a:xfrm>
            <a:off x="457200" y="3236976"/>
            <a:ext cx="11274552" cy="950976"/>
          </a:xfrm>
          <a:prstGeom prst="roundRect">
            <a:avLst>
              <a:gd name="adj" fmla="val 9615"/>
            </a:avLst>
          </a:prstGeom>
          <a:solidFill>
            <a:srgbClr val="FFFFFF"/>
          </a:solidFill>
          <a:ln w="12700">
            <a:solidFill>
              <a:srgbClr val="DCE3EE"/>
            </a:solidFill>
            <a:prstDash val="solid"/>
          </a:ln>
        </p:spPr>
      </p:sp>
      <p:sp>
        <p:nvSpPr>
          <p:cNvPr id="23" name="Shape 21"/>
          <p:cNvSpPr/>
          <p:nvPr/>
        </p:nvSpPr>
        <p:spPr>
          <a:xfrm>
            <a:off x="713232" y="3493008"/>
            <a:ext cx="438912" cy="438912"/>
          </a:xfrm>
          <a:prstGeom prst="ellipse">
            <a:avLst/>
          </a:prstGeom>
          <a:solidFill>
            <a:srgbClr val="6B3FA0"/>
          </a:solidFill>
          <a:ln/>
        </p:spPr>
      </p:sp>
      <p:sp>
        <p:nvSpPr>
          <p:cNvPr id="24" name="Text 22"/>
          <p:cNvSpPr/>
          <p:nvPr/>
        </p:nvSpPr>
        <p:spPr>
          <a:xfrm>
            <a:off x="713232" y="3493008"/>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3</a:t>
            </a:r>
            <a:endParaRPr lang="en-US" sz="1900" dirty="0"/>
          </a:p>
        </p:txBody>
      </p:sp>
      <p:sp>
        <p:nvSpPr>
          <p:cNvPr id="25" name="Text 23"/>
          <p:cNvSpPr/>
          <p:nvPr/>
        </p:nvSpPr>
        <p:spPr>
          <a:xfrm>
            <a:off x="1298448" y="3364992"/>
            <a:ext cx="6766560" cy="292608"/>
          </a:xfrm>
          <a:prstGeom prst="rect">
            <a:avLst/>
          </a:prstGeom>
          <a:noFill/>
          <a:ln/>
        </p:spPr>
        <p:txBody>
          <a:bodyPr wrap="square" lIns="0" tIns="0" rIns="0" bIns="0" rtlCol="0" anchor="ctr"/>
          <a:lstStyle/>
          <a:p>
            <a:pPr indent="0" marL="0">
              <a:buNone/>
            </a:pPr>
            <a:r>
              <a:rPr lang="en-US" sz="1300" b="1" dirty="0">
                <a:solidFill>
                  <a:srgbClr val="6B3FA0"/>
                </a:solidFill>
                <a:latin typeface="Calibri" pitchFamily="34" charset="0"/>
                <a:ea typeface="Calibri" pitchFamily="34" charset="-122"/>
                <a:cs typeface="Calibri" pitchFamily="34" charset="-120"/>
              </a:rPr>
              <a:t>Worked example two — injection-moulded bumper fascia</a:t>
            </a:r>
            <a:endParaRPr lang="en-US" sz="1300" dirty="0"/>
          </a:p>
        </p:txBody>
      </p:sp>
      <p:sp>
        <p:nvSpPr>
          <p:cNvPr id="26" name="Text 24"/>
          <p:cNvSpPr/>
          <p:nvPr/>
        </p:nvSpPr>
        <p:spPr>
          <a:xfrm>
            <a:off x="1298448" y="3675888"/>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The same method on a very different part — plus paint, and the two findings nobody predicted</a:t>
            </a:r>
            <a:endParaRPr lang="en-US" sz="1020" dirty="0"/>
          </a:p>
        </p:txBody>
      </p:sp>
      <p:sp>
        <p:nvSpPr>
          <p:cNvPr id="27" name="Text 25"/>
          <p:cNvSpPr/>
          <p:nvPr/>
        </p:nvSpPr>
        <p:spPr>
          <a:xfrm>
            <a:off x="9326880" y="3383280"/>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Slides 26–36</a:t>
            </a:r>
            <a:endParaRPr lang="en-US" sz="960" dirty="0"/>
          </a:p>
        </p:txBody>
      </p:sp>
      <p:sp>
        <p:nvSpPr>
          <p:cNvPr id="28" name="Text 26"/>
          <p:cNvSpPr/>
          <p:nvPr/>
        </p:nvSpPr>
        <p:spPr>
          <a:xfrm>
            <a:off x="10835640" y="3383280"/>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18 min</a:t>
            </a:r>
            <a:endParaRPr lang="en-US" sz="1100" dirty="0"/>
          </a:p>
        </p:txBody>
      </p:sp>
      <p:sp>
        <p:nvSpPr>
          <p:cNvPr id="29" name="Shape 27"/>
          <p:cNvSpPr/>
          <p:nvPr/>
        </p:nvSpPr>
        <p:spPr>
          <a:xfrm>
            <a:off x="457200" y="4297680"/>
            <a:ext cx="11274552" cy="950976"/>
          </a:xfrm>
          <a:prstGeom prst="roundRect">
            <a:avLst>
              <a:gd name="adj" fmla="val 9615"/>
            </a:avLst>
          </a:prstGeom>
          <a:solidFill>
            <a:srgbClr val="FFFFFF"/>
          </a:solidFill>
          <a:ln w="12700">
            <a:solidFill>
              <a:srgbClr val="DCE3EE"/>
            </a:solidFill>
            <a:prstDash val="solid"/>
          </a:ln>
        </p:spPr>
      </p:sp>
      <p:sp>
        <p:nvSpPr>
          <p:cNvPr id="30" name="Shape 28"/>
          <p:cNvSpPr/>
          <p:nvPr/>
        </p:nvSpPr>
        <p:spPr>
          <a:xfrm>
            <a:off x="713232" y="4553712"/>
            <a:ext cx="438912" cy="438912"/>
          </a:xfrm>
          <a:prstGeom prst="ellipse">
            <a:avLst/>
          </a:prstGeom>
          <a:solidFill>
            <a:srgbClr val="B03A2E"/>
          </a:solidFill>
          <a:ln/>
        </p:spPr>
      </p:sp>
      <p:sp>
        <p:nvSpPr>
          <p:cNvPr id="31" name="Text 29"/>
          <p:cNvSpPr/>
          <p:nvPr/>
        </p:nvSpPr>
        <p:spPr>
          <a:xfrm>
            <a:off x="713232" y="4553712"/>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4</a:t>
            </a:r>
            <a:endParaRPr lang="en-US" sz="1900" dirty="0"/>
          </a:p>
        </p:txBody>
      </p:sp>
      <p:sp>
        <p:nvSpPr>
          <p:cNvPr id="32" name="Text 30"/>
          <p:cNvSpPr/>
          <p:nvPr/>
        </p:nvSpPr>
        <p:spPr>
          <a:xfrm>
            <a:off x="1298448" y="4425696"/>
            <a:ext cx="6766560" cy="292608"/>
          </a:xfrm>
          <a:prstGeom prst="rect">
            <a:avLst/>
          </a:prstGeom>
          <a:noFill/>
          <a:ln/>
        </p:spPr>
        <p:txBody>
          <a:bodyPr wrap="square" lIns="0" tIns="0" rIns="0" bIns="0" rtlCol="0" anchor="ctr"/>
          <a:lstStyle/>
          <a:p>
            <a:pPr indent="0" marL="0">
              <a:buNone/>
            </a:pPr>
            <a:r>
              <a:rPr lang="en-US" sz="1300" b="1" dirty="0">
                <a:solidFill>
                  <a:srgbClr val="B03A2E"/>
                </a:solidFill>
                <a:latin typeface="Calibri" pitchFamily="34" charset="0"/>
                <a:ea typeface="Calibri" pitchFamily="34" charset="-122"/>
                <a:cs typeface="Calibri" pitchFamily="34" charset="-120"/>
              </a:rPr>
              <a:t>The honest limits</a:t>
            </a:r>
            <a:endParaRPr lang="en-US" sz="1300" dirty="0"/>
          </a:p>
        </p:txBody>
      </p:sp>
      <p:sp>
        <p:nvSpPr>
          <p:cNvPr id="33" name="Text 31"/>
          <p:cNvSpPr/>
          <p:nvPr/>
        </p:nvSpPr>
        <p:spPr>
          <a:xfrm>
            <a:off x="1298448" y="4736592"/>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Six things this tool cannot do, from us rather than from a sceptic in the room</a:t>
            </a:r>
            <a:endParaRPr lang="en-US" sz="1020" dirty="0"/>
          </a:p>
        </p:txBody>
      </p:sp>
      <p:sp>
        <p:nvSpPr>
          <p:cNvPr id="34" name="Text 32"/>
          <p:cNvSpPr/>
          <p:nvPr/>
        </p:nvSpPr>
        <p:spPr>
          <a:xfrm>
            <a:off x="9326880" y="4443984"/>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 37</a:t>
            </a:r>
            <a:endParaRPr lang="en-US" sz="960" dirty="0"/>
          </a:p>
        </p:txBody>
      </p:sp>
      <p:sp>
        <p:nvSpPr>
          <p:cNvPr id="35" name="Text 33"/>
          <p:cNvSpPr/>
          <p:nvPr/>
        </p:nvSpPr>
        <p:spPr>
          <a:xfrm>
            <a:off x="10835640" y="4443984"/>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5 min</a:t>
            </a:r>
            <a:endParaRPr lang="en-US" sz="1100" dirty="0"/>
          </a:p>
        </p:txBody>
      </p:sp>
      <p:sp>
        <p:nvSpPr>
          <p:cNvPr id="36" name="Shape 34"/>
          <p:cNvSpPr/>
          <p:nvPr/>
        </p:nvSpPr>
        <p:spPr>
          <a:xfrm>
            <a:off x="9326880" y="4773168"/>
            <a:ext cx="2286000" cy="274320"/>
          </a:xfrm>
          <a:prstGeom prst="roundRect">
            <a:avLst>
              <a:gd name="adj" fmla="val 50000"/>
            </a:avLst>
          </a:prstGeom>
          <a:solidFill>
            <a:srgbClr val="EAF6EF"/>
          </a:solidFill>
          <a:ln w="12700">
            <a:solidFill>
              <a:srgbClr val="2E8B57"/>
            </a:solidFill>
            <a:prstDash val="solid"/>
          </a:ln>
        </p:spPr>
      </p:sp>
      <p:sp>
        <p:nvSpPr>
          <p:cNvPr id="37" name="Text 35"/>
          <p:cNvSpPr/>
          <p:nvPr/>
        </p:nvSpPr>
        <p:spPr>
          <a:xfrm>
            <a:off x="9326880" y="4773168"/>
            <a:ext cx="2286000" cy="274320"/>
          </a:xfrm>
          <a:prstGeom prst="rect">
            <a:avLst/>
          </a:prstGeom>
          <a:noFill/>
          <a:ln/>
        </p:spPr>
        <p:txBody>
          <a:bodyPr wrap="square" lIns="0" tIns="0" rIns="0" bIns="0" rtlCol="0" anchor="ctr"/>
          <a:lstStyle/>
          <a:p>
            <a:pPr algn="ctr" indent="0" marL="0">
              <a:buNone/>
            </a:pPr>
            <a:r>
              <a:rPr lang="en-US" sz="840" b="1" dirty="0">
                <a:solidFill>
                  <a:srgbClr val="2E8B57"/>
                </a:solidFill>
                <a:latin typeface="Calibri" pitchFamily="34" charset="0"/>
                <a:ea typeface="Calibri" pitchFamily="34" charset="-122"/>
                <a:cs typeface="Calibri" pitchFamily="34" charset="-120"/>
              </a:rPr>
              <a:t>★  on the 10-minute path</a:t>
            </a:r>
            <a:endParaRPr lang="en-US" sz="840" dirty="0"/>
          </a:p>
        </p:txBody>
      </p:sp>
      <p:sp>
        <p:nvSpPr>
          <p:cNvPr id="38" name="Shape 36"/>
          <p:cNvSpPr/>
          <p:nvPr/>
        </p:nvSpPr>
        <p:spPr>
          <a:xfrm>
            <a:off x="457200" y="5413248"/>
            <a:ext cx="11274552" cy="822960"/>
          </a:xfrm>
          <a:prstGeom prst="roundRect">
            <a:avLst>
              <a:gd name="adj" fmla="val 11111"/>
            </a:avLst>
          </a:prstGeom>
          <a:solidFill>
            <a:srgbClr val="16325C"/>
          </a:solidFill>
          <a:ln/>
        </p:spPr>
      </p:sp>
      <p:sp>
        <p:nvSpPr>
          <p:cNvPr id="39" name="Text 37"/>
          <p:cNvSpPr/>
          <p:nvPr/>
        </p:nvSpPr>
        <p:spPr>
          <a:xfrm>
            <a:off x="777240" y="5504688"/>
            <a:ext cx="10652760" cy="658368"/>
          </a:xfrm>
          <a:prstGeom prst="rect">
            <a:avLst/>
          </a:prstGeom>
          <a:noFill/>
          <a:ln/>
        </p:spPr>
        <p:txBody>
          <a:bodyPr wrap="square" lIns="0" tIns="0" rIns="0" bIns="0" rtlCol="0" anchor="ctr"/>
          <a:lstStyle/>
          <a:p>
            <a:pPr indent="0" marL="0">
              <a:buNone/>
            </a:pPr>
            <a:r>
              <a:rPr lang="en-US" sz="1150" b="1" dirty="0">
                <a:solidFill>
                  <a:srgbClr val="9FB6E0"/>
                </a:solidFill>
                <a:latin typeface="Calibri" pitchFamily="34" charset="0"/>
                <a:ea typeface="Calibri" pitchFamily="34" charset="-122"/>
                <a:cs typeface="Calibri" pitchFamily="34" charset="-120"/>
              </a:rPr>
              <a:t>If you only have ten minutes:  </a:t>
            </a:r>
            <a:pPr indent="0" marL="0">
              <a:buNone/>
            </a:pPr>
            <a:r>
              <a:rPr lang="en-US" sz="1150" dirty="0">
                <a:solidFill>
                  <a:srgbClr val="FFFFFF"/>
                </a:solidFill>
                <a:latin typeface="Calibri" pitchFamily="34" charset="0"/>
                <a:ea typeface="Calibri" pitchFamily="34" charset="-122"/>
                <a:cs typeface="Calibri" pitchFamily="34" charset="-120"/>
              </a:rPr>
              <a:t>slide 3 (how it connects) · slides 4–6 (the business case) · slide 25 (the housing on one page) · slide 35 (the two findings) · slide 37 (the limits). Everything in between is the evidence for those five.</a:t>
            </a:r>
            <a:endParaRPr lang="en-US" sz="1150" dirty="0"/>
          </a:p>
        </p:txBody>
      </p:sp>
      <p:sp>
        <p:nvSpPr>
          <p:cNvPr id="40" name="Text 3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1" name="Text 3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457200" y="201168"/>
            <a:ext cx="548640" cy="548640"/>
          </a:xfrm>
          <a:prstGeom prst="roundRect">
            <a:avLst>
              <a:gd name="adj" fmla="val 22000"/>
            </a:avLst>
          </a:prstGeom>
          <a:solidFill>
            <a:srgbClr val="4F46E5"/>
          </a:solidFill>
          <a:ln/>
        </p:spPr>
      </p:sp>
      <p:sp>
        <p:nvSpPr>
          <p:cNvPr id="3" name="Text 1"/>
          <p:cNvSpPr/>
          <p:nvPr/>
        </p:nvSpPr>
        <p:spPr>
          <a:xfrm>
            <a:off x="457200" y="20116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CV</a:t>
            </a:r>
            <a:endParaRPr lang="en-US" sz="1800" dirty="0"/>
          </a:p>
        </p:txBody>
      </p:sp>
      <p:sp>
        <p:nvSpPr>
          <p:cNvPr id="4" name="Text 2"/>
          <p:cNvSpPr/>
          <p:nvPr/>
        </p:nvSpPr>
        <p:spPr>
          <a:xfrm>
            <a:off x="1143000" y="182880"/>
            <a:ext cx="7863840" cy="402336"/>
          </a:xfrm>
          <a:prstGeom prst="rect">
            <a:avLst/>
          </a:prstGeom>
          <a:noFill/>
          <a:ln/>
        </p:spPr>
        <p:txBody>
          <a:bodyPr wrap="square" lIns="0" tIns="0" rIns="0" bIns="0" rtlCol="0" anchor="ctr"/>
          <a:lstStyle/>
          <a:p>
            <a:pPr indent="0" marL="0">
              <a:buNone/>
            </a:pPr>
            <a:r>
              <a:rPr lang="en-US" sz="2400" b="1" dirty="0">
                <a:solidFill>
                  <a:srgbClr val="16325C"/>
                </a:solidFill>
                <a:latin typeface="Cambria" pitchFamily="34" charset="0"/>
                <a:ea typeface="Cambria" pitchFamily="34" charset="-122"/>
                <a:cs typeface="Cambria" pitchFamily="34" charset="-120"/>
              </a:rPr>
              <a:t>How It All Connects — One Picture</a:t>
            </a:r>
            <a:endParaRPr lang="en-US" sz="2400" dirty="0"/>
          </a:p>
        </p:txBody>
      </p:sp>
      <p:sp>
        <p:nvSpPr>
          <p:cNvPr id="5" name="Text 3"/>
          <p:cNvSpPr/>
          <p:nvPr/>
        </p:nvSpPr>
        <p:spPr>
          <a:xfrm>
            <a:off x="1143000" y="603504"/>
            <a:ext cx="8138160" cy="256032"/>
          </a:xfrm>
          <a:prstGeom prst="rect">
            <a:avLst/>
          </a:prstGeom>
          <a:noFill/>
          <a:ln/>
        </p:spPr>
        <p:txBody>
          <a:bodyPr wrap="square" lIns="0" tIns="0" rIns="0" bIns="0" rtlCol="0" anchor="ctr"/>
          <a:lstStyle/>
          <a:p>
            <a:pPr indent="0" marL="0">
              <a:buNone/>
            </a:pPr>
            <a:r>
              <a:rPr lang="en-US" sz="1150" i="1" dirty="0">
                <a:solidFill>
                  <a:srgbClr val="6B7280"/>
                </a:solidFill>
                <a:latin typeface="Calibri" pitchFamily="34" charset="0"/>
                <a:ea typeface="Calibri" pitchFamily="34" charset="-122"/>
                <a:cs typeface="Calibri" pitchFamily="34" charset="-120"/>
              </a:rPr>
              <a:t>Everything badged AUTO runs unattended — the rules pick the machine and tonnage, the engine writes the DFM/DFA and saving ideas; the engineer is the only manual step.</a:t>
            </a:r>
            <a:endParaRPr lang="en-US" sz="1150" dirty="0"/>
          </a:p>
        </p:txBody>
      </p:sp>
      <p:sp>
        <p:nvSpPr>
          <p:cNvPr id="6" name="Shape 4"/>
          <p:cNvSpPr/>
          <p:nvPr/>
        </p:nvSpPr>
        <p:spPr>
          <a:xfrm>
            <a:off x="9464040" y="192024"/>
            <a:ext cx="100584" cy="100584"/>
          </a:xfrm>
          <a:prstGeom prst="ellipse">
            <a:avLst/>
          </a:prstGeom>
          <a:solidFill>
            <a:srgbClr val="1D6FB8"/>
          </a:solidFill>
          <a:ln/>
        </p:spPr>
      </p:sp>
      <p:sp>
        <p:nvSpPr>
          <p:cNvPr id="7" name="Text 5"/>
          <p:cNvSpPr/>
          <p:nvPr/>
        </p:nvSpPr>
        <p:spPr>
          <a:xfrm>
            <a:off x="9610344" y="146304"/>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Measure</a:t>
            </a:r>
            <a:endParaRPr lang="en-US" sz="780" dirty="0"/>
          </a:p>
        </p:txBody>
      </p:sp>
      <p:sp>
        <p:nvSpPr>
          <p:cNvPr id="8" name="Shape 6"/>
          <p:cNvSpPr/>
          <p:nvPr/>
        </p:nvSpPr>
        <p:spPr>
          <a:xfrm>
            <a:off x="10698480" y="192024"/>
            <a:ext cx="100584" cy="100584"/>
          </a:xfrm>
          <a:prstGeom prst="ellipse">
            <a:avLst/>
          </a:prstGeom>
          <a:solidFill>
            <a:srgbClr val="4F46E5"/>
          </a:solidFill>
          <a:ln/>
        </p:spPr>
      </p:sp>
      <p:sp>
        <p:nvSpPr>
          <p:cNvPr id="9" name="Text 7"/>
          <p:cNvSpPr/>
          <p:nvPr/>
        </p:nvSpPr>
        <p:spPr>
          <a:xfrm>
            <a:off x="10844784" y="146304"/>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Rules</a:t>
            </a:r>
            <a:endParaRPr lang="en-US" sz="780" dirty="0"/>
          </a:p>
        </p:txBody>
      </p:sp>
      <p:sp>
        <p:nvSpPr>
          <p:cNvPr id="10" name="Shape 8"/>
          <p:cNvSpPr/>
          <p:nvPr/>
        </p:nvSpPr>
        <p:spPr>
          <a:xfrm>
            <a:off x="9464040" y="411480"/>
            <a:ext cx="100584" cy="100584"/>
          </a:xfrm>
          <a:prstGeom prst="ellipse">
            <a:avLst/>
          </a:prstGeom>
          <a:solidFill>
            <a:srgbClr val="6B3FA0"/>
          </a:solidFill>
          <a:ln/>
        </p:spPr>
      </p:sp>
      <p:sp>
        <p:nvSpPr>
          <p:cNvPr id="11" name="Text 9"/>
          <p:cNvSpPr/>
          <p:nvPr/>
        </p:nvSpPr>
        <p:spPr>
          <a:xfrm>
            <a:off x="9610344" y="365760"/>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AI (optional)</a:t>
            </a:r>
            <a:endParaRPr lang="en-US" sz="780" dirty="0"/>
          </a:p>
        </p:txBody>
      </p:sp>
      <p:sp>
        <p:nvSpPr>
          <p:cNvPr id="12" name="Shape 10"/>
          <p:cNvSpPr/>
          <p:nvPr/>
        </p:nvSpPr>
        <p:spPr>
          <a:xfrm>
            <a:off x="10698480" y="411480"/>
            <a:ext cx="100584" cy="100584"/>
          </a:xfrm>
          <a:prstGeom prst="ellipse">
            <a:avLst/>
          </a:prstGeom>
          <a:solidFill>
            <a:srgbClr val="B7791F"/>
          </a:solidFill>
          <a:ln/>
        </p:spPr>
      </p:sp>
      <p:sp>
        <p:nvSpPr>
          <p:cNvPr id="13" name="Text 11"/>
          <p:cNvSpPr/>
          <p:nvPr/>
        </p:nvSpPr>
        <p:spPr>
          <a:xfrm>
            <a:off x="10844784" y="365760"/>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Guardrail</a:t>
            </a:r>
            <a:endParaRPr lang="en-US" sz="780" dirty="0"/>
          </a:p>
        </p:txBody>
      </p:sp>
      <p:sp>
        <p:nvSpPr>
          <p:cNvPr id="14" name="Shape 12"/>
          <p:cNvSpPr/>
          <p:nvPr/>
        </p:nvSpPr>
        <p:spPr>
          <a:xfrm>
            <a:off x="9464040" y="630936"/>
            <a:ext cx="100584" cy="100584"/>
          </a:xfrm>
          <a:prstGeom prst="ellipse">
            <a:avLst/>
          </a:prstGeom>
          <a:solidFill>
            <a:srgbClr val="0E8074"/>
          </a:solidFill>
          <a:ln/>
        </p:spPr>
      </p:sp>
      <p:sp>
        <p:nvSpPr>
          <p:cNvPr id="15" name="Text 13"/>
          <p:cNvSpPr/>
          <p:nvPr/>
        </p:nvSpPr>
        <p:spPr>
          <a:xfrm>
            <a:off x="9610344" y="585216"/>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Engine</a:t>
            </a:r>
            <a:endParaRPr lang="en-US" sz="780" dirty="0"/>
          </a:p>
        </p:txBody>
      </p:sp>
      <p:sp>
        <p:nvSpPr>
          <p:cNvPr id="16" name="Shape 14"/>
          <p:cNvSpPr/>
          <p:nvPr/>
        </p:nvSpPr>
        <p:spPr>
          <a:xfrm>
            <a:off x="10698480" y="630936"/>
            <a:ext cx="100584" cy="100584"/>
          </a:xfrm>
          <a:prstGeom prst="ellipse">
            <a:avLst/>
          </a:prstGeom>
          <a:solidFill>
            <a:srgbClr val="2E8B57"/>
          </a:solidFill>
          <a:ln/>
        </p:spPr>
      </p:sp>
      <p:sp>
        <p:nvSpPr>
          <p:cNvPr id="17" name="Text 15"/>
          <p:cNvSpPr/>
          <p:nvPr/>
        </p:nvSpPr>
        <p:spPr>
          <a:xfrm>
            <a:off x="10844784" y="585216"/>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Human / output</a:t>
            </a:r>
            <a:endParaRPr lang="en-US" sz="780" dirty="0"/>
          </a:p>
        </p:txBody>
      </p:sp>
      <p:sp>
        <p:nvSpPr>
          <p:cNvPr id="18" name="Shape 16"/>
          <p:cNvSpPr/>
          <p:nvPr/>
        </p:nvSpPr>
        <p:spPr>
          <a:xfrm>
            <a:off x="411480" y="1078992"/>
            <a:ext cx="1828800" cy="758952"/>
          </a:xfrm>
          <a:prstGeom prst="roundRect">
            <a:avLst>
              <a:gd name="adj" fmla="val 9639"/>
            </a:avLst>
          </a:prstGeom>
          <a:solidFill>
            <a:srgbClr val="EAF6EF"/>
          </a:solidFill>
          <a:ln w="12700">
            <a:solidFill>
              <a:srgbClr val="2E8B57"/>
            </a:solidFill>
            <a:prstDash val="solid"/>
          </a:ln>
        </p:spPr>
      </p:sp>
      <p:sp>
        <p:nvSpPr>
          <p:cNvPr id="19" name="Text 17"/>
          <p:cNvSpPr/>
          <p:nvPr/>
        </p:nvSpPr>
        <p:spPr>
          <a:xfrm>
            <a:off x="512064" y="1124712"/>
            <a:ext cx="1691640" cy="137160"/>
          </a:xfrm>
          <a:prstGeom prst="rect">
            <a:avLst/>
          </a:prstGeom>
          <a:noFill/>
          <a:ln/>
        </p:spPr>
        <p:txBody>
          <a:bodyPr wrap="square" lIns="0" tIns="0" rIns="0" bIns="0" rtlCol="0" anchor="ctr"/>
          <a:lstStyle/>
          <a:p>
            <a:pPr indent="0" marL="0">
              <a:buNone/>
            </a:pPr>
            <a:r>
              <a:rPr lang="en-US" sz="660" b="1" spc="40" kern="0" dirty="0">
                <a:solidFill>
                  <a:srgbClr val="2E8B57"/>
                </a:solidFill>
                <a:latin typeface="Calibri" pitchFamily="34" charset="0"/>
                <a:ea typeface="Calibri" pitchFamily="34" charset="-122"/>
                <a:cs typeface="Calibri" pitchFamily="34" charset="-120"/>
              </a:rPr>
              <a:t>WHY TRUST THIS PICTURE</a:t>
            </a:r>
            <a:endParaRPr lang="en-US" sz="660" dirty="0"/>
          </a:p>
        </p:txBody>
      </p:sp>
      <p:sp>
        <p:nvSpPr>
          <p:cNvPr id="20" name="Text 18"/>
          <p:cNvSpPr/>
          <p:nvPr/>
        </p:nvSpPr>
        <p:spPr>
          <a:xfrm>
            <a:off x="512064" y="1271016"/>
            <a:ext cx="1691640" cy="548640"/>
          </a:xfrm>
          <a:prstGeom prst="rect">
            <a:avLst/>
          </a:prstGeom>
          <a:noFill/>
          <a:ln/>
        </p:spPr>
        <p:txBody>
          <a:bodyPr wrap="square" lIns="0" tIns="0" rIns="0" bIns="0" rtlCol="0" anchor="t"/>
          <a:lstStyle/>
          <a:p>
            <a:pPr indent="0" marL="0">
              <a:buNone/>
            </a:pPr>
            <a:r>
              <a:rPr lang="en-US" sz="690" dirty="0">
                <a:solidFill>
                  <a:srgbClr val="3A4356"/>
                </a:solidFill>
                <a:latin typeface="Calibri" pitchFamily="34" charset="0"/>
                <a:ea typeface="Calibri" pitchFamily="34" charset="-122"/>
                <a:cs typeface="Calibri" pitchFamily="34" charset="-120"/>
              </a:rPr>
              <a:t>Same file + answers = same price</a:t>
            </a:r>
            <a:endParaRPr lang="en-US" sz="690" dirty="0"/>
          </a:p>
          <a:p>
            <a:pPr indent="0" marL="0">
              <a:buNone/>
            </a:pPr>
            <a:r>
              <a:rPr lang="en-US" sz="690" dirty="0">
                <a:solidFill>
                  <a:srgbClr val="3A4356"/>
                </a:solidFill>
                <a:latin typeface="Calibri" pitchFamily="34" charset="0"/>
                <a:ea typeface="Calibri" pitchFamily="34" charset="-122"/>
                <a:cs typeface="Calibri" pitchFamily="34" charset="-120"/>
              </a:rPr>
              <a:t>12 of 18 commodities rules-driven</a:t>
            </a:r>
            <a:endParaRPr lang="en-US" sz="690" dirty="0"/>
          </a:p>
          <a:p>
            <a:pPr indent="0" marL="0">
              <a:buNone/>
            </a:pPr>
            <a:r>
              <a:rPr lang="en-US" sz="690" dirty="0">
                <a:solidFill>
                  <a:srgbClr val="3A4356"/>
                </a:solidFill>
                <a:latin typeface="Calibri" pitchFamily="34" charset="0"/>
                <a:ea typeface="Calibri" pitchFamily="34" charset="-122"/>
                <a:cs typeface="Calibri" pitchFamily="34" charset="-120"/>
              </a:rPr>
              <a:t>~1,490 automated tests</a:t>
            </a:r>
            <a:endParaRPr lang="en-US" sz="690" dirty="0"/>
          </a:p>
          <a:p>
            <a:pPr indent="0" marL="0">
              <a:buNone/>
            </a:pPr>
            <a:r>
              <a:rPr lang="en-US" sz="690" dirty="0">
                <a:solidFill>
                  <a:srgbClr val="3A4356"/>
                </a:solidFill>
                <a:latin typeface="Calibri" pitchFamily="34" charset="0"/>
                <a:ea typeface="Calibri" pitchFamily="34" charset="-122"/>
                <a:cs typeface="Calibri" pitchFamily="34" charset="-120"/>
              </a:rPr>
              <a:t>6 real parts · fleet error ≈13%</a:t>
            </a:r>
            <a:endParaRPr lang="en-US" sz="690" dirty="0"/>
          </a:p>
        </p:txBody>
      </p:sp>
      <p:sp>
        <p:nvSpPr>
          <p:cNvPr id="21" name="Shape 19"/>
          <p:cNvSpPr/>
          <p:nvPr/>
        </p:nvSpPr>
        <p:spPr>
          <a:xfrm>
            <a:off x="2331720" y="932688"/>
            <a:ext cx="4754880" cy="905256"/>
          </a:xfrm>
          <a:prstGeom prst="roundRect">
            <a:avLst>
              <a:gd name="adj" fmla="val 9091"/>
            </a:avLst>
          </a:prstGeom>
          <a:solidFill>
            <a:srgbClr val="F1EBF8"/>
          </a:solidFill>
          <a:ln w="19050">
            <a:solidFill>
              <a:srgbClr val="6B3FA0"/>
            </a:solidFill>
            <a:prstDash val="dash"/>
          </a:ln>
        </p:spPr>
      </p:sp>
      <p:sp>
        <p:nvSpPr>
          <p:cNvPr id="22" name="Shape 20"/>
          <p:cNvSpPr/>
          <p:nvPr/>
        </p:nvSpPr>
        <p:spPr>
          <a:xfrm>
            <a:off x="2468880" y="1170432"/>
            <a:ext cx="402336" cy="402336"/>
          </a:xfrm>
          <a:prstGeom prst="ellipse">
            <a:avLst/>
          </a:prstGeom>
          <a:solidFill>
            <a:srgbClr val="6B3FA0"/>
          </a:solidFill>
          <a:ln/>
        </p:spPr>
      </p:sp>
      <p:pic>
        <p:nvPicPr>
          <p:cNvPr id="23" name="Image 0" descr="preencoded.png">    </p:cNvPr>
          <p:cNvPicPr>
            <a:picLocks noChangeAspect="1"/>
          </p:cNvPicPr>
          <p:nvPr/>
        </p:nvPicPr>
        <p:blipFill>
          <a:blip r:embed="rId1"/>
          <a:stretch>
            <a:fillRect/>
          </a:stretch>
        </p:blipFill>
        <p:spPr>
          <a:xfrm>
            <a:off x="2569464" y="1271016"/>
            <a:ext cx="201168" cy="201168"/>
          </a:xfrm>
          <a:prstGeom prst="rect">
            <a:avLst/>
          </a:prstGeom>
        </p:spPr>
      </p:pic>
      <p:sp>
        <p:nvSpPr>
          <p:cNvPr id="24" name="Text 21"/>
          <p:cNvSpPr/>
          <p:nvPr/>
        </p:nvSpPr>
        <p:spPr>
          <a:xfrm>
            <a:off x="2999232" y="987552"/>
            <a:ext cx="3977640" cy="182880"/>
          </a:xfrm>
          <a:prstGeom prst="rect">
            <a:avLst/>
          </a:prstGeom>
          <a:noFill/>
          <a:ln/>
        </p:spPr>
        <p:txBody>
          <a:bodyPr wrap="square" lIns="0" tIns="0" rIns="0" bIns="0" rtlCol="0" anchor="ctr"/>
          <a:lstStyle/>
          <a:p>
            <a:pPr indent="0" marL="0">
              <a:buNone/>
            </a:pPr>
            <a:r>
              <a:rPr lang="en-US" sz="800" b="1" spc="40" kern="0" dirty="0">
                <a:solidFill>
                  <a:srgbClr val="6B3FA0"/>
                </a:solidFill>
                <a:latin typeface="Calibri" pitchFamily="34" charset="0"/>
                <a:ea typeface="Calibri" pitchFamily="34" charset="-122"/>
                <a:cs typeface="Calibri" pitchFamily="34" charset="-120"/>
              </a:rPr>
              <a:t>OPTIONAL AI — off by default, the only outbound call</a:t>
            </a:r>
            <a:endParaRPr lang="en-US" sz="800" dirty="0"/>
          </a:p>
        </p:txBody>
      </p:sp>
      <p:sp>
        <p:nvSpPr>
          <p:cNvPr id="25" name="Text 22"/>
          <p:cNvSpPr/>
          <p:nvPr/>
        </p:nvSpPr>
        <p:spPr>
          <a:xfrm>
            <a:off x="2999232" y="1161288"/>
            <a:ext cx="3977640" cy="420624"/>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Three modes: </a:t>
            </a:r>
            <a:pPr indent="0" marL="0">
              <a:buNone/>
            </a:pPr>
            <a:r>
              <a:rPr lang="en-US" sz="780" b="1" dirty="0">
                <a:solidFill>
                  <a:srgbClr val="16325C"/>
                </a:solidFill>
                <a:latin typeface="Calibri" pitchFamily="34" charset="0"/>
                <a:ea typeface="Calibri" pitchFamily="34" charset="-122"/>
                <a:cs typeface="Calibri" pitchFamily="34" charset="-120"/>
              </a:rPr>
              <a:t>Rules only (default) · Compare · AI-led. </a:t>
            </a:r>
            <a:pPr indent="0" marL="0">
              <a:buNone/>
            </a:pPr>
            <a:r>
              <a:rPr lang="en-US" sz="780" dirty="0">
                <a:solidFill>
                  <a:srgbClr val="3A4356"/>
                </a:solidFill>
                <a:latin typeface="Calibri" pitchFamily="34" charset="0"/>
                <a:ea typeface="Calibri" pitchFamily="34" charset="-122"/>
                <a:cs typeface="Calibri" pitchFamily="34" charset="-120"/>
              </a:rPr>
              <a:t>Words back, never money — no price, no machine, no DFM score. </a:t>
            </a:r>
            <a:pPr indent="0" marL="0">
              <a:buNone/>
            </a:pPr>
            <a:r>
              <a:rPr lang="en-US" sz="780" b="1" dirty="0">
                <a:solidFill>
                  <a:srgbClr val="6B3FA0"/>
                </a:solidFill>
                <a:latin typeface="Calibri" pitchFamily="34" charset="0"/>
                <a:ea typeface="Calibri" pitchFamily="34" charset="-122"/>
                <a:cs typeface="Calibri" pitchFamily="34" charset="-120"/>
              </a:rPr>
              <a:t>One required use: a PCB PHOTO </a:t>
            </a:r>
            <a:pPr indent="0" marL="0">
              <a:buNone/>
            </a:pPr>
            <a:r>
              <a:rPr lang="en-US" sz="780" dirty="0">
                <a:solidFill>
                  <a:srgbClr val="3A4356"/>
                </a:solidFill>
                <a:latin typeface="Calibri" pitchFamily="34" charset="0"/>
                <a:ea typeface="Calibri" pitchFamily="34" charset="-122"/>
                <a:cs typeface="Calibri" pitchFamily="34" charset="-120"/>
              </a:rPr>
              <a:t>— vision reads the board; prices still come from the offline catalogue.</a:t>
            </a:r>
            <a:endParaRPr lang="en-US" sz="780" dirty="0"/>
          </a:p>
        </p:txBody>
      </p:sp>
      <p:sp>
        <p:nvSpPr>
          <p:cNvPr id="26" name="Text 23"/>
          <p:cNvSpPr/>
          <p:nvPr/>
        </p:nvSpPr>
        <p:spPr>
          <a:xfrm>
            <a:off x="2999232" y="1636776"/>
            <a:ext cx="3977640" cy="182880"/>
          </a:xfrm>
          <a:prstGeom prst="rect">
            <a:avLst/>
          </a:prstGeom>
          <a:noFill/>
          <a:ln/>
        </p:spPr>
        <p:txBody>
          <a:bodyPr wrap="square" lIns="0" tIns="0" rIns="0" bIns="0" rtlCol="0" anchor="ctr"/>
          <a:lstStyle/>
          <a:p>
            <a:pPr indent="0" marL="0">
              <a:buNone/>
            </a:pPr>
            <a:r>
              <a:rPr lang="en-US" sz="760" i="1" dirty="0">
                <a:solidFill>
                  <a:srgbClr val="6B3FA0"/>
                </a:solidFill>
                <a:latin typeface="Calibri" pitchFamily="34" charset="0"/>
                <a:ea typeface="Calibri" pitchFamily="34" charset="-122"/>
                <a:cs typeface="Calibri" pitchFamily="34" charset="-120"/>
              </a:rPr>
              <a:t>Routable to a private endpoint · AIR_GAPPED=1 refuses the call — CAD costing still works</a:t>
            </a:r>
            <a:endParaRPr lang="en-US" sz="760" dirty="0"/>
          </a:p>
        </p:txBody>
      </p:sp>
      <p:sp>
        <p:nvSpPr>
          <p:cNvPr id="27" name="Shape 24"/>
          <p:cNvSpPr/>
          <p:nvPr/>
        </p:nvSpPr>
        <p:spPr>
          <a:xfrm>
            <a:off x="7315200" y="932688"/>
            <a:ext cx="4416552" cy="905256"/>
          </a:xfrm>
          <a:prstGeom prst="roundRect">
            <a:avLst>
              <a:gd name="adj" fmla="val 9091"/>
            </a:avLst>
          </a:prstGeom>
          <a:solidFill>
            <a:srgbClr val="FFFFFF"/>
          </a:solidFill>
          <a:ln w="12700">
            <a:solidFill>
              <a:srgbClr val="DCE3EE"/>
            </a:solidFill>
            <a:prstDash val="dash"/>
          </a:ln>
        </p:spPr>
      </p:sp>
      <p:sp>
        <p:nvSpPr>
          <p:cNvPr id="28" name="Text 25"/>
          <p:cNvSpPr/>
          <p:nvPr/>
        </p:nvSpPr>
        <p:spPr>
          <a:xfrm>
            <a:off x="7498080" y="1024128"/>
            <a:ext cx="4114800" cy="201168"/>
          </a:xfrm>
          <a:prstGeom prst="rect">
            <a:avLst/>
          </a:prstGeom>
          <a:noFill/>
          <a:ln/>
        </p:spPr>
        <p:txBody>
          <a:bodyPr wrap="square" lIns="0" tIns="0" rIns="0" bIns="0" rtlCol="0" anchor="ctr"/>
          <a:lstStyle/>
          <a:p>
            <a:pPr indent="0" marL="0">
              <a:buNone/>
            </a:pPr>
            <a:r>
              <a:rPr lang="en-US" sz="800" b="1" spc="40" kern="0" dirty="0">
                <a:solidFill>
                  <a:srgbClr val="6B7280"/>
                </a:solidFill>
                <a:latin typeface="Calibri" pitchFamily="34" charset="0"/>
                <a:ea typeface="Calibri" pitchFamily="34" charset="-122"/>
                <a:cs typeface="Calibri" pitchFamily="34" charset="-120"/>
              </a:rPr>
              <a:t>OPTIONAL FEEDS — off by default, none of them price a part</a:t>
            </a:r>
            <a:endParaRPr lang="en-US" sz="800" dirty="0"/>
          </a:p>
        </p:txBody>
      </p:sp>
      <p:sp>
        <p:nvSpPr>
          <p:cNvPr id="29" name="Text 26"/>
          <p:cNvSpPr/>
          <p:nvPr/>
        </p:nvSpPr>
        <p:spPr>
          <a:xfrm>
            <a:off x="7498080" y="1261872"/>
            <a:ext cx="4114800" cy="45720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Live component pricing (PCB only) · industry news · metal-price ticker (display only)</a:t>
            </a:r>
            <a:endParaRPr lang="en-US" sz="900" dirty="0"/>
          </a:p>
        </p:txBody>
      </p:sp>
      <p:sp>
        <p:nvSpPr>
          <p:cNvPr id="30" name="Shape 27"/>
          <p:cNvSpPr/>
          <p:nvPr/>
        </p:nvSpPr>
        <p:spPr>
          <a:xfrm>
            <a:off x="411480" y="1993392"/>
            <a:ext cx="11338560" cy="4023360"/>
          </a:xfrm>
          <a:prstGeom prst="roundRect">
            <a:avLst>
              <a:gd name="adj" fmla="val 2727"/>
            </a:avLst>
          </a:prstGeom>
          <a:solidFill>
            <a:srgbClr val="FFFFFF"/>
          </a:solidFill>
          <a:ln w="22225">
            <a:solidFill>
              <a:srgbClr val="0E8074"/>
            </a:solidFill>
            <a:prstDash val="dash"/>
          </a:ln>
        </p:spPr>
      </p:sp>
      <p:sp>
        <p:nvSpPr>
          <p:cNvPr id="31" name="Shape 28"/>
          <p:cNvSpPr/>
          <p:nvPr/>
        </p:nvSpPr>
        <p:spPr>
          <a:xfrm>
            <a:off x="685800" y="1874520"/>
            <a:ext cx="3200400" cy="256032"/>
          </a:xfrm>
          <a:prstGeom prst="roundRect">
            <a:avLst>
              <a:gd name="adj" fmla="val 50000"/>
            </a:avLst>
          </a:prstGeom>
          <a:solidFill>
            <a:srgbClr val="0E8074"/>
          </a:solidFill>
          <a:ln/>
        </p:spPr>
      </p:sp>
      <p:sp>
        <p:nvSpPr>
          <p:cNvPr id="32" name="Text 29"/>
          <p:cNvSpPr/>
          <p:nvPr/>
        </p:nvSpPr>
        <p:spPr>
          <a:xfrm>
            <a:off x="685800" y="1874520"/>
            <a:ext cx="3200400" cy="256032"/>
          </a:xfrm>
          <a:prstGeom prst="rect">
            <a:avLst/>
          </a:prstGeom>
          <a:noFill/>
          <a:ln/>
        </p:spPr>
        <p:txBody>
          <a:bodyPr wrap="square" lIns="0" tIns="0" rIns="0" bIns="0" rtlCol="0" anchor="ctr"/>
          <a:lstStyle/>
          <a:p>
            <a:pPr algn="ctr" indent="0" marL="0">
              <a:buNone/>
            </a:pPr>
            <a:r>
              <a:rPr lang="en-US" sz="850" b="1" spc="50" kern="0" dirty="0">
                <a:solidFill>
                  <a:srgbClr val="FFFFFF"/>
                </a:solidFill>
                <a:latin typeface="Calibri" pitchFamily="34" charset="0"/>
                <a:ea typeface="Calibri" pitchFamily="34" charset="-122"/>
                <a:cs typeface="Calibri" pitchFamily="34" charset="-120"/>
              </a:rPr>
              <a:t>INSIDE — RUNS ON YOUR OWN SERVER</a:t>
            </a:r>
            <a:endParaRPr lang="en-US" sz="850" dirty="0"/>
          </a:p>
        </p:txBody>
      </p:sp>
      <p:sp>
        <p:nvSpPr>
          <p:cNvPr id="33" name="Shape 30"/>
          <p:cNvSpPr/>
          <p:nvPr/>
        </p:nvSpPr>
        <p:spPr>
          <a:xfrm>
            <a:off x="3794760" y="1837944"/>
            <a:ext cx="0" cy="612648"/>
          </a:xfrm>
          <a:prstGeom prst="line">
            <a:avLst/>
          </a:prstGeom>
          <a:noFill/>
          <a:ln w="19050">
            <a:solidFill>
              <a:srgbClr val="6B3FA0"/>
            </a:solidFill>
            <a:prstDash val="dash"/>
            <a:headEnd type="triangle"/>
            <a:tailEnd type="triangle"/>
          </a:ln>
        </p:spPr>
      </p:sp>
      <p:sp>
        <p:nvSpPr>
          <p:cNvPr id="34" name="Text 31"/>
          <p:cNvSpPr/>
          <p:nvPr/>
        </p:nvSpPr>
        <p:spPr>
          <a:xfrm>
            <a:off x="594360" y="2231136"/>
            <a:ext cx="1828800" cy="219456"/>
          </a:xfrm>
          <a:prstGeom prst="rect">
            <a:avLst/>
          </a:prstGeom>
          <a:noFill/>
          <a:ln/>
        </p:spPr>
        <p:txBody>
          <a:bodyPr wrap="square" lIns="0" tIns="0" rIns="0" bIns="0" rtlCol="0" anchor="ctr"/>
          <a:lstStyle/>
          <a:p>
            <a:pPr indent="0" marL="0">
              <a:buNone/>
            </a:pPr>
            <a:r>
              <a:rPr lang="en-US" sz="850" b="1" spc="60" kern="0" dirty="0">
                <a:solidFill>
                  <a:srgbClr val="1D6FB8"/>
                </a:solidFill>
                <a:latin typeface="Calibri" pitchFamily="34" charset="0"/>
                <a:ea typeface="Calibri" pitchFamily="34" charset="-122"/>
                <a:cs typeface="Calibri" pitchFamily="34" charset="-120"/>
              </a:rPr>
              <a:t>WHAT GOES IN</a:t>
            </a:r>
            <a:endParaRPr lang="en-US" sz="850" dirty="0"/>
          </a:p>
        </p:txBody>
      </p:sp>
      <p:sp>
        <p:nvSpPr>
          <p:cNvPr id="35" name="Shape 32"/>
          <p:cNvSpPr/>
          <p:nvPr/>
        </p:nvSpPr>
        <p:spPr>
          <a:xfrm>
            <a:off x="594360" y="2505456"/>
            <a:ext cx="1828800" cy="621792"/>
          </a:xfrm>
          <a:prstGeom prst="roundRect">
            <a:avLst>
              <a:gd name="adj" fmla="val 10294"/>
            </a:avLst>
          </a:prstGeom>
          <a:solidFill>
            <a:srgbClr val="FFFFFF"/>
          </a:solidFill>
          <a:ln w="12700">
            <a:solidFill>
              <a:srgbClr val="DCE3EE"/>
            </a:solidFill>
            <a:prstDash val="solid"/>
          </a:ln>
        </p:spPr>
      </p:sp>
      <p:sp>
        <p:nvSpPr>
          <p:cNvPr id="36" name="Text 33"/>
          <p:cNvSpPr/>
          <p:nvPr/>
        </p:nvSpPr>
        <p:spPr>
          <a:xfrm>
            <a:off x="713232" y="250545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3D CAD model</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(STEP / IGES / STL)</a:t>
            </a:r>
            <a:endParaRPr lang="en-US" sz="860" dirty="0"/>
          </a:p>
        </p:txBody>
      </p:sp>
      <p:sp>
        <p:nvSpPr>
          <p:cNvPr id="37" name="Shape 34"/>
          <p:cNvSpPr/>
          <p:nvPr/>
        </p:nvSpPr>
        <p:spPr>
          <a:xfrm>
            <a:off x="594360" y="3236976"/>
            <a:ext cx="1828800" cy="621792"/>
          </a:xfrm>
          <a:prstGeom prst="roundRect">
            <a:avLst>
              <a:gd name="adj" fmla="val 10294"/>
            </a:avLst>
          </a:prstGeom>
          <a:solidFill>
            <a:srgbClr val="FFFFFF"/>
          </a:solidFill>
          <a:ln w="12700">
            <a:solidFill>
              <a:srgbClr val="DCE3EE"/>
            </a:solidFill>
            <a:prstDash val="solid"/>
          </a:ln>
        </p:spPr>
      </p:sp>
      <p:sp>
        <p:nvSpPr>
          <p:cNvPr id="38" name="Text 35"/>
          <p:cNvSpPr/>
          <p:nvPr/>
        </p:nvSpPr>
        <p:spPr>
          <a:xfrm>
            <a:off x="713232" y="323697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Photo of a PCB —</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AI vision reads it (↑)</a:t>
            </a:r>
            <a:endParaRPr lang="en-US" sz="860" dirty="0"/>
          </a:p>
        </p:txBody>
      </p:sp>
      <p:sp>
        <p:nvSpPr>
          <p:cNvPr id="39" name="Shape 36"/>
          <p:cNvSpPr/>
          <p:nvPr/>
        </p:nvSpPr>
        <p:spPr>
          <a:xfrm>
            <a:off x="594360" y="3968496"/>
            <a:ext cx="1828800" cy="621792"/>
          </a:xfrm>
          <a:prstGeom prst="roundRect">
            <a:avLst>
              <a:gd name="adj" fmla="val 10294"/>
            </a:avLst>
          </a:prstGeom>
          <a:solidFill>
            <a:srgbClr val="FFFFFF"/>
          </a:solidFill>
          <a:ln w="12700">
            <a:solidFill>
              <a:srgbClr val="DCE3EE"/>
            </a:solidFill>
            <a:prstDash val="solid"/>
          </a:ln>
        </p:spPr>
      </p:sp>
      <p:sp>
        <p:nvSpPr>
          <p:cNvPr id="40" name="Text 37"/>
          <p:cNvSpPr/>
          <p:nvPr/>
        </p:nvSpPr>
        <p:spPr>
          <a:xfrm>
            <a:off x="713232" y="396849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Plain description</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or an RFQ sheet</a:t>
            </a:r>
            <a:endParaRPr lang="en-US" sz="860" dirty="0"/>
          </a:p>
        </p:txBody>
      </p:sp>
      <p:sp>
        <p:nvSpPr>
          <p:cNvPr id="41" name="Shape 38"/>
          <p:cNvSpPr/>
          <p:nvPr/>
        </p:nvSpPr>
        <p:spPr>
          <a:xfrm>
            <a:off x="594360" y="4700016"/>
            <a:ext cx="1828800" cy="621792"/>
          </a:xfrm>
          <a:prstGeom prst="roundRect">
            <a:avLst>
              <a:gd name="adj" fmla="val 10294"/>
            </a:avLst>
          </a:prstGeom>
          <a:solidFill>
            <a:srgbClr val="FFFFFF"/>
          </a:solidFill>
          <a:ln w="12700">
            <a:solidFill>
              <a:srgbClr val="DCE3EE"/>
            </a:solidFill>
            <a:prstDash val="solid"/>
          </a:ln>
        </p:spPr>
      </p:sp>
      <p:sp>
        <p:nvSpPr>
          <p:cNvPr id="42" name="Text 39"/>
          <p:cNvSpPr/>
          <p:nvPr/>
        </p:nvSpPr>
        <p:spPr>
          <a:xfrm>
            <a:off x="713232" y="470001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Volume + region</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(the engineer types)</a:t>
            </a:r>
            <a:endParaRPr lang="en-US" sz="860" dirty="0"/>
          </a:p>
        </p:txBody>
      </p:sp>
      <p:sp>
        <p:nvSpPr>
          <p:cNvPr id="43" name="Text 40"/>
          <p:cNvSpPr/>
          <p:nvPr/>
        </p:nvSpPr>
        <p:spPr>
          <a:xfrm>
            <a:off x="10104120" y="2231136"/>
            <a:ext cx="1645920" cy="219456"/>
          </a:xfrm>
          <a:prstGeom prst="rect">
            <a:avLst/>
          </a:prstGeom>
          <a:noFill/>
          <a:ln/>
        </p:spPr>
        <p:txBody>
          <a:bodyPr wrap="square" lIns="0" tIns="0" rIns="0" bIns="0" rtlCol="0" anchor="ctr"/>
          <a:lstStyle/>
          <a:p>
            <a:pPr indent="0" marL="0">
              <a:buNone/>
            </a:pPr>
            <a:r>
              <a:rPr lang="en-US" sz="850" b="1" spc="60" kern="0" dirty="0">
                <a:solidFill>
                  <a:srgbClr val="2E8B57"/>
                </a:solidFill>
                <a:latin typeface="Calibri" pitchFamily="34" charset="0"/>
                <a:ea typeface="Calibri" pitchFamily="34" charset="-122"/>
                <a:cs typeface="Calibri" pitchFamily="34" charset="-120"/>
              </a:rPr>
              <a:t>WHAT COMES OUT</a:t>
            </a:r>
            <a:endParaRPr lang="en-US" sz="850" dirty="0"/>
          </a:p>
        </p:txBody>
      </p:sp>
      <p:sp>
        <p:nvSpPr>
          <p:cNvPr id="44" name="Shape 41"/>
          <p:cNvSpPr/>
          <p:nvPr/>
        </p:nvSpPr>
        <p:spPr>
          <a:xfrm>
            <a:off x="10104120" y="2505456"/>
            <a:ext cx="1645920" cy="621792"/>
          </a:xfrm>
          <a:prstGeom prst="roundRect">
            <a:avLst>
              <a:gd name="adj" fmla="val 10294"/>
            </a:avLst>
          </a:prstGeom>
          <a:solidFill>
            <a:srgbClr val="FFFFFF"/>
          </a:solidFill>
          <a:ln w="12700">
            <a:solidFill>
              <a:srgbClr val="DCE3EE"/>
            </a:solidFill>
            <a:prstDash val="solid"/>
          </a:ln>
        </p:spPr>
      </p:sp>
      <p:sp>
        <p:nvSpPr>
          <p:cNvPr id="45" name="Text 42"/>
          <p:cNvSpPr/>
          <p:nvPr/>
        </p:nvSpPr>
        <p:spPr>
          <a:xfrm>
            <a:off x="10222992" y="2505456"/>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8-bucket cost — every</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figure shows its basis</a:t>
            </a:r>
            <a:endParaRPr lang="en-US" sz="860" dirty="0"/>
          </a:p>
        </p:txBody>
      </p:sp>
      <p:sp>
        <p:nvSpPr>
          <p:cNvPr id="46" name="Shape 43"/>
          <p:cNvSpPr/>
          <p:nvPr/>
        </p:nvSpPr>
        <p:spPr>
          <a:xfrm>
            <a:off x="10104120" y="3200400"/>
            <a:ext cx="1645920" cy="621792"/>
          </a:xfrm>
          <a:prstGeom prst="roundRect">
            <a:avLst>
              <a:gd name="adj" fmla="val 10294"/>
            </a:avLst>
          </a:prstGeom>
          <a:solidFill>
            <a:srgbClr val="FFFFFF"/>
          </a:solidFill>
          <a:ln w="12700">
            <a:solidFill>
              <a:srgbClr val="DCE3EE"/>
            </a:solidFill>
            <a:prstDash val="solid"/>
          </a:ln>
        </p:spPr>
      </p:sp>
      <p:sp>
        <p:nvSpPr>
          <p:cNvPr id="47" name="Text 44"/>
          <p:cNvSpPr/>
          <p:nvPr/>
        </p:nvSpPr>
        <p:spPr>
          <a:xfrm>
            <a:off x="10222992" y="3200400"/>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Operation list —</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what takes the time</a:t>
            </a:r>
            <a:endParaRPr lang="en-US" sz="860" dirty="0"/>
          </a:p>
        </p:txBody>
      </p:sp>
      <p:sp>
        <p:nvSpPr>
          <p:cNvPr id="48" name="Shape 45"/>
          <p:cNvSpPr/>
          <p:nvPr/>
        </p:nvSpPr>
        <p:spPr>
          <a:xfrm>
            <a:off x="10104120" y="3895344"/>
            <a:ext cx="1645920" cy="621792"/>
          </a:xfrm>
          <a:prstGeom prst="roundRect">
            <a:avLst>
              <a:gd name="adj" fmla="val 10294"/>
            </a:avLst>
          </a:prstGeom>
          <a:solidFill>
            <a:srgbClr val="FFFFFF"/>
          </a:solidFill>
          <a:ln w="12700">
            <a:solidFill>
              <a:srgbClr val="DCE3EE"/>
            </a:solidFill>
            <a:prstDash val="solid"/>
          </a:ln>
        </p:spPr>
      </p:sp>
      <p:sp>
        <p:nvSpPr>
          <p:cNvPr id="49" name="Text 46"/>
          <p:cNvSpPr/>
          <p:nvPr/>
        </p:nvSpPr>
        <p:spPr>
          <a:xfrm>
            <a:off x="10222992" y="3895344"/>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Confidence band +</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20-country comparison</a:t>
            </a:r>
            <a:endParaRPr lang="en-US" sz="860" dirty="0"/>
          </a:p>
        </p:txBody>
      </p:sp>
      <p:sp>
        <p:nvSpPr>
          <p:cNvPr id="50" name="Shape 47"/>
          <p:cNvSpPr/>
          <p:nvPr/>
        </p:nvSpPr>
        <p:spPr>
          <a:xfrm>
            <a:off x="10104120" y="4590288"/>
            <a:ext cx="1645920" cy="621792"/>
          </a:xfrm>
          <a:prstGeom prst="roundRect">
            <a:avLst>
              <a:gd name="adj" fmla="val 10294"/>
            </a:avLst>
          </a:prstGeom>
          <a:solidFill>
            <a:srgbClr val="FFFFFF"/>
          </a:solidFill>
          <a:ln w="12700">
            <a:solidFill>
              <a:srgbClr val="DCE3EE"/>
            </a:solidFill>
            <a:prstDash val="solid"/>
          </a:ln>
        </p:spPr>
      </p:sp>
      <p:sp>
        <p:nvSpPr>
          <p:cNvPr id="51" name="Text 48"/>
          <p:cNvSpPr/>
          <p:nvPr/>
        </p:nvSpPr>
        <p:spPr>
          <a:xfrm>
            <a:off x="10222992" y="4590288"/>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DFM/DFA + priced saving</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ideas — engine, not AI</a:t>
            </a:r>
            <a:endParaRPr lang="en-US" sz="860" dirty="0"/>
          </a:p>
        </p:txBody>
      </p:sp>
      <p:sp>
        <p:nvSpPr>
          <p:cNvPr id="52" name="Shape 49"/>
          <p:cNvSpPr/>
          <p:nvPr/>
        </p:nvSpPr>
        <p:spPr>
          <a:xfrm>
            <a:off x="10104120" y="5285232"/>
            <a:ext cx="1645920" cy="621792"/>
          </a:xfrm>
          <a:prstGeom prst="roundRect">
            <a:avLst>
              <a:gd name="adj" fmla="val 10294"/>
            </a:avLst>
          </a:prstGeom>
          <a:solidFill>
            <a:srgbClr val="FFFFFF"/>
          </a:solidFill>
          <a:ln w="12700">
            <a:solidFill>
              <a:srgbClr val="DCE3EE"/>
            </a:solidFill>
            <a:prstDash val="solid"/>
          </a:ln>
        </p:spPr>
      </p:sp>
      <p:sp>
        <p:nvSpPr>
          <p:cNvPr id="53" name="Text 50"/>
          <p:cNvSpPr/>
          <p:nvPr/>
        </p:nvSpPr>
        <p:spPr>
          <a:xfrm>
            <a:off x="10222992" y="5285232"/>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PDF · Excel · PowerPoint</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negotiation pack</a:t>
            </a:r>
            <a:endParaRPr lang="en-US" sz="860" dirty="0"/>
          </a:p>
        </p:txBody>
      </p:sp>
      <p:sp>
        <p:nvSpPr>
          <p:cNvPr id="54" name="Shape 51"/>
          <p:cNvSpPr/>
          <p:nvPr/>
        </p:nvSpPr>
        <p:spPr>
          <a:xfrm>
            <a:off x="2606040" y="2450592"/>
            <a:ext cx="1920240" cy="1115568"/>
          </a:xfrm>
          <a:prstGeom prst="roundRect">
            <a:avLst>
              <a:gd name="adj" fmla="val 7377"/>
            </a:avLst>
          </a:prstGeom>
          <a:solidFill>
            <a:srgbClr val="E8F1FA"/>
          </a:solidFill>
          <a:ln w="17780">
            <a:solidFill>
              <a:srgbClr val="1D6FB8"/>
            </a:solidFill>
            <a:prstDash val="solid"/>
          </a:ln>
        </p:spPr>
      </p:sp>
      <p:sp>
        <p:nvSpPr>
          <p:cNvPr id="55" name="Shape 52"/>
          <p:cNvSpPr/>
          <p:nvPr/>
        </p:nvSpPr>
        <p:spPr>
          <a:xfrm>
            <a:off x="2734056" y="2560320"/>
            <a:ext cx="310896" cy="310896"/>
          </a:xfrm>
          <a:prstGeom prst="ellipse">
            <a:avLst/>
          </a:prstGeom>
          <a:solidFill>
            <a:srgbClr val="1D6FB8"/>
          </a:solidFill>
          <a:ln/>
        </p:spPr>
      </p:sp>
      <p:pic>
        <p:nvPicPr>
          <p:cNvPr id="56" name="Image 1" descr="preencoded.png">    </p:cNvPr>
          <p:cNvPicPr>
            <a:picLocks noChangeAspect="1"/>
          </p:cNvPicPr>
          <p:nvPr/>
        </p:nvPicPr>
        <p:blipFill>
          <a:blip r:embed="rId2"/>
          <a:stretch>
            <a:fillRect/>
          </a:stretch>
        </p:blipFill>
        <p:spPr>
          <a:xfrm>
            <a:off x="2807208" y="2633472"/>
            <a:ext cx="164592" cy="164592"/>
          </a:xfrm>
          <a:prstGeom prst="rect">
            <a:avLst/>
          </a:prstGeom>
        </p:spPr>
      </p:pic>
      <p:sp>
        <p:nvSpPr>
          <p:cNvPr id="57" name="Text 53"/>
          <p:cNvSpPr/>
          <p:nvPr/>
        </p:nvSpPr>
        <p:spPr>
          <a:xfrm>
            <a:off x="3118104" y="2551176"/>
            <a:ext cx="128016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Geometry kernel</a:t>
            </a:r>
            <a:endParaRPr lang="en-US" sz="1000" dirty="0"/>
          </a:p>
        </p:txBody>
      </p:sp>
      <p:sp>
        <p:nvSpPr>
          <p:cNvPr id="58" name="Text 54"/>
          <p:cNvSpPr/>
          <p:nvPr/>
        </p:nvSpPr>
        <p:spPr>
          <a:xfrm>
            <a:off x="2752344" y="2880360"/>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OCCT measures the part: volume, walls, holes, faces, topology. Never guessed.</a:t>
            </a:r>
            <a:endParaRPr lang="en-US" sz="820" dirty="0"/>
          </a:p>
        </p:txBody>
      </p:sp>
      <p:sp>
        <p:nvSpPr>
          <p:cNvPr id="59" name="Shape 55"/>
          <p:cNvSpPr/>
          <p:nvPr/>
        </p:nvSpPr>
        <p:spPr>
          <a:xfrm>
            <a:off x="2606040" y="3712464"/>
            <a:ext cx="1920240" cy="1115568"/>
          </a:xfrm>
          <a:prstGeom prst="roundRect">
            <a:avLst>
              <a:gd name="adj" fmla="val 7377"/>
            </a:avLst>
          </a:prstGeom>
          <a:solidFill>
            <a:srgbClr val="EEF2FF"/>
          </a:solidFill>
          <a:ln w="17780">
            <a:solidFill>
              <a:srgbClr val="4F46E5"/>
            </a:solidFill>
            <a:prstDash val="solid"/>
          </a:ln>
        </p:spPr>
      </p:sp>
      <p:sp>
        <p:nvSpPr>
          <p:cNvPr id="60" name="Shape 56"/>
          <p:cNvSpPr/>
          <p:nvPr/>
        </p:nvSpPr>
        <p:spPr>
          <a:xfrm>
            <a:off x="2734056" y="3822192"/>
            <a:ext cx="310896" cy="310896"/>
          </a:xfrm>
          <a:prstGeom prst="ellipse">
            <a:avLst/>
          </a:prstGeom>
          <a:solidFill>
            <a:srgbClr val="4F46E5"/>
          </a:solidFill>
          <a:ln/>
        </p:spPr>
      </p:sp>
      <p:pic>
        <p:nvPicPr>
          <p:cNvPr id="61" name="Image 2" descr="preencoded.png">    </p:cNvPr>
          <p:cNvPicPr>
            <a:picLocks noChangeAspect="1"/>
          </p:cNvPicPr>
          <p:nvPr/>
        </p:nvPicPr>
        <p:blipFill>
          <a:blip r:embed="rId3"/>
          <a:stretch>
            <a:fillRect/>
          </a:stretch>
        </p:blipFill>
        <p:spPr>
          <a:xfrm>
            <a:off x="2807208" y="3895344"/>
            <a:ext cx="164592" cy="164592"/>
          </a:xfrm>
          <a:prstGeom prst="rect">
            <a:avLst/>
          </a:prstGeom>
        </p:spPr>
      </p:pic>
      <p:sp>
        <p:nvSpPr>
          <p:cNvPr id="62" name="Text 57"/>
          <p:cNvSpPr/>
          <p:nvPr/>
        </p:nvSpPr>
        <p:spPr>
          <a:xfrm>
            <a:off x="3118104" y="3813048"/>
            <a:ext cx="1280160" cy="274320"/>
          </a:xfrm>
          <a:prstGeom prst="rect">
            <a:avLst/>
          </a:prstGeom>
          <a:noFill/>
          <a:ln/>
        </p:spPr>
        <p:txBody>
          <a:bodyPr wrap="square" lIns="0" tIns="0" rIns="0" bIns="0" rtlCol="0" anchor="ctr"/>
          <a:lstStyle/>
          <a:p>
            <a:pPr indent="0" marL="0">
              <a:buNone/>
            </a:pPr>
            <a:r>
              <a:rPr lang="en-US" sz="1000" b="1" dirty="0">
                <a:solidFill>
                  <a:srgbClr val="4F46E5"/>
                </a:solidFill>
                <a:latin typeface="Calibri" pitchFamily="34" charset="0"/>
                <a:ea typeface="Calibri" pitchFamily="34" charset="-122"/>
                <a:cs typeface="Calibri" pitchFamily="34" charset="-120"/>
              </a:rPr>
              <a:t>Rules + optimisers</a:t>
            </a:r>
            <a:endParaRPr lang="en-US" sz="1000" dirty="0"/>
          </a:p>
        </p:txBody>
      </p:sp>
      <p:sp>
        <p:nvSpPr>
          <p:cNvPr id="63" name="Text 58"/>
          <p:cNvSpPr/>
          <p:nvPr/>
        </p:nvSpPr>
        <p:spPr>
          <a:xfrm>
            <a:off x="2752344" y="4142232"/>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Derive every input AND pick the machine: press/die tonnage by physics; routing &amp; cavitation cost-ranked.</a:t>
            </a:r>
            <a:endParaRPr lang="en-US" sz="820" dirty="0"/>
          </a:p>
        </p:txBody>
      </p:sp>
      <p:sp>
        <p:nvSpPr>
          <p:cNvPr id="64" name="Shape 59"/>
          <p:cNvSpPr/>
          <p:nvPr/>
        </p:nvSpPr>
        <p:spPr>
          <a:xfrm>
            <a:off x="2606040" y="4974336"/>
            <a:ext cx="1920240" cy="932688"/>
          </a:xfrm>
          <a:prstGeom prst="roundRect">
            <a:avLst>
              <a:gd name="adj" fmla="val 8824"/>
            </a:avLst>
          </a:prstGeom>
          <a:solidFill>
            <a:srgbClr val="EAF6EF"/>
          </a:solidFill>
          <a:ln w="17780">
            <a:solidFill>
              <a:srgbClr val="2E8B57"/>
            </a:solidFill>
            <a:prstDash val="solid"/>
          </a:ln>
        </p:spPr>
      </p:sp>
      <p:sp>
        <p:nvSpPr>
          <p:cNvPr id="65" name="Shape 60"/>
          <p:cNvSpPr/>
          <p:nvPr/>
        </p:nvSpPr>
        <p:spPr>
          <a:xfrm>
            <a:off x="2734056" y="5084064"/>
            <a:ext cx="310896" cy="310896"/>
          </a:xfrm>
          <a:prstGeom prst="ellipse">
            <a:avLst/>
          </a:prstGeom>
          <a:solidFill>
            <a:srgbClr val="2E8B57"/>
          </a:solidFill>
          <a:ln/>
        </p:spPr>
      </p:sp>
      <p:pic>
        <p:nvPicPr>
          <p:cNvPr id="66" name="Image 3" descr="preencoded.png">    </p:cNvPr>
          <p:cNvPicPr>
            <a:picLocks noChangeAspect="1"/>
          </p:cNvPicPr>
          <p:nvPr/>
        </p:nvPicPr>
        <p:blipFill>
          <a:blip r:embed="rId4"/>
          <a:stretch>
            <a:fillRect/>
          </a:stretch>
        </p:blipFill>
        <p:spPr>
          <a:xfrm>
            <a:off x="2807208" y="5157216"/>
            <a:ext cx="164592" cy="164592"/>
          </a:xfrm>
          <a:prstGeom prst="rect">
            <a:avLst/>
          </a:prstGeom>
        </p:spPr>
      </p:pic>
      <p:sp>
        <p:nvSpPr>
          <p:cNvPr id="67" name="Text 61"/>
          <p:cNvSpPr/>
          <p:nvPr/>
        </p:nvSpPr>
        <p:spPr>
          <a:xfrm>
            <a:off x="3118104" y="5074920"/>
            <a:ext cx="1280160" cy="274320"/>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The engineer</a:t>
            </a:r>
            <a:endParaRPr lang="en-US" sz="1000" dirty="0"/>
          </a:p>
        </p:txBody>
      </p:sp>
      <p:sp>
        <p:nvSpPr>
          <p:cNvPr id="68" name="Text 62"/>
          <p:cNvSpPr/>
          <p:nvPr/>
        </p:nvSpPr>
        <p:spPr>
          <a:xfrm>
            <a:off x="2752344" y="5404104"/>
            <a:ext cx="1627632" cy="38404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Answers only what geometry cannot know: material, duty, volume, region. Hard stop — no silent guess.</a:t>
            </a:r>
            <a:endParaRPr lang="en-US" sz="820" dirty="0"/>
          </a:p>
        </p:txBody>
      </p:sp>
      <p:sp>
        <p:nvSpPr>
          <p:cNvPr id="69" name="Shape 63"/>
          <p:cNvSpPr/>
          <p:nvPr/>
        </p:nvSpPr>
        <p:spPr>
          <a:xfrm>
            <a:off x="4892040" y="2450592"/>
            <a:ext cx="1965960" cy="1115568"/>
          </a:xfrm>
          <a:prstGeom prst="roundRect">
            <a:avLst>
              <a:gd name="adj" fmla="val 7377"/>
            </a:avLst>
          </a:prstGeom>
          <a:solidFill>
            <a:srgbClr val="FCF3E3"/>
          </a:solidFill>
          <a:ln w="17780">
            <a:solidFill>
              <a:srgbClr val="B7791F"/>
            </a:solidFill>
            <a:prstDash val="solid"/>
          </a:ln>
        </p:spPr>
      </p:sp>
      <p:sp>
        <p:nvSpPr>
          <p:cNvPr id="70" name="Shape 64"/>
          <p:cNvSpPr/>
          <p:nvPr/>
        </p:nvSpPr>
        <p:spPr>
          <a:xfrm>
            <a:off x="5020056" y="2560320"/>
            <a:ext cx="310896" cy="310896"/>
          </a:xfrm>
          <a:prstGeom prst="ellipse">
            <a:avLst/>
          </a:prstGeom>
          <a:solidFill>
            <a:srgbClr val="B7791F"/>
          </a:solidFill>
          <a:ln/>
        </p:spPr>
      </p:sp>
      <p:pic>
        <p:nvPicPr>
          <p:cNvPr id="71" name="Image 4" descr="preencoded.png">    </p:cNvPr>
          <p:cNvPicPr>
            <a:picLocks noChangeAspect="1"/>
          </p:cNvPicPr>
          <p:nvPr/>
        </p:nvPicPr>
        <p:blipFill>
          <a:blip r:embed="rId5"/>
          <a:stretch>
            <a:fillRect/>
          </a:stretch>
        </p:blipFill>
        <p:spPr>
          <a:xfrm>
            <a:off x="5093208" y="2633472"/>
            <a:ext cx="164592" cy="164592"/>
          </a:xfrm>
          <a:prstGeom prst="rect">
            <a:avLst/>
          </a:prstGeom>
        </p:spPr>
      </p:pic>
      <p:sp>
        <p:nvSpPr>
          <p:cNvPr id="72" name="Text 65"/>
          <p:cNvSpPr/>
          <p:nvPr/>
        </p:nvSpPr>
        <p:spPr>
          <a:xfrm>
            <a:off x="5404104" y="2551176"/>
            <a:ext cx="1325880" cy="274320"/>
          </a:xfrm>
          <a:prstGeom prst="rect">
            <a:avLst/>
          </a:prstGeom>
          <a:noFill/>
          <a:ln/>
        </p:spPr>
        <p:txBody>
          <a:bodyPr wrap="square" lIns="0" tIns="0" rIns="0" bIns="0" rtlCol="0" anchor="ctr"/>
          <a:lstStyle/>
          <a:p>
            <a:pPr indent="0" marL="0">
              <a:buNone/>
            </a:pPr>
            <a:r>
              <a:rPr lang="en-US" sz="1000" b="1" dirty="0">
                <a:solidFill>
                  <a:srgbClr val="B7791F"/>
                </a:solidFill>
                <a:latin typeface="Calibri" pitchFamily="34" charset="0"/>
                <a:ea typeface="Calibri" pitchFamily="34" charset="-122"/>
                <a:cs typeface="Calibri" pitchFamily="34" charset="-120"/>
              </a:rPr>
              <a:t>Guardrails</a:t>
            </a:r>
            <a:endParaRPr lang="en-US" sz="1000" dirty="0"/>
          </a:p>
        </p:txBody>
      </p:sp>
      <p:sp>
        <p:nvSpPr>
          <p:cNvPr id="73" name="Text 66"/>
          <p:cNvSpPr/>
          <p:nvPr/>
        </p:nvSpPr>
        <p:spPr>
          <a:xfrm>
            <a:off x="5038344" y="2880360"/>
            <a:ext cx="167335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Sanity checks + physics caps; a self-audit challenges every estimate (machine sizing flagged in £/part). Measurements beat the AI.</a:t>
            </a:r>
            <a:endParaRPr lang="en-US" sz="820" dirty="0"/>
          </a:p>
        </p:txBody>
      </p:sp>
      <p:sp>
        <p:nvSpPr>
          <p:cNvPr id="74" name="Shape 67"/>
          <p:cNvSpPr/>
          <p:nvPr/>
        </p:nvSpPr>
        <p:spPr>
          <a:xfrm>
            <a:off x="7772400" y="2450592"/>
            <a:ext cx="1920240" cy="1115568"/>
          </a:xfrm>
          <a:prstGeom prst="roundRect">
            <a:avLst>
              <a:gd name="adj" fmla="val 7377"/>
            </a:avLst>
          </a:prstGeom>
          <a:solidFill>
            <a:srgbClr val="E6F4F1"/>
          </a:solidFill>
          <a:ln w="17780">
            <a:solidFill>
              <a:srgbClr val="0E8074"/>
            </a:solidFill>
            <a:prstDash val="solid"/>
          </a:ln>
        </p:spPr>
      </p:sp>
      <p:sp>
        <p:nvSpPr>
          <p:cNvPr id="75" name="Shape 68"/>
          <p:cNvSpPr/>
          <p:nvPr/>
        </p:nvSpPr>
        <p:spPr>
          <a:xfrm>
            <a:off x="7900416" y="2560320"/>
            <a:ext cx="310896" cy="310896"/>
          </a:xfrm>
          <a:prstGeom prst="ellipse">
            <a:avLst/>
          </a:prstGeom>
          <a:solidFill>
            <a:srgbClr val="0E8074"/>
          </a:solidFill>
          <a:ln/>
        </p:spPr>
      </p:sp>
      <p:pic>
        <p:nvPicPr>
          <p:cNvPr id="76" name="Image 5" descr="preencoded.png">    </p:cNvPr>
          <p:cNvPicPr>
            <a:picLocks noChangeAspect="1"/>
          </p:cNvPicPr>
          <p:nvPr/>
        </p:nvPicPr>
        <p:blipFill>
          <a:blip r:embed="rId6"/>
          <a:stretch>
            <a:fillRect/>
          </a:stretch>
        </p:blipFill>
        <p:spPr>
          <a:xfrm>
            <a:off x="7973568" y="2633472"/>
            <a:ext cx="164592" cy="164592"/>
          </a:xfrm>
          <a:prstGeom prst="rect">
            <a:avLst/>
          </a:prstGeom>
        </p:spPr>
      </p:pic>
      <p:sp>
        <p:nvSpPr>
          <p:cNvPr id="77" name="Text 69"/>
          <p:cNvSpPr/>
          <p:nvPr/>
        </p:nvSpPr>
        <p:spPr>
          <a:xfrm>
            <a:off x="8284464" y="2551176"/>
            <a:ext cx="128016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Rate library</a:t>
            </a:r>
            <a:endParaRPr lang="en-US" sz="1000" dirty="0"/>
          </a:p>
        </p:txBody>
      </p:sp>
      <p:sp>
        <p:nvSpPr>
          <p:cNvPr id="78" name="Text 70"/>
          <p:cNvSpPr/>
          <p:nvPr/>
        </p:nvSpPr>
        <p:spPr>
          <a:xfrm>
            <a:off x="7918704" y="2880360"/>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Materials, machines, labour, 20 regions. The only source of money in the tool.</a:t>
            </a:r>
            <a:endParaRPr lang="en-US" sz="820" dirty="0"/>
          </a:p>
        </p:txBody>
      </p:sp>
      <p:sp>
        <p:nvSpPr>
          <p:cNvPr id="79" name="Shape 71"/>
          <p:cNvSpPr/>
          <p:nvPr/>
        </p:nvSpPr>
        <p:spPr>
          <a:xfrm>
            <a:off x="7772400" y="3712464"/>
            <a:ext cx="1920240" cy="1115568"/>
          </a:xfrm>
          <a:prstGeom prst="roundRect">
            <a:avLst>
              <a:gd name="adj" fmla="val 7377"/>
            </a:avLst>
          </a:prstGeom>
          <a:solidFill>
            <a:srgbClr val="E6F4F1"/>
          </a:solidFill>
          <a:ln w="17780">
            <a:solidFill>
              <a:srgbClr val="0E8074"/>
            </a:solidFill>
            <a:prstDash val="solid"/>
          </a:ln>
        </p:spPr>
      </p:sp>
      <p:sp>
        <p:nvSpPr>
          <p:cNvPr id="80" name="Shape 72"/>
          <p:cNvSpPr/>
          <p:nvPr/>
        </p:nvSpPr>
        <p:spPr>
          <a:xfrm>
            <a:off x="7900416" y="3822192"/>
            <a:ext cx="310896" cy="310896"/>
          </a:xfrm>
          <a:prstGeom prst="ellipse">
            <a:avLst/>
          </a:prstGeom>
          <a:solidFill>
            <a:srgbClr val="0E8074"/>
          </a:solidFill>
          <a:ln/>
        </p:spPr>
      </p:sp>
      <p:pic>
        <p:nvPicPr>
          <p:cNvPr id="81" name="Image 6" descr="preencoded.png">    </p:cNvPr>
          <p:cNvPicPr>
            <a:picLocks noChangeAspect="1"/>
          </p:cNvPicPr>
          <p:nvPr/>
        </p:nvPicPr>
        <p:blipFill>
          <a:blip r:embed="rId7"/>
          <a:stretch>
            <a:fillRect/>
          </a:stretch>
        </p:blipFill>
        <p:spPr>
          <a:xfrm>
            <a:off x="7973568" y="3895344"/>
            <a:ext cx="164592" cy="164592"/>
          </a:xfrm>
          <a:prstGeom prst="rect">
            <a:avLst/>
          </a:prstGeom>
        </p:spPr>
      </p:pic>
      <p:sp>
        <p:nvSpPr>
          <p:cNvPr id="82" name="Text 73"/>
          <p:cNvSpPr/>
          <p:nvPr/>
        </p:nvSpPr>
        <p:spPr>
          <a:xfrm>
            <a:off x="8284464" y="3813048"/>
            <a:ext cx="128016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Local database</a:t>
            </a:r>
            <a:endParaRPr lang="en-US" sz="1000" dirty="0"/>
          </a:p>
        </p:txBody>
      </p:sp>
      <p:sp>
        <p:nvSpPr>
          <p:cNvPr id="83" name="Text 74"/>
          <p:cNvSpPr/>
          <p:nvPr/>
        </p:nvSpPr>
        <p:spPr>
          <a:xfrm>
            <a:off x="7918704" y="4142232"/>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Parts, quotes, real actuals — the learning loop that calibrates the estimates.</a:t>
            </a:r>
            <a:endParaRPr lang="en-US" sz="820" dirty="0"/>
          </a:p>
        </p:txBody>
      </p:sp>
      <p:sp>
        <p:nvSpPr>
          <p:cNvPr id="84" name="Shape 75"/>
          <p:cNvSpPr/>
          <p:nvPr/>
        </p:nvSpPr>
        <p:spPr>
          <a:xfrm>
            <a:off x="7772400" y="4974336"/>
            <a:ext cx="1920240" cy="932688"/>
          </a:xfrm>
          <a:prstGeom prst="roundRect">
            <a:avLst>
              <a:gd name="adj" fmla="val 8824"/>
            </a:avLst>
          </a:prstGeom>
          <a:solidFill>
            <a:srgbClr val="EAF6EF"/>
          </a:solidFill>
          <a:ln w="17780">
            <a:solidFill>
              <a:srgbClr val="2E8B57"/>
            </a:solidFill>
            <a:prstDash val="solid"/>
          </a:ln>
        </p:spPr>
      </p:sp>
      <p:sp>
        <p:nvSpPr>
          <p:cNvPr id="85" name="Text 76"/>
          <p:cNvSpPr/>
          <p:nvPr/>
        </p:nvSpPr>
        <p:spPr>
          <a:xfrm>
            <a:off x="7918704" y="5074920"/>
            <a:ext cx="1627632" cy="274320"/>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Uncertainty</a:t>
            </a:r>
            <a:endParaRPr lang="en-US" sz="1000" dirty="0"/>
          </a:p>
        </p:txBody>
      </p:sp>
      <p:sp>
        <p:nvSpPr>
          <p:cNvPr id="86" name="Text 77"/>
          <p:cNvSpPr/>
          <p:nvPr/>
        </p:nvSpPr>
        <p:spPr>
          <a:xfrm>
            <a:off x="7918704" y="5404104"/>
            <a:ext cx="1627632" cy="38404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Monte-Carlo band (P10–P90), conformal-calibrated from actuals.</a:t>
            </a:r>
            <a:endParaRPr lang="en-US" sz="820" dirty="0"/>
          </a:p>
        </p:txBody>
      </p:sp>
      <p:sp>
        <p:nvSpPr>
          <p:cNvPr id="87" name="Shape 78"/>
          <p:cNvSpPr/>
          <p:nvPr/>
        </p:nvSpPr>
        <p:spPr>
          <a:xfrm>
            <a:off x="4892040" y="3712464"/>
            <a:ext cx="1965960" cy="1444752"/>
          </a:xfrm>
          <a:prstGeom prst="roundRect">
            <a:avLst>
              <a:gd name="adj" fmla="val 6329"/>
            </a:avLst>
          </a:prstGeom>
          <a:solidFill>
            <a:srgbClr val="0E5A5A"/>
          </a:solidFill>
          <a:ln/>
        </p:spPr>
      </p:sp>
      <p:sp>
        <p:nvSpPr>
          <p:cNvPr id="88" name="Shape 79"/>
          <p:cNvSpPr/>
          <p:nvPr/>
        </p:nvSpPr>
        <p:spPr>
          <a:xfrm>
            <a:off x="5632704" y="3840480"/>
            <a:ext cx="457200" cy="457200"/>
          </a:xfrm>
          <a:prstGeom prst="ellipse">
            <a:avLst/>
          </a:prstGeom>
          <a:solidFill>
            <a:srgbClr val="17A398"/>
          </a:solidFill>
          <a:ln/>
        </p:spPr>
      </p:sp>
      <p:pic>
        <p:nvPicPr>
          <p:cNvPr id="89" name="Image 7" descr="preencoded.png">    </p:cNvPr>
          <p:cNvPicPr>
            <a:picLocks noChangeAspect="1"/>
          </p:cNvPicPr>
          <p:nvPr/>
        </p:nvPicPr>
        <p:blipFill>
          <a:blip r:embed="rId8"/>
          <a:stretch>
            <a:fillRect/>
          </a:stretch>
        </p:blipFill>
        <p:spPr>
          <a:xfrm>
            <a:off x="5751576" y="3959352"/>
            <a:ext cx="219456" cy="219456"/>
          </a:xfrm>
          <a:prstGeom prst="rect">
            <a:avLst/>
          </a:prstGeom>
        </p:spPr>
      </p:pic>
      <p:sp>
        <p:nvSpPr>
          <p:cNvPr id="90" name="Text 80"/>
          <p:cNvSpPr/>
          <p:nvPr/>
        </p:nvSpPr>
        <p:spPr>
          <a:xfrm>
            <a:off x="4983480" y="4352544"/>
            <a:ext cx="178308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COST ENGINE</a:t>
            </a:r>
            <a:endParaRPr lang="en-US" sz="1200" dirty="0"/>
          </a:p>
        </p:txBody>
      </p:sp>
      <p:sp>
        <p:nvSpPr>
          <p:cNvPr id="91" name="Text 81"/>
          <p:cNvSpPr/>
          <p:nvPr/>
        </p:nvSpPr>
        <p:spPr>
          <a:xfrm>
            <a:off x="4983480" y="4645152"/>
            <a:ext cx="1783080" cy="402336"/>
          </a:xfrm>
          <a:prstGeom prst="rect">
            <a:avLst/>
          </a:prstGeom>
          <a:noFill/>
          <a:ln/>
        </p:spPr>
        <p:txBody>
          <a:bodyPr wrap="square" lIns="0" tIns="0" rIns="0" bIns="0" rtlCol="0" anchor="t"/>
          <a:lstStyle/>
          <a:p>
            <a:pPr algn="ctr" indent="0" marL="0">
              <a:buNone/>
            </a:pPr>
            <a:r>
              <a:rPr lang="en-US" sz="820" dirty="0">
                <a:solidFill>
                  <a:srgbClr val="9FD9CF"/>
                </a:solidFill>
                <a:latin typeface="Calibri" pitchFamily="34" charset="0"/>
                <a:ea typeface="Calibri" pitchFamily="34" charset="-122"/>
                <a:cs typeface="Calibri" pitchFamily="34" charset="-120"/>
              </a:rPr>
              <a:t>Fixed arithmetic. 8 buckets.</a:t>
            </a:r>
            <a:endParaRPr lang="en-US" sz="820" dirty="0"/>
          </a:p>
          <a:p>
            <a:pPr algn="ctr" indent="0" marL="0">
              <a:buNone/>
            </a:pPr>
            <a:r>
              <a:rPr lang="en-US" sz="820" dirty="0">
                <a:solidFill>
                  <a:srgbClr val="9FD9CF"/>
                </a:solidFill>
                <a:latin typeface="Calibri" pitchFamily="34" charset="0"/>
                <a:ea typeface="Calibri" pitchFamily="34" charset="-122"/>
                <a:cs typeface="Calibri" pitchFamily="34" charset="-120"/>
              </a:rPr>
              <a:t>No AI, no judgement.</a:t>
            </a:r>
            <a:endParaRPr lang="en-US" sz="820" dirty="0"/>
          </a:p>
        </p:txBody>
      </p:sp>
      <p:sp>
        <p:nvSpPr>
          <p:cNvPr id="92" name="Shape 82"/>
          <p:cNvSpPr/>
          <p:nvPr/>
        </p:nvSpPr>
        <p:spPr>
          <a:xfrm>
            <a:off x="3904488" y="2368296"/>
            <a:ext cx="548640" cy="155448"/>
          </a:xfrm>
          <a:prstGeom prst="roundRect">
            <a:avLst>
              <a:gd name="adj" fmla="val 50000"/>
            </a:avLst>
          </a:prstGeom>
          <a:solidFill>
            <a:srgbClr val="1D6FB8"/>
          </a:solidFill>
          <a:ln/>
        </p:spPr>
      </p:sp>
      <p:sp>
        <p:nvSpPr>
          <p:cNvPr id="93" name="Text 83"/>
          <p:cNvSpPr/>
          <p:nvPr/>
        </p:nvSpPr>
        <p:spPr>
          <a:xfrm>
            <a:off x="3904488"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94" name="Shape 84"/>
          <p:cNvSpPr/>
          <p:nvPr/>
        </p:nvSpPr>
        <p:spPr>
          <a:xfrm>
            <a:off x="3904488" y="3630168"/>
            <a:ext cx="548640" cy="155448"/>
          </a:xfrm>
          <a:prstGeom prst="roundRect">
            <a:avLst>
              <a:gd name="adj" fmla="val 50000"/>
            </a:avLst>
          </a:prstGeom>
          <a:solidFill>
            <a:srgbClr val="4F46E5"/>
          </a:solidFill>
          <a:ln/>
        </p:spPr>
      </p:sp>
      <p:sp>
        <p:nvSpPr>
          <p:cNvPr id="95" name="Text 85"/>
          <p:cNvSpPr/>
          <p:nvPr/>
        </p:nvSpPr>
        <p:spPr>
          <a:xfrm>
            <a:off x="3904488" y="3630168"/>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96" name="Shape 86"/>
          <p:cNvSpPr/>
          <p:nvPr/>
        </p:nvSpPr>
        <p:spPr>
          <a:xfrm>
            <a:off x="6236208" y="2368296"/>
            <a:ext cx="548640" cy="155448"/>
          </a:xfrm>
          <a:prstGeom prst="roundRect">
            <a:avLst>
              <a:gd name="adj" fmla="val 50000"/>
            </a:avLst>
          </a:prstGeom>
          <a:solidFill>
            <a:srgbClr val="B7791F"/>
          </a:solidFill>
          <a:ln/>
        </p:spPr>
      </p:sp>
      <p:sp>
        <p:nvSpPr>
          <p:cNvPr id="97" name="Text 87"/>
          <p:cNvSpPr/>
          <p:nvPr/>
        </p:nvSpPr>
        <p:spPr>
          <a:xfrm>
            <a:off x="6236208"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98" name="Shape 88"/>
          <p:cNvSpPr/>
          <p:nvPr/>
        </p:nvSpPr>
        <p:spPr>
          <a:xfrm>
            <a:off x="9070848" y="2368296"/>
            <a:ext cx="548640" cy="155448"/>
          </a:xfrm>
          <a:prstGeom prst="roundRect">
            <a:avLst>
              <a:gd name="adj" fmla="val 50000"/>
            </a:avLst>
          </a:prstGeom>
          <a:solidFill>
            <a:srgbClr val="0E8074"/>
          </a:solidFill>
          <a:ln/>
        </p:spPr>
      </p:sp>
      <p:sp>
        <p:nvSpPr>
          <p:cNvPr id="99" name="Text 89"/>
          <p:cNvSpPr/>
          <p:nvPr/>
        </p:nvSpPr>
        <p:spPr>
          <a:xfrm>
            <a:off x="9070848"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100" name="Shape 90"/>
          <p:cNvSpPr/>
          <p:nvPr/>
        </p:nvSpPr>
        <p:spPr>
          <a:xfrm>
            <a:off x="9070848" y="3630168"/>
            <a:ext cx="548640" cy="155448"/>
          </a:xfrm>
          <a:prstGeom prst="roundRect">
            <a:avLst>
              <a:gd name="adj" fmla="val 50000"/>
            </a:avLst>
          </a:prstGeom>
          <a:solidFill>
            <a:srgbClr val="0E8074"/>
          </a:solidFill>
          <a:ln/>
        </p:spPr>
      </p:sp>
      <p:sp>
        <p:nvSpPr>
          <p:cNvPr id="101" name="Text 91"/>
          <p:cNvSpPr/>
          <p:nvPr/>
        </p:nvSpPr>
        <p:spPr>
          <a:xfrm>
            <a:off x="9070848" y="3630168"/>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102" name="Shape 92"/>
          <p:cNvSpPr/>
          <p:nvPr/>
        </p:nvSpPr>
        <p:spPr>
          <a:xfrm>
            <a:off x="9070848" y="4892040"/>
            <a:ext cx="548640" cy="155448"/>
          </a:xfrm>
          <a:prstGeom prst="roundRect">
            <a:avLst>
              <a:gd name="adj" fmla="val 50000"/>
            </a:avLst>
          </a:prstGeom>
          <a:solidFill>
            <a:srgbClr val="2E8B57"/>
          </a:solidFill>
          <a:ln/>
        </p:spPr>
      </p:sp>
      <p:sp>
        <p:nvSpPr>
          <p:cNvPr id="103" name="Text 93"/>
          <p:cNvSpPr/>
          <p:nvPr/>
        </p:nvSpPr>
        <p:spPr>
          <a:xfrm>
            <a:off x="9070848" y="4892040"/>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104" name="Shape 94"/>
          <p:cNvSpPr/>
          <p:nvPr/>
        </p:nvSpPr>
        <p:spPr>
          <a:xfrm>
            <a:off x="6236208" y="3630168"/>
            <a:ext cx="548640" cy="155448"/>
          </a:xfrm>
          <a:prstGeom prst="roundRect">
            <a:avLst>
              <a:gd name="adj" fmla="val 50000"/>
            </a:avLst>
          </a:prstGeom>
          <a:solidFill>
            <a:srgbClr val="0E8074"/>
          </a:solidFill>
          <a:ln/>
        </p:spPr>
      </p:sp>
      <p:sp>
        <p:nvSpPr>
          <p:cNvPr id="105" name="Text 95"/>
          <p:cNvSpPr/>
          <p:nvPr/>
        </p:nvSpPr>
        <p:spPr>
          <a:xfrm>
            <a:off x="6236208" y="3630168"/>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106" name="Shape 96"/>
          <p:cNvSpPr/>
          <p:nvPr/>
        </p:nvSpPr>
        <p:spPr>
          <a:xfrm>
            <a:off x="3904488" y="4892040"/>
            <a:ext cx="548640" cy="155448"/>
          </a:xfrm>
          <a:prstGeom prst="roundRect">
            <a:avLst>
              <a:gd name="adj" fmla="val 50000"/>
            </a:avLst>
          </a:prstGeom>
          <a:solidFill>
            <a:srgbClr val="2E8B57"/>
          </a:solidFill>
          <a:ln/>
        </p:spPr>
      </p:sp>
      <p:sp>
        <p:nvSpPr>
          <p:cNvPr id="107" name="Text 97"/>
          <p:cNvSpPr/>
          <p:nvPr/>
        </p:nvSpPr>
        <p:spPr>
          <a:xfrm>
            <a:off x="3904488" y="4892040"/>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HUMAN</a:t>
            </a:r>
            <a:endParaRPr lang="en-US" sz="620" dirty="0"/>
          </a:p>
        </p:txBody>
      </p:sp>
      <p:sp>
        <p:nvSpPr>
          <p:cNvPr id="108" name="Shape 98"/>
          <p:cNvSpPr/>
          <p:nvPr/>
        </p:nvSpPr>
        <p:spPr>
          <a:xfrm>
            <a:off x="2423160" y="3008376"/>
            <a:ext cx="182880" cy="0"/>
          </a:xfrm>
          <a:prstGeom prst="line">
            <a:avLst/>
          </a:prstGeom>
          <a:noFill/>
          <a:ln w="22225">
            <a:solidFill>
              <a:srgbClr val="1D6FB8"/>
            </a:solidFill>
            <a:prstDash val="solid"/>
            <a:tailEnd type="triangle"/>
          </a:ln>
        </p:spPr>
      </p:sp>
      <p:sp>
        <p:nvSpPr>
          <p:cNvPr id="109" name="Shape 99"/>
          <p:cNvSpPr/>
          <p:nvPr/>
        </p:nvSpPr>
        <p:spPr>
          <a:xfrm>
            <a:off x="2423160" y="5385816"/>
            <a:ext cx="182880" cy="0"/>
          </a:xfrm>
          <a:prstGeom prst="line">
            <a:avLst/>
          </a:prstGeom>
          <a:noFill/>
          <a:ln w="22225">
            <a:solidFill>
              <a:srgbClr val="1D6FB8"/>
            </a:solidFill>
            <a:prstDash val="solid"/>
            <a:tailEnd type="triangle"/>
          </a:ln>
        </p:spPr>
      </p:sp>
      <p:sp>
        <p:nvSpPr>
          <p:cNvPr id="110" name="Shape 100"/>
          <p:cNvSpPr/>
          <p:nvPr/>
        </p:nvSpPr>
        <p:spPr>
          <a:xfrm>
            <a:off x="3566160" y="3566160"/>
            <a:ext cx="0" cy="146304"/>
          </a:xfrm>
          <a:prstGeom prst="line">
            <a:avLst/>
          </a:prstGeom>
          <a:noFill/>
          <a:ln w="22225">
            <a:solidFill>
              <a:srgbClr val="1D6FB8"/>
            </a:solidFill>
            <a:prstDash val="solid"/>
            <a:tailEnd type="triangle"/>
          </a:ln>
        </p:spPr>
      </p:sp>
      <p:sp>
        <p:nvSpPr>
          <p:cNvPr id="111" name="Shape 101"/>
          <p:cNvSpPr/>
          <p:nvPr/>
        </p:nvSpPr>
        <p:spPr>
          <a:xfrm flipV="1">
            <a:off x="3566160" y="4828032"/>
            <a:ext cx="0" cy="146304"/>
          </a:xfrm>
          <a:prstGeom prst="line">
            <a:avLst/>
          </a:prstGeom>
          <a:noFill/>
          <a:ln w="22225">
            <a:solidFill>
              <a:srgbClr val="2E8B57"/>
            </a:solidFill>
            <a:prstDash val="solid"/>
            <a:tailEnd type="triangle"/>
          </a:ln>
        </p:spPr>
      </p:sp>
      <p:sp>
        <p:nvSpPr>
          <p:cNvPr id="112" name="Shape 102"/>
          <p:cNvSpPr/>
          <p:nvPr/>
        </p:nvSpPr>
        <p:spPr>
          <a:xfrm flipH="1">
            <a:off x="4526280" y="3008376"/>
            <a:ext cx="365760" cy="283464"/>
          </a:xfrm>
          <a:prstGeom prst="line">
            <a:avLst/>
          </a:prstGeom>
          <a:noFill/>
          <a:ln w="17780">
            <a:solidFill>
              <a:srgbClr val="B7791F"/>
            </a:solidFill>
            <a:prstDash val="solid"/>
            <a:tailEnd type="triangle"/>
          </a:ln>
        </p:spPr>
      </p:sp>
      <p:sp>
        <p:nvSpPr>
          <p:cNvPr id="113" name="Shape 103"/>
          <p:cNvSpPr/>
          <p:nvPr/>
        </p:nvSpPr>
        <p:spPr>
          <a:xfrm>
            <a:off x="4526280" y="4270248"/>
            <a:ext cx="365760" cy="0"/>
          </a:xfrm>
          <a:prstGeom prst="line">
            <a:avLst/>
          </a:prstGeom>
          <a:noFill/>
          <a:ln w="22225">
            <a:solidFill>
              <a:srgbClr val="4F46E5"/>
            </a:solidFill>
            <a:prstDash val="solid"/>
            <a:tailEnd type="triangle"/>
          </a:ln>
        </p:spPr>
      </p:sp>
      <p:sp>
        <p:nvSpPr>
          <p:cNvPr id="114" name="Shape 104"/>
          <p:cNvSpPr/>
          <p:nvPr/>
        </p:nvSpPr>
        <p:spPr>
          <a:xfrm flipH="1">
            <a:off x="7223760" y="3008376"/>
            <a:ext cx="548640" cy="0"/>
          </a:xfrm>
          <a:prstGeom prst="line">
            <a:avLst/>
          </a:prstGeom>
          <a:noFill/>
          <a:ln w="22225">
            <a:solidFill>
              <a:srgbClr val="0E8074"/>
            </a:solidFill>
            <a:prstDash val="solid"/>
            <a:tailEnd type="triangle"/>
          </a:ln>
        </p:spPr>
      </p:sp>
      <p:sp>
        <p:nvSpPr>
          <p:cNvPr id="115" name="Shape 105"/>
          <p:cNvSpPr/>
          <p:nvPr/>
        </p:nvSpPr>
        <p:spPr>
          <a:xfrm flipH="1">
            <a:off x="6858000" y="3008376"/>
            <a:ext cx="365760" cy="923544"/>
          </a:xfrm>
          <a:prstGeom prst="line">
            <a:avLst/>
          </a:prstGeom>
          <a:noFill/>
          <a:ln w="22225">
            <a:solidFill>
              <a:srgbClr val="0E8074"/>
            </a:solidFill>
            <a:prstDash val="solid"/>
            <a:tailEnd type="triangle"/>
          </a:ln>
        </p:spPr>
      </p:sp>
      <p:sp>
        <p:nvSpPr>
          <p:cNvPr id="116" name="Shape 106"/>
          <p:cNvSpPr/>
          <p:nvPr/>
        </p:nvSpPr>
        <p:spPr>
          <a:xfrm flipH="1">
            <a:off x="6858000" y="4270248"/>
            <a:ext cx="914400" cy="0"/>
          </a:xfrm>
          <a:prstGeom prst="line">
            <a:avLst/>
          </a:prstGeom>
          <a:noFill/>
          <a:ln w="22225">
            <a:solidFill>
              <a:srgbClr val="0E8074"/>
            </a:solidFill>
            <a:prstDash val="solid"/>
            <a:tailEnd type="triangle"/>
          </a:ln>
        </p:spPr>
      </p:sp>
      <p:sp>
        <p:nvSpPr>
          <p:cNvPr id="117" name="Shape 107"/>
          <p:cNvSpPr/>
          <p:nvPr/>
        </p:nvSpPr>
        <p:spPr>
          <a:xfrm>
            <a:off x="6858000" y="4846320"/>
            <a:ext cx="914400" cy="502920"/>
          </a:xfrm>
          <a:prstGeom prst="line">
            <a:avLst/>
          </a:prstGeom>
          <a:noFill/>
          <a:ln w="22225">
            <a:solidFill>
              <a:srgbClr val="2E8B57"/>
            </a:solidFill>
            <a:prstDash val="solid"/>
            <a:tailEnd type="triangle"/>
          </a:ln>
        </p:spPr>
      </p:sp>
      <p:sp>
        <p:nvSpPr>
          <p:cNvPr id="118" name="Shape 108"/>
          <p:cNvSpPr/>
          <p:nvPr/>
        </p:nvSpPr>
        <p:spPr>
          <a:xfrm>
            <a:off x="9692640" y="5440680"/>
            <a:ext cx="411480" cy="0"/>
          </a:xfrm>
          <a:prstGeom prst="line">
            <a:avLst/>
          </a:prstGeom>
          <a:noFill/>
          <a:ln w="22225">
            <a:solidFill>
              <a:srgbClr val="2E8B57"/>
            </a:solidFill>
            <a:prstDash val="solid"/>
            <a:tailEnd type="triangle"/>
          </a:ln>
        </p:spPr>
      </p:sp>
      <p:sp>
        <p:nvSpPr>
          <p:cNvPr id="119" name="Shape 109"/>
          <p:cNvSpPr/>
          <p:nvPr/>
        </p:nvSpPr>
        <p:spPr>
          <a:xfrm flipH="1">
            <a:off x="9692640" y="4498848"/>
            <a:ext cx="411480" cy="0"/>
          </a:xfrm>
          <a:prstGeom prst="line">
            <a:avLst/>
          </a:prstGeom>
          <a:noFill/>
          <a:ln w="17780">
            <a:solidFill>
              <a:srgbClr val="2E8B57"/>
            </a:solidFill>
            <a:prstDash val="dash"/>
            <a:tailEnd type="triangle"/>
          </a:ln>
        </p:spPr>
      </p:sp>
      <p:sp>
        <p:nvSpPr>
          <p:cNvPr id="120" name="Text 110"/>
          <p:cNvSpPr/>
          <p:nvPr/>
        </p:nvSpPr>
        <p:spPr>
          <a:xfrm>
            <a:off x="9656064" y="4114800"/>
            <a:ext cx="502920" cy="347472"/>
          </a:xfrm>
          <a:prstGeom prst="rect">
            <a:avLst/>
          </a:prstGeom>
          <a:noFill/>
          <a:ln/>
        </p:spPr>
        <p:txBody>
          <a:bodyPr wrap="square" lIns="0" tIns="0" rIns="0" bIns="0" rtlCol="0" anchor="t"/>
          <a:lstStyle/>
          <a:p>
            <a:pPr algn="ctr" indent="0" marL="0">
              <a:buNone/>
            </a:pPr>
            <a:r>
              <a:rPr lang="en-US" sz="600" i="1" dirty="0">
                <a:solidFill>
                  <a:srgbClr val="2E8B57"/>
                </a:solidFill>
                <a:latin typeface="Calibri" pitchFamily="34" charset="0"/>
                <a:ea typeface="Calibri" pitchFamily="34" charset="-122"/>
                <a:cs typeface="Calibri" pitchFamily="34" charset="-120"/>
              </a:rPr>
              <a:t>actuals</a:t>
            </a:r>
            <a:endParaRPr lang="en-US" sz="600" dirty="0"/>
          </a:p>
          <a:p>
            <a:pPr algn="ctr" indent="0" marL="0">
              <a:buNone/>
            </a:pPr>
            <a:r>
              <a:rPr lang="en-US" sz="600" i="1" dirty="0">
                <a:solidFill>
                  <a:srgbClr val="2E8B57"/>
                </a:solidFill>
                <a:latin typeface="Calibri" pitchFamily="34" charset="0"/>
                <a:ea typeface="Calibri" pitchFamily="34" charset="-122"/>
                <a:cs typeface="Calibri" pitchFamily="34" charset="-120"/>
              </a:rPr>
              <a:t>feed back</a:t>
            </a:r>
            <a:endParaRPr lang="en-US" sz="600" dirty="0"/>
          </a:p>
        </p:txBody>
      </p:sp>
      <p:sp>
        <p:nvSpPr>
          <p:cNvPr id="121" name="Shape 111"/>
          <p:cNvSpPr/>
          <p:nvPr/>
        </p:nvSpPr>
        <p:spPr>
          <a:xfrm>
            <a:off x="9692640" y="3008376"/>
            <a:ext cx="411480" cy="0"/>
          </a:xfrm>
          <a:prstGeom prst="line">
            <a:avLst/>
          </a:prstGeom>
          <a:noFill/>
          <a:ln w="22225">
            <a:solidFill>
              <a:srgbClr val="2E8B57"/>
            </a:solidFill>
            <a:prstDash val="solid"/>
            <a:tailEnd type="triangle"/>
          </a:ln>
        </p:spPr>
      </p:sp>
      <p:sp>
        <p:nvSpPr>
          <p:cNvPr id="122" name="Shape 112"/>
          <p:cNvSpPr/>
          <p:nvPr/>
        </p:nvSpPr>
        <p:spPr>
          <a:xfrm>
            <a:off x="411480" y="6126480"/>
            <a:ext cx="11338560" cy="384048"/>
          </a:xfrm>
          <a:prstGeom prst="roundRect">
            <a:avLst>
              <a:gd name="adj" fmla="val 19048"/>
            </a:avLst>
          </a:prstGeom>
          <a:solidFill>
            <a:srgbClr val="EAF6EF"/>
          </a:solidFill>
          <a:ln w="12700">
            <a:solidFill>
              <a:srgbClr val="2E8B57"/>
            </a:solidFill>
            <a:prstDash val="solid"/>
          </a:ln>
        </p:spPr>
      </p:sp>
      <p:sp>
        <p:nvSpPr>
          <p:cNvPr id="123" name="Text 113"/>
          <p:cNvSpPr/>
          <p:nvPr/>
        </p:nvSpPr>
        <p:spPr>
          <a:xfrm>
            <a:off x="594360" y="6126480"/>
            <a:ext cx="10972800" cy="384048"/>
          </a:xfrm>
          <a:prstGeom prst="rect">
            <a:avLst/>
          </a:prstGeom>
          <a:noFill/>
          <a:ln/>
        </p:spPr>
        <p:txBody>
          <a:bodyPr wrap="square" lIns="0" tIns="0" rIns="0" bIns="0" rtlCol="0" anchor="ctr"/>
          <a:lstStyle/>
          <a:p>
            <a:pPr indent="0" marL="0">
              <a:buNone/>
            </a:pPr>
            <a:r>
              <a:rPr lang="en-US" sz="1050" b="1" dirty="0">
                <a:solidFill>
                  <a:srgbClr val="2E8B57"/>
                </a:solidFill>
                <a:latin typeface="Calibri" pitchFamily="34" charset="0"/>
                <a:ea typeface="Calibri" pitchFamily="34" charset="-122"/>
                <a:cs typeface="Calibri" pitchFamily="34" charset="-120"/>
              </a:rPr>
              <a:t>Read it in one line:  </a:t>
            </a:r>
            <a:pPr indent="0" marL="0">
              <a:buNone/>
            </a:pPr>
            <a:r>
              <a:rPr lang="en-US" sz="1050" dirty="0">
                <a:solidFill>
                  <a:srgbClr val="3A4356"/>
                </a:solidFill>
                <a:latin typeface="Calibri" pitchFamily="34" charset="0"/>
                <a:ea typeface="Calibri" pitchFamily="34" charset="-122"/>
                <a:cs typeface="Calibri" pitchFamily="34" charset="-120"/>
              </a:rPr>
              <a:t>everything badged AUTO is unattended — measure, derive, pick the machine, check, calculate, write the DFM/DFA and saving ideas. The engineer answers and approves; the AI is an optional second opinion that can reach none of the money.</a:t>
            </a:r>
            <a:endParaRPr lang="en-US" sz="1050" dirty="0"/>
          </a:p>
        </p:txBody>
      </p:sp>
      <p:sp>
        <p:nvSpPr>
          <p:cNvPr id="124" name="Text 11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125" name="Text 11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 — Minutes, Not Hours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same should-cost, by commodity: CostVision measured against the CAPEE-by-hand baseline</a:t>
            </a:r>
            <a:endParaRPr lang="en-US" sz="1200" dirty="0"/>
          </a:p>
        </p:txBody>
      </p:sp>
      <p:sp>
        <p:nvSpPr>
          <p:cNvPr id="5" name="Text 3"/>
          <p:cNvSpPr/>
          <p:nvPr/>
        </p:nvSpPr>
        <p:spPr>
          <a:xfrm>
            <a:off x="457200" y="1060704"/>
            <a:ext cx="5394960" cy="201168"/>
          </a:xfrm>
          <a:prstGeom prst="rect">
            <a:avLst/>
          </a:prstGeom>
          <a:noFill/>
          <a:ln/>
        </p:spPr>
        <p:txBody>
          <a:bodyPr wrap="square" lIns="0" tIns="0" rIns="0" bIns="0" rtlCol="0" anchor="ctr"/>
          <a:lstStyle/>
          <a:p>
            <a:pPr indent="0" marL="0">
              <a:buNone/>
            </a:pPr>
            <a:r>
              <a:rPr lang="en-US" sz="850" b="1" spc="60" kern="0" dirty="0">
                <a:solidFill>
                  <a:srgbClr val="0E8074"/>
                </a:solidFill>
                <a:latin typeface="Calibri" pitchFamily="34" charset="0"/>
                <a:ea typeface="Calibri" pitchFamily="34" charset="-122"/>
                <a:cs typeface="Calibri" pitchFamily="34" charset="-120"/>
              </a:rPr>
              <a:t>WHAT THE COSTVISION MINUTES CONTAIN</a:t>
            </a:r>
            <a:endParaRPr lang="en-US" sz="850" dirty="0"/>
          </a:p>
        </p:txBody>
      </p:sp>
      <p:sp>
        <p:nvSpPr>
          <p:cNvPr id="6" name="Shape 4"/>
          <p:cNvSpPr/>
          <p:nvPr/>
        </p:nvSpPr>
        <p:spPr>
          <a:xfrm>
            <a:off x="457200" y="1298448"/>
            <a:ext cx="1280160" cy="1060704"/>
          </a:xfrm>
          <a:prstGeom prst="roundRect">
            <a:avLst>
              <a:gd name="adj" fmla="val 6897"/>
            </a:avLst>
          </a:prstGeom>
          <a:solidFill>
            <a:srgbClr val="FFFFFF"/>
          </a:solidFill>
          <a:ln w="12700">
            <a:solidFill>
              <a:srgbClr val="DCE3EE"/>
            </a:solidFill>
            <a:prstDash val="solid"/>
          </a:ln>
        </p:spPr>
      </p:sp>
      <p:sp>
        <p:nvSpPr>
          <p:cNvPr id="7" name="Shape 5"/>
          <p:cNvSpPr/>
          <p:nvPr/>
        </p:nvSpPr>
        <p:spPr>
          <a:xfrm>
            <a:off x="923544" y="1389888"/>
            <a:ext cx="347472" cy="347472"/>
          </a:xfrm>
          <a:prstGeom prst="ellipse">
            <a:avLst/>
          </a:prstGeom>
          <a:solidFill>
            <a:srgbClr val="0E8074"/>
          </a:solidFill>
          <a:ln/>
        </p:spPr>
      </p:sp>
      <p:pic>
        <p:nvPicPr>
          <p:cNvPr id="8" name="Image 0" descr="preencoded.png">    </p:cNvPr>
          <p:cNvPicPr>
            <a:picLocks noChangeAspect="1"/>
          </p:cNvPicPr>
          <p:nvPr/>
        </p:nvPicPr>
        <p:blipFill>
          <a:blip r:embed="rId1"/>
          <a:stretch>
            <a:fillRect/>
          </a:stretch>
        </p:blipFill>
        <p:spPr>
          <a:xfrm>
            <a:off x="1014984" y="1481328"/>
            <a:ext cx="164592" cy="164592"/>
          </a:xfrm>
          <a:prstGeom prst="rect">
            <a:avLst/>
          </a:prstGeom>
        </p:spPr>
      </p:pic>
      <p:sp>
        <p:nvSpPr>
          <p:cNvPr id="9" name="Text 6"/>
          <p:cNvSpPr/>
          <p:nvPr/>
        </p:nvSpPr>
        <p:spPr>
          <a:xfrm>
            <a:off x="502920"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Upload CAD</a:t>
            </a:r>
            <a:endParaRPr lang="en-US" sz="830" dirty="0"/>
          </a:p>
        </p:txBody>
      </p:sp>
      <p:sp>
        <p:nvSpPr>
          <p:cNvPr id="10" name="Text 7"/>
          <p:cNvSpPr/>
          <p:nvPr/>
        </p:nvSpPr>
        <p:spPr>
          <a:xfrm>
            <a:off x="502920"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~1 min</a:t>
            </a:r>
            <a:endParaRPr lang="en-US" sz="760" dirty="0"/>
          </a:p>
        </p:txBody>
      </p:sp>
      <p:pic>
        <p:nvPicPr>
          <p:cNvPr id="11" name="Image 1" descr="preencoded.png">    </p:cNvPr>
          <p:cNvPicPr>
            <a:picLocks noChangeAspect="1"/>
          </p:cNvPicPr>
          <p:nvPr/>
        </p:nvPicPr>
        <p:blipFill>
          <a:blip r:embed="rId2"/>
          <a:stretch>
            <a:fillRect/>
          </a:stretch>
        </p:blipFill>
        <p:spPr>
          <a:xfrm>
            <a:off x="1746504" y="1755648"/>
            <a:ext cx="109728" cy="109728"/>
          </a:xfrm>
          <a:prstGeom prst="rect">
            <a:avLst/>
          </a:prstGeom>
        </p:spPr>
      </p:pic>
      <p:sp>
        <p:nvSpPr>
          <p:cNvPr id="12" name="Shape 8"/>
          <p:cNvSpPr/>
          <p:nvPr/>
        </p:nvSpPr>
        <p:spPr>
          <a:xfrm>
            <a:off x="1847088" y="1298448"/>
            <a:ext cx="1280160" cy="1060704"/>
          </a:xfrm>
          <a:prstGeom prst="roundRect">
            <a:avLst>
              <a:gd name="adj" fmla="val 6897"/>
            </a:avLst>
          </a:prstGeom>
          <a:solidFill>
            <a:srgbClr val="FFFFFF"/>
          </a:solidFill>
          <a:ln w="12700">
            <a:solidFill>
              <a:srgbClr val="DCE3EE"/>
            </a:solidFill>
            <a:prstDash val="solid"/>
          </a:ln>
        </p:spPr>
      </p:sp>
      <p:sp>
        <p:nvSpPr>
          <p:cNvPr id="13" name="Shape 9"/>
          <p:cNvSpPr/>
          <p:nvPr/>
        </p:nvSpPr>
        <p:spPr>
          <a:xfrm>
            <a:off x="2313432" y="1389888"/>
            <a:ext cx="347472" cy="347472"/>
          </a:xfrm>
          <a:prstGeom prst="ellipse">
            <a:avLst/>
          </a:prstGeom>
          <a:solidFill>
            <a:srgbClr val="0E8074"/>
          </a:solidFill>
          <a:ln/>
        </p:spPr>
      </p:sp>
      <p:pic>
        <p:nvPicPr>
          <p:cNvPr id="14" name="Image 2" descr="preencoded.png">    </p:cNvPr>
          <p:cNvPicPr>
            <a:picLocks noChangeAspect="1"/>
          </p:cNvPicPr>
          <p:nvPr/>
        </p:nvPicPr>
        <p:blipFill>
          <a:blip r:embed="rId3"/>
          <a:stretch>
            <a:fillRect/>
          </a:stretch>
        </p:blipFill>
        <p:spPr>
          <a:xfrm>
            <a:off x="2404872" y="1481328"/>
            <a:ext cx="164592" cy="164592"/>
          </a:xfrm>
          <a:prstGeom prst="rect">
            <a:avLst/>
          </a:prstGeom>
        </p:spPr>
      </p:pic>
      <p:sp>
        <p:nvSpPr>
          <p:cNvPr id="15" name="Text 10"/>
          <p:cNvSpPr/>
          <p:nvPr/>
        </p:nvSpPr>
        <p:spPr>
          <a:xfrm>
            <a:off x="1892808"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Measure + derive</a:t>
            </a:r>
            <a:endParaRPr lang="en-US" sz="830" dirty="0"/>
          </a:p>
        </p:txBody>
      </p:sp>
      <p:sp>
        <p:nvSpPr>
          <p:cNvPr id="16" name="Text 11"/>
          <p:cNvSpPr/>
          <p:nvPr/>
        </p:nvSpPr>
        <p:spPr>
          <a:xfrm>
            <a:off x="1892808"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1–2 min</a:t>
            </a:r>
            <a:endParaRPr lang="en-US" sz="760" dirty="0"/>
          </a:p>
          <a:p>
            <a:pPr algn="ctr" indent="0" marL="0">
              <a:buNone/>
            </a:pPr>
            <a:r>
              <a:rPr lang="en-US" sz="760" dirty="0">
                <a:solidFill>
                  <a:srgbClr val="6B7280"/>
                </a:solidFill>
                <a:latin typeface="Calibri" pitchFamily="34" charset="0"/>
                <a:ea typeface="Calibri" pitchFamily="34" charset="-122"/>
                <a:cs typeface="Calibri" pitchFamily="34" charset="-120"/>
              </a:rPr>
              <a:t>automatic</a:t>
            </a:r>
            <a:endParaRPr lang="en-US" sz="760" dirty="0"/>
          </a:p>
        </p:txBody>
      </p:sp>
      <p:pic>
        <p:nvPicPr>
          <p:cNvPr id="17" name="Image 3" descr="preencoded.png">    </p:cNvPr>
          <p:cNvPicPr>
            <a:picLocks noChangeAspect="1"/>
          </p:cNvPicPr>
          <p:nvPr/>
        </p:nvPicPr>
        <p:blipFill>
          <a:blip r:embed="rId4"/>
          <a:stretch>
            <a:fillRect/>
          </a:stretch>
        </p:blipFill>
        <p:spPr>
          <a:xfrm>
            <a:off x="3136392" y="1755648"/>
            <a:ext cx="109728" cy="109728"/>
          </a:xfrm>
          <a:prstGeom prst="rect">
            <a:avLst/>
          </a:prstGeom>
        </p:spPr>
      </p:pic>
      <p:sp>
        <p:nvSpPr>
          <p:cNvPr id="18" name="Shape 12"/>
          <p:cNvSpPr/>
          <p:nvPr/>
        </p:nvSpPr>
        <p:spPr>
          <a:xfrm>
            <a:off x="3236976" y="1298448"/>
            <a:ext cx="1280160" cy="1060704"/>
          </a:xfrm>
          <a:prstGeom prst="roundRect">
            <a:avLst>
              <a:gd name="adj" fmla="val 6897"/>
            </a:avLst>
          </a:prstGeom>
          <a:solidFill>
            <a:srgbClr val="FFFFFF"/>
          </a:solidFill>
          <a:ln w="12700">
            <a:solidFill>
              <a:srgbClr val="DCE3EE"/>
            </a:solidFill>
            <a:prstDash val="solid"/>
          </a:ln>
        </p:spPr>
      </p:sp>
      <p:sp>
        <p:nvSpPr>
          <p:cNvPr id="19" name="Shape 13"/>
          <p:cNvSpPr/>
          <p:nvPr/>
        </p:nvSpPr>
        <p:spPr>
          <a:xfrm>
            <a:off x="3703320" y="1389888"/>
            <a:ext cx="347472" cy="347472"/>
          </a:xfrm>
          <a:prstGeom prst="ellipse">
            <a:avLst/>
          </a:prstGeom>
          <a:solidFill>
            <a:srgbClr val="0E8074"/>
          </a:solidFill>
          <a:ln/>
        </p:spPr>
      </p:sp>
      <p:pic>
        <p:nvPicPr>
          <p:cNvPr id="20" name="Image 4" descr="preencoded.png">    </p:cNvPr>
          <p:cNvPicPr>
            <a:picLocks noChangeAspect="1"/>
          </p:cNvPicPr>
          <p:nvPr/>
        </p:nvPicPr>
        <p:blipFill>
          <a:blip r:embed="rId5"/>
          <a:stretch>
            <a:fillRect/>
          </a:stretch>
        </p:blipFill>
        <p:spPr>
          <a:xfrm>
            <a:off x="3794760" y="1481328"/>
            <a:ext cx="164592" cy="164592"/>
          </a:xfrm>
          <a:prstGeom prst="rect">
            <a:avLst/>
          </a:prstGeom>
        </p:spPr>
      </p:pic>
      <p:sp>
        <p:nvSpPr>
          <p:cNvPr id="21" name="Text 14"/>
          <p:cNvSpPr/>
          <p:nvPr/>
        </p:nvSpPr>
        <p:spPr>
          <a:xfrm>
            <a:off x="3282696"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Answer 2–5 questions</a:t>
            </a:r>
            <a:endParaRPr lang="en-US" sz="830" dirty="0"/>
          </a:p>
        </p:txBody>
      </p:sp>
      <p:sp>
        <p:nvSpPr>
          <p:cNvPr id="22" name="Text 15"/>
          <p:cNvSpPr/>
          <p:nvPr/>
        </p:nvSpPr>
        <p:spPr>
          <a:xfrm>
            <a:off x="3282696"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2–5 min</a:t>
            </a:r>
            <a:endParaRPr lang="en-US" sz="760" dirty="0"/>
          </a:p>
          <a:p>
            <a:pPr algn="ctr" indent="0" marL="0">
              <a:buNone/>
            </a:pPr>
            <a:r>
              <a:rPr lang="en-US" sz="760" dirty="0">
                <a:solidFill>
                  <a:srgbClr val="6B7280"/>
                </a:solidFill>
                <a:latin typeface="Calibri" pitchFamily="34" charset="0"/>
                <a:ea typeface="Calibri" pitchFamily="34" charset="-122"/>
                <a:cs typeface="Calibri" pitchFamily="34" charset="-120"/>
              </a:rPr>
              <a:t>material · duty</a:t>
            </a:r>
            <a:endParaRPr lang="en-US" sz="760" dirty="0"/>
          </a:p>
        </p:txBody>
      </p:sp>
      <p:pic>
        <p:nvPicPr>
          <p:cNvPr id="23" name="Image 5" descr="preencoded.png">    </p:cNvPr>
          <p:cNvPicPr>
            <a:picLocks noChangeAspect="1"/>
          </p:cNvPicPr>
          <p:nvPr/>
        </p:nvPicPr>
        <p:blipFill>
          <a:blip r:embed="rId6"/>
          <a:stretch>
            <a:fillRect/>
          </a:stretch>
        </p:blipFill>
        <p:spPr>
          <a:xfrm>
            <a:off x="4526280" y="1755648"/>
            <a:ext cx="109728" cy="109728"/>
          </a:xfrm>
          <a:prstGeom prst="rect">
            <a:avLst/>
          </a:prstGeom>
        </p:spPr>
      </p:pic>
      <p:sp>
        <p:nvSpPr>
          <p:cNvPr id="24" name="Shape 16"/>
          <p:cNvSpPr/>
          <p:nvPr/>
        </p:nvSpPr>
        <p:spPr>
          <a:xfrm>
            <a:off x="4626864" y="1298448"/>
            <a:ext cx="1280160" cy="1060704"/>
          </a:xfrm>
          <a:prstGeom prst="roundRect">
            <a:avLst>
              <a:gd name="adj" fmla="val 6897"/>
            </a:avLst>
          </a:prstGeom>
          <a:solidFill>
            <a:srgbClr val="FFFFFF"/>
          </a:solidFill>
          <a:ln w="12700">
            <a:solidFill>
              <a:srgbClr val="DCE3EE"/>
            </a:solidFill>
            <a:prstDash val="solid"/>
          </a:ln>
        </p:spPr>
      </p:sp>
      <p:sp>
        <p:nvSpPr>
          <p:cNvPr id="25" name="Shape 17"/>
          <p:cNvSpPr/>
          <p:nvPr/>
        </p:nvSpPr>
        <p:spPr>
          <a:xfrm>
            <a:off x="5093208" y="1389888"/>
            <a:ext cx="347472" cy="347472"/>
          </a:xfrm>
          <a:prstGeom prst="ellipse">
            <a:avLst/>
          </a:prstGeom>
          <a:solidFill>
            <a:srgbClr val="0E8074"/>
          </a:solidFill>
          <a:ln/>
        </p:spPr>
      </p:sp>
      <p:pic>
        <p:nvPicPr>
          <p:cNvPr id="26" name="Image 6" descr="preencoded.png">    </p:cNvPr>
          <p:cNvPicPr>
            <a:picLocks noChangeAspect="1"/>
          </p:cNvPicPr>
          <p:nvPr/>
        </p:nvPicPr>
        <p:blipFill>
          <a:blip r:embed="rId7"/>
          <a:stretch>
            <a:fillRect/>
          </a:stretch>
        </p:blipFill>
        <p:spPr>
          <a:xfrm>
            <a:off x="5184648" y="1481328"/>
            <a:ext cx="164592" cy="164592"/>
          </a:xfrm>
          <a:prstGeom prst="rect">
            <a:avLst/>
          </a:prstGeom>
        </p:spPr>
      </p:pic>
      <p:sp>
        <p:nvSpPr>
          <p:cNvPr id="27" name="Text 18"/>
          <p:cNvSpPr/>
          <p:nvPr/>
        </p:nvSpPr>
        <p:spPr>
          <a:xfrm>
            <a:off x="4672584"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Review band + approve</a:t>
            </a:r>
            <a:endParaRPr lang="en-US" sz="830" dirty="0"/>
          </a:p>
        </p:txBody>
      </p:sp>
      <p:sp>
        <p:nvSpPr>
          <p:cNvPr id="28" name="Text 19"/>
          <p:cNvSpPr/>
          <p:nvPr/>
        </p:nvSpPr>
        <p:spPr>
          <a:xfrm>
            <a:off x="4672584"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5–8 min</a:t>
            </a:r>
            <a:endParaRPr lang="en-US" sz="760" dirty="0"/>
          </a:p>
        </p:txBody>
      </p:sp>
      <p:sp>
        <p:nvSpPr>
          <p:cNvPr id="29" name="Text 20"/>
          <p:cNvSpPr/>
          <p:nvPr/>
        </p:nvSpPr>
        <p:spPr>
          <a:xfrm>
            <a:off x="457200" y="2414016"/>
            <a:ext cx="5394960" cy="384048"/>
          </a:xfrm>
          <a:prstGeom prst="rect">
            <a:avLst/>
          </a:prstGeom>
          <a:noFill/>
          <a:ln/>
        </p:spPr>
        <p:txBody>
          <a:bodyPr wrap="square" lIns="0" tIns="0" rIns="0" bIns="0" rtlCol="0" anchor="t"/>
          <a:lstStyle/>
          <a:p>
            <a:pPr indent="0" marL="0">
              <a:buNone/>
            </a:pPr>
            <a:r>
              <a:rPr lang="en-US" sz="1200" b="1" dirty="0">
                <a:solidFill>
                  <a:srgbClr val="0E8074"/>
                </a:solidFill>
                <a:latin typeface="Calibri" pitchFamily="34" charset="0"/>
                <a:ea typeface="Calibri" pitchFamily="34" charset="-122"/>
                <a:cs typeface="Calibri" pitchFamily="34" charset="-120"/>
              </a:rPr>
              <a:t>End to end: 10–15 minutes </a:t>
            </a:r>
            <a:pPr indent="0" marL="0">
              <a:buNone/>
            </a:pPr>
            <a:r>
              <a:rPr lang="en-US" sz="950" dirty="0">
                <a:solidFill>
                  <a:srgbClr val="3A4356"/>
                </a:solidFill>
                <a:latin typeface="Calibri" pitchFamily="34" charset="0"/>
                <a:ea typeface="Calibri" pitchFamily="34" charset="-122"/>
                <a:cs typeface="Calibri" pitchFamily="34" charset="-120"/>
              </a:rPr>
              <a:t>for a CAD part, engineer at the screen throughout. The tool computes; the engineer answers and approves.</a:t>
            </a:r>
            <a:pPr indent="0" marL="0">
              <a:buNone/>
            </a:pPr>
            <a:r>
              <a:rPr lang="en-US" sz="820" b="1" dirty="0">
                <a:solidFill>
                  <a:srgbClr val="16325C"/>
                </a:solidFill>
                <a:latin typeface="Calibri" pitchFamily="34" charset="0"/>
                <a:ea typeface="Calibri" pitchFamily="34" charset="-122"/>
                <a:cs typeface="Calibri" pitchFamily="34" charset="-120"/>
              </a:rPr>
              <a:t> In CAPEE these inputs are keyed by hand from the CAD — automatic feeding is the largest single saving.</a:t>
            </a:r>
            <a:endParaRPr lang="en-US" sz="1200" dirty="0"/>
          </a:p>
        </p:txBody>
      </p:sp>
      <p:sp>
        <p:nvSpPr>
          <p:cNvPr id="30" name="Text 21"/>
          <p:cNvSpPr/>
          <p:nvPr/>
        </p:nvSpPr>
        <p:spPr>
          <a:xfrm>
            <a:off x="457200" y="2852928"/>
            <a:ext cx="5394960" cy="201168"/>
          </a:xfrm>
          <a:prstGeom prst="rect">
            <a:avLst/>
          </a:prstGeom>
          <a:noFill/>
          <a:ln/>
        </p:spPr>
        <p:txBody>
          <a:bodyPr wrap="square" lIns="0" tIns="0" rIns="0" bIns="0" rtlCol="0" anchor="ctr"/>
          <a:lstStyle/>
          <a:p>
            <a:pPr indent="0" marL="0">
              <a:buNone/>
            </a:pPr>
            <a:r>
              <a:rPr lang="en-US" sz="850" b="1" spc="60" kern="0" dirty="0">
                <a:solidFill>
                  <a:srgbClr val="16325C"/>
                </a:solidFill>
                <a:latin typeface="Calibri" pitchFamily="34" charset="0"/>
                <a:ea typeface="Calibri" pitchFamily="34" charset="-122"/>
                <a:cs typeface="Calibri" pitchFamily="34" charset="-120"/>
              </a:rPr>
              <a:t>TIME PER SHOULD-COST, BY COMMODITY</a:t>
            </a:r>
            <a:endParaRPr lang="en-US" sz="850" dirty="0"/>
          </a:p>
        </p:txBody>
      </p:sp>
      <p:sp>
        <p:nvSpPr>
          <p:cNvPr id="31" name="Text 22"/>
          <p:cNvSpPr/>
          <p:nvPr/>
        </p:nvSpPr>
        <p:spPr>
          <a:xfrm>
            <a:off x="457200" y="3054096"/>
            <a:ext cx="2286000" cy="219456"/>
          </a:xfrm>
          <a:prstGeom prst="rect">
            <a:avLst/>
          </a:prstGeom>
          <a:solidFill>
            <a:srgbClr val="16325C"/>
          </a:solidFill>
          <a:ln/>
        </p:spPr>
        <p:txBody>
          <a:bodyPr wrap="square" lIns="508" tIns="508" rIns="508" bIns="508" rtlCol="0" anchor="ctr"/>
          <a:lstStyle/>
          <a:p>
            <a:pPr algn="l" indent="0" marL="0">
              <a:buNone/>
            </a:pPr>
            <a:r>
              <a:rPr lang="en-US" sz="830" b="1" dirty="0">
                <a:solidFill>
                  <a:srgbClr val="FFFFFF"/>
                </a:solidFill>
                <a:latin typeface="Calibri" pitchFamily="34" charset="0"/>
                <a:ea typeface="Calibri" pitchFamily="34" charset="-122"/>
                <a:cs typeface="Calibri" pitchFamily="34" charset="-120"/>
              </a:rPr>
              <a:t>Commodity</a:t>
            </a:r>
            <a:endParaRPr lang="en-US" sz="830" dirty="0"/>
          </a:p>
        </p:txBody>
      </p:sp>
      <p:sp>
        <p:nvSpPr>
          <p:cNvPr id="32" name="Text 23"/>
          <p:cNvSpPr/>
          <p:nvPr/>
        </p:nvSpPr>
        <p:spPr>
          <a:xfrm>
            <a:off x="2743200" y="3054096"/>
            <a:ext cx="914400" cy="219456"/>
          </a:xfrm>
          <a:prstGeom prst="rect">
            <a:avLst/>
          </a:prstGeom>
          <a:solidFill>
            <a:srgbClr val="16325C"/>
          </a:solidFill>
          <a:ln/>
        </p:spPr>
        <p:txBody>
          <a:bodyPr wrap="square" lIns="508" tIns="508" rIns="508" bIns="508" rtlCol="0" anchor="ctr"/>
          <a:lstStyle/>
          <a:p>
            <a:pPr algn="ctr" indent="0" marL="0">
              <a:buNone/>
            </a:pPr>
            <a:r>
              <a:rPr lang="en-US" sz="830" b="1" dirty="0">
                <a:solidFill>
                  <a:srgbClr val="FFFFFF"/>
                </a:solidFill>
                <a:latin typeface="Calibri" pitchFamily="34" charset="0"/>
                <a:ea typeface="Calibri" pitchFamily="34" charset="-122"/>
                <a:cs typeface="Calibri" pitchFamily="34" charset="-120"/>
              </a:rPr>
              <a:t>CostVision</a:t>
            </a:r>
            <a:endParaRPr lang="en-US" sz="830" dirty="0"/>
          </a:p>
        </p:txBody>
      </p:sp>
      <p:sp>
        <p:nvSpPr>
          <p:cNvPr id="33" name="Text 24"/>
          <p:cNvSpPr/>
          <p:nvPr/>
        </p:nvSpPr>
        <p:spPr>
          <a:xfrm>
            <a:off x="3657600" y="3054096"/>
            <a:ext cx="1097280" cy="219456"/>
          </a:xfrm>
          <a:prstGeom prst="rect">
            <a:avLst/>
          </a:prstGeom>
          <a:solidFill>
            <a:srgbClr val="16325C"/>
          </a:solidFill>
          <a:ln/>
        </p:spPr>
        <p:txBody>
          <a:bodyPr wrap="square" lIns="508" tIns="508" rIns="508" bIns="508" rtlCol="0" anchor="ctr"/>
          <a:lstStyle/>
          <a:p>
            <a:pPr algn="ctr" indent="0" marL="0">
              <a:buNone/>
            </a:pPr>
            <a:r>
              <a:rPr lang="en-US" sz="830" b="1" dirty="0">
                <a:solidFill>
                  <a:srgbClr val="FFFFFF"/>
                </a:solidFill>
                <a:latin typeface="Calibri" pitchFamily="34" charset="0"/>
                <a:ea typeface="Calibri" pitchFamily="34" charset="-122"/>
                <a:cs typeface="Calibri" pitchFamily="34" charset="-120"/>
              </a:rPr>
              <a:t>CAPEE by hand</a:t>
            </a:r>
            <a:endParaRPr lang="en-US" sz="830" dirty="0"/>
          </a:p>
        </p:txBody>
      </p:sp>
      <p:sp>
        <p:nvSpPr>
          <p:cNvPr id="34" name="Text 25"/>
          <p:cNvSpPr/>
          <p:nvPr/>
        </p:nvSpPr>
        <p:spPr>
          <a:xfrm>
            <a:off x="4754880" y="3054096"/>
            <a:ext cx="1234440" cy="219456"/>
          </a:xfrm>
          <a:prstGeom prst="rect">
            <a:avLst/>
          </a:prstGeom>
          <a:solidFill>
            <a:srgbClr val="16325C"/>
          </a:solidFill>
          <a:ln/>
        </p:spPr>
        <p:txBody>
          <a:bodyPr wrap="square" lIns="508" tIns="508" rIns="508" bIns="508" rtlCol="0" anchor="ctr"/>
          <a:lstStyle/>
          <a:p>
            <a:pPr algn="ctr" indent="0" marL="0">
              <a:buNone/>
            </a:pPr>
            <a:r>
              <a:rPr lang="en-US" sz="830" b="1" dirty="0">
                <a:solidFill>
                  <a:srgbClr val="FFFFFF"/>
                </a:solidFill>
                <a:latin typeface="Calibri" pitchFamily="34" charset="0"/>
                <a:ea typeface="Calibri" pitchFamily="34" charset="-122"/>
                <a:cs typeface="Calibri" pitchFamily="34" charset="-120"/>
              </a:rPr>
              <a:t>Baseline</a:t>
            </a:r>
            <a:endParaRPr lang="en-US" sz="830" dirty="0"/>
          </a:p>
        </p:txBody>
      </p:sp>
      <p:sp>
        <p:nvSpPr>
          <p:cNvPr id="35" name="Text 26"/>
          <p:cNvSpPr/>
          <p:nvPr/>
        </p:nvSpPr>
        <p:spPr>
          <a:xfrm>
            <a:off x="457200" y="3273552"/>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Casting + machining (CAD)</a:t>
            </a:r>
            <a:endParaRPr lang="en-US" sz="840" dirty="0"/>
          </a:p>
        </p:txBody>
      </p:sp>
      <p:sp>
        <p:nvSpPr>
          <p:cNvPr id="36" name="Text 27"/>
          <p:cNvSpPr/>
          <p:nvPr/>
        </p:nvSpPr>
        <p:spPr>
          <a:xfrm>
            <a:off x="2743200" y="3273552"/>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37" name="Text 28"/>
          <p:cNvSpPr/>
          <p:nvPr/>
        </p:nvSpPr>
        <p:spPr>
          <a:xfrm>
            <a:off x="3657600" y="3273552"/>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4–5 h</a:t>
            </a:r>
            <a:endParaRPr lang="en-US" sz="840" dirty="0"/>
          </a:p>
        </p:txBody>
      </p:sp>
      <p:sp>
        <p:nvSpPr>
          <p:cNvPr id="38" name="Text 29"/>
          <p:cNvSpPr/>
          <p:nvPr/>
        </p:nvSpPr>
        <p:spPr>
          <a:xfrm>
            <a:off x="4754880" y="3273552"/>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2E8B57"/>
                </a:solidFill>
                <a:latin typeface="Calibri" pitchFamily="34" charset="0"/>
                <a:ea typeface="Calibri" pitchFamily="34" charset="-122"/>
                <a:cs typeface="Calibri" pitchFamily="34" charset="-120"/>
              </a:rPr>
              <a:t>✓ confirmed baseline</a:t>
            </a:r>
            <a:endParaRPr lang="en-US" sz="840" dirty="0"/>
          </a:p>
        </p:txBody>
      </p:sp>
      <p:sp>
        <p:nvSpPr>
          <p:cNvPr id="39" name="Text 30"/>
          <p:cNvSpPr/>
          <p:nvPr/>
        </p:nvSpPr>
        <p:spPr>
          <a:xfrm>
            <a:off x="457200" y="3579876"/>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Machining from billet (CAD)</a:t>
            </a:r>
            <a:endParaRPr lang="en-US" sz="840" dirty="0"/>
          </a:p>
        </p:txBody>
      </p:sp>
      <p:sp>
        <p:nvSpPr>
          <p:cNvPr id="40" name="Text 31"/>
          <p:cNvSpPr/>
          <p:nvPr/>
        </p:nvSpPr>
        <p:spPr>
          <a:xfrm>
            <a:off x="2743200" y="3579876"/>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41" name="Text 32"/>
          <p:cNvSpPr/>
          <p:nvPr/>
        </p:nvSpPr>
        <p:spPr>
          <a:xfrm>
            <a:off x="3657600" y="3579876"/>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42" name="Text 33"/>
          <p:cNvSpPr/>
          <p:nvPr/>
        </p:nvSpPr>
        <p:spPr>
          <a:xfrm>
            <a:off x="4754880" y="3579876"/>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43" name="Text 34"/>
          <p:cNvSpPr/>
          <p:nvPr/>
        </p:nvSpPr>
        <p:spPr>
          <a:xfrm>
            <a:off x="457200" y="3886200"/>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Injection moulding (CAD)</a:t>
            </a:r>
            <a:endParaRPr lang="en-US" sz="840" dirty="0"/>
          </a:p>
        </p:txBody>
      </p:sp>
      <p:sp>
        <p:nvSpPr>
          <p:cNvPr id="44" name="Text 35"/>
          <p:cNvSpPr/>
          <p:nvPr/>
        </p:nvSpPr>
        <p:spPr>
          <a:xfrm>
            <a:off x="2743200" y="3886200"/>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45" name="Text 36"/>
          <p:cNvSpPr/>
          <p:nvPr/>
        </p:nvSpPr>
        <p:spPr>
          <a:xfrm>
            <a:off x="3657600" y="3886200"/>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46" name="Text 37"/>
          <p:cNvSpPr/>
          <p:nvPr/>
        </p:nvSpPr>
        <p:spPr>
          <a:xfrm>
            <a:off x="4754880" y="3886200"/>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47" name="Text 38"/>
          <p:cNvSpPr/>
          <p:nvPr/>
        </p:nvSpPr>
        <p:spPr>
          <a:xfrm>
            <a:off x="457200" y="4192524"/>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Forging + machining (CAD)</a:t>
            </a:r>
            <a:endParaRPr lang="en-US" sz="840" dirty="0"/>
          </a:p>
        </p:txBody>
      </p:sp>
      <p:sp>
        <p:nvSpPr>
          <p:cNvPr id="48" name="Text 39"/>
          <p:cNvSpPr/>
          <p:nvPr/>
        </p:nvSpPr>
        <p:spPr>
          <a:xfrm>
            <a:off x="2743200" y="4192524"/>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49" name="Text 40"/>
          <p:cNvSpPr/>
          <p:nvPr/>
        </p:nvSpPr>
        <p:spPr>
          <a:xfrm>
            <a:off x="3657600" y="4192524"/>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50" name="Text 41"/>
          <p:cNvSpPr/>
          <p:nvPr/>
        </p:nvSpPr>
        <p:spPr>
          <a:xfrm>
            <a:off x="4754880" y="4192524"/>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51" name="Text 42"/>
          <p:cNvSpPr/>
          <p:nvPr/>
        </p:nvSpPr>
        <p:spPr>
          <a:xfrm>
            <a:off x="457200" y="4498848"/>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Sheet-metal pressing (CAD)</a:t>
            </a:r>
            <a:endParaRPr lang="en-US" sz="840" dirty="0"/>
          </a:p>
        </p:txBody>
      </p:sp>
      <p:sp>
        <p:nvSpPr>
          <p:cNvPr id="52" name="Text 43"/>
          <p:cNvSpPr/>
          <p:nvPr/>
        </p:nvSpPr>
        <p:spPr>
          <a:xfrm>
            <a:off x="2743200" y="4498848"/>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53" name="Text 44"/>
          <p:cNvSpPr/>
          <p:nvPr/>
        </p:nvSpPr>
        <p:spPr>
          <a:xfrm>
            <a:off x="3657600" y="4498848"/>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2–3 h</a:t>
            </a:r>
            <a:endParaRPr lang="en-US" sz="840" dirty="0"/>
          </a:p>
        </p:txBody>
      </p:sp>
      <p:sp>
        <p:nvSpPr>
          <p:cNvPr id="54" name="Text 45"/>
          <p:cNvSpPr/>
          <p:nvPr/>
        </p:nvSpPr>
        <p:spPr>
          <a:xfrm>
            <a:off x="4754880" y="4498848"/>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55" name="Text 46"/>
          <p:cNvSpPr/>
          <p:nvPr/>
        </p:nvSpPr>
        <p:spPr>
          <a:xfrm>
            <a:off x="457200" y="4805172"/>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Blow-moulded tank (CAD)</a:t>
            </a:r>
            <a:endParaRPr lang="en-US" sz="840" dirty="0"/>
          </a:p>
        </p:txBody>
      </p:sp>
      <p:sp>
        <p:nvSpPr>
          <p:cNvPr id="56" name="Text 47"/>
          <p:cNvSpPr/>
          <p:nvPr/>
        </p:nvSpPr>
        <p:spPr>
          <a:xfrm>
            <a:off x="2743200" y="4805172"/>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57" name="Text 48"/>
          <p:cNvSpPr/>
          <p:nvPr/>
        </p:nvSpPr>
        <p:spPr>
          <a:xfrm>
            <a:off x="3657600" y="4805172"/>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58" name="Text 49"/>
          <p:cNvSpPr/>
          <p:nvPr/>
        </p:nvSpPr>
        <p:spPr>
          <a:xfrm>
            <a:off x="4754880" y="4805172"/>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59" name="Text 50"/>
          <p:cNvSpPr/>
          <p:nvPr/>
        </p:nvSpPr>
        <p:spPr>
          <a:xfrm>
            <a:off x="457200" y="5111496"/>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PCB — from a photo</a:t>
            </a:r>
            <a:endParaRPr lang="en-US" sz="840" dirty="0"/>
          </a:p>
        </p:txBody>
      </p:sp>
      <p:sp>
        <p:nvSpPr>
          <p:cNvPr id="60" name="Text 51"/>
          <p:cNvSpPr/>
          <p:nvPr/>
        </p:nvSpPr>
        <p:spPr>
          <a:xfrm>
            <a:off x="2743200" y="5111496"/>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 10 min</a:t>
            </a:r>
            <a:endParaRPr lang="en-US" sz="840" dirty="0"/>
          </a:p>
        </p:txBody>
      </p:sp>
      <p:sp>
        <p:nvSpPr>
          <p:cNvPr id="61" name="Text 52"/>
          <p:cNvSpPr/>
          <p:nvPr/>
        </p:nvSpPr>
        <p:spPr>
          <a:xfrm>
            <a:off x="3657600" y="5111496"/>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4–6 h</a:t>
            </a:r>
            <a:endParaRPr lang="en-US" sz="840" dirty="0"/>
          </a:p>
        </p:txBody>
      </p:sp>
      <p:sp>
        <p:nvSpPr>
          <p:cNvPr id="62" name="Text 53"/>
          <p:cNvSpPr/>
          <p:nvPr/>
        </p:nvSpPr>
        <p:spPr>
          <a:xfrm>
            <a:off x="4754880" y="5111496"/>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63" name="Text 54"/>
          <p:cNvSpPr/>
          <p:nvPr/>
        </p:nvSpPr>
        <p:spPr>
          <a:xfrm>
            <a:off x="457200" y="5417820"/>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Manual form (any of 18)</a:t>
            </a:r>
            <a:endParaRPr lang="en-US" sz="840" dirty="0"/>
          </a:p>
        </p:txBody>
      </p:sp>
      <p:sp>
        <p:nvSpPr>
          <p:cNvPr id="64" name="Text 55"/>
          <p:cNvSpPr/>
          <p:nvPr/>
        </p:nvSpPr>
        <p:spPr>
          <a:xfrm>
            <a:off x="2743200" y="5417820"/>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15–30 min</a:t>
            </a:r>
            <a:endParaRPr lang="en-US" sz="840" dirty="0"/>
          </a:p>
        </p:txBody>
      </p:sp>
      <p:sp>
        <p:nvSpPr>
          <p:cNvPr id="65" name="Text 56"/>
          <p:cNvSpPr/>
          <p:nvPr/>
        </p:nvSpPr>
        <p:spPr>
          <a:xfrm>
            <a:off x="3657600" y="5417820"/>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2–4 h</a:t>
            </a:r>
            <a:endParaRPr lang="en-US" sz="840" dirty="0"/>
          </a:p>
        </p:txBody>
      </p:sp>
      <p:sp>
        <p:nvSpPr>
          <p:cNvPr id="66" name="Text 57"/>
          <p:cNvSpPr/>
          <p:nvPr/>
        </p:nvSpPr>
        <p:spPr>
          <a:xfrm>
            <a:off x="4754880" y="5417820"/>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67" name="Text 58"/>
          <p:cNvSpPr/>
          <p:nvPr/>
        </p:nvSpPr>
        <p:spPr>
          <a:xfrm>
            <a:off x="6263640" y="1060704"/>
            <a:ext cx="5486400" cy="201168"/>
          </a:xfrm>
          <a:prstGeom prst="rect">
            <a:avLst/>
          </a:prstGeom>
          <a:noFill/>
          <a:ln/>
        </p:spPr>
        <p:txBody>
          <a:bodyPr wrap="square" lIns="0" tIns="0" rIns="0" bIns="0" rtlCol="0" anchor="ctr"/>
          <a:lstStyle/>
          <a:p>
            <a:pPr indent="0" marL="0">
              <a:buNone/>
            </a:pPr>
            <a:r>
              <a:rPr lang="en-US" sz="850" b="1" spc="60" kern="0" dirty="0">
                <a:solidFill>
                  <a:srgbClr val="16325C"/>
                </a:solidFill>
                <a:latin typeface="Calibri" pitchFamily="34" charset="0"/>
                <a:ea typeface="Calibri" pitchFamily="34" charset="-122"/>
                <a:cs typeface="Calibri" pitchFamily="34" charset="-120"/>
              </a:rPr>
              <a:t>THE SAME TABLE AS A PICTURE — MINUTES PER ESTIMATE</a:t>
            </a:r>
            <a:endParaRPr lang="en-US" sz="850" dirty="0"/>
          </a:p>
        </p:txBody>
      </p:sp>
      <p:graphicFrame>
        <p:nvGraphicFramePr>
          <p:cNvPr id="68" name="Chart 0" descr=""/>
          <p:cNvGraphicFramePr/>
          <p:nvPr/>
        </p:nvGraphicFramePr>
        <p:xfrm>
          <a:off x="6263640" y="1298448"/>
          <a:ext cx="5486400" cy="4206240"/>
        </p:xfrm>
        <a:graphic xmlns:a="http://schemas.openxmlformats.org/drawingml/2006/main">
          <a:graphicData uri="http://schemas.openxmlformats.org/drawingml/2006/chart">
            <c:chart xmlns:c="http://schemas.openxmlformats.org/drawingml/2006/chart" r:id="rId8"/>
          </a:graphicData>
        </a:graphic>
      </p:graphicFrame>
      <p:sp>
        <p:nvSpPr>
          <p:cNvPr id="69" name="Text 59"/>
          <p:cNvSpPr/>
          <p:nvPr/>
        </p:nvSpPr>
        <p:spPr>
          <a:xfrm>
            <a:off x="6263640" y="5577840"/>
            <a:ext cx="5486400" cy="457200"/>
          </a:xfrm>
          <a:prstGeom prst="rect">
            <a:avLst/>
          </a:prstGeom>
          <a:noFill/>
          <a:ln/>
        </p:spPr>
        <p:txBody>
          <a:bodyPr wrap="square" lIns="0" tIns="0" rIns="0" bIns="0" rtlCol="0" anchor="t"/>
          <a:lstStyle/>
          <a:p>
            <a:pPr indent="0" marL="0">
              <a:buNone/>
            </a:pPr>
            <a:r>
              <a:rPr lang="en-US" sz="860" i="1" dirty="0">
                <a:solidFill>
                  <a:srgbClr val="6B7280"/>
                </a:solidFill>
                <a:latin typeface="Calibri" pitchFamily="34" charset="0"/>
                <a:ea typeface="Calibri" pitchFamily="34" charset="-122"/>
                <a:cs typeface="Calibri" pitchFamily="34" charset="-120"/>
              </a:rPr>
              <a:t>16–30× faster on the confirmed baseline. CAPEE midpoints marked "team-reported" are working figures — confirm with the costing team before circulating beyond this room.</a:t>
            </a:r>
            <a:endParaRPr lang="en-US" sz="860" dirty="0"/>
          </a:p>
        </p:txBody>
      </p:sp>
      <p:sp>
        <p:nvSpPr>
          <p:cNvPr id="70" name="Shape 60"/>
          <p:cNvSpPr/>
          <p:nvPr/>
        </p:nvSpPr>
        <p:spPr>
          <a:xfrm>
            <a:off x="457200" y="5779008"/>
            <a:ext cx="5394960" cy="658368"/>
          </a:xfrm>
          <a:prstGeom prst="roundRect">
            <a:avLst>
              <a:gd name="adj" fmla="val 11111"/>
            </a:avLst>
          </a:prstGeom>
          <a:solidFill>
            <a:srgbClr val="EAF6EF"/>
          </a:solidFill>
          <a:ln w="12700">
            <a:solidFill>
              <a:srgbClr val="2E8B57"/>
            </a:solidFill>
            <a:prstDash val="solid"/>
          </a:ln>
        </p:spPr>
      </p:sp>
      <p:sp>
        <p:nvSpPr>
          <p:cNvPr id="71" name="Text 61"/>
          <p:cNvSpPr/>
          <p:nvPr/>
        </p:nvSpPr>
        <p:spPr>
          <a:xfrm>
            <a:off x="621792" y="5833872"/>
            <a:ext cx="5120640" cy="566928"/>
          </a:xfrm>
          <a:prstGeom prst="rect">
            <a:avLst/>
          </a:prstGeom>
          <a:noFill/>
          <a:ln/>
        </p:spPr>
        <p:txBody>
          <a:bodyPr wrap="square" lIns="0" tIns="0" rIns="0" bIns="0" rtlCol="0" anchor="t"/>
          <a:lstStyle/>
          <a:p>
            <a:pPr indent="0" marL="0">
              <a:buNone/>
            </a:pPr>
            <a:r>
              <a:rPr lang="en-US" sz="860" b="1" dirty="0">
                <a:solidFill>
                  <a:srgbClr val="2E8B57"/>
                </a:solidFill>
                <a:latin typeface="Calibri" pitchFamily="34" charset="0"/>
                <a:ea typeface="Calibri" pitchFamily="34" charset="-122"/>
                <a:cs typeface="Calibri" pitchFamily="34" charset="-120"/>
              </a:rPr>
              <a:t>Man-hours saved = Σ (CAPEE hrs − CostVision hrs) × annual parts. </a:t>
            </a:r>
            <a:pPr indent="0" marL="0">
              <a:buNone/>
            </a:pPr>
            <a:r>
              <a:rPr lang="en-US" sz="830" dirty="0">
                <a:solidFill>
                  <a:srgbClr val="3A4356"/>
                </a:solidFill>
                <a:latin typeface="Calibri" pitchFamily="34" charset="0"/>
                <a:ea typeface="Calibri" pitchFamily="34" charset="-122"/>
                <a:cs typeface="Calibri" pitchFamily="34" charset="-120"/>
              </a:rPr>
              <a:t>Illustrative 500-part/yr mix over this table’s midpoints: </a:t>
            </a:r>
            <a:pPr indent="0" marL="0">
              <a:buNone/>
            </a:pPr>
            <a:r>
              <a:rPr lang="en-US" sz="900" b="1" dirty="0">
                <a:solidFill>
                  <a:srgbClr val="16325C"/>
                </a:solidFill>
                <a:latin typeface="Calibri" pitchFamily="34" charset="0"/>
                <a:ea typeface="Calibri" pitchFamily="34" charset="-122"/>
                <a:cs typeface="Calibri" pitchFamily="34" charset="-120"/>
              </a:rPr>
              <a:t>≈ 1,650 h/yr ≈ one engineer-year</a:t>
            </a:r>
            <a:pPr indent="0" marL="0">
              <a:buNone/>
            </a:pPr>
            <a:r>
              <a:rPr lang="en-US" sz="830" dirty="0">
                <a:solidFill>
                  <a:srgbClr val="3A4356"/>
                </a:solidFill>
                <a:latin typeface="Calibri" pitchFamily="34" charset="0"/>
                <a:ea typeface="Calibri" pitchFamily="34" charset="-122"/>
                <a:cs typeface="Calibri" pitchFamily="34" charset="-120"/>
              </a:rPr>
              <a:t> — capacity that moves into negotiation. Replace with your annual volumes; the tool logs its own run times.</a:t>
            </a:r>
            <a:endParaRPr lang="en-US" sz="860" dirty="0"/>
          </a:p>
        </p:txBody>
      </p:sp>
      <p:sp>
        <p:nvSpPr>
          <p:cNvPr id="72" name="Text 6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73" name="Text 6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II — CostVision vs CAPEE, Category by Category</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seven saving categories from our internal review — what CAPEE does today, and what changes</a:t>
            </a:r>
            <a:endParaRPr lang="en-US" sz="1200" dirty="0"/>
          </a:p>
        </p:txBody>
      </p:sp>
      <p:sp>
        <p:nvSpPr>
          <p:cNvPr id="5" name="Text 3"/>
          <p:cNvSpPr/>
          <p:nvPr/>
        </p:nvSpPr>
        <p:spPr>
          <a:xfrm>
            <a:off x="457200" y="1170432"/>
            <a:ext cx="214884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Saving category</a:t>
            </a:r>
            <a:endParaRPr lang="en-US" sz="950" dirty="0"/>
          </a:p>
        </p:txBody>
      </p:sp>
      <p:sp>
        <p:nvSpPr>
          <p:cNvPr id="6" name="Text 4"/>
          <p:cNvSpPr/>
          <p:nvPr/>
        </p:nvSpPr>
        <p:spPr>
          <a:xfrm>
            <a:off x="2606040" y="1170432"/>
            <a:ext cx="233172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CAPEE today</a:t>
            </a:r>
            <a:endParaRPr lang="en-US" sz="950" dirty="0"/>
          </a:p>
        </p:txBody>
      </p:sp>
      <p:sp>
        <p:nvSpPr>
          <p:cNvPr id="7" name="Text 5"/>
          <p:cNvSpPr/>
          <p:nvPr/>
        </p:nvSpPr>
        <p:spPr>
          <a:xfrm>
            <a:off x="4937760" y="1170432"/>
            <a:ext cx="507492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CostVision</a:t>
            </a:r>
            <a:endParaRPr lang="en-US" sz="950" dirty="0"/>
          </a:p>
        </p:txBody>
      </p:sp>
      <p:sp>
        <p:nvSpPr>
          <p:cNvPr id="8" name="Text 6"/>
          <p:cNvSpPr/>
          <p:nvPr/>
        </p:nvSpPr>
        <p:spPr>
          <a:xfrm>
            <a:off x="10012680" y="1170432"/>
            <a:ext cx="169164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Shown at</a:t>
            </a:r>
            <a:endParaRPr lang="en-US" sz="950" dirty="0"/>
          </a:p>
        </p:txBody>
      </p:sp>
      <p:sp>
        <p:nvSpPr>
          <p:cNvPr id="9" name="Text 7"/>
          <p:cNvSpPr/>
          <p:nvPr/>
        </p:nvSpPr>
        <p:spPr>
          <a:xfrm>
            <a:off x="457200" y="1444752"/>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1 · Input data feeding</a:t>
            </a:r>
            <a:endParaRPr lang="en-US" sz="870" dirty="0"/>
          </a:p>
        </p:txBody>
      </p:sp>
      <p:sp>
        <p:nvSpPr>
          <p:cNvPr id="10" name="Text 8"/>
          <p:cNvSpPr/>
          <p:nvPr/>
        </p:nvSpPr>
        <p:spPr>
          <a:xfrm>
            <a:off x="2606040" y="1444752"/>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Every measurement and cycle input read off the CAD and keyed by hand</a:t>
            </a:r>
            <a:endParaRPr lang="en-US" sz="810" dirty="0"/>
          </a:p>
        </p:txBody>
      </p:sp>
      <p:sp>
        <p:nvSpPr>
          <p:cNvPr id="11" name="Text 9"/>
          <p:cNvSpPr/>
          <p:nvPr/>
        </p:nvSpPr>
        <p:spPr>
          <a:xfrm>
            <a:off x="4937760" y="1444752"/>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The geometry kernel measures the CAD file and feeds every input automatically — the single largest time saving</a:t>
            </a:r>
            <a:endParaRPr lang="en-US" sz="810" dirty="0"/>
          </a:p>
        </p:txBody>
      </p:sp>
      <p:sp>
        <p:nvSpPr>
          <p:cNvPr id="12" name="Text 10"/>
          <p:cNvSpPr/>
          <p:nvPr/>
        </p:nvSpPr>
        <p:spPr>
          <a:xfrm>
            <a:off x="10012680" y="1444752"/>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Measure + kernel slides</a:t>
            </a:r>
            <a:endParaRPr lang="en-US" sz="810" dirty="0"/>
          </a:p>
        </p:txBody>
      </p:sp>
      <p:sp>
        <p:nvSpPr>
          <p:cNvPr id="13" name="Text 11"/>
          <p:cNvSpPr/>
          <p:nvPr/>
        </p:nvSpPr>
        <p:spPr>
          <a:xfrm>
            <a:off x="457200" y="2052828"/>
            <a:ext cx="2148840" cy="608076"/>
          </a:xfrm>
          <a:prstGeom prst="rect">
            <a:avLst/>
          </a:prstGeom>
          <a:solidFill>
            <a:srgbClr val="F0F4F9"/>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2 · Machine, tonnage &amp; process selection</a:t>
            </a:r>
            <a:endParaRPr lang="en-US" sz="870" dirty="0"/>
          </a:p>
        </p:txBody>
      </p:sp>
      <p:sp>
        <p:nvSpPr>
          <p:cNvPr id="14" name="Text 12"/>
          <p:cNvSpPr/>
          <p:nvPr/>
        </p:nvSpPr>
        <p:spPr>
          <a:xfrm>
            <a:off x="2606040" y="2052828"/>
            <a:ext cx="23317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Partially automated</a:t>
            </a:r>
            <a:endParaRPr lang="en-US" sz="810" dirty="0"/>
          </a:p>
        </p:txBody>
      </p:sp>
      <p:sp>
        <p:nvSpPr>
          <p:cNvPr id="15" name="Text 13"/>
          <p:cNvSpPr/>
          <p:nvPr/>
        </p:nvSpPr>
        <p:spPr>
          <a:xfrm>
            <a:off x="4937760" y="2052828"/>
            <a:ext cx="50749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Automatic AND cost-ranked: presses sized by clamp/force physics; machining routing and mould cavitation chosen by price, with the losing alternatives printed in the trace</a:t>
            </a:r>
            <a:endParaRPr lang="en-US" sz="810" dirty="0"/>
          </a:p>
        </p:txBody>
      </p:sp>
      <p:sp>
        <p:nvSpPr>
          <p:cNvPr id="16" name="Text 14"/>
          <p:cNvSpPr/>
          <p:nvPr/>
        </p:nvSpPr>
        <p:spPr>
          <a:xfrm>
            <a:off x="10012680" y="2052828"/>
            <a:ext cx="1691640" cy="608076"/>
          </a:xfrm>
          <a:prstGeom prst="rect">
            <a:avLst/>
          </a:prstGeom>
          <a:solidFill>
            <a:srgbClr val="F0F4F9"/>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Process-selection + routing slides</a:t>
            </a:r>
            <a:endParaRPr lang="en-US" sz="810" dirty="0"/>
          </a:p>
        </p:txBody>
      </p:sp>
      <p:sp>
        <p:nvSpPr>
          <p:cNvPr id="17" name="Text 15"/>
          <p:cNvSpPr/>
          <p:nvPr/>
        </p:nvSpPr>
        <p:spPr>
          <a:xfrm>
            <a:off x="457200" y="2660904"/>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3 · Coverage &amp; early programme support</a:t>
            </a:r>
            <a:endParaRPr lang="en-US" sz="870" dirty="0"/>
          </a:p>
        </p:txBody>
      </p:sp>
      <p:sp>
        <p:nvSpPr>
          <p:cNvPr id="18" name="Text 16"/>
          <p:cNvSpPr/>
          <p:nvPr/>
        </p:nvSpPr>
        <p:spPr>
          <a:xfrm>
            <a:off x="2606040" y="2660904"/>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Few parts, usually after the quote lands</a:t>
            </a:r>
            <a:endParaRPr lang="en-US" sz="810" dirty="0"/>
          </a:p>
        </p:txBody>
      </p:sp>
      <p:sp>
        <p:nvSpPr>
          <p:cNvPr id="19" name="Text 17"/>
          <p:cNvSpPr/>
          <p:nvPr/>
        </p:nvSpPr>
        <p:spPr>
          <a:xfrm>
            <a:off x="4937760" y="2660904"/>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15–25 should-costs per engineer-day — directional cost early in the programme, while wall thickness and process can still change</a:t>
            </a:r>
            <a:endParaRPr lang="en-US" sz="810" dirty="0"/>
          </a:p>
        </p:txBody>
      </p:sp>
      <p:sp>
        <p:nvSpPr>
          <p:cNvPr id="20" name="Text 18"/>
          <p:cNvSpPr/>
          <p:nvPr/>
        </p:nvSpPr>
        <p:spPr>
          <a:xfrm>
            <a:off x="10012680" y="2660904"/>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Business Case I</a:t>
            </a:r>
            <a:endParaRPr lang="en-US" sz="810" dirty="0"/>
          </a:p>
        </p:txBody>
      </p:sp>
      <p:sp>
        <p:nvSpPr>
          <p:cNvPr id="21" name="Text 19"/>
          <p:cNvSpPr/>
          <p:nvPr/>
        </p:nvSpPr>
        <p:spPr>
          <a:xfrm>
            <a:off x="457200" y="3268980"/>
            <a:ext cx="2148840" cy="608076"/>
          </a:xfrm>
          <a:prstGeom prst="rect">
            <a:avLst/>
          </a:prstGeom>
          <a:solidFill>
            <a:srgbClr val="F0F4F9"/>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4 · Total man-hours saved</a:t>
            </a:r>
            <a:endParaRPr lang="en-US" sz="870" dirty="0"/>
          </a:p>
        </p:txBody>
      </p:sp>
      <p:sp>
        <p:nvSpPr>
          <p:cNvPr id="22" name="Text 20"/>
          <p:cNvSpPr/>
          <p:nvPr/>
        </p:nvSpPr>
        <p:spPr>
          <a:xfrm>
            <a:off x="2606040" y="3268980"/>
            <a:ext cx="23317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a:t>
            </a:r>
            <a:endParaRPr lang="en-US" sz="810" dirty="0"/>
          </a:p>
        </p:txBody>
      </p:sp>
      <p:sp>
        <p:nvSpPr>
          <p:cNvPr id="23" name="Text 21"/>
          <p:cNvSpPr/>
          <p:nvPr/>
        </p:nvSpPr>
        <p:spPr>
          <a:xfrm>
            <a:off x="4937760" y="3268980"/>
            <a:ext cx="50749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Σ (CAPEE hrs − CostVision hrs) × annual parts, per commodity. Illustrative 500-part/yr mix ≈ 1,650 h/yr ≈ one engineer-year — replace with our real volumes</a:t>
            </a:r>
            <a:endParaRPr lang="en-US" sz="810" dirty="0"/>
          </a:p>
        </p:txBody>
      </p:sp>
      <p:sp>
        <p:nvSpPr>
          <p:cNvPr id="24" name="Text 22"/>
          <p:cNvSpPr/>
          <p:nvPr/>
        </p:nvSpPr>
        <p:spPr>
          <a:xfrm>
            <a:off x="10012680" y="3268980"/>
            <a:ext cx="1691640" cy="608076"/>
          </a:xfrm>
          <a:prstGeom prst="rect">
            <a:avLst/>
          </a:prstGeom>
          <a:solidFill>
            <a:srgbClr val="F0F4F9"/>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Business Case I strip</a:t>
            </a:r>
            <a:endParaRPr lang="en-US" sz="810" dirty="0"/>
          </a:p>
        </p:txBody>
      </p:sp>
      <p:sp>
        <p:nvSpPr>
          <p:cNvPr id="25" name="Text 23"/>
          <p:cNvSpPr/>
          <p:nvPr/>
        </p:nvSpPr>
        <p:spPr>
          <a:xfrm>
            <a:off x="457200" y="3877056"/>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5 · DFM / DFA insights</a:t>
            </a:r>
            <a:endParaRPr lang="en-US" sz="870" dirty="0"/>
          </a:p>
        </p:txBody>
      </p:sp>
      <p:sp>
        <p:nvSpPr>
          <p:cNvPr id="26" name="Text 24"/>
          <p:cNvSpPr/>
          <p:nvPr/>
        </p:nvSpPr>
        <p:spPr>
          <a:xfrm>
            <a:off x="2606040" y="3877056"/>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Not available</a:t>
            </a:r>
            <a:endParaRPr lang="en-US" sz="810" dirty="0"/>
          </a:p>
        </p:txBody>
      </p:sp>
      <p:sp>
        <p:nvSpPr>
          <p:cNvPr id="27" name="Text 25"/>
          <p:cNvSpPr/>
          <p:nvPr/>
        </p:nvSpPr>
        <p:spPr>
          <a:xfrm>
            <a:off x="4937760" y="3877056"/>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Generated by the deterministic COST ENGINE — ~37 threshold rules + 10 geometry advisors, scores by fixed arithmetic. Not by AI: the AI cannot write a score, severity or saving</a:t>
            </a:r>
            <a:endParaRPr lang="en-US" sz="810" dirty="0"/>
          </a:p>
        </p:txBody>
      </p:sp>
      <p:sp>
        <p:nvSpPr>
          <p:cNvPr id="28" name="Text 26"/>
          <p:cNvSpPr/>
          <p:nvPr/>
        </p:nvSpPr>
        <p:spPr>
          <a:xfrm>
            <a:off x="10012680" y="3877056"/>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DFM/DFA slide</a:t>
            </a:r>
            <a:endParaRPr lang="en-US" sz="810" dirty="0"/>
          </a:p>
        </p:txBody>
      </p:sp>
      <p:sp>
        <p:nvSpPr>
          <p:cNvPr id="29" name="Text 27"/>
          <p:cNvSpPr/>
          <p:nvPr/>
        </p:nvSpPr>
        <p:spPr>
          <a:xfrm>
            <a:off x="457200" y="4485132"/>
            <a:ext cx="2148840" cy="608076"/>
          </a:xfrm>
          <a:prstGeom prst="rect">
            <a:avLst/>
          </a:prstGeom>
          <a:solidFill>
            <a:srgbClr val="F0F4F9"/>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6 · Cost-saving ideas</a:t>
            </a:r>
            <a:endParaRPr lang="en-US" sz="870" dirty="0"/>
          </a:p>
        </p:txBody>
      </p:sp>
      <p:sp>
        <p:nvSpPr>
          <p:cNvPr id="30" name="Text 28"/>
          <p:cNvSpPr/>
          <p:nvPr/>
        </p:nvSpPr>
        <p:spPr>
          <a:xfrm>
            <a:off x="2606040" y="4485132"/>
            <a:ext cx="23317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Engineer’s own analysis</a:t>
            </a:r>
            <a:endParaRPr lang="en-US" sz="810" dirty="0"/>
          </a:p>
        </p:txBody>
      </p:sp>
      <p:sp>
        <p:nvSpPr>
          <p:cNvPr id="31" name="Text 29"/>
          <p:cNvSpPr/>
          <p:nvPr/>
        </p:nvSpPr>
        <p:spPr>
          <a:xfrm>
            <a:off x="4937760" y="4485132"/>
            <a:ext cx="50749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Generated by the cost engine’s rule layer and the optimisers — each idea priced in £/part with its lever owner (design / supplier / sourcing); the AI adds display-only commentary at most</a:t>
            </a:r>
            <a:endParaRPr lang="en-US" sz="810" dirty="0"/>
          </a:p>
        </p:txBody>
      </p:sp>
      <p:sp>
        <p:nvSpPr>
          <p:cNvPr id="32" name="Text 30"/>
          <p:cNvSpPr/>
          <p:nvPr/>
        </p:nvSpPr>
        <p:spPr>
          <a:xfrm>
            <a:off x="10012680" y="4485132"/>
            <a:ext cx="1691640" cy="608076"/>
          </a:xfrm>
          <a:prstGeom prst="rect">
            <a:avLst/>
          </a:prstGeom>
          <a:solidFill>
            <a:srgbClr val="F0F4F9"/>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DFM + routing slides</a:t>
            </a:r>
            <a:endParaRPr lang="en-US" sz="810" dirty="0"/>
          </a:p>
        </p:txBody>
      </p:sp>
      <p:sp>
        <p:nvSpPr>
          <p:cNvPr id="33" name="Text 31"/>
          <p:cNvSpPr/>
          <p:nvPr/>
        </p:nvSpPr>
        <p:spPr>
          <a:xfrm>
            <a:off x="457200" y="5093208"/>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7 · Beyond a conventional tool</a:t>
            </a:r>
            <a:endParaRPr lang="en-US" sz="870" dirty="0"/>
          </a:p>
        </p:txBody>
      </p:sp>
      <p:sp>
        <p:nvSpPr>
          <p:cNvPr id="34" name="Text 32"/>
          <p:cNvSpPr/>
          <p:nvPr/>
        </p:nvSpPr>
        <p:spPr>
          <a:xfrm>
            <a:off x="2606040" y="5093208"/>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a:t>
            </a:r>
            <a:endParaRPr lang="en-US" sz="810" dirty="0"/>
          </a:p>
        </p:txBody>
      </p:sp>
      <p:sp>
        <p:nvSpPr>
          <p:cNvPr id="35" name="Text 33"/>
          <p:cNvSpPr/>
          <p:nvPr/>
        </p:nvSpPr>
        <p:spPr>
          <a:xfrm>
            <a:off x="4937760" y="5093208"/>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20-region pricing on every run · confidence band · negotiation pack · every cost line carries its printed derivation · self-audit · learns from actuals · landed cost incl. duty/CBAM · carbon · PCB photo→BOM · air-gapped mode</a:t>
            </a:r>
            <a:endParaRPr lang="en-US" sz="810" dirty="0"/>
          </a:p>
        </p:txBody>
      </p:sp>
      <p:sp>
        <p:nvSpPr>
          <p:cNvPr id="36" name="Text 34"/>
          <p:cNvSpPr/>
          <p:nvPr/>
        </p:nvSpPr>
        <p:spPr>
          <a:xfrm>
            <a:off x="10012680" y="5093208"/>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Throughout the deck</a:t>
            </a:r>
            <a:endParaRPr lang="en-US" sz="810" dirty="0"/>
          </a:p>
        </p:txBody>
      </p:sp>
      <p:sp>
        <p:nvSpPr>
          <p:cNvPr id="37" name="Shape 35"/>
          <p:cNvSpPr/>
          <p:nvPr/>
        </p:nvSpPr>
        <p:spPr>
          <a:xfrm>
            <a:off x="457200" y="5806440"/>
            <a:ext cx="11274552" cy="548640"/>
          </a:xfrm>
          <a:prstGeom prst="roundRect">
            <a:avLst>
              <a:gd name="adj" fmla="val 13333"/>
            </a:avLst>
          </a:prstGeom>
          <a:solidFill>
            <a:srgbClr val="EAF6EF"/>
          </a:solidFill>
          <a:ln w="12700">
            <a:solidFill>
              <a:srgbClr val="2E8B57"/>
            </a:solidFill>
            <a:prstDash val="solid"/>
          </a:ln>
        </p:spPr>
      </p:sp>
      <p:sp>
        <p:nvSpPr>
          <p:cNvPr id="38" name="Text 36"/>
          <p:cNvSpPr/>
          <p:nvPr/>
        </p:nvSpPr>
        <p:spPr>
          <a:xfrm>
            <a:off x="621792" y="5806440"/>
            <a:ext cx="10972800" cy="548640"/>
          </a:xfrm>
          <a:prstGeom prst="rect">
            <a:avLst/>
          </a:prstGeom>
          <a:noFill/>
          <a:ln/>
        </p:spPr>
        <p:txBody>
          <a:bodyPr wrap="square" lIns="0" tIns="0" rIns="0" bIns="0" rtlCol="0" anchor="ctr"/>
          <a:lstStyle/>
          <a:p>
            <a:pPr indent="0" marL="0">
              <a:buNone/>
            </a:pPr>
            <a:r>
              <a:rPr lang="en-US" sz="980" b="1" dirty="0">
                <a:solidFill>
                  <a:srgbClr val="2E8B57"/>
                </a:solidFill>
                <a:latin typeface="Calibri" pitchFamily="34" charset="0"/>
                <a:ea typeface="Calibri" pitchFamily="34" charset="-122"/>
                <a:cs typeface="Calibri" pitchFamily="34" charset="-120"/>
              </a:rPr>
              <a:t>The honest one-liner:  </a:t>
            </a:r>
            <a:pPr indent="0" marL="0">
              <a:buNone/>
            </a:pPr>
            <a:r>
              <a:rPr lang="en-US" sz="980" dirty="0">
                <a:solidFill>
                  <a:srgbClr val="3A4356"/>
                </a:solidFill>
                <a:latin typeface="Calibri" pitchFamily="34" charset="0"/>
                <a:ea typeface="Calibri" pitchFamily="34" charset="-122"/>
                <a:cs typeface="Calibri" pitchFamily="34" charset="-120"/>
              </a:rPr>
              <a:t>CAPEE is a costing calculator that a person feeds; CostVision is a measuring, deciding and explaining system with the same deterministic arithmetic at its core — the AI reads part descriptions and writes commentary, and is never allowed to touch a number.</a:t>
            </a:r>
            <a:endParaRPr lang="en-US" sz="980" dirty="0"/>
          </a:p>
        </p:txBody>
      </p:sp>
      <p:sp>
        <p:nvSpPr>
          <p:cNvPr id="39" name="Text 3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0" name="Text 3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III — Evidence, Coverage, Cost to Run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 figure on this slide is measured from the tool — nothing is projected</a:t>
            </a:r>
            <a:endParaRPr lang="en-US" sz="1200" dirty="0"/>
          </a:p>
        </p:txBody>
      </p:sp>
      <p:sp>
        <p:nvSpPr>
          <p:cNvPr id="5" name="Shape 3"/>
          <p:cNvSpPr/>
          <p:nvPr/>
        </p:nvSpPr>
        <p:spPr>
          <a:xfrm>
            <a:off x="457200" y="1078992"/>
            <a:ext cx="2706624" cy="1024128"/>
          </a:xfrm>
          <a:prstGeom prst="roundRect">
            <a:avLst>
              <a:gd name="adj" fmla="val 8036"/>
            </a:avLst>
          </a:prstGeom>
          <a:solidFill>
            <a:srgbClr val="FFFFFF"/>
          </a:solidFill>
          <a:ln w="12700">
            <a:solidFill>
              <a:srgbClr val="DCE3EE"/>
            </a:solidFill>
            <a:prstDash val="solid"/>
          </a:ln>
        </p:spPr>
      </p:sp>
      <p:sp>
        <p:nvSpPr>
          <p:cNvPr id="6" name="Text 4"/>
          <p:cNvSpPr/>
          <p:nvPr/>
        </p:nvSpPr>
        <p:spPr>
          <a:xfrm>
            <a:off x="594360" y="1152144"/>
            <a:ext cx="2423160" cy="475488"/>
          </a:xfrm>
          <a:prstGeom prst="rect">
            <a:avLst/>
          </a:prstGeom>
          <a:noFill/>
          <a:ln/>
        </p:spPr>
        <p:txBody>
          <a:bodyPr wrap="square" lIns="0" tIns="0" rIns="0" bIns="0" rtlCol="0" anchor="ctr"/>
          <a:lstStyle/>
          <a:p>
            <a:pPr indent="0" marL="0">
              <a:buNone/>
            </a:pPr>
            <a:r>
              <a:rPr lang="en-US" sz="3000" b="1" dirty="0">
                <a:solidFill>
                  <a:srgbClr val="0E8074"/>
                </a:solidFill>
                <a:latin typeface="Cambria" pitchFamily="34" charset="0"/>
                <a:ea typeface="Cambria" pitchFamily="34" charset="-122"/>
                <a:cs typeface="Cambria" pitchFamily="34" charset="-120"/>
              </a:rPr>
              <a:t>16–30×</a:t>
            </a:r>
            <a:endParaRPr lang="en-US" sz="3000" dirty="0"/>
          </a:p>
        </p:txBody>
      </p:sp>
      <p:sp>
        <p:nvSpPr>
          <p:cNvPr id="7" name="Text 5"/>
          <p:cNvSpPr/>
          <p:nvPr/>
        </p:nvSpPr>
        <p:spPr>
          <a:xfrm>
            <a:off x="594360"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faster than the confirmed</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CAPEE baseline</a:t>
            </a:r>
            <a:endParaRPr lang="en-US" sz="860" dirty="0"/>
          </a:p>
        </p:txBody>
      </p:sp>
      <p:sp>
        <p:nvSpPr>
          <p:cNvPr id="8" name="Shape 6"/>
          <p:cNvSpPr/>
          <p:nvPr/>
        </p:nvSpPr>
        <p:spPr>
          <a:xfrm>
            <a:off x="3346704" y="1078992"/>
            <a:ext cx="2706624" cy="1024128"/>
          </a:xfrm>
          <a:prstGeom prst="roundRect">
            <a:avLst>
              <a:gd name="adj" fmla="val 8036"/>
            </a:avLst>
          </a:prstGeom>
          <a:solidFill>
            <a:srgbClr val="FFFFFF"/>
          </a:solidFill>
          <a:ln w="12700">
            <a:solidFill>
              <a:srgbClr val="DCE3EE"/>
            </a:solidFill>
            <a:prstDash val="solid"/>
          </a:ln>
        </p:spPr>
      </p:sp>
      <p:sp>
        <p:nvSpPr>
          <p:cNvPr id="9" name="Text 7"/>
          <p:cNvSpPr/>
          <p:nvPr/>
        </p:nvSpPr>
        <p:spPr>
          <a:xfrm>
            <a:off x="3483864" y="1152144"/>
            <a:ext cx="2423160" cy="475488"/>
          </a:xfrm>
          <a:prstGeom prst="rect">
            <a:avLst/>
          </a:prstGeom>
          <a:noFill/>
          <a:ln/>
        </p:spPr>
        <p:txBody>
          <a:bodyPr wrap="square" lIns="0" tIns="0" rIns="0" bIns="0" rtlCol="0" anchor="ctr"/>
          <a:lstStyle/>
          <a:p>
            <a:pPr indent="0" marL="0">
              <a:buNone/>
            </a:pPr>
            <a:r>
              <a:rPr lang="en-US" sz="3000" b="1" dirty="0">
                <a:solidFill>
                  <a:srgbClr val="2E8B57"/>
                </a:solidFill>
                <a:latin typeface="Cambria" pitchFamily="34" charset="0"/>
                <a:ea typeface="Cambria" pitchFamily="34" charset="-122"/>
                <a:cs typeface="Cambria" pitchFamily="34" charset="-120"/>
              </a:rPr>
              <a:t>£0</a:t>
            </a:r>
            <a:endParaRPr lang="en-US" sz="3000" dirty="0"/>
          </a:p>
        </p:txBody>
      </p:sp>
      <p:sp>
        <p:nvSpPr>
          <p:cNvPr id="10" name="Text 8"/>
          <p:cNvSpPr/>
          <p:nvPr/>
        </p:nvSpPr>
        <p:spPr>
          <a:xfrm>
            <a:off x="3483864"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marginal cost per estimate</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in Rules mode — no AI call</a:t>
            </a:r>
            <a:endParaRPr lang="en-US" sz="860" dirty="0"/>
          </a:p>
        </p:txBody>
      </p:sp>
      <p:sp>
        <p:nvSpPr>
          <p:cNvPr id="11" name="Shape 9"/>
          <p:cNvSpPr/>
          <p:nvPr/>
        </p:nvSpPr>
        <p:spPr>
          <a:xfrm>
            <a:off x="6236208" y="1078992"/>
            <a:ext cx="2706624" cy="1024128"/>
          </a:xfrm>
          <a:prstGeom prst="roundRect">
            <a:avLst>
              <a:gd name="adj" fmla="val 8036"/>
            </a:avLst>
          </a:prstGeom>
          <a:solidFill>
            <a:srgbClr val="FFFFFF"/>
          </a:solidFill>
          <a:ln w="12700">
            <a:solidFill>
              <a:srgbClr val="DCE3EE"/>
            </a:solidFill>
            <a:prstDash val="solid"/>
          </a:ln>
        </p:spPr>
      </p:sp>
      <p:sp>
        <p:nvSpPr>
          <p:cNvPr id="12" name="Text 10"/>
          <p:cNvSpPr/>
          <p:nvPr/>
        </p:nvSpPr>
        <p:spPr>
          <a:xfrm>
            <a:off x="6373368" y="1152144"/>
            <a:ext cx="2423160" cy="475488"/>
          </a:xfrm>
          <a:prstGeom prst="rect">
            <a:avLst/>
          </a:prstGeom>
          <a:noFill/>
          <a:ln/>
        </p:spPr>
        <p:txBody>
          <a:bodyPr wrap="square" lIns="0" tIns="0" rIns="0" bIns="0" rtlCol="0" anchor="ctr"/>
          <a:lstStyle/>
          <a:p>
            <a:pPr indent="0" marL="0">
              <a:buNone/>
            </a:pPr>
            <a:r>
              <a:rPr lang="en-US" sz="3000" b="1" dirty="0">
                <a:solidFill>
                  <a:srgbClr val="1D6FB8"/>
                </a:solidFill>
                <a:latin typeface="Cambria" pitchFamily="34" charset="0"/>
                <a:ea typeface="Cambria" pitchFamily="34" charset="-122"/>
                <a:cs typeface="Cambria" pitchFamily="34" charset="-120"/>
              </a:rPr>
              <a:t>20</a:t>
            </a:r>
            <a:endParaRPr lang="en-US" sz="3000" dirty="0"/>
          </a:p>
        </p:txBody>
      </p:sp>
      <p:sp>
        <p:nvSpPr>
          <p:cNvPr id="13" name="Text 11"/>
          <p:cNvSpPr/>
          <p:nvPr/>
        </p:nvSpPr>
        <p:spPr>
          <a:xfrm>
            <a:off x="6373368"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manufacturing regions</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priced on every run</a:t>
            </a:r>
            <a:endParaRPr lang="en-US" sz="860" dirty="0"/>
          </a:p>
        </p:txBody>
      </p:sp>
      <p:sp>
        <p:nvSpPr>
          <p:cNvPr id="14" name="Shape 12"/>
          <p:cNvSpPr/>
          <p:nvPr/>
        </p:nvSpPr>
        <p:spPr>
          <a:xfrm>
            <a:off x="9125712" y="1078992"/>
            <a:ext cx="2706624" cy="1024128"/>
          </a:xfrm>
          <a:prstGeom prst="roundRect">
            <a:avLst>
              <a:gd name="adj" fmla="val 8036"/>
            </a:avLst>
          </a:prstGeom>
          <a:solidFill>
            <a:srgbClr val="FFFFFF"/>
          </a:solidFill>
          <a:ln w="12700">
            <a:solidFill>
              <a:srgbClr val="DCE3EE"/>
            </a:solidFill>
            <a:prstDash val="solid"/>
          </a:ln>
        </p:spPr>
      </p:sp>
      <p:sp>
        <p:nvSpPr>
          <p:cNvPr id="15" name="Text 13"/>
          <p:cNvSpPr/>
          <p:nvPr/>
        </p:nvSpPr>
        <p:spPr>
          <a:xfrm>
            <a:off x="9262872" y="1152144"/>
            <a:ext cx="2423160" cy="475488"/>
          </a:xfrm>
          <a:prstGeom prst="rect">
            <a:avLst/>
          </a:prstGeom>
          <a:noFill/>
          <a:ln/>
        </p:spPr>
        <p:txBody>
          <a:bodyPr wrap="square" lIns="0" tIns="0" rIns="0" bIns="0" rtlCol="0" anchor="ctr"/>
          <a:lstStyle/>
          <a:p>
            <a:pPr indent="0" marL="0">
              <a:buNone/>
            </a:pPr>
            <a:r>
              <a:rPr lang="en-US" sz="3000" b="1" dirty="0">
                <a:solidFill>
                  <a:srgbClr val="16325C"/>
                </a:solidFill>
                <a:latin typeface="Cambria" pitchFamily="34" charset="0"/>
                <a:ea typeface="Cambria" pitchFamily="34" charset="-122"/>
                <a:cs typeface="Cambria" pitchFamily="34" charset="-120"/>
              </a:rPr>
              <a:t>100%</a:t>
            </a:r>
            <a:endParaRPr lang="en-US" sz="3000" dirty="0"/>
          </a:p>
        </p:txBody>
      </p:sp>
      <p:sp>
        <p:nvSpPr>
          <p:cNvPr id="16" name="Text 14"/>
          <p:cNvSpPr/>
          <p:nvPr/>
        </p:nvSpPr>
        <p:spPr>
          <a:xfrm>
            <a:off x="9262872"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of cost lines carry their</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own printed derivation</a:t>
            </a:r>
            <a:endParaRPr lang="en-US" sz="860" dirty="0"/>
          </a:p>
        </p:txBody>
      </p:sp>
      <p:sp>
        <p:nvSpPr>
          <p:cNvPr id="17" name="Text 15"/>
          <p:cNvSpPr/>
          <p:nvPr/>
        </p:nvSpPr>
        <p:spPr>
          <a:xfrm>
            <a:off x="457200" y="2340864"/>
            <a:ext cx="6949440" cy="201168"/>
          </a:xfrm>
          <a:prstGeom prst="rect">
            <a:avLst/>
          </a:prstGeom>
          <a:noFill/>
          <a:ln/>
        </p:spPr>
        <p:txBody>
          <a:bodyPr wrap="square" lIns="0" tIns="0" rIns="0" bIns="0" rtlCol="0" anchor="ctr"/>
          <a:lstStyle/>
          <a:p>
            <a:pPr indent="0" marL="0">
              <a:buNone/>
            </a:pPr>
            <a:r>
              <a:rPr lang="en-US" sz="850" b="1" spc="50" kern="0" dirty="0">
                <a:solidFill>
                  <a:srgbClr val="16325C"/>
                </a:solidFill>
                <a:latin typeface="Calibri" pitchFamily="34" charset="0"/>
                <a:ea typeface="Calibri" pitchFamily="34" charset="-122"/>
                <a:cs typeface="Calibri" pitchFamily="34" charset="-120"/>
              </a:rPr>
              <a:t>ACCURACY — 6 REAL PARTS vs INDEPENDENT MANUAL SHOULD-COSTS (China · 100k/yr)</a:t>
            </a:r>
            <a:endParaRPr lang="en-US" sz="850" dirty="0"/>
          </a:p>
        </p:txBody>
      </p:sp>
      <p:sp>
        <p:nvSpPr>
          <p:cNvPr id="18" name="Text 16"/>
          <p:cNvSpPr/>
          <p:nvPr/>
        </p:nvSpPr>
        <p:spPr>
          <a:xfrm>
            <a:off x="457200" y="2578608"/>
            <a:ext cx="2331720" cy="219456"/>
          </a:xfrm>
          <a:prstGeom prst="rect">
            <a:avLst/>
          </a:prstGeom>
          <a:solidFill>
            <a:srgbClr val="16325C"/>
          </a:solidFill>
          <a:ln/>
        </p:spPr>
        <p:txBody>
          <a:bodyPr wrap="square" lIns="508" tIns="508" rIns="508" bIns="508" rtlCol="0" anchor="ctr"/>
          <a:lstStyle/>
          <a:p>
            <a:pPr algn="l" indent="0" marL="0">
              <a:buNone/>
            </a:pPr>
            <a:r>
              <a:rPr lang="en-US" sz="820" b="1" dirty="0">
                <a:solidFill>
                  <a:srgbClr val="FFFFFF"/>
                </a:solidFill>
                <a:latin typeface="Calibri" pitchFamily="34" charset="0"/>
                <a:ea typeface="Calibri" pitchFamily="34" charset="-122"/>
                <a:cs typeface="Calibri" pitchFamily="34" charset="-120"/>
              </a:rPr>
              <a:t>Part</a:t>
            </a:r>
            <a:endParaRPr lang="en-US" sz="820" dirty="0"/>
          </a:p>
        </p:txBody>
      </p:sp>
      <p:sp>
        <p:nvSpPr>
          <p:cNvPr id="19" name="Text 17"/>
          <p:cNvSpPr/>
          <p:nvPr/>
        </p:nvSpPr>
        <p:spPr>
          <a:xfrm>
            <a:off x="2788920" y="2578608"/>
            <a:ext cx="960120" cy="219456"/>
          </a:xfrm>
          <a:prstGeom prst="rect">
            <a:avLst/>
          </a:prstGeom>
          <a:solidFill>
            <a:srgbClr val="16325C"/>
          </a:solidFill>
          <a:ln/>
        </p:spPr>
        <p:txBody>
          <a:bodyPr wrap="square" lIns="508" tIns="508" rIns="508" bIns="508"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Manual</a:t>
            </a:r>
            <a:endParaRPr lang="en-US" sz="820" dirty="0"/>
          </a:p>
        </p:txBody>
      </p:sp>
      <p:sp>
        <p:nvSpPr>
          <p:cNvPr id="20" name="Text 18"/>
          <p:cNvSpPr/>
          <p:nvPr/>
        </p:nvSpPr>
        <p:spPr>
          <a:xfrm>
            <a:off x="3749040" y="2578608"/>
            <a:ext cx="914400" cy="219456"/>
          </a:xfrm>
          <a:prstGeom prst="rect">
            <a:avLst/>
          </a:prstGeom>
          <a:solidFill>
            <a:srgbClr val="16325C"/>
          </a:solidFill>
          <a:ln/>
        </p:spPr>
        <p:txBody>
          <a:bodyPr wrap="square" lIns="508" tIns="508" rIns="508" bIns="508"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CostVision</a:t>
            </a:r>
            <a:endParaRPr lang="en-US" sz="820" dirty="0"/>
          </a:p>
        </p:txBody>
      </p:sp>
      <p:sp>
        <p:nvSpPr>
          <p:cNvPr id="21" name="Text 19"/>
          <p:cNvSpPr/>
          <p:nvPr/>
        </p:nvSpPr>
        <p:spPr>
          <a:xfrm>
            <a:off x="4663440" y="2578608"/>
            <a:ext cx="685800" cy="219456"/>
          </a:xfrm>
          <a:prstGeom prst="rect">
            <a:avLst/>
          </a:prstGeom>
          <a:solidFill>
            <a:srgbClr val="16325C"/>
          </a:solidFill>
          <a:ln/>
        </p:spPr>
        <p:txBody>
          <a:bodyPr wrap="square" lIns="508" tIns="508" rIns="508" bIns="508"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Error</a:t>
            </a:r>
            <a:endParaRPr lang="en-US" sz="820" dirty="0"/>
          </a:p>
        </p:txBody>
      </p:sp>
      <p:sp>
        <p:nvSpPr>
          <p:cNvPr id="22" name="Text 20"/>
          <p:cNvSpPr/>
          <p:nvPr/>
        </p:nvSpPr>
        <p:spPr>
          <a:xfrm>
            <a:off x="457200" y="2798064"/>
            <a:ext cx="2331720" cy="288036"/>
          </a:xfrm>
          <a:prstGeom prst="rect">
            <a:avLst/>
          </a:prstGeom>
          <a:solidFill>
            <a:srgbClr val="FFFFFF"/>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Fuel tank (blow-moulded)</a:t>
            </a:r>
            <a:endParaRPr lang="en-US" sz="830" dirty="0"/>
          </a:p>
        </p:txBody>
      </p:sp>
      <p:sp>
        <p:nvSpPr>
          <p:cNvPr id="23" name="Text 21"/>
          <p:cNvSpPr/>
          <p:nvPr/>
        </p:nvSpPr>
        <p:spPr>
          <a:xfrm>
            <a:off x="2788920" y="2798064"/>
            <a:ext cx="96012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£20–30</a:t>
            </a:r>
            <a:endParaRPr lang="en-US" sz="830" dirty="0"/>
          </a:p>
        </p:txBody>
      </p:sp>
      <p:sp>
        <p:nvSpPr>
          <p:cNvPr id="24" name="Text 22"/>
          <p:cNvSpPr/>
          <p:nvPr/>
        </p:nvSpPr>
        <p:spPr>
          <a:xfrm>
            <a:off x="3749040" y="2798064"/>
            <a:ext cx="91440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£25.92</a:t>
            </a:r>
            <a:endParaRPr lang="en-US" sz="830" dirty="0"/>
          </a:p>
        </p:txBody>
      </p:sp>
      <p:sp>
        <p:nvSpPr>
          <p:cNvPr id="25" name="Text 23"/>
          <p:cNvSpPr/>
          <p:nvPr/>
        </p:nvSpPr>
        <p:spPr>
          <a:xfrm>
            <a:off x="4663440" y="2798064"/>
            <a:ext cx="685800" cy="288036"/>
          </a:xfrm>
          <a:prstGeom prst="rect">
            <a:avLst/>
          </a:prstGeom>
          <a:solidFill>
            <a:srgbClr val="FFFFFF"/>
          </a:solidFill>
          <a:ln/>
        </p:spPr>
        <p:txBody>
          <a:bodyPr wrap="square" lIns="508" tIns="508" rIns="508" bIns="508" rtlCol="0" anchor="ctr"/>
          <a:lstStyle/>
          <a:p>
            <a:pPr algn="ctr" indent="0" marL="0">
              <a:buNone/>
            </a:pPr>
            <a:r>
              <a:rPr lang="en-US" sz="830" b="1" dirty="0">
                <a:solidFill>
                  <a:srgbClr val="2E8B57"/>
                </a:solidFill>
                <a:latin typeface="Calibri" pitchFamily="34" charset="0"/>
                <a:ea typeface="Calibri" pitchFamily="34" charset="-122"/>
                <a:cs typeface="Calibri" pitchFamily="34" charset="-120"/>
              </a:rPr>
              <a:t>+4%</a:t>
            </a:r>
            <a:endParaRPr lang="en-US" sz="830" dirty="0"/>
          </a:p>
        </p:txBody>
      </p:sp>
      <p:sp>
        <p:nvSpPr>
          <p:cNvPr id="26" name="Text 24"/>
          <p:cNvSpPr/>
          <p:nvPr/>
        </p:nvSpPr>
        <p:spPr>
          <a:xfrm>
            <a:off x="457200" y="3086100"/>
            <a:ext cx="2331720" cy="288036"/>
          </a:xfrm>
          <a:prstGeom prst="rect">
            <a:avLst/>
          </a:prstGeom>
          <a:solidFill>
            <a:srgbClr val="F0F4F9"/>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Front bumper (inj. moulded)</a:t>
            </a:r>
            <a:endParaRPr lang="en-US" sz="830" dirty="0"/>
          </a:p>
        </p:txBody>
      </p:sp>
      <p:sp>
        <p:nvSpPr>
          <p:cNvPr id="27" name="Text 25"/>
          <p:cNvSpPr/>
          <p:nvPr/>
        </p:nvSpPr>
        <p:spPr>
          <a:xfrm>
            <a:off x="2788920" y="3086100"/>
            <a:ext cx="96012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£8–9</a:t>
            </a:r>
            <a:endParaRPr lang="en-US" sz="830" dirty="0"/>
          </a:p>
        </p:txBody>
      </p:sp>
      <p:sp>
        <p:nvSpPr>
          <p:cNvPr id="28" name="Text 26"/>
          <p:cNvSpPr/>
          <p:nvPr/>
        </p:nvSpPr>
        <p:spPr>
          <a:xfrm>
            <a:off x="3749040" y="3086100"/>
            <a:ext cx="91440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£8.28</a:t>
            </a:r>
            <a:endParaRPr lang="en-US" sz="830" dirty="0"/>
          </a:p>
        </p:txBody>
      </p:sp>
      <p:sp>
        <p:nvSpPr>
          <p:cNvPr id="29" name="Text 27"/>
          <p:cNvSpPr/>
          <p:nvPr/>
        </p:nvSpPr>
        <p:spPr>
          <a:xfrm>
            <a:off x="4663440" y="3086100"/>
            <a:ext cx="685800" cy="288036"/>
          </a:xfrm>
          <a:prstGeom prst="rect">
            <a:avLst/>
          </a:prstGeom>
          <a:solidFill>
            <a:srgbClr val="F0F4F9"/>
          </a:solidFill>
          <a:ln/>
        </p:spPr>
        <p:txBody>
          <a:bodyPr wrap="square" lIns="508" tIns="508" rIns="508" bIns="508" rtlCol="0" anchor="ctr"/>
          <a:lstStyle/>
          <a:p>
            <a:pPr algn="ctr" indent="0" marL="0">
              <a:buNone/>
            </a:pPr>
            <a:r>
              <a:rPr lang="en-US" sz="830" b="1" dirty="0">
                <a:solidFill>
                  <a:srgbClr val="2E8B57"/>
                </a:solidFill>
                <a:latin typeface="Calibri" pitchFamily="34" charset="0"/>
                <a:ea typeface="Calibri" pitchFamily="34" charset="-122"/>
                <a:cs typeface="Calibri" pitchFamily="34" charset="-120"/>
              </a:rPr>
              <a:t>−3%</a:t>
            </a:r>
            <a:endParaRPr lang="en-US" sz="830" dirty="0"/>
          </a:p>
        </p:txBody>
      </p:sp>
      <p:sp>
        <p:nvSpPr>
          <p:cNvPr id="30" name="Text 28"/>
          <p:cNvSpPr/>
          <p:nvPr/>
        </p:nvSpPr>
        <p:spPr>
          <a:xfrm>
            <a:off x="457200" y="3374136"/>
            <a:ext cx="2331720" cy="288036"/>
          </a:xfrm>
          <a:prstGeom prst="rect">
            <a:avLst/>
          </a:prstGeom>
          <a:solidFill>
            <a:srgbClr val="FFFFFF"/>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Seat cross-member (pressed)</a:t>
            </a:r>
            <a:endParaRPr lang="en-US" sz="830" dirty="0"/>
          </a:p>
        </p:txBody>
      </p:sp>
      <p:sp>
        <p:nvSpPr>
          <p:cNvPr id="31" name="Text 29"/>
          <p:cNvSpPr/>
          <p:nvPr/>
        </p:nvSpPr>
        <p:spPr>
          <a:xfrm>
            <a:off x="2788920" y="3374136"/>
            <a:ext cx="96012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£1.20–1.60</a:t>
            </a:r>
            <a:endParaRPr lang="en-US" sz="830" dirty="0"/>
          </a:p>
        </p:txBody>
      </p:sp>
      <p:sp>
        <p:nvSpPr>
          <p:cNvPr id="32" name="Text 30"/>
          <p:cNvSpPr/>
          <p:nvPr/>
        </p:nvSpPr>
        <p:spPr>
          <a:xfrm>
            <a:off x="3749040" y="3374136"/>
            <a:ext cx="91440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£1.33</a:t>
            </a:r>
            <a:endParaRPr lang="en-US" sz="830" dirty="0"/>
          </a:p>
        </p:txBody>
      </p:sp>
      <p:sp>
        <p:nvSpPr>
          <p:cNvPr id="33" name="Text 31"/>
          <p:cNvSpPr/>
          <p:nvPr/>
        </p:nvSpPr>
        <p:spPr>
          <a:xfrm>
            <a:off x="4663440" y="3374136"/>
            <a:ext cx="685800" cy="288036"/>
          </a:xfrm>
          <a:prstGeom prst="rect">
            <a:avLst/>
          </a:prstGeom>
          <a:solidFill>
            <a:srgbClr val="FFFFFF"/>
          </a:solidFill>
          <a:ln/>
        </p:spPr>
        <p:txBody>
          <a:bodyPr wrap="square" lIns="508" tIns="508" rIns="508" bIns="508" rtlCol="0" anchor="ctr"/>
          <a:lstStyle/>
          <a:p>
            <a:pPr algn="ctr" indent="0" marL="0">
              <a:buNone/>
            </a:pPr>
            <a:r>
              <a:rPr lang="en-US" sz="830" b="1" dirty="0">
                <a:solidFill>
                  <a:srgbClr val="2E8B57"/>
                </a:solidFill>
                <a:latin typeface="Calibri" pitchFamily="34" charset="0"/>
                <a:ea typeface="Calibri" pitchFamily="34" charset="-122"/>
                <a:cs typeface="Calibri" pitchFamily="34" charset="-120"/>
              </a:rPr>
              <a:t>−5%</a:t>
            </a:r>
            <a:endParaRPr lang="en-US" sz="830" dirty="0"/>
          </a:p>
        </p:txBody>
      </p:sp>
      <p:sp>
        <p:nvSpPr>
          <p:cNvPr id="34" name="Text 32"/>
          <p:cNvSpPr/>
          <p:nvPr/>
        </p:nvSpPr>
        <p:spPr>
          <a:xfrm>
            <a:off x="457200" y="3662172"/>
            <a:ext cx="2331720" cy="288036"/>
          </a:xfrm>
          <a:prstGeom prst="rect">
            <a:avLst/>
          </a:prstGeom>
          <a:solidFill>
            <a:srgbClr val="F0F4F9"/>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Steering knuckle (cast+mach)</a:t>
            </a:r>
            <a:endParaRPr lang="en-US" sz="830" dirty="0"/>
          </a:p>
        </p:txBody>
      </p:sp>
      <p:sp>
        <p:nvSpPr>
          <p:cNvPr id="35" name="Text 33"/>
          <p:cNvSpPr/>
          <p:nvPr/>
        </p:nvSpPr>
        <p:spPr>
          <a:xfrm>
            <a:off x="2788920" y="3662172"/>
            <a:ext cx="96012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£16–18</a:t>
            </a:r>
            <a:endParaRPr lang="en-US" sz="830" dirty="0"/>
          </a:p>
        </p:txBody>
      </p:sp>
      <p:sp>
        <p:nvSpPr>
          <p:cNvPr id="36" name="Text 34"/>
          <p:cNvSpPr/>
          <p:nvPr/>
        </p:nvSpPr>
        <p:spPr>
          <a:xfrm>
            <a:off x="3749040" y="3662172"/>
            <a:ext cx="91440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£14.10</a:t>
            </a:r>
            <a:endParaRPr lang="en-US" sz="830" dirty="0"/>
          </a:p>
        </p:txBody>
      </p:sp>
      <p:sp>
        <p:nvSpPr>
          <p:cNvPr id="37" name="Text 35"/>
          <p:cNvSpPr/>
          <p:nvPr/>
        </p:nvSpPr>
        <p:spPr>
          <a:xfrm>
            <a:off x="4663440" y="3662172"/>
            <a:ext cx="685800" cy="288036"/>
          </a:xfrm>
          <a:prstGeom prst="rect">
            <a:avLst/>
          </a:prstGeom>
          <a:solidFill>
            <a:srgbClr val="F0F4F9"/>
          </a:solidFill>
          <a:ln/>
        </p:spPr>
        <p:txBody>
          <a:bodyPr wrap="square" lIns="508" tIns="508" rIns="508" bIns="508" rtlCol="0" anchor="ctr"/>
          <a:lstStyle/>
          <a:p>
            <a:pPr algn="ctr" indent="0" marL="0">
              <a:buNone/>
            </a:pPr>
            <a:r>
              <a:rPr lang="en-US" sz="830" b="1" dirty="0">
                <a:solidFill>
                  <a:srgbClr val="B7791F"/>
                </a:solidFill>
                <a:latin typeface="Calibri" pitchFamily="34" charset="0"/>
                <a:ea typeface="Calibri" pitchFamily="34" charset="-122"/>
                <a:cs typeface="Calibri" pitchFamily="34" charset="-120"/>
              </a:rPr>
              <a:t>−17%</a:t>
            </a:r>
            <a:endParaRPr lang="en-US" sz="830" dirty="0"/>
          </a:p>
        </p:txBody>
      </p:sp>
      <p:sp>
        <p:nvSpPr>
          <p:cNvPr id="38" name="Text 36"/>
          <p:cNvSpPr/>
          <p:nvPr/>
        </p:nvSpPr>
        <p:spPr>
          <a:xfrm>
            <a:off x="457200" y="3950208"/>
            <a:ext cx="2331720" cy="288036"/>
          </a:xfrm>
          <a:prstGeom prst="rect">
            <a:avLst/>
          </a:prstGeom>
          <a:solidFill>
            <a:srgbClr val="FFFFFF"/>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Stub axle (forged+mach)</a:t>
            </a:r>
            <a:endParaRPr lang="en-US" sz="830" dirty="0"/>
          </a:p>
        </p:txBody>
      </p:sp>
      <p:sp>
        <p:nvSpPr>
          <p:cNvPr id="39" name="Text 37"/>
          <p:cNvSpPr/>
          <p:nvPr/>
        </p:nvSpPr>
        <p:spPr>
          <a:xfrm>
            <a:off x="2788920" y="3950208"/>
            <a:ext cx="96012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 £30</a:t>
            </a:r>
            <a:endParaRPr lang="en-US" sz="830" dirty="0"/>
          </a:p>
        </p:txBody>
      </p:sp>
      <p:sp>
        <p:nvSpPr>
          <p:cNvPr id="40" name="Text 38"/>
          <p:cNvSpPr/>
          <p:nvPr/>
        </p:nvSpPr>
        <p:spPr>
          <a:xfrm>
            <a:off x="3749040" y="3950208"/>
            <a:ext cx="91440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£38.98</a:t>
            </a:r>
            <a:endParaRPr lang="en-US" sz="830" dirty="0"/>
          </a:p>
        </p:txBody>
      </p:sp>
      <p:sp>
        <p:nvSpPr>
          <p:cNvPr id="41" name="Text 39"/>
          <p:cNvSpPr/>
          <p:nvPr/>
        </p:nvSpPr>
        <p:spPr>
          <a:xfrm>
            <a:off x="4663440" y="3950208"/>
            <a:ext cx="685800" cy="288036"/>
          </a:xfrm>
          <a:prstGeom prst="rect">
            <a:avLst/>
          </a:prstGeom>
          <a:solidFill>
            <a:srgbClr val="FFFFFF"/>
          </a:solidFill>
          <a:ln/>
        </p:spPr>
        <p:txBody>
          <a:bodyPr wrap="square" lIns="508" tIns="508" rIns="508" bIns="508" rtlCol="0" anchor="ctr"/>
          <a:lstStyle/>
          <a:p>
            <a:pPr algn="ctr" indent="0" marL="0">
              <a:buNone/>
            </a:pPr>
            <a:r>
              <a:rPr lang="en-US" sz="830" b="1" dirty="0">
                <a:solidFill>
                  <a:srgbClr val="B7791F"/>
                </a:solidFill>
                <a:latin typeface="Calibri" pitchFamily="34" charset="0"/>
                <a:ea typeface="Calibri" pitchFamily="34" charset="-122"/>
                <a:cs typeface="Calibri" pitchFamily="34" charset="-120"/>
              </a:rPr>
              <a:t>+30%</a:t>
            </a:r>
            <a:endParaRPr lang="en-US" sz="830" dirty="0"/>
          </a:p>
        </p:txBody>
      </p:sp>
      <p:sp>
        <p:nvSpPr>
          <p:cNvPr id="42" name="Text 40"/>
          <p:cNvSpPr/>
          <p:nvPr/>
        </p:nvSpPr>
        <p:spPr>
          <a:xfrm>
            <a:off x="457200" y="4238244"/>
            <a:ext cx="2331720" cy="288036"/>
          </a:xfrm>
          <a:prstGeom prst="rect">
            <a:avLst/>
          </a:prstGeom>
          <a:solidFill>
            <a:srgbClr val="F0F4F9"/>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Servo horn (CNC, 3 g)</a:t>
            </a:r>
            <a:endParaRPr lang="en-US" sz="830" dirty="0"/>
          </a:p>
        </p:txBody>
      </p:sp>
      <p:sp>
        <p:nvSpPr>
          <p:cNvPr id="43" name="Text 41"/>
          <p:cNvSpPr/>
          <p:nvPr/>
        </p:nvSpPr>
        <p:spPr>
          <a:xfrm>
            <a:off x="2788920" y="4238244"/>
            <a:ext cx="96012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 £2.20</a:t>
            </a:r>
            <a:endParaRPr lang="en-US" sz="830" dirty="0"/>
          </a:p>
        </p:txBody>
      </p:sp>
      <p:sp>
        <p:nvSpPr>
          <p:cNvPr id="44" name="Text 42"/>
          <p:cNvSpPr/>
          <p:nvPr/>
        </p:nvSpPr>
        <p:spPr>
          <a:xfrm>
            <a:off x="3749040" y="4238244"/>
            <a:ext cx="91440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£2.65</a:t>
            </a:r>
            <a:endParaRPr lang="en-US" sz="830" dirty="0"/>
          </a:p>
        </p:txBody>
      </p:sp>
      <p:sp>
        <p:nvSpPr>
          <p:cNvPr id="45" name="Text 43"/>
          <p:cNvSpPr/>
          <p:nvPr/>
        </p:nvSpPr>
        <p:spPr>
          <a:xfrm>
            <a:off x="4663440" y="4238244"/>
            <a:ext cx="685800" cy="288036"/>
          </a:xfrm>
          <a:prstGeom prst="rect">
            <a:avLst/>
          </a:prstGeom>
          <a:solidFill>
            <a:srgbClr val="F0F4F9"/>
          </a:solidFill>
          <a:ln/>
        </p:spPr>
        <p:txBody>
          <a:bodyPr wrap="square" lIns="508" tIns="508" rIns="508" bIns="508" rtlCol="0" anchor="ctr"/>
          <a:lstStyle/>
          <a:p>
            <a:pPr algn="ctr" indent="0" marL="0">
              <a:buNone/>
            </a:pPr>
            <a:r>
              <a:rPr lang="en-US" sz="830" b="1" dirty="0">
                <a:solidFill>
                  <a:srgbClr val="B7791F"/>
                </a:solidFill>
                <a:latin typeface="Calibri" pitchFamily="34" charset="0"/>
                <a:ea typeface="Calibri" pitchFamily="34" charset="-122"/>
                <a:cs typeface="Calibri" pitchFamily="34" charset="-120"/>
              </a:rPr>
              <a:t>+21%</a:t>
            </a:r>
            <a:endParaRPr lang="en-US" sz="830" dirty="0"/>
          </a:p>
        </p:txBody>
      </p:sp>
      <p:sp>
        <p:nvSpPr>
          <p:cNvPr id="46" name="Text 44"/>
          <p:cNvSpPr/>
          <p:nvPr/>
        </p:nvSpPr>
        <p:spPr>
          <a:xfrm>
            <a:off x="457200" y="4590288"/>
            <a:ext cx="5394960" cy="731520"/>
          </a:xfrm>
          <a:prstGeom prst="rect">
            <a:avLst/>
          </a:prstGeom>
          <a:noFill/>
          <a:ln/>
        </p:spPr>
        <p:txBody>
          <a:bodyPr wrap="square" lIns="0" tIns="0" rIns="0" bIns="0" rtlCol="0" anchor="t"/>
          <a:lstStyle/>
          <a:p>
            <a:pPr indent="0" marL="0">
              <a:buNone/>
            </a:pPr>
            <a:r>
              <a:rPr lang="en-US" sz="900" b="1" dirty="0">
                <a:solidFill>
                  <a:srgbClr val="16325C"/>
                </a:solidFill>
                <a:latin typeface="Calibri" pitchFamily="34" charset="0"/>
                <a:ea typeface="Calibri" pitchFamily="34" charset="-122"/>
                <a:cs typeface="Calibri" pitchFamily="34" charset="-120"/>
              </a:rPr>
              <a:t>Fleet error ≈13% vs the AI path’s 28% on the same parts. </a:t>
            </a:r>
            <a:pPr indent="0" marL="0">
              <a:buNone/>
            </a:pPr>
            <a:r>
              <a:rPr lang="en-US" sz="900" dirty="0">
                <a:solidFill>
                  <a:srgbClr val="3A4356"/>
                </a:solidFill>
                <a:latin typeface="Calibri" pitchFamily="34" charset="0"/>
                <a:ea typeface="Calibri" pitchFamily="34" charset="-122"/>
                <a:cs typeface="Calibri" pitchFamily="34" charset="-120"/>
              </a:rPr>
              <a:t>Every miss is visible and every over-estimate errs on the negotiating side — no silent under-quote. Validated on these 6 parts; validation on unseen parts is the next step and is said so out loud.</a:t>
            </a:r>
            <a:endParaRPr lang="en-US" sz="900" dirty="0"/>
          </a:p>
        </p:txBody>
      </p:sp>
      <p:graphicFrame>
        <p:nvGraphicFramePr>
          <p:cNvPr id="47" name="Chart 0" descr=""/>
          <p:cNvGraphicFramePr/>
          <p:nvPr/>
        </p:nvGraphicFramePr>
        <p:xfrm>
          <a:off x="6035040" y="2432304"/>
          <a:ext cx="2834640" cy="2286000"/>
        </p:xfrm>
        <a:graphic xmlns:a="http://schemas.openxmlformats.org/drawingml/2006/main">
          <a:graphicData uri="http://schemas.openxmlformats.org/drawingml/2006/chart">
            <c:chart xmlns:c="http://schemas.openxmlformats.org/drawingml/2006/chart" r:id="rId1"/>
          </a:graphicData>
        </a:graphic>
      </p:graphicFrame>
      <p:graphicFrame>
        <p:nvGraphicFramePr>
          <p:cNvPr id="48" name="Chart 1" descr=""/>
          <p:cNvGraphicFramePr/>
          <p:nvPr/>
        </p:nvGraphicFramePr>
        <p:xfrm>
          <a:off x="9006840" y="2432304"/>
          <a:ext cx="2834640" cy="2286000"/>
        </p:xfrm>
        <a:graphic xmlns:a="http://schemas.openxmlformats.org/drawingml/2006/main">
          <a:graphicData uri="http://schemas.openxmlformats.org/drawingml/2006/chart">
            <c:chart xmlns:c="http://schemas.openxmlformats.org/drawingml/2006/chart" r:id="rId2"/>
          </a:graphicData>
        </a:graphic>
      </p:graphicFrame>
      <p:sp>
        <p:nvSpPr>
          <p:cNvPr id="49" name="Shape 45"/>
          <p:cNvSpPr/>
          <p:nvPr/>
        </p:nvSpPr>
        <p:spPr>
          <a:xfrm>
            <a:off x="457200" y="5440680"/>
            <a:ext cx="11274552" cy="932688"/>
          </a:xfrm>
          <a:prstGeom prst="roundRect">
            <a:avLst>
              <a:gd name="adj" fmla="val 8824"/>
            </a:avLst>
          </a:prstGeom>
          <a:solidFill>
            <a:srgbClr val="FCF3E3"/>
          </a:solidFill>
          <a:ln w="12700">
            <a:solidFill>
              <a:srgbClr val="B7791F"/>
            </a:solidFill>
            <a:prstDash val="solid"/>
          </a:ln>
        </p:spPr>
      </p:sp>
      <p:pic>
        <p:nvPicPr>
          <p:cNvPr id="50" name="Image 0" descr="preencoded.png">    </p:cNvPr>
          <p:cNvPicPr>
            <a:picLocks noChangeAspect="1"/>
          </p:cNvPicPr>
          <p:nvPr/>
        </p:nvPicPr>
        <p:blipFill>
          <a:blip r:embed="rId3"/>
          <a:stretch>
            <a:fillRect/>
          </a:stretch>
        </p:blipFill>
        <p:spPr>
          <a:xfrm>
            <a:off x="621792" y="5596128"/>
            <a:ext cx="237744" cy="237744"/>
          </a:xfrm>
          <a:prstGeom prst="rect">
            <a:avLst/>
          </a:prstGeom>
        </p:spPr>
      </p:pic>
      <p:sp>
        <p:nvSpPr>
          <p:cNvPr id="51" name="Text 46"/>
          <p:cNvSpPr/>
          <p:nvPr/>
        </p:nvSpPr>
        <p:spPr>
          <a:xfrm>
            <a:off x="960120" y="5504688"/>
            <a:ext cx="10607040" cy="82296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What we are NOT claiming — </a:t>
            </a:r>
            <a:pPr indent="0" marL="0">
              <a:buNone/>
            </a:pPr>
            <a:r>
              <a:rPr lang="en-US" sz="900" dirty="0">
                <a:solidFill>
                  <a:srgbClr val="3A4356"/>
                </a:solidFill>
                <a:latin typeface="Calibri" pitchFamily="34" charset="0"/>
                <a:ea typeface="Calibri" pitchFamily="34" charset="-122"/>
                <a:cs typeface="Calibri" pitchFamily="34" charset="-120"/>
              </a:rPr>
              <a:t>the tool does not read drawings or tolerances yet; it stops and asks the engineer for the material rather than guessing; accuracy is verified on 6 parts and the validation set is being widened before any accuracy figure goes into a supplier commitment. Every number above is reproducible from the tool today — the evidence pack (per-part derivations, all three benchmark rounds) accompanies this deck.</a:t>
            </a:r>
            <a:endParaRPr lang="en-US" sz="900" dirty="0"/>
          </a:p>
        </p:txBody>
      </p:sp>
      <p:sp>
        <p:nvSpPr>
          <p:cNvPr id="52" name="Text 4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3" name="Text 4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Shape 1"/>
          <p:cNvSpPr/>
          <p:nvPr/>
        </p:nvSpPr>
        <p:spPr>
          <a:xfrm>
            <a:off x="731520" y="548640"/>
            <a:ext cx="502920" cy="502920"/>
          </a:xfrm>
          <a:prstGeom prst="roundRect">
            <a:avLst>
              <a:gd name="adj" fmla="val 22000"/>
            </a:avLst>
          </a:prstGeom>
          <a:solidFill>
            <a:srgbClr val="4F46E5"/>
          </a:solidFill>
          <a:ln/>
        </p:spPr>
      </p:sp>
      <p:sp>
        <p:nvSpPr>
          <p:cNvPr id="4" name="Text 2"/>
          <p:cNvSpPr/>
          <p:nvPr/>
        </p:nvSpPr>
        <p:spPr>
          <a:xfrm>
            <a:off x="731520" y="548640"/>
            <a:ext cx="502920" cy="502920"/>
          </a:xfrm>
          <a:prstGeom prst="rect">
            <a:avLst/>
          </a:prstGeom>
          <a:noFill/>
          <a:ln/>
        </p:spPr>
        <p:txBody>
          <a:bodyPr wrap="square" lIns="0" tIns="0" rIns="0" bIns="0" rtlCol="0" anchor="ctr"/>
          <a:lstStyle/>
          <a:p>
            <a:pPr algn="ctr" indent="0" marL="0">
              <a:buNone/>
            </a:pPr>
            <a:r>
              <a:rPr lang="en-US" sz="1650" b="1" dirty="0">
                <a:solidFill>
                  <a:srgbClr val="FFFFFF"/>
                </a:solidFill>
                <a:latin typeface="Calibri" pitchFamily="34" charset="0"/>
                <a:ea typeface="Calibri" pitchFamily="34" charset="-122"/>
                <a:cs typeface="Calibri" pitchFamily="34" charset="-120"/>
              </a:rPr>
              <a:t>CV</a:t>
            </a:r>
            <a:endParaRPr lang="en-US" sz="1650" dirty="0"/>
          </a:p>
        </p:txBody>
      </p:sp>
      <p:sp>
        <p:nvSpPr>
          <p:cNvPr id="5" name="Text 3"/>
          <p:cNvSpPr/>
          <p:nvPr/>
        </p:nvSpPr>
        <p:spPr>
          <a:xfrm>
            <a:off x="731520" y="1828800"/>
            <a:ext cx="7315200" cy="292608"/>
          </a:xfrm>
          <a:prstGeom prst="rect">
            <a:avLst/>
          </a:prstGeom>
          <a:noFill/>
          <a:ln/>
        </p:spPr>
        <p:txBody>
          <a:bodyPr wrap="square" lIns="0" tIns="0" rIns="0" bIns="0" rtlCol="0" anchor="ctr"/>
          <a:lstStyle/>
          <a:p>
            <a:pPr indent="0" marL="0">
              <a:buNone/>
            </a:pPr>
            <a:r>
              <a:rPr lang="en-US" sz="1300" b="1" spc="160" kern="0" dirty="0">
                <a:solidFill>
                  <a:srgbClr val="0E8074"/>
                </a:solidFill>
                <a:latin typeface="Calibri" pitchFamily="34" charset="0"/>
                <a:ea typeface="Calibri" pitchFamily="34" charset="-122"/>
                <a:cs typeface="Calibri" pitchFamily="34" charset="-120"/>
              </a:rPr>
              <a:t>SECTION TWO</a:t>
            </a:r>
            <a:endParaRPr lang="en-US" sz="1300" dirty="0"/>
          </a:p>
        </p:txBody>
      </p:sp>
      <p:sp>
        <p:nvSpPr>
          <p:cNvPr id="6" name="Text 4"/>
          <p:cNvSpPr/>
          <p:nvPr/>
        </p:nvSpPr>
        <p:spPr>
          <a:xfrm>
            <a:off x="731520" y="2212848"/>
            <a:ext cx="8778240" cy="68580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A Die-Cast Aluminium Housing</a:t>
            </a:r>
            <a:endParaRPr lang="en-US" sz="3400" dirty="0"/>
          </a:p>
        </p:txBody>
      </p:sp>
      <p:sp>
        <p:nvSpPr>
          <p:cNvPr id="7" name="Text 5"/>
          <p:cNvSpPr/>
          <p:nvPr/>
        </p:nvSpPr>
        <p:spPr>
          <a:xfrm>
            <a:off x="731520" y="2980944"/>
            <a:ext cx="8778240" cy="310896"/>
          </a:xfrm>
          <a:prstGeom prst="rect">
            <a:avLst/>
          </a:prstGeom>
          <a:noFill/>
          <a:ln/>
        </p:spPr>
        <p:txBody>
          <a:bodyPr wrap="square" lIns="0" tIns="0" rIns="0" bIns="0" rtlCol="0" anchor="ctr"/>
          <a:lstStyle/>
          <a:p>
            <a:pPr indent="0" marL="0">
              <a:buNone/>
            </a:pPr>
            <a:r>
              <a:rPr lang="en-US" sz="1500" dirty="0">
                <a:solidFill>
                  <a:srgbClr val="8FA3CC"/>
                </a:solidFill>
                <a:latin typeface="Calibri" pitchFamily="34" charset="0"/>
                <a:ea typeface="Calibri" pitchFamily="34" charset="-122"/>
                <a:cs typeface="Calibri" pitchFamily="34" charset="-120"/>
              </a:rPr>
              <a:t>One real part, followed through all twelve stages</a:t>
            </a:r>
            <a:endParaRPr lang="en-US" sz="1500" dirty="0"/>
          </a:p>
        </p:txBody>
      </p:sp>
      <p:sp>
        <p:nvSpPr>
          <p:cNvPr id="8" name="Shape 6"/>
          <p:cNvSpPr/>
          <p:nvPr/>
        </p:nvSpPr>
        <p:spPr>
          <a:xfrm>
            <a:off x="786384" y="3730752"/>
            <a:ext cx="100584" cy="100584"/>
          </a:xfrm>
          <a:prstGeom prst="ellipse">
            <a:avLst/>
          </a:prstGeom>
          <a:solidFill>
            <a:srgbClr val="0E8074"/>
          </a:solidFill>
          <a:ln/>
        </p:spPr>
      </p:sp>
      <p:sp>
        <p:nvSpPr>
          <p:cNvPr id="9" name="Text 7"/>
          <p:cNvSpPr/>
          <p:nvPr/>
        </p:nvSpPr>
        <p:spPr>
          <a:xfrm>
            <a:off x="1078992" y="3639312"/>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What the geometry kernel measures, and what the AI is allowed to say</a:t>
            </a:r>
            <a:endParaRPr lang="en-US" sz="1200" dirty="0"/>
          </a:p>
        </p:txBody>
      </p:sp>
      <p:sp>
        <p:nvSpPr>
          <p:cNvPr id="10" name="Shape 8"/>
          <p:cNvSpPr/>
          <p:nvPr/>
        </p:nvSpPr>
        <p:spPr>
          <a:xfrm>
            <a:off x="786384" y="4059936"/>
            <a:ext cx="100584" cy="100584"/>
          </a:xfrm>
          <a:prstGeom prst="ellipse">
            <a:avLst/>
          </a:prstGeom>
          <a:solidFill>
            <a:srgbClr val="0E8074"/>
          </a:solidFill>
          <a:ln/>
        </p:spPr>
      </p:sp>
      <p:sp>
        <p:nvSpPr>
          <p:cNvPr id="11" name="Text 9"/>
          <p:cNvSpPr/>
          <p:nvPr/>
        </p:nvSpPr>
        <p:spPr>
          <a:xfrm>
            <a:off x="1078992" y="3968496"/>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Four automatic guards, and the autocorrect that fires when they disagree</a:t>
            </a:r>
            <a:endParaRPr lang="en-US" sz="1200" dirty="0"/>
          </a:p>
        </p:txBody>
      </p:sp>
      <p:sp>
        <p:nvSpPr>
          <p:cNvPr id="12" name="Shape 10"/>
          <p:cNvSpPr/>
          <p:nvPr/>
        </p:nvSpPr>
        <p:spPr>
          <a:xfrm>
            <a:off x="786384" y="4389120"/>
            <a:ext cx="100584" cy="100584"/>
          </a:xfrm>
          <a:prstGeom prst="ellipse">
            <a:avLst/>
          </a:prstGeom>
          <a:solidFill>
            <a:srgbClr val="0E8074"/>
          </a:solidFill>
          <a:ln/>
        </p:spPr>
      </p:sp>
      <p:sp>
        <p:nvSpPr>
          <p:cNvPr id="13" name="Text 11"/>
          <p:cNvSpPr/>
          <p:nvPr/>
        </p:nvSpPr>
        <p:spPr>
          <a:xfrm>
            <a:off x="1078992" y="4297680"/>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The press chosen by physics; every cutting minute derived from a feature</a:t>
            </a:r>
            <a:endParaRPr lang="en-US" sz="1200" dirty="0"/>
          </a:p>
        </p:txBody>
      </p:sp>
      <p:sp>
        <p:nvSpPr>
          <p:cNvPr id="14" name="Shape 12"/>
          <p:cNvSpPr/>
          <p:nvPr/>
        </p:nvSpPr>
        <p:spPr>
          <a:xfrm>
            <a:off x="786384" y="4718304"/>
            <a:ext cx="100584" cy="100584"/>
          </a:xfrm>
          <a:prstGeom prst="ellipse">
            <a:avLst/>
          </a:prstGeom>
          <a:solidFill>
            <a:srgbClr val="0E8074"/>
          </a:solidFill>
          <a:ln/>
        </p:spPr>
      </p:sp>
      <p:sp>
        <p:nvSpPr>
          <p:cNvPr id="15" name="Text 13"/>
          <p:cNvSpPr/>
          <p:nvPr/>
        </p:nvSpPr>
        <p:spPr>
          <a:xfrm>
            <a:off x="1078992" y="4626864"/>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Eight buckets, twenty countries, an honest range — and a person signing it off</a:t>
            </a:r>
            <a:endParaRPr lang="en-US" sz="1200" dirty="0"/>
          </a:p>
        </p:txBody>
      </p:sp>
      <p:sp>
        <p:nvSpPr>
          <p:cNvPr id="16" name="Shape 14"/>
          <p:cNvSpPr/>
          <p:nvPr/>
        </p:nvSpPr>
        <p:spPr>
          <a:xfrm>
            <a:off x="9692640" y="2212848"/>
            <a:ext cx="2039112" cy="914400"/>
          </a:xfrm>
          <a:prstGeom prst="roundRect">
            <a:avLst>
              <a:gd name="adj" fmla="val 10000"/>
            </a:avLst>
          </a:prstGeom>
          <a:solidFill>
            <a:srgbClr val="24406E"/>
          </a:solidFill>
          <a:ln/>
        </p:spPr>
      </p:sp>
      <p:sp>
        <p:nvSpPr>
          <p:cNvPr id="17" name="Text 15"/>
          <p:cNvSpPr/>
          <p:nvPr/>
        </p:nvSpPr>
        <p:spPr>
          <a:xfrm>
            <a:off x="9692640" y="2304288"/>
            <a:ext cx="2039112"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22</a:t>
            </a:r>
            <a:endParaRPr lang="en-US" sz="2600" dirty="0"/>
          </a:p>
        </p:txBody>
      </p:sp>
      <p:sp>
        <p:nvSpPr>
          <p:cNvPr id="18" name="Text 16"/>
          <p:cNvSpPr/>
          <p:nvPr/>
        </p:nvSpPr>
        <p:spPr>
          <a:xfrm>
            <a:off x="9692640" y="2743200"/>
            <a:ext cx="2039112" cy="274320"/>
          </a:xfrm>
          <a:prstGeom prst="rect">
            <a:avLst/>
          </a:prstGeom>
          <a:noFill/>
          <a:ln/>
        </p:spPr>
        <p:txBody>
          <a:bodyPr wrap="square" lIns="0" tIns="0" rIns="0" bIns="0" rtlCol="0" anchor="ctr"/>
          <a:lstStyle/>
          <a:p>
            <a:pPr algn="ctr" indent="0" marL="0">
              <a:buNone/>
            </a:pPr>
            <a:r>
              <a:rPr lang="en-US" sz="1100" dirty="0">
                <a:solidFill>
                  <a:srgbClr val="8FA3CC"/>
                </a:solidFill>
                <a:latin typeface="Calibri" pitchFamily="34" charset="0"/>
                <a:ea typeface="Calibri" pitchFamily="34" charset="-122"/>
                <a:cs typeface="Calibri" pitchFamily="34" charset="-120"/>
              </a:rPr>
              <a:t>minutes</a:t>
            </a:r>
            <a:endParaRPr lang="en-US" sz="1100" dirty="0"/>
          </a:p>
        </p:txBody>
      </p:sp>
      <p:sp>
        <p:nvSpPr>
          <p:cNvPr id="19" name="Text 1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20" name="Text 1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Part We Are Costing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One real component, followed from CAD file to defensible price</a:t>
            </a:r>
            <a:endParaRPr lang="en-US" sz="1200" dirty="0"/>
          </a:p>
        </p:txBody>
      </p:sp>
      <p:pic>
        <p:nvPicPr>
          <p:cNvPr id="5" name="Image 0" descr="assets/workflow-deck/part-housing.png">    </p:cNvPr>
          <p:cNvPicPr>
            <a:picLocks noChangeAspect="1"/>
          </p:cNvPicPr>
          <p:nvPr/>
        </p:nvPicPr>
        <p:blipFill>
          <a:blip r:embed="rId1"/>
          <a:stretch>
            <a:fillRect/>
          </a:stretch>
        </p:blipFill>
        <p:spPr>
          <a:xfrm>
            <a:off x="411480" y="1133856"/>
            <a:ext cx="7223760" cy="4041648"/>
          </a:xfrm>
          <a:prstGeom prst="rect">
            <a:avLst/>
          </a:prstGeom>
        </p:spPr>
      </p:pic>
      <p:sp>
        <p:nvSpPr>
          <p:cNvPr id="6" name="Shape 3"/>
          <p:cNvSpPr/>
          <p:nvPr/>
        </p:nvSpPr>
        <p:spPr>
          <a:xfrm>
            <a:off x="7818120" y="1133856"/>
            <a:ext cx="3913632" cy="4041648"/>
          </a:xfrm>
          <a:prstGeom prst="roundRect">
            <a:avLst>
              <a:gd name="adj" fmla="val 2336"/>
            </a:avLst>
          </a:prstGeom>
          <a:solidFill>
            <a:srgbClr val="FFFFFF"/>
          </a:solidFill>
          <a:ln w="12700">
            <a:solidFill>
              <a:srgbClr val="DCE3EE"/>
            </a:solidFill>
            <a:prstDash val="solid"/>
          </a:ln>
        </p:spPr>
      </p:sp>
      <p:sp>
        <p:nvSpPr>
          <p:cNvPr id="7" name="Text 4"/>
          <p:cNvSpPr/>
          <p:nvPr/>
        </p:nvSpPr>
        <p:spPr>
          <a:xfrm>
            <a:off x="8046720" y="1243584"/>
            <a:ext cx="3474720" cy="457200"/>
          </a:xfrm>
          <a:prstGeom prst="rect">
            <a:avLst/>
          </a:prstGeom>
          <a:noFill/>
          <a:ln/>
        </p:spPr>
        <p:txBody>
          <a:bodyPr wrap="square" lIns="0" tIns="0" rIns="0" bIns="0" rtlCol="0" anchor="ctr"/>
          <a:lstStyle/>
          <a:p>
            <a:pPr indent="0" marL="0">
              <a:buNone/>
            </a:pPr>
            <a:r>
              <a:rPr lang="en-US" sz="1300" b="1" dirty="0">
                <a:solidFill>
                  <a:srgbClr val="1D6FB8"/>
                </a:solidFill>
                <a:latin typeface="Calibri" pitchFamily="34" charset="0"/>
                <a:ea typeface="Calibri" pitchFamily="34" charset="-122"/>
                <a:cs typeface="Calibri" pitchFamily="34" charset="-120"/>
              </a:rPr>
              <a:t>Die-cast aluminium housing</a:t>
            </a:r>
            <a:endParaRPr lang="en-US" sz="1300" dirty="0"/>
          </a:p>
        </p:txBody>
      </p:sp>
      <p:sp>
        <p:nvSpPr>
          <p:cNvPr id="8" name="Text 5"/>
          <p:cNvSpPr/>
          <p:nvPr/>
        </p:nvSpPr>
        <p:spPr>
          <a:xfrm>
            <a:off x="8046720" y="1755648"/>
            <a:ext cx="3474720" cy="201168"/>
          </a:xfrm>
          <a:prstGeom prst="rect">
            <a:avLst/>
          </a:prstGeom>
          <a:noFill/>
          <a:ln/>
        </p:spPr>
        <p:txBody>
          <a:bodyPr wrap="square" lIns="0" tIns="0" rIns="0" bIns="0" rtlCol="0" anchor="ctr"/>
          <a:lstStyle/>
          <a:p>
            <a:pPr indent="0" marL="0">
              <a:buNone/>
            </a:pPr>
            <a:r>
              <a:rPr lang="en-US" sz="860" b="1" spc="60" kern="0" dirty="0">
                <a:solidFill>
                  <a:srgbClr val="6B7280"/>
                </a:solidFill>
                <a:latin typeface="Calibri" pitchFamily="34" charset="0"/>
                <a:ea typeface="Calibri" pitchFamily="34" charset="-122"/>
                <a:cs typeface="Calibri" pitchFamily="34" charset="-120"/>
              </a:rPr>
              <a:t>WHAT THE KERNEL WILL MEASURE</a:t>
            </a:r>
            <a:endParaRPr lang="en-US" sz="860" dirty="0"/>
          </a:p>
        </p:txBody>
      </p:sp>
      <p:sp>
        <p:nvSpPr>
          <p:cNvPr id="9" name="Shape 6"/>
          <p:cNvSpPr/>
          <p:nvPr/>
        </p:nvSpPr>
        <p:spPr>
          <a:xfrm>
            <a:off x="7955280" y="1993392"/>
            <a:ext cx="3639312" cy="256032"/>
          </a:xfrm>
          <a:prstGeom prst="rect">
            <a:avLst/>
          </a:prstGeom>
          <a:solidFill>
            <a:srgbClr val="F4F7FB"/>
          </a:solidFill>
          <a:ln/>
        </p:spPr>
      </p:sp>
      <p:sp>
        <p:nvSpPr>
          <p:cNvPr id="10" name="Text 7"/>
          <p:cNvSpPr/>
          <p:nvPr/>
        </p:nvSpPr>
        <p:spPr>
          <a:xfrm>
            <a:off x="8046720" y="20116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Finished weight</a:t>
            </a:r>
            <a:endParaRPr lang="en-US" sz="960" dirty="0"/>
          </a:p>
        </p:txBody>
      </p:sp>
      <p:sp>
        <p:nvSpPr>
          <p:cNvPr id="11" name="Text 8"/>
          <p:cNvSpPr/>
          <p:nvPr/>
        </p:nvSpPr>
        <p:spPr>
          <a:xfrm>
            <a:off x="10195560" y="20116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2.8 kg</a:t>
            </a:r>
            <a:endParaRPr lang="en-US" sz="1000" dirty="0"/>
          </a:p>
        </p:txBody>
      </p:sp>
      <p:sp>
        <p:nvSpPr>
          <p:cNvPr id="12" name="Text 9"/>
          <p:cNvSpPr/>
          <p:nvPr/>
        </p:nvSpPr>
        <p:spPr>
          <a:xfrm>
            <a:off x="8046720" y="22860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Poured weight</a:t>
            </a:r>
            <a:endParaRPr lang="en-US" sz="960" dirty="0"/>
          </a:p>
        </p:txBody>
      </p:sp>
      <p:sp>
        <p:nvSpPr>
          <p:cNvPr id="13" name="Text 10"/>
          <p:cNvSpPr/>
          <p:nvPr/>
        </p:nvSpPr>
        <p:spPr>
          <a:xfrm>
            <a:off x="10195560" y="22860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4.83 kg</a:t>
            </a:r>
            <a:endParaRPr lang="en-US" sz="1000" dirty="0"/>
          </a:p>
        </p:txBody>
      </p:sp>
      <p:sp>
        <p:nvSpPr>
          <p:cNvPr id="14" name="Shape 11"/>
          <p:cNvSpPr/>
          <p:nvPr/>
        </p:nvSpPr>
        <p:spPr>
          <a:xfrm>
            <a:off x="7955280" y="2542032"/>
            <a:ext cx="3639312" cy="256032"/>
          </a:xfrm>
          <a:prstGeom prst="rect">
            <a:avLst/>
          </a:prstGeom>
          <a:solidFill>
            <a:srgbClr val="F4F7FB"/>
          </a:solidFill>
          <a:ln/>
        </p:spPr>
      </p:sp>
      <p:sp>
        <p:nvSpPr>
          <p:cNvPr id="15" name="Text 12"/>
          <p:cNvSpPr/>
          <p:nvPr/>
        </p:nvSpPr>
        <p:spPr>
          <a:xfrm>
            <a:off x="8046720" y="25603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Wall thickness</a:t>
            </a:r>
            <a:endParaRPr lang="en-US" sz="960" dirty="0"/>
          </a:p>
        </p:txBody>
      </p:sp>
      <p:sp>
        <p:nvSpPr>
          <p:cNvPr id="16" name="Text 13"/>
          <p:cNvSpPr/>
          <p:nvPr/>
        </p:nvSpPr>
        <p:spPr>
          <a:xfrm>
            <a:off x="10195560" y="25603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 3.0 mm</a:t>
            </a:r>
            <a:endParaRPr lang="en-US" sz="1000" dirty="0"/>
          </a:p>
        </p:txBody>
      </p:sp>
      <p:sp>
        <p:nvSpPr>
          <p:cNvPr id="17" name="Text 14"/>
          <p:cNvSpPr/>
          <p:nvPr/>
        </p:nvSpPr>
        <p:spPr>
          <a:xfrm>
            <a:off x="8046720" y="28346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Projected shadow</a:t>
            </a:r>
            <a:endParaRPr lang="en-US" sz="960" dirty="0"/>
          </a:p>
        </p:txBody>
      </p:sp>
      <p:sp>
        <p:nvSpPr>
          <p:cNvPr id="18" name="Text 15"/>
          <p:cNvSpPr/>
          <p:nvPr/>
        </p:nvSpPr>
        <p:spPr>
          <a:xfrm>
            <a:off x="10195560" y="28346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1,650 cm²</a:t>
            </a:r>
            <a:endParaRPr lang="en-US" sz="1000" dirty="0"/>
          </a:p>
        </p:txBody>
      </p:sp>
      <p:sp>
        <p:nvSpPr>
          <p:cNvPr id="19" name="Shape 16"/>
          <p:cNvSpPr/>
          <p:nvPr/>
        </p:nvSpPr>
        <p:spPr>
          <a:xfrm>
            <a:off x="7955280" y="3090672"/>
            <a:ext cx="3639312" cy="256032"/>
          </a:xfrm>
          <a:prstGeom prst="rect">
            <a:avLst/>
          </a:prstGeom>
          <a:solidFill>
            <a:srgbClr val="F4F7FB"/>
          </a:solidFill>
          <a:ln/>
        </p:spPr>
      </p:sp>
      <p:sp>
        <p:nvSpPr>
          <p:cNvPr id="20" name="Text 17"/>
          <p:cNvSpPr/>
          <p:nvPr/>
        </p:nvSpPr>
        <p:spPr>
          <a:xfrm>
            <a:off x="8046720" y="310896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Precision bores</a:t>
            </a:r>
            <a:endParaRPr lang="en-US" sz="960" dirty="0"/>
          </a:p>
        </p:txBody>
      </p:sp>
      <p:sp>
        <p:nvSpPr>
          <p:cNvPr id="21" name="Text 18"/>
          <p:cNvSpPr/>
          <p:nvPr/>
        </p:nvSpPr>
        <p:spPr>
          <a:xfrm>
            <a:off x="10195560" y="310896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 × Ø40</a:t>
            </a:r>
            <a:endParaRPr lang="en-US" sz="1000" dirty="0"/>
          </a:p>
        </p:txBody>
      </p:sp>
      <p:sp>
        <p:nvSpPr>
          <p:cNvPr id="22" name="Text 19"/>
          <p:cNvSpPr/>
          <p:nvPr/>
        </p:nvSpPr>
        <p:spPr>
          <a:xfrm>
            <a:off x="8046720" y="33832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Tapped holes</a:t>
            </a:r>
            <a:endParaRPr lang="en-US" sz="960" dirty="0"/>
          </a:p>
        </p:txBody>
      </p:sp>
      <p:sp>
        <p:nvSpPr>
          <p:cNvPr id="23" name="Text 20"/>
          <p:cNvSpPr/>
          <p:nvPr/>
        </p:nvSpPr>
        <p:spPr>
          <a:xfrm>
            <a:off x="10195560" y="33832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 × M8</a:t>
            </a:r>
            <a:endParaRPr lang="en-US" sz="1000" dirty="0"/>
          </a:p>
        </p:txBody>
      </p:sp>
      <p:sp>
        <p:nvSpPr>
          <p:cNvPr id="24" name="Shape 21"/>
          <p:cNvSpPr/>
          <p:nvPr/>
        </p:nvSpPr>
        <p:spPr>
          <a:xfrm>
            <a:off x="7955280" y="3639312"/>
            <a:ext cx="3639312" cy="256032"/>
          </a:xfrm>
          <a:prstGeom prst="rect">
            <a:avLst/>
          </a:prstGeom>
          <a:solidFill>
            <a:srgbClr val="F4F7FB"/>
          </a:solidFill>
          <a:ln/>
        </p:spPr>
      </p:sp>
      <p:sp>
        <p:nvSpPr>
          <p:cNvPr id="25" name="Text 22"/>
          <p:cNvSpPr/>
          <p:nvPr/>
        </p:nvSpPr>
        <p:spPr>
          <a:xfrm>
            <a:off x="8046720" y="36576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Machined faces</a:t>
            </a:r>
            <a:endParaRPr lang="en-US" sz="960" dirty="0"/>
          </a:p>
        </p:txBody>
      </p:sp>
      <p:sp>
        <p:nvSpPr>
          <p:cNvPr id="26" name="Text 23"/>
          <p:cNvSpPr/>
          <p:nvPr/>
        </p:nvSpPr>
        <p:spPr>
          <a:xfrm>
            <a:off x="10195560" y="36576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a:t>
            </a:r>
            <a:endParaRPr lang="en-US" sz="1000" dirty="0"/>
          </a:p>
        </p:txBody>
      </p:sp>
      <p:sp>
        <p:nvSpPr>
          <p:cNvPr id="27" name="Text 24"/>
          <p:cNvSpPr/>
          <p:nvPr/>
        </p:nvSpPr>
        <p:spPr>
          <a:xfrm>
            <a:off x="8046720" y="39319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Annual volume</a:t>
            </a:r>
            <a:endParaRPr lang="en-US" sz="960" dirty="0"/>
          </a:p>
        </p:txBody>
      </p:sp>
      <p:sp>
        <p:nvSpPr>
          <p:cNvPr id="28" name="Text 25"/>
          <p:cNvSpPr/>
          <p:nvPr/>
        </p:nvSpPr>
        <p:spPr>
          <a:xfrm>
            <a:off x="10195560" y="39319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60,000</a:t>
            </a:r>
            <a:endParaRPr lang="en-US" sz="1000" dirty="0"/>
          </a:p>
        </p:txBody>
      </p:sp>
      <p:sp>
        <p:nvSpPr>
          <p:cNvPr id="29" name="Shape 26"/>
          <p:cNvSpPr/>
          <p:nvPr/>
        </p:nvSpPr>
        <p:spPr>
          <a:xfrm>
            <a:off x="7955280" y="4187952"/>
            <a:ext cx="3639312" cy="256032"/>
          </a:xfrm>
          <a:prstGeom prst="rect">
            <a:avLst/>
          </a:prstGeom>
          <a:solidFill>
            <a:srgbClr val="F4F7FB"/>
          </a:solidFill>
          <a:ln/>
        </p:spPr>
      </p:sp>
      <p:sp>
        <p:nvSpPr>
          <p:cNvPr id="30" name="Text 27"/>
          <p:cNvSpPr/>
          <p:nvPr/>
        </p:nvSpPr>
        <p:spPr>
          <a:xfrm>
            <a:off x="8046720" y="42062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Made in</a:t>
            </a:r>
            <a:endParaRPr lang="en-US" sz="960" dirty="0"/>
          </a:p>
        </p:txBody>
      </p:sp>
      <p:sp>
        <p:nvSpPr>
          <p:cNvPr id="31" name="Text 28"/>
          <p:cNvSpPr/>
          <p:nvPr/>
        </p:nvSpPr>
        <p:spPr>
          <a:xfrm>
            <a:off x="10195560" y="42062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China</a:t>
            </a:r>
            <a:endParaRPr lang="en-US" sz="1000" dirty="0"/>
          </a:p>
        </p:txBody>
      </p:sp>
      <p:sp>
        <p:nvSpPr>
          <p:cNvPr id="32" name="Text 29"/>
          <p:cNvSpPr/>
          <p:nvPr/>
        </p:nvSpPr>
        <p:spPr>
          <a:xfrm>
            <a:off x="8046720" y="4663440"/>
            <a:ext cx="3474720" cy="502920"/>
          </a:xfrm>
          <a:prstGeom prst="rect">
            <a:avLst/>
          </a:prstGeom>
          <a:noFill/>
          <a:ln/>
        </p:spPr>
        <p:txBody>
          <a:bodyPr wrap="square" lIns="0" tIns="0" rIns="0" bIns="0" rtlCol="0" anchor="t"/>
          <a:lstStyle/>
          <a:p>
            <a:pPr indent="0" marL="0">
              <a:buNone/>
            </a:pPr>
            <a:r>
              <a:rPr lang="en-US" sz="950" i="1" dirty="0">
                <a:solidFill>
                  <a:srgbClr val="3A4356"/>
                </a:solidFill>
                <a:latin typeface="Calibri" pitchFamily="34" charset="0"/>
                <a:ea typeface="Calibri" pitchFamily="34" charset="-122"/>
                <a:cs typeface="Calibri" pitchFamily="34" charset="-120"/>
              </a:rPr>
              <a:t>Every one came out of the 3D model — nobody typed them.</a:t>
            </a:r>
            <a:endParaRPr lang="en-US" sz="950" dirty="0"/>
          </a:p>
        </p:txBody>
      </p:sp>
      <p:sp>
        <p:nvSpPr>
          <p:cNvPr id="33" name="Text 30"/>
          <p:cNvSpPr/>
          <p:nvPr/>
        </p:nvSpPr>
        <p:spPr>
          <a:xfrm>
            <a:off x="457200" y="5266944"/>
            <a:ext cx="7132320" cy="219456"/>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Illustration — drawn to the dimensions the tool actually measured on this part.</a:t>
            </a:r>
            <a:endParaRPr lang="en-US" sz="840" dirty="0"/>
          </a:p>
        </p:txBody>
      </p:sp>
      <p:sp>
        <p:nvSpPr>
          <p:cNvPr id="34" name="Text 3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5" name="Text 3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Part, and the Journey It Takes</a:t>
            </a:r>
            <a:endParaRPr lang="en-US" sz="2500" dirty="0"/>
          </a:p>
        </p:txBody>
      </p:sp>
      <p:sp>
        <p:nvSpPr>
          <p:cNvPr id="3" name="Text 1"/>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One housing, twelve stages, about two minutes of computer time</a:t>
            </a:r>
            <a:endParaRPr lang="en-US" sz="1200" dirty="0"/>
          </a:p>
        </p:txBody>
      </p:sp>
      <p:sp>
        <p:nvSpPr>
          <p:cNvPr id="4" name="Shape 2"/>
          <p:cNvSpPr/>
          <p:nvPr/>
        </p:nvSpPr>
        <p:spPr>
          <a:xfrm>
            <a:off x="457200" y="1170432"/>
            <a:ext cx="11274552" cy="1051560"/>
          </a:xfrm>
          <a:prstGeom prst="roundRect">
            <a:avLst>
              <a:gd name="adj" fmla="val 8696"/>
            </a:avLst>
          </a:prstGeom>
          <a:solidFill>
            <a:srgbClr val="FFFFFF"/>
          </a:solidFill>
          <a:ln w="12700">
            <a:solidFill>
              <a:srgbClr val="DCE3EE"/>
            </a:solidFill>
            <a:prstDash val="solid"/>
          </a:ln>
        </p:spPr>
      </p:sp>
      <p:sp>
        <p:nvSpPr>
          <p:cNvPr id="5" name="Shape 3"/>
          <p:cNvSpPr/>
          <p:nvPr/>
        </p:nvSpPr>
        <p:spPr>
          <a:xfrm>
            <a:off x="658368" y="1371600"/>
            <a:ext cx="640080" cy="640080"/>
          </a:xfrm>
          <a:prstGeom prst="ellipse">
            <a:avLst/>
          </a:prstGeom>
          <a:solidFill>
            <a:srgbClr val="16325C"/>
          </a:solidFill>
          <a:ln/>
        </p:spPr>
      </p:sp>
      <p:pic>
        <p:nvPicPr>
          <p:cNvPr id="6" name="Image 0" descr="preencoded.png">    </p:cNvPr>
          <p:cNvPicPr>
            <a:picLocks noChangeAspect="1"/>
          </p:cNvPicPr>
          <p:nvPr/>
        </p:nvPicPr>
        <p:blipFill>
          <a:blip r:embed="rId1"/>
          <a:stretch>
            <a:fillRect/>
          </a:stretch>
        </p:blipFill>
        <p:spPr>
          <a:xfrm>
            <a:off x="822960" y="1536192"/>
            <a:ext cx="310896" cy="310896"/>
          </a:xfrm>
          <a:prstGeom prst="rect">
            <a:avLst/>
          </a:prstGeom>
        </p:spPr>
      </p:pic>
      <p:sp>
        <p:nvSpPr>
          <p:cNvPr id="7" name="Text 4"/>
          <p:cNvSpPr/>
          <p:nvPr/>
        </p:nvSpPr>
        <p:spPr>
          <a:xfrm>
            <a:off x="1463040" y="1298448"/>
            <a:ext cx="10058400" cy="310896"/>
          </a:xfrm>
          <a:prstGeom prst="rect">
            <a:avLst/>
          </a:prstGeom>
          <a:noFill/>
          <a:ln/>
        </p:spPr>
        <p:txBody>
          <a:bodyPr wrap="square" lIns="0" tIns="0" rIns="0" bIns="0" rtlCol="0" anchor="ctr"/>
          <a:lstStyle/>
          <a:p>
            <a:pPr indent="0" marL="0">
              <a:buNone/>
            </a:pPr>
            <a:r>
              <a:rPr lang="en-US" sz="1600" b="1" dirty="0">
                <a:solidFill>
                  <a:srgbClr val="16325C"/>
                </a:solidFill>
                <a:latin typeface="Calibri" pitchFamily="34" charset="0"/>
                <a:ea typeface="Calibri" pitchFamily="34" charset="-122"/>
                <a:cs typeface="Calibri" pitchFamily="34" charset="-120"/>
              </a:rPr>
              <a:t>Die-cast aluminium housing — cast in a steel mould, then machine-finished</a:t>
            </a:r>
            <a:endParaRPr lang="en-US" sz="1600" dirty="0"/>
          </a:p>
        </p:txBody>
      </p:sp>
      <p:sp>
        <p:nvSpPr>
          <p:cNvPr id="8" name="Shape 5"/>
          <p:cNvSpPr/>
          <p:nvPr/>
        </p:nvSpPr>
        <p:spPr>
          <a:xfrm>
            <a:off x="1463040" y="1691640"/>
            <a:ext cx="1371600" cy="292608"/>
          </a:xfrm>
          <a:prstGeom prst="roundRect">
            <a:avLst>
              <a:gd name="adj" fmla="val 50000"/>
            </a:avLst>
          </a:prstGeom>
          <a:solidFill>
            <a:srgbClr val="E8F1FA"/>
          </a:solidFill>
          <a:ln w="9525">
            <a:solidFill>
              <a:srgbClr val="DCE3EE"/>
            </a:solidFill>
            <a:prstDash val="solid"/>
          </a:ln>
        </p:spPr>
      </p:sp>
      <p:sp>
        <p:nvSpPr>
          <p:cNvPr id="9" name="Text 6"/>
          <p:cNvSpPr/>
          <p:nvPr/>
        </p:nvSpPr>
        <p:spPr>
          <a:xfrm>
            <a:off x="1463040"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2.8 kg finished</a:t>
            </a:r>
            <a:endParaRPr lang="en-US" sz="850" dirty="0"/>
          </a:p>
        </p:txBody>
      </p:sp>
      <p:sp>
        <p:nvSpPr>
          <p:cNvPr id="10" name="Shape 7"/>
          <p:cNvSpPr/>
          <p:nvPr/>
        </p:nvSpPr>
        <p:spPr>
          <a:xfrm>
            <a:off x="2907792" y="1691640"/>
            <a:ext cx="1371600" cy="292608"/>
          </a:xfrm>
          <a:prstGeom prst="roundRect">
            <a:avLst>
              <a:gd name="adj" fmla="val 50000"/>
            </a:avLst>
          </a:prstGeom>
          <a:solidFill>
            <a:srgbClr val="E8F1FA"/>
          </a:solidFill>
          <a:ln w="9525">
            <a:solidFill>
              <a:srgbClr val="DCE3EE"/>
            </a:solidFill>
            <a:prstDash val="solid"/>
          </a:ln>
        </p:spPr>
      </p:sp>
      <p:sp>
        <p:nvSpPr>
          <p:cNvPr id="11" name="Text 8"/>
          <p:cNvSpPr/>
          <p:nvPr/>
        </p:nvSpPr>
        <p:spPr>
          <a:xfrm>
            <a:off x="2907792"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~3 mm walls</a:t>
            </a:r>
            <a:endParaRPr lang="en-US" sz="850" dirty="0"/>
          </a:p>
        </p:txBody>
      </p:sp>
      <p:sp>
        <p:nvSpPr>
          <p:cNvPr id="12" name="Shape 9"/>
          <p:cNvSpPr/>
          <p:nvPr/>
        </p:nvSpPr>
        <p:spPr>
          <a:xfrm>
            <a:off x="4352544" y="1691640"/>
            <a:ext cx="1371600" cy="292608"/>
          </a:xfrm>
          <a:prstGeom prst="roundRect">
            <a:avLst>
              <a:gd name="adj" fmla="val 50000"/>
            </a:avLst>
          </a:prstGeom>
          <a:solidFill>
            <a:srgbClr val="E8F1FA"/>
          </a:solidFill>
          <a:ln w="9525">
            <a:solidFill>
              <a:srgbClr val="DCE3EE"/>
            </a:solidFill>
            <a:prstDash val="solid"/>
          </a:ln>
        </p:spPr>
      </p:sp>
      <p:sp>
        <p:nvSpPr>
          <p:cNvPr id="13" name="Text 10"/>
          <p:cNvSpPr/>
          <p:nvPr/>
        </p:nvSpPr>
        <p:spPr>
          <a:xfrm>
            <a:off x="4352544"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 precision bores</a:t>
            </a:r>
            <a:endParaRPr lang="en-US" sz="850" dirty="0"/>
          </a:p>
        </p:txBody>
      </p:sp>
      <p:sp>
        <p:nvSpPr>
          <p:cNvPr id="14" name="Shape 11"/>
          <p:cNvSpPr/>
          <p:nvPr/>
        </p:nvSpPr>
        <p:spPr>
          <a:xfrm>
            <a:off x="5797296" y="1691640"/>
            <a:ext cx="1371600" cy="292608"/>
          </a:xfrm>
          <a:prstGeom prst="roundRect">
            <a:avLst>
              <a:gd name="adj" fmla="val 50000"/>
            </a:avLst>
          </a:prstGeom>
          <a:solidFill>
            <a:srgbClr val="E8F1FA"/>
          </a:solidFill>
          <a:ln w="9525">
            <a:solidFill>
              <a:srgbClr val="DCE3EE"/>
            </a:solidFill>
            <a:prstDash val="solid"/>
          </a:ln>
        </p:spPr>
      </p:sp>
      <p:sp>
        <p:nvSpPr>
          <p:cNvPr id="15" name="Text 12"/>
          <p:cNvSpPr/>
          <p:nvPr/>
        </p:nvSpPr>
        <p:spPr>
          <a:xfrm>
            <a:off x="5797296"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16 holes to thread</a:t>
            </a:r>
            <a:endParaRPr lang="en-US" sz="850" dirty="0"/>
          </a:p>
        </p:txBody>
      </p:sp>
      <p:sp>
        <p:nvSpPr>
          <p:cNvPr id="16" name="Shape 13"/>
          <p:cNvSpPr/>
          <p:nvPr/>
        </p:nvSpPr>
        <p:spPr>
          <a:xfrm>
            <a:off x="7242048" y="1691640"/>
            <a:ext cx="1371600" cy="292608"/>
          </a:xfrm>
          <a:prstGeom prst="roundRect">
            <a:avLst>
              <a:gd name="adj" fmla="val 50000"/>
            </a:avLst>
          </a:prstGeom>
          <a:solidFill>
            <a:srgbClr val="E8F1FA"/>
          </a:solidFill>
          <a:ln w="9525">
            <a:solidFill>
              <a:srgbClr val="DCE3EE"/>
            </a:solidFill>
            <a:prstDash val="solid"/>
          </a:ln>
        </p:spPr>
      </p:sp>
      <p:sp>
        <p:nvSpPr>
          <p:cNvPr id="17" name="Text 14"/>
          <p:cNvSpPr/>
          <p:nvPr/>
        </p:nvSpPr>
        <p:spPr>
          <a:xfrm>
            <a:off x="7242048"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 machined faces</a:t>
            </a:r>
            <a:endParaRPr lang="en-US" sz="850" dirty="0"/>
          </a:p>
        </p:txBody>
      </p:sp>
      <p:sp>
        <p:nvSpPr>
          <p:cNvPr id="18" name="Shape 15"/>
          <p:cNvSpPr/>
          <p:nvPr/>
        </p:nvSpPr>
        <p:spPr>
          <a:xfrm>
            <a:off x="8686800" y="1691640"/>
            <a:ext cx="1371600" cy="292608"/>
          </a:xfrm>
          <a:prstGeom prst="roundRect">
            <a:avLst>
              <a:gd name="adj" fmla="val 50000"/>
            </a:avLst>
          </a:prstGeom>
          <a:solidFill>
            <a:srgbClr val="E8F1FA"/>
          </a:solidFill>
          <a:ln w="9525">
            <a:solidFill>
              <a:srgbClr val="DCE3EE"/>
            </a:solidFill>
            <a:prstDash val="solid"/>
          </a:ln>
        </p:spPr>
      </p:sp>
      <p:sp>
        <p:nvSpPr>
          <p:cNvPr id="19" name="Text 16"/>
          <p:cNvSpPr/>
          <p:nvPr/>
        </p:nvSpPr>
        <p:spPr>
          <a:xfrm>
            <a:off x="8686800"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60,000 a year</a:t>
            </a:r>
            <a:endParaRPr lang="en-US" sz="850" dirty="0"/>
          </a:p>
        </p:txBody>
      </p:sp>
      <p:sp>
        <p:nvSpPr>
          <p:cNvPr id="20" name="Shape 17"/>
          <p:cNvSpPr/>
          <p:nvPr/>
        </p:nvSpPr>
        <p:spPr>
          <a:xfrm>
            <a:off x="10131552" y="1691640"/>
            <a:ext cx="1371600" cy="292608"/>
          </a:xfrm>
          <a:prstGeom prst="roundRect">
            <a:avLst>
              <a:gd name="adj" fmla="val 50000"/>
            </a:avLst>
          </a:prstGeom>
          <a:solidFill>
            <a:srgbClr val="E8F1FA"/>
          </a:solidFill>
          <a:ln w="9525">
            <a:solidFill>
              <a:srgbClr val="DCE3EE"/>
            </a:solidFill>
            <a:prstDash val="solid"/>
          </a:ln>
        </p:spPr>
      </p:sp>
      <p:sp>
        <p:nvSpPr>
          <p:cNvPr id="21" name="Text 18"/>
          <p:cNvSpPr/>
          <p:nvPr/>
        </p:nvSpPr>
        <p:spPr>
          <a:xfrm>
            <a:off x="10131552"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Made in China</a:t>
            </a:r>
            <a:endParaRPr lang="en-US" sz="850" dirty="0"/>
          </a:p>
        </p:txBody>
      </p:sp>
      <p:sp>
        <p:nvSpPr>
          <p:cNvPr id="22" name="Shape 19"/>
          <p:cNvSpPr/>
          <p:nvPr/>
        </p:nvSpPr>
        <p:spPr>
          <a:xfrm>
            <a:off x="457200" y="2395728"/>
            <a:ext cx="2157984" cy="2377440"/>
          </a:xfrm>
          <a:prstGeom prst="roundRect">
            <a:avLst>
              <a:gd name="adj" fmla="val 3814"/>
            </a:avLst>
          </a:prstGeom>
          <a:solidFill>
            <a:srgbClr val="E8F1FA"/>
          </a:solidFill>
          <a:ln w="15875">
            <a:solidFill>
              <a:srgbClr val="1D6FB8"/>
            </a:solidFill>
            <a:prstDash val="solid"/>
          </a:ln>
        </p:spPr>
      </p:sp>
      <p:sp>
        <p:nvSpPr>
          <p:cNvPr id="23" name="Shape 20"/>
          <p:cNvSpPr/>
          <p:nvPr/>
        </p:nvSpPr>
        <p:spPr>
          <a:xfrm>
            <a:off x="457200" y="2395728"/>
            <a:ext cx="2157984" cy="384048"/>
          </a:xfrm>
          <a:prstGeom prst="rect">
            <a:avLst/>
          </a:prstGeom>
          <a:solidFill>
            <a:srgbClr val="1D6FB8"/>
          </a:solidFill>
          <a:ln/>
        </p:spPr>
      </p:sp>
      <p:sp>
        <p:nvSpPr>
          <p:cNvPr id="24" name="Text 21"/>
          <p:cNvSpPr/>
          <p:nvPr/>
        </p:nvSpPr>
        <p:spPr>
          <a:xfrm>
            <a:off x="457200"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MEASURE</a:t>
            </a:r>
            <a:endParaRPr lang="en-US" sz="1050" dirty="0"/>
          </a:p>
        </p:txBody>
      </p:sp>
      <p:sp>
        <p:nvSpPr>
          <p:cNvPr id="25" name="Text 22"/>
          <p:cNvSpPr/>
          <p:nvPr/>
        </p:nvSpPr>
        <p:spPr>
          <a:xfrm>
            <a:off x="457200" y="2834640"/>
            <a:ext cx="2157984" cy="201168"/>
          </a:xfrm>
          <a:prstGeom prst="rect">
            <a:avLst/>
          </a:prstGeom>
          <a:noFill/>
          <a:ln/>
        </p:spPr>
        <p:txBody>
          <a:bodyPr wrap="square" lIns="0" tIns="0" rIns="0" bIns="0" rtlCol="0" anchor="ctr"/>
          <a:lstStyle/>
          <a:p>
            <a:pPr algn="ctr" indent="0" marL="0">
              <a:buNone/>
            </a:pPr>
            <a:r>
              <a:rPr lang="en-US" sz="850" i="1" dirty="0">
                <a:solidFill>
                  <a:srgbClr val="1D6FB8"/>
                </a:solidFill>
                <a:latin typeface="Calibri" pitchFamily="34" charset="0"/>
                <a:ea typeface="Calibri" pitchFamily="34" charset="-122"/>
                <a:cs typeface="Calibri" pitchFamily="34" charset="-120"/>
              </a:rPr>
              <a:t>owner: Ruler</a:t>
            </a:r>
            <a:endParaRPr lang="en-US" sz="850" dirty="0"/>
          </a:p>
        </p:txBody>
      </p:sp>
      <p:sp>
        <p:nvSpPr>
          <p:cNvPr id="26" name="Text 23"/>
          <p:cNvSpPr/>
          <p:nvPr/>
        </p:nvSpPr>
        <p:spPr>
          <a:xfrm>
            <a:off x="585216"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 · Upload the file</a:t>
            </a:r>
            <a:endParaRPr lang="en-US" sz="930" dirty="0"/>
          </a:p>
        </p:txBody>
      </p:sp>
      <p:sp>
        <p:nvSpPr>
          <p:cNvPr id="27" name="Text 24"/>
          <p:cNvSpPr/>
          <p:nvPr/>
        </p:nvSpPr>
        <p:spPr>
          <a:xfrm>
            <a:off x="585216"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2 · Measure the geometry</a:t>
            </a:r>
            <a:endParaRPr lang="en-US" sz="930" dirty="0"/>
          </a:p>
        </p:txBody>
      </p:sp>
      <p:sp>
        <p:nvSpPr>
          <p:cNvPr id="28" name="Text 25"/>
          <p:cNvSpPr/>
          <p:nvPr/>
        </p:nvSpPr>
        <p:spPr>
          <a:xfrm>
            <a:off x="585216"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3 · Sense-check the shape</a:t>
            </a:r>
            <a:endParaRPr lang="en-US" sz="930" dirty="0"/>
          </a:p>
        </p:txBody>
      </p:sp>
      <p:sp>
        <p:nvSpPr>
          <p:cNvPr id="29" name="Text 26"/>
          <p:cNvSpPr/>
          <p:nvPr/>
        </p:nvSpPr>
        <p:spPr>
          <a:xfrm>
            <a:off x="585216" y="4389120"/>
            <a:ext cx="1901952" cy="292608"/>
          </a:xfrm>
          <a:prstGeom prst="rect">
            <a:avLst/>
          </a:prstGeom>
          <a:noFill/>
          <a:ln/>
        </p:spPr>
        <p:txBody>
          <a:bodyPr wrap="square" lIns="0" tIns="0" rIns="0" bIns="0" rtlCol="0" anchor="ctr"/>
          <a:lstStyle/>
          <a:p>
            <a:pPr algn="ctr" indent="0" marL="0">
              <a:buNone/>
            </a:pPr>
            <a:r>
              <a:rPr lang="en-US" sz="900" b="1" i="1" dirty="0">
                <a:solidFill>
                  <a:srgbClr val="1D6FB8"/>
                </a:solidFill>
                <a:latin typeface="Calibri" pitchFamily="34" charset="0"/>
                <a:ea typeface="Calibri" pitchFamily="34" charset="-122"/>
                <a:cs typeface="Calibri" pitchFamily="34" charset="-120"/>
              </a:rPr>
              <a:t>Facts, not opinions</a:t>
            </a:r>
            <a:endParaRPr lang="en-US" sz="900" dirty="0"/>
          </a:p>
        </p:txBody>
      </p:sp>
      <p:sp>
        <p:nvSpPr>
          <p:cNvPr id="30" name="Shape 27"/>
          <p:cNvSpPr/>
          <p:nvPr/>
        </p:nvSpPr>
        <p:spPr>
          <a:xfrm>
            <a:off x="2715768" y="2395728"/>
            <a:ext cx="2157984" cy="2377440"/>
          </a:xfrm>
          <a:prstGeom prst="roundRect">
            <a:avLst>
              <a:gd name="adj" fmla="val 3814"/>
            </a:avLst>
          </a:prstGeom>
          <a:solidFill>
            <a:srgbClr val="F1EBF8"/>
          </a:solidFill>
          <a:ln w="15875">
            <a:solidFill>
              <a:srgbClr val="6B3FA0"/>
            </a:solidFill>
            <a:prstDash val="solid"/>
          </a:ln>
        </p:spPr>
      </p:sp>
      <p:sp>
        <p:nvSpPr>
          <p:cNvPr id="31" name="Shape 28"/>
          <p:cNvSpPr/>
          <p:nvPr/>
        </p:nvSpPr>
        <p:spPr>
          <a:xfrm>
            <a:off x="2715768" y="2395728"/>
            <a:ext cx="2157984" cy="384048"/>
          </a:xfrm>
          <a:prstGeom prst="rect">
            <a:avLst/>
          </a:prstGeom>
          <a:solidFill>
            <a:srgbClr val="6B3FA0"/>
          </a:solidFill>
          <a:ln/>
        </p:spPr>
      </p:sp>
      <p:sp>
        <p:nvSpPr>
          <p:cNvPr id="32" name="Text 29"/>
          <p:cNvSpPr/>
          <p:nvPr/>
        </p:nvSpPr>
        <p:spPr>
          <a:xfrm>
            <a:off x="2715768"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AI READS (OPT.)</a:t>
            </a:r>
            <a:endParaRPr lang="en-US" sz="1050" dirty="0"/>
          </a:p>
        </p:txBody>
      </p:sp>
      <p:sp>
        <p:nvSpPr>
          <p:cNvPr id="33" name="Text 30"/>
          <p:cNvSpPr/>
          <p:nvPr/>
        </p:nvSpPr>
        <p:spPr>
          <a:xfrm>
            <a:off x="2715768" y="2834640"/>
            <a:ext cx="2157984" cy="201168"/>
          </a:xfrm>
          <a:prstGeom prst="rect">
            <a:avLst/>
          </a:prstGeom>
          <a:noFill/>
          <a:ln/>
        </p:spPr>
        <p:txBody>
          <a:bodyPr wrap="square" lIns="0" tIns="0" rIns="0" bIns="0" rtlCol="0" anchor="ctr"/>
          <a:lstStyle/>
          <a:p>
            <a:pPr algn="ctr" indent="0" marL="0">
              <a:buNone/>
            </a:pPr>
            <a:r>
              <a:rPr lang="en-US" sz="850" i="1" dirty="0">
                <a:solidFill>
                  <a:srgbClr val="6B3FA0"/>
                </a:solidFill>
                <a:latin typeface="Calibri" pitchFamily="34" charset="0"/>
                <a:ea typeface="Calibri" pitchFamily="34" charset="-122"/>
                <a:cs typeface="Calibri" pitchFamily="34" charset="-120"/>
              </a:rPr>
              <a:t>owner: AI — optional</a:t>
            </a:r>
            <a:endParaRPr lang="en-US" sz="850" dirty="0"/>
          </a:p>
        </p:txBody>
      </p:sp>
      <p:sp>
        <p:nvSpPr>
          <p:cNvPr id="34" name="Text 31"/>
          <p:cNvSpPr/>
          <p:nvPr/>
        </p:nvSpPr>
        <p:spPr>
          <a:xfrm>
            <a:off x="2843784"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4 · Second-opinion read</a:t>
            </a:r>
            <a:endParaRPr lang="en-US" sz="930" dirty="0"/>
          </a:p>
        </p:txBody>
      </p:sp>
      <p:sp>
        <p:nvSpPr>
          <p:cNvPr id="35" name="Text 32"/>
          <p:cNvSpPr/>
          <p:nvPr/>
        </p:nvSpPr>
        <p:spPr>
          <a:xfrm>
            <a:off x="2843784"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alloy · process · finish</a:t>
            </a:r>
            <a:endParaRPr lang="en-US" sz="930" dirty="0"/>
          </a:p>
        </p:txBody>
      </p:sp>
      <p:sp>
        <p:nvSpPr>
          <p:cNvPr id="36" name="Text 33"/>
          <p:cNvSpPr/>
          <p:nvPr/>
        </p:nvSpPr>
        <p:spPr>
          <a:xfrm>
            <a:off x="2843784"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skipped in Rules mode</a:t>
            </a:r>
            <a:endParaRPr lang="en-US" sz="930" dirty="0"/>
          </a:p>
        </p:txBody>
      </p:sp>
      <p:sp>
        <p:nvSpPr>
          <p:cNvPr id="37" name="Text 34"/>
          <p:cNvSpPr/>
          <p:nvPr/>
        </p:nvSpPr>
        <p:spPr>
          <a:xfrm>
            <a:off x="2843784" y="4389120"/>
            <a:ext cx="1901952" cy="292608"/>
          </a:xfrm>
          <a:prstGeom prst="rect">
            <a:avLst/>
          </a:prstGeom>
          <a:noFill/>
          <a:ln/>
        </p:spPr>
        <p:txBody>
          <a:bodyPr wrap="square" lIns="0" tIns="0" rIns="0" bIns="0" rtlCol="0" anchor="ctr"/>
          <a:lstStyle/>
          <a:p>
            <a:pPr algn="ctr" indent="0" marL="0">
              <a:buNone/>
            </a:pPr>
            <a:r>
              <a:rPr lang="en-US" sz="900" b="1" i="1" dirty="0">
                <a:solidFill>
                  <a:srgbClr val="6B3FA0"/>
                </a:solidFill>
                <a:latin typeface="Calibri" pitchFamily="34" charset="0"/>
                <a:ea typeface="Calibri" pitchFamily="34" charset="-122"/>
                <a:cs typeface="Calibri" pitchFamily="34" charset="-120"/>
              </a:rPr>
              <a:t>Words only — no prices</a:t>
            </a:r>
            <a:endParaRPr lang="en-US" sz="900" dirty="0"/>
          </a:p>
        </p:txBody>
      </p:sp>
      <p:sp>
        <p:nvSpPr>
          <p:cNvPr id="38" name="Shape 35"/>
          <p:cNvSpPr/>
          <p:nvPr/>
        </p:nvSpPr>
        <p:spPr>
          <a:xfrm>
            <a:off x="4974336" y="2395728"/>
            <a:ext cx="2157984" cy="2377440"/>
          </a:xfrm>
          <a:prstGeom prst="roundRect">
            <a:avLst>
              <a:gd name="adj" fmla="val 3814"/>
            </a:avLst>
          </a:prstGeom>
          <a:solidFill>
            <a:srgbClr val="FCF3E3"/>
          </a:solidFill>
          <a:ln w="15875">
            <a:solidFill>
              <a:srgbClr val="B7791F"/>
            </a:solidFill>
            <a:prstDash val="solid"/>
          </a:ln>
        </p:spPr>
      </p:sp>
      <p:sp>
        <p:nvSpPr>
          <p:cNvPr id="39" name="Shape 36"/>
          <p:cNvSpPr/>
          <p:nvPr/>
        </p:nvSpPr>
        <p:spPr>
          <a:xfrm>
            <a:off x="4974336" y="2395728"/>
            <a:ext cx="2157984" cy="384048"/>
          </a:xfrm>
          <a:prstGeom prst="rect">
            <a:avLst/>
          </a:prstGeom>
          <a:solidFill>
            <a:srgbClr val="B7791F"/>
          </a:solidFill>
          <a:ln/>
        </p:spPr>
      </p:sp>
      <p:sp>
        <p:nvSpPr>
          <p:cNvPr id="40" name="Text 37"/>
          <p:cNvSpPr/>
          <p:nvPr/>
        </p:nvSpPr>
        <p:spPr>
          <a:xfrm>
            <a:off x="4974336"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SAFETY CHECKS</a:t>
            </a:r>
            <a:endParaRPr lang="en-US" sz="1050" dirty="0"/>
          </a:p>
        </p:txBody>
      </p:sp>
      <p:sp>
        <p:nvSpPr>
          <p:cNvPr id="41" name="Text 38"/>
          <p:cNvSpPr/>
          <p:nvPr/>
        </p:nvSpPr>
        <p:spPr>
          <a:xfrm>
            <a:off x="4974336" y="2834640"/>
            <a:ext cx="2157984" cy="201168"/>
          </a:xfrm>
          <a:prstGeom prst="rect">
            <a:avLst/>
          </a:prstGeom>
          <a:noFill/>
          <a:ln/>
        </p:spPr>
        <p:txBody>
          <a:bodyPr wrap="square" lIns="0" tIns="0" rIns="0" bIns="0" rtlCol="0" anchor="ctr"/>
          <a:lstStyle/>
          <a:p>
            <a:pPr algn="ctr" indent="0" marL="0">
              <a:buNone/>
            </a:pPr>
            <a:r>
              <a:rPr lang="en-US" sz="850" i="1" dirty="0">
                <a:solidFill>
                  <a:srgbClr val="B7791F"/>
                </a:solidFill>
                <a:latin typeface="Calibri" pitchFamily="34" charset="0"/>
                <a:ea typeface="Calibri" pitchFamily="34" charset="-122"/>
                <a:cs typeface="Calibri" pitchFamily="34" charset="-120"/>
              </a:rPr>
              <a:t>owner: Engine</a:t>
            </a:r>
            <a:endParaRPr lang="en-US" sz="850" dirty="0"/>
          </a:p>
        </p:txBody>
      </p:sp>
      <p:sp>
        <p:nvSpPr>
          <p:cNvPr id="42" name="Text 39"/>
          <p:cNvSpPr/>
          <p:nvPr/>
        </p:nvSpPr>
        <p:spPr>
          <a:xfrm>
            <a:off x="5102352"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5 · Four automatic guards</a:t>
            </a:r>
            <a:endParaRPr lang="en-US" sz="930" dirty="0"/>
          </a:p>
        </p:txBody>
      </p:sp>
      <p:sp>
        <p:nvSpPr>
          <p:cNvPr id="43" name="Text 40"/>
          <p:cNvSpPr/>
          <p:nvPr/>
        </p:nvSpPr>
        <p:spPr>
          <a:xfrm>
            <a:off x="5102352"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6 · Autocorrect wrong calls</a:t>
            </a:r>
            <a:endParaRPr lang="en-US" sz="930" dirty="0"/>
          </a:p>
        </p:txBody>
      </p:sp>
      <p:sp>
        <p:nvSpPr>
          <p:cNvPr id="44" name="Text 41"/>
          <p:cNvSpPr/>
          <p:nvPr/>
        </p:nvSpPr>
        <p:spPr>
          <a:xfrm>
            <a:off x="5102352"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before any money is counted</a:t>
            </a:r>
            <a:endParaRPr lang="en-US" sz="930" dirty="0"/>
          </a:p>
        </p:txBody>
      </p:sp>
      <p:sp>
        <p:nvSpPr>
          <p:cNvPr id="45" name="Text 42"/>
          <p:cNvSpPr/>
          <p:nvPr/>
        </p:nvSpPr>
        <p:spPr>
          <a:xfrm>
            <a:off x="5102352" y="4389120"/>
            <a:ext cx="1901952" cy="292608"/>
          </a:xfrm>
          <a:prstGeom prst="rect">
            <a:avLst/>
          </a:prstGeom>
          <a:noFill/>
          <a:ln/>
        </p:spPr>
        <p:txBody>
          <a:bodyPr wrap="square" lIns="0" tIns="0" rIns="0" bIns="0" rtlCol="0" anchor="ctr"/>
          <a:lstStyle/>
          <a:p>
            <a:pPr algn="ctr" indent="0" marL="0">
              <a:buNone/>
            </a:pPr>
            <a:r>
              <a:rPr lang="en-US" sz="900" b="1" i="1" dirty="0">
                <a:solidFill>
                  <a:srgbClr val="B7791F"/>
                </a:solidFill>
                <a:latin typeface="Calibri" pitchFamily="34" charset="0"/>
                <a:ea typeface="Calibri" pitchFamily="34" charset="-122"/>
                <a:cs typeface="Calibri" pitchFamily="34" charset="-120"/>
              </a:rPr>
              <a:t>Measurements always win</a:t>
            </a:r>
            <a:endParaRPr lang="en-US" sz="900" dirty="0"/>
          </a:p>
        </p:txBody>
      </p:sp>
      <p:sp>
        <p:nvSpPr>
          <p:cNvPr id="46" name="Shape 43"/>
          <p:cNvSpPr/>
          <p:nvPr/>
        </p:nvSpPr>
        <p:spPr>
          <a:xfrm>
            <a:off x="7232904" y="2395728"/>
            <a:ext cx="2157984" cy="2377440"/>
          </a:xfrm>
          <a:prstGeom prst="roundRect">
            <a:avLst>
              <a:gd name="adj" fmla="val 3814"/>
            </a:avLst>
          </a:prstGeom>
          <a:solidFill>
            <a:srgbClr val="E6F4F1"/>
          </a:solidFill>
          <a:ln w="15875">
            <a:solidFill>
              <a:srgbClr val="0E8074"/>
            </a:solidFill>
            <a:prstDash val="solid"/>
          </a:ln>
        </p:spPr>
      </p:sp>
      <p:sp>
        <p:nvSpPr>
          <p:cNvPr id="47" name="Shape 44"/>
          <p:cNvSpPr/>
          <p:nvPr/>
        </p:nvSpPr>
        <p:spPr>
          <a:xfrm>
            <a:off x="7232904" y="2395728"/>
            <a:ext cx="2157984" cy="384048"/>
          </a:xfrm>
          <a:prstGeom prst="rect">
            <a:avLst/>
          </a:prstGeom>
          <a:solidFill>
            <a:srgbClr val="0E8074"/>
          </a:solidFill>
          <a:ln/>
        </p:spPr>
      </p:sp>
      <p:sp>
        <p:nvSpPr>
          <p:cNvPr id="48" name="Text 45"/>
          <p:cNvSpPr/>
          <p:nvPr/>
        </p:nvSpPr>
        <p:spPr>
          <a:xfrm>
            <a:off x="7232904"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CALCULATE</a:t>
            </a:r>
            <a:endParaRPr lang="en-US" sz="1050" dirty="0"/>
          </a:p>
        </p:txBody>
      </p:sp>
      <p:sp>
        <p:nvSpPr>
          <p:cNvPr id="49" name="Text 46"/>
          <p:cNvSpPr/>
          <p:nvPr/>
        </p:nvSpPr>
        <p:spPr>
          <a:xfrm>
            <a:off x="7232904" y="2834640"/>
            <a:ext cx="2157984" cy="201168"/>
          </a:xfrm>
          <a:prstGeom prst="rect">
            <a:avLst/>
          </a:prstGeom>
          <a:noFill/>
          <a:ln/>
        </p:spPr>
        <p:txBody>
          <a:bodyPr wrap="square" lIns="0" tIns="0" rIns="0" bIns="0" rtlCol="0" anchor="ctr"/>
          <a:lstStyle/>
          <a:p>
            <a:pPr algn="ctr" indent="0" marL="0">
              <a:buNone/>
            </a:pPr>
            <a:r>
              <a:rPr lang="en-US" sz="850" i="1" dirty="0">
                <a:solidFill>
                  <a:srgbClr val="0E8074"/>
                </a:solidFill>
                <a:latin typeface="Calibri" pitchFamily="34" charset="0"/>
                <a:ea typeface="Calibri" pitchFamily="34" charset="-122"/>
                <a:cs typeface="Calibri" pitchFamily="34" charset="-120"/>
              </a:rPr>
              <a:t>owner: Engine</a:t>
            </a:r>
            <a:endParaRPr lang="en-US" sz="850" dirty="0"/>
          </a:p>
        </p:txBody>
      </p:sp>
      <p:sp>
        <p:nvSpPr>
          <p:cNvPr id="50" name="Text 47"/>
          <p:cNvSpPr/>
          <p:nvPr/>
        </p:nvSpPr>
        <p:spPr>
          <a:xfrm>
            <a:off x="7360920"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7 · Pick machines &amp; cycles</a:t>
            </a:r>
            <a:endParaRPr lang="en-US" sz="930" dirty="0"/>
          </a:p>
        </p:txBody>
      </p:sp>
      <p:sp>
        <p:nvSpPr>
          <p:cNvPr id="51" name="Text 48"/>
          <p:cNvSpPr/>
          <p:nvPr/>
        </p:nvSpPr>
        <p:spPr>
          <a:xfrm>
            <a:off x="7360920"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8 · Cost every operation</a:t>
            </a:r>
            <a:endParaRPr lang="en-US" sz="930" dirty="0"/>
          </a:p>
        </p:txBody>
      </p:sp>
      <p:sp>
        <p:nvSpPr>
          <p:cNvPr id="52" name="Text 49"/>
          <p:cNvSpPr/>
          <p:nvPr/>
        </p:nvSpPr>
        <p:spPr>
          <a:xfrm>
            <a:off x="7360920"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9-10 · Build &amp; regionalise</a:t>
            </a:r>
            <a:endParaRPr lang="en-US" sz="930" dirty="0"/>
          </a:p>
        </p:txBody>
      </p:sp>
      <p:sp>
        <p:nvSpPr>
          <p:cNvPr id="53" name="Text 50"/>
          <p:cNvSpPr/>
          <p:nvPr/>
        </p:nvSpPr>
        <p:spPr>
          <a:xfrm>
            <a:off x="7360920" y="4389120"/>
            <a:ext cx="1901952" cy="292608"/>
          </a:xfrm>
          <a:prstGeom prst="rect">
            <a:avLst/>
          </a:prstGeom>
          <a:noFill/>
          <a:ln/>
        </p:spPr>
        <p:txBody>
          <a:bodyPr wrap="square" lIns="0" tIns="0" rIns="0" bIns="0" rtlCol="0" anchor="ctr"/>
          <a:lstStyle/>
          <a:p>
            <a:pPr algn="ctr" indent="0" marL="0">
              <a:buNone/>
            </a:pPr>
            <a:r>
              <a:rPr lang="en-US" sz="900" b="1" i="1" dirty="0">
                <a:solidFill>
                  <a:srgbClr val="0E8074"/>
                </a:solidFill>
                <a:latin typeface="Calibri" pitchFamily="34" charset="0"/>
                <a:ea typeface="Calibri" pitchFamily="34" charset="-122"/>
                <a:cs typeface="Calibri" pitchFamily="34" charset="-120"/>
              </a:rPr>
              <a:t>Fixed formulas</a:t>
            </a:r>
            <a:endParaRPr lang="en-US" sz="900" dirty="0"/>
          </a:p>
        </p:txBody>
      </p:sp>
      <p:sp>
        <p:nvSpPr>
          <p:cNvPr id="54" name="Shape 51"/>
          <p:cNvSpPr/>
          <p:nvPr/>
        </p:nvSpPr>
        <p:spPr>
          <a:xfrm>
            <a:off x="9491472" y="2395728"/>
            <a:ext cx="2157984" cy="2377440"/>
          </a:xfrm>
          <a:prstGeom prst="roundRect">
            <a:avLst>
              <a:gd name="adj" fmla="val 3814"/>
            </a:avLst>
          </a:prstGeom>
          <a:solidFill>
            <a:srgbClr val="EAF6EF"/>
          </a:solidFill>
          <a:ln w="15875">
            <a:solidFill>
              <a:srgbClr val="2E8B57"/>
            </a:solidFill>
            <a:prstDash val="solid"/>
          </a:ln>
        </p:spPr>
      </p:sp>
      <p:sp>
        <p:nvSpPr>
          <p:cNvPr id="55" name="Shape 52"/>
          <p:cNvSpPr/>
          <p:nvPr/>
        </p:nvSpPr>
        <p:spPr>
          <a:xfrm>
            <a:off x="9491472" y="2395728"/>
            <a:ext cx="2157984" cy="384048"/>
          </a:xfrm>
          <a:prstGeom prst="rect">
            <a:avLst/>
          </a:prstGeom>
          <a:solidFill>
            <a:srgbClr val="2E8B57"/>
          </a:solidFill>
          <a:ln/>
        </p:spPr>
      </p:sp>
      <p:sp>
        <p:nvSpPr>
          <p:cNvPr id="56" name="Text 53"/>
          <p:cNvSpPr/>
          <p:nvPr/>
        </p:nvSpPr>
        <p:spPr>
          <a:xfrm>
            <a:off x="9491472"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CHECK &amp; USE</a:t>
            </a:r>
            <a:endParaRPr lang="en-US" sz="1050" dirty="0"/>
          </a:p>
        </p:txBody>
      </p:sp>
      <p:sp>
        <p:nvSpPr>
          <p:cNvPr id="57" name="Text 54"/>
          <p:cNvSpPr/>
          <p:nvPr/>
        </p:nvSpPr>
        <p:spPr>
          <a:xfrm>
            <a:off x="9491472" y="2834640"/>
            <a:ext cx="2157984" cy="201168"/>
          </a:xfrm>
          <a:prstGeom prst="rect">
            <a:avLst/>
          </a:prstGeom>
          <a:noFill/>
          <a:ln/>
        </p:spPr>
        <p:txBody>
          <a:bodyPr wrap="square" lIns="0" tIns="0" rIns="0" bIns="0" rtlCol="0" anchor="ctr"/>
          <a:lstStyle/>
          <a:p>
            <a:pPr algn="ctr" indent="0" marL="0">
              <a:buNone/>
            </a:pPr>
            <a:r>
              <a:rPr lang="en-US" sz="850" i="1" dirty="0">
                <a:solidFill>
                  <a:srgbClr val="2E8B57"/>
                </a:solidFill>
                <a:latin typeface="Calibri" pitchFamily="34" charset="0"/>
                <a:ea typeface="Calibri" pitchFamily="34" charset="-122"/>
                <a:cs typeface="Calibri" pitchFamily="34" charset="-120"/>
              </a:rPr>
              <a:t>owner: Engineer</a:t>
            </a:r>
            <a:endParaRPr lang="en-US" sz="850" dirty="0"/>
          </a:p>
        </p:txBody>
      </p:sp>
      <p:sp>
        <p:nvSpPr>
          <p:cNvPr id="58" name="Text 55"/>
          <p:cNvSpPr/>
          <p:nvPr/>
        </p:nvSpPr>
        <p:spPr>
          <a:xfrm>
            <a:off x="9619488"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11 · Confidence band</a:t>
            </a:r>
            <a:endParaRPr lang="en-US" sz="930" dirty="0"/>
          </a:p>
        </p:txBody>
      </p:sp>
      <p:sp>
        <p:nvSpPr>
          <p:cNvPr id="59" name="Text 56"/>
          <p:cNvSpPr/>
          <p:nvPr/>
        </p:nvSpPr>
        <p:spPr>
          <a:xfrm>
            <a:off x="9619488"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12 · Report &amp; approval</a:t>
            </a:r>
            <a:endParaRPr lang="en-US" sz="930" dirty="0"/>
          </a:p>
        </p:txBody>
      </p:sp>
      <p:sp>
        <p:nvSpPr>
          <p:cNvPr id="60" name="Text 57"/>
          <p:cNvSpPr/>
          <p:nvPr/>
        </p:nvSpPr>
        <p:spPr>
          <a:xfrm>
            <a:off x="9619488" y="4389120"/>
            <a:ext cx="1901952" cy="292608"/>
          </a:xfrm>
          <a:prstGeom prst="rect">
            <a:avLst/>
          </a:prstGeom>
          <a:noFill/>
          <a:ln/>
        </p:spPr>
        <p:txBody>
          <a:bodyPr wrap="square" lIns="0" tIns="0" rIns="0" bIns="0" rtlCol="0" anchor="ctr"/>
          <a:lstStyle/>
          <a:p>
            <a:pPr algn="ctr" indent="0" marL="0">
              <a:buNone/>
            </a:pPr>
            <a:r>
              <a:rPr lang="en-US" sz="900" b="1" i="1" dirty="0">
                <a:solidFill>
                  <a:srgbClr val="2E8B57"/>
                </a:solidFill>
                <a:latin typeface="Calibri" pitchFamily="34" charset="0"/>
                <a:ea typeface="Calibri" pitchFamily="34" charset="-122"/>
                <a:cs typeface="Calibri" pitchFamily="34" charset="-120"/>
              </a:rPr>
              <a:t>A person signs it off</a:t>
            </a:r>
            <a:endParaRPr lang="en-US" sz="900" dirty="0"/>
          </a:p>
        </p:txBody>
      </p:sp>
      <p:sp>
        <p:nvSpPr>
          <p:cNvPr id="61" name="Shape 58"/>
          <p:cNvSpPr/>
          <p:nvPr/>
        </p:nvSpPr>
        <p:spPr>
          <a:xfrm>
            <a:off x="457200" y="4983480"/>
            <a:ext cx="11274552" cy="1051560"/>
          </a:xfrm>
          <a:prstGeom prst="roundRect">
            <a:avLst>
              <a:gd name="adj" fmla="val 8696"/>
            </a:avLst>
          </a:prstGeom>
          <a:solidFill>
            <a:srgbClr val="FFFFFF"/>
          </a:solidFill>
          <a:ln w="12700">
            <a:solidFill>
              <a:srgbClr val="DCE3EE"/>
            </a:solidFill>
            <a:prstDash val="solid"/>
          </a:ln>
        </p:spPr>
      </p:sp>
      <p:sp>
        <p:nvSpPr>
          <p:cNvPr id="62" name="Text 59"/>
          <p:cNvSpPr/>
          <p:nvPr/>
        </p:nvSpPr>
        <p:spPr>
          <a:xfrm>
            <a:off x="731520" y="5102352"/>
            <a:ext cx="4572000" cy="256032"/>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Notice the proportions</a:t>
            </a:r>
            <a:endParaRPr lang="en-US" sz="1200" dirty="0"/>
          </a:p>
        </p:txBody>
      </p:sp>
      <p:sp>
        <p:nvSpPr>
          <p:cNvPr id="63" name="Text 60"/>
          <p:cNvSpPr/>
          <p:nvPr/>
        </p:nvSpPr>
        <p:spPr>
          <a:xfrm>
            <a:off x="731520" y="5358384"/>
            <a:ext cx="10744200" cy="640080"/>
          </a:xfrm>
          <a:prstGeom prst="rect">
            <a:avLst/>
          </a:prstGeom>
          <a:noFill/>
          <a:ln/>
        </p:spPr>
        <p:txBody>
          <a:bodyPr wrap="square" lIns="0" tIns="0" rIns="0" bIns="0" rtlCol="0" anchor="ctr"/>
          <a:lstStyle/>
          <a:p>
            <a:pPr indent="0" marL="0">
              <a:buNone/>
            </a:pPr>
            <a:r>
              <a:rPr lang="en-US" sz="1200" b="1" dirty="0">
                <a:solidFill>
                  <a:srgbClr val="6B3FA0"/>
                </a:solidFill>
                <a:latin typeface="Calibri" pitchFamily="34" charset="0"/>
                <a:ea typeface="Calibri" pitchFamily="34" charset="-122"/>
                <a:cs typeface="Calibri" pitchFamily="34" charset="-120"/>
              </a:rPr>
              <a:t>Of the twelve stages, the AI owns exactly one. </a:t>
            </a:r>
            <a:pPr indent="0" marL="0">
              <a:buNone/>
            </a:pPr>
            <a:r>
              <a:rPr lang="en-US" sz="1200" dirty="0">
                <a:solidFill>
                  <a:srgbClr val="3A4356"/>
                </a:solidFill>
                <a:latin typeface="Calibri" pitchFamily="34" charset="0"/>
                <a:ea typeface="Calibri" pitchFamily="34" charset="-122"/>
                <a:cs typeface="Calibri" pitchFamily="34" charset="-120"/>
              </a:rPr>
              <a:t>Three are measurement, two are automatic safety checks, four are arithmetic, and two are human review. That ratio is the design — the AI is the smallest, most bounded part of the tool, not the centre of it.</a:t>
            </a:r>
            <a:endParaRPr lang="en-US" sz="1200" dirty="0"/>
          </a:p>
        </p:txBody>
      </p:sp>
      <p:sp>
        <p:nvSpPr>
          <p:cNvPr id="64" name="Text 6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5" name="Text 6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1–3 · Measuring the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A digital ruler, not a guess — and not artificial intelligence</a:t>
            </a:r>
            <a:endParaRPr lang="en-US" sz="1200" dirty="0"/>
          </a:p>
        </p:txBody>
      </p:sp>
      <p:sp>
        <p:nvSpPr>
          <p:cNvPr id="5" name="Shape 3"/>
          <p:cNvSpPr/>
          <p:nvPr/>
        </p:nvSpPr>
        <p:spPr>
          <a:xfrm>
            <a:off x="9418320" y="676656"/>
            <a:ext cx="2286000" cy="310896"/>
          </a:xfrm>
          <a:prstGeom prst="roundRect">
            <a:avLst>
              <a:gd name="adj" fmla="val 50000"/>
            </a:avLst>
          </a:prstGeom>
          <a:solidFill>
            <a:srgbClr val="E8F1FA"/>
          </a:solidFill>
          <a:ln w="12700">
            <a:solidFill>
              <a:srgbClr val="1D6FB8"/>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1D6FB8"/>
                </a:solidFill>
                <a:latin typeface="Calibri" pitchFamily="34" charset="0"/>
                <a:ea typeface="Calibri" pitchFamily="34" charset="-122"/>
                <a:cs typeface="Calibri" pitchFamily="34" charset="-120"/>
              </a:rPr>
              <a:t>OWNER: THE RULER</a:t>
            </a:r>
            <a:endParaRPr lang="en-US" sz="950" dirty="0"/>
          </a:p>
        </p:txBody>
      </p:sp>
      <p:sp>
        <p:nvSpPr>
          <p:cNvPr id="7" name="Shape 5"/>
          <p:cNvSpPr/>
          <p:nvPr/>
        </p:nvSpPr>
        <p:spPr>
          <a:xfrm>
            <a:off x="457200" y="1207008"/>
            <a:ext cx="3200400" cy="2286000"/>
          </a:xfrm>
          <a:prstGeom prst="roundRect">
            <a:avLst>
              <a:gd name="adj" fmla="val 4000"/>
            </a:avLst>
          </a:prstGeom>
          <a:solidFill>
            <a:srgbClr val="FFFFFF"/>
          </a:solidFill>
          <a:ln w="12700">
            <a:solidFill>
              <a:srgbClr val="DCE3EE"/>
            </a:solidFill>
            <a:prstDash val="solid"/>
          </a:ln>
        </p:spPr>
      </p:sp>
      <p:sp>
        <p:nvSpPr>
          <p:cNvPr id="8" name="Shape 6"/>
          <p:cNvSpPr/>
          <p:nvPr/>
        </p:nvSpPr>
        <p:spPr>
          <a:xfrm>
            <a:off x="685800" y="1389888"/>
            <a:ext cx="457200" cy="457200"/>
          </a:xfrm>
          <a:prstGeom prst="ellipse">
            <a:avLst/>
          </a:prstGeom>
          <a:solidFill>
            <a:srgbClr val="1D6FB8"/>
          </a:solidFill>
          <a:ln/>
        </p:spPr>
      </p:sp>
      <p:pic>
        <p:nvPicPr>
          <p:cNvPr id="9" name="Image 0" descr="preencoded.png">    </p:cNvPr>
          <p:cNvPicPr>
            <a:picLocks noChangeAspect="1"/>
          </p:cNvPicPr>
          <p:nvPr/>
        </p:nvPicPr>
        <p:blipFill>
          <a:blip r:embed="rId1"/>
          <a:stretch>
            <a:fillRect/>
          </a:stretch>
        </p:blipFill>
        <p:spPr>
          <a:xfrm>
            <a:off x="795528" y="1499616"/>
            <a:ext cx="237744" cy="237744"/>
          </a:xfrm>
          <a:prstGeom prst="rect">
            <a:avLst/>
          </a:prstGeom>
        </p:spPr>
      </p:pic>
      <p:sp>
        <p:nvSpPr>
          <p:cNvPr id="10" name="Text 7"/>
          <p:cNvSpPr/>
          <p:nvPr/>
        </p:nvSpPr>
        <p:spPr>
          <a:xfrm>
            <a:off x="1280160" y="1417320"/>
            <a:ext cx="219456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1 · The engineer uploads</a:t>
            </a:r>
            <a:endParaRPr lang="en-US" sz="1250" dirty="0"/>
          </a:p>
        </p:txBody>
      </p:sp>
      <p:sp>
        <p:nvSpPr>
          <p:cNvPr id="11" name="Text 8"/>
          <p:cNvSpPr/>
          <p:nvPr/>
        </p:nvSpPr>
        <p:spPr>
          <a:xfrm>
            <a:off x="685800" y="1920240"/>
            <a:ext cx="2743200" cy="50292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The 3D CAD file — plus the two facts a drawing can never contain:</a:t>
            </a:r>
            <a:endParaRPr lang="en-US" sz="1050" dirty="0"/>
          </a:p>
        </p:txBody>
      </p:sp>
      <p:sp>
        <p:nvSpPr>
          <p:cNvPr id="12" name="Text 9"/>
          <p:cNvSpPr/>
          <p:nvPr/>
        </p:nvSpPr>
        <p:spPr>
          <a:xfrm>
            <a:off x="777240" y="2450592"/>
            <a:ext cx="2743200" cy="54864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 How many per year — 60,000</a:t>
            </a:r>
            <a:endParaRPr lang="en-US" sz="1100" dirty="0"/>
          </a:p>
          <a:p>
            <a:pPr indent="0" marL="0">
              <a:buNone/>
            </a:pPr>
            <a:r>
              <a:rPr lang="en-US" sz="1100" b="1" dirty="0">
                <a:solidFill>
                  <a:srgbClr val="16325C"/>
                </a:solidFill>
                <a:latin typeface="Calibri" pitchFamily="34" charset="0"/>
                <a:ea typeface="Calibri" pitchFamily="34" charset="-122"/>
                <a:cs typeface="Calibri" pitchFamily="34" charset="-120"/>
              </a:rPr>
              <a:t>• Where we plan to make it — China</a:t>
            </a:r>
            <a:endParaRPr lang="en-US" sz="1100" dirty="0"/>
          </a:p>
        </p:txBody>
      </p:sp>
      <p:sp>
        <p:nvSpPr>
          <p:cNvPr id="13" name="Text 10"/>
          <p:cNvSpPr/>
          <p:nvPr/>
        </p:nvSpPr>
        <p:spPr>
          <a:xfrm>
            <a:off x="685800" y="3035808"/>
            <a:ext cx="2743200" cy="365760"/>
          </a:xfrm>
          <a:prstGeom prst="rect">
            <a:avLst/>
          </a:prstGeom>
          <a:noFill/>
          <a:ln/>
        </p:spPr>
        <p:txBody>
          <a:bodyPr wrap="square" lIns="0" tIns="0" rIns="0" bIns="0" rtlCol="0" anchor="t"/>
          <a:lstStyle/>
          <a:p>
            <a:pPr indent="0" marL="0">
              <a:buNone/>
            </a:pPr>
            <a:r>
              <a:rPr lang="en-US" sz="950" i="1" dirty="0">
                <a:solidFill>
                  <a:srgbClr val="6B7280"/>
                </a:solidFill>
                <a:latin typeface="Calibri" pitchFamily="34" charset="0"/>
                <a:ea typeface="Calibri" pitchFamily="34" charset="-122"/>
                <a:cs typeface="Calibri" pitchFamily="34" charset="-120"/>
              </a:rPr>
              <a:t>These drive tooling spread and labour rates.</a:t>
            </a:r>
            <a:endParaRPr lang="en-US" sz="950" dirty="0"/>
          </a:p>
        </p:txBody>
      </p:sp>
      <p:sp>
        <p:nvSpPr>
          <p:cNvPr id="14" name="Shape 11"/>
          <p:cNvSpPr/>
          <p:nvPr/>
        </p:nvSpPr>
        <p:spPr>
          <a:xfrm>
            <a:off x="3840480" y="1207008"/>
            <a:ext cx="4572000" cy="2286000"/>
          </a:xfrm>
          <a:prstGeom prst="roundRect">
            <a:avLst>
              <a:gd name="adj" fmla="val 4000"/>
            </a:avLst>
          </a:prstGeom>
          <a:solidFill>
            <a:srgbClr val="FFFFFF"/>
          </a:solidFill>
          <a:ln w="12700">
            <a:solidFill>
              <a:srgbClr val="DCE3EE"/>
            </a:solidFill>
            <a:prstDash val="solid"/>
          </a:ln>
        </p:spPr>
      </p:sp>
      <p:sp>
        <p:nvSpPr>
          <p:cNvPr id="15" name="Shape 12"/>
          <p:cNvSpPr/>
          <p:nvPr/>
        </p:nvSpPr>
        <p:spPr>
          <a:xfrm>
            <a:off x="4069080" y="1389888"/>
            <a:ext cx="457200" cy="457200"/>
          </a:xfrm>
          <a:prstGeom prst="ellipse">
            <a:avLst/>
          </a:prstGeom>
          <a:solidFill>
            <a:srgbClr val="1D6FB8"/>
          </a:solidFill>
          <a:ln/>
        </p:spPr>
      </p:sp>
      <p:pic>
        <p:nvPicPr>
          <p:cNvPr id="16" name="Image 1" descr="preencoded.png">    </p:cNvPr>
          <p:cNvPicPr>
            <a:picLocks noChangeAspect="1"/>
          </p:cNvPicPr>
          <p:nvPr/>
        </p:nvPicPr>
        <p:blipFill>
          <a:blip r:embed="rId2"/>
          <a:stretch>
            <a:fillRect/>
          </a:stretch>
        </p:blipFill>
        <p:spPr>
          <a:xfrm>
            <a:off x="4178808" y="1499616"/>
            <a:ext cx="237744" cy="237744"/>
          </a:xfrm>
          <a:prstGeom prst="rect">
            <a:avLst/>
          </a:prstGeom>
        </p:spPr>
      </p:pic>
      <p:sp>
        <p:nvSpPr>
          <p:cNvPr id="17" name="Text 13"/>
          <p:cNvSpPr/>
          <p:nvPr/>
        </p:nvSpPr>
        <p:spPr>
          <a:xfrm>
            <a:off x="4663440" y="1417320"/>
            <a:ext cx="347472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2 · The kernel measures it</a:t>
            </a:r>
            <a:endParaRPr lang="en-US" sz="1250" dirty="0"/>
          </a:p>
        </p:txBody>
      </p:sp>
      <p:sp>
        <p:nvSpPr>
          <p:cNvPr id="18" name="Text 14"/>
          <p:cNvSpPr/>
          <p:nvPr/>
        </p:nvSpPr>
        <p:spPr>
          <a:xfrm>
            <a:off x="4069080" y="1883664"/>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Solid volume (exact)</a:t>
            </a:r>
            <a:endParaRPr lang="en-US" sz="1100" dirty="0"/>
          </a:p>
        </p:txBody>
      </p:sp>
      <p:sp>
        <p:nvSpPr>
          <p:cNvPr id="19" name="Text 15"/>
          <p:cNvSpPr/>
          <p:nvPr/>
        </p:nvSpPr>
        <p:spPr>
          <a:xfrm>
            <a:off x="6949440" y="1883664"/>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1,037 cm³</a:t>
            </a:r>
            <a:endParaRPr lang="en-US" sz="1150" dirty="0"/>
          </a:p>
        </p:txBody>
      </p:sp>
      <p:sp>
        <p:nvSpPr>
          <p:cNvPr id="20" name="Text 16"/>
          <p:cNvSpPr/>
          <p:nvPr/>
        </p:nvSpPr>
        <p:spPr>
          <a:xfrm>
            <a:off x="4069080" y="2185416"/>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Weight if aluminium</a:t>
            </a:r>
            <a:endParaRPr lang="en-US" sz="1100" dirty="0"/>
          </a:p>
        </p:txBody>
      </p:sp>
      <p:sp>
        <p:nvSpPr>
          <p:cNvPr id="21" name="Text 17"/>
          <p:cNvSpPr/>
          <p:nvPr/>
        </p:nvSpPr>
        <p:spPr>
          <a:xfrm>
            <a:off x="6949440" y="2185416"/>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2.80 kg</a:t>
            </a:r>
            <a:endParaRPr lang="en-US" sz="1150" dirty="0"/>
          </a:p>
        </p:txBody>
      </p:sp>
      <p:sp>
        <p:nvSpPr>
          <p:cNvPr id="22" name="Text 18"/>
          <p:cNvSpPr/>
          <p:nvPr/>
        </p:nvSpPr>
        <p:spPr>
          <a:xfrm>
            <a:off x="4069080" y="2487168"/>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Wall thickness</a:t>
            </a:r>
            <a:endParaRPr lang="en-US" sz="1100" dirty="0"/>
          </a:p>
        </p:txBody>
      </p:sp>
      <p:sp>
        <p:nvSpPr>
          <p:cNvPr id="23" name="Text 19"/>
          <p:cNvSpPr/>
          <p:nvPr/>
        </p:nvSpPr>
        <p:spPr>
          <a:xfrm>
            <a:off x="6949440" y="2487168"/>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 3 mm</a:t>
            </a:r>
            <a:endParaRPr lang="en-US" sz="1150" dirty="0"/>
          </a:p>
        </p:txBody>
      </p:sp>
      <p:sp>
        <p:nvSpPr>
          <p:cNvPr id="24" name="Text 20"/>
          <p:cNvSpPr/>
          <p:nvPr/>
        </p:nvSpPr>
        <p:spPr>
          <a:xfrm>
            <a:off x="4069080" y="2788920"/>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Precision bores / holes</a:t>
            </a:r>
            <a:endParaRPr lang="en-US" sz="1100" dirty="0"/>
          </a:p>
        </p:txBody>
      </p:sp>
      <p:sp>
        <p:nvSpPr>
          <p:cNvPr id="25" name="Text 21"/>
          <p:cNvSpPr/>
          <p:nvPr/>
        </p:nvSpPr>
        <p:spPr>
          <a:xfrm>
            <a:off x="6949440" y="2788920"/>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 / 16</a:t>
            </a:r>
            <a:endParaRPr lang="en-US" sz="1150" dirty="0"/>
          </a:p>
        </p:txBody>
      </p:sp>
      <p:sp>
        <p:nvSpPr>
          <p:cNvPr id="26" name="Text 22"/>
          <p:cNvSpPr/>
          <p:nvPr/>
        </p:nvSpPr>
        <p:spPr>
          <a:xfrm>
            <a:off x="4069080" y="3090672"/>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Faces to machine flat</a:t>
            </a:r>
            <a:endParaRPr lang="en-US" sz="1100" dirty="0"/>
          </a:p>
        </p:txBody>
      </p:sp>
      <p:sp>
        <p:nvSpPr>
          <p:cNvPr id="27" name="Text 23"/>
          <p:cNvSpPr/>
          <p:nvPr/>
        </p:nvSpPr>
        <p:spPr>
          <a:xfrm>
            <a:off x="6949440" y="3090672"/>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a:t>
            </a:r>
            <a:endParaRPr lang="en-US" sz="1150" dirty="0"/>
          </a:p>
        </p:txBody>
      </p:sp>
      <p:sp>
        <p:nvSpPr>
          <p:cNvPr id="28" name="Shape 24"/>
          <p:cNvSpPr/>
          <p:nvPr/>
        </p:nvSpPr>
        <p:spPr>
          <a:xfrm>
            <a:off x="8595360" y="1207008"/>
            <a:ext cx="3136392" cy="2286000"/>
          </a:xfrm>
          <a:prstGeom prst="roundRect">
            <a:avLst>
              <a:gd name="adj" fmla="val 4000"/>
            </a:avLst>
          </a:prstGeom>
          <a:solidFill>
            <a:srgbClr val="E8F1FA"/>
          </a:solidFill>
          <a:ln w="15875">
            <a:solidFill>
              <a:srgbClr val="1D6FB8"/>
            </a:solidFill>
            <a:prstDash val="solid"/>
          </a:ln>
        </p:spPr>
      </p:sp>
      <p:sp>
        <p:nvSpPr>
          <p:cNvPr id="29" name="Text 25"/>
          <p:cNvSpPr/>
          <p:nvPr/>
        </p:nvSpPr>
        <p:spPr>
          <a:xfrm>
            <a:off x="8823960" y="1371600"/>
            <a:ext cx="2743200" cy="237744"/>
          </a:xfrm>
          <a:prstGeom prst="rect">
            <a:avLst/>
          </a:prstGeom>
          <a:noFill/>
          <a:ln/>
        </p:spPr>
        <p:txBody>
          <a:bodyPr wrap="square" lIns="0" tIns="0" rIns="0" bIns="0" rtlCol="0" anchor="ctr"/>
          <a:lstStyle/>
          <a:p>
            <a:pPr indent="0" marL="0">
              <a:buNone/>
            </a:pPr>
            <a:r>
              <a:rPr lang="en-US" sz="1050" b="1" spc="100" kern="0" dirty="0">
                <a:solidFill>
                  <a:srgbClr val="1D6FB8"/>
                </a:solidFill>
                <a:latin typeface="Calibri" pitchFamily="34" charset="0"/>
                <a:ea typeface="Calibri" pitchFamily="34" charset="-122"/>
                <a:cs typeface="Calibri" pitchFamily="34" charset="-120"/>
              </a:rPr>
              <a:t>WHY THIS MATTERS</a:t>
            </a:r>
            <a:endParaRPr lang="en-US" sz="1050" dirty="0"/>
          </a:p>
        </p:txBody>
      </p:sp>
      <p:sp>
        <p:nvSpPr>
          <p:cNvPr id="30" name="Text 26"/>
          <p:cNvSpPr/>
          <p:nvPr/>
        </p:nvSpPr>
        <p:spPr>
          <a:xfrm>
            <a:off x="8823960" y="1691640"/>
            <a:ext cx="2743200" cy="173736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Nobody typed these numbers.</a:t>
            </a:r>
            <a:endParaRPr lang="en-US" sz="1050" dirty="0"/>
          </a:p>
          <a:p>
            <a:pPr indent="0" marL="0">
              <a:buNone/>
            </a:pPr>
            <a:r>
              <a:rPr lang="en-US" sz="1050" dirty="0">
                <a:solidFill>
                  <a:srgbClr val="3A4356"/>
                </a:solidFill>
                <a:latin typeface="Calibri" pitchFamily="34" charset="0"/>
                <a:ea typeface="Calibri" pitchFamily="34" charset="-122"/>
                <a:cs typeface="Calibri" pitchFamily="34" charset="-120"/>
              </a:rPr>
              <a:t>Nobody estimated them.</a:t>
            </a:r>
            <a:endParaRPr lang="en-US" sz="1050" dirty="0"/>
          </a:p>
          <a:p>
            <a:pPr indent="0" marL="0">
              <a:buNone/>
            </a:pPr>
            <a:endParaRPr lang="en-US" sz="1050" dirty="0"/>
          </a:p>
          <a:p>
            <a:pPr indent="0" marL="0">
              <a:buNone/>
            </a:pPr>
            <a:r>
              <a:rPr lang="en-US" sz="1050" dirty="0">
                <a:solidFill>
                  <a:srgbClr val="3A4356"/>
                </a:solidFill>
                <a:latin typeface="Calibri" pitchFamily="34" charset="0"/>
                <a:ea typeface="Calibri" pitchFamily="34" charset="-122"/>
                <a:cs typeface="Calibri" pitchFamily="34" charset="-120"/>
              </a:rPr>
              <a:t>Note the kernel measures VOLUME. It cannot know the weight until something names the material — so it publishes a weight for every candidate density and waits.</a:t>
            </a:r>
            <a:endParaRPr lang="en-US" sz="1050" dirty="0"/>
          </a:p>
        </p:txBody>
      </p:sp>
      <p:sp>
        <p:nvSpPr>
          <p:cNvPr id="31" name="Shape 27"/>
          <p:cNvSpPr/>
          <p:nvPr/>
        </p:nvSpPr>
        <p:spPr>
          <a:xfrm>
            <a:off x="457200" y="3703320"/>
            <a:ext cx="11274552" cy="1371600"/>
          </a:xfrm>
          <a:prstGeom prst="roundRect">
            <a:avLst>
              <a:gd name="adj" fmla="val 6667"/>
            </a:avLst>
          </a:prstGeom>
          <a:solidFill>
            <a:srgbClr val="FFFFFF"/>
          </a:solidFill>
          <a:ln w="12700">
            <a:solidFill>
              <a:srgbClr val="DCE3EE"/>
            </a:solidFill>
            <a:prstDash val="solid"/>
          </a:ln>
        </p:spPr>
      </p:sp>
      <p:sp>
        <p:nvSpPr>
          <p:cNvPr id="32" name="Shape 28"/>
          <p:cNvSpPr/>
          <p:nvPr/>
        </p:nvSpPr>
        <p:spPr>
          <a:xfrm>
            <a:off x="685800" y="3913632"/>
            <a:ext cx="457200" cy="457200"/>
          </a:xfrm>
          <a:prstGeom prst="ellipse">
            <a:avLst/>
          </a:prstGeom>
          <a:solidFill>
            <a:srgbClr val="1D6FB8"/>
          </a:solidFill>
          <a:ln/>
        </p:spPr>
      </p:sp>
      <p:pic>
        <p:nvPicPr>
          <p:cNvPr id="33" name="Image 2" descr="preencoded.png">    </p:cNvPr>
          <p:cNvPicPr>
            <a:picLocks noChangeAspect="1"/>
          </p:cNvPicPr>
          <p:nvPr/>
        </p:nvPicPr>
        <p:blipFill>
          <a:blip r:embed="rId3"/>
          <a:stretch>
            <a:fillRect/>
          </a:stretch>
        </p:blipFill>
        <p:spPr>
          <a:xfrm>
            <a:off x="795528" y="4023360"/>
            <a:ext cx="237744" cy="237744"/>
          </a:xfrm>
          <a:prstGeom prst="rect">
            <a:avLst/>
          </a:prstGeom>
        </p:spPr>
      </p:pic>
      <p:sp>
        <p:nvSpPr>
          <p:cNvPr id="34" name="Text 29"/>
          <p:cNvSpPr/>
          <p:nvPr/>
        </p:nvSpPr>
        <p:spPr>
          <a:xfrm>
            <a:off x="1280160" y="3931920"/>
            <a:ext cx="1005840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3 · The shape sense-check — a small step that protects the whole price</a:t>
            </a:r>
            <a:endParaRPr lang="en-US" sz="1250" dirty="0"/>
          </a:p>
        </p:txBody>
      </p:sp>
      <p:sp>
        <p:nvSpPr>
          <p:cNvPr id="35" name="Text 30"/>
          <p:cNvSpPr/>
          <p:nvPr/>
        </p:nvSpPr>
        <p:spPr>
          <a:xfrm>
            <a:off x="1280160" y="4261104"/>
            <a:ext cx="10241280" cy="731520"/>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The tool asks one question: is this hollow, or solid?  </a:t>
            </a:r>
            <a:pPr indent="0" marL="0">
              <a:buNone/>
            </a:pPr>
            <a:r>
              <a:rPr lang="en-US" sz="1150" dirty="0">
                <a:solidFill>
                  <a:srgbClr val="3A4356"/>
                </a:solidFill>
                <a:latin typeface="Calibri" pitchFamily="34" charset="0"/>
                <a:ea typeface="Calibri" pitchFamily="34" charset="-122"/>
                <a:cs typeface="Calibri" pitchFamily="34" charset="-120"/>
              </a:rPr>
              <a:t>Three-millimetre walls around an enclosed space mean a HOLLOW CASTING — so the cutting machines only tidy up surfaces. If the tool wrongly thought it was a solid block, it would price carving the whole shape out of metal, and the answer would be roughly double. One check, enormous consequence.</a:t>
            </a:r>
            <a:endParaRPr lang="en-US" sz="1150" dirty="0"/>
          </a:p>
        </p:txBody>
      </p:sp>
      <p:sp>
        <p:nvSpPr>
          <p:cNvPr id="36" name="Shape 31"/>
          <p:cNvSpPr/>
          <p:nvPr/>
        </p:nvSpPr>
        <p:spPr>
          <a:xfrm>
            <a:off x="457200" y="5230368"/>
            <a:ext cx="11274552" cy="822960"/>
          </a:xfrm>
          <a:prstGeom prst="roundRect">
            <a:avLst>
              <a:gd name="adj" fmla="val 11111"/>
            </a:avLst>
          </a:prstGeom>
          <a:solidFill>
            <a:srgbClr val="F1EBF8"/>
          </a:solidFill>
          <a:ln w="12700">
            <a:solidFill>
              <a:srgbClr val="6B3FA0"/>
            </a:solidFill>
            <a:prstDash val="solid"/>
          </a:ln>
        </p:spPr>
      </p:sp>
      <p:sp>
        <p:nvSpPr>
          <p:cNvPr id="37" name="Text 32"/>
          <p:cNvSpPr/>
          <p:nvPr/>
        </p:nvSpPr>
        <p:spPr>
          <a:xfrm>
            <a:off x="731520" y="5330952"/>
            <a:ext cx="10744200" cy="640080"/>
          </a:xfrm>
          <a:prstGeom prst="rect">
            <a:avLst/>
          </a:prstGeom>
          <a:noFill/>
          <a:ln/>
        </p:spPr>
        <p:txBody>
          <a:bodyPr wrap="square" lIns="0" tIns="0" rIns="0" bIns="0" rtlCol="0" anchor="ctr"/>
          <a:lstStyle/>
          <a:p>
            <a:pPr indent="0" marL="0">
              <a:buNone/>
            </a:pPr>
            <a:r>
              <a:rPr lang="en-US" sz="1200" b="1" dirty="0">
                <a:solidFill>
                  <a:srgbClr val="6B3FA0"/>
                </a:solidFill>
                <a:latin typeface="Calibri" pitchFamily="34" charset="0"/>
                <a:ea typeface="Calibri" pitchFamily="34" charset="-122"/>
                <a:cs typeface="Calibri" pitchFamily="34" charset="-120"/>
              </a:rPr>
              <a:t>Where is the AI so far?  Nowhere. </a:t>
            </a:r>
            <a:pPr indent="0" marL="0">
              <a:buNone/>
            </a:pPr>
            <a:r>
              <a:rPr lang="en-US" sz="1200" dirty="0">
                <a:solidFill>
                  <a:srgbClr val="3A4356"/>
                </a:solidFill>
                <a:latin typeface="Calibri" pitchFamily="34" charset="0"/>
                <a:ea typeface="Calibri" pitchFamily="34" charset="-122"/>
                <a:cs typeface="Calibri" pitchFamily="34" charset="-120"/>
              </a:rPr>
              <a:t>Everything on this slide happened before the AI was involved at all. That ordering is intentional: the measurements exist first, so that when the AI does speak, there is already an independent set of facts to check it against.</a:t>
            </a:r>
            <a:endParaRPr lang="en-US" sz="1200" dirty="0"/>
          </a:p>
        </p:txBody>
      </p:sp>
      <p:sp>
        <p:nvSpPr>
          <p:cNvPr id="38" name="Text 3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9" name="Text 3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What Is the "Geometry Kernel"?</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measuring instrument — and the honest answer on what it is built from</a:t>
            </a:r>
            <a:endParaRPr lang="en-US" sz="1200" dirty="0"/>
          </a:p>
        </p:txBody>
      </p:sp>
      <p:sp>
        <p:nvSpPr>
          <p:cNvPr id="5" name="Shape 3"/>
          <p:cNvSpPr/>
          <p:nvPr/>
        </p:nvSpPr>
        <p:spPr>
          <a:xfrm>
            <a:off x="9418320" y="676656"/>
            <a:ext cx="2286000" cy="310896"/>
          </a:xfrm>
          <a:prstGeom prst="roundRect">
            <a:avLst>
              <a:gd name="adj" fmla="val 50000"/>
            </a:avLst>
          </a:prstGeom>
          <a:solidFill>
            <a:srgbClr val="E8F1FA"/>
          </a:solidFill>
          <a:ln w="12700">
            <a:solidFill>
              <a:srgbClr val="1D6FB8"/>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1D6FB8"/>
                </a:solidFill>
                <a:latin typeface="Calibri" pitchFamily="34" charset="0"/>
                <a:ea typeface="Calibri" pitchFamily="34" charset="-122"/>
                <a:cs typeface="Calibri" pitchFamily="34" charset="-120"/>
              </a:rPr>
              <a:t>OWNER: THE RULER</a:t>
            </a:r>
            <a:endParaRPr lang="en-US" sz="950" dirty="0"/>
          </a:p>
        </p:txBody>
      </p:sp>
      <p:sp>
        <p:nvSpPr>
          <p:cNvPr id="7" name="Shape 5"/>
          <p:cNvSpPr/>
          <p:nvPr/>
        </p:nvSpPr>
        <p:spPr>
          <a:xfrm>
            <a:off x="457200" y="1188720"/>
            <a:ext cx="5577840" cy="2377440"/>
          </a:xfrm>
          <a:prstGeom prst="roundRect">
            <a:avLst>
              <a:gd name="adj" fmla="val 3846"/>
            </a:avLst>
          </a:prstGeom>
          <a:solidFill>
            <a:srgbClr val="FFFFFF"/>
          </a:solidFill>
          <a:ln w="12700">
            <a:solidFill>
              <a:srgbClr val="DCE3EE"/>
            </a:solidFill>
            <a:prstDash val="solid"/>
          </a:ln>
        </p:spPr>
      </p:sp>
      <p:sp>
        <p:nvSpPr>
          <p:cNvPr id="8" name="Text 6"/>
          <p:cNvSpPr/>
          <p:nvPr/>
        </p:nvSpPr>
        <p:spPr>
          <a:xfrm>
            <a:off x="685800" y="1316736"/>
            <a:ext cx="5029200" cy="237744"/>
          </a:xfrm>
          <a:prstGeom prst="rect">
            <a:avLst/>
          </a:prstGeom>
          <a:noFill/>
          <a:ln/>
        </p:spPr>
        <p:txBody>
          <a:bodyPr wrap="square" lIns="0" tIns="0" rIns="0" bIns="0" rtlCol="0" anchor="ctr"/>
          <a:lstStyle/>
          <a:p>
            <a:pPr indent="0" marL="0">
              <a:buNone/>
            </a:pPr>
            <a:r>
              <a:rPr lang="en-US" sz="1050" b="1" spc="100" kern="0" dirty="0">
                <a:solidFill>
                  <a:srgbClr val="1D6FB8"/>
                </a:solidFill>
                <a:latin typeface="Calibri" pitchFamily="34" charset="0"/>
                <a:ea typeface="Calibri" pitchFamily="34" charset="-122"/>
                <a:cs typeface="Calibri" pitchFamily="34" charset="-120"/>
              </a:rPr>
              <a:t>WHAT IT IS</a:t>
            </a:r>
            <a:endParaRPr lang="en-US" sz="1050" dirty="0"/>
          </a:p>
        </p:txBody>
      </p:sp>
      <p:sp>
        <p:nvSpPr>
          <p:cNvPr id="9" name="Text 7"/>
          <p:cNvSpPr/>
          <p:nvPr/>
        </p:nvSpPr>
        <p:spPr>
          <a:xfrm>
            <a:off x="685800" y="1609344"/>
            <a:ext cx="5120640" cy="91440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The same class of engine that sits underneath CATIA, SolidWorks and NX. </a:t>
            </a:r>
            <a:pPr indent="0" marL="0">
              <a:buNone/>
            </a:pPr>
            <a:r>
              <a:rPr lang="en-US" sz="1100" dirty="0">
                <a:solidFill>
                  <a:srgbClr val="3A4356"/>
                </a:solidFill>
                <a:latin typeface="Calibri" pitchFamily="34" charset="0"/>
                <a:ea typeface="Calibri" pitchFamily="34" charset="-122"/>
                <a:cs typeface="Calibri" pitchFamily="34" charset="-120"/>
              </a:rPr>
              <a:t>It reads the real CAD geometry — the mathematical surfaces, not a picture of them — so a cylinder is genuinely a cylinder with a radius and an axis, not a mesh of triangles that looks round.</a:t>
            </a:r>
            <a:endParaRPr lang="en-US" sz="1100" dirty="0"/>
          </a:p>
        </p:txBody>
      </p:sp>
      <p:sp>
        <p:nvSpPr>
          <p:cNvPr id="10" name="Text 8"/>
          <p:cNvSpPr/>
          <p:nvPr/>
        </p:nvSpPr>
        <p:spPr>
          <a:xfrm>
            <a:off x="685800" y="2578608"/>
            <a:ext cx="5120640" cy="310896"/>
          </a:xfrm>
          <a:prstGeom prst="rect">
            <a:avLst/>
          </a:prstGeom>
          <a:noFill/>
          <a:ln/>
        </p:spPr>
        <p:txBody>
          <a:bodyPr wrap="square" lIns="0" tIns="0" rIns="0" bIns="0" rtlCol="0" anchor="t"/>
          <a:lstStyle/>
          <a:p>
            <a:pPr indent="0" marL="0">
              <a:buNone/>
            </a:pPr>
            <a:r>
              <a:rPr lang="en-US" sz="1100" b="1" dirty="0">
                <a:solidFill>
                  <a:srgbClr val="1D6FB8"/>
                </a:solidFill>
                <a:latin typeface="Calibri" pitchFamily="34" charset="0"/>
                <a:ea typeface="Calibri" pitchFamily="34" charset="-122"/>
                <a:cs typeface="Calibri" pitchFamily="34" charset="-120"/>
              </a:rPr>
              <a:t>CostVision uses Open CASCADE (OCCT), driven from Python through the OCP bindings.</a:t>
            </a:r>
            <a:endParaRPr lang="en-US" sz="1100" dirty="0"/>
          </a:p>
        </p:txBody>
      </p:sp>
      <p:sp>
        <p:nvSpPr>
          <p:cNvPr id="11" name="Text 9"/>
          <p:cNvSpPr/>
          <p:nvPr/>
        </p:nvSpPr>
        <p:spPr>
          <a:xfrm>
            <a:off x="685800" y="2926080"/>
            <a:ext cx="5120640" cy="502920"/>
          </a:xfrm>
          <a:prstGeom prst="rect">
            <a:avLst/>
          </a:prstGeom>
          <a:noFill/>
          <a:ln/>
        </p:spPr>
        <p:txBody>
          <a:bodyPr wrap="square" lIns="0" tIns="0" rIns="0" bIns="0" rtlCol="0" anchor="t"/>
          <a:lstStyle/>
          <a:p>
            <a:pPr indent="0" marL="0">
              <a:buNone/>
            </a:pPr>
            <a:r>
              <a:rPr lang="en-US" sz="1000" i="1" dirty="0">
                <a:solidFill>
                  <a:srgbClr val="6B7280"/>
                </a:solidFill>
                <a:latin typeface="Calibri" pitchFamily="34" charset="0"/>
                <a:ea typeface="Calibri" pitchFamily="34" charset="-122"/>
                <a:cs typeface="Calibri" pitchFamily="34" charset="-120"/>
              </a:rPr>
              <a:t>Reads STEP and IGES — the neutral formats every OEM and supplier already exchanges. STL meshes take a separate, simpler path.</a:t>
            </a:r>
            <a:endParaRPr lang="en-US" sz="1000" dirty="0"/>
          </a:p>
        </p:txBody>
      </p:sp>
      <p:sp>
        <p:nvSpPr>
          <p:cNvPr id="12" name="Shape 10"/>
          <p:cNvSpPr/>
          <p:nvPr/>
        </p:nvSpPr>
        <p:spPr>
          <a:xfrm>
            <a:off x="6263640" y="1188720"/>
            <a:ext cx="5468112" cy="2377440"/>
          </a:xfrm>
          <a:prstGeom prst="roundRect">
            <a:avLst>
              <a:gd name="adj" fmla="val 3846"/>
            </a:avLst>
          </a:prstGeom>
          <a:solidFill>
            <a:srgbClr val="E8F1FA"/>
          </a:solidFill>
          <a:ln w="15875">
            <a:solidFill>
              <a:srgbClr val="1D6FB8"/>
            </a:solidFill>
            <a:prstDash val="solid"/>
          </a:ln>
        </p:spPr>
      </p:sp>
      <p:sp>
        <p:nvSpPr>
          <p:cNvPr id="13" name="Text 11"/>
          <p:cNvSpPr/>
          <p:nvPr/>
        </p:nvSpPr>
        <p:spPr>
          <a:xfrm>
            <a:off x="6492240" y="1316736"/>
            <a:ext cx="5029200" cy="237744"/>
          </a:xfrm>
          <a:prstGeom prst="rect">
            <a:avLst/>
          </a:prstGeom>
          <a:noFill/>
          <a:ln/>
        </p:spPr>
        <p:txBody>
          <a:bodyPr wrap="square" lIns="0" tIns="0" rIns="0" bIns="0" rtlCol="0" anchor="ctr"/>
          <a:lstStyle/>
          <a:p>
            <a:pPr indent="0" marL="0">
              <a:buNone/>
            </a:pPr>
            <a:r>
              <a:rPr lang="en-US" sz="1050" b="1" spc="60" kern="0" dirty="0">
                <a:solidFill>
                  <a:srgbClr val="1D6FB8"/>
                </a:solidFill>
                <a:latin typeface="Calibri" pitchFamily="34" charset="0"/>
                <a:ea typeface="Calibri" pitchFamily="34" charset="-122"/>
                <a:cs typeface="Calibri" pitchFamily="34" charset="-120"/>
              </a:rPr>
              <a:t>IS IT OPEN SOURCE?  YES — AND THAT MATTERS</a:t>
            </a:r>
            <a:endParaRPr lang="en-US" sz="1050" dirty="0"/>
          </a:p>
        </p:txBody>
      </p:sp>
      <p:sp>
        <p:nvSpPr>
          <p:cNvPr id="14" name="Text 12"/>
          <p:cNvSpPr/>
          <p:nvPr/>
        </p:nvSpPr>
        <p:spPr>
          <a:xfrm>
            <a:off x="6492240" y="1682496"/>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Open CASCADE (OCCT)</a:t>
            </a:r>
            <a:endParaRPr lang="en-US" sz="1050" dirty="0"/>
          </a:p>
        </p:txBody>
      </p:sp>
      <p:sp>
        <p:nvSpPr>
          <p:cNvPr id="15" name="Text 13"/>
          <p:cNvSpPr/>
          <p:nvPr/>
        </p:nvSpPr>
        <p:spPr>
          <a:xfrm>
            <a:off x="8778240" y="1682496"/>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LGPL v2.1 + exception</a:t>
            </a:r>
            <a:endParaRPr lang="en-US" sz="1000" dirty="0"/>
          </a:p>
        </p:txBody>
      </p:sp>
      <p:sp>
        <p:nvSpPr>
          <p:cNvPr id="16" name="Text 14"/>
          <p:cNvSpPr/>
          <p:nvPr/>
        </p:nvSpPr>
        <p:spPr>
          <a:xfrm>
            <a:off x="10469880" y="1682496"/>
            <a:ext cx="1188720" cy="27432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the kernel itself</a:t>
            </a:r>
            <a:endParaRPr lang="en-US" sz="900" dirty="0"/>
          </a:p>
        </p:txBody>
      </p:sp>
      <p:sp>
        <p:nvSpPr>
          <p:cNvPr id="17" name="Text 15"/>
          <p:cNvSpPr/>
          <p:nvPr/>
        </p:nvSpPr>
        <p:spPr>
          <a:xfrm>
            <a:off x="6492240" y="2066544"/>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OCP (cadquery-ocp)</a:t>
            </a:r>
            <a:endParaRPr lang="en-US" sz="1050" dirty="0"/>
          </a:p>
        </p:txBody>
      </p:sp>
      <p:sp>
        <p:nvSpPr>
          <p:cNvPr id="18" name="Text 16"/>
          <p:cNvSpPr/>
          <p:nvPr/>
        </p:nvSpPr>
        <p:spPr>
          <a:xfrm>
            <a:off x="8778240" y="2066544"/>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Apache 2.0</a:t>
            </a:r>
            <a:endParaRPr lang="en-US" sz="1000" dirty="0"/>
          </a:p>
        </p:txBody>
      </p:sp>
      <p:sp>
        <p:nvSpPr>
          <p:cNvPr id="19" name="Text 17"/>
          <p:cNvSpPr/>
          <p:nvPr/>
        </p:nvSpPr>
        <p:spPr>
          <a:xfrm>
            <a:off x="10469880" y="2066544"/>
            <a:ext cx="1188720" cy="27432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the Python driver</a:t>
            </a:r>
            <a:endParaRPr lang="en-US" sz="900" dirty="0"/>
          </a:p>
        </p:txBody>
      </p:sp>
      <p:sp>
        <p:nvSpPr>
          <p:cNvPr id="20" name="Text 18"/>
          <p:cNvSpPr/>
          <p:nvPr/>
        </p:nvSpPr>
        <p:spPr>
          <a:xfrm>
            <a:off x="6492240" y="2450592"/>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three.js</a:t>
            </a:r>
            <a:endParaRPr lang="en-US" sz="1050" dirty="0"/>
          </a:p>
        </p:txBody>
      </p:sp>
      <p:sp>
        <p:nvSpPr>
          <p:cNvPr id="21" name="Text 19"/>
          <p:cNvSpPr/>
          <p:nvPr/>
        </p:nvSpPr>
        <p:spPr>
          <a:xfrm>
            <a:off x="8778240" y="2450592"/>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MIT</a:t>
            </a:r>
            <a:endParaRPr lang="en-US" sz="1000" dirty="0"/>
          </a:p>
        </p:txBody>
      </p:sp>
      <p:sp>
        <p:nvSpPr>
          <p:cNvPr id="22" name="Text 20"/>
          <p:cNvSpPr/>
          <p:nvPr/>
        </p:nvSpPr>
        <p:spPr>
          <a:xfrm>
            <a:off x="10469880" y="2450592"/>
            <a:ext cx="1188720" cy="27432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the on-screen 3D viewer</a:t>
            </a:r>
            <a:endParaRPr lang="en-US" sz="900" dirty="0"/>
          </a:p>
        </p:txBody>
      </p:sp>
      <p:sp>
        <p:nvSpPr>
          <p:cNvPr id="23" name="Text 21"/>
          <p:cNvSpPr/>
          <p:nvPr/>
        </p:nvSpPr>
        <p:spPr>
          <a:xfrm>
            <a:off x="6492240" y="2880360"/>
            <a:ext cx="5029200" cy="59436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No per-seat CAD licence, no vendor lock-in, and no third party ever sees the model. </a:t>
            </a:r>
            <a:pPr indent="0" marL="0">
              <a:buNone/>
            </a:pPr>
            <a:r>
              <a:rPr lang="en-US" sz="1050" dirty="0">
                <a:solidFill>
                  <a:srgbClr val="3A4356"/>
                </a:solidFill>
                <a:latin typeface="Calibri" pitchFamily="34" charset="0"/>
                <a:ea typeface="Calibri" pitchFamily="34" charset="-122"/>
                <a:cs typeface="Calibri" pitchFamily="34" charset="-120"/>
              </a:rPr>
              <a:t>The kernel runs as a local process on our own server — the CAD file is measured where it sits.</a:t>
            </a:r>
            <a:endParaRPr lang="en-US" sz="1050" dirty="0"/>
          </a:p>
        </p:txBody>
      </p:sp>
      <p:sp>
        <p:nvSpPr>
          <p:cNvPr id="24" name="Shape 22"/>
          <p:cNvSpPr/>
          <p:nvPr/>
        </p:nvSpPr>
        <p:spPr>
          <a:xfrm>
            <a:off x="457200" y="3767328"/>
            <a:ext cx="11274552" cy="1481328"/>
          </a:xfrm>
          <a:prstGeom prst="roundRect">
            <a:avLst>
              <a:gd name="adj" fmla="val 6173"/>
            </a:avLst>
          </a:prstGeom>
          <a:solidFill>
            <a:srgbClr val="FFFFFF"/>
          </a:solidFill>
          <a:ln w="12700">
            <a:solidFill>
              <a:srgbClr val="DCE3EE"/>
            </a:solidFill>
            <a:prstDash val="solid"/>
          </a:ln>
        </p:spPr>
      </p:sp>
      <p:sp>
        <p:nvSpPr>
          <p:cNvPr id="25" name="Text 23"/>
          <p:cNvSpPr/>
          <p:nvPr/>
        </p:nvSpPr>
        <p:spPr>
          <a:xfrm>
            <a:off x="731520" y="3877056"/>
            <a:ext cx="10058400" cy="256032"/>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HOW IT ACTUALLY MEASURES — four things, no estimation anywhere</a:t>
            </a:r>
            <a:endParaRPr lang="en-US" sz="1200" dirty="0"/>
          </a:p>
        </p:txBody>
      </p:sp>
      <p:sp>
        <p:nvSpPr>
          <p:cNvPr id="26" name="Text 24"/>
          <p:cNvSpPr/>
          <p:nvPr/>
        </p:nvSpPr>
        <p:spPr>
          <a:xfrm>
            <a:off x="73152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Volume &amp; mass</a:t>
            </a:r>
            <a:endParaRPr lang="en-US" sz="1050" dirty="0"/>
          </a:p>
        </p:txBody>
      </p:sp>
      <p:sp>
        <p:nvSpPr>
          <p:cNvPr id="27" name="Text 25"/>
          <p:cNvSpPr/>
          <p:nvPr/>
        </p:nvSpPr>
        <p:spPr>
          <a:xfrm>
            <a:off x="73152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Integrates the solid exactly, then publishes a weight for every candidate density — aluminium, steel, plastic, iron, copper, titanium.</a:t>
            </a:r>
            <a:endParaRPr lang="en-US" sz="900" dirty="0"/>
          </a:p>
        </p:txBody>
      </p:sp>
      <p:sp>
        <p:nvSpPr>
          <p:cNvPr id="28" name="Text 26"/>
          <p:cNvSpPr/>
          <p:nvPr/>
        </p:nvSpPr>
        <p:spPr>
          <a:xfrm>
            <a:off x="352044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Holes &amp; bosses</a:t>
            </a:r>
            <a:endParaRPr lang="en-US" sz="1050" dirty="0"/>
          </a:p>
        </p:txBody>
      </p:sp>
      <p:sp>
        <p:nvSpPr>
          <p:cNvPr id="29" name="Text 27"/>
          <p:cNvSpPr/>
          <p:nvPr/>
        </p:nvSpPr>
        <p:spPr>
          <a:xfrm>
            <a:off x="352044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Walks every cylindrical face: diameter from the exact radius, depth from the surface parameter span, through-vs-blind by comparing depth to the bounding box.</a:t>
            </a:r>
            <a:endParaRPr lang="en-US" sz="900" dirty="0"/>
          </a:p>
        </p:txBody>
      </p:sp>
      <p:sp>
        <p:nvSpPr>
          <p:cNvPr id="30" name="Text 28"/>
          <p:cNvSpPr/>
          <p:nvPr/>
        </p:nvSpPr>
        <p:spPr>
          <a:xfrm>
            <a:off x="630936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Wall thickness</a:t>
            </a:r>
            <a:endParaRPr lang="en-US" sz="1050" dirty="0"/>
          </a:p>
        </p:txBody>
      </p:sp>
      <p:sp>
        <p:nvSpPr>
          <p:cNvPr id="31" name="Text 29"/>
          <p:cNvSpPr/>
          <p:nvPr/>
        </p:nvSpPr>
        <p:spPr>
          <a:xfrm>
            <a:off x="630936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Ray-casts inside the solid to find how thick each wall really is — this is what tells casting from machining.</a:t>
            </a:r>
            <a:endParaRPr lang="en-US" sz="900" dirty="0"/>
          </a:p>
        </p:txBody>
      </p:sp>
      <p:sp>
        <p:nvSpPr>
          <p:cNvPr id="32" name="Text 30"/>
          <p:cNvSpPr/>
          <p:nvPr/>
        </p:nvSpPr>
        <p:spPr>
          <a:xfrm>
            <a:off x="909828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Faces &amp; pockets</a:t>
            </a:r>
            <a:endParaRPr lang="en-US" sz="1050" dirty="0"/>
          </a:p>
        </p:txBody>
      </p:sp>
      <p:sp>
        <p:nvSpPr>
          <p:cNvPr id="33" name="Text 31"/>
          <p:cNvSpPr/>
          <p:nvPr/>
        </p:nvSpPr>
        <p:spPr>
          <a:xfrm>
            <a:off x="909828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Classifies every face by surface type, so flats to be milled are counted, not guessed.</a:t>
            </a:r>
            <a:endParaRPr lang="en-US" sz="900" dirty="0"/>
          </a:p>
        </p:txBody>
      </p:sp>
      <p:sp>
        <p:nvSpPr>
          <p:cNvPr id="34" name="Shape 32"/>
          <p:cNvSpPr/>
          <p:nvPr/>
        </p:nvSpPr>
        <p:spPr>
          <a:xfrm>
            <a:off x="457200" y="5413248"/>
            <a:ext cx="11274552" cy="868680"/>
          </a:xfrm>
          <a:prstGeom prst="roundRect">
            <a:avLst>
              <a:gd name="adj" fmla="val 10526"/>
            </a:avLst>
          </a:prstGeom>
          <a:solidFill>
            <a:srgbClr val="E8F1FA"/>
          </a:solidFill>
          <a:ln w="12700">
            <a:solidFill>
              <a:srgbClr val="1D6FB8"/>
            </a:solidFill>
            <a:prstDash val="solid"/>
          </a:ln>
        </p:spPr>
      </p:sp>
      <p:sp>
        <p:nvSpPr>
          <p:cNvPr id="35" name="Text 33"/>
          <p:cNvSpPr/>
          <p:nvPr/>
        </p:nvSpPr>
        <p:spPr>
          <a:xfrm>
            <a:off x="731520" y="5522976"/>
            <a:ext cx="10744200" cy="68580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The honest limitation: </a:t>
            </a:r>
            <a:pPr indent="0" marL="0">
              <a:buNone/>
            </a:pPr>
            <a:r>
              <a:rPr lang="en-US" sz="1150" dirty="0">
                <a:solidFill>
                  <a:srgbClr val="3A4356"/>
                </a:solidFill>
                <a:latin typeface="Calibri" pitchFamily="34" charset="0"/>
                <a:ea typeface="Calibri" pitchFamily="34" charset="-122"/>
                <a:cs typeface="Calibri" pitchFamily="34" charset="-120"/>
              </a:rPr>
              <a:t>the kernel is exact about what IS in the model, and silent about what is not. It cannot read a tolerance, a surface finish or a material callout unless the CAD file carries it — those still come from the drawing or from our engineer. It measures; it does not interpret.</a:t>
            </a:r>
            <a:endParaRPr lang="en-US" sz="115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11</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4 · The AI Reads the Part (Optional)</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Off by default — and skipped entirely when the engineer enters the answers</a:t>
            </a:r>
            <a:endParaRPr lang="en-US" sz="1200" dirty="0"/>
          </a:p>
        </p:txBody>
      </p:sp>
      <p:sp>
        <p:nvSpPr>
          <p:cNvPr id="5" name="Shape 3"/>
          <p:cNvSpPr/>
          <p:nvPr/>
        </p:nvSpPr>
        <p:spPr>
          <a:xfrm>
            <a:off x="9189720" y="676656"/>
            <a:ext cx="2286000" cy="310896"/>
          </a:xfrm>
          <a:prstGeom prst="roundRect">
            <a:avLst>
              <a:gd name="adj" fmla="val 50000"/>
            </a:avLst>
          </a:prstGeom>
          <a:solidFill>
            <a:srgbClr val="F1EBF8"/>
          </a:solidFill>
          <a:ln w="12700">
            <a:solidFill>
              <a:srgbClr val="6B3FA0"/>
            </a:solidFill>
            <a:prstDash val="solid"/>
          </a:ln>
        </p:spPr>
      </p:sp>
      <p:sp>
        <p:nvSpPr>
          <p:cNvPr id="6" name="Text 4"/>
          <p:cNvSpPr/>
          <p:nvPr/>
        </p:nvSpPr>
        <p:spPr>
          <a:xfrm>
            <a:off x="9189720" y="676656"/>
            <a:ext cx="2286000" cy="310896"/>
          </a:xfrm>
          <a:prstGeom prst="rect">
            <a:avLst/>
          </a:prstGeom>
          <a:noFill/>
          <a:ln/>
        </p:spPr>
        <p:txBody>
          <a:bodyPr wrap="square" lIns="0" tIns="0" rIns="0" bIns="0" rtlCol="0" anchor="ctr"/>
          <a:lstStyle/>
          <a:p>
            <a:pPr algn="ctr" indent="0" marL="0">
              <a:buNone/>
            </a:pPr>
            <a:r>
              <a:rPr lang="en-US" sz="950" b="1" dirty="0">
                <a:solidFill>
                  <a:srgbClr val="6B3FA0"/>
                </a:solidFill>
                <a:latin typeface="Calibri" pitchFamily="34" charset="0"/>
                <a:ea typeface="Calibri" pitchFamily="34" charset="-122"/>
                <a:cs typeface="Calibri" pitchFamily="34" charset="-120"/>
              </a:rPr>
              <a:t>OWNER: AI — OPTIONAL</a:t>
            </a:r>
            <a:endParaRPr lang="en-US" sz="950" dirty="0"/>
          </a:p>
        </p:txBody>
      </p:sp>
      <p:sp>
        <p:nvSpPr>
          <p:cNvPr id="7" name="Shape 5"/>
          <p:cNvSpPr/>
          <p:nvPr/>
        </p:nvSpPr>
        <p:spPr>
          <a:xfrm>
            <a:off x="457200" y="1188720"/>
            <a:ext cx="5486400" cy="2514600"/>
          </a:xfrm>
          <a:prstGeom prst="roundRect">
            <a:avLst>
              <a:gd name="adj" fmla="val 3636"/>
            </a:avLst>
          </a:prstGeom>
          <a:solidFill>
            <a:srgbClr val="F1EBF8"/>
          </a:solidFill>
          <a:ln w="15875">
            <a:solidFill>
              <a:srgbClr val="6B3FA0"/>
            </a:solidFill>
            <a:prstDash val="solid"/>
          </a:ln>
        </p:spPr>
      </p:sp>
      <p:sp>
        <p:nvSpPr>
          <p:cNvPr id="8" name="Text 6"/>
          <p:cNvSpPr/>
          <p:nvPr/>
        </p:nvSpPr>
        <p:spPr>
          <a:xfrm>
            <a:off x="685800" y="1325880"/>
            <a:ext cx="4572000" cy="237744"/>
          </a:xfrm>
          <a:prstGeom prst="rect">
            <a:avLst/>
          </a:prstGeom>
          <a:noFill/>
          <a:ln/>
        </p:spPr>
        <p:txBody>
          <a:bodyPr wrap="square" lIns="0" tIns="0" rIns="0" bIns="0" rtlCol="0" anchor="ctr"/>
          <a:lstStyle/>
          <a:p>
            <a:pPr indent="0" marL="0">
              <a:buNone/>
            </a:pPr>
            <a:r>
              <a:rPr lang="en-US" sz="1050" b="1" spc="100" kern="0" dirty="0">
                <a:solidFill>
                  <a:srgbClr val="6B3FA0"/>
                </a:solidFill>
                <a:latin typeface="Calibri" pitchFamily="34" charset="0"/>
                <a:ea typeface="Calibri" pitchFamily="34" charset="-122"/>
                <a:cs typeface="Calibri" pitchFamily="34" charset="-120"/>
              </a:rPr>
              <a:t>WHAT THE AI IS GIVEN</a:t>
            </a:r>
            <a:endParaRPr lang="en-US" sz="1050" dirty="0"/>
          </a:p>
        </p:txBody>
      </p:sp>
      <p:sp>
        <p:nvSpPr>
          <p:cNvPr id="9" name="Text 7"/>
          <p:cNvSpPr/>
          <p:nvPr/>
        </p:nvSpPr>
        <p:spPr>
          <a:xfrm>
            <a:off x="685800" y="1609344"/>
            <a:ext cx="5029200" cy="640080"/>
          </a:xfrm>
          <a:prstGeom prst="rect">
            <a:avLst/>
          </a:prstGeom>
          <a:noFill/>
          <a:ln/>
        </p:spPr>
        <p:txBody>
          <a:bodyPr wrap="square" lIns="0" tIns="0" rIns="0" bIns="0" rtlCol="0" anchor="t"/>
          <a:lstStyle/>
          <a:p>
            <a:pPr indent="0" marL="0">
              <a:buNone/>
            </a:pPr>
            <a:r>
              <a:rPr lang="en-US" sz="1100" dirty="0">
                <a:solidFill>
                  <a:srgbClr val="3A4356"/>
                </a:solidFill>
                <a:latin typeface="Calibri" pitchFamily="34" charset="0"/>
                <a:ea typeface="Calibri" pitchFamily="34" charset="-122"/>
                <a:cs typeface="Calibri" pitchFamily="34" charset="-120"/>
              </a:rPr>
              <a:t>Runs only in the Compare and AI-led modes — the default Rules-only path makes no AI call: the rules derive the inputs and the ENGINEER answers the material and duty questions. When it does run, it is given only the measurements — never a price list, never the rate library.</a:t>
            </a:r>
            <a:endParaRPr lang="en-US" sz="1100" dirty="0"/>
          </a:p>
        </p:txBody>
      </p:sp>
      <p:sp>
        <p:nvSpPr>
          <p:cNvPr id="10" name="Text 8"/>
          <p:cNvSpPr/>
          <p:nvPr/>
        </p:nvSpPr>
        <p:spPr>
          <a:xfrm>
            <a:off x="685800" y="2267712"/>
            <a:ext cx="4572000" cy="237744"/>
          </a:xfrm>
          <a:prstGeom prst="rect">
            <a:avLst/>
          </a:prstGeom>
          <a:noFill/>
          <a:ln/>
        </p:spPr>
        <p:txBody>
          <a:bodyPr wrap="square" lIns="0" tIns="0" rIns="0" bIns="0" rtlCol="0" anchor="ctr"/>
          <a:lstStyle/>
          <a:p>
            <a:pPr indent="0" marL="0">
              <a:buNone/>
            </a:pPr>
            <a:r>
              <a:rPr lang="en-US" sz="1050" b="1" spc="100" kern="0" dirty="0">
                <a:solidFill>
                  <a:srgbClr val="6B3FA0"/>
                </a:solidFill>
                <a:latin typeface="Calibri" pitchFamily="34" charset="0"/>
                <a:ea typeface="Calibri" pitchFamily="34" charset="-122"/>
                <a:cs typeface="Calibri" pitchFamily="34" charset="-120"/>
              </a:rPr>
              <a:t>WHAT IT SAYS BACK</a:t>
            </a:r>
            <a:endParaRPr lang="en-US" sz="1050" dirty="0"/>
          </a:p>
        </p:txBody>
      </p:sp>
      <p:sp>
        <p:nvSpPr>
          <p:cNvPr id="11" name="Text 9"/>
          <p:cNvSpPr/>
          <p:nvPr/>
        </p:nvSpPr>
        <p:spPr>
          <a:xfrm>
            <a:off x="777240" y="256032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Material family</a:t>
            </a:r>
            <a:endParaRPr lang="en-US" sz="1000" dirty="0"/>
          </a:p>
        </p:txBody>
      </p:sp>
      <p:sp>
        <p:nvSpPr>
          <p:cNvPr id="12" name="Text 10"/>
          <p:cNvSpPr/>
          <p:nvPr/>
        </p:nvSpPr>
        <p:spPr>
          <a:xfrm>
            <a:off x="2468880" y="256032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Aluminium die-casting alloy</a:t>
            </a:r>
            <a:endParaRPr lang="en-US" sz="1050" dirty="0"/>
          </a:p>
        </p:txBody>
      </p:sp>
      <p:sp>
        <p:nvSpPr>
          <p:cNvPr id="13" name="Text 11"/>
          <p:cNvSpPr/>
          <p:nvPr/>
        </p:nvSpPr>
        <p:spPr>
          <a:xfrm>
            <a:off x="777240" y="283464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How it is made</a:t>
            </a:r>
            <a:endParaRPr lang="en-US" sz="1000" dirty="0"/>
          </a:p>
        </p:txBody>
      </p:sp>
      <p:sp>
        <p:nvSpPr>
          <p:cNvPr id="14" name="Text 12"/>
          <p:cNvSpPr/>
          <p:nvPr/>
        </p:nvSpPr>
        <p:spPr>
          <a:xfrm>
            <a:off x="2468880" y="283464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High-pressure die cast</a:t>
            </a:r>
            <a:endParaRPr lang="en-US" sz="1050" dirty="0"/>
          </a:p>
        </p:txBody>
      </p:sp>
      <p:sp>
        <p:nvSpPr>
          <p:cNvPr id="15" name="Text 13"/>
          <p:cNvSpPr/>
          <p:nvPr/>
        </p:nvSpPr>
        <p:spPr>
          <a:xfrm>
            <a:off x="777240" y="310896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Then what</a:t>
            </a:r>
            <a:endParaRPr lang="en-US" sz="1000" dirty="0"/>
          </a:p>
        </p:txBody>
      </p:sp>
      <p:sp>
        <p:nvSpPr>
          <p:cNvPr id="16" name="Text 14"/>
          <p:cNvSpPr/>
          <p:nvPr/>
        </p:nvSpPr>
        <p:spPr>
          <a:xfrm>
            <a:off x="2468880" y="310896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Machine-finished on a cutting machine</a:t>
            </a:r>
            <a:endParaRPr lang="en-US" sz="1050" dirty="0"/>
          </a:p>
        </p:txBody>
      </p:sp>
      <p:sp>
        <p:nvSpPr>
          <p:cNvPr id="17" name="Text 15"/>
          <p:cNvSpPr/>
          <p:nvPr/>
        </p:nvSpPr>
        <p:spPr>
          <a:xfrm>
            <a:off x="777240" y="338328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How sure it is</a:t>
            </a:r>
            <a:endParaRPr lang="en-US" sz="1000" dirty="0"/>
          </a:p>
        </p:txBody>
      </p:sp>
      <p:sp>
        <p:nvSpPr>
          <p:cNvPr id="18" name="Text 16"/>
          <p:cNvSpPr/>
          <p:nvPr/>
        </p:nvSpPr>
        <p:spPr>
          <a:xfrm>
            <a:off x="2468880" y="338328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84% confident</a:t>
            </a:r>
            <a:endParaRPr lang="en-US" sz="1050" dirty="0"/>
          </a:p>
        </p:txBody>
      </p:sp>
      <p:sp>
        <p:nvSpPr>
          <p:cNvPr id="19" name="Shape 17"/>
          <p:cNvSpPr/>
          <p:nvPr/>
        </p:nvSpPr>
        <p:spPr>
          <a:xfrm>
            <a:off x="6172200" y="1188720"/>
            <a:ext cx="5559552" cy="2670048"/>
          </a:xfrm>
          <a:prstGeom prst="roundRect">
            <a:avLst>
              <a:gd name="adj" fmla="val 3425"/>
            </a:avLst>
          </a:prstGeom>
          <a:solidFill>
            <a:srgbClr val="FFFFFF"/>
          </a:solidFill>
          <a:ln w="19050">
            <a:solidFill>
              <a:srgbClr val="B03A2E"/>
            </a:solidFill>
            <a:prstDash val="solid"/>
          </a:ln>
        </p:spPr>
      </p:sp>
      <p:sp>
        <p:nvSpPr>
          <p:cNvPr id="20" name="Text 18"/>
          <p:cNvSpPr/>
          <p:nvPr/>
        </p:nvSpPr>
        <p:spPr>
          <a:xfrm>
            <a:off x="6400800" y="1325880"/>
            <a:ext cx="4572000" cy="237744"/>
          </a:xfrm>
          <a:prstGeom prst="rect">
            <a:avLst/>
          </a:prstGeom>
          <a:noFill/>
          <a:ln/>
        </p:spPr>
        <p:txBody>
          <a:bodyPr wrap="square" lIns="0" tIns="0" rIns="0" bIns="0" rtlCol="0" anchor="ctr"/>
          <a:lstStyle/>
          <a:p>
            <a:pPr indent="0" marL="0">
              <a:buNone/>
            </a:pPr>
            <a:r>
              <a:rPr lang="en-US" sz="1050" b="1" spc="100" kern="0" dirty="0">
                <a:solidFill>
                  <a:srgbClr val="B03A2E"/>
                </a:solidFill>
                <a:latin typeface="Calibri" pitchFamily="34" charset="0"/>
                <a:ea typeface="Calibri" pitchFamily="34" charset="-122"/>
                <a:cs typeface="Calibri" pitchFamily="34" charset="-120"/>
              </a:rPr>
              <a:t>WHAT THE AI CANNOT DO</a:t>
            </a:r>
            <a:endParaRPr lang="en-US" sz="1050" dirty="0"/>
          </a:p>
        </p:txBody>
      </p:sp>
      <p:pic>
        <p:nvPicPr>
          <p:cNvPr id="21" name="Image 0" descr="preencoded.png">    </p:cNvPr>
          <p:cNvPicPr>
            <a:picLocks noChangeAspect="1"/>
          </p:cNvPicPr>
          <p:nvPr/>
        </p:nvPicPr>
        <p:blipFill>
          <a:blip r:embed="rId1"/>
          <a:stretch>
            <a:fillRect/>
          </a:stretch>
        </p:blipFill>
        <p:spPr>
          <a:xfrm>
            <a:off x="6400800" y="1691640"/>
            <a:ext cx="155448" cy="155448"/>
          </a:xfrm>
          <a:prstGeom prst="rect">
            <a:avLst/>
          </a:prstGeom>
        </p:spPr>
      </p:pic>
      <p:sp>
        <p:nvSpPr>
          <p:cNvPr id="22" name="Text 19"/>
          <p:cNvSpPr/>
          <p:nvPr/>
        </p:nvSpPr>
        <p:spPr>
          <a:xfrm>
            <a:off x="6675120" y="162763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Set a price, or any part of a price</a:t>
            </a:r>
            <a:endParaRPr lang="en-US" sz="1150" dirty="0"/>
          </a:p>
        </p:txBody>
      </p:sp>
      <p:pic>
        <p:nvPicPr>
          <p:cNvPr id="23" name="Image 1" descr="preencoded.png">    </p:cNvPr>
          <p:cNvPicPr>
            <a:picLocks noChangeAspect="1"/>
          </p:cNvPicPr>
          <p:nvPr/>
        </p:nvPicPr>
        <p:blipFill>
          <a:blip r:embed="rId2"/>
          <a:stretch>
            <a:fillRect/>
          </a:stretch>
        </p:blipFill>
        <p:spPr>
          <a:xfrm>
            <a:off x="6400800" y="2057400"/>
            <a:ext cx="155448" cy="155448"/>
          </a:xfrm>
          <a:prstGeom prst="rect">
            <a:avLst/>
          </a:prstGeom>
        </p:spPr>
      </p:pic>
      <p:sp>
        <p:nvSpPr>
          <p:cNvPr id="24" name="Text 20"/>
          <p:cNvSpPr/>
          <p:nvPr/>
        </p:nvSpPr>
        <p:spPr>
          <a:xfrm>
            <a:off x="6675120" y="199339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Change a measured dimension or weight</a:t>
            </a:r>
            <a:endParaRPr lang="en-US" sz="1150" dirty="0"/>
          </a:p>
        </p:txBody>
      </p:sp>
      <p:pic>
        <p:nvPicPr>
          <p:cNvPr id="25" name="Image 2" descr="preencoded.png">    </p:cNvPr>
          <p:cNvPicPr>
            <a:picLocks noChangeAspect="1"/>
          </p:cNvPicPr>
          <p:nvPr/>
        </p:nvPicPr>
        <p:blipFill>
          <a:blip r:embed="rId3"/>
          <a:stretch>
            <a:fillRect/>
          </a:stretch>
        </p:blipFill>
        <p:spPr>
          <a:xfrm>
            <a:off x="6400800" y="2423160"/>
            <a:ext cx="155448" cy="155448"/>
          </a:xfrm>
          <a:prstGeom prst="rect">
            <a:avLst/>
          </a:prstGeom>
        </p:spPr>
      </p:pic>
      <p:sp>
        <p:nvSpPr>
          <p:cNvPr id="26" name="Text 21"/>
          <p:cNvSpPr/>
          <p:nvPr/>
        </p:nvSpPr>
        <p:spPr>
          <a:xfrm>
            <a:off x="6675120" y="235915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Choose the machine or the cycle time</a:t>
            </a:r>
            <a:endParaRPr lang="en-US" sz="1150" dirty="0"/>
          </a:p>
        </p:txBody>
      </p:sp>
      <p:pic>
        <p:nvPicPr>
          <p:cNvPr id="27" name="Image 3" descr="preencoded.png">    </p:cNvPr>
          <p:cNvPicPr>
            <a:picLocks noChangeAspect="1"/>
          </p:cNvPicPr>
          <p:nvPr/>
        </p:nvPicPr>
        <p:blipFill>
          <a:blip r:embed="rId4"/>
          <a:stretch>
            <a:fillRect/>
          </a:stretch>
        </p:blipFill>
        <p:spPr>
          <a:xfrm>
            <a:off x="6400800" y="2788920"/>
            <a:ext cx="155448" cy="155448"/>
          </a:xfrm>
          <a:prstGeom prst="rect">
            <a:avLst/>
          </a:prstGeom>
        </p:spPr>
      </p:pic>
      <p:sp>
        <p:nvSpPr>
          <p:cNvPr id="28" name="Text 22"/>
          <p:cNvSpPr/>
          <p:nvPr/>
        </p:nvSpPr>
        <p:spPr>
          <a:xfrm>
            <a:off x="6675120" y="272491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Touch the rate library</a:t>
            </a:r>
            <a:endParaRPr lang="en-US" sz="1150" dirty="0"/>
          </a:p>
        </p:txBody>
      </p:sp>
      <p:pic>
        <p:nvPicPr>
          <p:cNvPr id="29" name="Image 4" descr="preencoded.png">    </p:cNvPr>
          <p:cNvPicPr>
            <a:picLocks noChangeAspect="1"/>
          </p:cNvPicPr>
          <p:nvPr/>
        </p:nvPicPr>
        <p:blipFill>
          <a:blip r:embed="rId5"/>
          <a:stretch>
            <a:fillRect/>
          </a:stretch>
        </p:blipFill>
        <p:spPr>
          <a:xfrm>
            <a:off x="6400800" y="3154680"/>
            <a:ext cx="155448" cy="155448"/>
          </a:xfrm>
          <a:prstGeom prst="rect">
            <a:avLst/>
          </a:prstGeom>
        </p:spPr>
      </p:pic>
      <p:sp>
        <p:nvSpPr>
          <p:cNvPr id="30" name="Text 23"/>
          <p:cNvSpPr/>
          <p:nvPr/>
        </p:nvSpPr>
        <p:spPr>
          <a:xfrm>
            <a:off x="6675120" y="309067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Override a safety check</a:t>
            </a:r>
            <a:endParaRPr lang="en-US" sz="1150" dirty="0"/>
          </a:p>
        </p:txBody>
      </p:sp>
      <p:pic>
        <p:nvPicPr>
          <p:cNvPr id="31" name="Image 5" descr="preencoded.png">    </p:cNvPr>
          <p:cNvPicPr>
            <a:picLocks noChangeAspect="1"/>
          </p:cNvPicPr>
          <p:nvPr/>
        </p:nvPicPr>
        <p:blipFill>
          <a:blip r:embed="rId6"/>
          <a:stretch>
            <a:fillRect/>
          </a:stretch>
        </p:blipFill>
        <p:spPr>
          <a:xfrm>
            <a:off x="6400800" y="3520440"/>
            <a:ext cx="155448" cy="155448"/>
          </a:xfrm>
          <a:prstGeom prst="rect">
            <a:avLst/>
          </a:prstGeom>
        </p:spPr>
      </p:pic>
      <p:sp>
        <p:nvSpPr>
          <p:cNvPr id="32" name="Text 24"/>
          <p:cNvSpPr/>
          <p:nvPr/>
        </p:nvSpPr>
        <p:spPr>
          <a:xfrm>
            <a:off x="6675120" y="345643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Overrule anything the engineer entered</a:t>
            </a:r>
            <a:endParaRPr lang="en-US" sz="1150" dirty="0"/>
          </a:p>
        </p:txBody>
      </p:sp>
      <p:sp>
        <p:nvSpPr>
          <p:cNvPr id="33" name="Shape 25"/>
          <p:cNvSpPr/>
          <p:nvPr/>
        </p:nvSpPr>
        <p:spPr>
          <a:xfrm>
            <a:off x="457200" y="3913632"/>
            <a:ext cx="11274552" cy="1143000"/>
          </a:xfrm>
          <a:prstGeom prst="roundRect">
            <a:avLst>
              <a:gd name="adj" fmla="val 8000"/>
            </a:avLst>
          </a:prstGeom>
          <a:solidFill>
            <a:srgbClr val="FFFFFF"/>
          </a:solidFill>
          <a:ln w="12700">
            <a:solidFill>
              <a:srgbClr val="DCE3EE"/>
            </a:solidFill>
            <a:prstDash val="solid"/>
          </a:ln>
        </p:spPr>
      </p:sp>
      <p:sp>
        <p:nvSpPr>
          <p:cNvPr id="34" name="Text 26"/>
          <p:cNvSpPr/>
          <p:nvPr/>
        </p:nvSpPr>
        <p:spPr>
          <a:xfrm>
            <a:off x="731520" y="4041648"/>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The confidence score is not decoration — it changes what happens next</a:t>
            </a:r>
            <a:endParaRPr lang="en-US" sz="1250" dirty="0"/>
          </a:p>
        </p:txBody>
      </p:sp>
      <p:sp>
        <p:nvSpPr>
          <p:cNvPr id="35" name="Text 27"/>
          <p:cNvSpPr/>
          <p:nvPr/>
        </p:nvSpPr>
        <p:spPr>
          <a:xfrm>
            <a:off x="731520" y="4343400"/>
            <a:ext cx="10744200" cy="65836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In the AI modes: at 84% the tool proceeds but flags the call for review. Below 50% a hard rule fires — "material suggestion is only N% confident, add a part photo or confirm the material manually" — and it stays on the result until a person clears it. </a:t>
            </a:r>
            <a:pPr indent="0" marL="0">
              <a:buNone/>
            </a:pPr>
            <a:r>
              <a:rPr lang="en-US" sz="1150" b="1" dirty="0">
                <a:solidFill>
                  <a:srgbClr val="16325C"/>
                </a:solidFill>
                <a:latin typeface="Calibri" pitchFamily="34" charset="0"/>
                <a:ea typeface="Calibri" pitchFamily="34" charset="-122"/>
                <a:cs typeface="Calibri" pitchFamily="34" charset="-120"/>
              </a:rPr>
              <a:t>A confident-sounding wrong answer is the most dangerous thing an AI can produce — so uncertainty is made visible rather than smoothed over.</a:t>
            </a:r>
            <a:endParaRPr lang="en-US" sz="1150" dirty="0"/>
          </a:p>
        </p:txBody>
      </p:sp>
      <p:sp>
        <p:nvSpPr>
          <p:cNvPr id="36" name="Shape 28"/>
          <p:cNvSpPr/>
          <p:nvPr/>
        </p:nvSpPr>
        <p:spPr>
          <a:xfrm>
            <a:off x="457200" y="5212080"/>
            <a:ext cx="11274552" cy="822960"/>
          </a:xfrm>
          <a:prstGeom prst="roundRect">
            <a:avLst>
              <a:gd name="adj" fmla="val 11111"/>
            </a:avLst>
          </a:prstGeom>
          <a:solidFill>
            <a:srgbClr val="EAF6EF"/>
          </a:solidFill>
          <a:ln w="12700">
            <a:solidFill>
              <a:srgbClr val="2E8B57"/>
            </a:solidFill>
            <a:prstDash val="solid"/>
          </a:ln>
        </p:spPr>
      </p:sp>
      <p:sp>
        <p:nvSpPr>
          <p:cNvPr id="37" name="Text 29"/>
          <p:cNvSpPr/>
          <p:nvPr/>
        </p:nvSpPr>
        <p:spPr>
          <a:xfrm>
            <a:off x="731520" y="5330952"/>
            <a:ext cx="10744200" cy="640080"/>
          </a:xfrm>
          <a:prstGeom prst="rect">
            <a:avLst/>
          </a:prstGeom>
          <a:noFill/>
          <a:ln/>
        </p:spPr>
        <p:txBody>
          <a:bodyPr wrap="square" lIns="0" tIns="0" rIns="0" bIns="0" rtlCol="0" anchor="ctr"/>
          <a:lstStyle/>
          <a:p>
            <a:pPr indent="0" marL="0">
              <a:buNone/>
            </a:pPr>
            <a:r>
              <a:rPr lang="en-US" sz="1200" b="1" dirty="0">
                <a:solidFill>
                  <a:srgbClr val="2E8B57"/>
                </a:solidFill>
                <a:latin typeface="Calibri" pitchFamily="34" charset="0"/>
                <a:ea typeface="Calibri" pitchFamily="34" charset="-122"/>
                <a:cs typeface="Calibri" pitchFamily="34" charset="-120"/>
              </a:rPr>
              <a:t>In plain terms: </a:t>
            </a:r>
            <a:pPr indent="0" marL="0">
              <a:buNone/>
            </a:pPr>
            <a:r>
              <a:rPr lang="en-US" sz="1200" dirty="0">
                <a:solidFill>
                  <a:srgbClr val="3A4356"/>
                </a:solidFill>
                <a:latin typeface="Calibri" pitchFamily="34" charset="0"/>
                <a:ea typeface="Calibri" pitchFamily="34" charset="-122"/>
                <a:cs typeface="Calibri" pitchFamily="34" charset="-120"/>
              </a:rPr>
              <a:t>the AI does the job an experienced engineer does in the first ten seconds of picking up a part — "ah, that's a die-cast housing, that'll be machined after". It saves setup time. It does not do the costing, it cannot — and on the default Rules-only path this whole stage is skipped: the engineer’s answers replace the AI’s reading.</a:t>
            </a:r>
            <a:endParaRPr lang="en-US" sz="1200" dirty="0"/>
          </a:p>
        </p:txBody>
      </p:sp>
      <p:sp>
        <p:nvSpPr>
          <p:cNvPr id="38" name="Text 3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9" name="Text 3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5–6 · The Safety Checks — and Autocorrect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Four checks ran on this part before a single pound was calculated</a:t>
            </a:r>
            <a:endParaRPr lang="en-US" sz="1200" dirty="0"/>
          </a:p>
        </p:txBody>
      </p:sp>
      <p:sp>
        <p:nvSpPr>
          <p:cNvPr id="5" name="Shape 3"/>
          <p:cNvSpPr/>
          <p:nvPr/>
        </p:nvSpPr>
        <p:spPr>
          <a:xfrm>
            <a:off x="9418320" y="676656"/>
            <a:ext cx="2286000" cy="310896"/>
          </a:xfrm>
          <a:prstGeom prst="roundRect">
            <a:avLst>
              <a:gd name="adj" fmla="val 50000"/>
            </a:avLst>
          </a:prstGeom>
          <a:solidFill>
            <a:srgbClr val="FCF3E3"/>
          </a:solidFill>
          <a:ln w="12700">
            <a:solidFill>
              <a:srgbClr val="B7791F"/>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B7791F"/>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486400" cy="1417320"/>
          </a:xfrm>
          <a:prstGeom prst="roundRect">
            <a:avLst>
              <a:gd name="adj" fmla="val 5806"/>
            </a:avLst>
          </a:prstGeom>
          <a:solidFill>
            <a:srgbClr val="FFFFFF"/>
          </a:solidFill>
          <a:ln w="12700">
            <a:solidFill>
              <a:srgbClr val="DCE3EE"/>
            </a:solidFill>
            <a:prstDash val="solid"/>
          </a:ln>
        </p:spPr>
      </p:sp>
      <p:sp>
        <p:nvSpPr>
          <p:cNvPr id="8" name="Text 6"/>
          <p:cNvSpPr/>
          <p:nvPr/>
        </p:nvSpPr>
        <p:spPr>
          <a:xfrm>
            <a:off x="658368" y="1271016"/>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1 · Buy the metal you actually pour</a:t>
            </a:r>
            <a:endParaRPr lang="en-US" sz="1200" dirty="0"/>
          </a:p>
        </p:txBody>
      </p:sp>
      <p:sp>
        <p:nvSpPr>
          <p:cNvPr id="9" name="Text 7"/>
          <p:cNvSpPr/>
          <p:nvPr/>
        </p:nvSpPr>
        <p:spPr>
          <a:xfrm>
            <a:off x="658368" y="1554480"/>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buy 2.8 kg — the part weight.</a:t>
            </a:r>
            <a:endParaRPr lang="en-US" sz="980" dirty="0"/>
          </a:p>
        </p:txBody>
      </p:sp>
      <p:sp>
        <p:nvSpPr>
          <p:cNvPr id="10" name="Text 8"/>
          <p:cNvSpPr/>
          <p:nvPr/>
        </p:nvSpPr>
        <p:spPr>
          <a:xfrm>
            <a:off x="658368" y="1783080"/>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Corrected to 4.83 kg. To sell a 2.8 kg casting the supplier pours 4.83 kg; the rest runs down the feed channels and is recycled at scrap value.</a:t>
            </a:r>
            <a:endParaRPr lang="en-US" sz="980" dirty="0"/>
          </a:p>
        </p:txBody>
      </p:sp>
      <p:sp>
        <p:nvSpPr>
          <p:cNvPr id="11" name="Text 9"/>
          <p:cNvSpPr/>
          <p:nvPr/>
        </p:nvSpPr>
        <p:spPr>
          <a:xfrm>
            <a:off x="658368" y="2313432"/>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The single most common casting cost error.</a:t>
            </a:r>
            <a:endParaRPr lang="en-US" sz="900" dirty="0"/>
          </a:p>
        </p:txBody>
      </p:sp>
      <p:sp>
        <p:nvSpPr>
          <p:cNvPr id="12" name="Shape 10"/>
          <p:cNvSpPr/>
          <p:nvPr/>
        </p:nvSpPr>
        <p:spPr>
          <a:xfrm>
            <a:off x="6245352" y="1188720"/>
            <a:ext cx="5486400" cy="1417320"/>
          </a:xfrm>
          <a:prstGeom prst="roundRect">
            <a:avLst>
              <a:gd name="adj" fmla="val 5806"/>
            </a:avLst>
          </a:prstGeom>
          <a:solidFill>
            <a:srgbClr val="FFFFFF"/>
          </a:solidFill>
          <a:ln w="12700">
            <a:solidFill>
              <a:srgbClr val="DCE3EE"/>
            </a:solidFill>
            <a:prstDash val="solid"/>
          </a:ln>
        </p:spPr>
      </p:sp>
      <p:sp>
        <p:nvSpPr>
          <p:cNvPr id="13" name="Text 11"/>
          <p:cNvSpPr/>
          <p:nvPr/>
        </p:nvSpPr>
        <p:spPr>
          <a:xfrm>
            <a:off x="6446520" y="1271016"/>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2 · Machining is finishing, not carving</a:t>
            </a:r>
            <a:endParaRPr lang="en-US" sz="1200" dirty="0"/>
          </a:p>
        </p:txBody>
      </p:sp>
      <p:sp>
        <p:nvSpPr>
          <p:cNvPr id="14" name="Text 12"/>
          <p:cNvSpPr/>
          <p:nvPr/>
        </p:nvSpPr>
        <p:spPr>
          <a:xfrm>
            <a:off x="6446520" y="1554480"/>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machine the shape out of metal.</a:t>
            </a:r>
            <a:endParaRPr lang="en-US" sz="980" dirty="0"/>
          </a:p>
        </p:txBody>
      </p:sp>
      <p:sp>
        <p:nvSpPr>
          <p:cNvPr id="15" name="Text 13"/>
          <p:cNvSpPr/>
          <p:nvPr/>
        </p:nvSpPr>
        <p:spPr>
          <a:xfrm>
            <a:off x="6446520" y="1783080"/>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Capped to a finish envelope: 0.10 hr setup + 0.07 hr/kg. For 2.8 kg that is a 0.30 hr ceiling; this part's 0.27 hr of cutting sits just inside it.</a:t>
            </a:r>
            <a:endParaRPr lang="en-US" sz="980" dirty="0"/>
          </a:p>
        </p:txBody>
      </p:sp>
      <p:sp>
        <p:nvSpPr>
          <p:cNvPr id="16" name="Text 14"/>
          <p:cNvSpPr/>
          <p:nvPr/>
        </p:nvSpPr>
        <p:spPr>
          <a:xfrm>
            <a:off x="6446520" y="2313432"/>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Prevents roughly doubling the cost.</a:t>
            </a:r>
            <a:endParaRPr lang="en-US" sz="900" dirty="0"/>
          </a:p>
        </p:txBody>
      </p:sp>
      <p:sp>
        <p:nvSpPr>
          <p:cNvPr id="17" name="Shape 15"/>
          <p:cNvSpPr/>
          <p:nvPr/>
        </p:nvSpPr>
        <p:spPr>
          <a:xfrm>
            <a:off x="457200" y="2761488"/>
            <a:ext cx="5486400" cy="1417320"/>
          </a:xfrm>
          <a:prstGeom prst="roundRect">
            <a:avLst>
              <a:gd name="adj" fmla="val 5806"/>
            </a:avLst>
          </a:prstGeom>
          <a:solidFill>
            <a:srgbClr val="FFFFFF"/>
          </a:solidFill>
          <a:ln w="12700">
            <a:solidFill>
              <a:srgbClr val="DCE3EE"/>
            </a:solidFill>
            <a:prstDash val="solid"/>
          </a:ln>
        </p:spPr>
      </p:sp>
      <p:sp>
        <p:nvSpPr>
          <p:cNvPr id="18" name="Text 16"/>
          <p:cNvSpPr/>
          <p:nvPr/>
        </p:nvSpPr>
        <p:spPr>
          <a:xfrm>
            <a:off x="658368" y="2843784"/>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3 · Use a real die-casting alloy</a:t>
            </a:r>
            <a:endParaRPr lang="en-US" sz="1200" dirty="0"/>
          </a:p>
        </p:txBody>
      </p:sp>
      <p:sp>
        <p:nvSpPr>
          <p:cNvPr id="19" name="Text 17"/>
          <p:cNvSpPr/>
          <p:nvPr/>
        </p:nvSpPr>
        <p:spPr>
          <a:xfrm>
            <a:off x="658368" y="3127248"/>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a generic or wrought aluminium grade.</a:t>
            </a:r>
            <a:endParaRPr lang="en-US" sz="980" dirty="0"/>
          </a:p>
        </p:txBody>
      </p:sp>
      <p:sp>
        <p:nvSpPr>
          <p:cNvPr id="20" name="Text 18"/>
          <p:cNvSpPr/>
          <p:nvPr/>
        </p:nvSpPr>
        <p:spPr>
          <a:xfrm>
            <a:off x="658368" y="3355848"/>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Redirected to a genuine die-casting alloy. A machined face can tempt the model toward "machined from solid billet" — the guard keeps casting as the primary process.</a:t>
            </a:r>
            <a:endParaRPr lang="en-US" sz="980" dirty="0"/>
          </a:p>
        </p:txBody>
      </p:sp>
      <p:sp>
        <p:nvSpPr>
          <p:cNvPr id="21" name="Text 19"/>
          <p:cNvSpPr/>
          <p:nvPr/>
        </p:nvSpPr>
        <p:spPr>
          <a:xfrm>
            <a:off x="658368" y="3886200"/>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Wrong alloy = wrong price per kilo.</a:t>
            </a:r>
            <a:endParaRPr lang="en-US" sz="900" dirty="0"/>
          </a:p>
        </p:txBody>
      </p:sp>
      <p:sp>
        <p:nvSpPr>
          <p:cNvPr id="22" name="Shape 20"/>
          <p:cNvSpPr/>
          <p:nvPr/>
        </p:nvSpPr>
        <p:spPr>
          <a:xfrm>
            <a:off x="6245352" y="2761488"/>
            <a:ext cx="5486400" cy="1417320"/>
          </a:xfrm>
          <a:prstGeom prst="roundRect">
            <a:avLst>
              <a:gd name="adj" fmla="val 5806"/>
            </a:avLst>
          </a:prstGeom>
          <a:solidFill>
            <a:srgbClr val="FFFFFF"/>
          </a:solidFill>
          <a:ln w="12700">
            <a:solidFill>
              <a:srgbClr val="DCE3EE"/>
            </a:solidFill>
            <a:prstDash val="solid"/>
          </a:ln>
        </p:spPr>
      </p:sp>
      <p:sp>
        <p:nvSpPr>
          <p:cNvPr id="23" name="Text 21"/>
          <p:cNvSpPr/>
          <p:nvPr/>
        </p:nvSpPr>
        <p:spPr>
          <a:xfrm>
            <a:off x="6446520" y="2843784"/>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4 · Size the machine to the part</a:t>
            </a:r>
            <a:endParaRPr lang="en-US" sz="1200" dirty="0"/>
          </a:p>
        </p:txBody>
      </p:sp>
      <p:sp>
        <p:nvSpPr>
          <p:cNvPr id="24" name="Text 22"/>
          <p:cNvSpPr/>
          <p:nvPr/>
        </p:nvSpPr>
        <p:spPr>
          <a:xfrm>
            <a:off x="6446520" y="3127248"/>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use a default press.</a:t>
            </a:r>
            <a:endParaRPr lang="en-US" sz="980" dirty="0"/>
          </a:p>
        </p:txBody>
      </p:sp>
      <p:sp>
        <p:nvSpPr>
          <p:cNvPr id="25" name="Text 23"/>
          <p:cNvSpPr/>
          <p:nvPr/>
        </p:nvSpPr>
        <p:spPr>
          <a:xfrm>
            <a:off x="6446520" y="3355848"/>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Sized to 1,600 t off the ladder 160 / 500 / 800 / 1,600 / 6,100 / 9,000 t — the smallest press that clamps the part, at £137.55/hr.</a:t>
            </a:r>
            <a:endParaRPr lang="en-US" sz="980" dirty="0"/>
          </a:p>
        </p:txBody>
      </p:sp>
      <p:sp>
        <p:nvSpPr>
          <p:cNvPr id="26" name="Text 24"/>
          <p:cNvSpPr/>
          <p:nvPr/>
        </p:nvSpPr>
        <p:spPr>
          <a:xfrm>
            <a:off x="6446520" y="3886200"/>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Explained in full on the next slide.</a:t>
            </a:r>
            <a:endParaRPr lang="en-US" sz="900" dirty="0"/>
          </a:p>
        </p:txBody>
      </p:sp>
      <p:sp>
        <p:nvSpPr>
          <p:cNvPr id="27" name="Shape 25"/>
          <p:cNvSpPr/>
          <p:nvPr/>
        </p:nvSpPr>
        <p:spPr>
          <a:xfrm>
            <a:off x="457200" y="4407408"/>
            <a:ext cx="11274552" cy="960120"/>
          </a:xfrm>
          <a:prstGeom prst="roundRect">
            <a:avLst>
              <a:gd name="adj" fmla="val 9524"/>
            </a:avLst>
          </a:prstGeom>
          <a:solidFill>
            <a:srgbClr val="FCF3E3"/>
          </a:solidFill>
          <a:ln w="15875">
            <a:solidFill>
              <a:srgbClr val="B7791F"/>
            </a:solidFill>
            <a:prstDash val="solid"/>
          </a:ln>
        </p:spPr>
      </p:sp>
      <p:pic>
        <p:nvPicPr>
          <p:cNvPr id="28" name="Image 0" descr="preencoded.png">    </p:cNvPr>
          <p:cNvPicPr>
            <a:picLocks noChangeAspect="1"/>
          </p:cNvPicPr>
          <p:nvPr/>
        </p:nvPicPr>
        <p:blipFill>
          <a:blip r:embed="rId1"/>
          <a:stretch>
            <a:fillRect/>
          </a:stretch>
        </p:blipFill>
        <p:spPr>
          <a:xfrm>
            <a:off x="713232" y="4654296"/>
            <a:ext cx="274320" cy="274320"/>
          </a:xfrm>
          <a:prstGeom prst="rect">
            <a:avLst/>
          </a:prstGeom>
        </p:spPr>
      </p:pic>
      <p:sp>
        <p:nvSpPr>
          <p:cNvPr id="29" name="Text 26"/>
          <p:cNvSpPr/>
          <p:nvPr/>
        </p:nvSpPr>
        <p:spPr>
          <a:xfrm>
            <a:off x="1097280" y="4526280"/>
            <a:ext cx="10424160" cy="77724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This is the autocorrect. </a:t>
            </a:r>
            <a:pPr indent="0" marL="0">
              <a:buNone/>
            </a:pPr>
            <a:r>
              <a:rPr lang="en-US" sz="1200" dirty="0">
                <a:solidFill>
                  <a:srgbClr val="3A4356"/>
                </a:solidFill>
                <a:latin typeface="Calibri" pitchFamily="34" charset="0"/>
                <a:ea typeface="Calibri" pitchFamily="34" charset="-122"/>
                <a:cs typeface="Calibri" pitchFamily="34" charset="-120"/>
              </a:rPr>
              <a:t>When the AI and the measurements disagree, </a:t>
            </a:r>
            <a:pPr indent="0" marL="0">
              <a:buNone/>
            </a:pPr>
            <a:r>
              <a:rPr lang="en-US" sz="1200" b="1" dirty="0">
                <a:solidFill>
                  <a:srgbClr val="16325C"/>
                </a:solidFill>
                <a:latin typeface="Calibri" pitchFamily="34" charset="0"/>
                <a:ea typeface="Calibri" pitchFamily="34" charset="-122"/>
                <a:cs typeface="Calibri" pitchFamily="34" charset="-120"/>
              </a:rPr>
              <a:t>the measurements win — automatically, every time. </a:t>
            </a:r>
            <a:pPr indent="0" marL="0">
              <a:buNone/>
            </a:pPr>
            <a:r>
              <a:rPr lang="en-US" sz="1200" dirty="0">
                <a:solidFill>
                  <a:srgbClr val="3A4356"/>
                </a:solidFill>
                <a:latin typeface="Calibri" pitchFamily="34" charset="0"/>
                <a:ea typeface="Calibri" pitchFamily="34" charset="-122"/>
                <a:cs typeface="Calibri" pitchFamily="34" charset="-120"/>
              </a:rPr>
              <a:t>The tool corrects the input, records what it changed and why, and shows the engineer. It never proceeds silently.</a:t>
            </a:r>
            <a:endParaRPr lang="en-US" sz="1200" dirty="0"/>
          </a:p>
        </p:txBody>
      </p:sp>
      <p:sp>
        <p:nvSpPr>
          <p:cNvPr id="30" name="Shape 27"/>
          <p:cNvSpPr/>
          <p:nvPr/>
        </p:nvSpPr>
        <p:spPr>
          <a:xfrm>
            <a:off x="457200" y="5504688"/>
            <a:ext cx="11274552" cy="777240"/>
          </a:xfrm>
          <a:prstGeom prst="roundRect">
            <a:avLst>
              <a:gd name="adj" fmla="val 11765"/>
            </a:avLst>
          </a:prstGeom>
          <a:solidFill>
            <a:srgbClr val="FFFFFF"/>
          </a:solidFill>
          <a:ln w="12700">
            <a:solidFill>
              <a:srgbClr val="DCE3EE"/>
            </a:solidFill>
            <a:prstDash val="solid"/>
          </a:ln>
        </p:spPr>
      </p:sp>
      <p:sp>
        <p:nvSpPr>
          <p:cNvPr id="31" name="Text 28"/>
          <p:cNvSpPr/>
          <p:nvPr/>
        </p:nvSpPr>
        <p:spPr>
          <a:xfrm>
            <a:off x="731520" y="5614416"/>
            <a:ext cx="10744200" cy="59436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Why four checks and not one?  </a:t>
            </a:r>
            <a:pPr indent="0" marL="0">
              <a:buNone/>
            </a:pPr>
            <a:r>
              <a:rPr lang="en-US" sz="1150" dirty="0">
                <a:solidFill>
                  <a:srgbClr val="3A4356"/>
                </a:solidFill>
                <a:latin typeface="Calibri" pitchFamily="34" charset="0"/>
                <a:ea typeface="Calibri" pitchFamily="34" charset="-122"/>
                <a:cs typeface="Calibri" pitchFamily="34" charset="-120"/>
              </a:rPr>
              <a:t>Because a cast-and-machined part has four distinct ways of going wrong. Each guard is written for one specific, known failure — they are not a generic "sanity check", they are four separate lessons from real costing mistakes.</a:t>
            </a:r>
            <a:endParaRPr lang="en-US" sz="1150" dirty="0"/>
          </a:p>
        </p:txBody>
      </p:sp>
      <p:sp>
        <p:nvSpPr>
          <p:cNvPr id="32" name="Text 29"/>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3" name="Text 30"/>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7 · Choosing the Process and the Machine</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Why high-pressure die casting, why a 1,600-tonne press — and what happens when the engineer chooses differently</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486400" cy="2286000"/>
          </a:xfrm>
          <a:prstGeom prst="roundRect">
            <a:avLst>
              <a:gd name="adj" fmla="val 4000"/>
            </a:avLst>
          </a:prstGeom>
          <a:solidFill>
            <a:srgbClr val="FFFFFF"/>
          </a:solidFill>
          <a:ln w="12700">
            <a:solidFill>
              <a:srgbClr val="DCE3EE"/>
            </a:solidFill>
            <a:prstDash val="solid"/>
          </a:ln>
        </p:spPr>
      </p:sp>
      <p:sp>
        <p:nvSpPr>
          <p:cNvPr id="8" name="Text 6"/>
          <p:cNvSpPr/>
          <p:nvPr/>
        </p:nvSpPr>
        <p:spPr>
          <a:xfrm>
            <a:off x="685800" y="1316736"/>
            <a:ext cx="5029200" cy="274320"/>
          </a:xfrm>
          <a:prstGeom prst="rect">
            <a:avLst/>
          </a:prstGeom>
          <a:noFill/>
          <a:ln/>
        </p:spPr>
        <p:txBody>
          <a:bodyPr wrap="square" lIns="0" tIns="0" rIns="0" bIns="0" rtlCol="0" anchor="ctr"/>
          <a:lstStyle/>
          <a:p>
            <a:pPr indent="0" marL="0">
              <a:buNone/>
            </a:pPr>
            <a:r>
              <a:rPr lang="en-US" sz="1300" b="1" dirty="0">
                <a:solidFill>
                  <a:srgbClr val="0E8074"/>
                </a:solidFill>
                <a:latin typeface="Calibri" pitchFamily="34" charset="0"/>
                <a:ea typeface="Calibri" pitchFamily="34" charset="-122"/>
                <a:cs typeface="Calibri" pitchFamily="34" charset="-120"/>
              </a:rPr>
              <a:t>A · Why this process, not another</a:t>
            </a:r>
            <a:endParaRPr lang="en-US" sz="1300" dirty="0"/>
          </a:p>
        </p:txBody>
      </p:sp>
      <p:sp>
        <p:nvSpPr>
          <p:cNvPr id="9" name="Text 7"/>
          <p:cNvSpPr/>
          <p:nvPr/>
        </p:nvSpPr>
        <p:spPr>
          <a:xfrm>
            <a:off x="685800" y="1609344"/>
            <a:ext cx="502920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The engine tests the measured shape against what each process can physically do:</a:t>
            </a:r>
            <a:endParaRPr lang="en-US" sz="1050" dirty="0"/>
          </a:p>
        </p:txBody>
      </p:sp>
      <p:sp>
        <p:nvSpPr>
          <p:cNvPr id="10" name="Shape 8"/>
          <p:cNvSpPr/>
          <p:nvPr/>
        </p:nvSpPr>
        <p:spPr>
          <a:xfrm>
            <a:off x="685800" y="1975104"/>
            <a:ext cx="658368" cy="274320"/>
          </a:xfrm>
          <a:prstGeom prst="roundRect">
            <a:avLst>
              <a:gd name="adj" fmla="val 50000"/>
            </a:avLst>
          </a:prstGeom>
          <a:solidFill>
            <a:srgbClr val="EAF6EF"/>
          </a:solidFill>
          <a:ln w="9525">
            <a:solidFill>
              <a:srgbClr val="2E8B57"/>
            </a:solidFill>
            <a:prstDash val="solid"/>
          </a:ln>
        </p:spPr>
      </p:sp>
      <p:sp>
        <p:nvSpPr>
          <p:cNvPr id="11" name="Text 9"/>
          <p:cNvSpPr/>
          <p:nvPr/>
        </p:nvSpPr>
        <p:spPr>
          <a:xfrm>
            <a:off x="685800" y="1975104"/>
            <a:ext cx="658368" cy="274320"/>
          </a:xfrm>
          <a:prstGeom prst="rect">
            <a:avLst/>
          </a:prstGeom>
          <a:noFill/>
          <a:ln/>
        </p:spPr>
        <p:txBody>
          <a:bodyPr wrap="square" lIns="0" tIns="0" rIns="0" bIns="0" rtlCol="0" anchor="ctr"/>
          <a:lstStyle/>
          <a:p>
            <a:pPr algn="ctr" indent="0" marL="0">
              <a:buNone/>
            </a:pPr>
            <a:r>
              <a:rPr lang="en-US" sz="680" b="1" dirty="0">
                <a:solidFill>
                  <a:srgbClr val="2E8B57"/>
                </a:solidFill>
                <a:latin typeface="Calibri" pitchFamily="34" charset="0"/>
                <a:ea typeface="Calibri" pitchFamily="34" charset="-122"/>
                <a:cs typeface="Calibri" pitchFamily="34" charset="-120"/>
              </a:rPr>
              <a:t>CHOSEN</a:t>
            </a:r>
            <a:endParaRPr lang="en-US" sz="680" dirty="0"/>
          </a:p>
        </p:txBody>
      </p:sp>
      <p:sp>
        <p:nvSpPr>
          <p:cNvPr id="12" name="Text 10"/>
          <p:cNvSpPr/>
          <p:nvPr/>
        </p:nvSpPr>
        <p:spPr>
          <a:xfrm>
            <a:off x="1444752" y="1975104"/>
            <a:ext cx="2103120" cy="27432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High-pressure die casting</a:t>
            </a:r>
            <a:endParaRPr lang="en-US" sz="1000" dirty="0"/>
          </a:p>
        </p:txBody>
      </p:sp>
      <p:sp>
        <p:nvSpPr>
          <p:cNvPr id="13" name="Text 11"/>
          <p:cNvSpPr/>
          <p:nvPr/>
        </p:nvSpPr>
        <p:spPr>
          <a:xfrm>
            <a:off x="3566160" y="197510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thin walls + hollow + 60k/yr</a:t>
            </a:r>
            <a:endParaRPr lang="en-US" sz="880" dirty="0"/>
          </a:p>
        </p:txBody>
      </p:sp>
      <p:sp>
        <p:nvSpPr>
          <p:cNvPr id="14" name="Shape 12"/>
          <p:cNvSpPr/>
          <p:nvPr/>
        </p:nvSpPr>
        <p:spPr>
          <a:xfrm>
            <a:off x="685800" y="2340864"/>
            <a:ext cx="658368" cy="274320"/>
          </a:xfrm>
          <a:prstGeom prst="roundRect">
            <a:avLst>
              <a:gd name="adj" fmla="val 50000"/>
            </a:avLst>
          </a:prstGeom>
          <a:solidFill>
            <a:srgbClr val="F4F7FB"/>
          </a:solidFill>
          <a:ln w="9525">
            <a:solidFill>
              <a:srgbClr val="DCE3EE"/>
            </a:solidFill>
            <a:prstDash val="solid"/>
          </a:ln>
        </p:spPr>
      </p:sp>
      <p:sp>
        <p:nvSpPr>
          <p:cNvPr id="15" name="Text 13"/>
          <p:cNvSpPr/>
          <p:nvPr/>
        </p:nvSpPr>
        <p:spPr>
          <a:xfrm>
            <a:off x="685800" y="2340864"/>
            <a:ext cx="658368" cy="274320"/>
          </a:xfrm>
          <a:prstGeom prst="rect">
            <a:avLst/>
          </a:prstGeom>
          <a:noFill/>
          <a:ln/>
        </p:spPr>
        <p:txBody>
          <a:bodyPr wrap="square" lIns="0" tIns="0" rIns="0" bIns="0" rtlCol="0" anchor="ctr"/>
          <a:lstStyle/>
          <a:p>
            <a:pPr algn="ctr" indent="0" marL="0">
              <a:buNone/>
            </a:pPr>
            <a:r>
              <a:rPr lang="en-US" sz="680" b="1" dirty="0">
                <a:solidFill>
                  <a:srgbClr val="6B7280"/>
                </a:solidFill>
                <a:latin typeface="Calibri" pitchFamily="34" charset="0"/>
                <a:ea typeface="Calibri" pitchFamily="34" charset="-122"/>
                <a:cs typeface="Calibri" pitchFamily="34" charset="-120"/>
              </a:rPr>
              <a:t>rejected</a:t>
            </a:r>
            <a:endParaRPr lang="en-US" sz="680" dirty="0"/>
          </a:p>
        </p:txBody>
      </p:sp>
      <p:sp>
        <p:nvSpPr>
          <p:cNvPr id="16" name="Text 14"/>
          <p:cNvSpPr/>
          <p:nvPr/>
        </p:nvSpPr>
        <p:spPr>
          <a:xfrm>
            <a:off x="1444752" y="2340864"/>
            <a:ext cx="210312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Sand casting</a:t>
            </a:r>
            <a:endParaRPr lang="en-US" sz="1000" dirty="0"/>
          </a:p>
        </p:txBody>
      </p:sp>
      <p:sp>
        <p:nvSpPr>
          <p:cNvPr id="17" name="Text 15"/>
          <p:cNvSpPr/>
          <p:nvPr/>
        </p:nvSpPr>
        <p:spPr>
          <a:xfrm>
            <a:off x="3566160" y="234086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slow and rough for 3 mm walls at this volume</a:t>
            </a:r>
            <a:endParaRPr lang="en-US" sz="880" dirty="0"/>
          </a:p>
        </p:txBody>
      </p:sp>
      <p:sp>
        <p:nvSpPr>
          <p:cNvPr id="18" name="Shape 16"/>
          <p:cNvSpPr/>
          <p:nvPr/>
        </p:nvSpPr>
        <p:spPr>
          <a:xfrm>
            <a:off x="685800" y="2706624"/>
            <a:ext cx="658368" cy="274320"/>
          </a:xfrm>
          <a:prstGeom prst="roundRect">
            <a:avLst>
              <a:gd name="adj" fmla="val 50000"/>
            </a:avLst>
          </a:prstGeom>
          <a:solidFill>
            <a:srgbClr val="F4F7FB"/>
          </a:solidFill>
          <a:ln w="9525">
            <a:solidFill>
              <a:srgbClr val="DCE3EE"/>
            </a:solidFill>
            <a:prstDash val="solid"/>
          </a:ln>
        </p:spPr>
      </p:sp>
      <p:sp>
        <p:nvSpPr>
          <p:cNvPr id="19" name="Text 17"/>
          <p:cNvSpPr/>
          <p:nvPr/>
        </p:nvSpPr>
        <p:spPr>
          <a:xfrm>
            <a:off x="685800" y="2706624"/>
            <a:ext cx="658368" cy="274320"/>
          </a:xfrm>
          <a:prstGeom prst="rect">
            <a:avLst/>
          </a:prstGeom>
          <a:noFill/>
          <a:ln/>
        </p:spPr>
        <p:txBody>
          <a:bodyPr wrap="square" lIns="0" tIns="0" rIns="0" bIns="0" rtlCol="0" anchor="ctr"/>
          <a:lstStyle/>
          <a:p>
            <a:pPr algn="ctr" indent="0" marL="0">
              <a:buNone/>
            </a:pPr>
            <a:r>
              <a:rPr lang="en-US" sz="680" b="1" dirty="0">
                <a:solidFill>
                  <a:srgbClr val="6B7280"/>
                </a:solidFill>
                <a:latin typeface="Calibri" pitchFamily="34" charset="0"/>
                <a:ea typeface="Calibri" pitchFamily="34" charset="-122"/>
                <a:cs typeface="Calibri" pitchFamily="34" charset="-120"/>
              </a:rPr>
              <a:t>rejected</a:t>
            </a:r>
            <a:endParaRPr lang="en-US" sz="680" dirty="0"/>
          </a:p>
        </p:txBody>
      </p:sp>
      <p:sp>
        <p:nvSpPr>
          <p:cNvPr id="20" name="Text 18"/>
          <p:cNvSpPr/>
          <p:nvPr/>
        </p:nvSpPr>
        <p:spPr>
          <a:xfrm>
            <a:off x="1444752" y="2706624"/>
            <a:ext cx="210312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Machined from solid billet</a:t>
            </a:r>
            <a:endParaRPr lang="en-US" sz="1000" dirty="0"/>
          </a:p>
        </p:txBody>
      </p:sp>
      <p:sp>
        <p:nvSpPr>
          <p:cNvPr id="21" name="Text 19"/>
          <p:cNvSpPr/>
          <p:nvPr/>
        </p:nvSpPr>
        <p:spPr>
          <a:xfrm>
            <a:off x="3566160" y="270662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would cut away ~80% of the metal — absurd cost</a:t>
            </a:r>
            <a:endParaRPr lang="en-US" sz="880" dirty="0"/>
          </a:p>
        </p:txBody>
      </p:sp>
      <p:sp>
        <p:nvSpPr>
          <p:cNvPr id="22" name="Shape 20"/>
          <p:cNvSpPr/>
          <p:nvPr/>
        </p:nvSpPr>
        <p:spPr>
          <a:xfrm>
            <a:off x="685800" y="3072384"/>
            <a:ext cx="658368" cy="274320"/>
          </a:xfrm>
          <a:prstGeom prst="roundRect">
            <a:avLst>
              <a:gd name="adj" fmla="val 50000"/>
            </a:avLst>
          </a:prstGeom>
          <a:solidFill>
            <a:srgbClr val="F4F7FB"/>
          </a:solidFill>
          <a:ln w="9525">
            <a:solidFill>
              <a:srgbClr val="DCE3EE"/>
            </a:solidFill>
            <a:prstDash val="solid"/>
          </a:ln>
        </p:spPr>
      </p:sp>
      <p:sp>
        <p:nvSpPr>
          <p:cNvPr id="23" name="Text 21"/>
          <p:cNvSpPr/>
          <p:nvPr/>
        </p:nvSpPr>
        <p:spPr>
          <a:xfrm>
            <a:off x="685800" y="3072384"/>
            <a:ext cx="658368" cy="274320"/>
          </a:xfrm>
          <a:prstGeom prst="rect">
            <a:avLst/>
          </a:prstGeom>
          <a:noFill/>
          <a:ln/>
        </p:spPr>
        <p:txBody>
          <a:bodyPr wrap="square" lIns="0" tIns="0" rIns="0" bIns="0" rtlCol="0" anchor="ctr"/>
          <a:lstStyle/>
          <a:p>
            <a:pPr algn="ctr" indent="0" marL="0">
              <a:buNone/>
            </a:pPr>
            <a:r>
              <a:rPr lang="en-US" sz="680" b="1" dirty="0">
                <a:solidFill>
                  <a:srgbClr val="6B7280"/>
                </a:solidFill>
                <a:latin typeface="Calibri" pitchFamily="34" charset="0"/>
                <a:ea typeface="Calibri" pitchFamily="34" charset="-122"/>
                <a:cs typeface="Calibri" pitchFamily="34" charset="-120"/>
              </a:rPr>
              <a:t>rejected</a:t>
            </a:r>
            <a:endParaRPr lang="en-US" sz="680" dirty="0"/>
          </a:p>
        </p:txBody>
      </p:sp>
      <p:sp>
        <p:nvSpPr>
          <p:cNvPr id="24" name="Text 22"/>
          <p:cNvSpPr/>
          <p:nvPr/>
        </p:nvSpPr>
        <p:spPr>
          <a:xfrm>
            <a:off x="1444752" y="3072384"/>
            <a:ext cx="210312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Gravity die casting</a:t>
            </a:r>
            <a:endParaRPr lang="en-US" sz="1000" dirty="0"/>
          </a:p>
        </p:txBody>
      </p:sp>
      <p:sp>
        <p:nvSpPr>
          <p:cNvPr id="25" name="Text 23"/>
          <p:cNvSpPr/>
          <p:nvPr/>
        </p:nvSpPr>
        <p:spPr>
          <a:xfrm>
            <a:off x="3566160" y="307238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cannot reliably fill 3 mm walls</a:t>
            </a:r>
            <a:endParaRPr lang="en-US" sz="880" dirty="0"/>
          </a:p>
        </p:txBody>
      </p:sp>
      <p:sp>
        <p:nvSpPr>
          <p:cNvPr id="26" name="Shape 24"/>
          <p:cNvSpPr/>
          <p:nvPr/>
        </p:nvSpPr>
        <p:spPr>
          <a:xfrm>
            <a:off x="6172200" y="1188720"/>
            <a:ext cx="5559552" cy="2286000"/>
          </a:xfrm>
          <a:prstGeom prst="roundRect">
            <a:avLst>
              <a:gd name="adj" fmla="val 4000"/>
            </a:avLst>
          </a:prstGeom>
          <a:solidFill>
            <a:srgbClr val="E6F4F1"/>
          </a:solidFill>
          <a:ln w="15875">
            <a:solidFill>
              <a:srgbClr val="0E8074"/>
            </a:solidFill>
            <a:prstDash val="solid"/>
          </a:ln>
        </p:spPr>
      </p:sp>
      <p:sp>
        <p:nvSpPr>
          <p:cNvPr id="27" name="Text 25"/>
          <p:cNvSpPr/>
          <p:nvPr/>
        </p:nvSpPr>
        <p:spPr>
          <a:xfrm>
            <a:off x="6400800" y="1316736"/>
            <a:ext cx="5029200" cy="274320"/>
          </a:xfrm>
          <a:prstGeom prst="rect">
            <a:avLst/>
          </a:prstGeom>
          <a:noFill/>
          <a:ln/>
        </p:spPr>
        <p:txBody>
          <a:bodyPr wrap="square" lIns="0" tIns="0" rIns="0" bIns="0" rtlCol="0" anchor="ctr"/>
          <a:lstStyle/>
          <a:p>
            <a:pPr indent="0" marL="0">
              <a:buNone/>
            </a:pPr>
            <a:r>
              <a:rPr lang="en-US" sz="1300" b="1" dirty="0">
                <a:solidFill>
                  <a:srgbClr val="0E8074"/>
                </a:solidFill>
                <a:latin typeface="Calibri" pitchFamily="34" charset="0"/>
                <a:ea typeface="Calibri" pitchFamily="34" charset="-122"/>
                <a:cs typeface="Calibri" pitchFamily="34" charset="-120"/>
              </a:rPr>
              <a:t>B · Why a 1,600-tonne press</a:t>
            </a:r>
            <a:endParaRPr lang="en-US" sz="1300" dirty="0"/>
          </a:p>
        </p:txBody>
      </p:sp>
      <p:sp>
        <p:nvSpPr>
          <p:cNvPr id="28" name="Text 26"/>
          <p:cNvSpPr/>
          <p:nvPr/>
        </p:nvSpPr>
        <p:spPr>
          <a:xfrm>
            <a:off x="6400800" y="1609344"/>
            <a:ext cx="5120640" cy="45720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Molten metal is injected under pressure and tries to force the mould open. The press must clamp it shut.</a:t>
            </a:r>
            <a:endParaRPr lang="en-US" sz="1050" dirty="0"/>
          </a:p>
        </p:txBody>
      </p:sp>
      <p:sp>
        <p:nvSpPr>
          <p:cNvPr id="29" name="Text 27"/>
          <p:cNvSpPr/>
          <p:nvPr/>
        </p:nvSpPr>
        <p:spPr>
          <a:xfrm>
            <a:off x="6446520" y="2121408"/>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Measured shadow area of the part</a:t>
            </a:r>
            <a:endParaRPr lang="en-US" sz="1000" dirty="0"/>
          </a:p>
        </p:txBody>
      </p:sp>
      <p:sp>
        <p:nvSpPr>
          <p:cNvPr id="30" name="Text 28"/>
          <p:cNvSpPr/>
          <p:nvPr/>
        </p:nvSpPr>
        <p:spPr>
          <a:xfrm>
            <a:off x="10241280" y="2121408"/>
            <a:ext cx="1325880" cy="274320"/>
          </a:xfrm>
          <a:prstGeom prst="rect">
            <a:avLst/>
          </a:prstGeom>
          <a:noFill/>
          <a:ln/>
        </p:spPr>
        <p:txBody>
          <a:bodyPr wrap="square" lIns="0" tIns="0" rIns="0" bIns="0" rtlCol="0" anchor="ctr"/>
          <a:lstStyle/>
          <a:p>
            <a:pPr algn="r" indent="0" marL="0">
              <a:buNone/>
            </a:pPr>
            <a:r>
              <a:rPr lang="en-US" sz="950" b="1" dirty="0">
                <a:solidFill>
                  <a:srgbClr val="6B7280"/>
                </a:solidFill>
                <a:latin typeface="Calibri" pitchFamily="34" charset="0"/>
                <a:ea typeface="Calibri" pitchFamily="34" charset="-122"/>
                <a:cs typeface="Calibri" pitchFamily="34" charset="-120"/>
              </a:rPr>
              <a:t>from the CAD</a:t>
            </a:r>
            <a:endParaRPr lang="en-US" sz="950" dirty="0"/>
          </a:p>
        </p:txBody>
      </p:sp>
      <p:sp>
        <p:nvSpPr>
          <p:cNvPr id="31" name="Text 29"/>
          <p:cNvSpPr/>
          <p:nvPr/>
        </p:nvSpPr>
        <p:spPr>
          <a:xfrm>
            <a:off x="6446520" y="2423160"/>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pressure inside the mould</a:t>
            </a:r>
            <a:endParaRPr lang="en-US" sz="1000" dirty="0"/>
          </a:p>
        </p:txBody>
      </p:sp>
      <p:sp>
        <p:nvSpPr>
          <p:cNvPr id="32" name="Text 30"/>
          <p:cNvSpPr/>
          <p:nvPr/>
        </p:nvSpPr>
        <p:spPr>
          <a:xfrm>
            <a:off x="10241280" y="2423160"/>
            <a:ext cx="1325880" cy="274320"/>
          </a:xfrm>
          <a:prstGeom prst="rect">
            <a:avLst/>
          </a:prstGeom>
          <a:noFill/>
          <a:ln/>
        </p:spPr>
        <p:txBody>
          <a:bodyPr wrap="square" lIns="0" tIns="0" rIns="0" bIns="0" rtlCol="0" anchor="ctr"/>
          <a:lstStyle/>
          <a:p>
            <a:pPr algn="r" indent="0" marL="0">
              <a:buNone/>
            </a:pPr>
            <a:r>
              <a:rPr lang="en-US" sz="950" b="1" dirty="0">
                <a:solidFill>
                  <a:srgbClr val="6B7280"/>
                </a:solidFill>
                <a:latin typeface="Calibri" pitchFamily="34" charset="0"/>
                <a:ea typeface="Calibri" pitchFamily="34" charset="-122"/>
                <a:cs typeface="Calibri" pitchFamily="34" charset="-120"/>
              </a:rPr>
              <a:t>physics constant</a:t>
            </a:r>
            <a:endParaRPr lang="en-US" sz="950" dirty="0"/>
          </a:p>
        </p:txBody>
      </p:sp>
      <p:sp>
        <p:nvSpPr>
          <p:cNvPr id="33" name="Text 31"/>
          <p:cNvSpPr/>
          <p:nvPr/>
        </p:nvSpPr>
        <p:spPr>
          <a:xfrm>
            <a:off x="6446520" y="2724912"/>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force trying to open the mould</a:t>
            </a:r>
            <a:endParaRPr lang="en-US" sz="1000" dirty="0"/>
          </a:p>
        </p:txBody>
      </p:sp>
      <p:sp>
        <p:nvSpPr>
          <p:cNvPr id="34" name="Text 32"/>
          <p:cNvSpPr/>
          <p:nvPr/>
        </p:nvSpPr>
        <p:spPr>
          <a:xfrm>
            <a:off x="10241280" y="2724912"/>
            <a:ext cx="1325880" cy="274320"/>
          </a:xfrm>
          <a:prstGeom prst="rect">
            <a:avLst/>
          </a:prstGeom>
          <a:noFill/>
          <a:ln/>
        </p:spPr>
        <p:txBody>
          <a:bodyPr wrap="square" lIns="0" tIns="0" rIns="0" bIns="0" rtlCol="0" anchor="ctr"/>
          <a:lstStyle/>
          <a:p>
            <a:pPr algn="r" indent="0" marL="0">
              <a:buNone/>
            </a:pPr>
            <a:r>
              <a:rPr lang="en-US" sz="950" b="1" dirty="0">
                <a:solidFill>
                  <a:srgbClr val="6B7280"/>
                </a:solidFill>
                <a:latin typeface="Calibri" pitchFamily="34" charset="0"/>
                <a:ea typeface="Calibri" pitchFamily="34" charset="-122"/>
                <a:cs typeface="Calibri" pitchFamily="34" charset="-120"/>
              </a:rPr>
              <a:t>calculated</a:t>
            </a:r>
            <a:endParaRPr lang="en-US" sz="950" dirty="0"/>
          </a:p>
        </p:txBody>
      </p:sp>
      <p:sp>
        <p:nvSpPr>
          <p:cNvPr id="35" name="Text 33"/>
          <p:cNvSpPr/>
          <p:nvPr/>
        </p:nvSpPr>
        <p:spPr>
          <a:xfrm>
            <a:off x="6446520" y="3026664"/>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safety margin → pick the smallest press that clamps it</a:t>
            </a:r>
            <a:endParaRPr lang="en-US" sz="1000" dirty="0"/>
          </a:p>
        </p:txBody>
      </p:sp>
      <p:sp>
        <p:nvSpPr>
          <p:cNvPr id="36" name="Text 34"/>
          <p:cNvSpPr/>
          <p:nvPr/>
        </p:nvSpPr>
        <p:spPr>
          <a:xfrm>
            <a:off x="10241280" y="3026664"/>
            <a:ext cx="1325880" cy="274320"/>
          </a:xfrm>
          <a:prstGeom prst="rect">
            <a:avLst/>
          </a:prstGeom>
          <a:noFill/>
          <a:ln/>
        </p:spPr>
        <p:txBody>
          <a:bodyPr wrap="square" lIns="0" tIns="0" rIns="0" bIns="0" rtlCol="0" anchor="ctr"/>
          <a:lstStyle/>
          <a:p>
            <a:pPr algn="r" indent="0" marL="0">
              <a:buNone/>
            </a:pPr>
            <a:r>
              <a:rPr lang="en-US" sz="950" b="1" dirty="0">
                <a:solidFill>
                  <a:srgbClr val="16325C"/>
                </a:solidFill>
                <a:latin typeface="Calibri" pitchFamily="34" charset="0"/>
                <a:ea typeface="Calibri" pitchFamily="34" charset="-122"/>
                <a:cs typeface="Calibri" pitchFamily="34" charset="-120"/>
              </a:rPr>
              <a:t>1,600 t</a:t>
            </a:r>
            <a:endParaRPr lang="en-US" sz="950" dirty="0"/>
          </a:p>
        </p:txBody>
      </p:sp>
      <p:sp>
        <p:nvSpPr>
          <p:cNvPr id="37" name="Shape 35"/>
          <p:cNvSpPr/>
          <p:nvPr/>
        </p:nvSpPr>
        <p:spPr>
          <a:xfrm>
            <a:off x="457200" y="3675888"/>
            <a:ext cx="11274552" cy="1234440"/>
          </a:xfrm>
          <a:prstGeom prst="roundRect">
            <a:avLst>
              <a:gd name="adj" fmla="val 7407"/>
            </a:avLst>
          </a:prstGeom>
          <a:solidFill>
            <a:srgbClr val="FFFFFF"/>
          </a:solidFill>
          <a:ln w="12700">
            <a:solidFill>
              <a:srgbClr val="DCE3EE"/>
            </a:solidFill>
            <a:prstDash val="solid"/>
          </a:ln>
        </p:spPr>
      </p:sp>
      <p:sp>
        <p:nvSpPr>
          <p:cNvPr id="38" name="Text 36"/>
          <p:cNvSpPr/>
          <p:nvPr/>
        </p:nvSpPr>
        <p:spPr>
          <a:xfrm>
            <a:off x="731520" y="3794760"/>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Why the machine choice is a money decision, not a technicality</a:t>
            </a:r>
            <a:endParaRPr lang="en-US" sz="1250" dirty="0"/>
          </a:p>
        </p:txBody>
      </p:sp>
      <p:sp>
        <p:nvSpPr>
          <p:cNvPr id="39" name="Text 37"/>
          <p:cNvSpPr/>
          <p:nvPr/>
        </p:nvSpPr>
        <p:spPr>
          <a:xfrm>
            <a:off x="731520" y="4096512"/>
            <a:ext cx="10744200" cy="74980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Every machine in the library carries its own hourly rate — a bigger press costs more per hour to own and run. </a:t>
            </a:r>
            <a:pPr indent="0" marL="0">
              <a:buNone/>
            </a:pPr>
            <a:r>
              <a:rPr lang="en-US" sz="1150" b="1" dirty="0">
                <a:solidFill>
                  <a:srgbClr val="16325C"/>
                </a:solidFill>
                <a:latin typeface="Calibri" pitchFamily="34" charset="0"/>
                <a:ea typeface="Calibri" pitchFamily="34" charset="-122"/>
                <a:cs typeface="Calibri" pitchFamily="34" charset="-120"/>
              </a:rPr>
              <a:t>Pick a press that is too big and you overstate the cost; too small and the part physically cannot be made. </a:t>
            </a:r>
            <a:pPr indent="0" marL="0">
              <a:buNone/>
            </a:pPr>
            <a:r>
              <a:rPr lang="en-US" sz="1150" dirty="0">
                <a:solidFill>
                  <a:srgbClr val="3A4356"/>
                </a:solidFill>
                <a:latin typeface="Calibri" pitchFamily="34" charset="0"/>
                <a:ea typeface="Calibri" pitchFamily="34" charset="-122"/>
                <a:cs typeface="Calibri" pitchFamily="34" charset="-120"/>
              </a:rPr>
              <a:t>So the engine sizes the machine from the geometry rather than accepting a default — and every choice on this slide is optional: enter a process or a machine yourself and that entry is respected. The engine keeps it, prices its own alternative alongside it as a negotiation lever, and the self-audit flags an over- or undersized machine with the £/part difference.</a:t>
            </a:r>
            <a:endParaRPr lang="en-US" sz="1150" dirty="0"/>
          </a:p>
        </p:txBody>
      </p:sp>
      <p:sp>
        <p:nvSpPr>
          <p:cNvPr id="40" name="Shape 38"/>
          <p:cNvSpPr/>
          <p:nvPr/>
        </p:nvSpPr>
        <p:spPr>
          <a:xfrm>
            <a:off x="457200" y="5102352"/>
            <a:ext cx="11274552" cy="960120"/>
          </a:xfrm>
          <a:prstGeom prst="roundRect">
            <a:avLst>
              <a:gd name="adj" fmla="val 9524"/>
            </a:avLst>
          </a:prstGeom>
          <a:solidFill>
            <a:srgbClr val="F1EBF8"/>
          </a:solidFill>
          <a:ln w="12700">
            <a:solidFill>
              <a:srgbClr val="6B3FA0"/>
            </a:solidFill>
            <a:prstDash val="solid"/>
          </a:ln>
        </p:spPr>
      </p:sp>
      <p:sp>
        <p:nvSpPr>
          <p:cNvPr id="41" name="Text 39"/>
          <p:cNvSpPr/>
          <p:nvPr/>
        </p:nvSpPr>
        <p:spPr>
          <a:xfrm>
            <a:off x="731520" y="5212080"/>
            <a:ext cx="10744200" cy="777240"/>
          </a:xfrm>
          <a:prstGeom prst="rect">
            <a:avLst/>
          </a:prstGeom>
          <a:noFill/>
          <a:ln/>
        </p:spPr>
        <p:txBody>
          <a:bodyPr wrap="square" lIns="0" tIns="0" rIns="0" bIns="0" rtlCol="0" anchor="ctr"/>
          <a:lstStyle/>
          <a:p>
            <a:pPr indent="0" marL="0">
              <a:buNone/>
            </a:pPr>
            <a:r>
              <a:rPr lang="en-US" sz="1100" b="1" dirty="0">
                <a:solidFill>
                  <a:srgbClr val="6B3FA0"/>
                </a:solidFill>
                <a:latin typeface="Calibri" pitchFamily="34" charset="0"/>
                <a:ea typeface="Calibri" pitchFamily="34" charset="-122"/>
                <a:cs typeface="Calibri" pitchFamily="34" charset="-120"/>
              </a:rPr>
              <a:t>Who decided all this?  </a:t>
            </a:r>
            <a:pPr indent="0" marL="0">
              <a:buNone/>
            </a:pPr>
            <a:r>
              <a:rPr lang="en-US" sz="1100" b="1" dirty="0">
                <a:solidFill>
                  <a:srgbClr val="0E8074"/>
                </a:solidFill>
                <a:latin typeface="Calibri" pitchFamily="34" charset="0"/>
                <a:ea typeface="Calibri" pitchFamily="34" charset="-122"/>
                <a:cs typeface="Calibri" pitchFamily="34" charset="-120"/>
              </a:rPr>
              <a:t>The rules engine — by default, with no AI call: </a:t>
            </a:r>
            <a:pPr indent="0" marL="0">
              <a:buNone/>
            </a:pPr>
            <a:r>
              <a:rPr lang="en-US" sz="1100" dirty="0">
                <a:solidFill>
                  <a:srgbClr val="3A4356"/>
                </a:solidFill>
                <a:latin typeface="Calibri" pitchFamily="34" charset="0"/>
                <a:ea typeface="Calibri" pitchFamily="34" charset="-122"/>
                <a:cs typeface="Calibri" pitchFamily="34" charset="-120"/>
              </a:rPr>
              <a:t>it tested the shape against each process’s physics, rejected the alternatives, and sized the press by calculation. </a:t>
            </a:r>
            <a:pPr indent="0" marL="0">
              <a:buNone/>
            </a:pPr>
            <a:r>
              <a:rPr lang="en-US" sz="1100" b="1" dirty="0">
                <a:solidFill>
                  <a:srgbClr val="6B3FA0"/>
                </a:solidFill>
                <a:latin typeface="Calibri" pitchFamily="34" charset="0"/>
                <a:ea typeface="Calibri" pitchFamily="34" charset="-122"/>
                <a:cs typeface="Calibri" pitchFamily="34" charset="-120"/>
              </a:rPr>
              <a:t>The optional AI </a:t>
            </a:r>
            <a:pPr indent="0" marL="0">
              <a:buNone/>
            </a:pPr>
            <a:r>
              <a:rPr lang="en-US" sz="1100" dirty="0">
                <a:solidFill>
                  <a:srgbClr val="3A4356"/>
                </a:solidFill>
                <a:latin typeface="Calibri" pitchFamily="34" charset="0"/>
                <a:ea typeface="Calibri" pitchFamily="34" charset="-122"/>
                <a:cs typeface="Calibri" pitchFamily="34" charset="-120"/>
              </a:rPr>
              <a:t>offered a second opinion ("die casting" — it agreed). </a:t>
            </a:r>
            <a:pPr indent="0" marL="0">
              <a:buNone/>
            </a:pPr>
            <a:r>
              <a:rPr lang="en-US" sz="1100" b="1" dirty="0">
                <a:solidFill>
                  <a:srgbClr val="16325C"/>
                </a:solidFill>
                <a:latin typeface="Calibri" pitchFamily="34" charset="0"/>
                <a:ea typeface="Calibri" pitchFamily="34" charset="-122"/>
                <a:cs typeface="Calibri" pitchFamily="34" charset="-120"/>
              </a:rPr>
              <a:t>A pinned engineer choice overrides both. </a:t>
            </a:r>
            <a:pPr indent="0" marL="0">
              <a:buNone/>
            </a:pPr>
            <a:r>
              <a:rPr lang="en-US" sz="1100" dirty="0">
                <a:solidFill>
                  <a:srgbClr val="3A4356"/>
                </a:solidFill>
                <a:latin typeface="Calibri" pitchFamily="34" charset="0"/>
                <a:ea typeface="Calibri" pitchFamily="34" charset="-122"/>
                <a:cs typeface="Calibri" pitchFamily="34" charset="-120"/>
              </a:rPr>
              <a:t>And if anyone — AI or person — had said "sand casting", the 3 mm walls would have argued back with the physics.</a:t>
            </a:r>
            <a:endParaRPr lang="en-US" sz="1100" dirty="0"/>
          </a:p>
        </p:txBody>
      </p:sp>
      <p:sp>
        <p:nvSpPr>
          <p:cNvPr id="42" name="Text 4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3" name="Text 4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7–8 in Detail · Show Me the Calculation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housing — how the press is chosen and where the cutting minutes come from</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32120" cy="3246120"/>
          </a:xfrm>
          <a:prstGeom prst="roundRect">
            <a:avLst>
              <a:gd name="adj" fmla="val 2817"/>
            </a:avLst>
          </a:prstGeom>
          <a:solidFill>
            <a:srgbClr val="E6F4F1"/>
          </a:solidFill>
          <a:ln w="15875">
            <a:solidFill>
              <a:srgbClr val="0E8074"/>
            </a:solidFill>
            <a:prstDash val="solid"/>
          </a:ln>
        </p:spPr>
      </p:sp>
      <p:sp>
        <p:nvSpPr>
          <p:cNvPr id="8" name="Text 6"/>
          <p:cNvSpPr/>
          <p:nvPr/>
        </p:nvSpPr>
        <p:spPr>
          <a:xfrm>
            <a:off x="685800" y="1298448"/>
            <a:ext cx="5074920" cy="237744"/>
          </a:xfrm>
          <a:prstGeom prst="rect">
            <a:avLst/>
          </a:prstGeom>
          <a:noFill/>
          <a:ln/>
        </p:spPr>
        <p:txBody>
          <a:bodyPr wrap="square" lIns="0" tIns="0" rIns="0" bIns="0" rtlCol="0" anchor="ctr"/>
          <a:lstStyle/>
          <a:p>
            <a:pPr indent="0" marL="0">
              <a:buNone/>
            </a:pPr>
            <a:r>
              <a:rPr lang="en-US" sz="1050" b="1" spc="50" kern="0" dirty="0">
                <a:solidFill>
                  <a:srgbClr val="0E8074"/>
                </a:solidFill>
                <a:latin typeface="Calibri" pitchFamily="34" charset="0"/>
                <a:ea typeface="Calibri" pitchFamily="34" charset="-122"/>
                <a:cs typeface="Calibri" pitchFamily="34" charset="-120"/>
              </a:rPr>
              <a:t>A · WHICH PRESS — clamp force from the measured shadow</a:t>
            </a:r>
            <a:endParaRPr lang="en-US" sz="1050" dirty="0"/>
          </a:p>
        </p:txBody>
      </p:sp>
      <p:sp>
        <p:nvSpPr>
          <p:cNvPr id="9" name="Text 7"/>
          <p:cNvSpPr/>
          <p:nvPr/>
        </p:nvSpPr>
        <p:spPr>
          <a:xfrm>
            <a:off x="685800" y="159105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Projected shadow, measured off the CAD</a:t>
            </a:r>
            <a:endParaRPr lang="en-US" sz="1020" dirty="0"/>
          </a:p>
        </p:txBody>
      </p:sp>
      <p:sp>
        <p:nvSpPr>
          <p:cNvPr id="10" name="Text 8"/>
          <p:cNvSpPr/>
          <p:nvPr/>
        </p:nvSpPr>
        <p:spPr>
          <a:xfrm>
            <a:off x="4297680" y="159105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1,650 cm²</a:t>
            </a:r>
            <a:endParaRPr lang="en-US" sz="1020" dirty="0"/>
          </a:p>
        </p:txBody>
      </p:sp>
      <p:sp>
        <p:nvSpPr>
          <p:cNvPr id="11" name="Text 9"/>
          <p:cNvSpPr/>
          <p:nvPr/>
        </p:nvSpPr>
        <p:spPr>
          <a:xfrm>
            <a:off x="685800" y="186537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cavity pressure for aluminium HPDC</a:t>
            </a:r>
            <a:endParaRPr lang="en-US" sz="1020" dirty="0"/>
          </a:p>
        </p:txBody>
      </p:sp>
      <p:sp>
        <p:nvSpPr>
          <p:cNvPr id="12" name="Text 10"/>
          <p:cNvSpPr/>
          <p:nvPr/>
        </p:nvSpPr>
        <p:spPr>
          <a:xfrm>
            <a:off x="4297680" y="186537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70 MPa</a:t>
            </a:r>
            <a:endParaRPr lang="en-US" sz="1020" dirty="0"/>
          </a:p>
        </p:txBody>
      </p:sp>
      <p:sp>
        <p:nvSpPr>
          <p:cNvPr id="13" name="Text 11"/>
          <p:cNvSpPr/>
          <p:nvPr/>
        </p:nvSpPr>
        <p:spPr>
          <a:xfrm>
            <a:off x="685800" y="213969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force trying to blow the die open</a:t>
            </a:r>
            <a:endParaRPr lang="en-US" sz="1020" dirty="0"/>
          </a:p>
        </p:txBody>
      </p:sp>
      <p:sp>
        <p:nvSpPr>
          <p:cNvPr id="14" name="Text 12"/>
          <p:cNvSpPr/>
          <p:nvPr/>
        </p:nvSpPr>
        <p:spPr>
          <a:xfrm>
            <a:off x="4297680" y="213969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1,178 t</a:t>
            </a:r>
            <a:endParaRPr lang="en-US" sz="1020" dirty="0"/>
          </a:p>
        </p:txBody>
      </p:sp>
      <p:sp>
        <p:nvSpPr>
          <p:cNvPr id="15" name="Text 13"/>
          <p:cNvSpPr/>
          <p:nvPr/>
        </p:nvSpPr>
        <p:spPr>
          <a:xfrm>
            <a:off x="685800" y="2414016"/>
            <a:ext cx="3703320" cy="274320"/>
          </a:xfrm>
          <a:prstGeom prst="rect">
            <a:avLst/>
          </a:prstGeom>
          <a:noFill/>
          <a:ln/>
        </p:spPr>
        <p:txBody>
          <a:bodyPr wrap="square" lIns="0" tIns="0" rIns="0" bIns="0" rtlCol="0" anchor="ctr"/>
          <a:lstStyle/>
          <a:p>
            <a:pPr indent="0" marL="0">
              <a:buNone/>
            </a:pPr>
            <a:r>
              <a:rPr lang="en-US" sz="1020" b="1" dirty="0">
                <a:solidFill>
                  <a:srgbClr val="16325C"/>
                </a:solidFill>
                <a:latin typeface="Calibri" pitchFamily="34" charset="0"/>
                <a:ea typeface="Calibri" pitchFamily="34" charset="-122"/>
                <a:cs typeface="Calibri" pitchFamily="34" charset="-120"/>
              </a:rPr>
              <a:t>× 1.2 safety factor (engine constant)</a:t>
            </a:r>
            <a:endParaRPr lang="en-US" sz="1020" dirty="0"/>
          </a:p>
        </p:txBody>
      </p:sp>
      <p:sp>
        <p:nvSpPr>
          <p:cNvPr id="16" name="Text 14"/>
          <p:cNvSpPr/>
          <p:nvPr/>
        </p:nvSpPr>
        <p:spPr>
          <a:xfrm>
            <a:off x="4297680" y="2414016"/>
            <a:ext cx="1463040" cy="274320"/>
          </a:xfrm>
          <a:prstGeom prst="rect">
            <a:avLst/>
          </a:prstGeom>
          <a:noFill/>
          <a:ln/>
        </p:spPr>
        <p:txBody>
          <a:bodyPr wrap="square" lIns="0" tIns="0" rIns="0" bIns="0" rtlCol="0" anchor="ctr"/>
          <a:lstStyle/>
          <a:p>
            <a:pPr algn="r" indent="0" marL="0">
              <a:buNone/>
            </a:pPr>
            <a:r>
              <a:rPr lang="en-US" sz="1020" b="1" dirty="0">
                <a:solidFill>
                  <a:srgbClr val="0E8074"/>
                </a:solidFill>
                <a:latin typeface="Calibri" pitchFamily="34" charset="0"/>
                <a:ea typeface="Calibri" pitchFamily="34" charset="-122"/>
                <a:cs typeface="Calibri" pitchFamily="34" charset="-120"/>
              </a:rPr>
              <a:t>1,413 t</a:t>
            </a:r>
            <a:endParaRPr lang="en-US" sz="1020" dirty="0"/>
          </a:p>
        </p:txBody>
      </p:sp>
      <p:sp>
        <p:nvSpPr>
          <p:cNvPr id="17" name="Text 15"/>
          <p:cNvSpPr/>
          <p:nvPr/>
        </p:nvSpPr>
        <p:spPr>
          <a:xfrm>
            <a:off x="685800" y="2779776"/>
            <a:ext cx="5074920" cy="219456"/>
          </a:xfrm>
          <a:prstGeom prst="rect">
            <a:avLst/>
          </a:prstGeom>
          <a:noFill/>
          <a:ln/>
        </p:spPr>
        <p:txBody>
          <a:bodyPr wrap="square" lIns="0" tIns="0" rIns="0" bIns="0" rtlCol="0" anchor="ctr"/>
          <a:lstStyle/>
          <a:p>
            <a:pPr indent="0" marL="0">
              <a:buNone/>
            </a:pPr>
            <a:r>
              <a:rPr lang="en-US" sz="900" b="1" i="1" dirty="0">
                <a:solidFill>
                  <a:srgbClr val="6B7280"/>
                </a:solidFill>
                <a:latin typeface="Calibri" pitchFamily="34" charset="0"/>
                <a:ea typeface="Calibri" pitchFamily="34" charset="-122"/>
                <a:cs typeface="Calibri" pitchFamily="34" charset="-120"/>
              </a:rPr>
              <a:t>Then the ladder — smallest machine that covers it</a:t>
            </a:r>
            <a:endParaRPr lang="en-US" sz="900" dirty="0"/>
          </a:p>
        </p:txBody>
      </p:sp>
      <p:sp>
        <p:nvSpPr>
          <p:cNvPr id="18" name="Text 16"/>
          <p:cNvSpPr/>
          <p:nvPr/>
        </p:nvSpPr>
        <p:spPr>
          <a:xfrm>
            <a:off x="804672" y="3017520"/>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160 t</a:t>
            </a:r>
            <a:endParaRPr lang="en-US" sz="1000" dirty="0"/>
          </a:p>
        </p:txBody>
      </p:sp>
      <p:sp>
        <p:nvSpPr>
          <p:cNvPr id="19" name="Text 17"/>
          <p:cNvSpPr/>
          <p:nvPr/>
        </p:nvSpPr>
        <p:spPr>
          <a:xfrm>
            <a:off x="1920240" y="3017520"/>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£18.66/hr</a:t>
            </a:r>
            <a:endParaRPr lang="en-US" sz="1000" dirty="0"/>
          </a:p>
        </p:txBody>
      </p:sp>
      <p:sp>
        <p:nvSpPr>
          <p:cNvPr id="20" name="Text 18"/>
          <p:cNvSpPr/>
          <p:nvPr/>
        </p:nvSpPr>
        <p:spPr>
          <a:xfrm>
            <a:off x="3337560" y="3017520"/>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1" name="Text 19"/>
          <p:cNvSpPr/>
          <p:nvPr/>
        </p:nvSpPr>
        <p:spPr>
          <a:xfrm>
            <a:off x="804672" y="3300984"/>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500 t</a:t>
            </a:r>
            <a:endParaRPr lang="en-US" sz="1000" dirty="0"/>
          </a:p>
        </p:txBody>
      </p:sp>
      <p:sp>
        <p:nvSpPr>
          <p:cNvPr id="22" name="Text 20"/>
          <p:cNvSpPr/>
          <p:nvPr/>
        </p:nvSpPr>
        <p:spPr>
          <a:xfrm>
            <a:off x="1920240" y="3300984"/>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£52.47/hr</a:t>
            </a:r>
            <a:endParaRPr lang="en-US" sz="1000" dirty="0"/>
          </a:p>
        </p:txBody>
      </p:sp>
      <p:sp>
        <p:nvSpPr>
          <p:cNvPr id="23" name="Text 21"/>
          <p:cNvSpPr/>
          <p:nvPr/>
        </p:nvSpPr>
        <p:spPr>
          <a:xfrm>
            <a:off x="3337560" y="3300984"/>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4" name="Text 22"/>
          <p:cNvSpPr/>
          <p:nvPr/>
        </p:nvSpPr>
        <p:spPr>
          <a:xfrm>
            <a:off x="804672" y="3584448"/>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800 t</a:t>
            </a:r>
            <a:endParaRPr lang="en-US" sz="1000" dirty="0"/>
          </a:p>
        </p:txBody>
      </p:sp>
      <p:sp>
        <p:nvSpPr>
          <p:cNvPr id="25" name="Text 23"/>
          <p:cNvSpPr/>
          <p:nvPr/>
        </p:nvSpPr>
        <p:spPr>
          <a:xfrm>
            <a:off x="1920240" y="3584448"/>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£79.12/hr</a:t>
            </a:r>
            <a:endParaRPr lang="en-US" sz="1000" dirty="0"/>
          </a:p>
        </p:txBody>
      </p:sp>
      <p:sp>
        <p:nvSpPr>
          <p:cNvPr id="26" name="Text 24"/>
          <p:cNvSpPr/>
          <p:nvPr/>
        </p:nvSpPr>
        <p:spPr>
          <a:xfrm>
            <a:off x="3337560" y="3584448"/>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7" name="Shape 25"/>
          <p:cNvSpPr/>
          <p:nvPr/>
        </p:nvSpPr>
        <p:spPr>
          <a:xfrm>
            <a:off x="640080" y="3840480"/>
            <a:ext cx="5148072" cy="301752"/>
          </a:xfrm>
          <a:prstGeom prst="roundRect">
            <a:avLst>
              <a:gd name="adj" fmla="val 18182"/>
            </a:avLst>
          </a:prstGeom>
          <a:solidFill>
            <a:srgbClr val="FFFFFF"/>
          </a:solidFill>
          <a:ln w="15875">
            <a:solidFill>
              <a:srgbClr val="0E8074"/>
            </a:solidFill>
            <a:prstDash val="solid"/>
          </a:ln>
        </p:spPr>
      </p:sp>
      <p:sp>
        <p:nvSpPr>
          <p:cNvPr id="28" name="Text 26"/>
          <p:cNvSpPr/>
          <p:nvPr/>
        </p:nvSpPr>
        <p:spPr>
          <a:xfrm>
            <a:off x="804672" y="3867912"/>
            <a:ext cx="1097280" cy="256032"/>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1,600 t</a:t>
            </a:r>
            <a:endParaRPr lang="en-US" sz="1000" dirty="0"/>
          </a:p>
        </p:txBody>
      </p:sp>
      <p:sp>
        <p:nvSpPr>
          <p:cNvPr id="29" name="Text 27"/>
          <p:cNvSpPr/>
          <p:nvPr/>
        </p:nvSpPr>
        <p:spPr>
          <a:xfrm>
            <a:off x="1920240" y="3867912"/>
            <a:ext cx="1280160" cy="256032"/>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£137.55/hr</a:t>
            </a:r>
            <a:endParaRPr lang="en-US" sz="1000" dirty="0"/>
          </a:p>
        </p:txBody>
      </p:sp>
      <p:sp>
        <p:nvSpPr>
          <p:cNvPr id="30" name="Text 28"/>
          <p:cNvSpPr/>
          <p:nvPr/>
        </p:nvSpPr>
        <p:spPr>
          <a:xfrm>
            <a:off x="3337560" y="3867912"/>
            <a:ext cx="2423160" cy="256032"/>
          </a:xfrm>
          <a:prstGeom prst="rect">
            <a:avLst/>
          </a:prstGeom>
          <a:noFill/>
          <a:ln/>
        </p:spPr>
        <p:txBody>
          <a:bodyPr wrap="square" lIns="0" tIns="0" rIns="0" bIns="0" rtlCol="0" anchor="ctr"/>
          <a:lstStyle/>
          <a:p>
            <a:pPr indent="0" marL="0">
              <a:buNone/>
            </a:pPr>
            <a:r>
              <a:rPr lang="en-US" sz="880" b="1" dirty="0">
                <a:solidFill>
                  <a:srgbClr val="0E8074"/>
                </a:solidFill>
                <a:latin typeface="Calibri" pitchFamily="34" charset="0"/>
                <a:ea typeface="Calibri" pitchFamily="34" charset="-122"/>
                <a:cs typeface="Calibri" pitchFamily="34" charset="-120"/>
              </a:rPr>
              <a:t>CHOSEN</a:t>
            </a:r>
            <a:endParaRPr lang="en-US" sz="880" dirty="0"/>
          </a:p>
        </p:txBody>
      </p:sp>
      <p:sp>
        <p:nvSpPr>
          <p:cNvPr id="31" name="Text 29"/>
          <p:cNvSpPr/>
          <p:nvPr/>
        </p:nvSpPr>
        <p:spPr>
          <a:xfrm>
            <a:off x="685800" y="4151376"/>
            <a:ext cx="5074920" cy="237744"/>
          </a:xfrm>
          <a:prstGeom prst="rect">
            <a:avLst/>
          </a:prstGeom>
          <a:noFill/>
          <a:ln/>
        </p:spPr>
        <p:txBody>
          <a:bodyPr wrap="square" lIns="0" tIns="0" rIns="0" bIns="0" rtlCol="0" anchor="ctr"/>
          <a:lstStyle/>
          <a:p>
            <a:pPr indent="0" marL="0">
              <a:buNone/>
            </a:pPr>
            <a:r>
              <a:rPr lang="en-US" sz="860" i="1" dirty="0">
                <a:solidFill>
                  <a:srgbClr val="6B7280"/>
                </a:solidFill>
                <a:latin typeface="Calibri" pitchFamily="34" charset="0"/>
                <a:ea typeface="Calibri" pitchFamily="34" charset="-122"/>
                <a:cs typeface="Calibri" pitchFamily="34" charset="-120"/>
              </a:rPr>
              <a:t>Area from the model, pressure a material property, ladder and rates from the library.</a:t>
            </a:r>
            <a:endParaRPr lang="en-US" sz="860" dirty="0"/>
          </a:p>
        </p:txBody>
      </p:sp>
      <p:sp>
        <p:nvSpPr>
          <p:cNvPr id="32" name="Shape 30"/>
          <p:cNvSpPr/>
          <p:nvPr/>
        </p:nvSpPr>
        <p:spPr>
          <a:xfrm>
            <a:off x="6199632" y="1188720"/>
            <a:ext cx="5532120" cy="3246120"/>
          </a:xfrm>
          <a:prstGeom prst="roundRect">
            <a:avLst>
              <a:gd name="adj" fmla="val 2817"/>
            </a:avLst>
          </a:prstGeom>
          <a:solidFill>
            <a:srgbClr val="FFFFFF"/>
          </a:solidFill>
          <a:ln w="12700">
            <a:solidFill>
              <a:srgbClr val="DCE3EE"/>
            </a:solidFill>
            <a:prstDash val="solid"/>
          </a:ln>
        </p:spPr>
      </p:sp>
      <p:sp>
        <p:nvSpPr>
          <p:cNvPr id="33" name="Text 31"/>
          <p:cNvSpPr/>
          <p:nvPr/>
        </p:nvSpPr>
        <p:spPr>
          <a:xfrm>
            <a:off x="6428232" y="1298448"/>
            <a:ext cx="50292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B · WHERE THE CUTTING MINUTES COME FROM</a:t>
            </a:r>
            <a:endParaRPr lang="en-US" sz="1050" dirty="0"/>
          </a:p>
        </p:txBody>
      </p:sp>
      <p:sp>
        <p:nvSpPr>
          <p:cNvPr id="34" name="Text 32"/>
          <p:cNvSpPr/>
          <p:nvPr/>
        </p:nvSpPr>
        <p:spPr>
          <a:xfrm>
            <a:off x="6428232" y="1572768"/>
            <a:ext cx="5074920" cy="274320"/>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Every feature the kernel measured gets its own time, from a published shop formula:</a:t>
            </a:r>
            <a:endParaRPr lang="en-US" sz="960" dirty="0"/>
          </a:p>
        </p:txBody>
      </p:sp>
      <p:sp>
        <p:nvSpPr>
          <p:cNvPr id="35" name="Text 33"/>
          <p:cNvSpPr/>
          <p:nvPr/>
        </p:nvSpPr>
        <p:spPr>
          <a:xfrm>
            <a:off x="6428232" y="1883664"/>
            <a:ext cx="182880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Feature (measured)</a:t>
            </a:r>
            <a:endParaRPr lang="en-US" sz="840" dirty="0"/>
          </a:p>
        </p:txBody>
      </p:sp>
      <p:sp>
        <p:nvSpPr>
          <p:cNvPr id="36" name="Text 34"/>
          <p:cNvSpPr/>
          <p:nvPr/>
        </p:nvSpPr>
        <p:spPr>
          <a:xfrm>
            <a:off x="8275320" y="1883664"/>
            <a:ext cx="178308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Formula</a:t>
            </a:r>
            <a:endParaRPr lang="en-US" sz="840" dirty="0"/>
          </a:p>
        </p:txBody>
      </p:sp>
      <p:sp>
        <p:nvSpPr>
          <p:cNvPr id="37" name="Text 35"/>
          <p:cNvSpPr/>
          <p:nvPr/>
        </p:nvSpPr>
        <p:spPr>
          <a:xfrm>
            <a:off x="10104120" y="1883664"/>
            <a:ext cx="77724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Each</a:t>
            </a:r>
            <a:endParaRPr lang="en-US" sz="840" dirty="0"/>
          </a:p>
        </p:txBody>
      </p:sp>
      <p:sp>
        <p:nvSpPr>
          <p:cNvPr id="38" name="Text 36"/>
          <p:cNvSpPr/>
          <p:nvPr/>
        </p:nvSpPr>
        <p:spPr>
          <a:xfrm>
            <a:off x="10927080" y="1883664"/>
            <a:ext cx="64008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Total</a:t>
            </a:r>
            <a:endParaRPr lang="en-US" sz="840" dirty="0"/>
          </a:p>
        </p:txBody>
      </p:sp>
      <p:sp>
        <p:nvSpPr>
          <p:cNvPr id="39" name="Shape 37"/>
          <p:cNvSpPr/>
          <p:nvPr/>
        </p:nvSpPr>
        <p:spPr>
          <a:xfrm>
            <a:off x="6355080" y="2084832"/>
            <a:ext cx="5230368" cy="292608"/>
          </a:xfrm>
          <a:prstGeom prst="rect">
            <a:avLst/>
          </a:prstGeom>
          <a:solidFill>
            <a:srgbClr val="F4F7FB"/>
          </a:solidFill>
          <a:ln/>
        </p:spPr>
      </p:sp>
      <p:sp>
        <p:nvSpPr>
          <p:cNvPr id="40" name="Text 38"/>
          <p:cNvSpPr/>
          <p:nvPr/>
        </p:nvSpPr>
        <p:spPr>
          <a:xfrm>
            <a:off x="6428232" y="2103120"/>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2 faces, 180×120 mm</a:t>
            </a:r>
            <a:endParaRPr lang="en-US" sz="880" dirty="0"/>
          </a:p>
        </p:txBody>
      </p:sp>
      <p:sp>
        <p:nvSpPr>
          <p:cNvPr id="41" name="Text 39"/>
          <p:cNvSpPr/>
          <p:nvPr/>
        </p:nvSpPr>
        <p:spPr>
          <a:xfrm>
            <a:off x="8275320" y="2103120"/>
            <a:ext cx="1783080" cy="274320"/>
          </a:xfrm>
          <a:prstGeom prst="rect">
            <a:avLst/>
          </a:prstGeom>
          <a:noFill/>
          <a:ln/>
        </p:spPr>
        <p:txBody>
          <a:bodyPr wrap="square" lIns="0" tIns="0" rIns="0" bIns="0" rtlCol="0" anchor="ctr"/>
          <a:lstStyle/>
          <a:p>
            <a:pPr algn="l" indent="0" marL="0">
              <a:buNone/>
            </a:pPr>
            <a:r>
              <a:rPr lang="en-US" sz="880" dirty="0">
                <a:solidFill>
                  <a:srgbClr val="6B7280"/>
                </a:solidFill>
                <a:latin typeface="Calibri" pitchFamily="34" charset="0"/>
                <a:ea typeface="Calibri" pitchFamily="34" charset="-122"/>
                <a:cs typeface="Calibri" pitchFamily="34" charset="-120"/>
              </a:rPr>
              <a:t>0.20 + area/8000</a:t>
            </a:r>
            <a:endParaRPr lang="en-US" sz="880" dirty="0"/>
          </a:p>
        </p:txBody>
      </p:sp>
      <p:sp>
        <p:nvSpPr>
          <p:cNvPr id="42" name="Text 40"/>
          <p:cNvSpPr/>
          <p:nvPr/>
        </p:nvSpPr>
        <p:spPr>
          <a:xfrm>
            <a:off x="10104120" y="2103120"/>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3.77 min</a:t>
            </a:r>
            <a:endParaRPr lang="en-US" sz="880" dirty="0"/>
          </a:p>
        </p:txBody>
      </p:sp>
      <p:sp>
        <p:nvSpPr>
          <p:cNvPr id="43" name="Text 41"/>
          <p:cNvSpPr/>
          <p:nvPr/>
        </p:nvSpPr>
        <p:spPr>
          <a:xfrm>
            <a:off x="10927080" y="2103120"/>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7.54</a:t>
            </a:r>
            <a:endParaRPr lang="en-US" sz="880" dirty="0"/>
          </a:p>
        </p:txBody>
      </p:sp>
      <p:sp>
        <p:nvSpPr>
          <p:cNvPr id="44" name="Text 42"/>
          <p:cNvSpPr/>
          <p:nvPr/>
        </p:nvSpPr>
        <p:spPr>
          <a:xfrm>
            <a:off x="6428232" y="2414016"/>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2 bores, Ø40 × 45 mm</a:t>
            </a:r>
            <a:endParaRPr lang="en-US" sz="880" dirty="0"/>
          </a:p>
        </p:txBody>
      </p:sp>
      <p:sp>
        <p:nvSpPr>
          <p:cNvPr id="45" name="Text 43"/>
          <p:cNvSpPr/>
          <p:nvPr/>
        </p:nvSpPr>
        <p:spPr>
          <a:xfrm>
            <a:off x="8275320" y="2414016"/>
            <a:ext cx="1783080" cy="274320"/>
          </a:xfrm>
          <a:prstGeom prst="rect">
            <a:avLst/>
          </a:prstGeom>
          <a:noFill/>
          <a:ln/>
        </p:spPr>
        <p:txBody>
          <a:bodyPr wrap="square" lIns="0" tIns="0" rIns="0" bIns="0" rtlCol="0" anchor="ctr"/>
          <a:lstStyle/>
          <a:p>
            <a:pPr algn="l" indent="0" marL="0">
              <a:buNone/>
            </a:pPr>
            <a:r>
              <a:rPr lang="en-US" sz="880" dirty="0">
                <a:solidFill>
                  <a:srgbClr val="6B7280"/>
                </a:solidFill>
                <a:latin typeface="Calibri" pitchFamily="34" charset="0"/>
                <a:ea typeface="Calibri" pitchFamily="34" charset="-122"/>
                <a:cs typeface="Calibri" pitchFamily="34" charset="-120"/>
              </a:rPr>
              <a:t>0.50 + 45×0.050</a:t>
            </a:r>
            <a:endParaRPr lang="en-US" sz="880" dirty="0"/>
          </a:p>
        </p:txBody>
      </p:sp>
      <p:sp>
        <p:nvSpPr>
          <p:cNvPr id="46" name="Text 44"/>
          <p:cNvSpPr/>
          <p:nvPr/>
        </p:nvSpPr>
        <p:spPr>
          <a:xfrm>
            <a:off x="10104120" y="2414016"/>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3.58 min</a:t>
            </a:r>
            <a:endParaRPr lang="en-US" sz="880" dirty="0"/>
          </a:p>
        </p:txBody>
      </p:sp>
      <p:sp>
        <p:nvSpPr>
          <p:cNvPr id="47" name="Text 45"/>
          <p:cNvSpPr/>
          <p:nvPr/>
        </p:nvSpPr>
        <p:spPr>
          <a:xfrm>
            <a:off x="10927080" y="2414016"/>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7.15</a:t>
            </a:r>
            <a:endParaRPr lang="en-US" sz="880" dirty="0"/>
          </a:p>
        </p:txBody>
      </p:sp>
      <p:sp>
        <p:nvSpPr>
          <p:cNvPr id="48" name="Shape 46"/>
          <p:cNvSpPr/>
          <p:nvPr/>
        </p:nvSpPr>
        <p:spPr>
          <a:xfrm>
            <a:off x="6355080" y="2706624"/>
            <a:ext cx="5230368" cy="292608"/>
          </a:xfrm>
          <a:prstGeom prst="rect">
            <a:avLst/>
          </a:prstGeom>
          <a:solidFill>
            <a:srgbClr val="F4F7FB"/>
          </a:solidFill>
          <a:ln/>
        </p:spPr>
      </p:sp>
      <p:sp>
        <p:nvSpPr>
          <p:cNvPr id="49" name="Text 47"/>
          <p:cNvSpPr/>
          <p:nvPr/>
        </p:nvSpPr>
        <p:spPr>
          <a:xfrm>
            <a:off x="6428232" y="2724912"/>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16 holes, Ø8 × 20 blind</a:t>
            </a:r>
            <a:endParaRPr lang="en-US" sz="880" dirty="0"/>
          </a:p>
        </p:txBody>
      </p:sp>
      <p:sp>
        <p:nvSpPr>
          <p:cNvPr id="50" name="Text 48"/>
          <p:cNvSpPr/>
          <p:nvPr/>
        </p:nvSpPr>
        <p:spPr>
          <a:xfrm>
            <a:off x="8275320" y="2724912"/>
            <a:ext cx="1783080" cy="274320"/>
          </a:xfrm>
          <a:prstGeom prst="rect">
            <a:avLst/>
          </a:prstGeom>
          <a:noFill/>
          <a:ln/>
        </p:spPr>
        <p:txBody>
          <a:bodyPr wrap="square" lIns="0" tIns="0" rIns="0" bIns="0" rtlCol="0" anchor="ctr"/>
          <a:lstStyle/>
          <a:p>
            <a:pPr algn="l" indent="0" marL="0">
              <a:buNone/>
            </a:pPr>
            <a:r>
              <a:rPr lang="en-US" sz="880" dirty="0">
                <a:solidFill>
                  <a:srgbClr val="6B7280"/>
                </a:solidFill>
                <a:latin typeface="Calibri" pitchFamily="34" charset="0"/>
                <a:ea typeface="Calibri" pitchFamily="34" charset="-122"/>
                <a:cs typeface="Calibri" pitchFamily="34" charset="-120"/>
              </a:rPr>
              <a:t>0.15 + 20×0.020 +0.10</a:t>
            </a:r>
            <a:endParaRPr lang="en-US" sz="880" dirty="0"/>
          </a:p>
        </p:txBody>
      </p:sp>
      <p:sp>
        <p:nvSpPr>
          <p:cNvPr id="51" name="Text 49"/>
          <p:cNvSpPr/>
          <p:nvPr/>
        </p:nvSpPr>
        <p:spPr>
          <a:xfrm>
            <a:off x="10104120" y="2724912"/>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0.85 min</a:t>
            </a:r>
            <a:endParaRPr lang="en-US" sz="880" dirty="0"/>
          </a:p>
        </p:txBody>
      </p:sp>
      <p:sp>
        <p:nvSpPr>
          <p:cNvPr id="52" name="Text 50"/>
          <p:cNvSpPr/>
          <p:nvPr/>
        </p:nvSpPr>
        <p:spPr>
          <a:xfrm>
            <a:off x="10927080" y="2724912"/>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13.52</a:t>
            </a:r>
            <a:endParaRPr lang="en-US" sz="880" dirty="0"/>
          </a:p>
        </p:txBody>
      </p:sp>
      <p:sp>
        <p:nvSpPr>
          <p:cNvPr id="53" name="Shape 51"/>
          <p:cNvSpPr/>
          <p:nvPr/>
        </p:nvSpPr>
        <p:spPr>
          <a:xfrm>
            <a:off x="6428232" y="3072384"/>
            <a:ext cx="5120640" cy="0"/>
          </a:xfrm>
          <a:prstGeom prst="line">
            <a:avLst/>
          </a:prstGeom>
          <a:noFill/>
          <a:ln w="12700">
            <a:solidFill>
              <a:srgbClr val="DCE3EE"/>
            </a:solidFill>
            <a:prstDash val="solid"/>
          </a:ln>
        </p:spPr>
      </p:sp>
      <p:sp>
        <p:nvSpPr>
          <p:cNvPr id="54" name="Text 52"/>
          <p:cNvSpPr/>
          <p:nvPr/>
        </p:nvSpPr>
        <p:spPr>
          <a:xfrm>
            <a:off x="6428232" y="3145536"/>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Bottom-up from the geometry  (×1.3 for reamed tolerance)</a:t>
            </a:r>
            <a:endParaRPr lang="en-US" sz="920" dirty="0"/>
          </a:p>
        </p:txBody>
      </p:sp>
      <p:sp>
        <p:nvSpPr>
          <p:cNvPr id="55" name="Text 53"/>
          <p:cNvSpPr/>
          <p:nvPr/>
        </p:nvSpPr>
        <p:spPr>
          <a:xfrm>
            <a:off x="10241280" y="3145536"/>
            <a:ext cx="1325880" cy="256032"/>
          </a:xfrm>
          <a:prstGeom prst="rect">
            <a:avLst/>
          </a:prstGeom>
          <a:noFill/>
          <a:ln/>
        </p:spPr>
        <p:txBody>
          <a:bodyPr wrap="square" lIns="0" tIns="0" rIns="0" bIns="0" rtlCol="0" anchor="ctr"/>
          <a:lstStyle/>
          <a:p>
            <a:pPr algn="r" indent="0" marL="0">
              <a:buNone/>
            </a:pPr>
            <a:r>
              <a:rPr lang="en-US" sz="960" b="1" dirty="0">
                <a:solidFill>
                  <a:srgbClr val="3A4356"/>
                </a:solidFill>
                <a:latin typeface="Calibri" pitchFamily="34" charset="0"/>
                <a:ea typeface="Calibri" pitchFamily="34" charset="-122"/>
                <a:cs typeface="Calibri" pitchFamily="34" charset="-120"/>
              </a:rPr>
              <a:t>28.21 min</a:t>
            </a:r>
            <a:endParaRPr lang="en-US" sz="960" dirty="0"/>
          </a:p>
        </p:txBody>
      </p:sp>
      <p:sp>
        <p:nvSpPr>
          <p:cNvPr id="56" name="Text 54"/>
          <p:cNvSpPr/>
          <p:nvPr/>
        </p:nvSpPr>
        <p:spPr>
          <a:xfrm>
            <a:off x="6428232" y="3429000"/>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Near-net ceiling: 0.10 hr + 0.07 × 2.8 kg</a:t>
            </a:r>
            <a:endParaRPr lang="en-US" sz="920" dirty="0"/>
          </a:p>
        </p:txBody>
      </p:sp>
      <p:sp>
        <p:nvSpPr>
          <p:cNvPr id="57" name="Text 55"/>
          <p:cNvSpPr/>
          <p:nvPr/>
        </p:nvSpPr>
        <p:spPr>
          <a:xfrm>
            <a:off x="10241280" y="3429000"/>
            <a:ext cx="1325880" cy="256032"/>
          </a:xfrm>
          <a:prstGeom prst="rect">
            <a:avLst/>
          </a:prstGeom>
          <a:noFill/>
          <a:ln/>
        </p:spPr>
        <p:txBody>
          <a:bodyPr wrap="square" lIns="0" tIns="0" rIns="0" bIns="0" rtlCol="0" anchor="ctr"/>
          <a:lstStyle/>
          <a:p>
            <a:pPr algn="r" indent="0" marL="0">
              <a:buNone/>
            </a:pPr>
            <a:r>
              <a:rPr lang="en-US" sz="960" b="1" dirty="0">
                <a:solidFill>
                  <a:srgbClr val="B7791F"/>
                </a:solidFill>
                <a:latin typeface="Calibri" pitchFamily="34" charset="0"/>
                <a:ea typeface="Calibri" pitchFamily="34" charset="-122"/>
                <a:cs typeface="Calibri" pitchFamily="34" charset="-120"/>
              </a:rPr>
              <a:t>17.76 min</a:t>
            </a:r>
            <a:endParaRPr lang="en-US" sz="960" dirty="0"/>
          </a:p>
        </p:txBody>
      </p:sp>
      <p:sp>
        <p:nvSpPr>
          <p:cNvPr id="58" name="Text 56"/>
          <p:cNvSpPr/>
          <p:nvPr/>
        </p:nvSpPr>
        <p:spPr>
          <a:xfrm>
            <a:off x="6428232" y="3712464"/>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 the guard CAPS the bottom-up estimate</a:t>
            </a:r>
            <a:endParaRPr lang="en-US" sz="920" dirty="0"/>
          </a:p>
        </p:txBody>
      </p:sp>
      <p:sp>
        <p:nvSpPr>
          <p:cNvPr id="59" name="Text 57"/>
          <p:cNvSpPr/>
          <p:nvPr/>
        </p:nvSpPr>
        <p:spPr>
          <a:xfrm>
            <a:off x="10241280" y="3712464"/>
            <a:ext cx="1325880" cy="256032"/>
          </a:xfrm>
          <a:prstGeom prst="rect">
            <a:avLst/>
          </a:prstGeom>
          <a:noFill/>
          <a:ln/>
        </p:spPr>
        <p:txBody>
          <a:bodyPr wrap="square" lIns="0" tIns="0" rIns="0" bIns="0" rtlCol="0" anchor="ctr"/>
          <a:lstStyle/>
          <a:p>
            <a:pPr algn="r" indent="0" marL="0">
              <a:buNone/>
            </a:pPr>
            <a:r>
              <a:rPr lang="en-US" sz="960" b="1" dirty="0">
                <a:solidFill>
                  <a:srgbClr val="B7791F"/>
                </a:solidFill>
                <a:latin typeface="Calibri" pitchFamily="34" charset="0"/>
                <a:ea typeface="Calibri" pitchFamily="34" charset="-122"/>
                <a:cs typeface="Calibri" pitchFamily="34" charset="-120"/>
              </a:rPr>
              <a:t>capped</a:t>
            </a:r>
            <a:endParaRPr lang="en-US" sz="960" dirty="0"/>
          </a:p>
        </p:txBody>
      </p:sp>
      <p:sp>
        <p:nvSpPr>
          <p:cNvPr id="60" name="Text 58"/>
          <p:cNvSpPr/>
          <p:nvPr/>
        </p:nvSpPr>
        <p:spPr>
          <a:xfrm>
            <a:off x="6428232" y="3995928"/>
            <a:ext cx="3749040" cy="256032"/>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Costed from the supplier routing — inside both</a:t>
            </a:r>
            <a:endParaRPr lang="en-US" sz="920" dirty="0"/>
          </a:p>
        </p:txBody>
      </p:sp>
      <p:sp>
        <p:nvSpPr>
          <p:cNvPr id="61" name="Text 59"/>
          <p:cNvSpPr/>
          <p:nvPr/>
        </p:nvSpPr>
        <p:spPr>
          <a:xfrm>
            <a:off x="10241280" y="3995928"/>
            <a:ext cx="1325880" cy="256032"/>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15.90 min</a:t>
            </a:r>
            <a:endParaRPr lang="en-US" sz="960" dirty="0"/>
          </a:p>
        </p:txBody>
      </p:sp>
      <p:sp>
        <p:nvSpPr>
          <p:cNvPr id="62" name="Shape 60"/>
          <p:cNvSpPr/>
          <p:nvPr/>
        </p:nvSpPr>
        <p:spPr>
          <a:xfrm>
            <a:off x="457200" y="4617720"/>
            <a:ext cx="11274552" cy="1371600"/>
          </a:xfrm>
          <a:prstGeom prst="roundRect">
            <a:avLst>
              <a:gd name="adj" fmla="val 6667"/>
            </a:avLst>
          </a:prstGeom>
          <a:solidFill>
            <a:srgbClr val="FCF3E3"/>
          </a:solidFill>
          <a:ln w="15875">
            <a:solidFill>
              <a:srgbClr val="B7791F"/>
            </a:solidFill>
            <a:prstDash val="solid"/>
          </a:ln>
        </p:spPr>
      </p:sp>
      <p:sp>
        <p:nvSpPr>
          <p:cNvPr id="63" name="Text 61"/>
          <p:cNvSpPr/>
          <p:nvPr/>
        </p:nvSpPr>
        <p:spPr>
          <a:xfrm>
            <a:off x="731520" y="4727448"/>
            <a:ext cx="10515600" cy="256032"/>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Three independent numbers, and they bound each other</a:t>
            </a:r>
            <a:endParaRPr lang="en-US" sz="1250" dirty="0"/>
          </a:p>
        </p:txBody>
      </p:sp>
      <p:sp>
        <p:nvSpPr>
          <p:cNvPr id="64" name="Text 62"/>
          <p:cNvSpPr/>
          <p:nvPr/>
        </p:nvSpPr>
        <p:spPr>
          <a:xfrm>
            <a:off x="731520" y="5020056"/>
            <a:ext cx="10744200" cy="84124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The geometry proposes 28 minutes. The near-net guard says a 2.8 kg casting physically cannot need more than 17.8 minutes of finishing, so it caps the proposal. The supplier routing we costed says 15.9 minutes — inside both. </a:t>
            </a:r>
            <a:pPr indent="0" marL="0">
              <a:buNone/>
            </a:pPr>
            <a:r>
              <a:rPr lang="en-US" sz="1150" b="1" dirty="0">
                <a:solidFill>
                  <a:srgbClr val="16325C"/>
                </a:solidFill>
                <a:latin typeface="Calibri" pitchFamily="34" charset="0"/>
                <a:ea typeface="Calibri" pitchFamily="34" charset="-122"/>
                <a:cs typeface="Calibri" pitchFamily="34" charset="-120"/>
              </a:rPr>
              <a:t>When those three disagree badly, that is the signal: either the part is not really near-net, or the routing is wrong, or the quote is padded. Here they agree, so the number stands.</a:t>
            </a:r>
            <a:endParaRPr lang="en-US" sz="1150" dirty="0"/>
          </a:p>
        </p:txBody>
      </p:sp>
      <p:sp>
        <p:nvSpPr>
          <p:cNvPr id="65" name="Text 6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6" name="Text 6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8 · Cycle Times — Every Operation, Timed and Priced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Machine rate x charged time. Check any row on this slide with a calculator.</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70432"/>
            <a:ext cx="7955280" cy="3200400"/>
          </a:xfrm>
          <a:prstGeom prst="roundRect">
            <a:avLst>
              <a:gd name="adj" fmla="val 2857"/>
            </a:avLst>
          </a:prstGeom>
          <a:solidFill>
            <a:srgbClr val="FFFFFF"/>
          </a:solidFill>
          <a:ln w="12700">
            <a:solidFill>
              <a:srgbClr val="DCE3EE"/>
            </a:solidFill>
            <a:prstDash val="solid"/>
          </a:ln>
        </p:spPr>
      </p:sp>
      <p:sp>
        <p:nvSpPr>
          <p:cNvPr id="8" name="Text 6"/>
          <p:cNvSpPr/>
          <p:nvPr/>
        </p:nvSpPr>
        <p:spPr>
          <a:xfrm>
            <a:off x="685800" y="1261872"/>
            <a:ext cx="7315200" cy="256032"/>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MAKING ONE HOUSING AT UK RATES — engine output, line by line</a:t>
            </a:r>
            <a:endParaRPr lang="en-US" sz="1150" dirty="0"/>
          </a:p>
        </p:txBody>
      </p:sp>
      <p:sp>
        <p:nvSpPr>
          <p:cNvPr id="9" name="Text 7"/>
          <p:cNvSpPr/>
          <p:nvPr/>
        </p:nvSpPr>
        <p:spPr>
          <a:xfrm>
            <a:off x="685800" y="1554480"/>
            <a:ext cx="1874520" cy="201168"/>
          </a:xfrm>
          <a:prstGeom prst="rect">
            <a:avLst/>
          </a:prstGeom>
          <a:noFill/>
          <a:ln/>
        </p:spPr>
        <p:txBody>
          <a:bodyPr wrap="square" lIns="0" tIns="0" rIns="0" bIns="0" rtlCol="0" anchor="ctr"/>
          <a:lstStyle/>
          <a:p>
            <a:pPr algn="l" indent="0" marL="0">
              <a:buNone/>
            </a:pPr>
            <a:r>
              <a:rPr lang="en-US" sz="850" b="1" dirty="0">
                <a:solidFill>
                  <a:srgbClr val="6B7280"/>
                </a:solidFill>
                <a:latin typeface="Calibri" pitchFamily="34" charset="0"/>
                <a:ea typeface="Calibri" pitchFamily="34" charset="-122"/>
                <a:cs typeface="Calibri" pitchFamily="34" charset="-120"/>
              </a:rPr>
              <a:t>Operation</a:t>
            </a:r>
            <a:endParaRPr lang="en-US" sz="850" dirty="0"/>
          </a:p>
        </p:txBody>
      </p:sp>
      <p:sp>
        <p:nvSpPr>
          <p:cNvPr id="10" name="Text 8"/>
          <p:cNvSpPr/>
          <p:nvPr/>
        </p:nvSpPr>
        <p:spPr>
          <a:xfrm>
            <a:off x="2606040" y="1554480"/>
            <a:ext cx="1325880" cy="201168"/>
          </a:xfrm>
          <a:prstGeom prst="rect">
            <a:avLst/>
          </a:prstGeom>
          <a:noFill/>
          <a:ln/>
        </p:spPr>
        <p:txBody>
          <a:bodyPr wrap="square" lIns="0" tIns="0" rIns="0" bIns="0" rtlCol="0" anchor="ctr"/>
          <a:lstStyle/>
          <a:p>
            <a:pPr algn="l" indent="0" marL="0">
              <a:buNone/>
            </a:pPr>
            <a:r>
              <a:rPr lang="en-US" sz="850" b="1" dirty="0">
                <a:solidFill>
                  <a:srgbClr val="6B7280"/>
                </a:solidFill>
                <a:latin typeface="Calibri" pitchFamily="34" charset="0"/>
                <a:ea typeface="Calibri" pitchFamily="34" charset="-122"/>
                <a:cs typeface="Calibri" pitchFamily="34" charset="-120"/>
              </a:rPr>
              <a:t>Machine</a:t>
            </a:r>
            <a:endParaRPr lang="en-US" sz="850" dirty="0"/>
          </a:p>
        </p:txBody>
      </p:sp>
      <p:sp>
        <p:nvSpPr>
          <p:cNvPr id="11" name="Text 9"/>
          <p:cNvSpPr/>
          <p:nvPr/>
        </p:nvSpPr>
        <p:spPr>
          <a:xfrm>
            <a:off x="3977640" y="1554480"/>
            <a:ext cx="68580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£/hr</a:t>
            </a:r>
            <a:endParaRPr lang="en-US" sz="850" dirty="0"/>
          </a:p>
        </p:txBody>
      </p:sp>
      <p:sp>
        <p:nvSpPr>
          <p:cNvPr id="12" name="Text 10"/>
          <p:cNvSpPr/>
          <p:nvPr/>
        </p:nvSpPr>
        <p:spPr>
          <a:xfrm>
            <a:off x="4709160" y="1554480"/>
            <a:ext cx="73152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Cycle</a:t>
            </a:r>
            <a:endParaRPr lang="en-US" sz="850" dirty="0"/>
          </a:p>
        </p:txBody>
      </p:sp>
      <p:sp>
        <p:nvSpPr>
          <p:cNvPr id="13" name="Text 11"/>
          <p:cNvSpPr/>
          <p:nvPr/>
        </p:nvSpPr>
        <p:spPr>
          <a:xfrm>
            <a:off x="5486400" y="1554480"/>
            <a:ext cx="73152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 OEE</a:t>
            </a:r>
            <a:endParaRPr lang="en-US" sz="850" dirty="0"/>
          </a:p>
        </p:txBody>
      </p:sp>
      <p:sp>
        <p:nvSpPr>
          <p:cNvPr id="14" name="Text 12"/>
          <p:cNvSpPr/>
          <p:nvPr/>
        </p:nvSpPr>
        <p:spPr>
          <a:xfrm>
            <a:off x="6263640" y="1554480"/>
            <a:ext cx="749808"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Machine</a:t>
            </a:r>
            <a:endParaRPr lang="en-US" sz="850" dirty="0"/>
          </a:p>
        </p:txBody>
      </p:sp>
      <p:sp>
        <p:nvSpPr>
          <p:cNvPr id="15" name="Text 13"/>
          <p:cNvSpPr/>
          <p:nvPr/>
        </p:nvSpPr>
        <p:spPr>
          <a:xfrm>
            <a:off x="7059168" y="1554480"/>
            <a:ext cx="530352"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Labour</a:t>
            </a:r>
            <a:endParaRPr lang="en-US" sz="850" dirty="0"/>
          </a:p>
        </p:txBody>
      </p:sp>
      <p:sp>
        <p:nvSpPr>
          <p:cNvPr id="16" name="Text 14"/>
          <p:cNvSpPr/>
          <p:nvPr/>
        </p:nvSpPr>
        <p:spPr>
          <a:xfrm>
            <a:off x="7635240" y="1554480"/>
            <a:ext cx="658368"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Cost</a:t>
            </a:r>
            <a:endParaRPr lang="en-US" sz="850" dirty="0"/>
          </a:p>
        </p:txBody>
      </p:sp>
      <p:sp>
        <p:nvSpPr>
          <p:cNvPr id="17" name="Shape 15"/>
          <p:cNvSpPr/>
          <p:nvPr/>
        </p:nvSpPr>
        <p:spPr>
          <a:xfrm>
            <a:off x="621792" y="1773936"/>
            <a:ext cx="7644384" cy="292608"/>
          </a:xfrm>
          <a:prstGeom prst="rect">
            <a:avLst/>
          </a:prstGeom>
          <a:solidFill>
            <a:srgbClr val="F4F7FB"/>
          </a:solidFill>
          <a:ln/>
        </p:spPr>
      </p:sp>
      <p:sp>
        <p:nvSpPr>
          <p:cNvPr id="18" name="Text 16"/>
          <p:cNvSpPr/>
          <p:nvPr/>
        </p:nvSpPr>
        <p:spPr>
          <a:xfrm>
            <a:off x="685800" y="1792224"/>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Casting shot (55 s)</a:t>
            </a:r>
            <a:endParaRPr lang="en-US" sz="920" dirty="0"/>
          </a:p>
        </p:txBody>
      </p:sp>
      <p:sp>
        <p:nvSpPr>
          <p:cNvPr id="19" name="Text 17"/>
          <p:cNvSpPr/>
          <p:nvPr/>
        </p:nvSpPr>
        <p:spPr>
          <a:xfrm>
            <a:off x="2606040" y="1792224"/>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HPDC 1,600 t</a:t>
            </a:r>
            <a:endParaRPr lang="en-US" sz="920" dirty="0"/>
          </a:p>
        </p:txBody>
      </p:sp>
      <p:sp>
        <p:nvSpPr>
          <p:cNvPr id="20" name="Text 18"/>
          <p:cNvSpPr/>
          <p:nvPr/>
        </p:nvSpPr>
        <p:spPr>
          <a:xfrm>
            <a:off x="3977640" y="1792224"/>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137.55</a:t>
            </a:r>
            <a:endParaRPr lang="en-US" sz="920" dirty="0"/>
          </a:p>
        </p:txBody>
      </p:sp>
      <p:sp>
        <p:nvSpPr>
          <p:cNvPr id="21" name="Text 19"/>
          <p:cNvSpPr/>
          <p:nvPr/>
        </p:nvSpPr>
        <p:spPr>
          <a:xfrm>
            <a:off x="4709160" y="179222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0.0156</a:t>
            </a:r>
            <a:endParaRPr lang="en-US" sz="920" dirty="0"/>
          </a:p>
        </p:txBody>
      </p:sp>
      <p:sp>
        <p:nvSpPr>
          <p:cNvPr id="22" name="Text 20"/>
          <p:cNvSpPr/>
          <p:nvPr/>
        </p:nvSpPr>
        <p:spPr>
          <a:xfrm>
            <a:off x="5486400" y="179222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0.0183</a:t>
            </a:r>
            <a:endParaRPr lang="en-US" sz="920" dirty="0"/>
          </a:p>
        </p:txBody>
      </p:sp>
      <p:sp>
        <p:nvSpPr>
          <p:cNvPr id="23" name="Text 21"/>
          <p:cNvSpPr/>
          <p:nvPr/>
        </p:nvSpPr>
        <p:spPr>
          <a:xfrm>
            <a:off x="6263640" y="1792224"/>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2.52</a:t>
            </a:r>
            <a:endParaRPr lang="en-US" sz="920" dirty="0"/>
          </a:p>
        </p:txBody>
      </p:sp>
      <p:sp>
        <p:nvSpPr>
          <p:cNvPr id="24" name="Text 22"/>
          <p:cNvSpPr/>
          <p:nvPr/>
        </p:nvSpPr>
        <p:spPr>
          <a:xfrm>
            <a:off x="7059168" y="1792224"/>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0.16</a:t>
            </a:r>
            <a:endParaRPr lang="en-US" sz="920" dirty="0"/>
          </a:p>
        </p:txBody>
      </p:sp>
      <p:sp>
        <p:nvSpPr>
          <p:cNvPr id="25" name="Text 23"/>
          <p:cNvSpPr/>
          <p:nvPr/>
        </p:nvSpPr>
        <p:spPr>
          <a:xfrm>
            <a:off x="7635240" y="1792224"/>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£2.68</a:t>
            </a:r>
            <a:endParaRPr lang="en-US" sz="920" dirty="0"/>
          </a:p>
        </p:txBody>
      </p:sp>
      <p:sp>
        <p:nvSpPr>
          <p:cNvPr id="26" name="Text 24"/>
          <p:cNvSpPr/>
          <p:nvPr/>
        </p:nvSpPr>
        <p:spPr>
          <a:xfrm>
            <a:off x="685800" y="2098548"/>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Setup, amortised</a:t>
            </a:r>
            <a:endParaRPr lang="en-US" sz="920" dirty="0"/>
          </a:p>
        </p:txBody>
      </p:sp>
      <p:sp>
        <p:nvSpPr>
          <p:cNvPr id="27" name="Text 25"/>
          <p:cNvSpPr/>
          <p:nvPr/>
        </p:nvSpPr>
        <p:spPr>
          <a:xfrm>
            <a:off x="2606040" y="2098548"/>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28" name="Text 26"/>
          <p:cNvSpPr/>
          <p:nvPr/>
        </p:nvSpPr>
        <p:spPr>
          <a:xfrm>
            <a:off x="3977640" y="2098548"/>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29" name="Text 27"/>
          <p:cNvSpPr/>
          <p:nvPr/>
        </p:nvSpPr>
        <p:spPr>
          <a:xfrm>
            <a:off x="4709160" y="2098548"/>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0.0030</a:t>
            </a:r>
            <a:endParaRPr lang="en-US" sz="920" dirty="0"/>
          </a:p>
        </p:txBody>
      </p:sp>
      <p:sp>
        <p:nvSpPr>
          <p:cNvPr id="30" name="Text 28"/>
          <p:cNvSpPr/>
          <p:nvPr/>
        </p:nvSpPr>
        <p:spPr>
          <a:xfrm>
            <a:off x="5486400" y="2098548"/>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0.0030</a:t>
            </a:r>
            <a:endParaRPr lang="en-US" sz="920" dirty="0"/>
          </a:p>
        </p:txBody>
      </p:sp>
      <p:sp>
        <p:nvSpPr>
          <p:cNvPr id="31" name="Text 29"/>
          <p:cNvSpPr/>
          <p:nvPr/>
        </p:nvSpPr>
        <p:spPr>
          <a:xfrm>
            <a:off x="6263640" y="2098548"/>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0.26</a:t>
            </a:r>
            <a:endParaRPr lang="en-US" sz="920" dirty="0"/>
          </a:p>
        </p:txBody>
      </p:sp>
      <p:sp>
        <p:nvSpPr>
          <p:cNvPr id="32" name="Text 30"/>
          <p:cNvSpPr/>
          <p:nvPr/>
        </p:nvSpPr>
        <p:spPr>
          <a:xfrm>
            <a:off x="7059168" y="2098548"/>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a:t>
            </a:r>
            <a:endParaRPr lang="en-US" sz="920" dirty="0"/>
          </a:p>
        </p:txBody>
      </p:sp>
      <p:sp>
        <p:nvSpPr>
          <p:cNvPr id="33" name="Text 31"/>
          <p:cNvSpPr/>
          <p:nvPr/>
        </p:nvSpPr>
        <p:spPr>
          <a:xfrm>
            <a:off x="7635240" y="2098548"/>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£0.33</a:t>
            </a:r>
            <a:endParaRPr lang="en-US" sz="920" dirty="0"/>
          </a:p>
        </p:txBody>
      </p:sp>
      <p:sp>
        <p:nvSpPr>
          <p:cNvPr id="34" name="Shape 32"/>
          <p:cNvSpPr/>
          <p:nvPr/>
        </p:nvSpPr>
        <p:spPr>
          <a:xfrm>
            <a:off x="621792" y="2386584"/>
            <a:ext cx="7644384" cy="292608"/>
          </a:xfrm>
          <a:prstGeom prst="rect">
            <a:avLst/>
          </a:prstGeom>
          <a:solidFill>
            <a:srgbClr val="F4F7FB"/>
          </a:solidFill>
          <a:ln/>
        </p:spPr>
      </p:sp>
      <p:sp>
        <p:nvSpPr>
          <p:cNvPr id="35" name="Text 33"/>
          <p:cNvSpPr/>
          <p:nvPr/>
        </p:nvSpPr>
        <p:spPr>
          <a:xfrm>
            <a:off x="685800" y="2404872"/>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Mill 2 faces flat</a:t>
            </a:r>
            <a:endParaRPr lang="en-US" sz="920" dirty="0"/>
          </a:p>
        </p:txBody>
      </p:sp>
      <p:sp>
        <p:nvSpPr>
          <p:cNvPr id="36" name="Text 34"/>
          <p:cNvSpPr/>
          <p:nvPr/>
        </p:nvSpPr>
        <p:spPr>
          <a:xfrm>
            <a:off x="2606040" y="2404872"/>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37" name="Text 35"/>
          <p:cNvSpPr/>
          <p:nvPr/>
        </p:nvSpPr>
        <p:spPr>
          <a:xfrm>
            <a:off x="3977640" y="2404872"/>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38" name="Text 36"/>
          <p:cNvSpPr/>
          <p:nvPr/>
        </p:nvSpPr>
        <p:spPr>
          <a:xfrm>
            <a:off x="4709160" y="2404872"/>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0.1100</a:t>
            </a:r>
            <a:endParaRPr lang="en-US" sz="920" dirty="0"/>
          </a:p>
        </p:txBody>
      </p:sp>
      <p:sp>
        <p:nvSpPr>
          <p:cNvPr id="39" name="Text 37"/>
          <p:cNvSpPr/>
          <p:nvPr/>
        </p:nvSpPr>
        <p:spPr>
          <a:xfrm>
            <a:off x="5486400" y="2404872"/>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0.1294</a:t>
            </a:r>
            <a:endParaRPr lang="en-US" sz="920" dirty="0"/>
          </a:p>
        </p:txBody>
      </p:sp>
      <p:sp>
        <p:nvSpPr>
          <p:cNvPr id="40" name="Text 38"/>
          <p:cNvSpPr/>
          <p:nvPr/>
        </p:nvSpPr>
        <p:spPr>
          <a:xfrm>
            <a:off x="6263640" y="2404872"/>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11.00</a:t>
            </a:r>
            <a:endParaRPr lang="en-US" sz="920" dirty="0"/>
          </a:p>
        </p:txBody>
      </p:sp>
      <p:sp>
        <p:nvSpPr>
          <p:cNvPr id="41" name="Text 39"/>
          <p:cNvSpPr/>
          <p:nvPr/>
        </p:nvSpPr>
        <p:spPr>
          <a:xfrm>
            <a:off x="7059168" y="2404872"/>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1.59</a:t>
            </a:r>
            <a:endParaRPr lang="en-US" sz="920" dirty="0"/>
          </a:p>
        </p:txBody>
      </p:sp>
      <p:sp>
        <p:nvSpPr>
          <p:cNvPr id="42" name="Text 40"/>
          <p:cNvSpPr/>
          <p:nvPr/>
        </p:nvSpPr>
        <p:spPr>
          <a:xfrm>
            <a:off x="7635240" y="2404872"/>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£12.59</a:t>
            </a:r>
            <a:endParaRPr lang="en-US" sz="920" dirty="0"/>
          </a:p>
        </p:txBody>
      </p:sp>
      <p:sp>
        <p:nvSpPr>
          <p:cNvPr id="43" name="Text 41"/>
          <p:cNvSpPr/>
          <p:nvPr/>
        </p:nvSpPr>
        <p:spPr>
          <a:xfrm>
            <a:off x="685800" y="2711196"/>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Bore + ream 2 bores</a:t>
            </a:r>
            <a:endParaRPr lang="en-US" sz="920" dirty="0"/>
          </a:p>
        </p:txBody>
      </p:sp>
      <p:sp>
        <p:nvSpPr>
          <p:cNvPr id="44" name="Text 42"/>
          <p:cNvSpPr/>
          <p:nvPr/>
        </p:nvSpPr>
        <p:spPr>
          <a:xfrm>
            <a:off x="2606040" y="2711196"/>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45" name="Text 43"/>
          <p:cNvSpPr/>
          <p:nvPr/>
        </p:nvSpPr>
        <p:spPr>
          <a:xfrm>
            <a:off x="3977640" y="2711196"/>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46" name="Text 44"/>
          <p:cNvSpPr/>
          <p:nvPr/>
        </p:nvSpPr>
        <p:spPr>
          <a:xfrm>
            <a:off x="4709160" y="2711196"/>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0.0850</a:t>
            </a:r>
            <a:endParaRPr lang="en-US" sz="920" dirty="0"/>
          </a:p>
        </p:txBody>
      </p:sp>
      <p:sp>
        <p:nvSpPr>
          <p:cNvPr id="47" name="Text 45"/>
          <p:cNvSpPr/>
          <p:nvPr/>
        </p:nvSpPr>
        <p:spPr>
          <a:xfrm>
            <a:off x="5486400" y="2711196"/>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0.1000</a:t>
            </a:r>
            <a:endParaRPr lang="en-US" sz="920" dirty="0"/>
          </a:p>
        </p:txBody>
      </p:sp>
      <p:sp>
        <p:nvSpPr>
          <p:cNvPr id="48" name="Text 46"/>
          <p:cNvSpPr/>
          <p:nvPr/>
        </p:nvSpPr>
        <p:spPr>
          <a:xfrm>
            <a:off x="6263640" y="2711196"/>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a:t>
            </a:r>
            <a:endParaRPr lang="en-US" sz="920" dirty="0"/>
          </a:p>
        </p:txBody>
      </p:sp>
      <p:sp>
        <p:nvSpPr>
          <p:cNvPr id="49" name="Text 47"/>
          <p:cNvSpPr/>
          <p:nvPr/>
        </p:nvSpPr>
        <p:spPr>
          <a:xfrm>
            <a:off x="7059168" y="2711196"/>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1.23</a:t>
            </a:r>
            <a:endParaRPr lang="en-US" sz="920" dirty="0"/>
          </a:p>
        </p:txBody>
      </p:sp>
      <p:sp>
        <p:nvSpPr>
          <p:cNvPr id="50" name="Text 48"/>
          <p:cNvSpPr/>
          <p:nvPr/>
        </p:nvSpPr>
        <p:spPr>
          <a:xfrm>
            <a:off x="7635240" y="2711196"/>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£9.73</a:t>
            </a:r>
            <a:endParaRPr lang="en-US" sz="920" dirty="0"/>
          </a:p>
        </p:txBody>
      </p:sp>
      <p:sp>
        <p:nvSpPr>
          <p:cNvPr id="51" name="Shape 49"/>
          <p:cNvSpPr/>
          <p:nvPr/>
        </p:nvSpPr>
        <p:spPr>
          <a:xfrm>
            <a:off x="621792" y="2999232"/>
            <a:ext cx="7644384" cy="292608"/>
          </a:xfrm>
          <a:prstGeom prst="rect">
            <a:avLst/>
          </a:prstGeom>
          <a:solidFill>
            <a:srgbClr val="F4F7FB"/>
          </a:solidFill>
          <a:ln/>
        </p:spPr>
      </p:sp>
      <p:sp>
        <p:nvSpPr>
          <p:cNvPr id="52" name="Text 50"/>
          <p:cNvSpPr/>
          <p:nvPr/>
        </p:nvSpPr>
        <p:spPr>
          <a:xfrm>
            <a:off x="685800" y="3017520"/>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Drill + tap 16 holes</a:t>
            </a:r>
            <a:endParaRPr lang="en-US" sz="920" dirty="0"/>
          </a:p>
        </p:txBody>
      </p:sp>
      <p:sp>
        <p:nvSpPr>
          <p:cNvPr id="53" name="Text 51"/>
          <p:cNvSpPr/>
          <p:nvPr/>
        </p:nvSpPr>
        <p:spPr>
          <a:xfrm>
            <a:off x="2606040" y="3017520"/>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CNC drill/tap</a:t>
            </a:r>
            <a:endParaRPr lang="en-US" sz="920" dirty="0"/>
          </a:p>
        </p:txBody>
      </p:sp>
      <p:sp>
        <p:nvSpPr>
          <p:cNvPr id="54" name="Text 52"/>
          <p:cNvSpPr/>
          <p:nvPr/>
        </p:nvSpPr>
        <p:spPr>
          <a:xfrm>
            <a:off x="3977640" y="3017520"/>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30.00</a:t>
            </a:r>
            <a:endParaRPr lang="en-US" sz="920" dirty="0"/>
          </a:p>
        </p:txBody>
      </p:sp>
      <p:sp>
        <p:nvSpPr>
          <p:cNvPr id="55" name="Text 53"/>
          <p:cNvSpPr/>
          <p:nvPr/>
        </p:nvSpPr>
        <p:spPr>
          <a:xfrm>
            <a:off x="4709160" y="3017520"/>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0.0700</a:t>
            </a:r>
            <a:endParaRPr lang="en-US" sz="920" dirty="0"/>
          </a:p>
        </p:txBody>
      </p:sp>
      <p:sp>
        <p:nvSpPr>
          <p:cNvPr id="56" name="Text 54"/>
          <p:cNvSpPr/>
          <p:nvPr/>
        </p:nvSpPr>
        <p:spPr>
          <a:xfrm>
            <a:off x="5486400" y="3017520"/>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0.0824</a:t>
            </a:r>
            <a:endParaRPr lang="en-US" sz="920" dirty="0"/>
          </a:p>
        </p:txBody>
      </p:sp>
      <p:sp>
        <p:nvSpPr>
          <p:cNvPr id="57" name="Text 55"/>
          <p:cNvSpPr/>
          <p:nvPr/>
        </p:nvSpPr>
        <p:spPr>
          <a:xfrm>
            <a:off x="6263640" y="3017520"/>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2.47</a:t>
            </a:r>
            <a:endParaRPr lang="en-US" sz="920" dirty="0"/>
          </a:p>
        </p:txBody>
      </p:sp>
      <p:sp>
        <p:nvSpPr>
          <p:cNvPr id="58" name="Text 56"/>
          <p:cNvSpPr/>
          <p:nvPr/>
        </p:nvSpPr>
        <p:spPr>
          <a:xfrm>
            <a:off x="7059168" y="3017520"/>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0.77</a:t>
            </a:r>
            <a:endParaRPr lang="en-US" sz="920" dirty="0"/>
          </a:p>
        </p:txBody>
      </p:sp>
      <p:sp>
        <p:nvSpPr>
          <p:cNvPr id="59" name="Text 57"/>
          <p:cNvSpPr/>
          <p:nvPr/>
        </p:nvSpPr>
        <p:spPr>
          <a:xfrm>
            <a:off x="7635240" y="3017520"/>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£3.24</a:t>
            </a:r>
            <a:endParaRPr lang="en-US" sz="920" dirty="0"/>
          </a:p>
        </p:txBody>
      </p:sp>
      <p:sp>
        <p:nvSpPr>
          <p:cNvPr id="60" name="Text 58"/>
          <p:cNvSpPr/>
          <p:nvPr/>
        </p:nvSpPr>
        <p:spPr>
          <a:xfrm>
            <a:off x="685800" y="3323844"/>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Leak test, deburr, wash</a:t>
            </a:r>
            <a:endParaRPr lang="en-US" sz="920" dirty="0"/>
          </a:p>
        </p:txBody>
      </p:sp>
      <p:sp>
        <p:nvSpPr>
          <p:cNvPr id="61" name="Text 59"/>
          <p:cNvSpPr/>
          <p:nvPr/>
        </p:nvSpPr>
        <p:spPr>
          <a:xfrm>
            <a:off x="2606040" y="3323844"/>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Finish cell</a:t>
            </a:r>
            <a:endParaRPr lang="en-US" sz="920" dirty="0"/>
          </a:p>
        </p:txBody>
      </p:sp>
      <p:sp>
        <p:nvSpPr>
          <p:cNvPr id="62" name="Text 60"/>
          <p:cNvSpPr/>
          <p:nvPr/>
        </p:nvSpPr>
        <p:spPr>
          <a:xfrm>
            <a:off x="3977640" y="3323844"/>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55.00</a:t>
            </a:r>
            <a:endParaRPr lang="en-US" sz="920" dirty="0"/>
          </a:p>
        </p:txBody>
      </p:sp>
      <p:sp>
        <p:nvSpPr>
          <p:cNvPr id="63" name="Text 61"/>
          <p:cNvSpPr/>
          <p:nvPr/>
        </p:nvSpPr>
        <p:spPr>
          <a:xfrm>
            <a:off x="4709160" y="332384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0.0500</a:t>
            </a:r>
            <a:endParaRPr lang="en-US" sz="920" dirty="0"/>
          </a:p>
        </p:txBody>
      </p:sp>
      <p:sp>
        <p:nvSpPr>
          <p:cNvPr id="64" name="Text 62"/>
          <p:cNvSpPr/>
          <p:nvPr/>
        </p:nvSpPr>
        <p:spPr>
          <a:xfrm>
            <a:off x="5486400" y="332384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0.0588</a:t>
            </a:r>
            <a:endParaRPr lang="en-US" sz="920" dirty="0"/>
          </a:p>
        </p:txBody>
      </p:sp>
      <p:sp>
        <p:nvSpPr>
          <p:cNvPr id="65" name="Text 63"/>
          <p:cNvSpPr/>
          <p:nvPr/>
        </p:nvSpPr>
        <p:spPr>
          <a:xfrm>
            <a:off x="6263640" y="3323844"/>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3.24</a:t>
            </a:r>
            <a:endParaRPr lang="en-US" sz="920" dirty="0"/>
          </a:p>
        </p:txBody>
      </p:sp>
      <p:sp>
        <p:nvSpPr>
          <p:cNvPr id="66" name="Text 64"/>
          <p:cNvSpPr/>
          <p:nvPr/>
        </p:nvSpPr>
        <p:spPr>
          <a:xfrm>
            <a:off x="7059168" y="3323844"/>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0.76</a:t>
            </a:r>
            <a:endParaRPr lang="en-US" sz="920" dirty="0"/>
          </a:p>
        </p:txBody>
      </p:sp>
      <p:sp>
        <p:nvSpPr>
          <p:cNvPr id="67" name="Text 65"/>
          <p:cNvSpPr/>
          <p:nvPr/>
        </p:nvSpPr>
        <p:spPr>
          <a:xfrm>
            <a:off x="7635240" y="3323844"/>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£4.00</a:t>
            </a:r>
            <a:endParaRPr lang="en-US" sz="920" dirty="0"/>
          </a:p>
        </p:txBody>
      </p:sp>
      <p:sp>
        <p:nvSpPr>
          <p:cNvPr id="68" name="Shape 66"/>
          <p:cNvSpPr/>
          <p:nvPr/>
        </p:nvSpPr>
        <p:spPr>
          <a:xfrm>
            <a:off x="685800" y="3657600"/>
            <a:ext cx="7589520" cy="0"/>
          </a:xfrm>
          <a:prstGeom prst="line">
            <a:avLst/>
          </a:prstGeom>
          <a:noFill/>
          <a:ln w="12700">
            <a:solidFill>
              <a:srgbClr val="DCE3EE"/>
            </a:solidFill>
            <a:prstDash val="solid"/>
          </a:ln>
        </p:spPr>
      </p:sp>
      <p:sp>
        <p:nvSpPr>
          <p:cNvPr id="69" name="Text 67"/>
          <p:cNvSpPr/>
          <p:nvPr/>
        </p:nvSpPr>
        <p:spPr>
          <a:xfrm>
            <a:off x="685800" y="3721608"/>
            <a:ext cx="365760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Machine + labour, one housing</a:t>
            </a:r>
            <a:endParaRPr lang="en-US" sz="1050" dirty="0"/>
          </a:p>
        </p:txBody>
      </p:sp>
      <p:sp>
        <p:nvSpPr>
          <p:cNvPr id="70" name="Text 68"/>
          <p:cNvSpPr/>
          <p:nvPr/>
        </p:nvSpPr>
        <p:spPr>
          <a:xfrm>
            <a:off x="5486400" y="3721608"/>
            <a:ext cx="731520"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0.3919</a:t>
            </a:r>
            <a:endParaRPr lang="en-US" sz="1050" dirty="0"/>
          </a:p>
        </p:txBody>
      </p:sp>
      <p:sp>
        <p:nvSpPr>
          <p:cNvPr id="71" name="Text 69"/>
          <p:cNvSpPr/>
          <p:nvPr/>
        </p:nvSpPr>
        <p:spPr>
          <a:xfrm>
            <a:off x="6263640" y="3721608"/>
            <a:ext cx="749808"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27.99</a:t>
            </a:r>
            <a:endParaRPr lang="en-US" sz="1050" dirty="0"/>
          </a:p>
        </p:txBody>
      </p:sp>
      <p:sp>
        <p:nvSpPr>
          <p:cNvPr id="72" name="Text 70"/>
          <p:cNvSpPr/>
          <p:nvPr/>
        </p:nvSpPr>
        <p:spPr>
          <a:xfrm>
            <a:off x="7059168" y="3721608"/>
            <a:ext cx="530352"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4.59</a:t>
            </a:r>
            <a:endParaRPr lang="en-US" sz="1050" dirty="0"/>
          </a:p>
        </p:txBody>
      </p:sp>
      <p:sp>
        <p:nvSpPr>
          <p:cNvPr id="73" name="Text 71"/>
          <p:cNvSpPr/>
          <p:nvPr/>
        </p:nvSpPr>
        <p:spPr>
          <a:xfrm>
            <a:off x="7635240" y="3721608"/>
            <a:ext cx="658368"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£32.57</a:t>
            </a:r>
            <a:endParaRPr lang="en-US" sz="1050" dirty="0"/>
          </a:p>
        </p:txBody>
      </p:sp>
      <p:sp>
        <p:nvSpPr>
          <p:cNvPr id="74" name="Text 72"/>
          <p:cNvSpPr/>
          <p:nvPr/>
        </p:nvSpPr>
        <p:spPr>
          <a:xfrm>
            <a:off x="685800" y="4023360"/>
            <a:ext cx="7589520" cy="274320"/>
          </a:xfrm>
          <a:prstGeom prst="rect">
            <a:avLst/>
          </a:prstGeom>
          <a:noFill/>
          <a:ln/>
        </p:spPr>
        <p:txBody>
          <a:bodyPr wrap="square" lIns="0" tIns="0" rIns="0" bIns="0" rtlCol="0" anchor="ctr"/>
          <a:lstStyle/>
          <a:p>
            <a:pPr indent="0" marL="0">
              <a:buNone/>
            </a:pPr>
            <a:r>
              <a:rPr lang="en-US" sz="920" i="1" dirty="0">
                <a:solidFill>
                  <a:srgbClr val="6B7280"/>
                </a:solidFill>
                <a:latin typeface="Calibri" pitchFamily="34" charset="0"/>
                <a:ea typeface="Calibri" pitchFamily="34" charset="-122"/>
                <a:cs typeface="Calibri" pitchFamily="34" charset="-120"/>
              </a:rPr>
              <a:t>Machine £ = £/hr x charged time.  Labour £ = charged time x 0.5 operators x their grade rate.  Nothing else is added here.</a:t>
            </a:r>
            <a:endParaRPr lang="en-US" sz="920" dirty="0"/>
          </a:p>
        </p:txBody>
      </p:sp>
      <p:sp>
        <p:nvSpPr>
          <p:cNvPr id="75" name="Shape 73"/>
          <p:cNvSpPr/>
          <p:nvPr/>
        </p:nvSpPr>
        <p:spPr>
          <a:xfrm>
            <a:off x="8641080" y="1170432"/>
            <a:ext cx="3090672" cy="3200400"/>
          </a:xfrm>
          <a:prstGeom prst="roundRect">
            <a:avLst>
              <a:gd name="adj" fmla="val 2959"/>
            </a:avLst>
          </a:prstGeom>
          <a:solidFill>
            <a:srgbClr val="E6F4F1"/>
          </a:solidFill>
          <a:ln w="15875">
            <a:solidFill>
              <a:srgbClr val="0E8074"/>
            </a:solidFill>
            <a:prstDash val="solid"/>
          </a:ln>
        </p:spPr>
      </p:sp>
      <p:sp>
        <p:nvSpPr>
          <p:cNvPr id="76" name="Text 74"/>
          <p:cNvSpPr/>
          <p:nvPr/>
        </p:nvSpPr>
        <p:spPr>
          <a:xfrm>
            <a:off x="8851392" y="1280160"/>
            <a:ext cx="2743200" cy="237744"/>
          </a:xfrm>
          <a:prstGeom prst="rect">
            <a:avLst/>
          </a:prstGeom>
          <a:noFill/>
          <a:ln/>
        </p:spPr>
        <p:txBody>
          <a:bodyPr wrap="square" lIns="0" tIns="0" rIns="0" bIns="0" rtlCol="0" anchor="ctr"/>
          <a:lstStyle/>
          <a:p>
            <a:pPr indent="0" marL="0">
              <a:buNone/>
            </a:pPr>
            <a:r>
              <a:rPr lang="en-US" sz="1000" b="1" spc="80" kern="0" dirty="0">
                <a:solidFill>
                  <a:srgbClr val="0E8074"/>
                </a:solidFill>
                <a:latin typeface="Calibri" pitchFamily="34" charset="0"/>
                <a:ea typeface="Calibri" pitchFamily="34" charset="-122"/>
                <a:cs typeface="Calibri" pitchFamily="34" charset="-120"/>
              </a:rPr>
              <a:t>HOW A CYCLE TIME IS BUILT</a:t>
            </a:r>
            <a:endParaRPr lang="en-US" sz="1000" dirty="0"/>
          </a:p>
        </p:txBody>
      </p:sp>
      <p:sp>
        <p:nvSpPr>
          <p:cNvPr id="77" name="Text 75"/>
          <p:cNvSpPr/>
          <p:nvPr/>
        </p:nvSpPr>
        <p:spPr>
          <a:xfrm>
            <a:off x="8851392" y="1609344"/>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Casting</a:t>
            </a:r>
            <a:endParaRPr lang="en-US" sz="1050" dirty="0"/>
          </a:p>
        </p:txBody>
      </p:sp>
      <p:sp>
        <p:nvSpPr>
          <p:cNvPr id="78" name="Text 76"/>
          <p:cNvSpPr/>
          <p:nvPr/>
        </p:nvSpPr>
        <p:spPr>
          <a:xfrm>
            <a:off x="8851392" y="1828800"/>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fill + hold under pressure + cool until solid + open and eject = 55 seconds</a:t>
            </a:r>
            <a:endParaRPr lang="en-US" sz="930" dirty="0"/>
          </a:p>
        </p:txBody>
      </p:sp>
      <p:sp>
        <p:nvSpPr>
          <p:cNvPr id="79" name="Text 77"/>
          <p:cNvSpPr/>
          <p:nvPr/>
        </p:nvSpPr>
        <p:spPr>
          <a:xfrm>
            <a:off x="8851392" y="2505456"/>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Machining</a:t>
            </a:r>
            <a:endParaRPr lang="en-US" sz="1050" dirty="0"/>
          </a:p>
        </p:txBody>
      </p:sp>
      <p:sp>
        <p:nvSpPr>
          <p:cNvPr id="80" name="Text 78"/>
          <p:cNvSpPr/>
          <p:nvPr/>
        </p:nvSpPr>
        <p:spPr>
          <a:xfrm>
            <a:off x="8851392" y="2724912"/>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metal to remove / how fast the cutter removes it, + tool changes, + moving between features, + load and unload</a:t>
            </a:r>
            <a:endParaRPr lang="en-US" sz="930" dirty="0"/>
          </a:p>
        </p:txBody>
      </p:sp>
      <p:sp>
        <p:nvSpPr>
          <p:cNvPr id="81" name="Text 79"/>
          <p:cNvSpPr/>
          <p:nvPr/>
        </p:nvSpPr>
        <p:spPr>
          <a:xfrm>
            <a:off x="8851392" y="3401568"/>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 OEE column</a:t>
            </a:r>
            <a:endParaRPr lang="en-US" sz="1050" dirty="0"/>
          </a:p>
        </p:txBody>
      </p:sp>
      <p:sp>
        <p:nvSpPr>
          <p:cNvPr id="82" name="Text 80"/>
          <p:cNvSpPr/>
          <p:nvPr/>
        </p:nvSpPr>
        <p:spPr>
          <a:xfrm>
            <a:off x="8851392" y="3621024"/>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a machine is never 100% available. At 85% OEE, 0.110 hr of cutting occupies 0.1294 hr of machine. We cost the real world.</a:t>
            </a:r>
            <a:endParaRPr lang="en-US" sz="930" dirty="0"/>
          </a:p>
        </p:txBody>
      </p:sp>
      <p:sp>
        <p:nvSpPr>
          <p:cNvPr id="83" name="Shape 81"/>
          <p:cNvSpPr/>
          <p:nvPr/>
        </p:nvSpPr>
        <p:spPr>
          <a:xfrm>
            <a:off x="457200" y="4572000"/>
            <a:ext cx="11274552" cy="1691640"/>
          </a:xfrm>
          <a:prstGeom prst="roundRect">
            <a:avLst>
              <a:gd name="adj" fmla="val 5405"/>
            </a:avLst>
          </a:prstGeom>
          <a:solidFill>
            <a:srgbClr val="FFFFFF"/>
          </a:solidFill>
          <a:ln w="19050">
            <a:solidFill>
              <a:srgbClr val="2E8B57"/>
            </a:solidFill>
            <a:prstDash val="solid"/>
          </a:ln>
        </p:spPr>
      </p:sp>
      <p:sp>
        <p:nvSpPr>
          <p:cNvPr id="84" name="Text 82"/>
          <p:cNvSpPr/>
          <p:nvPr/>
        </p:nvSpPr>
        <p:spPr>
          <a:xfrm>
            <a:off x="731520" y="4681728"/>
            <a:ext cx="7315200" cy="274320"/>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THE SURPRISE — and why this changes a negotiation</a:t>
            </a:r>
            <a:endParaRPr lang="en-US" sz="1250" dirty="0"/>
          </a:p>
        </p:txBody>
      </p:sp>
      <p:graphicFrame>
        <p:nvGraphicFramePr>
          <p:cNvPr id="85" name="Chart 0" descr=""/>
          <p:cNvGraphicFramePr/>
          <p:nvPr/>
        </p:nvGraphicFramePr>
        <p:xfrm>
          <a:off x="594360" y="4956048"/>
          <a:ext cx="5943600" cy="1188720"/>
        </p:xfrm>
        <a:graphic xmlns:a="http://schemas.openxmlformats.org/drawingml/2006/main">
          <a:graphicData uri="http://schemas.openxmlformats.org/drawingml/2006/chart">
            <c:chart xmlns:c="http://schemas.openxmlformats.org/drawingml/2006/chart" r:id="rId1"/>
          </a:graphicData>
        </a:graphic>
      </p:graphicFrame>
      <p:sp>
        <p:nvSpPr>
          <p:cNvPr id="86" name="Text 83"/>
          <p:cNvSpPr/>
          <p:nvPr/>
        </p:nvSpPr>
        <p:spPr>
          <a:xfrm>
            <a:off x="6766560" y="4974336"/>
            <a:ext cx="4754880" cy="1170432"/>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The famous casting shot is £2.68 — 8% of the making cost. Cutting metal is £25.89 (79%); add test, deburr and wash and everything after the shot is £29.89, or 92%.
</a:t>
            </a:r>
            <a:pPr indent="0" marL="0">
              <a:buNone/>
            </a:pPr>
            <a:r>
              <a:rPr lang="en-US" sz="1050" b="1" dirty="0">
                <a:solidFill>
                  <a:srgbClr val="16325C"/>
                </a:solidFill>
                <a:latin typeface="Calibri" pitchFamily="34" charset="0"/>
                <a:ea typeface="Calibri" pitchFamily="34" charset="-122"/>
                <a:cs typeface="Calibri" pitchFamily="34" charset="-120"/>
              </a:rPr>
              <a:t>So arguing about the aluminium price is arguing about the wrong thing. </a:t>
            </a:r>
            <a:pPr indent="0" marL="0">
              <a:buNone/>
            </a:pPr>
            <a:r>
              <a:rPr lang="en-US" sz="1050" dirty="0">
                <a:solidFill>
                  <a:srgbClr val="3A4356"/>
                </a:solidFill>
                <a:latin typeface="Calibri" pitchFamily="34" charset="0"/>
                <a:ea typeface="Calibri" pitchFamily="34" charset="-122"/>
                <a:cs typeface="Calibri" pitchFamily="34" charset="-120"/>
              </a:rPr>
              <a:t>The money is in cycle time — which makes fixturing and tool paths the productive conversation.</a:t>
            </a:r>
            <a:endParaRPr lang="en-US" sz="1050" dirty="0"/>
          </a:p>
        </p:txBody>
      </p:sp>
      <p:sp>
        <p:nvSpPr>
          <p:cNvPr id="87" name="Text 8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88" name="Text 8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9–10 · Building the Cost, Country by Country</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Eight buckets, always the same eight — then recalculated on each country’s rates</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70432"/>
            <a:ext cx="6400800" cy="3291840"/>
          </a:xfrm>
          <a:prstGeom prst="roundRect">
            <a:avLst>
              <a:gd name="adj" fmla="val 2778"/>
            </a:avLst>
          </a:prstGeom>
          <a:solidFill>
            <a:srgbClr val="FFFFFF"/>
          </a:solidFill>
          <a:ln w="12700">
            <a:solidFill>
              <a:srgbClr val="DCE3EE"/>
            </a:solidFill>
            <a:prstDash val="solid"/>
          </a:ln>
        </p:spPr>
      </p:sp>
      <p:sp>
        <p:nvSpPr>
          <p:cNvPr id="8" name="Text 6"/>
          <p:cNvSpPr/>
          <p:nvPr/>
        </p:nvSpPr>
        <p:spPr>
          <a:xfrm>
            <a:off x="685800" y="1280160"/>
            <a:ext cx="5852160" cy="256032"/>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THE EIGHT BUCKETS — this housing, made in China</a:t>
            </a:r>
            <a:endParaRPr lang="en-US" sz="1150" dirty="0"/>
          </a:p>
        </p:txBody>
      </p:sp>
      <p:sp>
        <p:nvSpPr>
          <p:cNvPr id="9" name="Text 7"/>
          <p:cNvSpPr/>
          <p:nvPr/>
        </p:nvSpPr>
        <p:spPr>
          <a:xfrm>
            <a:off x="685800" y="4114800"/>
            <a:ext cx="5943600" cy="274320"/>
          </a:xfrm>
          <a:prstGeom prst="rect">
            <a:avLst/>
          </a:prstGeom>
          <a:noFill/>
          <a:ln/>
        </p:spPr>
        <p:txBody>
          <a:bodyPr wrap="square" lIns="0" tIns="0" rIns="0" bIns="0" rtlCol="0" anchor="ctr"/>
          <a:lstStyle/>
          <a:p>
            <a:pPr indent="0" marL="0">
              <a:buNone/>
            </a:pPr>
            <a:r>
              <a:rPr lang="en-US" sz="860" i="1" dirty="0">
                <a:solidFill>
                  <a:srgbClr val="6B7280"/>
                </a:solidFill>
                <a:latin typeface="Calibri" pitchFamily="34" charset="0"/>
                <a:ea typeface="Calibri" pitchFamily="34" charset="-122"/>
                <a:cs typeface="Calibri" pitchFamily="34" charset="-120"/>
              </a:rPr>
              <a:t>Material = at poured weight · Process = casting shot + all machining · Tooling = the die, per part</a:t>
            </a:r>
            <a:endParaRPr lang="en-US" sz="860" dirty="0"/>
          </a:p>
        </p:txBody>
      </p:sp>
      <p:graphicFrame>
        <p:nvGraphicFramePr>
          <p:cNvPr id="10" name="Chart 0" descr=""/>
          <p:cNvGraphicFramePr/>
          <p:nvPr/>
        </p:nvGraphicFramePr>
        <p:xfrm>
          <a:off x="566928" y="1517904"/>
          <a:ext cx="6172200" cy="2578608"/>
        </p:xfrm>
        <a:graphic xmlns:a="http://schemas.openxmlformats.org/drawingml/2006/main">
          <a:graphicData uri="http://schemas.openxmlformats.org/drawingml/2006/chart">
            <c:chart xmlns:c="http://schemas.openxmlformats.org/drawingml/2006/chart" r:id="rId1"/>
          </a:graphicData>
        </a:graphic>
      </p:graphicFrame>
      <p:sp>
        <p:nvSpPr>
          <p:cNvPr id="11" name="Shape 8"/>
          <p:cNvSpPr/>
          <p:nvPr/>
        </p:nvSpPr>
        <p:spPr>
          <a:xfrm>
            <a:off x="7086600" y="1170432"/>
            <a:ext cx="4645152" cy="1600200"/>
          </a:xfrm>
          <a:prstGeom prst="roundRect">
            <a:avLst>
              <a:gd name="adj" fmla="val 5714"/>
            </a:avLst>
          </a:prstGeom>
          <a:solidFill>
            <a:srgbClr val="0E5A5A"/>
          </a:solidFill>
          <a:ln/>
        </p:spPr>
      </p:sp>
      <p:sp>
        <p:nvSpPr>
          <p:cNvPr id="12" name="Text 9"/>
          <p:cNvSpPr/>
          <p:nvPr/>
        </p:nvSpPr>
        <p:spPr>
          <a:xfrm>
            <a:off x="7315200" y="1298448"/>
            <a:ext cx="4206240" cy="237744"/>
          </a:xfrm>
          <a:prstGeom prst="rect">
            <a:avLst/>
          </a:prstGeom>
          <a:noFill/>
          <a:ln/>
        </p:spPr>
        <p:txBody>
          <a:bodyPr wrap="square" lIns="0" tIns="0" rIns="0" bIns="0" rtlCol="0" anchor="ctr"/>
          <a:lstStyle/>
          <a:p>
            <a:pPr indent="0" marL="0">
              <a:buNone/>
            </a:pPr>
            <a:r>
              <a:rPr lang="en-US" sz="1000" b="1" spc="100" kern="0" dirty="0">
                <a:solidFill>
                  <a:srgbClr val="9FD9CF"/>
                </a:solidFill>
                <a:latin typeface="Calibri" pitchFamily="34" charset="0"/>
                <a:ea typeface="Calibri" pitchFamily="34" charset="-122"/>
                <a:cs typeface="Calibri" pitchFamily="34" charset="-120"/>
              </a:rPr>
              <a:t>SHOULD-COST — MADE IN CHINA</a:t>
            </a:r>
            <a:endParaRPr lang="en-US" sz="1000" dirty="0"/>
          </a:p>
        </p:txBody>
      </p:sp>
      <p:sp>
        <p:nvSpPr>
          <p:cNvPr id="13" name="Text 10"/>
          <p:cNvSpPr/>
          <p:nvPr/>
        </p:nvSpPr>
        <p:spPr>
          <a:xfrm>
            <a:off x="7315200" y="1554480"/>
            <a:ext cx="4206240" cy="6858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£38.55</a:t>
            </a:r>
            <a:endParaRPr lang="en-US" sz="4400" dirty="0"/>
          </a:p>
        </p:txBody>
      </p:sp>
      <p:sp>
        <p:nvSpPr>
          <p:cNvPr id="14" name="Text 11"/>
          <p:cNvSpPr/>
          <p:nvPr/>
        </p:nvSpPr>
        <p:spPr>
          <a:xfrm>
            <a:off x="7315200" y="2286000"/>
            <a:ext cx="4206240" cy="256032"/>
          </a:xfrm>
          <a:prstGeom prst="rect">
            <a:avLst/>
          </a:prstGeom>
          <a:noFill/>
          <a:ln/>
        </p:spPr>
        <p:txBody>
          <a:bodyPr wrap="square" lIns="0" tIns="0" rIns="0" bIns="0" rtlCol="0" anchor="ctr"/>
          <a:lstStyle/>
          <a:p>
            <a:pPr indent="0" marL="0">
              <a:buNone/>
            </a:pPr>
            <a:r>
              <a:rPr lang="en-US" sz="1100" dirty="0">
                <a:solidFill>
                  <a:srgbClr val="CDEDE7"/>
                </a:solidFill>
                <a:latin typeface="Calibri" pitchFamily="34" charset="0"/>
                <a:ea typeface="Calibri" pitchFamily="34" charset="-122"/>
                <a:cs typeface="Calibri" pitchFamily="34" charset="-120"/>
              </a:rPr>
              <a:t>per part, at 60,000 a year</a:t>
            </a:r>
            <a:endParaRPr lang="en-US" sz="1100" dirty="0"/>
          </a:p>
        </p:txBody>
      </p:sp>
      <p:sp>
        <p:nvSpPr>
          <p:cNvPr id="15" name="Shape 12"/>
          <p:cNvSpPr/>
          <p:nvPr/>
        </p:nvSpPr>
        <p:spPr>
          <a:xfrm>
            <a:off x="7086600" y="2926080"/>
            <a:ext cx="4645152" cy="1536192"/>
          </a:xfrm>
          <a:prstGeom prst="roundRect">
            <a:avLst>
              <a:gd name="adj" fmla="val 5952"/>
            </a:avLst>
          </a:prstGeom>
          <a:solidFill>
            <a:srgbClr val="FFFFFF"/>
          </a:solidFill>
          <a:ln w="12700">
            <a:solidFill>
              <a:srgbClr val="DCE3EE"/>
            </a:solidFill>
            <a:prstDash val="solid"/>
          </a:ln>
        </p:spPr>
      </p:sp>
      <p:sp>
        <p:nvSpPr>
          <p:cNvPr id="16" name="Text 13"/>
          <p:cNvSpPr/>
          <p:nvPr/>
        </p:nvSpPr>
        <p:spPr>
          <a:xfrm>
            <a:off x="7315200" y="3035808"/>
            <a:ext cx="4206240" cy="237744"/>
          </a:xfrm>
          <a:prstGeom prst="rect">
            <a:avLst/>
          </a:prstGeom>
          <a:noFill/>
          <a:ln/>
        </p:spPr>
        <p:txBody>
          <a:bodyPr wrap="square" lIns="0" tIns="0" rIns="0" bIns="0" rtlCol="0" anchor="ctr"/>
          <a:lstStyle/>
          <a:p>
            <a:pPr indent="0" marL="0">
              <a:buNone/>
            </a:pPr>
            <a:r>
              <a:rPr lang="en-US" sz="1000" b="1" spc="80" kern="0" dirty="0">
                <a:solidFill>
                  <a:srgbClr val="16325C"/>
                </a:solidFill>
                <a:latin typeface="Calibri" pitchFamily="34" charset="0"/>
                <a:ea typeface="Calibri" pitchFamily="34" charset="-122"/>
                <a:cs typeface="Calibri" pitchFamily="34" charset="-120"/>
              </a:rPr>
              <a:t>THE SAME PART, PRICED ELSEWHERE</a:t>
            </a:r>
            <a:endParaRPr lang="en-US" sz="1000" dirty="0"/>
          </a:p>
        </p:txBody>
      </p:sp>
      <p:sp>
        <p:nvSpPr>
          <p:cNvPr id="17" name="Text 14"/>
          <p:cNvSpPr/>
          <p:nvPr/>
        </p:nvSpPr>
        <p:spPr>
          <a:xfrm>
            <a:off x="7360920" y="3273552"/>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India</a:t>
            </a:r>
            <a:endParaRPr lang="en-US" sz="1050" dirty="0"/>
          </a:p>
        </p:txBody>
      </p:sp>
      <p:sp>
        <p:nvSpPr>
          <p:cNvPr id="18" name="Text 15"/>
          <p:cNvSpPr/>
          <p:nvPr/>
        </p:nvSpPr>
        <p:spPr>
          <a:xfrm>
            <a:off x="9326880" y="3273552"/>
            <a:ext cx="2103120" cy="246888"/>
          </a:xfrm>
          <a:prstGeom prst="rect">
            <a:avLst/>
          </a:prstGeom>
          <a:noFill/>
          <a:ln/>
        </p:spPr>
        <p:txBody>
          <a:bodyPr wrap="square" lIns="0" tIns="0" rIns="0" bIns="0" rtlCol="0" anchor="ctr"/>
          <a:lstStyle/>
          <a:p>
            <a:pPr algn="r" indent="0" marL="0">
              <a:buNone/>
            </a:pPr>
            <a:r>
              <a:rPr lang="en-US" sz="1150" b="1" dirty="0">
                <a:solidFill>
                  <a:srgbClr val="3A4356"/>
                </a:solidFill>
                <a:latin typeface="Calibri" pitchFamily="34" charset="0"/>
                <a:ea typeface="Calibri" pitchFamily="34" charset="-122"/>
                <a:cs typeface="Calibri" pitchFamily="34" charset="-120"/>
              </a:rPr>
              <a:t>£37.17</a:t>
            </a:r>
            <a:endParaRPr lang="en-US" sz="1150" dirty="0"/>
          </a:p>
        </p:txBody>
      </p:sp>
      <p:sp>
        <p:nvSpPr>
          <p:cNvPr id="19" name="Text 16"/>
          <p:cNvSpPr/>
          <p:nvPr/>
        </p:nvSpPr>
        <p:spPr>
          <a:xfrm>
            <a:off x="7360920" y="3511296"/>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China</a:t>
            </a:r>
            <a:endParaRPr lang="en-US" sz="1050" dirty="0"/>
          </a:p>
        </p:txBody>
      </p:sp>
      <p:sp>
        <p:nvSpPr>
          <p:cNvPr id="20" name="Text 17"/>
          <p:cNvSpPr/>
          <p:nvPr/>
        </p:nvSpPr>
        <p:spPr>
          <a:xfrm>
            <a:off x="9326880" y="3511296"/>
            <a:ext cx="2103120" cy="246888"/>
          </a:xfrm>
          <a:prstGeom prst="rect">
            <a:avLst/>
          </a:prstGeom>
          <a:noFill/>
          <a:ln/>
        </p:spPr>
        <p:txBody>
          <a:bodyPr wrap="square" lIns="0" tIns="0" rIns="0" bIns="0" rtlCol="0" anchor="ctr"/>
          <a:lstStyle/>
          <a:p>
            <a:pPr algn="r" indent="0" marL="0">
              <a:buNone/>
            </a:pPr>
            <a:r>
              <a:rPr lang="en-US" sz="1150" b="1" dirty="0">
                <a:solidFill>
                  <a:srgbClr val="0E8074"/>
                </a:solidFill>
                <a:latin typeface="Calibri" pitchFamily="34" charset="0"/>
                <a:ea typeface="Calibri" pitchFamily="34" charset="-122"/>
                <a:cs typeface="Calibri" pitchFamily="34" charset="-120"/>
              </a:rPr>
              <a:t>£38.55</a:t>
            </a:r>
            <a:endParaRPr lang="en-US" sz="1150" dirty="0"/>
          </a:p>
        </p:txBody>
      </p:sp>
      <p:sp>
        <p:nvSpPr>
          <p:cNvPr id="21" name="Text 18"/>
          <p:cNvSpPr/>
          <p:nvPr/>
        </p:nvSpPr>
        <p:spPr>
          <a:xfrm>
            <a:off x="7360920" y="3749040"/>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Mexico</a:t>
            </a:r>
            <a:endParaRPr lang="en-US" sz="1050" dirty="0"/>
          </a:p>
        </p:txBody>
      </p:sp>
      <p:sp>
        <p:nvSpPr>
          <p:cNvPr id="22" name="Text 19"/>
          <p:cNvSpPr/>
          <p:nvPr/>
        </p:nvSpPr>
        <p:spPr>
          <a:xfrm>
            <a:off x="9326880" y="3749040"/>
            <a:ext cx="2103120" cy="246888"/>
          </a:xfrm>
          <a:prstGeom prst="rect">
            <a:avLst/>
          </a:prstGeom>
          <a:noFill/>
          <a:ln/>
        </p:spPr>
        <p:txBody>
          <a:bodyPr wrap="square" lIns="0" tIns="0" rIns="0" bIns="0" rtlCol="0" anchor="ctr"/>
          <a:lstStyle/>
          <a:p>
            <a:pPr algn="r" indent="0" marL="0">
              <a:buNone/>
            </a:pPr>
            <a:r>
              <a:rPr lang="en-US" sz="1150" b="1" dirty="0">
                <a:solidFill>
                  <a:srgbClr val="3A4356"/>
                </a:solidFill>
                <a:latin typeface="Calibri" pitchFamily="34" charset="0"/>
                <a:ea typeface="Calibri" pitchFamily="34" charset="-122"/>
                <a:cs typeface="Calibri" pitchFamily="34" charset="-120"/>
              </a:rPr>
              <a:t>£40.44</a:t>
            </a:r>
            <a:endParaRPr lang="en-US" sz="1150" dirty="0"/>
          </a:p>
        </p:txBody>
      </p:sp>
      <p:sp>
        <p:nvSpPr>
          <p:cNvPr id="23" name="Text 20"/>
          <p:cNvSpPr/>
          <p:nvPr/>
        </p:nvSpPr>
        <p:spPr>
          <a:xfrm>
            <a:off x="7360920" y="3986784"/>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United Kingdom</a:t>
            </a:r>
            <a:endParaRPr lang="en-US" sz="1050" dirty="0"/>
          </a:p>
        </p:txBody>
      </p:sp>
      <p:sp>
        <p:nvSpPr>
          <p:cNvPr id="24" name="Text 21"/>
          <p:cNvSpPr/>
          <p:nvPr/>
        </p:nvSpPr>
        <p:spPr>
          <a:xfrm>
            <a:off x="9326880" y="3986784"/>
            <a:ext cx="2103120" cy="246888"/>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£59.60</a:t>
            </a:r>
            <a:endParaRPr lang="en-US" sz="1150" dirty="0"/>
          </a:p>
        </p:txBody>
      </p:sp>
      <p:sp>
        <p:nvSpPr>
          <p:cNvPr id="25" name="Text 22"/>
          <p:cNvSpPr/>
          <p:nvPr/>
        </p:nvSpPr>
        <p:spPr>
          <a:xfrm>
            <a:off x="7315200" y="4206240"/>
            <a:ext cx="4251960" cy="274320"/>
          </a:xfrm>
          <a:prstGeom prst="rect">
            <a:avLst/>
          </a:prstGeom>
          <a:noFill/>
          <a:ln/>
        </p:spPr>
        <p:txBody>
          <a:bodyPr wrap="square" lIns="0" tIns="0" rIns="0" bIns="0" rtlCol="0" anchor="ctr"/>
          <a:lstStyle/>
          <a:p>
            <a:pPr indent="0" marL="0">
              <a:buNone/>
            </a:pPr>
            <a:r>
              <a:rPr lang="en-US" sz="820" i="1" dirty="0">
                <a:solidFill>
                  <a:srgbClr val="6B7280"/>
                </a:solidFill>
                <a:latin typeface="Calibri" pitchFamily="34" charset="0"/>
                <a:ea typeface="Calibri" pitchFamily="34" charset="-122"/>
                <a:cs typeface="Calibri" pitchFamily="34" charset="-120"/>
              </a:rPr>
              <a:t>Metal barely moves: £12.18 CN vs £12.56 UK. Rates do.</a:t>
            </a:r>
            <a:endParaRPr lang="en-US" sz="820" dirty="0"/>
          </a:p>
        </p:txBody>
      </p:sp>
      <p:sp>
        <p:nvSpPr>
          <p:cNvPr id="26" name="Shape 23"/>
          <p:cNvSpPr/>
          <p:nvPr/>
        </p:nvSpPr>
        <p:spPr>
          <a:xfrm>
            <a:off x="457200" y="4645152"/>
            <a:ext cx="11274552" cy="1627632"/>
          </a:xfrm>
          <a:prstGeom prst="roundRect">
            <a:avLst>
              <a:gd name="adj" fmla="val 5618"/>
            </a:avLst>
          </a:prstGeom>
          <a:solidFill>
            <a:srgbClr val="FFFFFF"/>
          </a:solidFill>
          <a:ln w="12700">
            <a:solidFill>
              <a:srgbClr val="DCE3EE"/>
            </a:solidFill>
            <a:prstDash val="solid"/>
          </a:ln>
        </p:spPr>
      </p:sp>
      <p:sp>
        <p:nvSpPr>
          <p:cNvPr id="27" name="Text 24"/>
          <p:cNvSpPr/>
          <p:nvPr/>
        </p:nvSpPr>
        <p:spPr>
          <a:xfrm>
            <a:off x="731520" y="4754880"/>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Two rules the engine applies to every single part, without exception</a:t>
            </a:r>
            <a:endParaRPr lang="en-US" sz="1250" dirty="0"/>
          </a:p>
        </p:txBody>
      </p:sp>
      <p:sp>
        <p:nvSpPr>
          <p:cNvPr id="28" name="Text 25"/>
          <p:cNvSpPr/>
          <p:nvPr/>
        </p:nvSpPr>
        <p:spPr>
          <a:xfrm>
            <a:off x="731520" y="5047488"/>
            <a:ext cx="10744200" cy="1143000"/>
          </a:xfrm>
          <a:prstGeom prst="rect">
            <a:avLst/>
          </a:prstGeom>
          <a:noFill/>
          <a:ln/>
        </p:spPr>
        <p:txBody>
          <a:bodyPr wrap="square" lIns="0" tIns="0" rIns="0" bIns="0" rtlCol="0" anchor="t"/>
          <a:lstStyle/>
          <a:p>
            <a:pPr indent="0" marL="0">
              <a:buNone/>
            </a:pPr>
            <a:r>
              <a:rPr lang="en-US" sz="1150" b="1" dirty="0">
                <a:solidFill>
                  <a:srgbClr val="0E8074"/>
                </a:solidFill>
                <a:latin typeface="Calibri" pitchFamily="34" charset="0"/>
                <a:ea typeface="Calibri" pitchFamily="34" charset="-122"/>
                <a:cs typeface="Calibri" pitchFamily="34" charset="-120"/>
              </a:rPr>
              <a:t>1.  Always the same eight buckets. </a:t>
            </a:r>
            <a:pPr indent="0" marL="0">
              <a:buNone/>
            </a:pPr>
            <a:r>
              <a:rPr lang="en-US" sz="1150" dirty="0">
                <a:solidFill>
                  <a:srgbClr val="3A4356"/>
                </a:solidFill>
                <a:latin typeface="Calibri" pitchFamily="34" charset="0"/>
                <a:ea typeface="Calibri" pitchFamily="34" charset="-122"/>
                <a:cs typeface="Calibri" pitchFamily="34" charset="-120"/>
              </a:rPr>
              <a:t>A stamped bracket, a moulded housing and this casting are all built the same way, so any two parts can be compared honestly. Overhead is applied once, on the factory cost. Margin is applied once, on the subtotal. Never twice.
</a:t>
            </a:r>
            <a:pPr indent="0" marL="0">
              <a:buNone/>
            </a:pPr>
            <a:r>
              <a:rPr lang="en-US" sz="1150" b="1" dirty="0">
                <a:solidFill>
                  <a:srgbClr val="0E8074"/>
                </a:solidFill>
                <a:latin typeface="Calibri" pitchFamily="34" charset="0"/>
                <a:ea typeface="Calibri" pitchFamily="34" charset="-122"/>
                <a:cs typeface="Calibri" pitchFamily="34" charset="-120"/>
              </a:rPr>
              <a:t>2.  Every figure traces back to a driver. </a:t>
            </a:r>
            <a:pPr indent="0" marL="0">
              <a:buNone/>
            </a:pPr>
            <a:r>
              <a:rPr lang="en-US" sz="1150" dirty="0">
                <a:solidFill>
                  <a:srgbClr val="3A4356"/>
                </a:solidFill>
                <a:latin typeface="Calibri" pitchFamily="34" charset="0"/>
                <a:ea typeface="Calibri" pitchFamily="34" charset="-122"/>
                <a:cs typeface="Calibri" pitchFamily="34" charset="-120"/>
              </a:rPr>
              <a:t>Material = measured weight x a published metal price. Process = calculated time x a machine rate. Change any input and you can point at exactly why the answer moved — there is no black box in the money.</a:t>
            </a:r>
            <a:endParaRPr lang="en-US" sz="1150" dirty="0"/>
          </a:p>
        </p:txBody>
      </p:sp>
      <p:sp>
        <p:nvSpPr>
          <p:cNvPr id="29" name="Text 2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0" name="Text 2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11–12 · Honesty, Then a Human Decides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tool tells you how confident it is — and never signs its own work</a:t>
            </a:r>
            <a:endParaRPr lang="en-US" sz="1200" dirty="0"/>
          </a:p>
        </p:txBody>
      </p:sp>
      <p:sp>
        <p:nvSpPr>
          <p:cNvPr id="5" name="Shape 3"/>
          <p:cNvSpPr/>
          <p:nvPr/>
        </p:nvSpPr>
        <p:spPr>
          <a:xfrm>
            <a:off x="9418320" y="676656"/>
            <a:ext cx="2286000" cy="310896"/>
          </a:xfrm>
          <a:prstGeom prst="roundRect">
            <a:avLst>
              <a:gd name="adj" fmla="val 50000"/>
            </a:avLst>
          </a:prstGeom>
          <a:solidFill>
            <a:srgbClr val="EAF6EF"/>
          </a:solidFill>
          <a:ln w="12700">
            <a:solidFill>
              <a:srgbClr val="2E8B57"/>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2E8B57"/>
                </a:solidFill>
                <a:latin typeface="Calibri" pitchFamily="34" charset="0"/>
                <a:ea typeface="Calibri" pitchFamily="34" charset="-122"/>
                <a:cs typeface="Calibri" pitchFamily="34" charset="-120"/>
              </a:rPr>
              <a:t>OWNER: THE ENGINEER</a:t>
            </a:r>
            <a:endParaRPr lang="en-US" sz="950" dirty="0"/>
          </a:p>
        </p:txBody>
      </p:sp>
      <p:sp>
        <p:nvSpPr>
          <p:cNvPr id="7" name="Shape 5"/>
          <p:cNvSpPr/>
          <p:nvPr/>
        </p:nvSpPr>
        <p:spPr>
          <a:xfrm>
            <a:off x="457200" y="1188720"/>
            <a:ext cx="5486400" cy="2148840"/>
          </a:xfrm>
          <a:prstGeom prst="roundRect">
            <a:avLst>
              <a:gd name="adj" fmla="val 4255"/>
            </a:avLst>
          </a:prstGeom>
          <a:solidFill>
            <a:srgbClr val="FFFFFF"/>
          </a:solidFill>
          <a:ln w="12700">
            <a:solidFill>
              <a:srgbClr val="DCE3EE"/>
            </a:solidFill>
            <a:prstDash val="solid"/>
          </a:ln>
        </p:spPr>
      </p:sp>
      <p:sp>
        <p:nvSpPr>
          <p:cNvPr id="8" name="Text 6"/>
          <p:cNvSpPr/>
          <p:nvPr/>
        </p:nvSpPr>
        <p:spPr>
          <a:xfrm>
            <a:off x="685800" y="1316736"/>
            <a:ext cx="5029200" cy="274320"/>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11 · A range, not false precision</a:t>
            </a:r>
            <a:endParaRPr lang="en-US" sz="1300" dirty="0"/>
          </a:p>
        </p:txBody>
      </p:sp>
      <p:sp>
        <p:nvSpPr>
          <p:cNvPr id="9" name="Text 7"/>
          <p:cNvSpPr/>
          <p:nvPr/>
        </p:nvSpPr>
        <p:spPr>
          <a:xfrm>
            <a:off x="685800" y="1627632"/>
            <a:ext cx="5029200" cy="50292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4,000 simulated runs, varying the inputs the tool is least sure about. Tooling is varied most; overhead and margin are policy, so they follow.</a:t>
            </a:r>
            <a:endParaRPr lang="en-US" sz="1050" dirty="0"/>
          </a:p>
        </p:txBody>
      </p:sp>
      <p:sp>
        <p:nvSpPr>
          <p:cNvPr id="10" name="Shape 8"/>
          <p:cNvSpPr/>
          <p:nvPr/>
        </p:nvSpPr>
        <p:spPr>
          <a:xfrm>
            <a:off x="685800" y="2249424"/>
            <a:ext cx="5029200" cy="310896"/>
          </a:xfrm>
          <a:prstGeom prst="roundRect">
            <a:avLst>
              <a:gd name="adj" fmla="val 50000"/>
            </a:avLst>
          </a:prstGeom>
          <a:solidFill>
            <a:srgbClr val="DCE3EE"/>
          </a:solidFill>
          <a:ln/>
        </p:spPr>
      </p:sp>
      <p:sp>
        <p:nvSpPr>
          <p:cNvPr id="11" name="Shape 9"/>
          <p:cNvSpPr/>
          <p:nvPr/>
        </p:nvSpPr>
        <p:spPr>
          <a:xfrm>
            <a:off x="1671066" y="2249424"/>
            <a:ext cx="2987802" cy="310896"/>
          </a:xfrm>
          <a:prstGeom prst="roundRect">
            <a:avLst>
              <a:gd name="adj" fmla="val 50000"/>
            </a:avLst>
          </a:prstGeom>
          <a:solidFill>
            <a:srgbClr val="0E8074"/>
          </a:solidFill>
          <a:ln/>
        </p:spPr>
      </p:sp>
      <p:sp>
        <p:nvSpPr>
          <p:cNvPr id="12" name="Shape 10"/>
          <p:cNvSpPr/>
          <p:nvPr/>
        </p:nvSpPr>
        <p:spPr>
          <a:xfrm>
            <a:off x="3071927" y="2176272"/>
            <a:ext cx="51206" cy="457200"/>
          </a:xfrm>
          <a:prstGeom prst="rect">
            <a:avLst/>
          </a:prstGeom>
          <a:solidFill>
            <a:srgbClr val="16325C"/>
          </a:solidFill>
          <a:ln/>
        </p:spPr>
      </p:sp>
      <p:sp>
        <p:nvSpPr>
          <p:cNvPr id="13" name="Text 11"/>
          <p:cNvSpPr/>
          <p:nvPr/>
        </p:nvSpPr>
        <p:spPr>
          <a:xfrm>
            <a:off x="1168146" y="2651760"/>
            <a:ext cx="1005840" cy="219456"/>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P10  £32.31</a:t>
            </a:r>
            <a:endParaRPr lang="en-US" sz="900" dirty="0"/>
          </a:p>
        </p:txBody>
      </p:sp>
      <p:sp>
        <p:nvSpPr>
          <p:cNvPr id="14" name="Text 12"/>
          <p:cNvSpPr/>
          <p:nvPr/>
        </p:nvSpPr>
        <p:spPr>
          <a:xfrm>
            <a:off x="2548890" y="2651760"/>
            <a:ext cx="1097280" cy="219456"/>
          </a:xfrm>
          <a:prstGeom prst="rect">
            <a:avLst/>
          </a:prstGeom>
          <a:noFill/>
          <a:ln/>
        </p:spPr>
        <p:txBody>
          <a:bodyPr wrap="square" lIns="0" tIns="0" rIns="0" bIns="0" rtlCol="0" anchor="ctr"/>
          <a:lstStyle/>
          <a:p>
            <a:pPr algn="ctr" indent="0" marL="0">
              <a:buNone/>
            </a:pPr>
            <a:r>
              <a:rPr lang="en-US" sz="1050" b="1" dirty="0">
                <a:solidFill>
                  <a:srgbClr val="16325C"/>
                </a:solidFill>
                <a:latin typeface="Calibri" pitchFamily="34" charset="0"/>
                <a:ea typeface="Calibri" pitchFamily="34" charset="-122"/>
                <a:cs typeface="Calibri" pitchFamily="34" charset="-120"/>
              </a:rPr>
              <a:t>£38.55</a:t>
            </a:r>
            <a:endParaRPr lang="en-US" sz="1050" dirty="0"/>
          </a:p>
        </p:txBody>
      </p:sp>
      <p:sp>
        <p:nvSpPr>
          <p:cNvPr id="15" name="Text 13"/>
          <p:cNvSpPr/>
          <p:nvPr/>
        </p:nvSpPr>
        <p:spPr>
          <a:xfrm>
            <a:off x="4155948" y="2651760"/>
            <a:ext cx="1005840" cy="219456"/>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P90  £45.38</a:t>
            </a:r>
            <a:endParaRPr lang="en-US" sz="900" dirty="0"/>
          </a:p>
        </p:txBody>
      </p:sp>
      <p:sp>
        <p:nvSpPr>
          <p:cNvPr id="16" name="Text 14"/>
          <p:cNvSpPr/>
          <p:nvPr/>
        </p:nvSpPr>
        <p:spPr>
          <a:xfrm>
            <a:off x="685800" y="2926080"/>
            <a:ext cx="5029200" cy="384048"/>
          </a:xfrm>
          <a:prstGeom prst="rect">
            <a:avLst/>
          </a:prstGeom>
          <a:noFill/>
          <a:ln/>
        </p:spPr>
        <p:txBody>
          <a:bodyPr wrap="square" lIns="0" tIns="0" rIns="0" bIns="0" rtlCol="0" anchor="t"/>
          <a:lstStyle/>
          <a:p>
            <a:pPr indent="0" marL="0">
              <a:buNone/>
            </a:pPr>
            <a:r>
              <a:rPr lang="en-US" sz="960" i="1" dirty="0">
                <a:solidFill>
                  <a:srgbClr val="6B7280"/>
                </a:solidFill>
                <a:latin typeface="Calibri" pitchFamily="34" charset="0"/>
                <a:ea typeface="Calibri" pitchFamily="34" charset="-122"/>
                <a:cs typeface="Calibri" pitchFamily="34" charset="-120"/>
              </a:rPr>
              <a:t>±17% on this part. The band widens when the tool is less certain — a machining-heavy casting carries more cycle-time risk than a simple pressing.</a:t>
            </a:r>
            <a:endParaRPr lang="en-US" sz="960" dirty="0"/>
          </a:p>
        </p:txBody>
      </p:sp>
      <p:sp>
        <p:nvSpPr>
          <p:cNvPr id="17" name="Shape 15"/>
          <p:cNvSpPr/>
          <p:nvPr/>
        </p:nvSpPr>
        <p:spPr>
          <a:xfrm>
            <a:off x="6172200" y="1188720"/>
            <a:ext cx="5559552" cy="2148840"/>
          </a:xfrm>
          <a:prstGeom prst="roundRect">
            <a:avLst>
              <a:gd name="adj" fmla="val 4255"/>
            </a:avLst>
          </a:prstGeom>
          <a:solidFill>
            <a:srgbClr val="EAF6EF"/>
          </a:solidFill>
          <a:ln w="15875">
            <a:solidFill>
              <a:srgbClr val="2E8B57"/>
            </a:solidFill>
            <a:prstDash val="solid"/>
          </a:ln>
        </p:spPr>
      </p:sp>
      <p:sp>
        <p:nvSpPr>
          <p:cNvPr id="18" name="Text 16"/>
          <p:cNvSpPr/>
          <p:nvPr/>
        </p:nvSpPr>
        <p:spPr>
          <a:xfrm>
            <a:off x="6400800" y="1316736"/>
            <a:ext cx="5029200" cy="274320"/>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12 · What the engineer actually gets</a:t>
            </a:r>
            <a:endParaRPr lang="en-US" sz="1300" dirty="0"/>
          </a:p>
        </p:txBody>
      </p:sp>
      <p:pic>
        <p:nvPicPr>
          <p:cNvPr id="19" name="Image 0" descr="preencoded.png">    </p:cNvPr>
          <p:cNvPicPr>
            <a:picLocks noChangeAspect="1"/>
          </p:cNvPicPr>
          <p:nvPr/>
        </p:nvPicPr>
        <p:blipFill>
          <a:blip r:embed="rId1"/>
          <a:stretch>
            <a:fillRect/>
          </a:stretch>
        </p:blipFill>
        <p:spPr>
          <a:xfrm>
            <a:off x="6446520" y="1700784"/>
            <a:ext cx="146304" cy="146304"/>
          </a:xfrm>
          <a:prstGeom prst="rect">
            <a:avLst/>
          </a:prstGeom>
        </p:spPr>
      </p:pic>
      <p:sp>
        <p:nvSpPr>
          <p:cNvPr id="20" name="Text 17"/>
          <p:cNvSpPr/>
          <p:nvPr/>
        </p:nvSpPr>
        <p:spPr>
          <a:xfrm>
            <a:off x="6693408" y="1636776"/>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The 8-bucket breakdown, with every figure traceable</a:t>
            </a:r>
            <a:endParaRPr lang="en-US" sz="1080" dirty="0"/>
          </a:p>
        </p:txBody>
      </p:sp>
      <p:pic>
        <p:nvPicPr>
          <p:cNvPr id="21" name="Image 1" descr="preencoded.png">    </p:cNvPr>
          <p:cNvPicPr>
            <a:picLocks noChangeAspect="1"/>
          </p:cNvPicPr>
          <p:nvPr/>
        </p:nvPicPr>
        <p:blipFill>
          <a:blip r:embed="rId2"/>
          <a:stretch>
            <a:fillRect/>
          </a:stretch>
        </p:blipFill>
        <p:spPr>
          <a:xfrm>
            <a:off x="6446520" y="2011680"/>
            <a:ext cx="146304" cy="146304"/>
          </a:xfrm>
          <a:prstGeom prst="rect">
            <a:avLst/>
          </a:prstGeom>
        </p:spPr>
      </p:pic>
      <p:sp>
        <p:nvSpPr>
          <p:cNvPr id="22" name="Text 18"/>
          <p:cNvSpPr/>
          <p:nvPr/>
        </p:nvSpPr>
        <p:spPr>
          <a:xfrm>
            <a:off x="6693408" y="1947672"/>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The operation list — what takes the time and why</a:t>
            </a:r>
            <a:endParaRPr lang="en-US" sz="1080" dirty="0"/>
          </a:p>
        </p:txBody>
      </p:sp>
      <p:pic>
        <p:nvPicPr>
          <p:cNvPr id="23" name="Image 2" descr="preencoded.png">    </p:cNvPr>
          <p:cNvPicPr>
            <a:picLocks noChangeAspect="1"/>
          </p:cNvPicPr>
          <p:nvPr/>
        </p:nvPicPr>
        <p:blipFill>
          <a:blip r:embed="rId3"/>
          <a:stretch>
            <a:fillRect/>
          </a:stretch>
        </p:blipFill>
        <p:spPr>
          <a:xfrm>
            <a:off x="6446520" y="2322576"/>
            <a:ext cx="146304" cy="146304"/>
          </a:xfrm>
          <a:prstGeom prst="rect">
            <a:avLst/>
          </a:prstGeom>
        </p:spPr>
      </p:pic>
      <p:sp>
        <p:nvSpPr>
          <p:cNvPr id="24" name="Text 19"/>
          <p:cNvSpPr/>
          <p:nvPr/>
        </p:nvSpPr>
        <p:spPr>
          <a:xfrm>
            <a:off x="6693408" y="2258568"/>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Every AI call made, flagged for confirmation</a:t>
            </a:r>
            <a:endParaRPr lang="en-US" sz="1080" dirty="0"/>
          </a:p>
        </p:txBody>
      </p:sp>
      <p:pic>
        <p:nvPicPr>
          <p:cNvPr id="25" name="Image 3" descr="preencoded.png">    </p:cNvPr>
          <p:cNvPicPr>
            <a:picLocks noChangeAspect="1"/>
          </p:cNvPicPr>
          <p:nvPr/>
        </p:nvPicPr>
        <p:blipFill>
          <a:blip r:embed="rId4"/>
          <a:stretch>
            <a:fillRect/>
          </a:stretch>
        </p:blipFill>
        <p:spPr>
          <a:xfrm>
            <a:off x="6446520" y="2633472"/>
            <a:ext cx="146304" cy="146304"/>
          </a:xfrm>
          <a:prstGeom prst="rect">
            <a:avLst/>
          </a:prstGeom>
        </p:spPr>
      </p:pic>
      <p:sp>
        <p:nvSpPr>
          <p:cNvPr id="26" name="Text 20"/>
          <p:cNvSpPr/>
          <p:nvPr/>
        </p:nvSpPr>
        <p:spPr>
          <a:xfrm>
            <a:off x="6693408" y="2569464"/>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Every autocorrection, with what changed and why</a:t>
            </a:r>
            <a:endParaRPr lang="en-US" sz="1080" dirty="0"/>
          </a:p>
        </p:txBody>
      </p:sp>
      <p:pic>
        <p:nvPicPr>
          <p:cNvPr id="27" name="Image 4" descr="preencoded.png">    </p:cNvPr>
          <p:cNvPicPr>
            <a:picLocks noChangeAspect="1"/>
          </p:cNvPicPr>
          <p:nvPr/>
        </p:nvPicPr>
        <p:blipFill>
          <a:blip r:embed="rId5"/>
          <a:stretch>
            <a:fillRect/>
          </a:stretch>
        </p:blipFill>
        <p:spPr>
          <a:xfrm>
            <a:off x="6446520" y="2944368"/>
            <a:ext cx="146304" cy="146304"/>
          </a:xfrm>
          <a:prstGeom prst="rect">
            <a:avLst/>
          </a:prstGeom>
        </p:spPr>
      </p:pic>
      <p:sp>
        <p:nvSpPr>
          <p:cNvPr id="28" name="Text 21"/>
          <p:cNvSpPr/>
          <p:nvPr/>
        </p:nvSpPr>
        <p:spPr>
          <a:xfrm>
            <a:off x="6693408" y="2880360"/>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Country comparison, and an exportable report</a:t>
            </a:r>
            <a:endParaRPr lang="en-US" sz="1080" dirty="0"/>
          </a:p>
        </p:txBody>
      </p:sp>
      <p:sp>
        <p:nvSpPr>
          <p:cNvPr id="29" name="Shape 22"/>
          <p:cNvSpPr/>
          <p:nvPr/>
        </p:nvSpPr>
        <p:spPr>
          <a:xfrm>
            <a:off x="457200" y="3547872"/>
            <a:ext cx="11274552" cy="1280160"/>
          </a:xfrm>
          <a:prstGeom prst="roundRect">
            <a:avLst>
              <a:gd name="adj" fmla="val 7143"/>
            </a:avLst>
          </a:prstGeom>
          <a:solidFill>
            <a:srgbClr val="FFFFFF"/>
          </a:solidFill>
          <a:ln w="19050">
            <a:solidFill>
              <a:srgbClr val="2E8B57"/>
            </a:solidFill>
            <a:prstDash val="solid"/>
          </a:ln>
        </p:spPr>
      </p:sp>
      <p:sp>
        <p:nvSpPr>
          <p:cNvPr id="30" name="Shape 23"/>
          <p:cNvSpPr/>
          <p:nvPr/>
        </p:nvSpPr>
        <p:spPr>
          <a:xfrm>
            <a:off x="713232" y="3858768"/>
            <a:ext cx="548640" cy="548640"/>
          </a:xfrm>
          <a:prstGeom prst="ellipse">
            <a:avLst/>
          </a:prstGeom>
          <a:solidFill>
            <a:srgbClr val="2E8B57"/>
          </a:solidFill>
          <a:ln/>
        </p:spPr>
      </p:sp>
      <p:pic>
        <p:nvPicPr>
          <p:cNvPr id="31" name="Image 5" descr="preencoded.png">    </p:cNvPr>
          <p:cNvPicPr>
            <a:picLocks noChangeAspect="1"/>
          </p:cNvPicPr>
          <p:nvPr/>
        </p:nvPicPr>
        <p:blipFill>
          <a:blip r:embed="rId6"/>
          <a:stretch>
            <a:fillRect/>
          </a:stretch>
        </p:blipFill>
        <p:spPr>
          <a:xfrm>
            <a:off x="859536" y="4005072"/>
            <a:ext cx="256032" cy="256032"/>
          </a:xfrm>
          <a:prstGeom prst="rect">
            <a:avLst/>
          </a:prstGeom>
        </p:spPr>
      </p:pic>
      <p:sp>
        <p:nvSpPr>
          <p:cNvPr id="32" name="Text 24"/>
          <p:cNvSpPr/>
          <p:nvPr/>
        </p:nvSpPr>
        <p:spPr>
          <a:xfrm>
            <a:off x="1463040" y="3657600"/>
            <a:ext cx="10058400" cy="274320"/>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Nothing leaves the tool unapproved</a:t>
            </a:r>
            <a:endParaRPr lang="en-US" sz="1300" dirty="0"/>
          </a:p>
        </p:txBody>
      </p:sp>
      <p:sp>
        <p:nvSpPr>
          <p:cNvPr id="33" name="Text 25"/>
          <p:cNvSpPr/>
          <p:nvPr/>
        </p:nvSpPr>
        <p:spPr>
          <a:xfrm>
            <a:off x="1463040" y="3968496"/>
            <a:ext cx="10058400" cy="777240"/>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Every AI suggestion arrives as an editable pre-fill — highlighted, never silently applied. </a:t>
            </a:r>
            <a:pPr indent="0" marL="0">
              <a:buNone/>
            </a:pPr>
            <a:r>
              <a:rPr lang="en-US" sz="1150" b="1" dirty="0">
                <a:solidFill>
                  <a:srgbClr val="16325C"/>
                </a:solidFill>
                <a:latin typeface="Calibri" pitchFamily="34" charset="0"/>
                <a:ea typeface="Calibri" pitchFamily="34" charset="-122"/>
                <a:cs typeface="Calibri" pitchFamily="34" charset="-120"/>
              </a:rPr>
              <a:t>Our engineer can change the material, the process, the machine, the cycle time or the rates, and the whole cost recalculates instantly. </a:t>
            </a:r>
            <a:pPr indent="0" marL="0">
              <a:buNone/>
            </a:pPr>
            <a:r>
              <a:rPr lang="en-US" sz="1150" dirty="0">
                <a:solidFill>
                  <a:srgbClr val="3A4356"/>
                </a:solidFill>
                <a:latin typeface="Calibri" pitchFamily="34" charset="0"/>
                <a:ea typeface="Calibri" pitchFamily="34" charset="-122"/>
                <a:cs typeface="Calibri" pitchFamily="34" charset="-120"/>
              </a:rPr>
              <a:t>The tool proposes. The engineer disposes. That is the last line of defence, and it is a person.</a:t>
            </a:r>
            <a:endParaRPr lang="en-US" sz="1150" dirty="0"/>
          </a:p>
        </p:txBody>
      </p:sp>
      <p:sp>
        <p:nvSpPr>
          <p:cNvPr id="34" name="Shape 26"/>
          <p:cNvSpPr/>
          <p:nvPr/>
        </p:nvSpPr>
        <p:spPr>
          <a:xfrm>
            <a:off x="457200" y="5010912"/>
            <a:ext cx="11274552" cy="1261872"/>
          </a:xfrm>
          <a:prstGeom prst="roundRect">
            <a:avLst>
              <a:gd name="adj" fmla="val 7246"/>
            </a:avLst>
          </a:prstGeom>
          <a:solidFill>
            <a:srgbClr val="16325C"/>
          </a:solidFill>
          <a:ln/>
        </p:spPr>
      </p:sp>
      <p:sp>
        <p:nvSpPr>
          <p:cNvPr id="35" name="Text 27"/>
          <p:cNvSpPr/>
          <p:nvPr/>
        </p:nvSpPr>
        <p:spPr>
          <a:xfrm>
            <a:off x="777240" y="5120640"/>
            <a:ext cx="10652760" cy="1051560"/>
          </a:xfrm>
          <a:prstGeom prst="rect">
            <a:avLst/>
          </a:prstGeom>
          <a:noFill/>
          <a:ln/>
        </p:spPr>
        <p:txBody>
          <a:bodyPr wrap="square" lIns="0" tIns="0" rIns="0" bIns="0" rtlCol="0" anchor="ctr"/>
          <a:lstStyle/>
          <a:p>
            <a:pPr indent="0" marL="0">
              <a:buNone/>
            </a:pPr>
            <a:r>
              <a:rPr lang="en-US" sz="1300" b="1" dirty="0">
                <a:solidFill>
                  <a:srgbClr val="9FB6E0"/>
                </a:solidFill>
                <a:latin typeface="Calibri" pitchFamily="34" charset="0"/>
                <a:ea typeface="Calibri" pitchFamily="34" charset="-122"/>
                <a:cs typeface="Calibri" pitchFamily="34" charset="-120"/>
              </a:rPr>
              <a:t>And if a supplier quotes £52 for this part?  </a:t>
            </a:r>
            <a:pPr indent="0" marL="0">
              <a:buNone/>
            </a:pPr>
            <a:r>
              <a:rPr lang="en-US" sz="1300" dirty="0">
                <a:solidFill>
                  <a:srgbClr val="FFFFFF"/>
                </a:solidFill>
                <a:latin typeface="Calibri" pitchFamily="34" charset="0"/>
                <a:ea typeface="Calibri" pitchFamily="34" charset="-122"/>
                <a:cs typeface="Calibri" pitchFamily="34" charset="-120"/>
              </a:rPr>
              <a:t>That is above the P90. Our buyer no longer has to feel it is high — they can see it, line by line, and ask the right question:  </a:t>
            </a:r>
            <a:pPr indent="0" marL="0">
              <a:buNone/>
            </a:pPr>
            <a:r>
              <a:rPr lang="en-US" sz="1300" b="1" i="1" dirty="0">
                <a:solidFill>
                  <a:srgbClr val="FFFFFF"/>
                </a:solidFill>
                <a:latin typeface="Calibri" pitchFamily="34" charset="0"/>
                <a:ea typeface="Calibri" pitchFamily="34" charset="-122"/>
                <a:cs typeface="Calibri" pitchFamily="34" charset="-120"/>
              </a:rPr>
              <a:t>"your machining time looks about 30% above what this geometry needs — walk me through your fixturing."</a:t>
            </a:r>
            <a:endParaRPr lang="en-US" sz="1300" dirty="0"/>
          </a:p>
        </p:txBody>
      </p:sp>
      <p:sp>
        <p:nvSpPr>
          <p:cNvPr id="36" name="Text 2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2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Inside the Confidence Band — How the Monte-Carlo Works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What the P10–P90 range actually is, and why the same part always gets the same band</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2E8B57"/>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70432"/>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Every line carries a confidence grade</a:t>
            </a:r>
            <a:endParaRPr lang="en-US" sz="1050" dirty="0"/>
          </a:p>
        </p:txBody>
      </p:sp>
      <p:sp>
        <p:nvSpPr>
          <p:cNvPr id="9" name="Text 7"/>
          <p:cNvSpPr/>
          <p:nvPr/>
        </p:nvSpPr>
        <p:spPr>
          <a:xfrm>
            <a:off x="1097280" y="1426464"/>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Each cost line remembers where it came from: measured geometry and library rates grade High, derived values Medium, assumptions Low. This provenance already exists for the trace — the band re-uses it.</a:t>
            </a:r>
            <a:endParaRPr lang="en-US" sz="86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2E8B57"/>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40864"/>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Grade becomes a spread</a:t>
            </a:r>
            <a:endParaRPr lang="en-US" sz="1050" dirty="0"/>
          </a:p>
        </p:txBody>
      </p:sp>
      <p:sp>
        <p:nvSpPr>
          <p:cNvPr id="14" name="Text 12"/>
          <p:cNvSpPr/>
          <p:nvPr/>
        </p:nvSpPr>
        <p:spPr>
          <a:xfrm>
            <a:off x="1097280" y="2596896"/>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High = ±5%, Medium = ±12%, Low = ±22% (one sigma). Per-bucket reality applied on top: tooling estimates are the least certain (×1.8); packaging and logistics are contracted and stable (×0.6); overhead and margin are policy percentages — never perturbed, always recomputed.</a:t>
            </a:r>
            <a:endParaRPr lang="en-US" sz="86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2E8B57"/>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511296"/>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4,000 trials</a:t>
            </a:r>
            <a:endParaRPr lang="en-US" sz="1050" dirty="0"/>
          </a:p>
        </p:txBody>
      </p:sp>
      <p:sp>
        <p:nvSpPr>
          <p:cNvPr id="19" name="Text 17"/>
          <p:cNvSpPr/>
          <p:nvPr/>
        </p:nvSpPr>
        <p:spPr>
          <a:xfrm>
            <a:off x="1097280" y="3767328"/>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Each trial multiplies every base bucket — material, process, labour, tooling, packaging, logistics — by a lognormal factor with that spread (always positive, mean 1), then recomposes overhead and margin exactly as the real engine does. 4,000 slightly different worlds, 4,000 totals.</a:t>
            </a:r>
            <a:endParaRPr lang="en-US" sz="86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2E8B57"/>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81728"/>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Read the distribution</a:t>
            </a:r>
            <a:endParaRPr lang="en-US" sz="1050" dirty="0"/>
          </a:p>
        </p:txBody>
      </p:sp>
      <p:sp>
        <p:nvSpPr>
          <p:cNvPr id="24" name="Text 22"/>
          <p:cNvSpPr/>
          <p:nvPr/>
        </p:nvSpPr>
        <p:spPr>
          <a:xfrm>
            <a:off x="1097280" y="4937760"/>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Sort the 4,000 totals: the 10th percentile is the optimistic case, the median is the estimate, the 90th is the conservative case. The half-width becomes the ± figure on the result card, and the band is labelled tight, moderate or wide.</a:t>
            </a:r>
            <a:endParaRPr lang="en-US" sz="86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2E8B57"/>
                </a:solidFill>
                <a:latin typeface="Calibri" pitchFamily="34" charset="0"/>
                <a:ea typeface="Calibri" pitchFamily="34" charset="-122"/>
                <a:cs typeface="Calibri" pitchFamily="34" charset="-120"/>
              </a:rPr>
              <a:t>WHAT THE BUYER SEES</a:t>
            </a:r>
            <a:endParaRPr lang="en-US" sz="850" dirty="0"/>
          </a:p>
        </p:txBody>
      </p:sp>
      <p:sp>
        <p:nvSpPr>
          <p:cNvPr id="26" name="Shape 24"/>
          <p:cNvSpPr/>
          <p:nvPr/>
        </p:nvSpPr>
        <p:spPr>
          <a:xfrm>
            <a:off x="7269480" y="1298448"/>
            <a:ext cx="4462272" cy="1737360"/>
          </a:xfrm>
          <a:prstGeom prst="roundRect">
            <a:avLst>
              <a:gd name="adj" fmla="val 4737"/>
            </a:avLst>
          </a:prstGeom>
          <a:solidFill>
            <a:srgbClr val="FFFFFF"/>
          </a:solidFill>
          <a:ln w="12700">
            <a:solidFill>
              <a:srgbClr val="DCE3EE"/>
            </a:solidFill>
            <a:prstDash val="solid"/>
          </a:ln>
        </p:spPr>
      </p:sp>
      <p:sp>
        <p:nvSpPr>
          <p:cNvPr id="27" name="Shape 25"/>
          <p:cNvSpPr/>
          <p:nvPr/>
        </p:nvSpPr>
        <p:spPr>
          <a:xfrm>
            <a:off x="7635240" y="2308860"/>
            <a:ext cx="274320" cy="86868"/>
          </a:xfrm>
          <a:prstGeom prst="rect">
            <a:avLst/>
          </a:prstGeom>
          <a:solidFill>
            <a:srgbClr val="DCE3EE"/>
          </a:solidFill>
          <a:ln/>
        </p:spPr>
      </p:sp>
      <p:sp>
        <p:nvSpPr>
          <p:cNvPr id="28" name="Shape 26"/>
          <p:cNvSpPr/>
          <p:nvPr/>
        </p:nvSpPr>
        <p:spPr>
          <a:xfrm>
            <a:off x="7982712" y="2204618"/>
            <a:ext cx="274320" cy="191110"/>
          </a:xfrm>
          <a:prstGeom prst="rect">
            <a:avLst/>
          </a:prstGeom>
          <a:solidFill>
            <a:srgbClr val="9FD9CF"/>
          </a:solidFill>
          <a:ln/>
        </p:spPr>
      </p:sp>
      <p:sp>
        <p:nvSpPr>
          <p:cNvPr id="29" name="Shape 27"/>
          <p:cNvSpPr/>
          <p:nvPr/>
        </p:nvSpPr>
        <p:spPr>
          <a:xfrm>
            <a:off x="8330184" y="2013509"/>
            <a:ext cx="274320" cy="382219"/>
          </a:xfrm>
          <a:prstGeom prst="rect">
            <a:avLst/>
          </a:prstGeom>
          <a:solidFill>
            <a:srgbClr val="9FD9CF"/>
          </a:solidFill>
          <a:ln/>
        </p:spPr>
      </p:sp>
      <p:sp>
        <p:nvSpPr>
          <p:cNvPr id="30" name="Shape 28"/>
          <p:cNvSpPr/>
          <p:nvPr/>
        </p:nvSpPr>
        <p:spPr>
          <a:xfrm>
            <a:off x="8677656" y="1770278"/>
            <a:ext cx="274320" cy="625450"/>
          </a:xfrm>
          <a:prstGeom prst="rect">
            <a:avLst/>
          </a:prstGeom>
          <a:solidFill>
            <a:srgbClr val="9FD9CF"/>
          </a:solidFill>
          <a:ln/>
        </p:spPr>
      </p:sp>
      <p:sp>
        <p:nvSpPr>
          <p:cNvPr id="31" name="Shape 29"/>
          <p:cNvSpPr/>
          <p:nvPr/>
        </p:nvSpPr>
        <p:spPr>
          <a:xfrm>
            <a:off x="9025128" y="1570482"/>
            <a:ext cx="274320" cy="825246"/>
          </a:xfrm>
          <a:prstGeom prst="rect">
            <a:avLst/>
          </a:prstGeom>
          <a:solidFill>
            <a:srgbClr val="9FD9CF"/>
          </a:solidFill>
          <a:ln/>
        </p:spPr>
      </p:sp>
      <p:sp>
        <p:nvSpPr>
          <p:cNvPr id="32" name="Shape 30"/>
          <p:cNvSpPr/>
          <p:nvPr/>
        </p:nvSpPr>
        <p:spPr>
          <a:xfrm>
            <a:off x="9372600" y="1527048"/>
            <a:ext cx="274320" cy="868680"/>
          </a:xfrm>
          <a:prstGeom prst="rect">
            <a:avLst/>
          </a:prstGeom>
          <a:solidFill>
            <a:srgbClr val="9FD9CF"/>
          </a:solidFill>
          <a:ln/>
        </p:spPr>
      </p:sp>
      <p:sp>
        <p:nvSpPr>
          <p:cNvPr id="33" name="Shape 31"/>
          <p:cNvSpPr/>
          <p:nvPr/>
        </p:nvSpPr>
        <p:spPr>
          <a:xfrm>
            <a:off x="9720072" y="1631290"/>
            <a:ext cx="274320" cy="764438"/>
          </a:xfrm>
          <a:prstGeom prst="rect">
            <a:avLst/>
          </a:prstGeom>
          <a:solidFill>
            <a:srgbClr val="9FD9CF"/>
          </a:solidFill>
          <a:ln/>
        </p:spPr>
      </p:sp>
      <p:sp>
        <p:nvSpPr>
          <p:cNvPr id="34" name="Shape 32"/>
          <p:cNvSpPr/>
          <p:nvPr/>
        </p:nvSpPr>
        <p:spPr>
          <a:xfrm>
            <a:off x="10067544" y="1857146"/>
            <a:ext cx="274320" cy="538582"/>
          </a:xfrm>
          <a:prstGeom prst="rect">
            <a:avLst/>
          </a:prstGeom>
          <a:solidFill>
            <a:srgbClr val="9FD9CF"/>
          </a:solidFill>
          <a:ln/>
        </p:spPr>
      </p:sp>
      <p:sp>
        <p:nvSpPr>
          <p:cNvPr id="35" name="Shape 33"/>
          <p:cNvSpPr/>
          <p:nvPr/>
        </p:nvSpPr>
        <p:spPr>
          <a:xfrm>
            <a:off x="10415016" y="2065630"/>
            <a:ext cx="274320" cy="330098"/>
          </a:xfrm>
          <a:prstGeom prst="rect">
            <a:avLst/>
          </a:prstGeom>
          <a:solidFill>
            <a:srgbClr val="9FD9CF"/>
          </a:solidFill>
          <a:ln/>
        </p:spPr>
      </p:sp>
      <p:sp>
        <p:nvSpPr>
          <p:cNvPr id="36" name="Shape 34"/>
          <p:cNvSpPr/>
          <p:nvPr/>
        </p:nvSpPr>
        <p:spPr>
          <a:xfrm>
            <a:off x="10762488" y="2239366"/>
            <a:ext cx="274320" cy="156362"/>
          </a:xfrm>
          <a:prstGeom prst="rect">
            <a:avLst/>
          </a:prstGeom>
          <a:solidFill>
            <a:srgbClr val="9FD9CF"/>
          </a:solidFill>
          <a:ln/>
        </p:spPr>
      </p:sp>
      <p:sp>
        <p:nvSpPr>
          <p:cNvPr id="37" name="Shape 35"/>
          <p:cNvSpPr/>
          <p:nvPr/>
        </p:nvSpPr>
        <p:spPr>
          <a:xfrm>
            <a:off x="11109960" y="2326234"/>
            <a:ext cx="274320" cy="69494"/>
          </a:xfrm>
          <a:prstGeom prst="rect">
            <a:avLst/>
          </a:prstGeom>
          <a:solidFill>
            <a:srgbClr val="DCE3EE"/>
          </a:solidFill>
          <a:ln/>
        </p:spPr>
      </p:sp>
      <p:sp>
        <p:nvSpPr>
          <p:cNvPr id="38" name="Shape 36"/>
          <p:cNvSpPr/>
          <p:nvPr/>
        </p:nvSpPr>
        <p:spPr>
          <a:xfrm>
            <a:off x="7982712" y="2487168"/>
            <a:ext cx="2779776" cy="0"/>
          </a:xfrm>
          <a:prstGeom prst="line">
            <a:avLst/>
          </a:prstGeom>
          <a:noFill/>
          <a:ln w="25400">
            <a:solidFill>
              <a:srgbClr val="0E8074"/>
            </a:solidFill>
            <a:prstDash val="solid"/>
          </a:ln>
        </p:spPr>
      </p:sp>
      <p:sp>
        <p:nvSpPr>
          <p:cNvPr id="39" name="Text 37"/>
          <p:cNvSpPr/>
          <p:nvPr/>
        </p:nvSpPr>
        <p:spPr>
          <a:xfrm>
            <a:off x="7818120" y="2542032"/>
            <a:ext cx="457200" cy="182880"/>
          </a:xfrm>
          <a:prstGeom prst="rect">
            <a:avLst/>
          </a:prstGeom>
          <a:noFill/>
          <a:ln/>
        </p:spPr>
        <p:txBody>
          <a:bodyPr wrap="square" lIns="0" tIns="0" rIns="0" bIns="0" rtlCol="0" anchor="ctr"/>
          <a:lstStyle/>
          <a:p>
            <a:pPr indent="0" marL="0">
              <a:buNone/>
            </a:pPr>
            <a:r>
              <a:rPr lang="en-US" sz="800" b="1" dirty="0">
                <a:solidFill>
                  <a:srgbClr val="0E8074"/>
                </a:solidFill>
                <a:latin typeface="Calibri" pitchFamily="34" charset="0"/>
                <a:ea typeface="Calibri" pitchFamily="34" charset="-122"/>
                <a:cs typeface="Calibri" pitchFamily="34" charset="-120"/>
              </a:rPr>
              <a:t>P10</a:t>
            </a:r>
            <a:endParaRPr lang="en-US" sz="800" dirty="0"/>
          </a:p>
        </p:txBody>
      </p:sp>
      <p:sp>
        <p:nvSpPr>
          <p:cNvPr id="40" name="Text 38"/>
          <p:cNvSpPr/>
          <p:nvPr/>
        </p:nvSpPr>
        <p:spPr>
          <a:xfrm>
            <a:off x="8823960" y="2542032"/>
            <a:ext cx="1371600" cy="182880"/>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P50 — the estimate</a:t>
            </a:r>
            <a:endParaRPr lang="en-US" sz="800" dirty="0"/>
          </a:p>
        </p:txBody>
      </p:sp>
      <p:sp>
        <p:nvSpPr>
          <p:cNvPr id="41" name="Text 39"/>
          <p:cNvSpPr/>
          <p:nvPr/>
        </p:nvSpPr>
        <p:spPr>
          <a:xfrm>
            <a:off x="10561320" y="2542032"/>
            <a:ext cx="457200" cy="182880"/>
          </a:xfrm>
          <a:prstGeom prst="rect">
            <a:avLst/>
          </a:prstGeom>
          <a:noFill/>
          <a:ln/>
        </p:spPr>
        <p:txBody>
          <a:bodyPr wrap="square" lIns="0" tIns="0" rIns="0" bIns="0" rtlCol="0" anchor="ctr"/>
          <a:lstStyle/>
          <a:p>
            <a:pPr indent="0" marL="0">
              <a:buNone/>
            </a:pPr>
            <a:r>
              <a:rPr lang="en-US" sz="800" b="1" dirty="0">
                <a:solidFill>
                  <a:srgbClr val="0E8074"/>
                </a:solidFill>
                <a:latin typeface="Calibri" pitchFamily="34" charset="0"/>
                <a:ea typeface="Calibri" pitchFamily="34" charset="-122"/>
                <a:cs typeface="Calibri" pitchFamily="34" charset="-120"/>
              </a:rPr>
              <a:t>P90</a:t>
            </a:r>
            <a:endParaRPr lang="en-US" sz="800" dirty="0"/>
          </a:p>
        </p:txBody>
      </p:sp>
      <p:sp>
        <p:nvSpPr>
          <p:cNvPr id="42" name="Text 40"/>
          <p:cNvSpPr/>
          <p:nvPr/>
        </p:nvSpPr>
        <p:spPr>
          <a:xfrm>
            <a:off x="7452360" y="2761488"/>
            <a:ext cx="4114800" cy="219456"/>
          </a:xfrm>
          <a:prstGeom prst="rect">
            <a:avLst/>
          </a:prstGeom>
          <a:noFill/>
          <a:ln/>
        </p:spPr>
        <p:txBody>
          <a:bodyPr wrap="square" lIns="0" tIns="0" rIns="0" bIns="0" rtlCol="0" anchor="ctr"/>
          <a:lstStyle/>
          <a:p>
            <a:pPr indent="0" marL="0">
              <a:buNone/>
            </a:pPr>
            <a:r>
              <a:rPr lang="en-US" sz="780" i="1" dirty="0">
                <a:solidFill>
                  <a:srgbClr val="6B7280"/>
                </a:solidFill>
                <a:latin typeface="Calibri" pitchFamily="34" charset="0"/>
                <a:ea typeface="Calibri" pitchFamily="34" charset="-122"/>
                <a:cs typeface="Calibri" pitchFamily="34" charset="-120"/>
              </a:rPr>
              <a:t>4,000 simulated totals for one part (illustrative shape) — the quoted band is the middle 80%</a:t>
            </a:r>
            <a:endParaRPr lang="en-US" sz="780" dirty="0"/>
          </a:p>
        </p:txBody>
      </p:sp>
      <p:sp>
        <p:nvSpPr>
          <p:cNvPr id="43" name="Shape 41"/>
          <p:cNvSpPr/>
          <p:nvPr/>
        </p:nvSpPr>
        <p:spPr>
          <a:xfrm>
            <a:off x="7269480" y="3163824"/>
            <a:ext cx="4462272" cy="822960"/>
          </a:xfrm>
          <a:prstGeom prst="roundRect">
            <a:avLst>
              <a:gd name="adj" fmla="val 10000"/>
            </a:avLst>
          </a:prstGeom>
          <a:solidFill>
            <a:srgbClr val="FFFFFF"/>
          </a:solidFill>
          <a:ln w="12700">
            <a:solidFill>
              <a:srgbClr val="DCE3EE"/>
            </a:solidFill>
            <a:prstDash val="solid"/>
          </a:ln>
        </p:spPr>
      </p:sp>
      <p:sp>
        <p:nvSpPr>
          <p:cNvPr id="44" name="Shape 42"/>
          <p:cNvSpPr/>
          <p:nvPr/>
        </p:nvSpPr>
        <p:spPr>
          <a:xfrm>
            <a:off x="7397496" y="3264408"/>
            <a:ext cx="310896" cy="310896"/>
          </a:xfrm>
          <a:prstGeom prst="ellipse">
            <a:avLst/>
          </a:prstGeom>
          <a:solidFill>
            <a:srgbClr val="0E8074"/>
          </a:solidFill>
          <a:ln/>
        </p:spPr>
      </p:sp>
      <p:pic>
        <p:nvPicPr>
          <p:cNvPr id="45" name="Image 0" descr="preencoded.png">    </p:cNvPr>
          <p:cNvPicPr>
            <a:picLocks noChangeAspect="1"/>
          </p:cNvPicPr>
          <p:nvPr/>
        </p:nvPicPr>
        <p:blipFill>
          <a:blip r:embed="rId1"/>
          <a:stretch>
            <a:fillRect/>
          </a:stretch>
        </p:blipFill>
        <p:spPr>
          <a:xfrm>
            <a:off x="7470648" y="3337560"/>
            <a:ext cx="164592" cy="164592"/>
          </a:xfrm>
          <a:prstGeom prst="rect">
            <a:avLst/>
          </a:prstGeom>
        </p:spPr>
      </p:pic>
      <p:sp>
        <p:nvSpPr>
          <p:cNvPr id="46" name="Text 43"/>
          <p:cNvSpPr/>
          <p:nvPr/>
        </p:nvSpPr>
        <p:spPr>
          <a:xfrm>
            <a:off x="7790688" y="3246120"/>
            <a:ext cx="384048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Reproducible, on purpose</a:t>
            </a:r>
            <a:endParaRPr lang="en-US" sz="950" dirty="0"/>
          </a:p>
        </p:txBody>
      </p:sp>
      <p:sp>
        <p:nvSpPr>
          <p:cNvPr id="47" name="Text 44"/>
          <p:cNvSpPr/>
          <p:nvPr/>
        </p:nvSpPr>
        <p:spPr>
          <a:xfrm>
            <a:off x="7790688" y="3465576"/>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The random draws are seeded: the same part, volume and region gives the same band every single time, and the band is unit-tested. No "run it again and hope".</a:t>
            </a:r>
            <a:endParaRPr lang="en-US" sz="800" dirty="0"/>
          </a:p>
        </p:txBody>
      </p:sp>
      <p:sp>
        <p:nvSpPr>
          <p:cNvPr id="48" name="Shape 45"/>
          <p:cNvSpPr/>
          <p:nvPr/>
        </p:nvSpPr>
        <p:spPr>
          <a:xfrm>
            <a:off x="7269480" y="4069080"/>
            <a:ext cx="4462272" cy="822960"/>
          </a:xfrm>
          <a:prstGeom prst="roundRect">
            <a:avLst>
              <a:gd name="adj" fmla="val 10000"/>
            </a:avLst>
          </a:prstGeom>
          <a:solidFill>
            <a:srgbClr val="FFFFFF"/>
          </a:solidFill>
          <a:ln w="12700">
            <a:solidFill>
              <a:srgbClr val="DCE3EE"/>
            </a:solidFill>
            <a:prstDash val="solid"/>
          </a:ln>
        </p:spPr>
      </p:sp>
      <p:sp>
        <p:nvSpPr>
          <p:cNvPr id="49" name="Shape 46"/>
          <p:cNvSpPr/>
          <p:nvPr/>
        </p:nvSpPr>
        <p:spPr>
          <a:xfrm>
            <a:off x="7397496" y="4169664"/>
            <a:ext cx="310896" cy="310896"/>
          </a:xfrm>
          <a:prstGeom prst="ellipse">
            <a:avLst/>
          </a:prstGeom>
          <a:solidFill>
            <a:srgbClr val="2E8B57"/>
          </a:solidFill>
          <a:ln/>
        </p:spPr>
      </p:sp>
      <p:pic>
        <p:nvPicPr>
          <p:cNvPr id="50" name="Image 1" descr="preencoded.png">    </p:cNvPr>
          <p:cNvPicPr>
            <a:picLocks noChangeAspect="1"/>
          </p:cNvPicPr>
          <p:nvPr/>
        </p:nvPicPr>
        <p:blipFill>
          <a:blip r:embed="rId2"/>
          <a:stretch>
            <a:fillRect/>
          </a:stretch>
        </p:blipFill>
        <p:spPr>
          <a:xfrm>
            <a:off x="7470648" y="4242816"/>
            <a:ext cx="164592" cy="164592"/>
          </a:xfrm>
          <a:prstGeom prst="rect">
            <a:avLst/>
          </a:prstGeom>
        </p:spPr>
      </p:pic>
      <p:sp>
        <p:nvSpPr>
          <p:cNvPr id="51" name="Text 47"/>
          <p:cNvSpPr/>
          <p:nvPr/>
        </p:nvSpPr>
        <p:spPr>
          <a:xfrm>
            <a:off x="7790688" y="4151376"/>
            <a:ext cx="384048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Calibrated by real actuals</a:t>
            </a:r>
            <a:endParaRPr lang="en-US" sz="950" dirty="0"/>
          </a:p>
        </p:txBody>
      </p:sp>
      <p:sp>
        <p:nvSpPr>
          <p:cNvPr id="52" name="Text 48"/>
          <p:cNvSpPr/>
          <p:nvPr/>
        </p:nvSpPr>
        <p:spPr>
          <a:xfrm>
            <a:off x="7790688" y="4370832"/>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Once enough real quotes or invoices exist for a segment, a conformal calibration layer replaces the prior — the band then provably covers the target share of actual outcomes. Until then, the Monte-Carlo prior stands and says so.</a:t>
            </a:r>
            <a:endParaRPr lang="en-US" sz="800" dirty="0"/>
          </a:p>
        </p:txBody>
      </p:sp>
      <p:sp>
        <p:nvSpPr>
          <p:cNvPr id="53" name="Shape 49"/>
          <p:cNvSpPr/>
          <p:nvPr/>
        </p:nvSpPr>
        <p:spPr>
          <a:xfrm>
            <a:off x="7269480" y="4974336"/>
            <a:ext cx="4462272" cy="822960"/>
          </a:xfrm>
          <a:prstGeom prst="roundRect">
            <a:avLst>
              <a:gd name="adj" fmla="val 10000"/>
            </a:avLst>
          </a:prstGeom>
          <a:solidFill>
            <a:srgbClr val="FFFFFF"/>
          </a:solidFill>
          <a:ln w="12700">
            <a:solidFill>
              <a:srgbClr val="DCE3EE"/>
            </a:solidFill>
            <a:prstDash val="solid"/>
          </a:ln>
        </p:spPr>
      </p:sp>
      <p:sp>
        <p:nvSpPr>
          <p:cNvPr id="54" name="Shape 50"/>
          <p:cNvSpPr/>
          <p:nvPr/>
        </p:nvSpPr>
        <p:spPr>
          <a:xfrm>
            <a:off x="7397496" y="5074920"/>
            <a:ext cx="310896" cy="310896"/>
          </a:xfrm>
          <a:prstGeom prst="ellipse">
            <a:avLst/>
          </a:prstGeom>
          <a:solidFill>
            <a:srgbClr val="B7791F"/>
          </a:solidFill>
          <a:ln/>
        </p:spPr>
      </p:sp>
      <p:pic>
        <p:nvPicPr>
          <p:cNvPr id="55" name="Image 2" descr="preencoded.png">    </p:cNvPr>
          <p:cNvPicPr>
            <a:picLocks noChangeAspect="1"/>
          </p:cNvPicPr>
          <p:nvPr/>
        </p:nvPicPr>
        <p:blipFill>
          <a:blip r:embed="rId3"/>
          <a:stretch>
            <a:fillRect/>
          </a:stretch>
        </p:blipFill>
        <p:spPr>
          <a:xfrm>
            <a:off x="7470648" y="5148072"/>
            <a:ext cx="164592" cy="164592"/>
          </a:xfrm>
          <a:prstGeom prst="rect">
            <a:avLst/>
          </a:prstGeom>
        </p:spPr>
      </p:pic>
      <p:sp>
        <p:nvSpPr>
          <p:cNvPr id="56" name="Text 51"/>
          <p:cNvSpPr/>
          <p:nvPr/>
        </p:nvSpPr>
        <p:spPr>
          <a:xfrm>
            <a:off x="7790688" y="5056632"/>
            <a:ext cx="3840480" cy="201168"/>
          </a:xfrm>
          <a:prstGeom prst="rect">
            <a:avLst/>
          </a:prstGeom>
          <a:noFill/>
          <a:ln/>
        </p:spPr>
        <p:txBody>
          <a:bodyPr wrap="square" lIns="0" tIns="0" rIns="0" bIns="0" rtlCol="0" anchor="ctr"/>
          <a:lstStyle/>
          <a:p>
            <a:pPr indent="0" marL="0">
              <a:buNone/>
            </a:pPr>
            <a:r>
              <a:rPr lang="en-US" sz="950" b="1" dirty="0">
                <a:solidFill>
                  <a:srgbClr val="B7791F"/>
                </a:solidFill>
                <a:latin typeface="Calibri" pitchFamily="34" charset="0"/>
                <a:ea typeface="Calibri" pitchFamily="34" charset="-122"/>
                <a:cs typeface="Calibri" pitchFamily="34" charset="-120"/>
              </a:rPr>
              <a:t>Honest by construction</a:t>
            </a:r>
            <a:endParaRPr lang="en-US" sz="950" dirty="0"/>
          </a:p>
        </p:txBody>
      </p:sp>
      <p:sp>
        <p:nvSpPr>
          <p:cNvPr id="57" name="Text 52"/>
          <p:cNvSpPr/>
          <p:nvPr/>
        </p:nvSpPr>
        <p:spPr>
          <a:xfrm>
            <a:off x="7790688" y="5276088"/>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Assumptions widen the band automatically — a part costed from an unanswered question cannot show a tight range. The band is the tool admitting exactly how much it does not know.</a:t>
            </a:r>
            <a:endParaRPr lang="en-US" sz="800" dirty="0"/>
          </a:p>
        </p:txBody>
      </p:sp>
      <p:sp>
        <p:nvSpPr>
          <p:cNvPr id="58" name="Shape 53"/>
          <p:cNvSpPr/>
          <p:nvPr/>
        </p:nvSpPr>
        <p:spPr>
          <a:xfrm>
            <a:off x="457200" y="5870448"/>
            <a:ext cx="11274552" cy="502920"/>
          </a:xfrm>
          <a:prstGeom prst="roundRect">
            <a:avLst>
              <a:gd name="adj" fmla="val 14545"/>
            </a:avLst>
          </a:prstGeom>
          <a:solidFill>
            <a:srgbClr val="EAF6EF"/>
          </a:solidFill>
          <a:ln w="12700">
            <a:solidFill>
              <a:srgbClr val="2E8B57"/>
            </a:solidFill>
            <a:prstDash val="solid"/>
          </a:ln>
        </p:spPr>
      </p:sp>
      <p:sp>
        <p:nvSpPr>
          <p:cNvPr id="59" name="Text 54"/>
          <p:cNvSpPr/>
          <p:nvPr/>
        </p:nvSpPr>
        <p:spPr>
          <a:xfrm>
            <a:off x="621792" y="5870448"/>
            <a:ext cx="10972800" cy="502920"/>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Why it matters:  </a:t>
            </a:r>
            <a:pPr indent="0" marL="0">
              <a:buNone/>
            </a:pPr>
            <a:r>
              <a:rPr lang="en-US" sz="1000" dirty="0">
                <a:solidFill>
                  <a:srgbClr val="3A4356"/>
                </a:solidFill>
                <a:latin typeface="Calibri" pitchFamily="34" charset="0"/>
                <a:ea typeface="Calibri" pitchFamily="34" charset="-122"/>
                <a:cs typeface="Calibri" pitchFamily="34" charset="-120"/>
              </a:rPr>
              <a:t>a single number pretends to a precision the inputs never had. The band is the same arithmetic run 4,000 times with each input as uncertain as its provenance says it is — so “£26 ± 18%” is a statement of evidence, not of confidence.</a:t>
            </a:r>
            <a:endParaRPr lang="en-US" sz="1000" dirty="0"/>
          </a:p>
        </p:txBody>
      </p:sp>
      <p:sp>
        <p:nvSpPr>
          <p:cNvPr id="60" name="Text 55"/>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1" name="Text 56"/>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DFM / DFA Report — Rules, Not Opinions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How §12–§15 of the report are made, end to end — and who is allowed to write them</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0E8074"/>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70432"/>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costing finishes first</a:t>
            </a:r>
            <a:endParaRPr lang="en-US" sz="1050" dirty="0"/>
          </a:p>
        </p:txBody>
      </p:sp>
      <p:sp>
        <p:nvSpPr>
          <p:cNvPr id="9" name="Text 7"/>
          <p:cNvSpPr/>
          <p:nvPr/>
        </p:nvSpPr>
        <p:spPr>
          <a:xfrm>
            <a:off x="1097280" y="1426464"/>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The DFM/DFA engine reads the FINISHED result: the 8-bucket breakdown plus the same measured inputs the estimate used — material utilisation, OEE, operation list, tooling amortisation. It critiques the exact numbers that were costed, not a separate copy.</a:t>
            </a:r>
            <a:endParaRPr lang="en-US" sz="86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0E8074"/>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40864"/>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~37 threshold rules fire</a:t>
            </a:r>
            <a:endParaRPr lang="en-US" sz="1050" dirty="0"/>
          </a:p>
        </p:txBody>
      </p:sp>
      <p:sp>
        <p:nvSpPr>
          <p:cNvPr id="14" name="Text 12"/>
          <p:cNvSpPr/>
          <p:nvPr/>
        </p:nvSpPr>
        <p:spPr>
          <a:xfrm>
            <a:off x="1097280" y="2596896"/>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Fixed engineering thresholds, each with severity, saving % and a recommendation: material utilisation below 60% is critical and below 72% major; OEE below 70% critical, below 80% major; each cost bucket compared to its commodity benchmark band; operation and setup counts checked.</a:t>
            </a:r>
            <a:endParaRPr lang="en-US" sz="86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0E8074"/>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511296"/>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10 process advisors add geometry findings</a:t>
            </a:r>
            <a:endParaRPr lang="en-US" sz="1050" dirty="0"/>
          </a:p>
        </p:txBody>
      </p:sp>
      <p:sp>
        <p:nvSpPr>
          <p:cNvPr id="19" name="Text 17"/>
          <p:cNvSpPr/>
          <p:nvPr/>
        </p:nvSpPr>
        <p:spPr>
          <a:xfrm>
            <a:off x="1097280" y="3767328"/>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Per-process DFM read from the measured solid (casting, forging, sheet metal, moulding families…): heavy sections that solidify last → shrink porosity at the hot spot; sharp re-entrant corners → hot-tear initiation; missing draft; wall-ratio breaches; excess machining stock → near-net opportunity.</a:t>
            </a:r>
            <a:endParaRPr lang="en-US" sz="86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0E8074"/>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81728"/>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Score and roadmap by arithmetic</a:t>
            </a:r>
            <a:endParaRPr lang="en-US" sz="1050" dirty="0"/>
          </a:p>
        </p:txBody>
      </p:sp>
      <p:sp>
        <p:nvSpPr>
          <p:cNvPr id="24" name="Text 22"/>
          <p:cNvSpPr/>
          <p:nvPr/>
        </p:nvSpPr>
        <p:spPr>
          <a:xfrm>
            <a:off x="1097280" y="4937760"/>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Every part starts at 10/10: minus 2 per critical, 1 per major, 0.5 per minor. The DFA score runs the same way on assembly rules. Actions become the roadmap: low-risk quick wins vs long-term changes — a filter over the same list, nothing new invented.</a:t>
            </a:r>
            <a:endParaRPr lang="en-US" sz="86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0E8074"/>
                </a:solidFill>
                <a:latin typeface="Calibri" pitchFamily="34" charset="0"/>
                <a:ea typeface="Calibri" pitchFamily="34" charset="-122"/>
                <a:cs typeface="Calibri" pitchFamily="34" charset="-120"/>
              </a:rPr>
              <a:t>WHERE IT COMES FROM</a:t>
            </a:r>
            <a:endParaRPr lang="en-US" sz="850" dirty="0"/>
          </a:p>
        </p:txBody>
      </p:sp>
      <p:sp>
        <p:nvSpPr>
          <p:cNvPr id="26" name="Shape 24"/>
          <p:cNvSpPr/>
          <p:nvPr/>
        </p:nvSpPr>
        <p:spPr>
          <a:xfrm>
            <a:off x="7269480" y="1298448"/>
            <a:ext cx="4462272" cy="1737360"/>
          </a:xfrm>
          <a:prstGeom prst="roundRect">
            <a:avLst>
              <a:gd name="adj" fmla="val 4737"/>
            </a:avLst>
          </a:prstGeom>
          <a:solidFill>
            <a:srgbClr val="FFFFFF"/>
          </a:solidFill>
          <a:ln w="12700">
            <a:solidFill>
              <a:srgbClr val="DCE3EE"/>
            </a:solidFill>
            <a:prstDash val="solid"/>
          </a:ln>
        </p:spPr>
      </p:sp>
      <p:sp>
        <p:nvSpPr>
          <p:cNvPr id="27" name="Text 25"/>
          <p:cNvSpPr/>
          <p:nvPr/>
        </p:nvSpPr>
        <p:spPr>
          <a:xfrm>
            <a:off x="7452360" y="1426464"/>
            <a:ext cx="4114800" cy="219456"/>
          </a:xfrm>
          <a:prstGeom prst="rect">
            <a:avLst/>
          </a:prstGeom>
          <a:noFill/>
          <a:ln/>
        </p:spPr>
        <p:txBody>
          <a:bodyPr wrap="square" lIns="0" tIns="0" rIns="0" bIns="0" rtlCol="0" anchor="ctr"/>
          <a:lstStyle/>
          <a:p>
            <a:pPr indent="0" marL="0">
              <a:buNone/>
            </a:pPr>
            <a:r>
              <a:rPr lang="en-US" sz="1050" b="1" dirty="0">
                <a:solidFill>
                  <a:srgbClr val="16325C"/>
                </a:solidFill>
                <a:latin typeface="Courier New" pitchFamily="34" charset="0"/>
                <a:ea typeface="Courier New" pitchFamily="34" charset="-122"/>
                <a:cs typeface="Courier New" pitchFamily="34" charset="-120"/>
              </a:rPr>
              <a:t>src/engine/dfm-dfa.ts</a:t>
            </a:r>
            <a:endParaRPr lang="en-US" sz="1050" dirty="0"/>
          </a:p>
        </p:txBody>
      </p:sp>
      <p:sp>
        <p:nvSpPr>
          <p:cNvPr id="28" name="Text 26"/>
          <p:cNvSpPr/>
          <p:nvPr/>
        </p:nvSpPr>
        <p:spPr>
          <a:xfrm>
            <a:off x="7452360" y="1682496"/>
            <a:ext cx="4114800" cy="402336"/>
          </a:xfrm>
          <a:prstGeom prst="rect">
            <a:avLst/>
          </a:prstGeom>
          <a:noFill/>
          <a:ln/>
        </p:spPr>
        <p:txBody>
          <a:bodyPr wrap="square" lIns="0" tIns="0" rIns="0" bIns="0" rtlCol="0" anchor="t"/>
          <a:lstStyle/>
          <a:p>
            <a:pPr indent="0" marL="0">
              <a:buNone/>
            </a:pPr>
            <a:r>
              <a:rPr lang="en-US" sz="840" i="1" dirty="0">
                <a:solidFill>
                  <a:srgbClr val="3A4356"/>
                </a:solidFill>
                <a:latin typeface="Calibri" pitchFamily="34" charset="0"/>
                <a:ea typeface="Calibri" pitchFamily="34" charset="-122"/>
                <a:cs typeface="Calibri" pitchFamily="34" charset="-120"/>
              </a:rPr>
              <a:t>“Rule-based DFM/DFA and Cost Optimisation engine. Deterministic — no AI API required.” — the file’s own header, and the test suite holds it to that.</a:t>
            </a:r>
            <a:endParaRPr lang="en-US" sz="840" dirty="0"/>
          </a:p>
        </p:txBody>
      </p:sp>
      <p:sp>
        <p:nvSpPr>
          <p:cNvPr id="29" name="Text 27"/>
          <p:cNvSpPr/>
          <p:nvPr/>
        </p:nvSpPr>
        <p:spPr>
          <a:xfrm>
            <a:off x="7452360" y="2121408"/>
            <a:ext cx="4114800" cy="201168"/>
          </a:xfrm>
          <a:prstGeom prst="rect">
            <a:avLst/>
          </a:prstGeom>
          <a:noFill/>
          <a:ln/>
        </p:spPr>
        <p:txBody>
          <a:bodyPr wrap="square" lIns="0" tIns="0" rIns="0" bIns="0" rtlCol="0" anchor="ctr"/>
          <a:lstStyle/>
          <a:p>
            <a:pPr indent="0" marL="0">
              <a:buNone/>
            </a:pPr>
            <a:r>
              <a:rPr lang="en-US" sz="950" b="1" dirty="0">
                <a:solidFill>
                  <a:srgbClr val="16325C"/>
                </a:solidFill>
                <a:latin typeface="Courier New" pitchFamily="34" charset="0"/>
                <a:ea typeface="Courier New" pitchFamily="34" charset="-122"/>
                <a:cs typeface="Courier New" pitchFamily="34" charset="-120"/>
              </a:rPr>
              <a:t>+ modules/*-advisor.ts</a:t>
            </a:r>
            <a:endParaRPr lang="en-US" sz="950" dirty="0"/>
          </a:p>
        </p:txBody>
      </p:sp>
      <p:sp>
        <p:nvSpPr>
          <p:cNvPr id="30" name="Text 28"/>
          <p:cNvSpPr/>
          <p:nvPr/>
        </p:nvSpPr>
        <p:spPr>
          <a:xfrm>
            <a:off x="7452360" y="2340864"/>
            <a:ext cx="4160520" cy="621792"/>
          </a:xfrm>
          <a:prstGeom prst="rect">
            <a:avLst/>
          </a:prstGeom>
          <a:noFill/>
          <a:ln/>
        </p:spPr>
        <p:txBody>
          <a:bodyPr wrap="square" lIns="0" tIns="0" rIns="0" bIns="0" rtlCol="0" anchor="t"/>
          <a:lstStyle/>
          <a:p>
            <a:pPr indent="0" marL="0">
              <a:buNone/>
            </a:pPr>
            <a:r>
              <a:rPr lang="en-US" sz="840" dirty="0">
                <a:solidFill>
                  <a:srgbClr val="3A4356"/>
                </a:solidFill>
                <a:latin typeface="Calibri" pitchFamily="34" charset="0"/>
                <a:ea typeface="Calibri" pitchFamily="34" charset="-122"/>
                <a:cs typeface="Calibri" pitchFamily="34" charset="-120"/>
              </a:rPr>
              <a:t>Ten per-process advisor modules supply the geometry-driven findings. One function feeds §12–§15 of the PDF AND the on-screen panel — the same object rendered twice, so screen and report can never disagree.</a:t>
            </a:r>
            <a:endParaRPr lang="en-US" sz="840" dirty="0"/>
          </a:p>
        </p:txBody>
      </p:sp>
      <p:sp>
        <p:nvSpPr>
          <p:cNvPr id="31" name="Shape 29"/>
          <p:cNvSpPr/>
          <p:nvPr/>
        </p:nvSpPr>
        <p:spPr>
          <a:xfrm>
            <a:off x="7269480" y="3163824"/>
            <a:ext cx="4462272" cy="822960"/>
          </a:xfrm>
          <a:prstGeom prst="roundRect">
            <a:avLst>
              <a:gd name="adj" fmla="val 10000"/>
            </a:avLst>
          </a:prstGeom>
          <a:solidFill>
            <a:srgbClr val="FFFFFF"/>
          </a:solidFill>
          <a:ln w="12700">
            <a:solidFill>
              <a:srgbClr val="DCE3EE"/>
            </a:solidFill>
            <a:prstDash val="solid"/>
          </a:ln>
        </p:spPr>
      </p:sp>
      <p:sp>
        <p:nvSpPr>
          <p:cNvPr id="32" name="Shape 30"/>
          <p:cNvSpPr/>
          <p:nvPr/>
        </p:nvSpPr>
        <p:spPr>
          <a:xfrm>
            <a:off x="7397496" y="3264408"/>
            <a:ext cx="310896" cy="310896"/>
          </a:xfrm>
          <a:prstGeom prst="ellipse">
            <a:avLst/>
          </a:prstGeom>
          <a:solidFill>
            <a:srgbClr val="0E8074"/>
          </a:solidFill>
          <a:ln/>
        </p:spPr>
      </p:sp>
      <p:pic>
        <p:nvPicPr>
          <p:cNvPr id="33" name="Image 0" descr="preencoded.png">    </p:cNvPr>
          <p:cNvPicPr>
            <a:picLocks noChangeAspect="1"/>
          </p:cNvPicPr>
          <p:nvPr/>
        </p:nvPicPr>
        <p:blipFill>
          <a:blip r:embed="rId1"/>
          <a:stretch>
            <a:fillRect/>
          </a:stretch>
        </p:blipFill>
        <p:spPr>
          <a:xfrm>
            <a:off x="7470648" y="3337560"/>
            <a:ext cx="164592" cy="164592"/>
          </a:xfrm>
          <a:prstGeom prst="rect">
            <a:avLst/>
          </a:prstGeom>
        </p:spPr>
      </p:pic>
      <p:sp>
        <p:nvSpPr>
          <p:cNvPr id="34" name="Text 31"/>
          <p:cNvSpPr/>
          <p:nvPr/>
        </p:nvSpPr>
        <p:spPr>
          <a:xfrm>
            <a:off x="7790688" y="3246120"/>
            <a:ext cx="384048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Same part, same report</a:t>
            </a:r>
            <a:endParaRPr lang="en-US" sz="950" dirty="0"/>
          </a:p>
        </p:txBody>
      </p:sp>
      <p:sp>
        <p:nvSpPr>
          <p:cNvPr id="35" name="Text 32"/>
          <p:cNvSpPr/>
          <p:nvPr/>
        </p:nvSpPr>
        <p:spPr>
          <a:xfrm>
            <a:off x="7790688" y="3465576"/>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Deterministic and unit-tested: identical inputs produce an identical report, every run. Every threshold is a named constant in code a reviewer can read — not a prompt.</a:t>
            </a:r>
            <a:endParaRPr lang="en-US" sz="800" dirty="0"/>
          </a:p>
        </p:txBody>
      </p:sp>
      <p:sp>
        <p:nvSpPr>
          <p:cNvPr id="36" name="Shape 33"/>
          <p:cNvSpPr/>
          <p:nvPr/>
        </p:nvSpPr>
        <p:spPr>
          <a:xfrm>
            <a:off x="7269480" y="4069080"/>
            <a:ext cx="4462272" cy="822960"/>
          </a:xfrm>
          <a:prstGeom prst="roundRect">
            <a:avLst>
              <a:gd name="adj" fmla="val 10000"/>
            </a:avLst>
          </a:prstGeom>
          <a:solidFill>
            <a:srgbClr val="FFFFFF"/>
          </a:solidFill>
          <a:ln w="12700">
            <a:solidFill>
              <a:srgbClr val="DCE3EE"/>
            </a:solidFill>
            <a:prstDash val="solid"/>
          </a:ln>
        </p:spPr>
      </p:sp>
      <p:sp>
        <p:nvSpPr>
          <p:cNvPr id="37" name="Shape 34"/>
          <p:cNvSpPr/>
          <p:nvPr/>
        </p:nvSpPr>
        <p:spPr>
          <a:xfrm>
            <a:off x="7397496" y="4169664"/>
            <a:ext cx="310896" cy="310896"/>
          </a:xfrm>
          <a:prstGeom prst="ellipse">
            <a:avLst/>
          </a:prstGeom>
          <a:solidFill>
            <a:srgbClr val="2E8B57"/>
          </a:solidFill>
          <a:ln/>
        </p:spPr>
      </p:sp>
      <p:pic>
        <p:nvPicPr>
          <p:cNvPr id="38" name="Image 1" descr="preencoded.png">    </p:cNvPr>
          <p:cNvPicPr>
            <a:picLocks noChangeAspect="1"/>
          </p:cNvPicPr>
          <p:nvPr/>
        </p:nvPicPr>
        <p:blipFill>
          <a:blip r:embed="rId2"/>
          <a:stretch>
            <a:fillRect/>
          </a:stretch>
        </p:blipFill>
        <p:spPr>
          <a:xfrm>
            <a:off x="7470648" y="4242816"/>
            <a:ext cx="164592" cy="164592"/>
          </a:xfrm>
          <a:prstGeom prst="rect">
            <a:avLst/>
          </a:prstGeom>
        </p:spPr>
      </p:pic>
      <p:sp>
        <p:nvSpPr>
          <p:cNvPr id="39" name="Text 35"/>
          <p:cNvSpPr/>
          <p:nvPr/>
        </p:nvSpPr>
        <p:spPr>
          <a:xfrm>
            <a:off x="7790688" y="4151376"/>
            <a:ext cx="384048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Honest saving maths</a:t>
            </a:r>
            <a:endParaRPr lang="en-US" sz="950" dirty="0"/>
          </a:p>
        </p:txBody>
      </p:sp>
      <p:sp>
        <p:nvSpPr>
          <p:cNvPr id="40" name="Text 36"/>
          <p:cNvSpPr/>
          <p:nvPr/>
        </p:nvSpPr>
        <p:spPr>
          <a:xfrm>
            <a:off x="7790688" y="4370832"/>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The headline saving is NOT the sum of every issue — it is the root-sum-square of the top three, capped at 40%. Stacked opportunities are never allowed to promise an impossible discount.</a:t>
            </a:r>
            <a:endParaRPr lang="en-US" sz="800" dirty="0"/>
          </a:p>
        </p:txBody>
      </p:sp>
      <p:sp>
        <p:nvSpPr>
          <p:cNvPr id="41" name="Shape 37"/>
          <p:cNvSpPr/>
          <p:nvPr/>
        </p:nvSpPr>
        <p:spPr>
          <a:xfrm>
            <a:off x="7269480" y="4974336"/>
            <a:ext cx="4462272" cy="822960"/>
          </a:xfrm>
          <a:prstGeom prst="roundRect">
            <a:avLst>
              <a:gd name="adj" fmla="val 10000"/>
            </a:avLst>
          </a:prstGeom>
          <a:solidFill>
            <a:srgbClr val="FFFFFF"/>
          </a:solidFill>
          <a:ln w="12700">
            <a:solidFill>
              <a:srgbClr val="DCE3EE"/>
            </a:solidFill>
            <a:prstDash val="solid"/>
          </a:ln>
        </p:spPr>
      </p:sp>
      <p:sp>
        <p:nvSpPr>
          <p:cNvPr id="42" name="Shape 38"/>
          <p:cNvSpPr/>
          <p:nvPr/>
        </p:nvSpPr>
        <p:spPr>
          <a:xfrm>
            <a:off x="7397496" y="5074920"/>
            <a:ext cx="310896" cy="310896"/>
          </a:xfrm>
          <a:prstGeom prst="ellipse">
            <a:avLst/>
          </a:prstGeom>
          <a:solidFill>
            <a:srgbClr val="B7791F"/>
          </a:solidFill>
          <a:ln/>
        </p:spPr>
      </p:sp>
      <p:pic>
        <p:nvPicPr>
          <p:cNvPr id="43" name="Image 2" descr="preencoded.png">    </p:cNvPr>
          <p:cNvPicPr>
            <a:picLocks noChangeAspect="1"/>
          </p:cNvPicPr>
          <p:nvPr/>
        </p:nvPicPr>
        <p:blipFill>
          <a:blip r:embed="rId3"/>
          <a:stretch>
            <a:fillRect/>
          </a:stretch>
        </p:blipFill>
        <p:spPr>
          <a:xfrm>
            <a:off x="7470648" y="5148072"/>
            <a:ext cx="164592" cy="164592"/>
          </a:xfrm>
          <a:prstGeom prst="rect">
            <a:avLst/>
          </a:prstGeom>
        </p:spPr>
      </p:pic>
      <p:sp>
        <p:nvSpPr>
          <p:cNvPr id="44" name="Text 39"/>
          <p:cNvSpPr/>
          <p:nvPr/>
        </p:nvSpPr>
        <p:spPr>
          <a:xfrm>
            <a:off x="7790688" y="5056632"/>
            <a:ext cx="3840480" cy="201168"/>
          </a:xfrm>
          <a:prstGeom prst="rect">
            <a:avLst/>
          </a:prstGeom>
          <a:noFill/>
          <a:ln/>
        </p:spPr>
        <p:txBody>
          <a:bodyPr wrap="square" lIns="0" tIns="0" rIns="0" bIns="0" rtlCol="0" anchor="ctr"/>
          <a:lstStyle/>
          <a:p>
            <a:pPr indent="0" marL="0">
              <a:buNone/>
            </a:pPr>
            <a:r>
              <a:rPr lang="en-US" sz="950" b="1" dirty="0">
                <a:solidFill>
                  <a:srgbClr val="B7791F"/>
                </a:solidFill>
                <a:latin typeface="Calibri" pitchFamily="34" charset="0"/>
                <a:ea typeface="Calibri" pitchFamily="34" charset="-122"/>
                <a:cs typeface="Calibri" pitchFamily="34" charset="-120"/>
              </a:rPr>
              <a:t>The AI cannot touch it</a:t>
            </a:r>
            <a:endParaRPr lang="en-US" sz="950" dirty="0"/>
          </a:p>
        </p:txBody>
      </p:sp>
      <p:sp>
        <p:nvSpPr>
          <p:cNvPr id="45" name="Text 40"/>
          <p:cNvSpPr/>
          <p:nvPr/>
        </p:nvSpPr>
        <p:spPr>
          <a:xfrm>
            <a:off x="7790688" y="5276088"/>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In optional AI mode the model may add advisory commentary to the CAD analysis panel — display-only. It writes no score, no severity, no saving and no recommendation in this report.</a:t>
            </a:r>
            <a:endParaRPr lang="en-US" sz="800" dirty="0"/>
          </a:p>
        </p:txBody>
      </p:sp>
      <p:sp>
        <p:nvSpPr>
          <p:cNvPr id="46" name="Shape 41"/>
          <p:cNvSpPr/>
          <p:nvPr/>
        </p:nvSpPr>
        <p:spPr>
          <a:xfrm>
            <a:off x="457200" y="5870448"/>
            <a:ext cx="11274552" cy="502920"/>
          </a:xfrm>
          <a:prstGeom prst="roundRect">
            <a:avLst>
              <a:gd name="adj" fmla="val 14545"/>
            </a:avLst>
          </a:prstGeom>
          <a:solidFill>
            <a:srgbClr val="E7F4F2"/>
          </a:solidFill>
          <a:ln w="12700">
            <a:solidFill>
              <a:srgbClr val="0E8074"/>
            </a:solidFill>
            <a:prstDash val="solid"/>
          </a:ln>
        </p:spPr>
      </p:sp>
      <p:sp>
        <p:nvSpPr>
          <p:cNvPr id="47" name="Text 42"/>
          <p:cNvSpPr/>
          <p:nvPr/>
        </p:nvSpPr>
        <p:spPr>
          <a:xfrm>
            <a:off x="621792" y="5870448"/>
            <a:ext cx="10972800" cy="5029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Read it in one line:  </a:t>
            </a:r>
            <a:pPr indent="0" marL="0">
              <a:buNone/>
            </a:pPr>
            <a:r>
              <a:rPr lang="en-US" sz="1000" dirty="0">
                <a:solidFill>
                  <a:srgbClr val="3A4356"/>
                </a:solidFill>
                <a:latin typeface="Calibri" pitchFamily="34" charset="0"/>
                <a:ea typeface="Calibri" pitchFamily="34" charset="-122"/>
                <a:cs typeface="Calibri" pitchFamily="34" charset="-120"/>
              </a:rPr>
              <a:t>the same measured geometry and the same costed numbers are pushed through fixed engineering thresholds — the DFM/DFA report is arithmetic you can audit, not opinion you have to trust.</a:t>
            </a:r>
            <a:endParaRPr lang="en-US" sz="1000" dirty="0"/>
          </a:p>
        </p:txBody>
      </p:sp>
      <p:sp>
        <p:nvSpPr>
          <p:cNvPr id="48" name="Text 4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9" name="Text 4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20</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4F46E5"/>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Machine Is a Cost Decision — Not a Default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routing optimiser picks the cheapest capable machine, and every suggestion follows the same arithmetic</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4F46E5"/>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70432"/>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Rank the routings in pounds</a:t>
            </a:r>
            <a:endParaRPr lang="en-US" sz="1050" dirty="0"/>
          </a:p>
        </p:txBody>
      </p:sp>
      <p:sp>
        <p:nvSpPr>
          <p:cNvPr id="9" name="Text 7"/>
          <p:cNvSpPr/>
          <p:nvPr/>
        </p:nvSpPr>
        <p:spPr>
          <a:xfrm>
            <a:off x="1097280" y="1408176"/>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Before a single pound is booked, the feasible routings are priced under the same conventions the cost charges: split across cheap 3-axis stations (one fixturing per approach direction plus the drill press) vs a single-setup 5-axis consolidation vs turning-led — batch setup amortisation AND per-part handling at every fixturing included.</a:t>
            </a:r>
            <a:endParaRPr lang="en-US" sz="82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4F46E5"/>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40864"/>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losers print in the trace</a:t>
            </a:r>
            <a:endParaRPr lang="en-US" sz="1050" dirty="0"/>
          </a:p>
        </p:txBody>
      </p:sp>
      <p:sp>
        <p:nvSpPr>
          <p:cNvPr id="14" name="Text 12"/>
          <p:cNvSpPr/>
          <p:nvPr/>
        </p:nvSpPr>
        <p:spPr>
          <a:xfrm>
            <a:off x="1097280" y="2578608"/>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chosen machine carries the full comparison as its basis: "split-3axis £12.91 vs consolidated-5axis £21.11 → split-3axis, £8.20/part cheaper". A buyer can defend the process line with the table, and the AI cannot pick a machine on any path — the rules overwrite it everywhere.</a:t>
            </a:r>
            <a:endParaRPr lang="en-US" sz="82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4F46E5"/>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511296"/>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Suggestions read the same arithmetic</a:t>
            </a:r>
            <a:endParaRPr lang="en-US" sz="1050" dirty="0"/>
          </a:p>
        </p:txBody>
      </p:sp>
      <p:sp>
        <p:nvSpPr>
          <p:cNvPr id="19" name="Text 17"/>
          <p:cNvSpPr/>
          <p:nvPr/>
        </p:nvSpPr>
        <p:spPr>
          <a:xfrm>
            <a:off x="1097280" y="3749040"/>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report used to advise "consolidate with multi-axis machining" against routings the tool itself had chosen. Now the advice is station-aware: it fires only on a genuinely split routing, flips to "routing verified optimal — quote it as evidence" when the lever is already taken, and every finding carries a lever tag: design · supplier · sourcing · assumption · verified.</a:t>
            </a:r>
            <a:endParaRPr lang="en-US" sz="82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4F46E5"/>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81728"/>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Re-quote suggestion — a real case</a:t>
            </a:r>
            <a:endParaRPr lang="en-US" sz="1050" dirty="0"/>
          </a:p>
        </p:txBody>
      </p:sp>
      <p:sp>
        <p:nvSpPr>
          <p:cNvPr id="24" name="Text 22"/>
          <p:cNvSpPr/>
          <p:nvPr/>
        </p:nvSpPr>
        <p:spPr>
          <a:xfrm>
            <a:off x="1097280" y="4919472"/>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On the stub-axle routing, the old §14 claimed "multi-axis consolidation, 11% saving". The optimiser ranked it: consolidation LOSES on that part. The new action: "Re-quote machining on the cost-optimal routing — £28.58 as costed vs £21.63 optimal, a £6.95/part (20%) machine-mix saving" — a Quick Win negotiation, not a capex project.</a:t>
            </a:r>
            <a:endParaRPr lang="en-US" sz="82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4F46E5"/>
                </a:solidFill>
                <a:latin typeface="Calibri" pitchFamily="34" charset="0"/>
                <a:ea typeface="Calibri" pitchFamily="34" charset="-122"/>
                <a:cs typeface="Calibri" pitchFamily="34" charset="-120"/>
              </a:rPr>
              <a:t>BEFORE vs AFTER — THE STUB-AXLE REPORT</a:t>
            </a:r>
            <a:endParaRPr lang="en-US" sz="850" dirty="0"/>
          </a:p>
        </p:txBody>
      </p:sp>
      <p:sp>
        <p:nvSpPr>
          <p:cNvPr id="26" name="Shape 24"/>
          <p:cNvSpPr/>
          <p:nvPr/>
        </p:nvSpPr>
        <p:spPr>
          <a:xfrm>
            <a:off x="7269480" y="1298448"/>
            <a:ext cx="4462272" cy="841248"/>
          </a:xfrm>
          <a:prstGeom prst="roundRect">
            <a:avLst>
              <a:gd name="adj" fmla="val 9783"/>
            </a:avLst>
          </a:prstGeom>
          <a:solidFill>
            <a:srgbClr val="FDF2F2"/>
          </a:solidFill>
          <a:ln w="12700">
            <a:solidFill>
              <a:srgbClr val="B03A2E"/>
            </a:solidFill>
            <a:prstDash val="solid"/>
          </a:ln>
        </p:spPr>
      </p:sp>
      <p:sp>
        <p:nvSpPr>
          <p:cNvPr id="27" name="Text 25"/>
          <p:cNvSpPr/>
          <p:nvPr/>
        </p:nvSpPr>
        <p:spPr>
          <a:xfrm>
            <a:off x="7434072" y="1389888"/>
            <a:ext cx="4114800" cy="182880"/>
          </a:xfrm>
          <a:prstGeom prst="rect">
            <a:avLst/>
          </a:prstGeom>
          <a:noFill/>
          <a:ln/>
        </p:spPr>
        <p:txBody>
          <a:bodyPr wrap="square" lIns="0" tIns="0" rIns="0" bIns="0" rtlCol="0" anchor="ctr"/>
          <a:lstStyle/>
          <a:p>
            <a:pPr indent="0" marL="0">
              <a:buNone/>
            </a:pPr>
            <a:r>
              <a:rPr lang="en-US" sz="850" b="1" dirty="0">
                <a:solidFill>
                  <a:srgbClr val="B03A2E"/>
                </a:solidFill>
                <a:latin typeface="Calibri" pitchFamily="34" charset="0"/>
                <a:ea typeface="Calibri" pitchFamily="34" charset="-122"/>
                <a:cs typeface="Calibri" pitchFamily="34" charset="-120"/>
              </a:rPr>
              <a:t>BEFORE — generic claim</a:t>
            </a:r>
            <a:endParaRPr lang="en-US" sz="850" dirty="0"/>
          </a:p>
        </p:txBody>
      </p:sp>
      <p:sp>
        <p:nvSpPr>
          <p:cNvPr id="28" name="Text 26"/>
          <p:cNvSpPr/>
          <p:nvPr/>
        </p:nvSpPr>
        <p:spPr>
          <a:xfrm>
            <a:off x="7434072" y="1591056"/>
            <a:ext cx="4160520" cy="51206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"Multi-Axis Machining to Consolidate Operations — 11% saving · Long Term." Fired on operation count alone; on this part the arithmetic says consolidation loses money.</a:t>
            </a:r>
            <a:endParaRPr lang="en-US" sz="820" dirty="0"/>
          </a:p>
        </p:txBody>
      </p:sp>
      <p:sp>
        <p:nvSpPr>
          <p:cNvPr id="29" name="Shape 27"/>
          <p:cNvSpPr/>
          <p:nvPr/>
        </p:nvSpPr>
        <p:spPr>
          <a:xfrm>
            <a:off x="7269480" y="2231136"/>
            <a:ext cx="4462272" cy="841248"/>
          </a:xfrm>
          <a:prstGeom prst="roundRect">
            <a:avLst>
              <a:gd name="adj" fmla="val 9783"/>
            </a:avLst>
          </a:prstGeom>
          <a:solidFill>
            <a:srgbClr val="EAF6EF"/>
          </a:solidFill>
          <a:ln w="12700">
            <a:solidFill>
              <a:srgbClr val="2E8B57"/>
            </a:solidFill>
            <a:prstDash val="solid"/>
          </a:ln>
        </p:spPr>
      </p:sp>
      <p:sp>
        <p:nvSpPr>
          <p:cNvPr id="30" name="Text 28"/>
          <p:cNvSpPr/>
          <p:nvPr/>
        </p:nvSpPr>
        <p:spPr>
          <a:xfrm>
            <a:off x="7434072" y="2322576"/>
            <a:ext cx="4114800" cy="182880"/>
          </a:xfrm>
          <a:prstGeom prst="rect">
            <a:avLst/>
          </a:prstGeom>
          <a:noFill/>
          <a:ln/>
        </p:spPr>
        <p:txBody>
          <a:bodyPr wrap="square" lIns="0" tIns="0" rIns="0" bIns="0" rtlCol="0" anchor="ctr"/>
          <a:lstStyle/>
          <a:p>
            <a:pPr indent="0" marL="0">
              <a:buNone/>
            </a:pPr>
            <a:r>
              <a:rPr lang="en-US" sz="850" b="1" dirty="0">
                <a:solidFill>
                  <a:srgbClr val="2E8B57"/>
                </a:solidFill>
                <a:latin typeface="Calibri" pitchFamily="34" charset="0"/>
                <a:ea typeface="Calibri" pitchFamily="34" charset="-122"/>
                <a:cs typeface="Calibri" pitchFamily="34" charset="-120"/>
              </a:rPr>
              <a:t>AFTER — the optimiser’s delta</a:t>
            </a:r>
            <a:endParaRPr lang="en-US" sz="850" dirty="0"/>
          </a:p>
        </p:txBody>
      </p:sp>
      <p:sp>
        <p:nvSpPr>
          <p:cNvPr id="31" name="Text 29"/>
          <p:cNvSpPr/>
          <p:nvPr/>
        </p:nvSpPr>
        <p:spPr>
          <a:xfrm>
            <a:off x="7434072" y="2523744"/>
            <a:ext cx="4160520" cy="51206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"Re-quote machining on the cost-optimal routing: £6.95/part (20% of the machining spend) · Quick Win. 5-axis consolidation was ranked and does NOT win on this part."</a:t>
            </a:r>
            <a:endParaRPr lang="en-US" sz="820" dirty="0"/>
          </a:p>
        </p:txBody>
      </p:sp>
      <p:sp>
        <p:nvSpPr>
          <p:cNvPr id="32" name="Shape 30"/>
          <p:cNvSpPr/>
          <p:nvPr/>
        </p:nvSpPr>
        <p:spPr>
          <a:xfrm>
            <a:off x="7269480" y="3200400"/>
            <a:ext cx="4462272" cy="804672"/>
          </a:xfrm>
          <a:prstGeom prst="roundRect">
            <a:avLst>
              <a:gd name="adj" fmla="val 10227"/>
            </a:avLst>
          </a:prstGeom>
          <a:solidFill>
            <a:srgbClr val="FFFFFF"/>
          </a:solidFill>
          <a:ln w="12700">
            <a:solidFill>
              <a:srgbClr val="DCE3EE"/>
            </a:solidFill>
            <a:prstDash val="solid"/>
          </a:ln>
        </p:spPr>
      </p:sp>
      <p:sp>
        <p:nvSpPr>
          <p:cNvPr id="33" name="Shape 31"/>
          <p:cNvSpPr/>
          <p:nvPr/>
        </p:nvSpPr>
        <p:spPr>
          <a:xfrm>
            <a:off x="7397496" y="3300984"/>
            <a:ext cx="310896" cy="310896"/>
          </a:xfrm>
          <a:prstGeom prst="ellipse">
            <a:avLst/>
          </a:prstGeom>
          <a:solidFill>
            <a:srgbClr val="4F46E5"/>
          </a:solidFill>
          <a:ln/>
        </p:spPr>
      </p:sp>
      <p:pic>
        <p:nvPicPr>
          <p:cNvPr id="34" name="Image 0" descr="preencoded.png">    </p:cNvPr>
          <p:cNvPicPr>
            <a:picLocks noChangeAspect="1"/>
          </p:cNvPicPr>
          <p:nvPr/>
        </p:nvPicPr>
        <p:blipFill>
          <a:blip r:embed="rId1"/>
          <a:stretch>
            <a:fillRect/>
          </a:stretch>
        </p:blipFill>
        <p:spPr>
          <a:xfrm>
            <a:off x="7470648" y="3374136"/>
            <a:ext cx="164592" cy="164592"/>
          </a:xfrm>
          <a:prstGeom prst="rect">
            <a:avLst/>
          </a:prstGeom>
        </p:spPr>
      </p:pic>
      <p:sp>
        <p:nvSpPr>
          <p:cNvPr id="35" name="Text 32"/>
          <p:cNvSpPr/>
          <p:nvPr/>
        </p:nvSpPr>
        <p:spPr>
          <a:xfrm>
            <a:off x="7790688" y="3282696"/>
            <a:ext cx="3840480" cy="201168"/>
          </a:xfrm>
          <a:prstGeom prst="rect">
            <a:avLst/>
          </a:prstGeom>
          <a:noFill/>
          <a:ln/>
        </p:spPr>
        <p:txBody>
          <a:bodyPr wrap="square" lIns="0" tIns="0" rIns="0" bIns="0" rtlCol="0" anchor="ctr"/>
          <a:lstStyle/>
          <a:p>
            <a:pPr indent="0" marL="0">
              <a:buNone/>
            </a:pPr>
            <a:r>
              <a:rPr lang="en-US" sz="950" b="1" dirty="0">
                <a:solidFill>
                  <a:srgbClr val="4F46E5"/>
                </a:solidFill>
                <a:latin typeface="Calibri" pitchFamily="34" charset="0"/>
                <a:ea typeface="Calibri" pitchFamily="34" charset="-122"/>
                <a:cs typeface="Calibri" pitchFamily="34" charset="-120"/>
              </a:rPr>
              <a:t>AI never picks the machine</a:t>
            </a:r>
            <a:endParaRPr lang="en-US" sz="950" dirty="0"/>
          </a:p>
        </p:txBody>
      </p:sp>
      <p:sp>
        <p:nvSpPr>
          <p:cNvPr id="36" name="Text 33"/>
          <p:cNvSpPr/>
          <p:nvPr/>
        </p:nvSpPr>
        <p:spPr>
          <a:xfrm>
            <a:off x="7790688" y="3493008"/>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The model may name machines; the rules overwrite them with the cost-ranked choice on every path. What it said is kept for the comparison panel.</a:t>
            </a:r>
            <a:endParaRPr lang="en-US" sz="800" dirty="0"/>
          </a:p>
        </p:txBody>
      </p:sp>
      <p:sp>
        <p:nvSpPr>
          <p:cNvPr id="37" name="Shape 34"/>
          <p:cNvSpPr/>
          <p:nvPr/>
        </p:nvSpPr>
        <p:spPr>
          <a:xfrm>
            <a:off x="7269480" y="4087368"/>
            <a:ext cx="4462272" cy="804672"/>
          </a:xfrm>
          <a:prstGeom prst="roundRect">
            <a:avLst>
              <a:gd name="adj" fmla="val 10227"/>
            </a:avLst>
          </a:prstGeom>
          <a:solidFill>
            <a:srgbClr val="FFFFFF"/>
          </a:solidFill>
          <a:ln w="12700">
            <a:solidFill>
              <a:srgbClr val="DCE3EE"/>
            </a:solidFill>
            <a:prstDash val="solid"/>
          </a:ln>
        </p:spPr>
      </p:sp>
      <p:sp>
        <p:nvSpPr>
          <p:cNvPr id="38" name="Shape 35"/>
          <p:cNvSpPr/>
          <p:nvPr/>
        </p:nvSpPr>
        <p:spPr>
          <a:xfrm>
            <a:off x="7397496" y="4187952"/>
            <a:ext cx="310896" cy="310896"/>
          </a:xfrm>
          <a:prstGeom prst="ellipse">
            <a:avLst/>
          </a:prstGeom>
          <a:solidFill>
            <a:srgbClr val="0E8074"/>
          </a:solidFill>
          <a:ln/>
        </p:spPr>
      </p:sp>
      <p:pic>
        <p:nvPicPr>
          <p:cNvPr id="39" name="Image 1" descr="preencoded.png">    </p:cNvPr>
          <p:cNvPicPr>
            <a:picLocks noChangeAspect="1"/>
          </p:cNvPicPr>
          <p:nvPr/>
        </p:nvPicPr>
        <p:blipFill>
          <a:blip r:embed="rId2"/>
          <a:stretch>
            <a:fillRect/>
          </a:stretch>
        </p:blipFill>
        <p:spPr>
          <a:xfrm>
            <a:off x="7470648" y="4261104"/>
            <a:ext cx="164592" cy="164592"/>
          </a:xfrm>
          <a:prstGeom prst="rect">
            <a:avLst/>
          </a:prstGeom>
        </p:spPr>
      </p:pic>
      <p:sp>
        <p:nvSpPr>
          <p:cNvPr id="40" name="Text 36"/>
          <p:cNvSpPr/>
          <p:nvPr/>
        </p:nvSpPr>
        <p:spPr>
          <a:xfrm>
            <a:off x="7790688" y="4169664"/>
            <a:ext cx="384048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Engineer choice is respected</a:t>
            </a:r>
            <a:endParaRPr lang="en-US" sz="950" dirty="0"/>
          </a:p>
        </p:txBody>
      </p:sp>
      <p:sp>
        <p:nvSpPr>
          <p:cNvPr id="41" name="Text 37"/>
          <p:cNvSpPr/>
          <p:nvPr/>
        </p:nvSpPr>
        <p:spPr>
          <a:xfrm>
            <a:off x="7790688" y="4379976"/>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A machine an engineer picked by hand is never overridden — the cheaper capable routing is surfaced as a supplier lever with its £/part delta instead.</a:t>
            </a:r>
            <a:endParaRPr lang="en-US" sz="800" dirty="0"/>
          </a:p>
        </p:txBody>
      </p:sp>
      <p:sp>
        <p:nvSpPr>
          <p:cNvPr id="42" name="Shape 38"/>
          <p:cNvSpPr/>
          <p:nvPr/>
        </p:nvSpPr>
        <p:spPr>
          <a:xfrm>
            <a:off x="7269480" y="4974336"/>
            <a:ext cx="4462272" cy="804672"/>
          </a:xfrm>
          <a:prstGeom prst="roundRect">
            <a:avLst>
              <a:gd name="adj" fmla="val 10227"/>
            </a:avLst>
          </a:prstGeom>
          <a:solidFill>
            <a:srgbClr val="FFFFFF"/>
          </a:solidFill>
          <a:ln w="12700">
            <a:solidFill>
              <a:srgbClr val="DCE3EE"/>
            </a:solidFill>
            <a:prstDash val="solid"/>
          </a:ln>
        </p:spPr>
      </p:sp>
      <p:sp>
        <p:nvSpPr>
          <p:cNvPr id="43" name="Shape 39"/>
          <p:cNvSpPr/>
          <p:nvPr/>
        </p:nvSpPr>
        <p:spPr>
          <a:xfrm>
            <a:off x="7397496" y="5074920"/>
            <a:ext cx="310896" cy="310896"/>
          </a:xfrm>
          <a:prstGeom prst="ellipse">
            <a:avLst/>
          </a:prstGeom>
          <a:solidFill>
            <a:srgbClr val="2E8B57"/>
          </a:solidFill>
          <a:ln/>
        </p:spPr>
      </p:sp>
      <p:pic>
        <p:nvPicPr>
          <p:cNvPr id="44" name="Image 2" descr="preencoded.png">    </p:cNvPr>
          <p:cNvPicPr>
            <a:picLocks noChangeAspect="1"/>
          </p:cNvPicPr>
          <p:nvPr/>
        </p:nvPicPr>
        <p:blipFill>
          <a:blip r:embed="rId3"/>
          <a:stretch>
            <a:fillRect/>
          </a:stretch>
        </p:blipFill>
        <p:spPr>
          <a:xfrm>
            <a:off x="7470648" y="5148072"/>
            <a:ext cx="164592" cy="164592"/>
          </a:xfrm>
          <a:prstGeom prst="rect">
            <a:avLst/>
          </a:prstGeom>
        </p:spPr>
      </p:pic>
      <p:sp>
        <p:nvSpPr>
          <p:cNvPr id="45" name="Text 40"/>
          <p:cNvSpPr/>
          <p:nvPr/>
        </p:nvSpPr>
        <p:spPr>
          <a:xfrm>
            <a:off x="7790688" y="5056632"/>
            <a:ext cx="384048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No verifiable delta, no claim</a:t>
            </a:r>
            <a:endParaRPr lang="en-US" sz="950" dirty="0"/>
          </a:p>
        </p:txBody>
      </p:sp>
      <p:sp>
        <p:nvSpPr>
          <p:cNvPr id="46" name="Text 41"/>
          <p:cNvSpPr/>
          <p:nvPr/>
        </p:nvSpPr>
        <p:spPr>
          <a:xfrm>
            <a:off x="7790688" y="5266944"/>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Below 2% of the machining spend, pennies, or an unknown machine: the suggestion stays silent. Every claimed saving is arithmetic the reader can check.</a:t>
            </a:r>
            <a:endParaRPr lang="en-US" sz="800" dirty="0"/>
          </a:p>
        </p:txBody>
      </p:sp>
      <p:sp>
        <p:nvSpPr>
          <p:cNvPr id="47" name="Shape 42"/>
          <p:cNvSpPr/>
          <p:nvPr/>
        </p:nvSpPr>
        <p:spPr>
          <a:xfrm>
            <a:off x="457200" y="5870448"/>
            <a:ext cx="11274552" cy="502920"/>
          </a:xfrm>
          <a:prstGeom prst="roundRect">
            <a:avLst>
              <a:gd name="adj" fmla="val 14545"/>
            </a:avLst>
          </a:prstGeom>
          <a:solidFill>
            <a:srgbClr val="EEF2FF"/>
          </a:solidFill>
          <a:ln w="12700">
            <a:solidFill>
              <a:srgbClr val="4F46E5"/>
            </a:solidFill>
            <a:prstDash val="solid"/>
          </a:ln>
        </p:spPr>
      </p:sp>
      <p:sp>
        <p:nvSpPr>
          <p:cNvPr id="48" name="Text 43"/>
          <p:cNvSpPr/>
          <p:nvPr/>
        </p:nvSpPr>
        <p:spPr>
          <a:xfrm>
            <a:off x="621792" y="5870448"/>
            <a:ext cx="10972800" cy="502920"/>
          </a:xfrm>
          <a:prstGeom prst="rect">
            <a:avLst/>
          </a:prstGeom>
          <a:noFill/>
          <a:ln/>
        </p:spPr>
        <p:txBody>
          <a:bodyPr wrap="square" lIns="0" tIns="0" rIns="0" bIns="0" rtlCol="0" anchor="ctr"/>
          <a:lstStyle/>
          <a:p>
            <a:pPr indent="0" marL="0">
              <a:buNone/>
            </a:pPr>
            <a:r>
              <a:rPr lang="en-US" sz="1000" b="1" dirty="0">
                <a:solidFill>
                  <a:srgbClr val="4F46E5"/>
                </a:solidFill>
                <a:latin typeface="Calibri" pitchFamily="34" charset="0"/>
                <a:ea typeface="Calibri" pitchFamily="34" charset="-122"/>
                <a:cs typeface="Calibri" pitchFamily="34" charset="-120"/>
              </a:rPr>
              <a:t>Read it in one line:  </a:t>
            </a:r>
            <a:pPr indent="0" marL="0">
              <a:buNone/>
            </a:pPr>
            <a:r>
              <a:rPr lang="en-US" sz="1000" dirty="0">
                <a:solidFill>
                  <a:srgbClr val="3A4356"/>
                </a:solidFill>
                <a:latin typeface="Calibri" pitchFamily="34" charset="0"/>
                <a:ea typeface="Calibri" pitchFamily="34" charset="-122"/>
                <a:cs typeface="Calibri" pitchFamily="34" charset="-120"/>
              </a:rPr>
              <a:t>the should-cost models the most efficient plausible supplier — so the tool takes the optimal machine itself, and its suggestions are reserved for levers only you can pull, each one priced by the same arithmetic that built the estimate.</a:t>
            </a:r>
            <a:endParaRPr lang="en-US" sz="1000" dirty="0"/>
          </a:p>
        </p:txBody>
      </p:sp>
      <p:sp>
        <p:nvSpPr>
          <p:cNvPr id="49" name="Text 4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0" name="Text 4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21</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How Tooling Is Priced I — The Toolmaking Shop Model</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 tool built up the way a toolmaker quotes it: hours × rate, steel by the kilogram, bought-outs each</a:t>
            </a:r>
            <a:endParaRPr lang="en-US" sz="1200" dirty="0"/>
          </a:p>
        </p:txBody>
      </p:sp>
      <p:sp>
        <p:nvSpPr>
          <p:cNvPr id="5" name="Shape 3"/>
          <p:cNvSpPr/>
          <p:nvPr/>
        </p:nvSpPr>
        <p:spPr>
          <a:xfrm>
            <a:off x="457200" y="1078992"/>
            <a:ext cx="6035040" cy="877824"/>
          </a:xfrm>
          <a:prstGeom prst="roundRect">
            <a:avLst>
              <a:gd name="adj" fmla="val 9375"/>
            </a:avLst>
          </a:prstGeom>
          <a:solidFill>
            <a:srgbClr val="FFFFFF"/>
          </a:solidFill>
          <a:ln w="12700">
            <a:solidFill>
              <a:srgbClr val="DCE3EE"/>
            </a:solidFill>
            <a:prstDash val="solid"/>
          </a:ln>
        </p:spPr>
      </p:sp>
      <p:sp>
        <p:nvSpPr>
          <p:cNvPr id="6" name="Shape 4"/>
          <p:cNvSpPr/>
          <p:nvPr/>
        </p:nvSpPr>
        <p:spPr>
          <a:xfrm>
            <a:off x="585216" y="1170432"/>
            <a:ext cx="329184" cy="329184"/>
          </a:xfrm>
          <a:prstGeom prst="ellipse">
            <a:avLst/>
          </a:prstGeom>
          <a:solidFill>
            <a:srgbClr val="0E8074"/>
          </a:solidFill>
          <a:ln/>
        </p:spPr>
      </p:sp>
      <p:sp>
        <p:nvSpPr>
          <p:cNvPr id="7" name="Text 5"/>
          <p:cNvSpPr/>
          <p:nvPr/>
        </p:nvSpPr>
        <p:spPr>
          <a:xfrm>
            <a:off x="585216" y="11704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p:nvPr/>
        </p:nvSpPr>
        <p:spPr>
          <a:xfrm>
            <a:off x="1024128" y="1143000"/>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Geometry sets the size drivers</a:t>
            </a:r>
            <a:endParaRPr lang="en-US" sz="1000" dirty="0"/>
          </a:p>
        </p:txBody>
      </p:sp>
      <p:sp>
        <p:nvSpPr>
          <p:cNvPr id="9" name="Text 7"/>
          <p:cNvSpPr/>
          <p:nvPr/>
        </p:nvSpPr>
        <p:spPr>
          <a:xfrm>
            <a:off x="1024128" y="1353312"/>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The kernel measures what tools scale with: projected area per cavity/impression, depth, part volume, faces, holes, undercuts. Nothing is typed in.</a:t>
            </a:r>
            <a:endParaRPr lang="en-US" sz="770" dirty="0"/>
          </a:p>
        </p:txBody>
      </p:sp>
      <p:sp>
        <p:nvSpPr>
          <p:cNvPr id="10" name="Shape 8"/>
          <p:cNvSpPr/>
          <p:nvPr/>
        </p:nvSpPr>
        <p:spPr>
          <a:xfrm>
            <a:off x="457200" y="2048256"/>
            <a:ext cx="6035040" cy="877824"/>
          </a:xfrm>
          <a:prstGeom prst="roundRect">
            <a:avLst>
              <a:gd name="adj" fmla="val 9375"/>
            </a:avLst>
          </a:prstGeom>
          <a:solidFill>
            <a:srgbClr val="FFFFFF"/>
          </a:solidFill>
          <a:ln w="12700">
            <a:solidFill>
              <a:srgbClr val="DCE3EE"/>
            </a:solidFill>
            <a:prstDash val="solid"/>
          </a:ln>
        </p:spPr>
      </p:sp>
      <p:sp>
        <p:nvSpPr>
          <p:cNvPr id="11" name="Shape 9"/>
          <p:cNvSpPr/>
          <p:nvPr/>
        </p:nvSpPr>
        <p:spPr>
          <a:xfrm>
            <a:off x="585216" y="2139696"/>
            <a:ext cx="329184" cy="329184"/>
          </a:xfrm>
          <a:prstGeom prst="ellipse">
            <a:avLst/>
          </a:prstGeom>
          <a:solidFill>
            <a:srgbClr val="0E8074"/>
          </a:solidFill>
          <a:ln/>
        </p:spPr>
      </p:sp>
      <p:sp>
        <p:nvSpPr>
          <p:cNvPr id="12" name="Text 10"/>
          <p:cNvSpPr/>
          <p:nvPr/>
        </p:nvSpPr>
        <p:spPr>
          <a:xfrm>
            <a:off x="585216" y="213969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p:nvPr/>
        </p:nvSpPr>
        <p:spPr>
          <a:xfrm>
            <a:off x="1024128" y="2112264"/>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One shop prices every commodity</a:t>
            </a:r>
            <a:endParaRPr lang="en-US" sz="1000" dirty="0"/>
          </a:p>
        </p:txBody>
      </p:sp>
      <p:sp>
        <p:nvSpPr>
          <p:cNvPr id="14" name="Text 12"/>
          <p:cNvSpPr/>
          <p:nvPr/>
        </p:nvSpPr>
        <p:spPr>
          <a:xfrm>
            <a:off x="1024128" y="2322576"/>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UK toolroom rates: design £58 · CNC £52 · EDM £58 · fitting £48 · polishing £45 · tryout £85 /hr. Tool steels by the kilogram: P20 £6.8 → H13 £9.5 → PM £14; 7075 Al £7.5. Bought-outs each: hot runner £3,800/drop, core-pull cylinder £1,450. The shop’s 22% overhead + profit is its own stated line.</a:t>
            </a:r>
            <a:endParaRPr lang="en-US" sz="770" dirty="0"/>
          </a:p>
        </p:txBody>
      </p:sp>
      <p:sp>
        <p:nvSpPr>
          <p:cNvPr id="15" name="Shape 13"/>
          <p:cNvSpPr/>
          <p:nvPr/>
        </p:nvSpPr>
        <p:spPr>
          <a:xfrm>
            <a:off x="457200" y="3017520"/>
            <a:ext cx="6035040" cy="877824"/>
          </a:xfrm>
          <a:prstGeom prst="roundRect">
            <a:avLst>
              <a:gd name="adj" fmla="val 9375"/>
            </a:avLst>
          </a:prstGeom>
          <a:solidFill>
            <a:srgbClr val="FFFFFF"/>
          </a:solidFill>
          <a:ln w="12700">
            <a:solidFill>
              <a:srgbClr val="DCE3EE"/>
            </a:solidFill>
            <a:prstDash val="solid"/>
          </a:ln>
        </p:spPr>
      </p:sp>
      <p:sp>
        <p:nvSpPr>
          <p:cNvPr id="16" name="Shape 14"/>
          <p:cNvSpPr/>
          <p:nvPr/>
        </p:nvSpPr>
        <p:spPr>
          <a:xfrm>
            <a:off x="585216" y="3108960"/>
            <a:ext cx="329184" cy="329184"/>
          </a:xfrm>
          <a:prstGeom prst="ellipse">
            <a:avLst/>
          </a:prstGeom>
          <a:solidFill>
            <a:srgbClr val="0E8074"/>
          </a:solidFill>
          <a:ln/>
        </p:spPr>
      </p:sp>
      <p:sp>
        <p:nvSpPr>
          <p:cNvPr id="17" name="Text 15"/>
          <p:cNvSpPr/>
          <p:nvPr/>
        </p:nvSpPr>
        <p:spPr>
          <a:xfrm>
            <a:off x="585216" y="310896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8" name="Text 16"/>
          <p:cNvSpPr/>
          <p:nvPr/>
        </p:nvSpPr>
        <p:spPr>
          <a:xfrm>
            <a:off x="1024128" y="3081528"/>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The cavity law drives the hours and the steel</a:t>
            </a:r>
            <a:endParaRPr lang="en-US" sz="1000" dirty="0"/>
          </a:p>
        </p:txBody>
      </p:sp>
      <p:sp>
        <p:nvSpPr>
          <p:cNvPr id="19" name="Text 17"/>
          <p:cNvSpPr/>
          <p:nvPr/>
        </p:nvSpPr>
        <p:spPr>
          <a:xfrm>
            <a:off x="1024128" y="3291840"/>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CNC hours = 12 + 3.4 × area^0.72 per cavity set, depth-corrected (deep draws carry more wall than their shadow shows). Steel mass = area × (depth + 10 cm) × 2 halves × 1.25 × 7.85 g/cm³. EDM, polishing, bench fitting follow as complexity- and finish-driven fractions (5–30% · 8–30% · 25%); design = 30 h + 20% of the programme. Steel class is a real material AND a cutting speed: prototype = 7075 Al ×0.55 h → high-volume = H13 ×1.2 + wear coating.</a:t>
            </a:r>
            <a:endParaRPr lang="en-US" sz="770" dirty="0"/>
          </a:p>
        </p:txBody>
      </p:sp>
      <p:sp>
        <p:nvSpPr>
          <p:cNvPr id="20" name="Shape 18"/>
          <p:cNvSpPr/>
          <p:nvPr/>
        </p:nvSpPr>
        <p:spPr>
          <a:xfrm>
            <a:off x="457200" y="3986784"/>
            <a:ext cx="6035040" cy="877824"/>
          </a:xfrm>
          <a:prstGeom prst="roundRect">
            <a:avLst>
              <a:gd name="adj" fmla="val 9375"/>
            </a:avLst>
          </a:prstGeom>
          <a:solidFill>
            <a:srgbClr val="FFFFFF"/>
          </a:solidFill>
          <a:ln w="12700">
            <a:solidFill>
              <a:srgbClr val="DCE3EE"/>
            </a:solidFill>
            <a:prstDash val="solid"/>
          </a:ln>
        </p:spPr>
      </p:sp>
      <p:sp>
        <p:nvSpPr>
          <p:cNvPr id="21" name="Shape 19"/>
          <p:cNvSpPr/>
          <p:nvPr/>
        </p:nvSpPr>
        <p:spPr>
          <a:xfrm>
            <a:off x="585216" y="4078224"/>
            <a:ext cx="329184" cy="329184"/>
          </a:xfrm>
          <a:prstGeom prst="ellipse">
            <a:avLst/>
          </a:prstGeom>
          <a:solidFill>
            <a:srgbClr val="0E8074"/>
          </a:solidFill>
          <a:ln/>
        </p:spPr>
      </p:sp>
      <p:sp>
        <p:nvSpPr>
          <p:cNvPr id="22" name="Text 20"/>
          <p:cNvSpPr/>
          <p:nvPr/>
        </p:nvSpPr>
        <p:spPr>
          <a:xfrm>
            <a:off x="585216" y="407822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3" name="Text 21"/>
          <p:cNvSpPr/>
          <p:nvPr/>
        </p:nvSpPr>
        <p:spPr>
          <a:xfrm>
            <a:off x="1024128" y="4050792"/>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Life → number of tools → £/part</a:t>
            </a:r>
            <a:endParaRPr lang="en-US" sz="1000" dirty="0"/>
          </a:p>
        </p:txBody>
      </p:sp>
      <p:sp>
        <p:nvSpPr>
          <p:cNvPr id="24" name="Text 22"/>
          <p:cNvSpPr/>
          <p:nvPr/>
        </p:nvSpPr>
        <p:spPr>
          <a:xfrm>
            <a:off x="1024128" y="4261104"/>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Steel class follows the programme shots and sets the life; tools consumed = ceil(shots ÷ life); tooling £/part = tool cost × tools ÷ annual volume, with tolerance (×1.0–2.0) and finish (up to ×1.6 Class-A) uplifts.</a:t>
            </a:r>
            <a:endParaRPr lang="en-US" sz="770" dirty="0"/>
          </a:p>
        </p:txBody>
      </p:sp>
      <p:sp>
        <p:nvSpPr>
          <p:cNvPr id="25" name="Shape 23"/>
          <p:cNvSpPr/>
          <p:nvPr/>
        </p:nvSpPr>
        <p:spPr>
          <a:xfrm>
            <a:off x="457200" y="4956048"/>
            <a:ext cx="6035040" cy="877824"/>
          </a:xfrm>
          <a:prstGeom prst="roundRect">
            <a:avLst>
              <a:gd name="adj" fmla="val 9375"/>
            </a:avLst>
          </a:prstGeom>
          <a:solidFill>
            <a:srgbClr val="FFFFFF"/>
          </a:solidFill>
          <a:ln w="12700">
            <a:solidFill>
              <a:srgbClr val="DCE3EE"/>
            </a:solidFill>
            <a:prstDash val="solid"/>
          </a:ln>
        </p:spPr>
      </p:sp>
      <p:sp>
        <p:nvSpPr>
          <p:cNvPr id="26" name="Shape 24"/>
          <p:cNvSpPr/>
          <p:nvPr/>
        </p:nvSpPr>
        <p:spPr>
          <a:xfrm>
            <a:off x="585216" y="5047488"/>
            <a:ext cx="329184" cy="329184"/>
          </a:xfrm>
          <a:prstGeom prst="ellipse">
            <a:avLst/>
          </a:prstGeom>
          <a:solidFill>
            <a:srgbClr val="0E8074"/>
          </a:solidFill>
          <a:ln/>
        </p:spPr>
      </p:sp>
      <p:sp>
        <p:nvSpPr>
          <p:cNvPr id="27" name="Text 25"/>
          <p:cNvSpPr/>
          <p:nvPr/>
        </p:nvSpPr>
        <p:spPr>
          <a:xfrm>
            <a:off x="585216" y="504748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5</a:t>
            </a:r>
            <a:endParaRPr lang="en-US" sz="1300" dirty="0"/>
          </a:p>
        </p:txBody>
      </p:sp>
      <p:sp>
        <p:nvSpPr>
          <p:cNvPr id="28" name="Text 26"/>
          <p:cNvSpPr/>
          <p:nvPr/>
        </p:nvSpPr>
        <p:spPr>
          <a:xfrm>
            <a:off x="1024128" y="5020056"/>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Two estimates, then the quote wins</a:t>
            </a:r>
            <a:endParaRPr lang="en-US" sz="1000" dirty="0"/>
          </a:p>
        </p:txBody>
      </p:sp>
      <p:sp>
        <p:nvSpPr>
          <p:cNvPr id="29" name="Text 27"/>
          <p:cNvSpPr/>
          <p:nvPr/>
        </p:nvSpPr>
        <p:spPr>
          <a:xfrm>
            <a:off x="1024128" y="5230368"/>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The geometry kernel prices the tool independently from the B-rep; the shop model and the kernel are geometric-mean blended, sanity-clamped, so no single estimator can run away alone. A toolmaker QUOTATION overrides every estimate. Slides = £1,450 cylinder + (28 h + footprint-scaled) bench work each; hot runner = £3,800/drop + £5,500 controller; tryout = (2 + cavities/2) trials × 8 h on the press.</a:t>
            </a:r>
            <a:endParaRPr lang="en-US" sz="770" dirty="0"/>
          </a:p>
        </p:txBody>
      </p:sp>
      <p:sp>
        <p:nvSpPr>
          <p:cNvPr id="30" name="Text 28"/>
          <p:cNvSpPr/>
          <p:nvPr/>
        </p:nvSpPr>
        <p:spPr>
          <a:xfrm>
            <a:off x="6720840" y="1060704"/>
            <a:ext cx="5029200" cy="201168"/>
          </a:xfrm>
          <a:prstGeom prst="rect">
            <a:avLst/>
          </a:prstGeom>
          <a:noFill/>
          <a:ln/>
        </p:spPr>
        <p:txBody>
          <a:bodyPr wrap="square" lIns="0" tIns="0" rIns="0" bIns="0" rtlCol="0" anchor="ctr"/>
          <a:lstStyle/>
          <a:p>
            <a:pPr indent="0" marL="0">
              <a:buNone/>
            </a:pPr>
            <a:r>
              <a:rPr lang="en-US" sz="850" b="1" spc="60" kern="0" dirty="0">
                <a:solidFill>
                  <a:srgbClr val="0E8074"/>
                </a:solidFill>
                <a:latin typeface="Calibri" pitchFamily="34" charset="0"/>
                <a:ea typeface="Calibri" pitchFamily="34" charset="-122"/>
                <a:cs typeface="Calibri" pitchFamily="34" charset="-120"/>
              </a:rPr>
              <a:t>THE PROOF — THE BUMPER MOULD, LINE BY LINE</a:t>
            </a:r>
            <a:endParaRPr lang="en-US" sz="850" dirty="0"/>
          </a:p>
        </p:txBody>
      </p:sp>
      <p:sp>
        <p:nvSpPr>
          <p:cNvPr id="31" name="Shape 29"/>
          <p:cNvSpPr/>
          <p:nvPr/>
        </p:nvSpPr>
        <p:spPr>
          <a:xfrm>
            <a:off x="6720840" y="1298448"/>
            <a:ext cx="5010912" cy="4443984"/>
          </a:xfrm>
          <a:prstGeom prst="roundRect">
            <a:avLst>
              <a:gd name="adj" fmla="val 1852"/>
            </a:avLst>
          </a:prstGeom>
          <a:solidFill>
            <a:srgbClr val="FFFFFF"/>
          </a:solidFill>
          <a:ln w="15875">
            <a:solidFill>
              <a:srgbClr val="0E8074"/>
            </a:solidFill>
            <a:prstDash val="solid"/>
          </a:ln>
        </p:spPr>
      </p:sp>
      <p:sp>
        <p:nvSpPr>
          <p:cNvPr id="32" name="Text 30"/>
          <p:cNvSpPr/>
          <p:nvPr/>
        </p:nvSpPr>
        <p:spPr>
          <a:xfrm>
            <a:off x="6903720" y="1426464"/>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Tool design &amp; CAM</a:t>
            </a:r>
            <a:endParaRPr lang="en-US" sz="820" dirty="0"/>
          </a:p>
        </p:txBody>
      </p:sp>
      <p:sp>
        <p:nvSpPr>
          <p:cNvPr id="33" name="Text 31"/>
          <p:cNvSpPr/>
          <p:nvPr/>
        </p:nvSpPr>
        <p:spPr>
          <a:xfrm>
            <a:off x="9418320" y="1426464"/>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568 h × £58</a:t>
            </a:r>
            <a:endParaRPr lang="en-US" sz="700" dirty="0"/>
          </a:p>
        </p:txBody>
      </p:sp>
      <p:sp>
        <p:nvSpPr>
          <p:cNvPr id="34" name="Text 32"/>
          <p:cNvSpPr/>
          <p:nvPr/>
        </p:nvSpPr>
        <p:spPr>
          <a:xfrm>
            <a:off x="10607040" y="1426464"/>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£32,956</a:t>
            </a:r>
            <a:endParaRPr lang="en-US" sz="780" dirty="0"/>
          </a:p>
        </p:txBody>
      </p:sp>
      <p:sp>
        <p:nvSpPr>
          <p:cNvPr id="35" name="Text 33"/>
          <p:cNvSpPr/>
          <p:nvPr/>
        </p:nvSpPr>
        <p:spPr>
          <a:xfrm>
            <a:off x="6903720" y="1732788"/>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Mould base, guides &amp; ejection</a:t>
            </a:r>
            <a:endParaRPr lang="en-US" sz="820" dirty="0"/>
          </a:p>
        </p:txBody>
      </p:sp>
      <p:sp>
        <p:nvSpPr>
          <p:cNvPr id="36" name="Text 34"/>
          <p:cNvSpPr/>
          <p:nvPr/>
        </p:nvSpPr>
        <p:spPr>
          <a:xfrm>
            <a:off x="9418320" y="1732788"/>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footprint-scaled</a:t>
            </a:r>
            <a:endParaRPr lang="en-US" sz="700" dirty="0"/>
          </a:p>
        </p:txBody>
      </p:sp>
      <p:sp>
        <p:nvSpPr>
          <p:cNvPr id="37" name="Text 35"/>
          <p:cNvSpPr/>
          <p:nvPr/>
        </p:nvSpPr>
        <p:spPr>
          <a:xfrm>
            <a:off x="10607040" y="1732788"/>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£23,019</a:t>
            </a:r>
            <a:endParaRPr lang="en-US" sz="780" dirty="0"/>
          </a:p>
        </p:txBody>
      </p:sp>
      <p:sp>
        <p:nvSpPr>
          <p:cNvPr id="38" name="Text 36"/>
          <p:cNvSpPr/>
          <p:nvPr/>
        </p:nvSpPr>
        <p:spPr>
          <a:xfrm>
            <a:off x="6903720" y="2039112"/>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Cavity + core steel (P20-hard)</a:t>
            </a:r>
            <a:endParaRPr lang="en-US" sz="820" dirty="0"/>
          </a:p>
        </p:txBody>
      </p:sp>
      <p:sp>
        <p:nvSpPr>
          <p:cNvPr id="39" name="Text 37"/>
          <p:cNvSpPr/>
          <p:nvPr/>
        </p:nvSpPr>
        <p:spPr>
          <a:xfrm>
            <a:off x="9418320" y="2039112"/>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8,469 kg × £8.2</a:t>
            </a:r>
            <a:endParaRPr lang="en-US" sz="700" dirty="0"/>
          </a:p>
        </p:txBody>
      </p:sp>
      <p:sp>
        <p:nvSpPr>
          <p:cNvPr id="40" name="Text 38"/>
          <p:cNvSpPr/>
          <p:nvPr/>
        </p:nvSpPr>
        <p:spPr>
          <a:xfrm>
            <a:off x="10607040" y="2039112"/>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£69,443</a:t>
            </a:r>
            <a:endParaRPr lang="en-US" sz="780" dirty="0"/>
          </a:p>
        </p:txBody>
      </p:sp>
      <p:sp>
        <p:nvSpPr>
          <p:cNvPr id="41" name="Text 39"/>
          <p:cNvSpPr/>
          <p:nvPr/>
        </p:nvSpPr>
        <p:spPr>
          <a:xfrm>
            <a:off x="6903720" y="2345436"/>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CNC cavity/core machining</a:t>
            </a:r>
            <a:endParaRPr lang="en-US" sz="820" dirty="0"/>
          </a:p>
        </p:txBody>
      </p:sp>
      <p:sp>
        <p:nvSpPr>
          <p:cNvPr id="42" name="Text 40"/>
          <p:cNvSpPr/>
          <p:nvPr/>
        </p:nvSpPr>
        <p:spPr>
          <a:xfrm>
            <a:off x="9418320" y="2345436"/>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2,691 h × £52</a:t>
            </a:r>
            <a:endParaRPr lang="en-US" sz="700" dirty="0"/>
          </a:p>
        </p:txBody>
      </p:sp>
      <p:sp>
        <p:nvSpPr>
          <p:cNvPr id="43" name="Text 41"/>
          <p:cNvSpPr/>
          <p:nvPr/>
        </p:nvSpPr>
        <p:spPr>
          <a:xfrm>
            <a:off x="10607040" y="2345436"/>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£139,936</a:t>
            </a:r>
            <a:endParaRPr lang="en-US" sz="780" dirty="0"/>
          </a:p>
        </p:txBody>
      </p:sp>
      <p:sp>
        <p:nvSpPr>
          <p:cNvPr id="44" name="Text 42"/>
          <p:cNvSpPr/>
          <p:nvPr/>
        </p:nvSpPr>
        <p:spPr>
          <a:xfrm>
            <a:off x="6903720" y="2651760"/>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EDM (ribs, slots, corners)</a:t>
            </a:r>
            <a:endParaRPr lang="en-US" sz="820" dirty="0"/>
          </a:p>
        </p:txBody>
      </p:sp>
      <p:sp>
        <p:nvSpPr>
          <p:cNvPr id="45" name="Text 43"/>
          <p:cNvSpPr/>
          <p:nvPr/>
        </p:nvSpPr>
        <p:spPr>
          <a:xfrm>
            <a:off x="9418320" y="2651760"/>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336 h × £58</a:t>
            </a:r>
            <a:endParaRPr lang="en-US" sz="700" dirty="0"/>
          </a:p>
        </p:txBody>
      </p:sp>
      <p:sp>
        <p:nvSpPr>
          <p:cNvPr id="46" name="Text 44"/>
          <p:cNvSpPr/>
          <p:nvPr/>
        </p:nvSpPr>
        <p:spPr>
          <a:xfrm>
            <a:off x="10607040" y="2651760"/>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£19,510</a:t>
            </a:r>
            <a:endParaRPr lang="en-US" sz="780" dirty="0"/>
          </a:p>
        </p:txBody>
      </p:sp>
      <p:sp>
        <p:nvSpPr>
          <p:cNvPr id="47" name="Text 45"/>
          <p:cNvSpPr/>
          <p:nvPr/>
        </p:nvSpPr>
        <p:spPr>
          <a:xfrm>
            <a:off x="6903720" y="2958084"/>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Polishing</a:t>
            </a:r>
            <a:endParaRPr lang="en-US" sz="820" dirty="0"/>
          </a:p>
        </p:txBody>
      </p:sp>
      <p:sp>
        <p:nvSpPr>
          <p:cNvPr id="48" name="Text 46"/>
          <p:cNvSpPr/>
          <p:nvPr/>
        </p:nvSpPr>
        <p:spPr>
          <a:xfrm>
            <a:off x="9418320" y="2958084"/>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269 h × £45</a:t>
            </a:r>
            <a:endParaRPr lang="en-US" sz="700" dirty="0"/>
          </a:p>
        </p:txBody>
      </p:sp>
      <p:sp>
        <p:nvSpPr>
          <p:cNvPr id="49" name="Text 47"/>
          <p:cNvSpPr/>
          <p:nvPr/>
        </p:nvSpPr>
        <p:spPr>
          <a:xfrm>
            <a:off x="10607040" y="2958084"/>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£12,110</a:t>
            </a:r>
            <a:endParaRPr lang="en-US" sz="780" dirty="0"/>
          </a:p>
        </p:txBody>
      </p:sp>
      <p:sp>
        <p:nvSpPr>
          <p:cNvPr id="50" name="Text 48"/>
          <p:cNvSpPr/>
          <p:nvPr/>
        </p:nvSpPr>
        <p:spPr>
          <a:xfrm>
            <a:off x="6903720" y="3264408"/>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Bench fitting &amp; spotting</a:t>
            </a:r>
            <a:endParaRPr lang="en-US" sz="820" dirty="0"/>
          </a:p>
        </p:txBody>
      </p:sp>
      <p:sp>
        <p:nvSpPr>
          <p:cNvPr id="51" name="Text 49"/>
          <p:cNvSpPr/>
          <p:nvPr/>
        </p:nvSpPr>
        <p:spPr>
          <a:xfrm>
            <a:off x="9418320" y="3264408"/>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673 h × £48</a:t>
            </a:r>
            <a:endParaRPr lang="en-US" sz="700" dirty="0"/>
          </a:p>
        </p:txBody>
      </p:sp>
      <p:sp>
        <p:nvSpPr>
          <p:cNvPr id="52" name="Text 50"/>
          <p:cNvSpPr/>
          <p:nvPr/>
        </p:nvSpPr>
        <p:spPr>
          <a:xfrm>
            <a:off x="10607040" y="3264408"/>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£32,293</a:t>
            </a:r>
            <a:endParaRPr lang="en-US" sz="780" dirty="0"/>
          </a:p>
        </p:txBody>
      </p:sp>
      <p:sp>
        <p:nvSpPr>
          <p:cNvPr id="53" name="Text 51"/>
          <p:cNvSpPr/>
          <p:nvPr/>
        </p:nvSpPr>
        <p:spPr>
          <a:xfrm>
            <a:off x="6903720" y="3570732"/>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Mould tryout — 5 trials</a:t>
            </a:r>
            <a:endParaRPr lang="en-US" sz="820" dirty="0"/>
          </a:p>
        </p:txBody>
      </p:sp>
      <p:sp>
        <p:nvSpPr>
          <p:cNvPr id="54" name="Text 52"/>
          <p:cNvSpPr/>
          <p:nvPr/>
        </p:nvSpPr>
        <p:spPr>
          <a:xfrm>
            <a:off x="9418320" y="3570732"/>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40 h × £85</a:t>
            </a:r>
            <a:endParaRPr lang="en-US" sz="700" dirty="0"/>
          </a:p>
        </p:txBody>
      </p:sp>
      <p:sp>
        <p:nvSpPr>
          <p:cNvPr id="55" name="Text 53"/>
          <p:cNvSpPr/>
          <p:nvPr/>
        </p:nvSpPr>
        <p:spPr>
          <a:xfrm>
            <a:off x="10607040" y="3570732"/>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£3,400</a:t>
            </a:r>
            <a:endParaRPr lang="en-US" sz="780" dirty="0"/>
          </a:p>
        </p:txBody>
      </p:sp>
      <p:sp>
        <p:nvSpPr>
          <p:cNvPr id="56" name="Text 54"/>
          <p:cNvSpPr/>
          <p:nvPr/>
        </p:nvSpPr>
        <p:spPr>
          <a:xfrm>
            <a:off x="6903720" y="3877056"/>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Core-pull cylinders × 3 + fitting</a:t>
            </a:r>
            <a:endParaRPr lang="en-US" sz="820" dirty="0"/>
          </a:p>
        </p:txBody>
      </p:sp>
      <p:sp>
        <p:nvSpPr>
          <p:cNvPr id="57" name="Text 55"/>
          <p:cNvSpPr/>
          <p:nvPr/>
        </p:nvSpPr>
        <p:spPr>
          <a:xfrm>
            <a:off x="9418320" y="3877056"/>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bought-out + bench</a:t>
            </a:r>
            <a:endParaRPr lang="en-US" sz="700" dirty="0"/>
          </a:p>
        </p:txBody>
      </p:sp>
      <p:sp>
        <p:nvSpPr>
          <p:cNvPr id="58" name="Text 56"/>
          <p:cNvSpPr/>
          <p:nvPr/>
        </p:nvSpPr>
        <p:spPr>
          <a:xfrm>
            <a:off x="10607040" y="3877056"/>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£14,862</a:t>
            </a:r>
            <a:endParaRPr lang="en-US" sz="780" dirty="0"/>
          </a:p>
        </p:txBody>
      </p:sp>
      <p:sp>
        <p:nvSpPr>
          <p:cNvPr id="59" name="Text 57"/>
          <p:cNvSpPr/>
          <p:nvPr/>
        </p:nvSpPr>
        <p:spPr>
          <a:xfrm>
            <a:off x="6903720" y="4183380"/>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Toolmaker overhead + profit</a:t>
            </a:r>
            <a:endParaRPr lang="en-US" sz="820" dirty="0"/>
          </a:p>
        </p:txBody>
      </p:sp>
      <p:sp>
        <p:nvSpPr>
          <p:cNvPr id="60" name="Text 58"/>
          <p:cNvSpPr/>
          <p:nvPr/>
        </p:nvSpPr>
        <p:spPr>
          <a:xfrm>
            <a:off x="9418320" y="4183380"/>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22%</a:t>
            </a:r>
            <a:endParaRPr lang="en-US" sz="700" dirty="0"/>
          </a:p>
        </p:txBody>
      </p:sp>
      <p:sp>
        <p:nvSpPr>
          <p:cNvPr id="61" name="Text 59"/>
          <p:cNvSpPr/>
          <p:nvPr/>
        </p:nvSpPr>
        <p:spPr>
          <a:xfrm>
            <a:off x="10607040" y="4183380"/>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£76,456</a:t>
            </a:r>
            <a:endParaRPr lang="en-US" sz="780" dirty="0"/>
          </a:p>
        </p:txBody>
      </p:sp>
      <p:sp>
        <p:nvSpPr>
          <p:cNvPr id="62" name="Shape 60"/>
          <p:cNvSpPr/>
          <p:nvPr/>
        </p:nvSpPr>
        <p:spPr>
          <a:xfrm>
            <a:off x="6903720" y="4535424"/>
            <a:ext cx="4663440" cy="0"/>
          </a:xfrm>
          <a:prstGeom prst="line">
            <a:avLst/>
          </a:prstGeom>
          <a:noFill/>
          <a:ln w="12700">
            <a:solidFill>
              <a:srgbClr val="0E8074"/>
            </a:solidFill>
            <a:prstDash val="solid"/>
          </a:ln>
        </p:spPr>
      </p:sp>
      <p:sp>
        <p:nvSpPr>
          <p:cNvPr id="63" name="Text 61"/>
          <p:cNvSpPr/>
          <p:nvPr/>
        </p:nvSpPr>
        <p:spPr>
          <a:xfrm>
            <a:off x="6903720" y="4626864"/>
            <a:ext cx="4663440" cy="1005840"/>
          </a:xfrm>
          <a:prstGeom prst="rect">
            <a:avLst/>
          </a:prstGeom>
          <a:noFill/>
          <a:ln/>
        </p:spPr>
        <p:txBody>
          <a:bodyPr wrap="square" lIns="0" tIns="0" rIns="0" bIns="0" rtlCol="0" anchor="t"/>
          <a:lstStyle/>
          <a:p>
            <a:pPr indent="0" marL="0">
              <a:buNone/>
            </a:pPr>
            <a:r>
              <a:rPr lang="en-US" sz="1050" b="1" dirty="0">
                <a:solidFill>
                  <a:srgbClr val="0E8074"/>
                </a:solidFill>
                <a:latin typeface="Calibri" pitchFamily="34" charset="0"/>
                <a:ea typeface="Calibri" pitchFamily="34" charset="-122"/>
                <a:cs typeface="Calibri" pitchFamily="34" charset="-120"/>
              </a:rPr>
              <a:t>Engine total £423,985</a:t>
            </a:r>
            <a:pPr indent="0" marL="0">
              <a:buNone/>
            </a:pPr>
            <a:r>
              <a:rPr lang="en-US" sz="900" dirty="0">
                <a:solidFill>
                  <a:srgbClr val="3A4356"/>
                </a:solidFill>
                <a:latin typeface="Calibri" pitchFamily="34" charset="0"/>
                <a:ea typeface="Calibri" pitchFamily="34" charset="-122"/>
                <a:cs typeface="Calibri" pitchFamily="34" charset="-120"/>
              </a:rPr>
              <a:t>  vs the toolmaker’s real quotation </a:t>
            </a:r>
            <a:pPr indent="0" marL="0">
              <a:buNone/>
            </a:pPr>
            <a:r>
              <a:rPr lang="en-US" sz="1050" b="1" dirty="0">
                <a:solidFill>
                  <a:srgbClr val="16325C"/>
                </a:solidFill>
                <a:latin typeface="Calibri" pitchFamily="34" charset="0"/>
                <a:ea typeface="Calibri" pitchFamily="34" charset="-122"/>
                <a:cs typeface="Calibri" pitchFamily="34" charset="-120"/>
              </a:rPr>
              <a:t>£420,000</a:t>
            </a:r>
            <a:pPr indent="0" marL="0">
              <a:buNone/>
            </a:pPr>
            <a:r>
              <a:rPr lang="en-US" sz="840" dirty="0">
                <a:solidFill>
                  <a:srgbClr val="3A4356"/>
                </a:solidFill>
                <a:latin typeface="Calibri" pitchFamily="34" charset="0"/>
                <a:ea typeface="Calibri" pitchFamily="34" charset="-122"/>
                <a:cs typeface="Calibri" pitchFamily="34" charset="-120"/>
              </a:rPr>
              <a:t>  — within 1%. 4,797 toolroom hours; every line is a number a toolmaker can argue with, and that is the point.</a:t>
            </a:r>
            <a:endParaRPr lang="en-US" sz="1050" dirty="0"/>
          </a:p>
        </p:txBody>
      </p:sp>
      <p:sp>
        <p:nvSpPr>
          <p:cNvPr id="64" name="Shape 62"/>
          <p:cNvSpPr/>
          <p:nvPr/>
        </p:nvSpPr>
        <p:spPr>
          <a:xfrm>
            <a:off x="457200" y="5870448"/>
            <a:ext cx="11274552" cy="502920"/>
          </a:xfrm>
          <a:prstGeom prst="roundRect">
            <a:avLst>
              <a:gd name="adj" fmla="val 14545"/>
            </a:avLst>
          </a:prstGeom>
          <a:solidFill>
            <a:srgbClr val="E7F4F2"/>
          </a:solidFill>
          <a:ln w="12700">
            <a:solidFill>
              <a:srgbClr val="0E8074"/>
            </a:solidFill>
            <a:prstDash val="solid"/>
          </a:ln>
        </p:spPr>
      </p:sp>
      <p:sp>
        <p:nvSpPr>
          <p:cNvPr id="65" name="Text 63"/>
          <p:cNvSpPr/>
          <p:nvPr/>
        </p:nvSpPr>
        <p:spPr>
          <a:xfrm>
            <a:off x="621792" y="5870448"/>
            <a:ext cx="10972800" cy="502920"/>
          </a:xfrm>
          <a:prstGeom prst="rect">
            <a:avLst/>
          </a:prstGeom>
          <a:noFill/>
          <a:ln/>
        </p:spPr>
        <p:txBody>
          <a:bodyPr wrap="square" lIns="0" tIns="0" rIns="0" bIns="0" rtlCol="0" anchor="ctr"/>
          <a:lstStyle/>
          <a:p>
            <a:pPr indent="0" marL="0">
              <a:buNone/>
            </a:pPr>
            <a:r>
              <a:rPr lang="en-US" sz="980" b="1" dirty="0">
                <a:solidFill>
                  <a:srgbClr val="0E8074"/>
                </a:solidFill>
                <a:latin typeface="Calibri" pitchFamily="34" charset="0"/>
                <a:ea typeface="Calibri" pitchFamily="34" charset="-122"/>
                <a:cs typeface="Calibri" pitchFamily="34" charset="-120"/>
              </a:rPr>
              <a:t>Read it in one line:  </a:t>
            </a:r>
            <a:pPr indent="0" marL="0">
              <a:buNone/>
            </a:pPr>
            <a:r>
              <a:rPr lang="en-US" sz="980" dirty="0">
                <a:solidFill>
                  <a:srgbClr val="3A4356"/>
                </a:solidFill>
                <a:latin typeface="Calibri" pitchFamily="34" charset="0"/>
                <a:ea typeface="Calibri" pitchFamily="34" charset="-122"/>
                <a:cs typeface="Calibri" pitchFamily="34" charset="-120"/>
              </a:rPr>
              <a:t>tooling is a toolmaker’s quotation the engine writes itself — hours × rate, steel by the kilogram, bought-outs each, overhead stated — validated against a real quotation, and a real quotation still beats it every time.</a:t>
            </a:r>
            <a:endParaRPr lang="en-US" sz="980" dirty="0"/>
          </a:p>
        </p:txBody>
      </p:sp>
      <p:sp>
        <p:nvSpPr>
          <p:cNvPr id="66" name="Text 6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7" name="Text 6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22</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How Tooling Is Priced II — Forging, Stamping, Blow Moulding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same shop, commodity by commodity — every formula stated, every constant in unit-tested source</a:t>
            </a:r>
            <a:endParaRPr lang="en-US" sz="1200" dirty="0"/>
          </a:p>
        </p:txBody>
      </p:sp>
      <p:sp>
        <p:nvSpPr>
          <p:cNvPr id="5" name="Shape 3"/>
          <p:cNvSpPr/>
          <p:nvPr/>
        </p:nvSpPr>
        <p:spPr>
          <a:xfrm>
            <a:off x="457200" y="1097280"/>
            <a:ext cx="5532120" cy="2212848"/>
          </a:xfrm>
          <a:prstGeom prst="roundRect">
            <a:avLst>
              <a:gd name="adj" fmla="val 3719"/>
            </a:avLst>
          </a:prstGeom>
          <a:solidFill>
            <a:srgbClr val="FFFFFF"/>
          </a:solidFill>
          <a:ln w="15875">
            <a:solidFill>
              <a:srgbClr val="0E8074"/>
            </a:solidFill>
            <a:prstDash val="solid"/>
          </a:ln>
        </p:spPr>
      </p:sp>
      <p:sp>
        <p:nvSpPr>
          <p:cNvPr id="6" name="Text 4"/>
          <p:cNvSpPr/>
          <p:nvPr/>
        </p:nvSpPr>
        <p:spPr>
          <a:xfrm>
            <a:off x="640080" y="1188720"/>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FORGING DIE  ·  shop build-up</a:t>
            </a:r>
            <a:endParaRPr lang="en-US" sz="840" dirty="0"/>
          </a:p>
        </p:txBody>
      </p:sp>
      <p:sp>
        <p:nvSpPr>
          <p:cNvPr id="7" name="Text 5"/>
          <p:cNvSpPr/>
          <p:nvPr/>
        </p:nvSpPr>
        <p:spPr>
          <a:xfrm>
            <a:off x="640080" y="1426464"/>
            <a:ext cx="5166360" cy="804672"/>
          </a:xfrm>
          <a:prstGeom prst="rect">
            <a:avLst/>
          </a:prstGeom>
          <a:noFill/>
          <a:ln/>
        </p:spPr>
        <p:txBody>
          <a:bodyPr wrap="square" lIns="0" tIns="0" rIns="0" bIns="0" rtlCol="0" anchor="t"/>
          <a:lstStyle/>
          <a:p>
            <a:pPr indent="0" marL="0">
              <a:buNone/>
            </a:pPr>
            <a:r>
              <a:rPr lang="en-US" sz="690" dirty="0">
                <a:solidFill>
                  <a:srgbClr val="3A4356"/>
                </a:solidFill>
                <a:latin typeface="Courier New" pitchFamily="34" charset="0"/>
                <a:ea typeface="Courier New" pitchFamily="34" charset="-122"/>
                <a:cs typeface="Courier New" pitchFamily="34" charset="-120"/>
              </a:rPr>
              <a:t>die blocks: face 4× silhouette × 2 halves, steel by kg</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  (hammer 1.2714 £5.8 · H13 £9.5 · PM £14)</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sinking: (40 + 0.9×area^0.85) h/impression × complexity × steel</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 block prep + EDM 25% + harden £2,500+£2.2/kg + polish + tryout</a:t>
            </a:r>
            <a:endParaRPr lang="en-US" sz="690" dirty="0"/>
          </a:p>
        </p:txBody>
      </p:sp>
      <p:sp>
        <p:nvSpPr>
          <p:cNvPr id="8" name="Text 6"/>
          <p:cNvSpPr/>
          <p:nvPr/>
        </p:nvSpPr>
        <p:spPr>
          <a:xfrm>
            <a:off x="640080" y="2267712"/>
            <a:ext cx="5166360" cy="987552"/>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Die life is ALLOY-KEYED: base hits by alloy (aluminium 80,000 · carbon steel 40,000 · alloy steel 30,000 · stainless 18,000 · titanium 8,000 · superalloy 3,500) × complexity (0.6–1.3) × size penalty (100/area)^0.2 — the forged metal, not the die, decides how long the die lives.</a:t>
            </a:r>
            <a:endParaRPr lang="en-US" sz="780" dirty="0"/>
          </a:p>
        </p:txBody>
      </p:sp>
      <p:sp>
        <p:nvSpPr>
          <p:cNvPr id="9" name="Shape 7"/>
          <p:cNvSpPr/>
          <p:nvPr/>
        </p:nvSpPr>
        <p:spPr>
          <a:xfrm>
            <a:off x="6199632" y="1097280"/>
            <a:ext cx="5532120" cy="2212848"/>
          </a:xfrm>
          <a:prstGeom prst="roundRect">
            <a:avLst>
              <a:gd name="adj" fmla="val 3719"/>
            </a:avLst>
          </a:prstGeom>
          <a:solidFill>
            <a:srgbClr val="FFFFFF"/>
          </a:solidFill>
          <a:ln w="15875">
            <a:solidFill>
              <a:srgbClr val="0E8074"/>
            </a:solidFill>
            <a:prstDash val="solid"/>
          </a:ln>
        </p:spPr>
      </p:sp>
      <p:sp>
        <p:nvSpPr>
          <p:cNvPr id="10" name="Text 8"/>
          <p:cNvSpPr/>
          <p:nvPr/>
        </p:nvSpPr>
        <p:spPr>
          <a:xfrm>
            <a:off x="6382512" y="1188720"/>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STAMPING DIE  ·  shop build-up</a:t>
            </a:r>
            <a:endParaRPr lang="en-US" sz="840" dirty="0"/>
          </a:p>
        </p:txBody>
      </p:sp>
      <p:sp>
        <p:nvSpPr>
          <p:cNvPr id="11" name="Text 9"/>
          <p:cNvSpPr/>
          <p:nvPr/>
        </p:nvSpPr>
        <p:spPr>
          <a:xfrm>
            <a:off x="6382512" y="1426464"/>
            <a:ext cx="5166360" cy="804672"/>
          </a:xfrm>
          <a:prstGeom prst="rect">
            <a:avLst/>
          </a:prstGeom>
          <a:noFill/>
          <a:ln/>
        </p:spPr>
        <p:txBody>
          <a:bodyPr wrap="square" lIns="0" tIns="0" rIns="0" bIns="0" rtlCol="0" anchor="t"/>
          <a:lstStyle/>
          <a:p>
            <a:pPr indent="0" marL="0">
              <a:buNone/>
            </a:pPr>
            <a:r>
              <a:rPr lang="en-US" sz="690" dirty="0">
                <a:solidFill>
                  <a:srgbClr val="3A4356"/>
                </a:solidFill>
                <a:latin typeface="Courier New" pitchFamily="34" charset="0"/>
                <a:ea typeface="Courier New" pitchFamily="34" charset="-122"/>
                <a:cs typeface="Courier New" pitchFamily="34" charset="-120"/>
              </a:rPr>
              <a:t>die set £2,900 + £3.20/cm² + strip-design NRE by die type</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per station: H13 sections by kg + (70 + 0.11×blank cm²) h</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  × hardness × type — split wire-EDM 35% / CNC 45% / fitting 20%</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 die-set machining + 4 tryout strip runs</a:t>
            </a:r>
            <a:endParaRPr lang="en-US" sz="690" dirty="0"/>
          </a:p>
        </p:txBody>
      </p:sp>
      <p:sp>
        <p:nvSpPr>
          <p:cNvPr id="12" name="Text 10"/>
          <p:cNvSpPr/>
          <p:nvPr/>
        </p:nvSpPr>
        <p:spPr>
          <a:xfrm>
            <a:off x="6382512" y="2267712"/>
            <a:ext cx="5166360" cy="987552"/>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Die life = 1M strokes × (300 ÷ shear MPa)^1.3 × thickness factor (× 0.6 fine-blanking), clamped 50k–3M — harder, thicker steel wears the tool faster and the law says by how much. Validation: the shop model and the kernel’s independent B-rep estimate agree within 1.5% on the reference die.</a:t>
            </a:r>
            <a:endParaRPr lang="en-US" sz="780" dirty="0"/>
          </a:p>
        </p:txBody>
      </p:sp>
      <p:sp>
        <p:nvSpPr>
          <p:cNvPr id="13" name="Shape 11"/>
          <p:cNvSpPr/>
          <p:nvPr/>
        </p:nvSpPr>
        <p:spPr>
          <a:xfrm>
            <a:off x="457200" y="3438144"/>
            <a:ext cx="5532120" cy="2212848"/>
          </a:xfrm>
          <a:prstGeom prst="roundRect">
            <a:avLst>
              <a:gd name="adj" fmla="val 3719"/>
            </a:avLst>
          </a:prstGeom>
          <a:solidFill>
            <a:srgbClr val="FFFFFF"/>
          </a:solidFill>
          <a:ln w="15875">
            <a:solidFill>
              <a:srgbClr val="0E8074"/>
            </a:solidFill>
            <a:prstDash val="solid"/>
          </a:ln>
        </p:spPr>
      </p:sp>
      <p:sp>
        <p:nvSpPr>
          <p:cNvPr id="14" name="Text 12"/>
          <p:cNvSpPr/>
          <p:nvPr/>
        </p:nvSpPr>
        <p:spPr>
          <a:xfrm>
            <a:off x="640080" y="3529584"/>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BLOW MOULD  ·  shop build-up</a:t>
            </a:r>
            <a:endParaRPr lang="en-US" sz="840" dirty="0"/>
          </a:p>
        </p:txBody>
      </p:sp>
      <p:sp>
        <p:nvSpPr>
          <p:cNvPr id="15" name="Text 13"/>
          <p:cNvSpPr/>
          <p:nvPr/>
        </p:nvSpPr>
        <p:spPr>
          <a:xfrm>
            <a:off x="640080" y="3767328"/>
            <a:ext cx="5166360" cy="804672"/>
          </a:xfrm>
          <a:prstGeom prst="rect">
            <a:avLst/>
          </a:prstGeom>
          <a:noFill/>
          <a:ln/>
        </p:spPr>
        <p:txBody>
          <a:bodyPr wrap="square" lIns="0" tIns="0" rIns="0" bIns="0" rtlCol="0" anchor="t"/>
          <a:lstStyle/>
          <a:p>
            <a:pPr indent="0" marL="0">
              <a:buNone/>
            </a:pPr>
            <a:r>
              <a:rPr lang="en-US" sz="690" dirty="0">
                <a:solidFill>
                  <a:srgbClr val="3A4356"/>
                </a:solidFill>
                <a:latin typeface="Courier New" pitchFamily="34" charset="0"/>
                <a:ea typeface="Courier New" pitchFamily="34" charset="-122"/>
                <a:cs typeface="Courier New" pitchFamily="34" charset="-120"/>
              </a:rPr>
              <a:t>cavity halves: 14 × litres^0.75 kg (Al 7075 or P20/H13)</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CNC: (30 + 9.5 × litres) h × material · cooling drilling 8–20%</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 frame + pinch-off inserts + IBM/SBM core-rod tooling + tryout</a:t>
            </a:r>
            <a:endParaRPr lang="en-US" sz="690" dirty="0"/>
          </a:p>
        </p:txBody>
      </p:sp>
      <p:sp>
        <p:nvSpPr>
          <p:cNvPr id="16" name="Text 14"/>
          <p:cNvSpPr/>
          <p:nvPr/>
        </p:nvSpPr>
        <p:spPr>
          <a:xfrm>
            <a:off x="640080" y="4608576"/>
            <a:ext cx="5166360" cy="987552"/>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A container’s cavity is its whole inner surface, so hours scale with the litres it holds — not with a projected shadow. Life follows the mould material: aluminium 500,000 · P20 1M · H13 2M shots. Sanity: a 60 L tank tool prices £73k, inside the £60–75k industry band.</a:t>
            </a:r>
            <a:endParaRPr lang="en-US" sz="780" dirty="0"/>
          </a:p>
        </p:txBody>
      </p:sp>
      <p:sp>
        <p:nvSpPr>
          <p:cNvPr id="17" name="Shape 15"/>
          <p:cNvSpPr/>
          <p:nvPr/>
        </p:nvSpPr>
        <p:spPr>
          <a:xfrm>
            <a:off x="6199632" y="3438144"/>
            <a:ext cx="5532120" cy="2212848"/>
          </a:xfrm>
          <a:prstGeom prst="roundRect">
            <a:avLst>
              <a:gd name="adj" fmla="val 3719"/>
            </a:avLst>
          </a:prstGeom>
          <a:solidFill>
            <a:srgbClr val="FFFFFF"/>
          </a:solidFill>
          <a:ln w="15875">
            <a:solidFill>
              <a:srgbClr val="0E8074"/>
            </a:solidFill>
            <a:prstDash val="solid"/>
          </a:ln>
        </p:spPr>
      </p:sp>
      <p:sp>
        <p:nvSpPr>
          <p:cNvPr id="18" name="Text 16"/>
          <p:cNvSpPr/>
          <p:nvPr/>
        </p:nvSpPr>
        <p:spPr>
          <a:xfrm>
            <a:off x="6382512" y="3529584"/>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CASTING · MACHINING · INVESTMENT</a:t>
            </a:r>
            <a:endParaRPr lang="en-US" sz="840" dirty="0"/>
          </a:p>
        </p:txBody>
      </p:sp>
      <p:sp>
        <p:nvSpPr>
          <p:cNvPr id="19" name="Text 17"/>
          <p:cNvSpPr/>
          <p:nvPr/>
        </p:nvSpPr>
        <p:spPr>
          <a:xfrm>
            <a:off x="6382512" y="3767328"/>
            <a:ext cx="5166360" cy="804672"/>
          </a:xfrm>
          <a:prstGeom prst="rect">
            <a:avLst/>
          </a:prstGeom>
          <a:noFill/>
          <a:ln/>
        </p:spPr>
        <p:txBody>
          <a:bodyPr wrap="square" lIns="0" tIns="0" rIns="0" bIns="0" rtlCol="0" anchor="t"/>
          <a:lstStyle/>
          <a:p>
            <a:pPr indent="0" marL="0">
              <a:buNone/>
            </a:pPr>
            <a:r>
              <a:rPr lang="en-US" sz="690" dirty="0">
                <a:solidFill>
                  <a:srgbClr val="3A4356"/>
                </a:solidFill>
                <a:latin typeface="Courier New" pitchFamily="34" charset="0"/>
                <a:ea typeface="Courier New" pitchFamily="34" charset="-122"/>
                <a:cs typeface="Courier New" pitchFamily="34" charset="-120"/>
              </a:rPr>
              <a:t>HPDC/gravity/sand: the kernel B-rep parametric is PRIMARY on the</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CAD path; the same shop model prices STL and manual paths</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(H13 die + shot sleeve + cooling drilling + stress-relief HT).</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Machining: fixtures + £15,000 CNC-programming NRE, amortised.</a:t>
            </a:r>
            <a:endParaRPr lang="en-US" sz="690" dirty="0"/>
          </a:p>
        </p:txBody>
      </p:sp>
      <p:sp>
        <p:nvSpPr>
          <p:cNvPr id="20" name="Text 18"/>
          <p:cNvSpPr/>
          <p:nvPr/>
        </p:nvSpPr>
        <p:spPr>
          <a:xfrm>
            <a:off x="6382512" y="4608576"/>
            <a:ext cx="5166360" cy="987552"/>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INVESTMENT tooling is priced as what it physically is: a wax-injection tool is an aluminium/P20 mould run at low pressure — the mould shop model × 0.8, plus £1,200 per soluble-core box. And the one rule above everything on both slides: a toolmaker quotation overrides every estimate, always.</a:t>
            </a:r>
            <a:endParaRPr lang="en-US" sz="780" dirty="0"/>
          </a:p>
        </p:txBody>
      </p:sp>
      <p:sp>
        <p:nvSpPr>
          <p:cNvPr id="21" name="Shape 19"/>
          <p:cNvSpPr/>
          <p:nvPr/>
        </p:nvSpPr>
        <p:spPr>
          <a:xfrm>
            <a:off x="457200" y="5870448"/>
            <a:ext cx="11274552" cy="502920"/>
          </a:xfrm>
          <a:prstGeom prst="roundRect">
            <a:avLst>
              <a:gd name="adj" fmla="val 14545"/>
            </a:avLst>
          </a:prstGeom>
          <a:solidFill>
            <a:srgbClr val="E7F4F2"/>
          </a:solidFill>
          <a:ln w="12700">
            <a:solidFill>
              <a:srgbClr val="0E8074"/>
            </a:solidFill>
            <a:prstDash val="solid"/>
          </a:ln>
        </p:spPr>
      </p:sp>
      <p:sp>
        <p:nvSpPr>
          <p:cNvPr id="22" name="Text 20"/>
          <p:cNvSpPr/>
          <p:nvPr/>
        </p:nvSpPr>
        <p:spPr>
          <a:xfrm>
            <a:off x="621792" y="5870448"/>
            <a:ext cx="10972800" cy="502920"/>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Why you can trust these numbers:  </a:t>
            </a:r>
            <a:pPr indent="0" marL="0">
              <a:buNone/>
            </a:pPr>
            <a:r>
              <a:rPr lang="en-US" sz="940" dirty="0">
                <a:solidFill>
                  <a:srgbClr val="3A4356"/>
                </a:solidFill>
                <a:latin typeface="Calibri" pitchFamily="34" charset="0"/>
                <a:ea typeface="Calibri" pitchFamily="34" charset="-122"/>
                <a:cs typeface="Calibri" pitchFamily="34" charset="-120"/>
              </a:rPr>
              <a:t>every tool is priced the way a toolmaker quotes it — hours × toolroom rates, steel by the kilogram, bought-outs each, the shop’s 22% overhead as its own line — in unit-tested source, validated against a real quotation and cross-checked by the geometry kernel’s independent B-rep estimates. This is a tooling model, not a percentage on the part price.</a:t>
            </a:r>
            <a:endParaRPr lang="en-US" sz="940" dirty="0"/>
          </a:p>
        </p:txBody>
      </p:sp>
      <p:sp>
        <p:nvSpPr>
          <p:cNvPr id="23" name="Text 2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24" name="Text 2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23</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Where Every Number Comes From</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hallucination question, answered precisely</a:t>
            </a:r>
            <a:endParaRPr lang="en-US" sz="1200" dirty="0"/>
          </a:p>
        </p:txBody>
      </p:sp>
      <p:sp>
        <p:nvSpPr>
          <p:cNvPr id="5" name="Shape 3"/>
          <p:cNvSpPr/>
          <p:nvPr/>
        </p:nvSpPr>
        <p:spPr>
          <a:xfrm>
            <a:off x="9418320" y="676656"/>
            <a:ext cx="2286000" cy="310896"/>
          </a:xfrm>
          <a:prstGeom prst="roundRect">
            <a:avLst>
              <a:gd name="adj" fmla="val 50000"/>
            </a:avLst>
          </a:prstGeom>
          <a:solidFill>
            <a:srgbClr val="FCF3E3"/>
          </a:solidFill>
          <a:ln w="12700">
            <a:solidFill>
              <a:srgbClr val="B7791F"/>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B7791F"/>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77840" cy="2651760"/>
          </a:xfrm>
          <a:prstGeom prst="roundRect">
            <a:avLst>
              <a:gd name="adj" fmla="val 3448"/>
            </a:avLst>
          </a:prstGeom>
          <a:solidFill>
            <a:srgbClr val="FFFFFF"/>
          </a:solidFill>
          <a:ln w="12700">
            <a:solidFill>
              <a:srgbClr val="DCE3EE"/>
            </a:solidFill>
            <a:prstDash val="solid"/>
          </a:ln>
        </p:spPr>
      </p:sp>
      <p:sp>
        <p:nvSpPr>
          <p:cNvPr id="8" name="Text 6"/>
          <p:cNvSpPr/>
          <p:nvPr/>
        </p:nvSpPr>
        <p:spPr>
          <a:xfrm>
            <a:off x="685800" y="1298448"/>
            <a:ext cx="5120640" cy="237744"/>
          </a:xfrm>
          <a:prstGeom prst="rect">
            <a:avLst/>
          </a:prstGeom>
          <a:noFill/>
          <a:ln/>
        </p:spPr>
        <p:txBody>
          <a:bodyPr wrap="square" lIns="0" tIns="0" rIns="0" bIns="0" rtlCol="0" anchor="ctr"/>
          <a:lstStyle/>
          <a:p>
            <a:pPr indent="0" marL="0">
              <a:buNone/>
            </a:pPr>
            <a:r>
              <a:rPr lang="en-US" sz="1050" b="1" spc="60" kern="0" dirty="0">
                <a:solidFill>
                  <a:srgbClr val="16325C"/>
                </a:solidFill>
                <a:latin typeface="Calibri" pitchFamily="34" charset="0"/>
                <a:ea typeface="Calibri" pitchFamily="34" charset="-122"/>
                <a:cs typeface="Calibri" pitchFamily="34" charset="-120"/>
              </a:rPr>
              <a:t>EVERY BUCKET, AND WHAT IT IS MADE OF</a:t>
            </a:r>
            <a:endParaRPr lang="en-US" sz="1050" dirty="0"/>
          </a:p>
        </p:txBody>
      </p:sp>
      <p:sp>
        <p:nvSpPr>
          <p:cNvPr id="9" name="Text 7"/>
          <p:cNvSpPr/>
          <p:nvPr/>
        </p:nvSpPr>
        <p:spPr>
          <a:xfrm>
            <a:off x="713232" y="1609344"/>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Material</a:t>
            </a:r>
            <a:endParaRPr lang="en-US" sz="1000" dirty="0"/>
          </a:p>
        </p:txBody>
      </p:sp>
      <p:sp>
        <p:nvSpPr>
          <p:cNvPr id="10" name="Text 8"/>
          <p:cNvSpPr/>
          <p:nvPr/>
        </p:nvSpPr>
        <p:spPr>
          <a:xfrm>
            <a:off x="2542032" y="1609344"/>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measured volume x density x published £/kg</a:t>
            </a:r>
            <a:endParaRPr lang="en-US" sz="960" dirty="0"/>
          </a:p>
        </p:txBody>
      </p:sp>
      <p:sp>
        <p:nvSpPr>
          <p:cNvPr id="11" name="Text 9"/>
          <p:cNvSpPr/>
          <p:nvPr/>
        </p:nvSpPr>
        <p:spPr>
          <a:xfrm>
            <a:off x="713232" y="1901952"/>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Process</a:t>
            </a:r>
            <a:endParaRPr lang="en-US" sz="1000" dirty="0"/>
          </a:p>
        </p:txBody>
      </p:sp>
      <p:sp>
        <p:nvSpPr>
          <p:cNvPr id="12" name="Text 10"/>
          <p:cNvSpPr/>
          <p:nvPr/>
        </p:nvSpPr>
        <p:spPr>
          <a:xfrm>
            <a:off x="2542032" y="1901952"/>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cycle time / OEE x machine £/hr</a:t>
            </a:r>
            <a:endParaRPr lang="en-US" sz="960" dirty="0"/>
          </a:p>
        </p:txBody>
      </p:sp>
      <p:sp>
        <p:nvSpPr>
          <p:cNvPr id="13" name="Text 11"/>
          <p:cNvSpPr/>
          <p:nvPr/>
        </p:nvSpPr>
        <p:spPr>
          <a:xfrm>
            <a:off x="713232" y="2194560"/>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Labour</a:t>
            </a:r>
            <a:endParaRPr lang="en-US" sz="1000" dirty="0"/>
          </a:p>
        </p:txBody>
      </p:sp>
      <p:sp>
        <p:nvSpPr>
          <p:cNvPr id="14" name="Text 12"/>
          <p:cNvSpPr/>
          <p:nvPr/>
        </p:nvSpPr>
        <p:spPr>
          <a:xfrm>
            <a:off x="2542032" y="2194560"/>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same time x manning x wage-grade £/hr</a:t>
            </a:r>
            <a:endParaRPr lang="en-US" sz="960" dirty="0"/>
          </a:p>
        </p:txBody>
      </p:sp>
      <p:sp>
        <p:nvSpPr>
          <p:cNvPr id="15" name="Text 13"/>
          <p:cNvSpPr/>
          <p:nvPr/>
        </p:nvSpPr>
        <p:spPr>
          <a:xfrm>
            <a:off x="713232" y="2487168"/>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Tooling</a:t>
            </a:r>
            <a:endParaRPr lang="en-US" sz="1000" dirty="0"/>
          </a:p>
        </p:txBody>
      </p:sp>
      <p:sp>
        <p:nvSpPr>
          <p:cNvPr id="16" name="Text 14"/>
          <p:cNvSpPr/>
          <p:nvPr/>
        </p:nvSpPr>
        <p:spPr>
          <a:xfrm>
            <a:off x="2542032" y="2487168"/>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entered die cost / parts over its life</a:t>
            </a:r>
            <a:endParaRPr lang="en-US" sz="960" dirty="0"/>
          </a:p>
        </p:txBody>
      </p:sp>
      <p:sp>
        <p:nvSpPr>
          <p:cNvPr id="17" name="Text 15"/>
          <p:cNvSpPr/>
          <p:nvPr/>
        </p:nvSpPr>
        <p:spPr>
          <a:xfrm>
            <a:off x="713232" y="2779776"/>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Packaging, Logistics</a:t>
            </a:r>
            <a:endParaRPr lang="en-US" sz="1000" dirty="0"/>
          </a:p>
        </p:txBody>
      </p:sp>
      <p:sp>
        <p:nvSpPr>
          <p:cNvPr id="18" name="Text 16"/>
          <p:cNvSpPr/>
          <p:nvPr/>
        </p:nvSpPr>
        <p:spPr>
          <a:xfrm>
            <a:off x="2542032" y="2779776"/>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entered directly by the engineer</a:t>
            </a:r>
            <a:endParaRPr lang="en-US" sz="960" dirty="0"/>
          </a:p>
        </p:txBody>
      </p:sp>
      <p:sp>
        <p:nvSpPr>
          <p:cNvPr id="19" name="Text 17"/>
          <p:cNvSpPr/>
          <p:nvPr/>
        </p:nvSpPr>
        <p:spPr>
          <a:xfrm>
            <a:off x="713232" y="3072384"/>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Overhead, Margin</a:t>
            </a:r>
            <a:endParaRPr lang="en-US" sz="1000" dirty="0"/>
          </a:p>
        </p:txBody>
      </p:sp>
      <p:sp>
        <p:nvSpPr>
          <p:cNvPr id="20" name="Text 18"/>
          <p:cNvSpPr/>
          <p:nvPr/>
        </p:nvSpPr>
        <p:spPr>
          <a:xfrm>
            <a:off x="2542032" y="3072384"/>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 % of the figures above — applied once</a:t>
            </a:r>
            <a:endParaRPr lang="en-US" sz="960" dirty="0"/>
          </a:p>
        </p:txBody>
      </p:sp>
      <p:sp>
        <p:nvSpPr>
          <p:cNvPr id="21" name="Text 19"/>
          <p:cNvSpPr/>
          <p:nvPr/>
        </p:nvSpPr>
        <p:spPr>
          <a:xfrm>
            <a:off x="713232" y="3438144"/>
            <a:ext cx="5120640" cy="292608"/>
          </a:xfrm>
          <a:prstGeom prst="rect">
            <a:avLst/>
          </a:prstGeom>
          <a:noFill/>
          <a:ln/>
        </p:spPr>
        <p:txBody>
          <a:bodyPr wrap="square" lIns="0" tIns="0" rIns="0" bIns="0" rtlCol="0" anchor="ctr"/>
          <a:lstStyle/>
          <a:p>
            <a:pPr indent="0" marL="0">
              <a:buNone/>
            </a:pPr>
            <a:r>
              <a:rPr lang="en-US" sz="1050" b="1" i="1" dirty="0">
                <a:solidFill>
                  <a:srgbClr val="16325C"/>
                </a:solidFill>
                <a:latin typeface="Calibri" pitchFamily="34" charset="0"/>
                <a:ea typeface="Calibri" pitchFamily="34" charset="-122"/>
                <a:cs typeface="Calibri" pitchFamily="34" charset="-120"/>
              </a:rPr>
              <a:t>Not one of those six lines contains an AI-generated number.</a:t>
            </a:r>
            <a:endParaRPr lang="en-US" sz="1050" dirty="0"/>
          </a:p>
        </p:txBody>
      </p:sp>
      <p:sp>
        <p:nvSpPr>
          <p:cNvPr id="22" name="Shape 20"/>
          <p:cNvSpPr/>
          <p:nvPr/>
        </p:nvSpPr>
        <p:spPr>
          <a:xfrm>
            <a:off x="6263640" y="1188720"/>
            <a:ext cx="5468112" cy="2651760"/>
          </a:xfrm>
          <a:prstGeom prst="roundRect">
            <a:avLst>
              <a:gd name="adj" fmla="val 3448"/>
            </a:avLst>
          </a:prstGeom>
          <a:solidFill>
            <a:srgbClr val="FCF3E3"/>
          </a:solidFill>
          <a:ln w="15875">
            <a:solidFill>
              <a:srgbClr val="B7791F"/>
            </a:solidFill>
            <a:prstDash val="solid"/>
          </a:ln>
        </p:spPr>
      </p:sp>
      <p:sp>
        <p:nvSpPr>
          <p:cNvPr id="23" name="Text 21"/>
          <p:cNvSpPr/>
          <p:nvPr/>
        </p:nvSpPr>
        <p:spPr>
          <a:xfrm>
            <a:off x="6492240" y="1298448"/>
            <a:ext cx="5029200" cy="237744"/>
          </a:xfrm>
          <a:prstGeom prst="rect">
            <a:avLst/>
          </a:prstGeom>
          <a:noFill/>
          <a:ln/>
        </p:spPr>
        <p:txBody>
          <a:bodyPr wrap="square" lIns="0" tIns="0" rIns="0" bIns="0" rtlCol="0" anchor="ctr"/>
          <a:lstStyle/>
          <a:p>
            <a:pPr indent="0" marL="0">
              <a:buNone/>
            </a:pPr>
            <a:r>
              <a:rPr lang="en-US" sz="1050" b="1" spc="60" kern="0" dirty="0">
                <a:solidFill>
                  <a:srgbClr val="B7791F"/>
                </a:solidFill>
                <a:latin typeface="Calibri" pitchFamily="34" charset="0"/>
                <a:ea typeface="Calibri" pitchFamily="34" charset="-122"/>
                <a:cs typeface="Calibri" pitchFamily="34" charset="-120"/>
              </a:rPr>
              <a:t>THE CHECKS THAT RUN ON EVERY ESTIMATE</a:t>
            </a:r>
            <a:endParaRPr lang="en-US" sz="1050" dirty="0"/>
          </a:p>
        </p:txBody>
      </p:sp>
      <p:sp>
        <p:nvSpPr>
          <p:cNvPr id="24" name="Text 22"/>
          <p:cNvSpPr/>
          <p:nvPr/>
        </p:nvSpPr>
        <p:spPr>
          <a:xfrm>
            <a:off x="6510528" y="1609344"/>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AI volume vs measured volume — &gt;25% apart warns, &gt;50% errors</a:t>
            </a:r>
            <a:endParaRPr lang="en-US" sz="960" dirty="0"/>
          </a:p>
        </p:txBody>
      </p:sp>
      <p:sp>
        <p:nvSpPr>
          <p:cNvPr id="25" name="Text 23"/>
          <p:cNvSpPr/>
          <p:nvPr/>
        </p:nvSpPr>
        <p:spPr>
          <a:xfrm>
            <a:off x="6510528" y="1901952"/>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Weight must equal volume x density to within 20%</a:t>
            </a:r>
            <a:endParaRPr lang="en-US" sz="960" dirty="0"/>
          </a:p>
        </p:txBody>
      </p:sp>
      <p:sp>
        <p:nvSpPr>
          <p:cNvPr id="26" name="Text 24"/>
          <p:cNvSpPr/>
          <p:nvPr/>
        </p:nvSpPr>
        <p:spPr>
          <a:xfrm>
            <a:off x="6510528" y="2194560"/>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Material confidence under 50% — asks for a photo or confirmation</a:t>
            </a:r>
            <a:endParaRPr lang="en-US" sz="960" dirty="0"/>
          </a:p>
        </p:txBody>
      </p:sp>
      <p:sp>
        <p:nvSpPr>
          <p:cNvPr id="27" name="Text 25"/>
          <p:cNvSpPr/>
          <p:nvPr/>
        </p:nvSpPr>
        <p:spPr>
          <a:xfrm>
            <a:off x="6510528" y="2487168"/>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Any cycle time outside 1.8 seconds to 24 hours is rejected</a:t>
            </a:r>
            <a:endParaRPr lang="en-US" sz="960" dirty="0"/>
          </a:p>
        </p:txBody>
      </p:sp>
      <p:sp>
        <p:nvSpPr>
          <p:cNvPr id="28" name="Text 26"/>
          <p:cNvSpPr/>
          <p:nvPr/>
        </p:nvSpPr>
        <p:spPr>
          <a:xfrm>
            <a:off x="6510528" y="2779776"/>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Near-net machining capped to 0.10 hr + 0.07 hr/kg</a:t>
            </a:r>
            <a:endParaRPr lang="en-US" sz="960" dirty="0"/>
          </a:p>
        </p:txBody>
      </p:sp>
      <p:sp>
        <p:nvSpPr>
          <p:cNvPr id="29" name="Text 27"/>
          <p:cNvSpPr/>
          <p:nvPr/>
        </p:nvSpPr>
        <p:spPr>
          <a:xfrm>
            <a:off x="6510528" y="3072384"/>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Machine must be big enough for the part, or it is flagged</a:t>
            </a:r>
            <a:endParaRPr lang="en-US" sz="960" dirty="0"/>
          </a:p>
        </p:txBody>
      </p:sp>
      <p:sp>
        <p:nvSpPr>
          <p:cNvPr id="30" name="Text 28"/>
          <p:cNvSpPr/>
          <p:nvPr/>
        </p:nvSpPr>
        <p:spPr>
          <a:xfrm>
            <a:off x="6510528" y="3438144"/>
            <a:ext cx="5029200" cy="292608"/>
          </a:xfrm>
          <a:prstGeom prst="rect">
            <a:avLst/>
          </a:prstGeom>
          <a:noFill/>
          <a:ln/>
        </p:spPr>
        <p:txBody>
          <a:bodyPr wrap="square" lIns="0" tIns="0" rIns="0" bIns="0" rtlCol="0" anchor="ctr"/>
          <a:lstStyle/>
          <a:p>
            <a:pPr indent="0" marL="0">
              <a:buNone/>
            </a:pPr>
            <a:r>
              <a:rPr lang="en-US" sz="1050" b="1" i="1" dirty="0">
                <a:solidFill>
                  <a:srgbClr val="16325C"/>
                </a:solidFill>
                <a:latin typeface="Calibri" pitchFamily="34" charset="0"/>
                <a:ea typeface="Calibri" pitchFamily="34" charset="-122"/>
                <a:cs typeface="Calibri" pitchFamily="34" charset="-120"/>
              </a:rPr>
              <a:t>Each one is code, not a prompt — code cannot be talked out of a rule.</a:t>
            </a:r>
            <a:endParaRPr lang="en-US" sz="1050" dirty="0"/>
          </a:p>
        </p:txBody>
      </p:sp>
      <p:sp>
        <p:nvSpPr>
          <p:cNvPr id="31" name="Shape 29"/>
          <p:cNvSpPr/>
          <p:nvPr/>
        </p:nvSpPr>
        <p:spPr>
          <a:xfrm>
            <a:off x="457200" y="3977640"/>
            <a:ext cx="11274552" cy="1143000"/>
          </a:xfrm>
          <a:prstGeom prst="roundRect">
            <a:avLst>
              <a:gd name="adj" fmla="val 8000"/>
            </a:avLst>
          </a:prstGeom>
          <a:solidFill>
            <a:srgbClr val="FFFFFF"/>
          </a:solidFill>
          <a:ln w="19050">
            <a:solidFill>
              <a:srgbClr val="2E8B57"/>
            </a:solidFill>
            <a:prstDash val="solid"/>
          </a:ln>
        </p:spPr>
      </p:sp>
      <p:sp>
        <p:nvSpPr>
          <p:cNvPr id="32" name="Text 30"/>
          <p:cNvSpPr/>
          <p:nvPr/>
        </p:nvSpPr>
        <p:spPr>
          <a:xfrm>
            <a:off x="731520" y="4087368"/>
            <a:ext cx="10058400" cy="274320"/>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The claim we make — and the claim we do not</a:t>
            </a:r>
            <a:endParaRPr lang="en-US" sz="1250" dirty="0"/>
          </a:p>
        </p:txBody>
      </p:sp>
      <p:sp>
        <p:nvSpPr>
          <p:cNvPr id="33" name="Text 31"/>
          <p:cNvSpPr/>
          <p:nvPr/>
        </p:nvSpPr>
        <p:spPr>
          <a:xfrm>
            <a:off x="731520" y="4379976"/>
            <a:ext cx="10744200" cy="676656"/>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We do say: no AI-invented number ever becomes money. </a:t>
            </a:r>
            <a:pPr indent="0" marL="0">
              <a:buNone/>
            </a:pPr>
            <a:r>
              <a:rPr lang="en-US" sz="1150" dirty="0">
                <a:solidFill>
                  <a:srgbClr val="3A4356"/>
                </a:solidFill>
                <a:latin typeface="Calibri" pitchFamily="34" charset="0"/>
                <a:ea typeface="Calibri" pitchFamily="34" charset="-122"/>
                <a:cs typeface="Calibri" pitchFamily="34" charset="-120"/>
              </a:rPr>
              <a:t>The AI hands over words — "aluminium die-casting alloy", "high-pressure die cast" — and the engine takes it from there.  </a:t>
            </a:r>
            <a:pPr indent="0" marL="0">
              <a:buNone/>
            </a:pPr>
            <a:r>
              <a:rPr lang="en-US" sz="1150" b="1" dirty="0">
                <a:solidFill>
                  <a:srgbClr val="B03A2E"/>
                </a:solidFill>
                <a:latin typeface="Calibri" pitchFamily="34" charset="0"/>
                <a:ea typeface="Calibri" pitchFamily="34" charset="-122"/>
                <a:cs typeface="Calibri" pitchFamily="34" charset="-120"/>
              </a:rPr>
              <a:t>We do not say the AI is never wrong. </a:t>
            </a:r>
            <a:pPr indent="0" marL="0">
              <a:buNone/>
            </a:pPr>
            <a:r>
              <a:rPr lang="en-US" sz="1150" dirty="0">
                <a:solidFill>
                  <a:srgbClr val="3A4356"/>
                </a:solidFill>
                <a:latin typeface="Calibri" pitchFamily="34" charset="0"/>
                <a:ea typeface="Calibri" pitchFamily="34" charset="-122"/>
                <a:cs typeface="Calibri" pitchFamily="34" charset="-120"/>
              </a:rPr>
              <a:t>It can misread a part. That is exactly why it carries a confidence score, why the checks above run automatically, and why a person signs the result.</a:t>
            </a:r>
            <a:endParaRPr lang="en-US" sz="1150" dirty="0"/>
          </a:p>
        </p:txBody>
      </p:sp>
      <p:sp>
        <p:nvSpPr>
          <p:cNvPr id="34" name="Shape 32"/>
          <p:cNvSpPr/>
          <p:nvPr/>
        </p:nvSpPr>
        <p:spPr>
          <a:xfrm>
            <a:off x="457200" y="5257800"/>
            <a:ext cx="11274552" cy="960120"/>
          </a:xfrm>
          <a:prstGeom prst="roundRect">
            <a:avLst>
              <a:gd name="adj" fmla="val 9524"/>
            </a:avLst>
          </a:prstGeom>
          <a:solidFill>
            <a:srgbClr val="E6F4F1"/>
          </a:solidFill>
          <a:ln w="12700">
            <a:solidFill>
              <a:srgbClr val="0E8074"/>
            </a:solidFill>
            <a:prstDash val="solid"/>
          </a:ln>
        </p:spPr>
      </p:sp>
      <p:sp>
        <p:nvSpPr>
          <p:cNvPr id="35" name="Text 33"/>
          <p:cNvSpPr/>
          <p:nvPr/>
        </p:nvSpPr>
        <p:spPr>
          <a:xfrm>
            <a:off x="731520" y="5367528"/>
            <a:ext cx="10744200" cy="777240"/>
          </a:xfrm>
          <a:prstGeom prst="rect">
            <a:avLst/>
          </a:prstGeom>
          <a:noFill/>
          <a:ln/>
        </p:spPr>
        <p:txBody>
          <a:bodyPr wrap="square" lIns="0" tIns="0" rIns="0" bIns="0" rtlCol="0" anchor="ctr"/>
          <a:lstStyle/>
          <a:p>
            <a:pPr indent="0" marL="0">
              <a:buNone/>
            </a:pPr>
            <a:r>
              <a:rPr lang="en-US" sz="1200" b="1" dirty="0">
                <a:solidFill>
                  <a:srgbClr val="0E8074"/>
                </a:solidFill>
                <a:latin typeface="Calibri" pitchFamily="34" charset="0"/>
                <a:ea typeface="Calibri" pitchFamily="34" charset="-122"/>
                <a:cs typeface="Calibri" pitchFamily="34" charset="-120"/>
              </a:rPr>
              <a:t>Reproducibility test: </a:t>
            </a:r>
            <a:pPr indent="0" marL="0">
              <a:buNone/>
            </a:pPr>
            <a:r>
              <a:rPr lang="en-US" sz="1200" dirty="0">
                <a:solidFill>
                  <a:srgbClr val="3A4356"/>
                </a:solidFill>
                <a:latin typeface="Calibri" pitchFamily="34" charset="0"/>
                <a:ea typeface="Calibri" pitchFamily="34" charset="-122"/>
                <a:cs typeface="Calibri" pitchFamily="34" charset="-120"/>
              </a:rPr>
              <a:t>run the same file with the same inputs a hundred times and you get £38.55 a hundred times. The arithmetic is fixed code, so the answer cannot drift between runs, between engineers, or between one supplier meeting and the next.</a:t>
            </a:r>
            <a:endParaRPr lang="en-US" sz="120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Whole Thing on One Page</a:t>
            </a:r>
            <a:endParaRPr lang="en-US" sz="2500" dirty="0"/>
          </a:p>
        </p:txBody>
      </p:sp>
      <p:sp>
        <p:nvSpPr>
          <p:cNvPr id="3" name="Text 1"/>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Who does what — the answer to the question you asked me</a:t>
            </a:r>
            <a:endParaRPr lang="en-US" sz="1200" dirty="0"/>
          </a:p>
        </p:txBody>
      </p:sp>
      <p:sp>
        <p:nvSpPr>
          <p:cNvPr id="4" name="Shape 2"/>
          <p:cNvSpPr/>
          <p:nvPr/>
        </p:nvSpPr>
        <p:spPr>
          <a:xfrm>
            <a:off x="457200" y="1207008"/>
            <a:ext cx="2157984" cy="3246120"/>
          </a:xfrm>
          <a:prstGeom prst="roundRect">
            <a:avLst>
              <a:gd name="adj" fmla="val 3814"/>
            </a:avLst>
          </a:prstGeom>
          <a:solidFill>
            <a:srgbClr val="E8F1FA"/>
          </a:solidFill>
          <a:ln w="15875">
            <a:solidFill>
              <a:srgbClr val="1D6FB8"/>
            </a:solidFill>
            <a:prstDash val="solid"/>
          </a:ln>
        </p:spPr>
      </p:sp>
      <p:sp>
        <p:nvSpPr>
          <p:cNvPr id="5" name="Shape 3"/>
          <p:cNvSpPr/>
          <p:nvPr/>
        </p:nvSpPr>
        <p:spPr>
          <a:xfrm>
            <a:off x="457200" y="1207008"/>
            <a:ext cx="2157984" cy="402336"/>
          </a:xfrm>
          <a:prstGeom prst="rect">
            <a:avLst/>
          </a:prstGeom>
          <a:solidFill>
            <a:srgbClr val="1D6FB8"/>
          </a:solidFill>
          <a:ln/>
        </p:spPr>
      </p:sp>
      <p:sp>
        <p:nvSpPr>
          <p:cNvPr id="6" name="Text 4"/>
          <p:cNvSpPr/>
          <p:nvPr/>
        </p:nvSpPr>
        <p:spPr>
          <a:xfrm>
            <a:off x="457200"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RULER</a:t>
            </a:r>
            <a:endParaRPr lang="en-US" sz="1100" dirty="0"/>
          </a:p>
        </p:txBody>
      </p:sp>
      <p:sp>
        <p:nvSpPr>
          <p:cNvPr id="7" name="Text 5"/>
          <p:cNvSpPr/>
          <p:nvPr/>
        </p:nvSpPr>
        <p:spPr>
          <a:xfrm>
            <a:off x="548640" y="1682496"/>
            <a:ext cx="1975104" cy="256032"/>
          </a:xfrm>
          <a:prstGeom prst="rect">
            <a:avLst/>
          </a:prstGeom>
          <a:noFill/>
          <a:ln/>
        </p:spPr>
        <p:txBody>
          <a:bodyPr wrap="square" lIns="0" tIns="0" rIns="0" bIns="0" rtlCol="0" anchor="ctr"/>
          <a:lstStyle/>
          <a:p>
            <a:pPr algn="ctr" indent="0" marL="0">
              <a:buNone/>
            </a:pPr>
            <a:r>
              <a:rPr lang="en-US" sz="1000" b="1" i="1" dirty="0">
                <a:solidFill>
                  <a:srgbClr val="1D6FB8"/>
                </a:solidFill>
                <a:latin typeface="Calibri" pitchFamily="34" charset="0"/>
                <a:ea typeface="Calibri" pitchFamily="34" charset="-122"/>
                <a:cs typeface="Calibri" pitchFamily="34" charset="-120"/>
              </a:rPr>
              <a:t>Measures the CAD file</a:t>
            </a:r>
            <a:endParaRPr lang="en-US" sz="1000" dirty="0"/>
          </a:p>
        </p:txBody>
      </p:sp>
      <p:sp>
        <p:nvSpPr>
          <p:cNvPr id="8" name="Text 6"/>
          <p:cNvSpPr/>
          <p:nvPr/>
        </p:nvSpPr>
        <p:spPr>
          <a:xfrm>
            <a:off x="585216"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Volume, weight, walls</a:t>
            </a:r>
            <a:endParaRPr lang="en-US" sz="950" dirty="0"/>
          </a:p>
        </p:txBody>
      </p:sp>
      <p:sp>
        <p:nvSpPr>
          <p:cNvPr id="9" name="Text 7"/>
          <p:cNvSpPr/>
          <p:nvPr/>
        </p:nvSpPr>
        <p:spPr>
          <a:xfrm>
            <a:off x="585216"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Bores, holes, faces</a:t>
            </a:r>
            <a:endParaRPr lang="en-US" sz="950" dirty="0"/>
          </a:p>
        </p:txBody>
      </p:sp>
      <p:sp>
        <p:nvSpPr>
          <p:cNvPr id="10" name="Text 8"/>
          <p:cNvSpPr/>
          <p:nvPr/>
        </p:nvSpPr>
        <p:spPr>
          <a:xfrm>
            <a:off x="585216"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Hollow-vs-solid check</a:t>
            </a:r>
            <a:endParaRPr lang="en-US" sz="950" dirty="0"/>
          </a:p>
        </p:txBody>
      </p:sp>
      <p:sp>
        <p:nvSpPr>
          <p:cNvPr id="11" name="Shape 9"/>
          <p:cNvSpPr/>
          <p:nvPr/>
        </p:nvSpPr>
        <p:spPr>
          <a:xfrm>
            <a:off x="566928" y="3950208"/>
            <a:ext cx="1938528" cy="402336"/>
          </a:xfrm>
          <a:prstGeom prst="roundRect">
            <a:avLst>
              <a:gd name="adj" fmla="val 18182"/>
            </a:avLst>
          </a:prstGeom>
          <a:solidFill>
            <a:srgbClr val="FFFFFF"/>
          </a:solidFill>
          <a:ln w="9525">
            <a:solidFill>
              <a:srgbClr val="1D6FB8"/>
            </a:solidFill>
            <a:prstDash val="solid"/>
          </a:ln>
        </p:spPr>
      </p:sp>
      <p:sp>
        <p:nvSpPr>
          <p:cNvPr id="12" name="Text 10"/>
          <p:cNvSpPr/>
          <p:nvPr/>
        </p:nvSpPr>
        <p:spPr>
          <a:xfrm>
            <a:off x="585216" y="3950208"/>
            <a:ext cx="1901952" cy="402336"/>
          </a:xfrm>
          <a:prstGeom prst="rect">
            <a:avLst/>
          </a:prstGeom>
          <a:noFill/>
          <a:ln/>
        </p:spPr>
        <p:txBody>
          <a:bodyPr wrap="square" lIns="0" tIns="0" rIns="0" bIns="0" rtlCol="0" anchor="ctr"/>
          <a:lstStyle/>
          <a:p>
            <a:pPr algn="ctr" indent="0" marL="0">
              <a:buNone/>
            </a:pPr>
            <a:r>
              <a:rPr lang="en-US" sz="880" b="1" dirty="0">
                <a:solidFill>
                  <a:srgbClr val="1D6FB8"/>
                </a:solidFill>
                <a:latin typeface="Calibri" pitchFamily="34" charset="0"/>
                <a:ea typeface="Calibri" pitchFamily="34" charset="-122"/>
                <a:cs typeface="Calibri" pitchFamily="34" charset="-120"/>
              </a:rPr>
              <a:t>Same answer every time</a:t>
            </a:r>
            <a:endParaRPr lang="en-US" sz="880" dirty="0"/>
          </a:p>
        </p:txBody>
      </p:sp>
      <p:sp>
        <p:nvSpPr>
          <p:cNvPr id="13" name="Shape 11"/>
          <p:cNvSpPr/>
          <p:nvPr/>
        </p:nvSpPr>
        <p:spPr>
          <a:xfrm>
            <a:off x="2715768" y="1207008"/>
            <a:ext cx="2157984" cy="3246120"/>
          </a:xfrm>
          <a:prstGeom prst="roundRect">
            <a:avLst>
              <a:gd name="adj" fmla="val 3814"/>
            </a:avLst>
          </a:prstGeom>
          <a:solidFill>
            <a:srgbClr val="F1EBF8"/>
          </a:solidFill>
          <a:ln w="15875">
            <a:solidFill>
              <a:srgbClr val="6B3FA0"/>
            </a:solidFill>
            <a:prstDash val="solid"/>
          </a:ln>
        </p:spPr>
      </p:sp>
      <p:sp>
        <p:nvSpPr>
          <p:cNvPr id="14" name="Shape 12"/>
          <p:cNvSpPr/>
          <p:nvPr/>
        </p:nvSpPr>
        <p:spPr>
          <a:xfrm>
            <a:off x="2715768" y="1207008"/>
            <a:ext cx="2157984" cy="402336"/>
          </a:xfrm>
          <a:prstGeom prst="rect">
            <a:avLst/>
          </a:prstGeom>
          <a:solidFill>
            <a:srgbClr val="6B3FA0"/>
          </a:solidFill>
          <a:ln/>
        </p:spPr>
      </p:sp>
      <p:sp>
        <p:nvSpPr>
          <p:cNvPr id="15" name="Text 13"/>
          <p:cNvSpPr/>
          <p:nvPr/>
        </p:nvSpPr>
        <p:spPr>
          <a:xfrm>
            <a:off x="2715768"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AI</a:t>
            </a:r>
            <a:endParaRPr lang="en-US" sz="1100" dirty="0"/>
          </a:p>
        </p:txBody>
      </p:sp>
      <p:sp>
        <p:nvSpPr>
          <p:cNvPr id="16" name="Text 14"/>
          <p:cNvSpPr/>
          <p:nvPr/>
        </p:nvSpPr>
        <p:spPr>
          <a:xfrm>
            <a:off x="2807208" y="1682496"/>
            <a:ext cx="1975104" cy="256032"/>
          </a:xfrm>
          <a:prstGeom prst="rect">
            <a:avLst/>
          </a:prstGeom>
          <a:noFill/>
          <a:ln/>
        </p:spPr>
        <p:txBody>
          <a:bodyPr wrap="square" lIns="0" tIns="0" rIns="0" bIns="0" rtlCol="0" anchor="ctr"/>
          <a:lstStyle/>
          <a:p>
            <a:pPr algn="ctr" indent="0" marL="0">
              <a:buNone/>
            </a:pPr>
            <a:r>
              <a:rPr lang="en-US" sz="1000" b="1" i="1" dirty="0">
                <a:solidFill>
                  <a:srgbClr val="6B3FA0"/>
                </a:solidFill>
                <a:latin typeface="Calibri" pitchFamily="34" charset="0"/>
                <a:ea typeface="Calibri" pitchFamily="34" charset="-122"/>
                <a:cs typeface="Calibri" pitchFamily="34" charset="-120"/>
              </a:rPr>
              <a:t>Optional second opinion</a:t>
            </a:r>
            <a:endParaRPr lang="en-US" sz="1000" dirty="0"/>
          </a:p>
        </p:txBody>
      </p:sp>
      <p:sp>
        <p:nvSpPr>
          <p:cNvPr id="17" name="Text 15"/>
          <p:cNvSpPr/>
          <p:nvPr/>
        </p:nvSpPr>
        <p:spPr>
          <a:xfrm>
            <a:off x="2843784"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Alloy family</a:t>
            </a:r>
            <a:endParaRPr lang="en-US" sz="950" dirty="0"/>
          </a:p>
        </p:txBody>
      </p:sp>
      <p:sp>
        <p:nvSpPr>
          <p:cNvPr id="18" name="Text 16"/>
          <p:cNvSpPr/>
          <p:nvPr/>
        </p:nvSpPr>
        <p:spPr>
          <a:xfrm>
            <a:off x="2843784"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Process route</a:t>
            </a:r>
            <a:endParaRPr lang="en-US" sz="950" dirty="0"/>
          </a:p>
        </p:txBody>
      </p:sp>
      <p:sp>
        <p:nvSpPr>
          <p:cNvPr id="19" name="Text 17"/>
          <p:cNvSpPr/>
          <p:nvPr/>
        </p:nvSpPr>
        <p:spPr>
          <a:xfrm>
            <a:off x="2843784"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Confidence score</a:t>
            </a:r>
            <a:endParaRPr lang="en-US" sz="950" dirty="0"/>
          </a:p>
        </p:txBody>
      </p:sp>
      <p:sp>
        <p:nvSpPr>
          <p:cNvPr id="20" name="Shape 18"/>
          <p:cNvSpPr/>
          <p:nvPr/>
        </p:nvSpPr>
        <p:spPr>
          <a:xfrm>
            <a:off x="2825496" y="3950208"/>
            <a:ext cx="1938528" cy="402336"/>
          </a:xfrm>
          <a:prstGeom prst="roundRect">
            <a:avLst>
              <a:gd name="adj" fmla="val 18182"/>
            </a:avLst>
          </a:prstGeom>
          <a:solidFill>
            <a:srgbClr val="FFFFFF"/>
          </a:solidFill>
          <a:ln w="9525">
            <a:solidFill>
              <a:srgbClr val="6B3FA0"/>
            </a:solidFill>
            <a:prstDash val="solid"/>
          </a:ln>
        </p:spPr>
      </p:sp>
      <p:sp>
        <p:nvSpPr>
          <p:cNvPr id="21" name="Text 19"/>
          <p:cNvSpPr/>
          <p:nvPr/>
        </p:nvSpPr>
        <p:spPr>
          <a:xfrm>
            <a:off x="2843784" y="3950208"/>
            <a:ext cx="1901952" cy="402336"/>
          </a:xfrm>
          <a:prstGeom prst="rect">
            <a:avLst/>
          </a:prstGeom>
          <a:noFill/>
          <a:ln/>
        </p:spPr>
        <p:txBody>
          <a:bodyPr wrap="square" lIns="0" tIns="0" rIns="0" bIns="0" rtlCol="0" anchor="ctr"/>
          <a:lstStyle/>
          <a:p>
            <a:pPr algn="ctr" indent="0" marL="0">
              <a:buNone/>
            </a:pPr>
            <a:r>
              <a:rPr lang="en-US" sz="880" b="1" dirty="0">
                <a:solidFill>
                  <a:srgbClr val="6B3FA0"/>
                </a:solidFill>
                <a:latin typeface="Calibri" pitchFamily="34" charset="0"/>
                <a:ea typeface="Calibri" pitchFamily="34" charset="-122"/>
                <a:cs typeface="Calibri" pitchFamily="34" charset="-120"/>
              </a:rPr>
              <a:t>Words only. Never money.</a:t>
            </a:r>
            <a:endParaRPr lang="en-US" sz="880" dirty="0"/>
          </a:p>
        </p:txBody>
      </p:sp>
      <p:sp>
        <p:nvSpPr>
          <p:cNvPr id="22" name="Shape 20"/>
          <p:cNvSpPr/>
          <p:nvPr/>
        </p:nvSpPr>
        <p:spPr>
          <a:xfrm>
            <a:off x="4974336" y="1207008"/>
            <a:ext cx="2157984" cy="3246120"/>
          </a:xfrm>
          <a:prstGeom prst="roundRect">
            <a:avLst>
              <a:gd name="adj" fmla="val 3814"/>
            </a:avLst>
          </a:prstGeom>
          <a:solidFill>
            <a:srgbClr val="FCF3E3"/>
          </a:solidFill>
          <a:ln w="15875">
            <a:solidFill>
              <a:srgbClr val="B7791F"/>
            </a:solidFill>
            <a:prstDash val="solid"/>
          </a:ln>
        </p:spPr>
      </p:sp>
      <p:sp>
        <p:nvSpPr>
          <p:cNvPr id="23" name="Shape 21"/>
          <p:cNvSpPr/>
          <p:nvPr/>
        </p:nvSpPr>
        <p:spPr>
          <a:xfrm>
            <a:off x="4974336" y="1207008"/>
            <a:ext cx="2157984" cy="402336"/>
          </a:xfrm>
          <a:prstGeom prst="rect">
            <a:avLst/>
          </a:prstGeom>
          <a:solidFill>
            <a:srgbClr val="B7791F"/>
          </a:solidFill>
          <a:ln/>
        </p:spPr>
      </p:sp>
      <p:sp>
        <p:nvSpPr>
          <p:cNvPr id="24" name="Text 22"/>
          <p:cNvSpPr/>
          <p:nvPr/>
        </p:nvSpPr>
        <p:spPr>
          <a:xfrm>
            <a:off x="4974336"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GUARDS</a:t>
            </a:r>
            <a:endParaRPr lang="en-US" sz="1100" dirty="0"/>
          </a:p>
        </p:txBody>
      </p:sp>
      <p:sp>
        <p:nvSpPr>
          <p:cNvPr id="25" name="Text 23"/>
          <p:cNvSpPr/>
          <p:nvPr/>
        </p:nvSpPr>
        <p:spPr>
          <a:xfrm>
            <a:off x="5065776" y="1682496"/>
            <a:ext cx="1975104" cy="256032"/>
          </a:xfrm>
          <a:prstGeom prst="rect">
            <a:avLst/>
          </a:prstGeom>
          <a:noFill/>
          <a:ln/>
        </p:spPr>
        <p:txBody>
          <a:bodyPr wrap="square" lIns="0" tIns="0" rIns="0" bIns="0" rtlCol="0" anchor="ctr"/>
          <a:lstStyle/>
          <a:p>
            <a:pPr algn="ctr" indent="0" marL="0">
              <a:buNone/>
            </a:pPr>
            <a:r>
              <a:rPr lang="en-US" sz="1000" b="1" i="1" dirty="0">
                <a:solidFill>
                  <a:srgbClr val="B7791F"/>
                </a:solidFill>
                <a:latin typeface="Calibri" pitchFamily="34" charset="0"/>
                <a:ea typeface="Calibri" pitchFamily="34" charset="-122"/>
                <a:cs typeface="Calibri" pitchFamily="34" charset="-120"/>
              </a:rPr>
              <a:t>Check and autocorrect</a:t>
            </a:r>
            <a:endParaRPr lang="en-US" sz="1000" dirty="0"/>
          </a:p>
        </p:txBody>
      </p:sp>
      <p:sp>
        <p:nvSpPr>
          <p:cNvPr id="26" name="Text 24"/>
          <p:cNvSpPr/>
          <p:nvPr/>
        </p:nvSpPr>
        <p:spPr>
          <a:xfrm>
            <a:off x="5102352"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Pour weight, not part weight</a:t>
            </a:r>
            <a:endParaRPr lang="en-US" sz="950" dirty="0"/>
          </a:p>
        </p:txBody>
      </p:sp>
      <p:sp>
        <p:nvSpPr>
          <p:cNvPr id="27" name="Text 25"/>
          <p:cNvSpPr/>
          <p:nvPr/>
        </p:nvSpPr>
        <p:spPr>
          <a:xfrm>
            <a:off x="5102352"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Machining = finishing</a:t>
            </a:r>
            <a:endParaRPr lang="en-US" sz="950" dirty="0"/>
          </a:p>
        </p:txBody>
      </p:sp>
      <p:sp>
        <p:nvSpPr>
          <p:cNvPr id="28" name="Text 26"/>
          <p:cNvSpPr/>
          <p:nvPr/>
        </p:nvSpPr>
        <p:spPr>
          <a:xfrm>
            <a:off x="5102352"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Right alloy, right press</a:t>
            </a:r>
            <a:endParaRPr lang="en-US" sz="950" dirty="0"/>
          </a:p>
        </p:txBody>
      </p:sp>
      <p:sp>
        <p:nvSpPr>
          <p:cNvPr id="29" name="Shape 27"/>
          <p:cNvSpPr/>
          <p:nvPr/>
        </p:nvSpPr>
        <p:spPr>
          <a:xfrm>
            <a:off x="5084064" y="3950208"/>
            <a:ext cx="1938528" cy="402336"/>
          </a:xfrm>
          <a:prstGeom prst="roundRect">
            <a:avLst>
              <a:gd name="adj" fmla="val 18182"/>
            </a:avLst>
          </a:prstGeom>
          <a:solidFill>
            <a:srgbClr val="FFFFFF"/>
          </a:solidFill>
          <a:ln w="9525">
            <a:solidFill>
              <a:srgbClr val="B7791F"/>
            </a:solidFill>
            <a:prstDash val="solid"/>
          </a:ln>
        </p:spPr>
      </p:sp>
      <p:sp>
        <p:nvSpPr>
          <p:cNvPr id="30" name="Text 28"/>
          <p:cNvSpPr/>
          <p:nvPr/>
        </p:nvSpPr>
        <p:spPr>
          <a:xfrm>
            <a:off x="5102352" y="3950208"/>
            <a:ext cx="1901952" cy="402336"/>
          </a:xfrm>
          <a:prstGeom prst="rect">
            <a:avLst/>
          </a:prstGeom>
          <a:noFill/>
          <a:ln/>
        </p:spPr>
        <p:txBody>
          <a:bodyPr wrap="square" lIns="0" tIns="0" rIns="0" bIns="0" rtlCol="0" anchor="ctr"/>
          <a:lstStyle/>
          <a:p>
            <a:pPr algn="ctr" indent="0" marL="0">
              <a:buNone/>
            </a:pPr>
            <a:r>
              <a:rPr lang="en-US" sz="880" b="1" dirty="0">
                <a:solidFill>
                  <a:srgbClr val="B7791F"/>
                </a:solidFill>
                <a:latin typeface="Calibri" pitchFamily="34" charset="0"/>
                <a:ea typeface="Calibri" pitchFamily="34" charset="-122"/>
                <a:cs typeface="Calibri" pitchFamily="34" charset="-120"/>
              </a:rPr>
              <a:t>Measurements always win</a:t>
            </a:r>
            <a:endParaRPr lang="en-US" sz="880" dirty="0"/>
          </a:p>
        </p:txBody>
      </p:sp>
      <p:sp>
        <p:nvSpPr>
          <p:cNvPr id="31" name="Shape 29"/>
          <p:cNvSpPr/>
          <p:nvPr/>
        </p:nvSpPr>
        <p:spPr>
          <a:xfrm>
            <a:off x="7232904" y="1207008"/>
            <a:ext cx="2157984" cy="3246120"/>
          </a:xfrm>
          <a:prstGeom prst="roundRect">
            <a:avLst>
              <a:gd name="adj" fmla="val 3814"/>
            </a:avLst>
          </a:prstGeom>
          <a:solidFill>
            <a:srgbClr val="E6F4F1"/>
          </a:solidFill>
          <a:ln w="15875">
            <a:solidFill>
              <a:srgbClr val="0E8074"/>
            </a:solidFill>
            <a:prstDash val="solid"/>
          </a:ln>
        </p:spPr>
      </p:sp>
      <p:sp>
        <p:nvSpPr>
          <p:cNvPr id="32" name="Shape 30"/>
          <p:cNvSpPr/>
          <p:nvPr/>
        </p:nvSpPr>
        <p:spPr>
          <a:xfrm>
            <a:off x="7232904" y="1207008"/>
            <a:ext cx="2157984" cy="402336"/>
          </a:xfrm>
          <a:prstGeom prst="rect">
            <a:avLst/>
          </a:prstGeom>
          <a:solidFill>
            <a:srgbClr val="0E8074"/>
          </a:solidFill>
          <a:ln/>
        </p:spPr>
      </p:sp>
      <p:sp>
        <p:nvSpPr>
          <p:cNvPr id="33" name="Text 31"/>
          <p:cNvSpPr/>
          <p:nvPr/>
        </p:nvSpPr>
        <p:spPr>
          <a:xfrm>
            <a:off x="7232904"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ENGINE</a:t>
            </a:r>
            <a:endParaRPr lang="en-US" sz="1100" dirty="0"/>
          </a:p>
        </p:txBody>
      </p:sp>
      <p:sp>
        <p:nvSpPr>
          <p:cNvPr id="34" name="Text 32"/>
          <p:cNvSpPr/>
          <p:nvPr/>
        </p:nvSpPr>
        <p:spPr>
          <a:xfrm>
            <a:off x="7324344" y="1682496"/>
            <a:ext cx="1975104" cy="256032"/>
          </a:xfrm>
          <a:prstGeom prst="rect">
            <a:avLst/>
          </a:prstGeom>
          <a:noFill/>
          <a:ln/>
        </p:spPr>
        <p:txBody>
          <a:bodyPr wrap="square" lIns="0" tIns="0" rIns="0" bIns="0" rtlCol="0" anchor="ctr"/>
          <a:lstStyle/>
          <a:p>
            <a:pPr algn="ctr" indent="0" marL="0">
              <a:buNone/>
            </a:pPr>
            <a:r>
              <a:rPr lang="en-US" sz="1000" b="1" i="1" dirty="0">
                <a:solidFill>
                  <a:srgbClr val="0E8074"/>
                </a:solidFill>
                <a:latin typeface="Calibri" pitchFamily="34" charset="0"/>
                <a:ea typeface="Calibri" pitchFamily="34" charset="-122"/>
                <a:cs typeface="Calibri" pitchFamily="34" charset="-120"/>
              </a:rPr>
              <a:t>Does every calculation</a:t>
            </a:r>
            <a:endParaRPr lang="en-US" sz="1000" dirty="0"/>
          </a:p>
        </p:txBody>
      </p:sp>
      <p:sp>
        <p:nvSpPr>
          <p:cNvPr id="35" name="Text 33"/>
          <p:cNvSpPr/>
          <p:nvPr/>
        </p:nvSpPr>
        <p:spPr>
          <a:xfrm>
            <a:off x="7360920"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Sizes the machine</a:t>
            </a:r>
            <a:endParaRPr lang="en-US" sz="950" dirty="0"/>
          </a:p>
        </p:txBody>
      </p:sp>
      <p:sp>
        <p:nvSpPr>
          <p:cNvPr id="36" name="Text 34"/>
          <p:cNvSpPr/>
          <p:nvPr/>
        </p:nvSpPr>
        <p:spPr>
          <a:xfrm>
            <a:off x="7360920"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Builds each cycle time</a:t>
            </a:r>
            <a:endParaRPr lang="en-US" sz="950" dirty="0"/>
          </a:p>
        </p:txBody>
      </p:sp>
      <p:sp>
        <p:nvSpPr>
          <p:cNvPr id="37" name="Text 35"/>
          <p:cNvSpPr/>
          <p:nvPr/>
        </p:nvSpPr>
        <p:spPr>
          <a:xfrm>
            <a:off x="7360920"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8 buckets, 20 countries</a:t>
            </a:r>
            <a:endParaRPr lang="en-US" sz="950" dirty="0"/>
          </a:p>
        </p:txBody>
      </p:sp>
      <p:sp>
        <p:nvSpPr>
          <p:cNvPr id="38" name="Shape 36"/>
          <p:cNvSpPr/>
          <p:nvPr/>
        </p:nvSpPr>
        <p:spPr>
          <a:xfrm>
            <a:off x="7342632" y="3950208"/>
            <a:ext cx="1938528" cy="402336"/>
          </a:xfrm>
          <a:prstGeom prst="roundRect">
            <a:avLst>
              <a:gd name="adj" fmla="val 18182"/>
            </a:avLst>
          </a:prstGeom>
          <a:solidFill>
            <a:srgbClr val="FFFFFF"/>
          </a:solidFill>
          <a:ln w="9525">
            <a:solidFill>
              <a:srgbClr val="0E8074"/>
            </a:solidFill>
            <a:prstDash val="solid"/>
          </a:ln>
        </p:spPr>
      </p:sp>
      <p:sp>
        <p:nvSpPr>
          <p:cNvPr id="39" name="Text 37"/>
          <p:cNvSpPr/>
          <p:nvPr/>
        </p:nvSpPr>
        <p:spPr>
          <a:xfrm>
            <a:off x="7360920" y="3950208"/>
            <a:ext cx="1901952" cy="402336"/>
          </a:xfrm>
          <a:prstGeom prst="rect">
            <a:avLst/>
          </a:prstGeom>
          <a:noFill/>
          <a:ln/>
        </p:spPr>
        <p:txBody>
          <a:bodyPr wrap="square" lIns="0" tIns="0" rIns="0" bIns="0" rtlCol="0" anchor="ctr"/>
          <a:lstStyle/>
          <a:p>
            <a:pPr algn="ctr" indent="0" marL="0">
              <a:buNone/>
            </a:pPr>
            <a:r>
              <a:rPr lang="en-US" sz="880" b="1" dirty="0">
                <a:solidFill>
                  <a:srgbClr val="0E8074"/>
                </a:solidFill>
                <a:latin typeface="Calibri" pitchFamily="34" charset="0"/>
                <a:ea typeface="Calibri" pitchFamily="34" charset="-122"/>
                <a:cs typeface="Calibri" pitchFamily="34" charset="-120"/>
              </a:rPr>
              <a:t>Fixed formulas, traceable</a:t>
            </a:r>
            <a:endParaRPr lang="en-US" sz="880" dirty="0"/>
          </a:p>
        </p:txBody>
      </p:sp>
      <p:sp>
        <p:nvSpPr>
          <p:cNvPr id="40" name="Shape 38"/>
          <p:cNvSpPr/>
          <p:nvPr/>
        </p:nvSpPr>
        <p:spPr>
          <a:xfrm>
            <a:off x="9491472" y="1207008"/>
            <a:ext cx="2157984" cy="3246120"/>
          </a:xfrm>
          <a:prstGeom prst="roundRect">
            <a:avLst>
              <a:gd name="adj" fmla="val 3814"/>
            </a:avLst>
          </a:prstGeom>
          <a:solidFill>
            <a:srgbClr val="EAF6EF"/>
          </a:solidFill>
          <a:ln w="15875">
            <a:solidFill>
              <a:srgbClr val="2E8B57"/>
            </a:solidFill>
            <a:prstDash val="solid"/>
          </a:ln>
        </p:spPr>
      </p:sp>
      <p:sp>
        <p:nvSpPr>
          <p:cNvPr id="41" name="Shape 39"/>
          <p:cNvSpPr/>
          <p:nvPr/>
        </p:nvSpPr>
        <p:spPr>
          <a:xfrm>
            <a:off x="9491472" y="1207008"/>
            <a:ext cx="2157984" cy="402336"/>
          </a:xfrm>
          <a:prstGeom prst="rect">
            <a:avLst/>
          </a:prstGeom>
          <a:solidFill>
            <a:srgbClr val="2E8B57"/>
          </a:solidFill>
          <a:ln/>
        </p:spPr>
      </p:sp>
      <p:sp>
        <p:nvSpPr>
          <p:cNvPr id="42" name="Text 40"/>
          <p:cNvSpPr/>
          <p:nvPr/>
        </p:nvSpPr>
        <p:spPr>
          <a:xfrm>
            <a:off x="9491472"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ENGINEER</a:t>
            </a:r>
            <a:endParaRPr lang="en-US" sz="1100" dirty="0"/>
          </a:p>
        </p:txBody>
      </p:sp>
      <p:sp>
        <p:nvSpPr>
          <p:cNvPr id="43" name="Text 41"/>
          <p:cNvSpPr/>
          <p:nvPr/>
        </p:nvSpPr>
        <p:spPr>
          <a:xfrm>
            <a:off x="9582912" y="1682496"/>
            <a:ext cx="1975104" cy="256032"/>
          </a:xfrm>
          <a:prstGeom prst="rect">
            <a:avLst/>
          </a:prstGeom>
          <a:noFill/>
          <a:ln/>
        </p:spPr>
        <p:txBody>
          <a:bodyPr wrap="square" lIns="0" tIns="0" rIns="0" bIns="0" rtlCol="0" anchor="ctr"/>
          <a:lstStyle/>
          <a:p>
            <a:pPr algn="ctr" indent="0" marL="0">
              <a:buNone/>
            </a:pPr>
            <a:r>
              <a:rPr lang="en-US" sz="1000" b="1" i="1" dirty="0">
                <a:solidFill>
                  <a:srgbClr val="2E8B57"/>
                </a:solidFill>
                <a:latin typeface="Calibri" pitchFamily="34" charset="0"/>
                <a:ea typeface="Calibri" pitchFamily="34" charset="-122"/>
                <a:cs typeface="Calibri" pitchFamily="34" charset="-120"/>
              </a:rPr>
              <a:t>Answers and approves</a:t>
            </a:r>
            <a:endParaRPr lang="en-US" sz="1000" dirty="0"/>
          </a:p>
        </p:txBody>
      </p:sp>
      <p:sp>
        <p:nvSpPr>
          <p:cNvPr id="44" name="Text 42"/>
          <p:cNvSpPr/>
          <p:nvPr/>
        </p:nvSpPr>
        <p:spPr>
          <a:xfrm>
            <a:off x="9619488"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Sets volume and region</a:t>
            </a:r>
            <a:endParaRPr lang="en-US" sz="950" dirty="0"/>
          </a:p>
        </p:txBody>
      </p:sp>
      <p:sp>
        <p:nvSpPr>
          <p:cNvPr id="45" name="Text 43"/>
          <p:cNvSpPr/>
          <p:nvPr/>
        </p:nvSpPr>
        <p:spPr>
          <a:xfrm>
            <a:off x="9619488"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Answers what geometry can’t — their entry always wins</a:t>
            </a:r>
            <a:endParaRPr lang="en-US" sz="950" dirty="0"/>
          </a:p>
        </p:txBody>
      </p:sp>
      <p:sp>
        <p:nvSpPr>
          <p:cNvPr id="46" name="Text 44"/>
          <p:cNvSpPr/>
          <p:nvPr/>
        </p:nvSpPr>
        <p:spPr>
          <a:xfrm>
            <a:off x="9619488"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Signs off the number</a:t>
            </a:r>
            <a:endParaRPr lang="en-US" sz="950" dirty="0"/>
          </a:p>
        </p:txBody>
      </p:sp>
      <p:sp>
        <p:nvSpPr>
          <p:cNvPr id="47" name="Shape 45"/>
          <p:cNvSpPr/>
          <p:nvPr/>
        </p:nvSpPr>
        <p:spPr>
          <a:xfrm>
            <a:off x="9601200" y="3950208"/>
            <a:ext cx="1938528" cy="402336"/>
          </a:xfrm>
          <a:prstGeom prst="roundRect">
            <a:avLst>
              <a:gd name="adj" fmla="val 18182"/>
            </a:avLst>
          </a:prstGeom>
          <a:solidFill>
            <a:srgbClr val="FFFFFF"/>
          </a:solidFill>
          <a:ln w="9525">
            <a:solidFill>
              <a:srgbClr val="2E8B57"/>
            </a:solidFill>
            <a:prstDash val="solid"/>
          </a:ln>
        </p:spPr>
      </p:sp>
      <p:sp>
        <p:nvSpPr>
          <p:cNvPr id="48" name="Text 46"/>
          <p:cNvSpPr/>
          <p:nvPr/>
        </p:nvSpPr>
        <p:spPr>
          <a:xfrm>
            <a:off x="9619488" y="3950208"/>
            <a:ext cx="1901952" cy="402336"/>
          </a:xfrm>
          <a:prstGeom prst="rect">
            <a:avLst/>
          </a:prstGeom>
          <a:noFill/>
          <a:ln/>
        </p:spPr>
        <p:txBody>
          <a:bodyPr wrap="square" lIns="0" tIns="0" rIns="0" bIns="0" rtlCol="0" anchor="ctr"/>
          <a:lstStyle/>
          <a:p>
            <a:pPr algn="ctr" indent="0" marL="0">
              <a:buNone/>
            </a:pPr>
            <a:r>
              <a:rPr lang="en-US" sz="880" b="1" dirty="0">
                <a:solidFill>
                  <a:srgbClr val="2E8B57"/>
                </a:solidFill>
                <a:latin typeface="Calibri" pitchFamily="34" charset="0"/>
                <a:ea typeface="Calibri" pitchFamily="34" charset="-122"/>
                <a:cs typeface="Calibri" pitchFamily="34" charset="-120"/>
              </a:rPr>
              <a:t>The final decision</a:t>
            </a:r>
            <a:endParaRPr lang="en-US" sz="880" dirty="0"/>
          </a:p>
        </p:txBody>
      </p:sp>
      <p:sp>
        <p:nvSpPr>
          <p:cNvPr id="49" name="Shape 47"/>
          <p:cNvSpPr/>
          <p:nvPr/>
        </p:nvSpPr>
        <p:spPr>
          <a:xfrm>
            <a:off x="457200" y="4663440"/>
            <a:ext cx="11274552" cy="777240"/>
          </a:xfrm>
          <a:prstGeom prst="roundRect">
            <a:avLst>
              <a:gd name="adj" fmla="val 11765"/>
            </a:avLst>
          </a:prstGeom>
          <a:solidFill>
            <a:srgbClr val="16325C"/>
          </a:solidFill>
          <a:ln/>
        </p:spPr>
      </p:sp>
      <p:sp>
        <p:nvSpPr>
          <p:cNvPr id="50" name="Text 48"/>
          <p:cNvSpPr/>
          <p:nvPr/>
        </p:nvSpPr>
        <p:spPr>
          <a:xfrm>
            <a:off x="457200" y="4663440"/>
            <a:ext cx="11274552" cy="77724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The rules derive.  The engine calculates.  A person approves.  The AI is an optional second opinion.</a:t>
            </a:r>
            <a:endParaRPr lang="en-US" sz="1900" dirty="0"/>
          </a:p>
        </p:txBody>
      </p:sp>
      <p:sp>
        <p:nvSpPr>
          <p:cNvPr id="51" name="Shape 49"/>
          <p:cNvSpPr/>
          <p:nvPr/>
        </p:nvSpPr>
        <p:spPr>
          <a:xfrm>
            <a:off x="457200" y="5577840"/>
            <a:ext cx="11274552" cy="713232"/>
          </a:xfrm>
          <a:prstGeom prst="roundRect">
            <a:avLst>
              <a:gd name="adj" fmla="val 12821"/>
            </a:avLst>
          </a:prstGeom>
          <a:solidFill>
            <a:srgbClr val="FFFFFF"/>
          </a:solidFill>
          <a:ln w="12700">
            <a:solidFill>
              <a:srgbClr val="DCE3EE"/>
            </a:solidFill>
            <a:prstDash val="solid"/>
          </a:ln>
        </p:spPr>
      </p:sp>
      <p:sp>
        <p:nvSpPr>
          <p:cNvPr id="52" name="Text 50"/>
          <p:cNvSpPr/>
          <p:nvPr/>
        </p:nvSpPr>
        <p:spPr>
          <a:xfrm>
            <a:off x="731520" y="5669280"/>
            <a:ext cx="10744200" cy="54864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Result on this part:  </a:t>
            </a:r>
            <a:pPr indent="0" marL="0">
              <a:buNone/>
            </a:pPr>
            <a:r>
              <a:rPr lang="en-US" sz="1250" dirty="0">
                <a:solidFill>
                  <a:srgbClr val="3A4356"/>
                </a:solidFill>
                <a:latin typeface="Calibri" pitchFamily="34" charset="0"/>
                <a:ea typeface="Calibri" pitchFamily="34" charset="-122"/>
                <a:cs typeface="Calibri" pitchFamily="34" charset="-120"/>
              </a:rPr>
              <a:t>a defensible £38.55, with a £32–£45 confidence band, built in about two minutes — and every penny of it traceable to a measurement or a published rate.</a:t>
            </a:r>
            <a:endParaRPr lang="en-US" sz="1250" dirty="0"/>
          </a:p>
        </p:txBody>
      </p:sp>
      <p:sp>
        <p:nvSpPr>
          <p:cNvPr id="53" name="Text 5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4" name="Text 5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Shape 1"/>
          <p:cNvSpPr/>
          <p:nvPr/>
        </p:nvSpPr>
        <p:spPr>
          <a:xfrm>
            <a:off x="731520" y="548640"/>
            <a:ext cx="502920" cy="502920"/>
          </a:xfrm>
          <a:prstGeom prst="roundRect">
            <a:avLst>
              <a:gd name="adj" fmla="val 22000"/>
            </a:avLst>
          </a:prstGeom>
          <a:solidFill>
            <a:srgbClr val="4F46E5"/>
          </a:solidFill>
          <a:ln/>
        </p:spPr>
      </p:sp>
      <p:sp>
        <p:nvSpPr>
          <p:cNvPr id="4" name="Text 2"/>
          <p:cNvSpPr/>
          <p:nvPr/>
        </p:nvSpPr>
        <p:spPr>
          <a:xfrm>
            <a:off x="731520" y="548640"/>
            <a:ext cx="502920" cy="502920"/>
          </a:xfrm>
          <a:prstGeom prst="rect">
            <a:avLst/>
          </a:prstGeom>
          <a:noFill/>
          <a:ln/>
        </p:spPr>
        <p:txBody>
          <a:bodyPr wrap="square" lIns="0" tIns="0" rIns="0" bIns="0" rtlCol="0" anchor="ctr"/>
          <a:lstStyle/>
          <a:p>
            <a:pPr algn="ctr" indent="0" marL="0">
              <a:buNone/>
            </a:pPr>
            <a:r>
              <a:rPr lang="en-US" sz="1650" b="1" dirty="0">
                <a:solidFill>
                  <a:srgbClr val="FFFFFF"/>
                </a:solidFill>
                <a:latin typeface="Calibri" pitchFamily="34" charset="0"/>
                <a:ea typeface="Calibri" pitchFamily="34" charset="-122"/>
                <a:cs typeface="Calibri" pitchFamily="34" charset="-120"/>
              </a:rPr>
              <a:t>CV</a:t>
            </a:r>
            <a:endParaRPr lang="en-US" sz="1650" dirty="0"/>
          </a:p>
        </p:txBody>
      </p:sp>
      <p:sp>
        <p:nvSpPr>
          <p:cNvPr id="5" name="Text 3"/>
          <p:cNvSpPr/>
          <p:nvPr/>
        </p:nvSpPr>
        <p:spPr>
          <a:xfrm>
            <a:off x="731520" y="1828800"/>
            <a:ext cx="7315200" cy="292608"/>
          </a:xfrm>
          <a:prstGeom prst="rect">
            <a:avLst/>
          </a:prstGeom>
          <a:noFill/>
          <a:ln/>
        </p:spPr>
        <p:txBody>
          <a:bodyPr wrap="square" lIns="0" tIns="0" rIns="0" bIns="0" rtlCol="0" anchor="ctr"/>
          <a:lstStyle/>
          <a:p>
            <a:pPr indent="0" marL="0">
              <a:buNone/>
            </a:pPr>
            <a:r>
              <a:rPr lang="en-US" sz="1300" b="1" spc="160" kern="0" dirty="0">
                <a:solidFill>
                  <a:srgbClr val="6B3FA0"/>
                </a:solidFill>
                <a:latin typeface="Calibri" pitchFamily="34" charset="0"/>
                <a:ea typeface="Calibri" pitchFamily="34" charset="-122"/>
                <a:cs typeface="Calibri" pitchFamily="34" charset="-120"/>
              </a:rPr>
              <a:t>SECTION THREE</a:t>
            </a:r>
            <a:endParaRPr lang="en-US" sz="1300" dirty="0"/>
          </a:p>
        </p:txBody>
      </p:sp>
      <p:sp>
        <p:nvSpPr>
          <p:cNvPr id="6" name="Text 4"/>
          <p:cNvSpPr/>
          <p:nvPr/>
        </p:nvSpPr>
        <p:spPr>
          <a:xfrm>
            <a:off x="731520" y="2212848"/>
            <a:ext cx="8778240" cy="68580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An Injection-Moulded Bumper Fascia</a:t>
            </a:r>
            <a:endParaRPr lang="en-US" sz="3400" dirty="0"/>
          </a:p>
        </p:txBody>
      </p:sp>
      <p:sp>
        <p:nvSpPr>
          <p:cNvPr id="7" name="Text 5"/>
          <p:cNvSpPr/>
          <p:nvPr/>
        </p:nvSpPr>
        <p:spPr>
          <a:xfrm>
            <a:off x="731520" y="2980944"/>
            <a:ext cx="8778240" cy="310896"/>
          </a:xfrm>
          <a:prstGeom prst="rect">
            <a:avLst/>
          </a:prstGeom>
          <a:noFill/>
          <a:ln/>
        </p:spPr>
        <p:txBody>
          <a:bodyPr wrap="square" lIns="0" tIns="0" rIns="0" bIns="0" rtlCol="0" anchor="ctr"/>
          <a:lstStyle/>
          <a:p>
            <a:pPr indent="0" marL="0">
              <a:buNone/>
            </a:pPr>
            <a:r>
              <a:rPr lang="en-US" sz="1500" dirty="0">
                <a:solidFill>
                  <a:srgbClr val="8FA3CC"/>
                </a:solidFill>
                <a:latin typeface="Calibri" pitchFamily="34" charset="0"/>
                <a:ea typeface="Calibri" pitchFamily="34" charset="-122"/>
                <a:cs typeface="Calibri" pitchFamily="34" charset="-120"/>
              </a:rPr>
              <a:t>The same method, a part that could hardly be more different</a:t>
            </a:r>
            <a:endParaRPr lang="en-US" sz="1500" dirty="0"/>
          </a:p>
        </p:txBody>
      </p:sp>
      <p:sp>
        <p:nvSpPr>
          <p:cNvPr id="8" name="Shape 6"/>
          <p:cNvSpPr/>
          <p:nvPr/>
        </p:nvSpPr>
        <p:spPr>
          <a:xfrm>
            <a:off x="786384" y="3730752"/>
            <a:ext cx="100584" cy="100584"/>
          </a:xfrm>
          <a:prstGeom prst="ellipse">
            <a:avLst/>
          </a:prstGeom>
          <a:solidFill>
            <a:srgbClr val="6B3FA0"/>
          </a:solidFill>
          <a:ln/>
        </p:spPr>
      </p:sp>
      <p:sp>
        <p:nvSpPr>
          <p:cNvPr id="9" name="Text 7"/>
          <p:cNvSpPr/>
          <p:nvPr/>
        </p:nvSpPr>
        <p:spPr>
          <a:xfrm>
            <a:off x="1078992" y="3639312"/>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Same kernel, same AI, same rate library, same eight buckets</a:t>
            </a:r>
            <a:endParaRPr lang="en-US" sz="1200" dirty="0"/>
          </a:p>
        </p:txBody>
      </p:sp>
      <p:sp>
        <p:nvSpPr>
          <p:cNvPr id="10" name="Shape 8"/>
          <p:cNvSpPr/>
          <p:nvPr/>
        </p:nvSpPr>
        <p:spPr>
          <a:xfrm>
            <a:off x="786384" y="4059936"/>
            <a:ext cx="100584" cy="100584"/>
          </a:xfrm>
          <a:prstGeom prst="ellipse">
            <a:avLst/>
          </a:prstGeom>
          <a:solidFill>
            <a:srgbClr val="6B3FA0"/>
          </a:solidFill>
          <a:ln/>
        </p:spPr>
      </p:sp>
      <p:sp>
        <p:nvSpPr>
          <p:cNvPr id="11" name="Text 9"/>
          <p:cNvSpPr/>
          <p:nvPr/>
        </p:nvSpPr>
        <p:spPr>
          <a:xfrm>
            <a:off x="1078992" y="3968496"/>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Cooling calculated from wall thickness — and what half a millimetre is worth</a:t>
            </a:r>
            <a:endParaRPr lang="en-US" sz="1200" dirty="0"/>
          </a:p>
        </p:txBody>
      </p:sp>
      <p:sp>
        <p:nvSpPr>
          <p:cNvPr id="12" name="Shape 10"/>
          <p:cNvSpPr/>
          <p:nvPr/>
        </p:nvSpPr>
        <p:spPr>
          <a:xfrm>
            <a:off x="786384" y="4389120"/>
            <a:ext cx="100584" cy="100584"/>
          </a:xfrm>
          <a:prstGeom prst="ellipse">
            <a:avLst/>
          </a:prstGeom>
          <a:solidFill>
            <a:srgbClr val="6B3FA0"/>
          </a:solidFill>
          <a:ln/>
        </p:spPr>
      </p:sp>
      <p:sp>
        <p:nvSpPr>
          <p:cNvPr id="13" name="Text 11"/>
          <p:cNvSpPr/>
          <p:nvPr/>
        </p:nvSpPr>
        <p:spPr>
          <a:xfrm>
            <a:off x="1078992" y="4297680"/>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The paint line, costed from film thickness rather than a percentage uplift</a:t>
            </a:r>
            <a:endParaRPr lang="en-US" sz="1200" dirty="0"/>
          </a:p>
        </p:txBody>
      </p:sp>
      <p:sp>
        <p:nvSpPr>
          <p:cNvPr id="14" name="Shape 12"/>
          <p:cNvSpPr/>
          <p:nvPr/>
        </p:nvSpPr>
        <p:spPr>
          <a:xfrm>
            <a:off x="786384" y="4718304"/>
            <a:ext cx="100584" cy="100584"/>
          </a:xfrm>
          <a:prstGeom prst="ellipse">
            <a:avLst/>
          </a:prstGeom>
          <a:solidFill>
            <a:srgbClr val="6B3FA0"/>
          </a:solidFill>
          <a:ln/>
        </p:spPr>
      </p:sp>
      <p:sp>
        <p:nvSpPr>
          <p:cNvPr id="15" name="Text 13"/>
          <p:cNvSpPr/>
          <p:nvPr/>
        </p:nvSpPr>
        <p:spPr>
          <a:xfrm>
            <a:off x="1078992" y="4626864"/>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Two findings that nobody in the room would have predicted</a:t>
            </a:r>
            <a:endParaRPr lang="en-US" sz="1200" dirty="0"/>
          </a:p>
        </p:txBody>
      </p:sp>
      <p:sp>
        <p:nvSpPr>
          <p:cNvPr id="16" name="Shape 14"/>
          <p:cNvSpPr/>
          <p:nvPr/>
        </p:nvSpPr>
        <p:spPr>
          <a:xfrm>
            <a:off x="9692640" y="2212848"/>
            <a:ext cx="2039112" cy="914400"/>
          </a:xfrm>
          <a:prstGeom prst="roundRect">
            <a:avLst>
              <a:gd name="adj" fmla="val 10000"/>
            </a:avLst>
          </a:prstGeom>
          <a:solidFill>
            <a:srgbClr val="24406E"/>
          </a:solidFill>
          <a:ln/>
        </p:spPr>
      </p:sp>
      <p:sp>
        <p:nvSpPr>
          <p:cNvPr id="17" name="Text 15"/>
          <p:cNvSpPr/>
          <p:nvPr/>
        </p:nvSpPr>
        <p:spPr>
          <a:xfrm>
            <a:off x="9692640" y="2304288"/>
            <a:ext cx="2039112"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18</a:t>
            </a:r>
            <a:endParaRPr lang="en-US" sz="2600" dirty="0"/>
          </a:p>
        </p:txBody>
      </p:sp>
      <p:sp>
        <p:nvSpPr>
          <p:cNvPr id="18" name="Text 16"/>
          <p:cNvSpPr/>
          <p:nvPr/>
        </p:nvSpPr>
        <p:spPr>
          <a:xfrm>
            <a:off x="9692640" y="2743200"/>
            <a:ext cx="2039112" cy="274320"/>
          </a:xfrm>
          <a:prstGeom prst="rect">
            <a:avLst/>
          </a:prstGeom>
          <a:noFill/>
          <a:ln/>
        </p:spPr>
        <p:txBody>
          <a:bodyPr wrap="square" lIns="0" tIns="0" rIns="0" bIns="0" rtlCol="0" anchor="ctr"/>
          <a:lstStyle/>
          <a:p>
            <a:pPr algn="ctr" indent="0" marL="0">
              <a:buNone/>
            </a:pPr>
            <a:r>
              <a:rPr lang="en-US" sz="1100" dirty="0">
                <a:solidFill>
                  <a:srgbClr val="8FA3CC"/>
                </a:solidFill>
                <a:latin typeface="Calibri" pitchFamily="34" charset="0"/>
                <a:ea typeface="Calibri" pitchFamily="34" charset="-122"/>
                <a:cs typeface="Calibri" pitchFamily="34" charset="-120"/>
              </a:rPr>
              <a:t>minutes</a:t>
            </a:r>
            <a:endParaRPr lang="en-US" sz="1100" dirty="0"/>
          </a:p>
        </p:txBody>
      </p:sp>
      <p:sp>
        <p:nvSpPr>
          <p:cNvPr id="19" name="Text 1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20" name="Text 1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Part Two · The Same Method on a Moulded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Front bumper fascia — injection moulded, followed end to end</a:t>
            </a:r>
            <a:endParaRPr lang="en-US" sz="1200" dirty="0"/>
          </a:p>
        </p:txBody>
      </p:sp>
      <p:sp>
        <p:nvSpPr>
          <p:cNvPr id="5" name="Shape 3"/>
          <p:cNvSpPr/>
          <p:nvPr/>
        </p:nvSpPr>
        <p:spPr>
          <a:xfrm>
            <a:off x="457200" y="1170432"/>
            <a:ext cx="11274552" cy="1115568"/>
          </a:xfrm>
          <a:prstGeom prst="roundRect">
            <a:avLst>
              <a:gd name="adj" fmla="val 8197"/>
            </a:avLst>
          </a:prstGeom>
          <a:solidFill>
            <a:srgbClr val="FFFFFF"/>
          </a:solidFill>
          <a:ln w="12700">
            <a:solidFill>
              <a:srgbClr val="DCE3EE"/>
            </a:solidFill>
            <a:prstDash val="solid"/>
          </a:ln>
        </p:spPr>
      </p:sp>
      <p:sp>
        <p:nvSpPr>
          <p:cNvPr id="6" name="Shape 4"/>
          <p:cNvSpPr/>
          <p:nvPr/>
        </p:nvSpPr>
        <p:spPr>
          <a:xfrm>
            <a:off x="685800" y="1371600"/>
            <a:ext cx="658368" cy="658368"/>
          </a:xfrm>
          <a:prstGeom prst="ellipse">
            <a:avLst/>
          </a:prstGeom>
          <a:solidFill>
            <a:srgbClr val="16325C"/>
          </a:solidFill>
          <a:ln/>
        </p:spPr>
      </p:sp>
      <p:pic>
        <p:nvPicPr>
          <p:cNvPr id="7" name="Image 0" descr="preencoded.png">    </p:cNvPr>
          <p:cNvPicPr>
            <a:picLocks noChangeAspect="1"/>
          </p:cNvPicPr>
          <p:nvPr/>
        </p:nvPicPr>
        <p:blipFill>
          <a:blip r:embed="rId1"/>
          <a:stretch>
            <a:fillRect/>
          </a:stretch>
        </p:blipFill>
        <p:spPr>
          <a:xfrm>
            <a:off x="868680" y="1554480"/>
            <a:ext cx="292608" cy="292608"/>
          </a:xfrm>
          <a:prstGeom prst="rect">
            <a:avLst/>
          </a:prstGeom>
        </p:spPr>
      </p:pic>
      <p:sp>
        <p:nvSpPr>
          <p:cNvPr id="8" name="Text 5"/>
          <p:cNvSpPr/>
          <p:nvPr/>
        </p:nvSpPr>
        <p:spPr>
          <a:xfrm>
            <a:off x="1536192" y="1298448"/>
            <a:ext cx="10058400" cy="310896"/>
          </a:xfrm>
          <a:prstGeom prst="rect">
            <a:avLst/>
          </a:prstGeom>
          <a:noFill/>
          <a:ln/>
        </p:spPr>
        <p:txBody>
          <a:bodyPr wrap="square" lIns="0" tIns="0" rIns="0" bIns="0" rtlCol="0" anchor="ctr"/>
          <a:lstStyle/>
          <a:p>
            <a:pPr indent="0" marL="0">
              <a:buNone/>
            </a:pPr>
            <a:r>
              <a:rPr lang="en-US" sz="1500" b="1" dirty="0">
                <a:solidFill>
                  <a:srgbClr val="16325C"/>
                </a:solidFill>
                <a:latin typeface="Calibri" pitchFamily="34" charset="0"/>
                <a:ea typeface="Calibri" pitchFamily="34" charset="-122"/>
                <a:cs typeface="Calibri" pitchFamily="34" charset="-120"/>
              </a:rPr>
              <a:t>Front bumper fascia — talc-filled polypropylene, moulded in one shot, then painted</a:t>
            </a:r>
            <a:endParaRPr lang="en-US" sz="1500" dirty="0"/>
          </a:p>
        </p:txBody>
      </p:sp>
      <p:sp>
        <p:nvSpPr>
          <p:cNvPr id="9" name="Shape 6"/>
          <p:cNvSpPr/>
          <p:nvPr/>
        </p:nvSpPr>
        <p:spPr>
          <a:xfrm>
            <a:off x="1536192" y="1700784"/>
            <a:ext cx="1353312" cy="329184"/>
          </a:xfrm>
          <a:prstGeom prst="roundRect">
            <a:avLst>
              <a:gd name="adj" fmla="val 47222"/>
            </a:avLst>
          </a:prstGeom>
          <a:solidFill>
            <a:srgbClr val="F1EBF8"/>
          </a:solidFill>
          <a:ln/>
        </p:spPr>
      </p:sp>
      <p:sp>
        <p:nvSpPr>
          <p:cNvPr id="10" name="Text 7"/>
          <p:cNvSpPr/>
          <p:nvPr/>
        </p:nvSpPr>
        <p:spPr>
          <a:xfrm>
            <a:off x="1536192"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4.2 kg</a:t>
            </a:r>
            <a:endParaRPr lang="en-US" sz="900" dirty="0"/>
          </a:p>
        </p:txBody>
      </p:sp>
      <p:sp>
        <p:nvSpPr>
          <p:cNvPr id="11" name="Shape 8"/>
          <p:cNvSpPr/>
          <p:nvPr/>
        </p:nvSpPr>
        <p:spPr>
          <a:xfrm>
            <a:off x="2980944" y="1700784"/>
            <a:ext cx="1353312" cy="329184"/>
          </a:xfrm>
          <a:prstGeom prst="roundRect">
            <a:avLst>
              <a:gd name="adj" fmla="val 47222"/>
            </a:avLst>
          </a:prstGeom>
          <a:solidFill>
            <a:srgbClr val="F1EBF8"/>
          </a:solidFill>
          <a:ln/>
        </p:spPr>
      </p:sp>
      <p:sp>
        <p:nvSpPr>
          <p:cNvPr id="12" name="Text 9"/>
          <p:cNvSpPr/>
          <p:nvPr/>
        </p:nvSpPr>
        <p:spPr>
          <a:xfrm>
            <a:off x="2980944"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3.0 mm walls</a:t>
            </a:r>
            <a:endParaRPr lang="en-US" sz="900" dirty="0"/>
          </a:p>
        </p:txBody>
      </p:sp>
      <p:sp>
        <p:nvSpPr>
          <p:cNvPr id="13" name="Shape 10"/>
          <p:cNvSpPr/>
          <p:nvPr/>
        </p:nvSpPr>
        <p:spPr>
          <a:xfrm>
            <a:off x="4425696" y="1700784"/>
            <a:ext cx="1353312" cy="329184"/>
          </a:xfrm>
          <a:prstGeom prst="roundRect">
            <a:avLst>
              <a:gd name="adj" fmla="val 47222"/>
            </a:avLst>
          </a:prstGeom>
          <a:solidFill>
            <a:srgbClr val="F1EBF8"/>
          </a:solidFill>
          <a:ln/>
        </p:spPr>
      </p:sp>
      <p:sp>
        <p:nvSpPr>
          <p:cNvPr id="14" name="Text 11"/>
          <p:cNvSpPr/>
          <p:nvPr/>
        </p:nvSpPr>
        <p:spPr>
          <a:xfrm>
            <a:off x="4425696"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1,800 × 550 mm</a:t>
            </a:r>
            <a:endParaRPr lang="en-US" sz="900" dirty="0"/>
          </a:p>
        </p:txBody>
      </p:sp>
      <p:sp>
        <p:nvSpPr>
          <p:cNvPr id="15" name="Shape 12"/>
          <p:cNvSpPr/>
          <p:nvPr/>
        </p:nvSpPr>
        <p:spPr>
          <a:xfrm>
            <a:off x="5870448" y="1700784"/>
            <a:ext cx="1353312" cy="329184"/>
          </a:xfrm>
          <a:prstGeom prst="roundRect">
            <a:avLst>
              <a:gd name="adj" fmla="val 47222"/>
            </a:avLst>
          </a:prstGeom>
          <a:solidFill>
            <a:srgbClr val="F1EBF8"/>
          </a:solidFill>
          <a:ln/>
        </p:spPr>
      </p:sp>
      <p:sp>
        <p:nvSpPr>
          <p:cNvPr id="16" name="Text 13"/>
          <p:cNvSpPr/>
          <p:nvPr/>
        </p:nvSpPr>
        <p:spPr>
          <a:xfrm>
            <a:off x="5870448"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6 undercut slides</a:t>
            </a:r>
            <a:endParaRPr lang="en-US" sz="900" dirty="0"/>
          </a:p>
        </p:txBody>
      </p:sp>
      <p:sp>
        <p:nvSpPr>
          <p:cNvPr id="17" name="Shape 14"/>
          <p:cNvSpPr/>
          <p:nvPr/>
        </p:nvSpPr>
        <p:spPr>
          <a:xfrm>
            <a:off x="7315200" y="1700784"/>
            <a:ext cx="1353312" cy="329184"/>
          </a:xfrm>
          <a:prstGeom prst="roundRect">
            <a:avLst>
              <a:gd name="adj" fmla="val 47222"/>
            </a:avLst>
          </a:prstGeom>
          <a:solidFill>
            <a:srgbClr val="F1EBF8"/>
          </a:solidFill>
          <a:ln/>
        </p:spPr>
      </p:sp>
      <p:sp>
        <p:nvSpPr>
          <p:cNvPr id="18" name="Text 15"/>
          <p:cNvSpPr/>
          <p:nvPr/>
        </p:nvSpPr>
        <p:spPr>
          <a:xfrm>
            <a:off x="7315200"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Class-A painted</a:t>
            </a:r>
            <a:endParaRPr lang="en-US" sz="900" dirty="0"/>
          </a:p>
        </p:txBody>
      </p:sp>
      <p:sp>
        <p:nvSpPr>
          <p:cNvPr id="19" name="Shape 16"/>
          <p:cNvSpPr/>
          <p:nvPr/>
        </p:nvSpPr>
        <p:spPr>
          <a:xfrm>
            <a:off x="8759952" y="1700784"/>
            <a:ext cx="1353312" cy="329184"/>
          </a:xfrm>
          <a:prstGeom prst="roundRect">
            <a:avLst>
              <a:gd name="adj" fmla="val 47222"/>
            </a:avLst>
          </a:prstGeom>
          <a:solidFill>
            <a:srgbClr val="F1EBF8"/>
          </a:solidFill>
          <a:ln/>
        </p:spPr>
      </p:sp>
      <p:sp>
        <p:nvSpPr>
          <p:cNvPr id="20" name="Text 17"/>
          <p:cNvSpPr/>
          <p:nvPr/>
        </p:nvSpPr>
        <p:spPr>
          <a:xfrm>
            <a:off x="8759952"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60,000 a year</a:t>
            </a:r>
            <a:endParaRPr lang="en-US" sz="900" dirty="0"/>
          </a:p>
        </p:txBody>
      </p:sp>
      <p:sp>
        <p:nvSpPr>
          <p:cNvPr id="21" name="Shape 18"/>
          <p:cNvSpPr/>
          <p:nvPr/>
        </p:nvSpPr>
        <p:spPr>
          <a:xfrm>
            <a:off x="10204704" y="1700784"/>
            <a:ext cx="1353312" cy="329184"/>
          </a:xfrm>
          <a:prstGeom prst="roundRect">
            <a:avLst>
              <a:gd name="adj" fmla="val 47222"/>
            </a:avLst>
          </a:prstGeom>
          <a:solidFill>
            <a:srgbClr val="F1EBF8"/>
          </a:solidFill>
          <a:ln/>
        </p:spPr>
      </p:sp>
      <p:sp>
        <p:nvSpPr>
          <p:cNvPr id="22" name="Text 19"/>
          <p:cNvSpPr/>
          <p:nvPr/>
        </p:nvSpPr>
        <p:spPr>
          <a:xfrm>
            <a:off x="10204704"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Made in China</a:t>
            </a:r>
            <a:endParaRPr lang="en-US" sz="900" dirty="0"/>
          </a:p>
        </p:txBody>
      </p:sp>
      <p:sp>
        <p:nvSpPr>
          <p:cNvPr id="23" name="Shape 20"/>
          <p:cNvSpPr/>
          <p:nvPr/>
        </p:nvSpPr>
        <p:spPr>
          <a:xfrm>
            <a:off x="457200" y="2487168"/>
            <a:ext cx="2130552" cy="2084832"/>
          </a:xfrm>
          <a:prstGeom prst="roundRect">
            <a:avLst>
              <a:gd name="adj" fmla="val 3947"/>
            </a:avLst>
          </a:prstGeom>
          <a:solidFill>
            <a:srgbClr val="E8F1FA"/>
          </a:solidFill>
          <a:ln w="15875">
            <a:solidFill>
              <a:srgbClr val="1D6FB8"/>
            </a:solidFill>
            <a:prstDash val="solid"/>
          </a:ln>
        </p:spPr>
      </p:sp>
      <p:sp>
        <p:nvSpPr>
          <p:cNvPr id="24" name="Shape 21"/>
          <p:cNvSpPr/>
          <p:nvPr/>
        </p:nvSpPr>
        <p:spPr>
          <a:xfrm>
            <a:off x="457200" y="2487168"/>
            <a:ext cx="2130552" cy="365760"/>
          </a:xfrm>
          <a:prstGeom prst="rect">
            <a:avLst/>
          </a:prstGeom>
          <a:solidFill>
            <a:srgbClr val="1D6FB8"/>
          </a:solidFill>
          <a:ln/>
        </p:spPr>
      </p:sp>
      <p:sp>
        <p:nvSpPr>
          <p:cNvPr id="25" name="Text 22"/>
          <p:cNvSpPr/>
          <p:nvPr/>
        </p:nvSpPr>
        <p:spPr>
          <a:xfrm>
            <a:off x="457200"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MEASURE</a:t>
            </a:r>
            <a:endParaRPr lang="en-US" sz="1000" dirty="0"/>
          </a:p>
        </p:txBody>
      </p:sp>
      <p:sp>
        <p:nvSpPr>
          <p:cNvPr id="26" name="Text 23"/>
          <p:cNvSpPr/>
          <p:nvPr/>
        </p:nvSpPr>
        <p:spPr>
          <a:xfrm>
            <a:off x="457200" y="2898648"/>
            <a:ext cx="2130552" cy="201168"/>
          </a:xfrm>
          <a:prstGeom prst="rect">
            <a:avLst/>
          </a:prstGeom>
          <a:noFill/>
          <a:ln/>
        </p:spPr>
        <p:txBody>
          <a:bodyPr wrap="square" lIns="0" tIns="0" rIns="0" bIns="0" rtlCol="0" anchor="ctr"/>
          <a:lstStyle/>
          <a:p>
            <a:pPr algn="ctr" indent="0" marL="0">
              <a:buNone/>
            </a:pPr>
            <a:r>
              <a:rPr lang="en-US" sz="850" i="1" dirty="0">
                <a:solidFill>
                  <a:srgbClr val="1D6FB8"/>
                </a:solidFill>
                <a:latin typeface="Calibri" pitchFamily="34" charset="0"/>
                <a:ea typeface="Calibri" pitchFamily="34" charset="-122"/>
                <a:cs typeface="Calibri" pitchFamily="34" charset="-120"/>
              </a:rPr>
              <a:t>owner: Ruler</a:t>
            </a:r>
            <a:endParaRPr lang="en-US" sz="850" dirty="0"/>
          </a:p>
        </p:txBody>
      </p:sp>
      <p:sp>
        <p:nvSpPr>
          <p:cNvPr id="27" name="Text 24"/>
          <p:cNvSpPr/>
          <p:nvPr/>
        </p:nvSpPr>
        <p:spPr>
          <a:xfrm>
            <a:off x="585216"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 · Upload the file</a:t>
            </a:r>
            <a:endParaRPr lang="en-US" sz="920" dirty="0"/>
          </a:p>
        </p:txBody>
      </p:sp>
      <p:sp>
        <p:nvSpPr>
          <p:cNvPr id="28" name="Text 25"/>
          <p:cNvSpPr/>
          <p:nvPr/>
        </p:nvSpPr>
        <p:spPr>
          <a:xfrm>
            <a:off x="585216"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2 · Measure the geometry</a:t>
            </a:r>
            <a:endParaRPr lang="en-US" sz="920" dirty="0"/>
          </a:p>
        </p:txBody>
      </p:sp>
      <p:sp>
        <p:nvSpPr>
          <p:cNvPr id="29" name="Text 26"/>
          <p:cNvSpPr/>
          <p:nvPr/>
        </p:nvSpPr>
        <p:spPr>
          <a:xfrm>
            <a:off x="585216"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3 · Draft &amp; undercut check</a:t>
            </a:r>
            <a:endParaRPr lang="en-US" sz="920" dirty="0"/>
          </a:p>
        </p:txBody>
      </p:sp>
      <p:sp>
        <p:nvSpPr>
          <p:cNvPr id="30" name="Text 27"/>
          <p:cNvSpPr/>
          <p:nvPr/>
        </p:nvSpPr>
        <p:spPr>
          <a:xfrm>
            <a:off x="566928" y="4206240"/>
            <a:ext cx="1911096" cy="274320"/>
          </a:xfrm>
          <a:prstGeom prst="rect">
            <a:avLst/>
          </a:prstGeom>
          <a:noFill/>
          <a:ln/>
        </p:spPr>
        <p:txBody>
          <a:bodyPr wrap="square" lIns="0" tIns="0" rIns="0" bIns="0" rtlCol="0" anchor="ctr"/>
          <a:lstStyle/>
          <a:p>
            <a:pPr algn="ctr" indent="0" marL="0">
              <a:buNone/>
            </a:pPr>
            <a:r>
              <a:rPr lang="en-US" sz="860" b="1" i="1" dirty="0">
                <a:solidFill>
                  <a:srgbClr val="1D6FB8"/>
                </a:solidFill>
                <a:latin typeface="Calibri" pitchFamily="34" charset="0"/>
                <a:ea typeface="Calibri" pitchFamily="34" charset="-122"/>
                <a:cs typeface="Calibri" pitchFamily="34" charset="-120"/>
              </a:rPr>
              <a:t>Same kernel, same facts</a:t>
            </a:r>
            <a:endParaRPr lang="en-US" sz="860" dirty="0"/>
          </a:p>
        </p:txBody>
      </p:sp>
      <p:sp>
        <p:nvSpPr>
          <p:cNvPr id="31" name="Shape 28"/>
          <p:cNvSpPr/>
          <p:nvPr/>
        </p:nvSpPr>
        <p:spPr>
          <a:xfrm>
            <a:off x="2734056" y="2487168"/>
            <a:ext cx="2130552" cy="2084832"/>
          </a:xfrm>
          <a:prstGeom prst="roundRect">
            <a:avLst>
              <a:gd name="adj" fmla="val 3947"/>
            </a:avLst>
          </a:prstGeom>
          <a:solidFill>
            <a:srgbClr val="F1EBF8"/>
          </a:solidFill>
          <a:ln w="15875">
            <a:solidFill>
              <a:srgbClr val="6B3FA0"/>
            </a:solidFill>
            <a:prstDash val="solid"/>
          </a:ln>
        </p:spPr>
      </p:sp>
      <p:sp>
        <p:nvSpPr>
          <p:cNvPr id="32" name="Shape 29"/>
          <p:cNvSpPr/>
          <p:nvPr/>
        </p:nvSpPr>
        <p:spPr>
          <a:xfrm>
            <a:off x="2734056" y="2487168"/>
            <a:ext cx="2130552" cy="365760"/>
          </a:xfrm>
          <a:prstGeom prst="rect">
            <a:avLst/>
          </a:prstGeom>
          <a:solidFill>
            <a:srgbClr val="6B3FA0"/>
          </a:solidFill>
          <a:ln/>
        </p:spPr>
      </p:sp>
      <p:sp>
        <p:nvSpPr>
          <p:cNvPr id="33" name="Text 30"/>
          <p:cNvSpPr/>
          <p:nvPr/>
        </p:nvSpPr>
        <p:spPr>
          <a:xfrm>
            <a:off x="2734056"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AI READS (OPT.)</a:t>
            </a:r>
            <a:endParaRPr lang="en-US" sz="1000" dirty="0"/>
          </a:p>
        </p:txBody>
      </p:sp>
      <p:sp>
        <p:nvSpPr>
          <p:cNvPr id="34" name="Text 31"/>
          <p:cNvSpPr/>
          <p:nvPr/>
        </p:nvSpPr>
        <p:spPr>
          <a:xfrm>
            <a:off x="2734056" y="2898648"/>
            <a:ext cx="2130552" cy="201168"/>
          </a:xfrm>
          <a:prstGeom prst="rect">
            <a:avLst/>
          </a:prstGeom>
          <a:noFill/>
          <a:ln/>
        </p:spPr>
        <p:txBody>
          <a:bodyPr wrap="square" lIns="0" tIns="0" rIns="0" bIns="0" rtlCol="0" anchor="ctr"/>
          <a:lstStyle/>
          <a:p>
            <a:pPr algn="ctr" indent="0" marL="0">
              <a:buNone/>
            </a:pPr>
            <a:r>
              <a:rPr lang="en-US" sz="850" i="1" dirty="0">
                <a:solidFill>
                  <a:srgbClr val="6B3FA0"/>
                </a:solidFill>
                <a:latin typeface="Calibri" pitchFamily="34" charset="0"/>
                <a:ea typeface="Calibri" pitchFamily="34" charset="-122"/>
                <a:cs typeface="Calibri" pitchFamily="34" charset="-120"/>
              </a:rPr>
              <a:t>owner: AI — optional</a:t>
            </a:r>
            <a:endParaRPr lang="en-US" sz="850" dirty="0"/>
          </a:p>
        </p:txBody>
      </p:sp>
      <p:sp>
        <p:nvSpPr>
          <p:cNvPr id="35" name="Text 32"/>
          <p:cNvSpPr/>
          <p:nvPr/>
        </p:nvSpPr>
        <p:spPr>
          <a:xfrm>
            <a:off x="2862072"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4 · Second-opinion read</a:t>
            </a:r>
            <a:endParaRPr lang="en-US" sz="920" dirty="0"/>
          </a:p>
        </p:txBody>
      </p:sp>
      <p:sp>
        <p:nvSpPr>
          <p:cNvPr id="36" name="Text 33"/>
          <p:cNvSpPr/>
          <p:nvPr/>
        </p:nvSpPr>
        <p:spPr>
          <a:xfrm>
            <a:off x="2862072"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resin · process · finish</a:t>
            </a:r>
            <a:endParaRPr lang="en-US" sz="920" dirty="0"/>
          </a:p>
        </p:txBody>
      </p:sp>
      <p:sp>
        <p:nvSpPr>
          <p:cNvPr id="37" name="Text 34"/>
          <p:cNvSpPr/>
          <p:nvPr/>
        </p:nvSpPr>
        <p:spPr>
          <a:xfrm>
            <a:off x="2862072"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skipped in Rules mode</a:t>
            </a:r>
            <a:endParaRPr lang="en-US" sz="920" dirty="0"/>
          </a:p>
        </p:txBody>
      </p:sp>
      <p:sp>
        <p:nvSpPr>
          <p:cNvPr id="38" name="Text 35"/>
          <p:cNvSpPr/>
          <p:nvPr/>
        </p:nvSpPr>
        <p:spPr>
          <a:xfrm>
            <a:off x="2843784" y="4206240"/>
            <a:ext cx="1911096" cy="274320"/>
          </a:xfrm>
          <a:prstGeom prst="rect">
            <a:avLst/>
          </a:prstGeom>
          <a:noFill/>
          <a:ln/>
        </p:spPr>
        <p:txBody>
          <a:bodyPr wrap="square" lIns="0" tIns="0" rIns="0" bIns="0" rtlCol="0" anchor="ctr"/>
          <a:lstStyle/>
          <a:p>
            <a:pPr algn="ctr" indent="0" marL="0">
              <a:buNone/>
            </a:pPr>
            <a:r>
              <a:rPr lang="en-US" sz="860" b="1" i="1" dirty="0">
                <a:solidFill>
                  <a:srgbClr val="6B3FA0"/>
                </a:solidFill>
                <a:latin typeface="Calibri" pitchFamily="34" charset="0"/>
                <a:ea typeface="Calibri" pitchFamily="34" charset="-122"/>
                <a:cs typeface="Calibri" pitchFamily="34" charset="-120"/>
              </a:rPr>
              <a:t>Words only — no prices</a:t>
            </a:r>
            <a:endParaRPr lang="en-US" sz="860" dirty="0"/>
          </a:p>
        </p:txBody>
      </p:sp>
      <p:sp>
        <p:nvSpPr>
          <p:cNvPr id="39" name="Shape 36"/>
          <p:cNvSpPr/>
          <p:nvPr/>
        </p:nvSpPr>
        <p:spPr>
          <a:xfrm>
            <a:off x="5010912" y="2487168"/>
            <a:ext cx="2130552" cy="2084832"/>
          </a:xfrm>
          <a:prstGeom prst="roundRect">
            <a:avLst>
              <a:gd name="adj" fmla="val 3947"/>
            </a:avLst>
          </a:prstGeom>
          <a:solidFill>
            <a:srgbClr val="FCF3E3"/>
          </a:solidFill>
          <a:ln w="15875">
            <a:solidFill>
              <a:srgbClr val="B7791F"/>
            </a:solidFill>
            <a:prstDash val="solid"/>
          </a:ln>
        </p:spPr>
      </p:sp>
      <p:sp>
        <p:nvSpPr>
          <p:cNvPr id="40" name="Shape 37"/>
          <p:cNvSpPr/>
          <p:nvPr/>
        </p:nvSpPr>
        <p:spPr>
          <a:xfrm>
            <a:off x="5010912" y="2487168"/>
            <a:ext cx="2130552" cy="365760"/>
          </a:xfrm>
          <a:prstGeom prst="rect">
            <a:avLst/>
          </a:prstGeom>
          <a:solidFill>
            <a:srgbClr val="B7791F"/>
          </a:solidFill>
          <a:ln/>
        </p:spPr>
      </p:sp>
      <p:sp>
        <p:nvSpPr>
          <p:cNvPr id="41" name="Text 38"/>
          <p:cNvSpPr/>
          <p:nvPr/>
        </p:nvSpPr>
        <p:spPr>
          <a:xfrm>
            <a:off x="5010912"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SAFETY CHECKS</a:t>
            </a:r>
            <a:endParaRPr lang="en-US" sz="1000" dirty="0"/>
          </a:p>
        </p:txBody>
      </p:sp>
      <p:sp>
        <p:nvSpPr>
          <p:cNvPr id="42" name="Text 39"/>
          <p:cNvSpPr/>
          <p:nvPr/>
        </p:nvSpPr>
        <p:spPr>
          <a:xfrm>
            <a:off x="5010912" y="2898648"/>
            <a:ext cx="2130552" cy="201168"/>
          </a:xfrm>
          <a:prstGeom prst="rect">
            <a:avLst/>
          </a:prstGeom>
          <a:noFill/>
          <a:ln/>
        </p:spPr>
        <p:txBody>
          <a:bodyPr wrap="square" lIns="0" tIns="0" rIns="0" bIns="0" rtlCol="0" anchor="ctr"/>
          <a:lstStyle/>
          <a:p>
            <a:pPr algn="ctr" indent="0" marL="0">
              <a:buNone/>
            </a:pPr>
            <a:r>
              <a:rPr lang="en-US" sz="850" i="1" dirty="0">
                <a:solidFill>
                  <a:srgbClr val="B7791F"/>
                </a:solidFill>
                <a:latin typeface="Calibri" pitchFamily="34" charset="0"/>
                <a:ea typeface="Calibri" pitchFamily="34" charset="-122"/>
                <a:cs typeface="Calibri" pitchFamily="34" charset="-120"/>
              </a:rPr>
              <a:t>owner: Engine</a:t>
            </a:r>
            <a:endParaRPr lang="en-US" sz="850" dirty="0"/>
          </a:p>
        </p:txBody>
      </p:sp>
      <p:sp>
        <p:nvSpPr>
          <p:cNvPr id="43" name="Text 40"/>
          <p:cNvSpPr/>
          <p:nvPr/>
        </p:nvSpPr>
        <p:spPr>
          <a:xfrm>
            <a:off x="5138928"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5 · Four automatic guards</a:t>
            </a:r>
            <a:endParaRPr lang="en-US" sz="920" dirty="0"/>
          </a:p>
        </p:txBody>
      </p:sp>
      <p:sp>
        <p:nvSpPr>
          <p:cNvPr id="44" name="Text 41"/>
          <p:cNvSpPr/>
          <p:nvPr/>
        </p:nvSpPr>
        <p:spPr>
          <a:xfrm>
            <a:off x="5138928"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6 · Autocorrect wrong calls</a:t>
            </a:r>
            <a:endParaRPr lang="en-US" sz="920" dirty="0"/>
          </a:p>
        </p:txBody>
      </p:sp>
      <p:sp>
        <p:nvSpPr>
          <p:cNvPr id="45" name="Text 42"/>
          <p:cNvSpPr/>
          <p:nvPr/>
        </p:nvSpPr>
        <p:spPr>
          <a:xfrm>
            <a:off x="5138928"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before any money is counted</a:t>
            </a:r>
            <a:endParaRPr lang="en-US" sz="920" dirty="0"/>
          </a:p>
        </p:txBody>
      </p:sp>
      <p:sp>
        <p:nvSpPr>
          <p:cNvPr id="46" name="Text 43"/>
          <p:cNvSpPr/>
          <p:nvPr/>
        </p:nvSpPr>
        <p:spPr>
          <a:xfrm>
            <a:off x="5120640" y="4206240"/>
            <a:ext cx="1911096" cy="274320"/>
          </a:xfrm>
          <a:prstGeom prst="rect">
            <a:avLst/>
          </a:prstGeom>
          <a:noFill/>
          <a:ln/>
        </p:spPr>
        <p:txBody>
          <a:bodyPr wrap="square" lIns="0" tIns="0" rIns="0" bIns="0" rtlCol="0" anchor="ctr"/>
          <a:lstStyle/>
          <a:p>
            <a:pPr algn="ctr" indent="0" marL="0">
              <a:buNone/>
            </a:pPr>
            <a:r>
              <a:rPr lang="en-US" sz="860" b="1" i="1" dirty="0">
                <a:solidFill>
                  <a:srgbClr val="B7791F"/>
                </a:solidFill>
                <a:latin typeface="Calibri" pitchFamily="34" charset="0"/>
                <a:ea typeface="Calibri" pitchFamily="34" charset="-122"/>
                <a:cs typeface="Calibri" pitchFamily="34" charset="-120"/>
              </a:rPr>
              <a:t>Measurements always win</a:t>
            </a:r>
            <a:endParaRPr lang="en-US" sz="860" dirty="0"/>
          </a:p>
        </p:txBody>
      </p:sp>
      <p:sp>
        <p:nvSpPr>
          <p:cNvPr id="47" name="Shape 44"/>
          <p:cNvSpPr/>
          <p:nvPr/>
        </p:nvSpPr>
        <p:spPr>
          <a:xfrm>
            <a:off x="7287768" y="2487168"/>
            <a:ext cx="2130552" cy="2084832"/>
          </a:xfrm>
          <a:prstGeom prst="roundRect">
            <a:avLst>
              <a:gd name="adj" fmla="val 3947"/>
            </a:avLst>
          </a:prstGeom>
          <a:solidFill>
            <a:srgbClr val="E6F4F1"/>
          </a:solidFill>
          <a:ln w="15875">
            <a:solidFill>
              <a:srgbClr val="0E8074"/>
            </a:solidFill>
            <a:prstDash val="solid"/>
          </a:ln>
        </p:spPr>
      </p:sp>
      <p:sp>
        <p:nvSpPr>
          <p:cNvPr id="48" name="Shape 45"/>
          <p:cNvSpPr/>
          <p:nvPr/>
        </p:nvSpPr>
        <p:spPr>
          <a:xfrm>
            <a:off x="7287768" y="2487168"/>
            <a:ext cx="2130552" cy="365760"/>
          </a:xfrm>
          <a:prstGeom prst="rect">
            <a:avLst/>
          </a:prstGeom>
          <a:solidFill>
            <a:srgbClr val="0E8074"/>
          </a:solidFill>
          <a:ln/>
        </p:spPr>
      </p:sp>
      <p:sp>
        <p:nvSpPr>
          <p:cNvPr id="49" name="Text 46"/>
          <p:cNvSpPr/>
          <p:nvPr/>
        </p:nvSpPr>
        <p:spPr>
          <a:xfrm>
            <a:off x="7287768"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CALCULATE</a:t>
            </a:r>
            <a:endParaRPr lang="en-US" sz="1000" dirty="0"/>
          </a:p>
        </p:txBody>
      </p:sp>
      <p:sp>
        <p:nvSpPr>
          <p:cNvPr id="50" name="Text 47"/>
          <p:cNvSpPr/>
          <p:nvPr/>
        </p:nvSpPr>
        <p:spPr>
          <a:xfrm>
            <a:off x="7287768" y="2898648"/>
            <a:ext cx="2130552" cy="201168"/>
          </a:xfrm>
          <a:prstGeom prst="rect">
            <a:avLst/>
          </a:prstGeom>
          <a:noFill/>
          <a:ln/>
        </p:spPr>
        <p:txBody>
          <a:bodyPr wrap="square" lIns="0" tIns="0" rIns="0" bIns="0" rtlCol="0" anchor="ctr"/>
          <a:lstStyle/>
          <a:p>
            <a:pPr algn="ctr" indent="0" marL="0">
              <a:buNone/>
            </a:pPr>
            <a:r>
              <a:rPr lang="en-US" sz="850" i="1" dirty="0">
                <a:solidFill>
                  <a:srgbClr val="0E8074"/>
                </a:solidFill>
                <a:latin typeface="Calibri" pitchFamily="34" charset="0"/>
                <a:ea typeface="Calibri" pitchFamily="34" charset="-122"/>
                <a:cs typeface="Calibri" pitchFamily="34" charset="-120"/>
              </a:rPr>
              <a:t>owner: Engine</a:t>
            </a:r>
            <a:endParaRPr lang="en-US" sz="850" dirty="0"/>
          </a:p>
        </p:txBody>
      </p:sp>
      <p:sp>
        <p:nvSpPr>
          <p:cNvPr id="51" name="Text 48"/>
          <p:cNvSpPr/>
          <p:nvPr/>
        </p:nvSpPr>
        <p:spPr>
          <a:xfrm>
            <a:off x="7415784"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7 · Pick press &amp; cycle</a:t>
            </a:r>
            <a:endParaRPr lang="en-US" sz="920" dirty="0"/>
          </a:p>
        </p:txBody>
      </p:sp>
      <p:sp>
        <p:nvSpPr>
          <p:cNvPr id="52" name="Text 49"/>
          <p:cNvSpPr/>
          <p:nvPr/>
        </p:nvSpPr>
        <p:spPr>
          <a:xfrm>
            <a:off x="7415784"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8 · Cost every second</a:t>
            </a:r>
            <a:endParaRPr lang="en-US" sz="920" dirty="0"/>
          </a:p>
        </p:txBody>
      </p:sp>
      <p:sp>
        <p:nvSpPr>
          <p:cNvPr id="53" name="Text 50"/>
          <p:cNvSpPr/>
          <p:nvPr/>
        </p:nvSpPr>
        <p:spPr>
          <a:xfrm>
            <a:off x="7415784"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9-10 · Build &amp; regionalise</a:t>
            </a:r>
            <a:endParaRPr lang="en-US" sz="920" dirty="0"/>
          </a:p>
        </p:txBody>
      </p:sp>
      <p:sp>
        <p:nvSpPr>
          <p:cNvPr id="54" name="Text 51"/>
          <p:cNvSpPr/>
          <p:nvPr/>
        </p:nvSpPr>
        <p:spPr>
          <a:xfrm>
            <a:off x="7397496" y="4206240"/>
            <a:ext cx="1911096" cy="274320"/>
          </a:xfrm>
          <a:prstGeom prst="rect">
            <a:avLst/>
          </a:prstGeom>
          <a:noFill/>
          <a:ln/>
        </p:spPr>
        <p:txBody>
          <a:bodyPr wrap="square" lIns="0" tIns="0" rIns="0" bIns="0" rtlCol="0" anchor="ctr"/>
          <a:lstStyle/>
          <a:p>
            <a:pPr algn="ctr" indent="0" marL="0">
              <a:buNone/>
            </a:pPr>
            <a:r>
              <a:rPr lang="en-US" sz="860" b="1" i="1" dirty="0">
                <a:solidFill>
                  <a:srgbClr val="0E8074"/>
                </a:solidFill>
                <a:latin typeface="Calibri" pitchFamily="34" charset="0"/>
                <a:ea typeface="Calibri" pitchFamily="34" charset="-122"/>
                <a:cs typeface="Calibri" pitchFamily="34" charset="-120"/>
              </a:rPr>
              <a:t>The same eight buckets</a:t>
            </a:r>
            <a:endParaRPr lang="en-US" sz="860" dirty="0"/>
          </a:p>
        </p:txBody>
      </p:sp>
      <p:sp>
        <p:nvSpPr>
          <p:cNvPr id="55" name="Shape 52"/>
          <p:cNvSpPr/>
          <p:nvPr/>
        </p:nvSpPr>
        <p:spPr>
          <a:xfrm>
            <a:off x="9564624" y="2487168"/>
            <a:ext cx="2130552" cy="2084832"/>
          </a:xfrm>
          <a:prstGeom prst="roundRect">
            <a:avLst>
              <a:gd name="adj" fmla="val 3947"/>
            </a:avLst>
          </a:prstGeom>
          <a:solidFill>
            <a:srgbClr val="EAF6EF"/>
          </a:solidFill>
          <a:ln w="15875">
            <a:solidFill>
              <a:srgbClr val="2E8B57"/>
            </a:solidFill>
            <a:prstDash val="solid"/>
          </a:ln>
        </p:spPr>
      </p:sp>
      <p:sp>
        <p:nvSpPr>
          <p:cNvPr id="56" name="Shape 53"/>
          <p:cNvSpPr/>
          <p:nvPr/>
        </p:nvSpPr>
        <p:spPr>
          <a:xfrm>
            <a:off x="9564624" y="2487168"/>
            <a:ext cx="2130552" cy="365760"/>
          </a:xfrm>
          <a:prstGeom prst="rect">
            <a:avLst/>
          </a:prstGeom>
          <a:solidFill>
            <a:srgbClr val="2E8B57"/>
          </a:solidFill>
          <a:ln/>
        </p:spPr>
      </p:sp>
      <p:sp>
        <p:nvSpPr>
          <p:cNvPr id="57" name="Text 54"/>
          <p:cNvSpPr/>
          <p:nvPr/>
        </p:nvSpPr>
        <p:spPr>
          <a:xfrm>
            <a:off x="9564624"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CHECK &amp; USE</a:t>
            </a:r>
            <a:endParaRPr lang="en-US" sz="1000" dirty="0"/>
          </a:p>
        </p:txBody>
      </p:sp>
      <p:sp>
        <p:nvSpPr>
          <p:cNvPr id="58" name="Text 55"/>
          <p:cNvSpPr/>
          <p:nvPr/>
        </p:nvSpPr>
        <p:spPr>
          <a:xfrm>
            <a:off x="9564624" y="2898648"/>
            <a:ext cx="2130552" cy="201168"/>
          </a:xfrm>
          <a:prstGeom prst="rect">
            <a:avLst/>
          </a:prstGeom>
          <a:noFill/>
          <a:ln/>
        </p:spPr>
        <p:txBody>
          <a:bodyPr wrap="square" lIns="0" tIns="0" rIns="0" bIns="0" rtlCol="0" anchor="ctr"/>
          <a:lstStyle/>
          <a:p>
            <a:pPr algn="ctr" indent="0" marL="0">
              <a:buNone/>
            </a:pPr>
            <a:r>
              <a:rPr lang="en-US" sz="850" i="1" dirty="0">
                <a:solidFill>
                  <a:srgbClr val="2E8B57"/>
                </a:solidFill>
                <a:latin typeface="Calibri" pitchFamily="34" charset="0"/>
                <a:ea typeface="Calibri" pitchFamily="34" charset="-122"/>
                <a:cs typeface="Calibri" pitchFamily="34" charset="-120"/>
              </a:rPr>
              <a:t>owner: Engineer</a:t>
            </a:r>
            <a:endParaRPr lang="en-US" sz="850" dirty="0"/>
          </a:p>
        </p:txBody>
      </p:sp>
      <p:sp>
        <p:nvSpPr>
          <p:cNvPr id="59" name="Text 56"/>
          <p:cNvSpPr/>
          <p:nvPr/>
        </p:nvSpPr>
        <p:spPr>
          <a:xfrm>
            <a:off x="9692640"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11 · Confidence band</a:t>
            </a:r>
            <a:endParaRPr lang="en-US" sz="920" dirty="0"/>
          </a:p>
        </p:txBody>
      </p:sp>
      <p:sp>
        <p:nvSpPr>
          <p:cNvPr id="60" name="Text 57"/>
          <p:cNvSpPr/>
          <p:nvPr/>
        </p:nvSpPr>
        <p:spPr>
          <a:xfrm>
            <a:off x="9692640"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12 · Report &amp; approval</a:t>
            </a:r>
            <a:endParaRPr lang="en-US" sz="920" dirty="0"/>
          </a:p>
        </p:txBody>
      </p:sp>
      <p:sp>
        <p:nvSpPr>
          <p:cNvPr id="61" name="Text 58"/>
          <p:cNvSpPr/>
          <p:nvPr/>
        </p:nvSpPr>
        <p:spPr>
          <a:xfrm>
            <a:off x="9674352" y="4206240"/>
            <a:ext cx="1911096" cy="274320"/>
          </a:xfrm>
          <a:prstGeom prst="rect">
            <a:avLst/>
          </a:prstGeom>
          <a:noFill/>
          <a:ln/>
        </p:spPr>
        <p:txBody>
          <a:bodyPr wrap="square" lIns="0" tIns="0" rIns="0" bIns="0" rtlCol="0" anchor="ctr"/>
          <a:lstStyle/>
          <a:p>
            <a:pPr algn="ctr" indent="0" marL="0">
              <a:buNone/>
            </a:pPr>
            <a:r>
              <a:rPr lang="en-US" sz="860" b="1" i="1" dirty="0">
                <a:solidFill>
                  <a:srgbClr val="2E8B57"/>
                </a:solidFill>
                <a:latin typeface="Calibri" pitchFamily="34" charset="0"/>
                <a:ea typeface="Calibri" pitchFamily="34" charset="-122"/>
                <a:cs typeface="Calibri" pitchFamily="34" charset="-120"/>
              </a:rPr>
              <a:t>A person signs it off</a:t>
            </a:r>
            <a:endParaRPr lang="en-US" sz="860" dirty="0"/>
          </a:p>
        </p:txBody>
      </p:sp>
      <p:sp>
        <p:nvSpPr>
          <p:cNvPr id="62" name="Shape 59"/>
          <p:cNvSpPr/>
          <p:nvPr/>
        </p:nvSpPr>
        <p:spPr>
          <a:xfrm>
            <a:off x="457200" y="4773168"/>
            <a:ext cx="11274552" cy="1024128"/>
          </a:xfrm>
          <a:prstGeom prst="roundRect">
            <a:avLst>
              <a:gd name="adj" fmla="val 8929"/>
            </a:avLst>
          </a:prstGeom>
          <a:solidFill>
            <a:srgbClr val="FFFFFF"/>
          </a:solidFill>
          <a:ln w="19050">
            <a:solidFill>
              <a:srgbClr val="6B3FA0"/>
            </a:solidFill>
            <a:prstDash val="solid"/>
          </a:ln>
        </p:spPr>
      </p:sp>
      <p:sp>
        <p:nvSpPr>
          <p:cNvPr id="63" name="Text 60"/>
          <p:cNvSpPr/>
          <p:nvPr/>
        </p:nvSpPr>
        <p:spPr>
          <a:xfrm>
            <a:off x="731520" y="4882896"/>
            <a:ext cx="10058400" cy="274320"/>
          </a:xfrm>
          <a:prstGeom prst="rect">
            <a:avLst/>
          </a:prstGeom>
          <a:noFill/>
          <a:ln/>
        </p:spPr>
        <p:txBody>
          <a:bodyPr wrap="square" lIns="0" tIns="0" rIns="0" bIns="0" rtlCol="0" anchor="ctr"/>
          <a:lstStyle/>
          <a:p>
            <a:pPr indent="0" marL="0">
              <a:buNone/>
            </a:pPr>
            <a:r>
              <a:rPr lang="en-US" sz="1250" b="1" dirty="0">
                <a:solidFill>
                  <a:srgbClr val="6B3FA0"/>
                </a:solidFill>
                <a:latin typeface="Calibri" pitchFamily="34" charset="0"/>
                <a:ea typeface="Calibri" pitchFamily="34" charset="-122"/>
                <a:cs typeface="Calibri" pitchFamily="34" charset="-120"/>
              </a:rPr>
              <a:t>Nothing about the method changes</a:t>
            </a:r>
            <a:endParaRPr lang="en-US" sz="1250" dirty="0"/>
          </a:p>
        </p:txBody>
      </p:sp>
      <p:sp>
        <p:nvSpPr>
          <p:cNvPr id="64" name="Text 61"/>
          <p:cNvSpPr/>
          <p:nvPr/>
        </p:nvSpPr>
        <p:spPr>
          <a:xfrm>
            <a:off x="731520" y="5157216"/>
            <a:ext cx="10744200" cy="56692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Same twelve stages. Same geometry kernel. Same rate library. Same eight buckets. Same person signing it off. </a:t>
            </a:r>
            <a:pPr indent="0" marL="0">
              <a:buNone/>
            </a:pPr>
            <a:r>
              <a:rPr lang="en-US" sz="1150" b="1" dirty="0">
                <a:solidFill>
                  <a:srgbClr val="16325C"/>
                </a:solidFill>
                <a:latin typeface="Calibri" pitchFamily="34" charset="0"/>
                <a:ea typeface="Calibri" pitchFamily="34" charset="-122"/>
                <a:cs typeface="Calibri" pitchFamily="34" charset="-120"/>
              </a:rPr>
              <a:t>What changes is which bucket turns out to hold the money — and on this part the answer is somewhere completely different from the casting.</a:t>
            </a:r>
            <a:endParaRPr lang="en-US" sz="1150" dirty="0"/>
          </a:p>
        </p:txBody>
      </p:sp>
      <p:sp>
        <p:nvSpPr>
          <p:cNvPr id="65" name="Text 6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6" name="Text 6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Second Part We Are Costing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Same method, a part that could hardly be more different</a:t>
            </a:r>
            <a:endParaRPr lang="en-US" sz="1200" dirty="0"/>
          </a:p>
        </p:txBody>
      </p:sp>
      <p:pic>
        <p:nvPicPr>
          <p:cNvPr id="5" name="Image 0" descr="assets/workflow-deck/part-bumper.png">    </p:cNvPr>
          <p:cNvPicPr>
            <a:picLocks noChangeAspect="1"/>
          </p:cNvPicPr>
          <p:nvPr/>
        </p:nvPicPr>
        <p:blipFill>
          <a:blip r:embed="rId1"/>
          <a:stretch>
            <a:fillRect/>
          </a:stretch>
        </p:blipFill>
        <p:spPr>
          <a:xfrm>
            <a:off x="411480" y="1133856"/>
            <a:ext cx="7223760" cy="4041648"/>
          </a:xfrm>
          <a:prstGeom prst="rect">
            <a:avLst/>
          </a:prstGeom>
        </p:spPr>
      </p:pic>
      <p:sp>
        <p:nvSpPr>
          <p:cNvPr id="6" name="Shape 3"/>
          <p:cNvSpPr/>
          <p:nvPr/>
        </p:nvSpPr>
        <p:spPr>
          <a:xfrm>
            <a:off x="7818120" y="1133856"/>
            <a:ext cx="3913632" cy="4041648"/>
          </a:xfrm>
          <a:prstGeom prst="roundRect">
            <a:avLst>
              <a:gd name="adj" fmla="val 2336"/>
            </a:avLst>
          </a:prstGeom>
          <a:solidFill>
            <a:srgbClr val="FFFFFF"/>
          </a:solidFill>
          <a:ln w="12700">
            <a:solidFill>
              <a:srgbClr val="DCE3EE"/>
            </a:solidFill>
            <a:prstDash val="solid"/>
          </a:ln>
        </p:spPr>
      </p:sp>
      <p:sp>
        <p:nvSpPr>
          <p:cNvPr id="7" name="Text 4"/>
          <p:cNvSpPr/>
          <p:nvPr/>
        </p:nvSpPr>
        <p:spPr>
          <a:xfrm>
            <a:off x="8046720" y="1243584"/>
            <a:ext cx="3474720" cy="457200"/>
          </a:xfrm>
          <a:prstGeom prst="rect">
            <a:avLst/>
          </a:prstGeom>
          <a:noFill/>
          <a:ln/>
        </p:spPr>
        <p:txBody>
          <a:bodyPr wrap="square" lIns="0" tIns="0" rIns="0" bIns="0" rtlCol="0" anchor="ctr"/>
          <a:lstStyle/>
          <a:p>
            <a:pPr indent="0" marL="0">
              <a:buNone/>
            </a:pPr>
            <a:r>
              <a:rPr lang="en-US" sz="1300" b="1" dirty="0">
                <a:solidFill>
                  <a:srgbClr val="6B3FA0"/>
                </a:solidFill>
                <a:latin typeface="Calibri" pitchFamily="34" charset="0"/>
                <a:ea typeface="Calibri" pitchFamily="34" charset="-122"/>
                <a:cs typeface="Calibri" pitchFamily="34" charset="-120"/>
              </a:rPr>
              <a:t>Front bumper fascia</a:t>
            </a:r>
            <a:endParaRPr lang="en-US" sz="1300" dirty="0"/>
          </a:p>
        </p:txBody>
      </p:sp>
      <p:sp>
        <p:nvSpPr>
          <p:cNvPr id="8" name="Text 5"/>
          <p:cNvSpPr/>
          <p:nvPr/>
        </p:nvSpPr>
        <p:spPr>
          <a:xfrm>
            <a:off x="8046720" y="1755648"/>
            <a:ext cx="3474720" cy="201168"/>
          </a:xfrm>
          <a:prstGeom prst="rect">
            <a:avLst/>
          </a:prstGeom>
          <a:noFill/>
          <a:ln/>
        </p:spPr>
        <p:txBody>
          <a:bodyPr wrap="square" lIns="0" tIns="0" rIns="0" bIns="0" rtlCol="0" anchor="ctr"/>
          <a:lstStyle/>
          <a:p>
            <a:pPr indent="0" marL="0">
              <a:buNone/>
            </a:pPr>
            <a:r>
              <a:rPr lang="en-US" sz="860" b="1" spc="60" kern="0" dirty="0">
                <a:solidFill>
                  <a:srgbClr val="6B7280"/>
                </a:solidFill>
                <a:latin typeface="Calibri" pitchFamily="34" charset="0"/>
                <a:ea typeface="Calibri" pitchFamily="34" charset="-122"/>
                <a:cs typeface="Calibri" pitchFamily="34" charset="-120"/>
              </a:rPr>
              <a:t>WHAT THE KERNEL WILL MEASURE</a:t>
            </a:r>
            <a:endParaRPr lang="en-US" sz="860" dirty="0"/>
          </a:p>
        </p:txBody>
      </p:sp>
      <p:sp>
        <p:nvSpPr>
          <p:cNvPr id="9" name="Shape 6"/>
          <p:cNvSpPr/>
          <p:nvPr/>
        </p:nvSpPr>
        <p:spPr>
          <a:xfrm>
            <a:off x="7955280" y="1993392"/>
            <a:ext cx="3639312" cy="256032"/>
          </a:xfrm>
          <a:prstGeom prst="rect">
            <a:avLst/>
          </a:prstGeom>
          <a:solidFill>
            <a:srgbClr val="F4F7FB"/>
          </a:solidFill>
          <a:ln/>
        </p:spPr>
      </p:sp>
      <p:sp>
        <p:nvSpPr>
          <p:cNvPr id="10" name="Text 7"/>
          <p:cNvSpPr/>
          <p:nvPr/>
        </p:nvSpPr>
        <p:spPr>
          <a:xfrm>
            <a:off x="8046720" y="20116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Part weight</a:t>
            </a:r>
            <a:endParaRPr lang="en-US" sz="960" dirty="0"/>
          </a:p>
        </p:txBody>
      </p:sp>
      <p:sp>
        <p:nvSpPr>
          <p:cNvPr id="11" name="Text 8"/>
          <p:cNvSpPr/>
          <p:nvPr/>
        </p:nvSpPr>
        <p:spPr>
          <a:xfrm>
            <a:off x="10195560" y="20116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4.2 kg</a:t>
            </a:r>
            <a:endParaRPr lang="en-US" sz="1000" dirty="0"/>
          </a:p>
        </p:txBody>
      </p:sp>
      <p:sp>
        <p:nvSpPr>
          <p:cNvPr id="12" name="Text 9"/>
          <p:cNvSpPr/>
          <p:nvPr/>
        </p:nvSpPr>
        <p:spPr>
          <a:xfrm>
            <a:off x="8046720" y="22860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Wall thickness</a:t>
            </a:r>
            <a:endParaRPr lang="en-US" sz="960" dirty="0"/>
          </a:p>
        </p:txBody>
      </p:sp>
      <p:sp>
        <p:nvSpPr>
          <p:cNvPr id="13" name="Text 10"/>
          <p:cNvSpPr/>
          <p:nvPr/>
        </p:nvSpPr>
        <p:spPr>
          <a:xfrm>
            <a:off x="10195560" y="22860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3.0 mm</a:t>
            </a:r>
            <a:endParaRPr lang="en-US" sz="1000" dirty="0"/>
          </a:p>
        </p:txBody>
      </p:sp>
      <p:sp>
        <p:nvSpPr>
          <p:cNvPr id="14" name="Shape 11"/>
          <p:cNvSpPr/>
          <p:nvPr/>
        </p:nvSpPr>
        <p:spPr>
          <a:xfrm>
            <a:off x="7955280" y="2542032"/>
            <a:ext cx="3639312" cy="256032"/>
          </a:xfrm>
          <a:prstGeom prst="rect">
            <a:avLst/>
          </a:prstGeom>
          <a:solidFill>
            <a:srgbClr val="F4F7FB"/>
          </a:solidFill>
          <a:ln/>
        </p:spPr>
      </p:sp>
      <p:sp>
        <p:nvSpPr>
          <p:cNvPr id="15" name="Text 12"/>
          <p:cNvSpPr/>
          <p:nvPr/>
        </p:nvSpPr>
        <p:spPr>
          <a:xfrm>
            <a:off x="8046720" y="25603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Projected shadow</a:t>
            </a:r>
            <a:endParaRPr lang="en-US" sz="960" dirty="0"/>
          </a:p>
        </p:txBody>
      </p:sp>
      <p:sp>
        <p:nvSpPr>
          <p:cNvPr id="16" name="Text 13"/>
          <p:cNvSpPr/>
          <p:nvPr/>
        </p:nvSpPr>
        <p:spPr>
          <a:xfrm>
            <a:off x="10195560" y="25603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9,900 cm²</a:t>
            </a:r>
            <a:endParaRPr lang="en-US" sz="1000" dirty="0"/>
          </a:p>
        </p:txBody>
      </p:sp>
      <p:sp>
        <p:nvSpPr>
          <p:cNvPr id="17" name="Text 14"/>
          <p:cNvSpPr/>
          <p:nvPr/>
        </p:nvSpPr>
        <p:spPr>
          <a:xfrm>
            <a:off x="8046720" y="28346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Overall width</a:t>
            </a:r>
            <a:endParaRPr lang="en-US" sz="960" dirty="0"/>
          </a:p>
        </p:txBody>
      </p:sp>
      <p:sp>
        <p:nvSpPr>
          <p:cNvPr id="18" name="Text 15"/>
          <p:cNvSpPr/>
          <p:nvPr/>
        </p:nvSpPr>
        <p:spPr>
          <a:xfrm>
            <a:off x="10195560" y="28346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1,800 mm</a:t>
            </a:r>
            <a:endParaRPr lang="en-US" sz="1000" dirty="0"/>
          </a:p>
        </p:txBody>
      </p:sp>
      <p:sp>
        <p:nvSpPr>
          <p:cNvPr id="19" name="Shape 16"/>
          <p:cNvSpPr/>
          <p:nvPr/>
        </p:nvSpPr>
        <p:spPr>
          <a:xfrm>
            <a:off x="7955280" y="3090672"/>
            <a:ext cx="3639312" cy="256032"/>
          </a:xfrm>
          <a:prstGeom prst="rect">
            <a:avLst/>
          </a:prstGeom>
          <a:solidFill>
            <a:srgbClr val="F4F7FB"/>
          </a:solidFill>
          <a:ln/>
        </p:spPr>
      </p:sp>
      <p:sp>
        <p:nvSpPr>
          <p:cNvPr id="20" name="Text 17"/>
          <p:cNvSpPr/>
          <p:nvPr/>
        </p:nvSpPr>
        <p:spPr>
          <a:xfrm>
            <a:off x="8046720" y="310896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Undercut features</a:t>
            </a:r>
            <a:endParaRPr lang="en-US" sz="960" dirty="0"/>
          </a:p>
        </p:txBody>
      </p:sp>
      <p:sp>
        <p:nvSpPr>
          <p:cNvPr id="21" name="Text 18"/>
          <p:cNvSpPr/>
          <p:nvPr/>
        </p:nvSpPr>
        <p:spPr>
          <a:xfrm>
            <a:off x="10195560" y="310896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 slides</a:t>
            </a:r>
            <a:endParaRPr lang="en-US" sz="1000" dirty="0"/>
          </a:p>
        </p:txBody>
      </p:sp>
      <p:sp>
        <p:nvSpPr>
          <p:cNvPr id="22" name="Text 19"/>
          <p:cNvSpPr/>
          <p:nvPr/>
        </p:nvSpPr>
        <p:spPr>
          <a:xfrm>
            <a:off x="8046720" y="33832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Painted area</a:t>
            </a:r>
            <a:endParaRPr lang="en-US" sz="960" dirty="0"/>
          </a:p>
        </p:txBody>
      </p:sp>
      <p:sp>
        <p:nvSpPr>
          <p:cNvPr id="23" name="Text 20"/>
          <p:cNvSpPr/>
          <p:nvPr/>
        </p:nvSpPr>
        <p:spPr>
          <a:xfrm>
            <a:off x="10195560" y="33832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 m²</a:t>
            </a:r>
            <a:endParaRPr lang="en-US" sz="1000" dirty="0"/>
          </a:p>
        </p:txBody>
      </p:sp>
      <p:sp>
        <p:nvSpPr>
          <p:cNvPr id="24" name="Shape 21"/>
          <p:cNvSpPr/>
          <p:nvPr/>
        </p:nvSpPr>
        <p:spPr>
          <a:xfrm>
            <a:off x="7955280" y="3639312"/>
            <a:ext cx="3639312" cy="256032"/>
          </a:xfrm>
          <a:prstGeom prst="rect">
            <a:avLst/>
          </a:prstGeom>
          <a:solidFill>
            <a:srgbClr val="F4F7FB"/>
          </a:solidFill>
          <a:ln/>
        </p:spPr>
      </p:sp>
      <p:sp>
        <p:nvSpPr>
          <p:cNvPr id="25" name="Text 22"/>
          <p:cNvSpPr/>
          <p:nvPr/>
        </p:nvSpPr>
        <p:spPr>
          <a:xfrm>
            <a:off x="8046720" y="36576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Resin</a:t>
            </a:r>
            <a:endParaRPr lang="en-US" sz="960" dirty="0"/>
          </a:p>
        </p:txBody>
      </p:sp>
      <p:sp>
        <p:nvSpPr>
          <p:cNvPr id="26" name="Text 23"/>
          <p:cNvSpPr/>
          <p:nvPr/>
        </p:nvSpPr>
        <p:spPr>
          <a:xfrm>
            <a:off x="10195560" y="36576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PP-T20</a:t>
            </a:r>
            <a:endParaRPr lang="en-US" sz="1000" dirty="0"/>
          </a:p>
        </p:txBody>
      </p:sp>
      <p:sp>
        <p:nvSpPr>
          <p:cNvPr id="27" name="Text 24"/>
          <p:cNvSpPr/>
          <p:nvPr/>
        </p:nvSpPr>
        <p:spPr>
          <a:xfrm>
            <a:off x="8046720" y="39319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Annual volume</a:t>
            </a:r>
            <a:endParaRPr lang="en-US" sz="960" dirty="0"/>
          </a:p>
        </p:txBody>
      </p:sp>
      <p:sp>
        <p:nvSpPr>
          <p:cNvPr id="28" name="Text 25"/>
          <p:cNvSpPr/>
          <p:nvPr/>
        </p:nvSpPr>
        <p:spPr>
          <a:xfrm>
            <a:off x="10195560" y="39319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60,000</a:t>
            </a:r>
            <a:endParaRPr lang="en-US" sz="1000" dirty="0"/>
          </a:p>
        </p:txBody>
      </p:sp>
      <p:sp>
        <p:nvSpPr>
          <p:cNvPr id="29" name="Shape 26"/>
          <p:cNvSpPr/>
          <p:nvPr/>
        </p:nvSpPr>
        <p:spPr>
          <a:xfrm>
            <a:off x="7955280" y="4187952"/>
            <a:ext cx="3639312" cy="256032"/>
          </a:xfrm>
          <a:prstGeom prst="rect">
            <a:avLst/>
          </a:prstGeom>
          <a:solidFill>
            <a:srgbClr val="F4F7FB"/>
          </a:solidFill>
          <a:ln/>
        </p:spPr>
      </p:sp>
      <p:sp>
        <p:nvSpPr>
          <p:cNvPr id="30" name="Text 27"/>
          <p:cNvSpPr/>
          <p:nvPr/>
        </p:nvSpPr>
        <p:spPr>
          <a:xfrm>
            <a:off x="8046720" y="42062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Made in</a:t>
            </a:r>
            <a:endParaRPr lang="en-US" sz="960" dirty="0"/>
          </a:p>
        </p:txBody>
      </p:sp>
      <p:sp>
        <p:nvSpPr>
          <p:cNvPr id="31" name="Text 28"/>
          <p:cNvSpPr/>
          <p:nvPr/>
        </p:nvSpPr>
        <p:spPr>
          <a:xfrm>
            <a:off x="10195560" y="42062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China</a:t>
            </a:r>
            <a:endParaRPr lang="en-US" sz="1000" dirty="0"/>
          </a:p>
        </p:txBody>
      </p:sp>
      <p:sp>
        <p:nvSpPr>
          <p:cNvPr id="32" name="Text 29"/>
          <p:cNvSpPr/>
          <p:nvPr/>
        </p:nvSpPr>
        <p:spPr>
          <a:xfrm>
            <a:off x="8046720" y="4663440"/>
            <a:ext cx="3474720" cy="502920"/>
          </a:xfrm>
          <a:prstGeom prst="rect">
            <a:avLst/>
          </a:prstGeom>
          <a:noFill/>
          <a:ln/>
        </p:spPr>
        <p:txBody>
          <a:bodyPr wrap="square" lIns="0" tIns="0" rIns="0" bIns="0" rtlCol="0" anchor="t"/>
          <a:lstStyle/>
          <a:p>
            <a:pPr indent="0" marL="0">
              <a:buNone/>
            </a:pPr>
            <a:r>
              <a:rPr lang="en-US" sz="950" i="1" dirty="0">
                <a:solidFill>
                  <a:srgbClr val="3A4356"/>
                </a:solidFill>
                <a:latin typeface="Calibri" pitchFamily="34" charset="0"/>
                <a:ea typeface="Calibri" pitchFamily="34" charset="-122"/>
                <a:cs typeface="Calibri" pitchFamily="34" charset="-120"/>
              </a:rPr>
              <a:t>Same volume and country as the casting, so the two compare like for like.</a:t>
            </a:r>
            <a:endParaRPr lang="en-US" sz="950" dirty="0"/>
          </a:p>
        </p:txBody>
      </p:sp>
      <p:sp>
        <p:nvSpPr>
          <p:cNvPr id="33" name="Text 30"/>
          <p:cNvSpPr/>
          <p:nvPr/>
        </p:nvSpPr>
        <p:spPr>
          <a:xfrm>
            <a:off x="457200" y="5266944"/>
            <a:ext cx="7132320" cy="219456"/>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Illustration — drawn to the dimensions the tool actually measured on this part.</a:t>
            </a:r>
            <a:endParaRPr lang="en-US" sz="840" dirty="0"/>
          </a:p>
        </p:txBody>
      </p:sp>
      <p:sp>
        <p:nvSpPr>
          <p:cNvPr id="34" name="Text 3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5" name="Text 3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1–4 · Measured First, Then Read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Same kernel, same order — the facts exist before the AI speaks</a:t>
            </a:r>
            <a:endParaRPr lang="en-US" sz="1200" dirty="0"/>
          </a:p>
        </p:txBody>
      </p:sp>
      <p:sp>
        <p:nvSpPr>
          <p:cNvPr id="5" name="Shape 3"/>
          <p:cNvSpPr/>
          <p:nvPr/>
        </p:nvSpPr>
        <p:spPr>
          <a:xfrm>
            <a:off x="457200" y="1188720"/>
            <a:ext cx="4937760" cy="2651760"/>
          </a:xfrm>
          <a:prstGeom prst="roundRect">
            <a:avLst>
              <a:gd name="adj" fmla="val 3448"/>
            </a:avLst>
          </a:prstGeom>
          <a:solidFill>
            <a:srgbClr val="FFFFFF"/>
          </a:solidFill>
          <a:ln w="12700">
            <a:solidFill>
              <a:srgbClr val="DCE3EE"/>
            </a:solidFill>
            <a:prstDash val="solid"/>
          </a:ln>
        </p:spPr>
      </p:sp>
      <p:sp>
        <p:nvSpPr>
          <p:cNvPr id="6" name="Shape 4"/>
          <p:cNvSpPr/>
          <p:nvPr/>
        </p:nvSpPr>
        <p:spPr>
          <a:xfrm>
            <a:off x="685800" y="1371600"/>
            <a:ext cx="420624" cy="420624"/>
          </a:xfrm>
          <a:prstGeom prst="ellipse">
            <a:avLst/>
          </a:prstGeom>
          <a:solidFill>
            <a:srgbClr val="1D6FB8"/>
          </a:solidFill>
          <a:ln/>
        </p:spPr>
      </p:sp>
      <p:pic>
        <p:nvPicPr>
          <p:cNvPr id="7" name="Image 0" descr="preencoded.png">    </p:cNvPr>
          <p:cNvPicPr>
            <a:picLocks noChangeAspect="1"/>
          </p:cNvPicPr>
          <p:nvPr/>
        </p:nvPicPr>
        <p:blipFill>
          <a:blip r:embed="rId1"/>
          <a:stretch>
            <a:fillRect/>
          </a:stretch>
        </p:blipFill>
        <p:spPr>
          <a:xfrm>
            <a:off x="786384" y="1472184"/>
            <a:ext cx="219456" cy="219456"/>
          </a:xfrm>
          <a:prstGeom prst="rect">
            <a:avLst/>
          </a:prstGeom>
        </p:spPr>
      </p:pic>
      <p:sp>
        <p:nvSpPr>
          <p:cNvPr id="8" name="Text 5"/>
          <p:cNvSpPr/>
          <p:nvPr/>
        </p:nvSpPr>
        <p:spPr>
          <a:xfrm>
            <a:off x="1234440" y="1371600"/>
            <a:ext cx="3931920" cy="420624"/>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What the kernel measures</a:t>
            </a:r>
            <a:endParaRPr lang="en-US" sz="1250" dirty="0"/>
          </a:p>
        </p:txBody>
      </p:sp>
      <p:sp>
        <p:nvSpPr>
          <p:cNvPr id="9" name="Text 6"/>
          <p:cNvSpPr/>
          <p:nvPr/>
        </p:nvSpPr>
        <p:spPr>
          <a:xfrm>
            <a:off x="713232" y="1956816"/>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Solid volume → weight in PP</a:t>
            </a:r>
            <a:endParaRPr lang="en-US" sz="1000" dirty="0"/>
          </a:p>
        </p:txBody>
      </p:sp>
      <p:sp>
        <p:nvSpPr>
          <p:cNvPr id="10" name="Text 7"/>
          <p:cNvSpPr/>
          <p:nvPr/>
        </p:nvSpPr>
        <p:spPr>
          <a:xfrm>
            <a:off x="3977640" y="1956816"/>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4.20 kg</a:t>
            </a:r>
            <a:endParaRPr lang="en-US" sz="1100" dirty="0"/>
          </a:p>
        </p:txBody>
      </p:sp>
      <p:sp>
        <p:nvSpPr>
          <p:cNvPr id="11" name="Text 8"/>
          <p:cNvSpPr/>
          <p:nvPr/>
        </p:nvSpPr>
        <p:spPr>
          <a:xfrm>
            <a:off x="713232" y="2304288"/>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Wall thickness (drives cooling)</a:t>
            </a:r>
            <a:endParaRPr lang="en-US" sz="1000" dirty="0"/>
          </a:p>
        </p:txBody>
      </p:sp>
      <p:sp>
        <p:nvSpPr>
          <p:cNvPr id="12" name="Text 9"/>
          <p:cNvSpPr/>
          <p:nvPr/>
        </p:nvSpPr>
        <p:spPr>
          <a:xfrm>
            <a:off x="3977640" y="2304288"/>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3.0 mm</a:t>
            </a:r>
            <a:endParaRPr lang="en-US" sz="1100" dirty="0"/>
          </a:p>
        </p:txBody>
      </p:sp>
      <p:sp>
        <p:nvSpPr>
          <p:cNvPr id="13" name="Text 10"/>
          <p:cNvSpPr/>
          <p:nvPr/>
        </p:nvSpPr>
        <p:spPr>
          <a:xfrm>
            <a:off x="713232" y="2651760"/>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Projected shadow in the draw direction</a:t>
            </a:r>
            <a:endParaRPr lang="en-US" sz="1000" dirty="0"/>
          </a:p>
        </p:txBody>
      </p:sp>
      <p:sp>
        <p:nvSpPr>
          <p:cNvPr id="14" name="Text 11"/>
          <p:cNvSpPr/>
          <p:nvPr/>
        </p:nvSpPr>
        <p:spPr>
          <a:xfrm>
            <a:off x="3977640" y="2651760"/>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9,900 cm²</a:t>
            </a:r>
            <a:endParaRPr lang="en-US" sz="1100" dirty="0"/>
          </a:p>
        </p:txBody>
      </p:sp>
      <p:sp>
        <p:nvSpPr>
          <p:cNvPr id="15" name="Text 12"/>
          <p:cNvSpPr/>
          <p:nvPr/>
        </p:nvSpPr>
        <p:spPr>
          <a:xfrm>
            <a:off x="713232" y="2999232"/>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Faces facing against the draw</a:t>
            </a:r>
            <a:endParaRPr lang="en-US" sz="1000" dirty="0"/>
          </a:p>
        </p:txBody>
      </p:sp>
      <p:sp>
        <p:nvSpPr>
          <p:cNvPr id="16" name="Text 13"/>
          <p:cNvSpPr/>
          <p:nvPr/>
        </p:nvSpPr>
        <p:spPr>
          <a:xfrm>
            <a:off x="3977640" y="2999232"/>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6 undercuts</a:t>
            </a:r>
            <a:endParaRPr lang="en-US" sz="1100" dirty="0"/>
          </a:p>
        </p:txBody>
      </p:sp>
      <p:sp>
        <p:nvSpPr>
          <p:cNvPr id="17" name="Text 14"/>
          <p:cNvSpPr/>
          <p:nvPr/>
        </p:nvSpPr>
        <p:spPr>
          <a:xfrm>
            <a:off x="713232" y="3346704"/>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Painted surface area</a:t>
            </a:r>
            <a:endParaRPr lang="en-US" sz="1000" dirty="0"/>
          </a:p>
        </p:txBody>
      </p:sp>
      <p:sp>
        <p:nvSpPr>
          <p:cNvPr id="18" name="Text 15"/>
          <p:cNvSpPr/>
          <p:nvPr/>
        </p:nvSpPr>
        <p:spPr>
          <a:xfrm>
            <a:off x="3977640" y="3346704"/>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1.6 m²</a:t>
            </a:r>
            <a:endParaRPr lang="en-US" sz="1100" dirty="0"/>
          </a:p>
        </p:txBody>
      </p:sp>
      <p:sp>
        <p:nvSpPr>
          <p:cNvPr id="19" name="Shape 16"/>
          <p:cNvSpPr/>
          <p:nvPr/>
        </p:nvSpPr>
        <p:spPr>
          <a:xfrm>
            <a:off x="5623560" y="1188720"/>
            <a:ext cx="3063240" cy="2651760"/>
          </a:xfrm>
          <a:prstGeom prst="roundRect">
            <a:avLst>
              <a:gd name="adj" fmla="val 3448"/>
            </a:avLst>
          </a:prstGeom>
          <a:solidFill>
            <a:srgbClr val="F1EBF8"/>
          </a:solidFill>
          <a:ln w="15875">
            <a:solidFill>
              <a:srgbClr val="6B3FA0"/>
            </a:solidFill>
            <a:prstDash val="solid"/>
          </a:ln>
        </p:spPr>
      </p:sp>
      <p:sp>
        <p:nvSpPr>
          <p:cNvPr id="20" name="Text 17"/>
          <p:cNvSpPr/>
          <p:nvPr/>
        </p:nvSpPr>
        <p:spPr>
          <a:xfrm>
            <a:off x="5852160" y="1316736"/>
            <a:ext cx="3108960" cy="237744"/>
          </a:xfrm>
          <a:prstGeom prst="rect">
            <a:avLst/>
          </a:prstGeom>
          <a:noFill/>
          <a:ln/>
        </p:spPr>
        <p:txBody>
          <a:bodyPr wrap="square" lIns="0" tIns="0" rIns="0" bIns="0" rtlCol="0" anchor="ctr"/>
          <a:lstStyle/>
          <a:p>
            <a:pPr indent="0" marL="0">
              <a:buNone/>
            </a:pPr>
            <a:r>
              <a:rPr lang="en-US" sz="1000" b="1" spc="80" kern="0" dirty="0">
                <a:solidFill>
                  <a:srgbClr val="6B3FA0"/>
                </a:solidFill>
                <a:latin typeface="Calibri" pitchFamily="34" charset="0"/>
                <a:ea typeface="Calibri" pitchFamily="34" charset="-122"/>
                <a:cs typeface="Calibri" pitchFamily="34" charset="-120"/>
              </a:rPr>
              <a:t>WHAT THE OPTIONAL AI SAYS BACK</a:t>
            </a:r>
            <a:endParaRPr lang="en-US" sz="1000" dirty="0"/>
          </a:p>
        </p:txBody>
      </p:sp>
      <p:sp>
        <p:nvSpPr>
          <p:cNvPr id="21" name="Text 18"/>
          <p:cNvSpPr/>
          <p:nvPr/>
        </p:nvSpPr>
        <p:spPr>
          <a:xfrm>
            <a:off x="5852160" y="1627632"/>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Material family</a:t>
            </a:r>
            <a:endParaRPr lang="en-US" sz="900" dirty="0"/>
          </a:p>
        </p:txBody>
      </p:sp>
      <p:sp>
        <p:nvSpPr>
          <p:cNvPr id="22" name="Text 19"/>
          <p:cNvSpPr/>
          <p:nvPr/>
        </p:nvSpPr>
        <p:spPr>
          <a:xfrm>
            <a:off x="5852160" y="1819656"/>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Talc-filled polypropylene</a:t>
            </a:r>
            <a:endParaRPr lang="en-US" sz="1050" dirty="0"/>
          </a:p>
        </p:txBody>
      </p:sp>
      <p:sp>
        <p:nvSpPr>
          <p:cNvPr id="23" name="Text 20"/>
          <p:cNvSpPr/>
          <p:nvPr/>
        </p:nvSpPr>
        <p:spPr>
          <a:xfrm>
            <a:off x="5852160" y="2103120"/>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How it is made</a:t>
            </a:r>
            <a:endParaRPr lang="en-US" sz="900" dirty="0"/>
          </a:p>
        </p:txBody>
      </p:sp>
      <p:sp>
        <p:nvSpPr>
          <p:cNvPr id="24" name="Text 21"/>
          <p:cNvSpPr/>
          <p:nvPr/>
        </p:nvSpPr>
        <p:spPr>
          <a:xfrm>
            <a:off x="5852160" y="2295144"/>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Injection moulded, one shot</a:t>
            </a:r>
            <a:endParaRPr lang="en-US" sz="1050" dirty="0"/>
          </a:p>
        </p:txBody>
      </p:sp>
      <p:sp>
        <p:nvSpPr>
          <p:cNvPr id="25" name="Text 22"/>
          <p:cNvSpPr/>
          <p:nvPr/>
        </p:nvSpPr>
        <p:spPr>
          <a:xfrm>
            <a:off x="5852160" y="2578608"/>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Then what</a:t>
            </a:r>
            <a:endParaRPr lang="en-US" sz="900" dirty="0"/>
          </a:p>
        </p:txBody>
      </p:sp>
      <p:sp>
        <p:nvSpPr>
          <p:cNvPr id="26" name="Text 23"/>
          <p:cNvSpPr/>
          <p:nvPr/>
        </p:nvSpPr>
        <p:spPr>
          <a:xfrm>
            <a:off x="5852160" y="2770632"/>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Painted, Class-A finish</a:t>
            </a:r>
            <a:endParaRPr lang="en-US" sz="1050" dirty="0"/>
          </a:p>
        </p:txBody>
      </p:sp>
      <p:sp>
        <p:nvSpPr>
          <p:cNvPr id="27" name="Text 24"/>
          <p:cNvSpPr/>
          <p:nvPr/>
        </p:nvSpPr>
        <p:spPr>
          <a:xfrm>
            <a:off x="5852160" y="3054096"/>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How sure it is</a:t>
            </a:r>
            <a:endParaRPr lang="en-US" sz="900" dirty="0"/>
          </a:p>
        </p:txBody>
      </p:sp>
      <p:sp>
        <p:nvSpPr>
          <p:cNvPr id="28" name="Text 25"/>
          <p:cNvSpPr/>
          <p:nvPr/>
        </p:nvSpPr>
        <p:spPr>
          <a:xfrm>
            <a:off x="5852160" y="3246120"/>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0.87 confident</a:t>
            </a:r>
            <a:endParaRPr lang="en-US" sz="1050" dirty="0"/>
          </a:p>
        </p:txBody>
      </p:sp>
      <p:sp>
        <p:nvSpPr>
          <p:cNvPr id="29" name="Text 26"/>
          <p:cNvSpPr/>
          <p:nvPr/>
        </p:nvSpPr>
        <p:spPr>
          <a:xfrm>
            <a:off x="5852160" y="3547872"/>
            <a:ext cx="2651760" cy="237744"/>
          </a:xfrm>
          <a:prstGeom prst="rect">
            <a:avLst/>
          </a:prstGeom>
          <a:noFill/>
          <a:ln/>
        </p:spPr>
        <p:txBody>
          <a:bodyPr wrap="square" lIns="0" tIns="0" rIns="0" bIns="0" rtlCol="0" anchor="ctr"/>
          <a:lstStyle/>
          <a:p>
            <a:pPr indent="0" marL="0">
              <a:buNone/>
            </a:pPr>
            <a:r>
              <a:rPr lang="en-US" sz="950" b="1" i="1" dirty="0">
                <a:solidFill>
                  <a:srgbClr val="6B3FA0"/>
                </a:solidFill>
                <a:latin typeface="Calibri" pitchFamily="34" charset="0"/>
                <a:ea typeface="Calibri" pitchFamily="34" charset="-122"/>
                <a:cs typeface="Calibri" pitchFamily="34" charset="-120"/>
              </a:rPr>
              <a:t>Four words. No numbers.</a:t>
            </a:r>
            <a:endParaRPr lang="en-US" sz="950" dirty="0"/>
          </a:p>
        </p:txBody>
      </p:sp>
      <p:sp>
        <p:nvSpPr>
          <p:cNvPr id="30" name="Shape 27"/>
          <p:cNvSpPr/>
          <p:nvPr/>
        </p:nvSpPr>
        <p:spPr>
          <a:xfrm>
            <a:off x="8915400" y="1188720"/>
            <a:ext cx="2816352" cy="2651760"/>
          </a:xfrm>
          <a:prstGeom prst="roundRect">
            <a:avLst>
              <a:gd name="adj" fmla="val 3448"/>
            </a:avLst>
          </a:prstGeom>
          <a:solidFill>
            <a:srgbClr val="E8F1FA"/>
          </a:solidFill>
          <a:ln w="15875">
            <a:solidFill>
              <a:srgbClr val="1D6FB8"/>
            </a:solidFill>
            <a:prstDash val="solid"/>
          </a:ln>
        </p:spPr>
      </p:sp>
      <p:sp>
        <p:nvSpPr>
          <p:cNvPr id="31" name="Text 28"/>
          <p:cNvSpPr/>
          <p:nvPr/>
        </p:nvSpPr>
        <p:spPr>
          <a:xfrm>
            <a:off x="9144000" y="1316736"/>
            <a:ext cx="2377440" cy="237744"/>
          </a:xfrm>
          <a:prstGeom prst="rect">
            <a:avLst/>
          </a:prstGeom>
          <a:noFill/>
          <a:ln/>
        </p:spPr>
        <p:txBody>
          <a:bodyPr wrap="square" lIns="0" tIns="0" rIns="0" bIns="0" rtlCol="0" anchor="ctr"/>
          <a:lstStyle/>
          <a:p>
            <a:pPr indent="0" marL="0">
              <a:buNone/>
            </a:pPr>
            <a:r>
              <a:rPr lang="en-US" sz="1000" b="1" spc="80" kern="0" dirty="0">
                <a:solidFill>
                  <a:srgbClr val="1D6FB8"/>
                </a:solidFill>
                <a:latin typeface="Calibri" pitchFamily="34" charset="0"/>
                <a:ea typeface="Calibri" pitchFamily="34" charset="-122"/>
                <a:cs typeface="Calibri" pitchFamily="34" charset="-120"/>
              </a:rPr>
              <a:t>THE UNDERCUT COUNT</a:t>
            </a:r>
            <a:endParaRPr lang="en-US" sz="1000" dirty="0"/>
          </a:p>
        </p:txBody>
      </p:sp>
      <p:sp>
        <p:nvSpPr>
          <p:cNvPr id="32" name="Text 29"/>
          <p:cNvSpPr/>
          <p:nvPr/>
        </p:nvSpPr>
        <p:spPr>
          <a:xfrm>
            <a:off x="9144000" y="1645920"/>
            <a:ext cx="2377440" cy="1463040"/>
          </a:xfrm>
          <a:prstGeom prst="rect">
            <a:avLst/>
          </a:prstGeom>
          <a:noFill/>
          <a:ln/>
        </p:spPr>
        <p:txBody>
          <a:bodyPr wrap="square" lIns="0" tIns="0" rIns="0" bIns="0" rtlCol="0" anchor="t"/>
          <a:lstStyle/>
          <a:p>
            <a:pPr indent="0" marL="0">
              <a:buNone/>
            </a:pPr>
            <a:r>
              <a:rPr lang="en-US" sz="1000" dirty="0">
                <a:solidFill>
                  <a:srgbClr val="3A4356"/>
                </a:solidFill>
                <a:latin typeface="Calibri" pitchFamily="34" charset="0"/>
                <a:ea typeface="Calibri" pitchFamily="34" charset="-122"/>
                <a:cs typeface="Calibri" pitchFamily="34" charset="-120"/>
              </a:rPr>
              <a:t>The kernel classifies every face by its angle to the mould-opening direction. </a:t>
            </a:r>
            <a:pPr indent="0" marL="0">
              <a:buNone/>
            </a:pPr>
            <a:r>
              <a:rPr lang="en-US" sz="1000" b="1" dirty="0">
                <a:solidFill>
                  <a:srgbClr val="16325C"/>
                </a:solidFill>
                <a:latin typeface="Calibri" pitchFamily="34" charset="0"/>
                <a:ea typeface="Calibri" pitchFamily="34" charset="-122"/>
                <a:cs typeface="Calibri" pitchFamily="34" charset="-120"/>
              </a:rPr>
              <a:t>Six faces point back against the draw. </a:t>
            </a:r>
            <a:pPr indent="0" marL="0">
              <a:buNone/>
            </a:pPr>
            <a:r>
              <a:rPr lang="en-US" sz="1000" dirty="0">
                <a:solidFill>
                  <a:srgbClr val="3A4356"/>
                </a:solidFill>
                <a:latin typeface="Calibri" pitchFamily="34" charset="0"/>
                <a:ea typeface="Calibri" pitchFamily="34" charset="-122"/>
                <a:cs typeface="Calibri" pitchFamily="34" charset="-120"/>
              </a:rPr>
              <a:t>Each one needs a sliding section in the tool — and each slide is real money in the mould.</a:t>
            </a:r>
            <a:endParaRPr lang="en-US" sz="1000" dirty="0"/>
          </a:p>
        </p:txBody>
      </p:sp>
      <p:sp>
        <p:nvSpPr>
          <p:cNvPr id="33" name="Text 30"/>
          <p:cNvSpPr/>
          <p:nvPr/>
        </p:nvSpPr>
        <p:spPr>
          <a:xfrm>
            <a:off x="9144000" y="3200400"/>
            <a:ext cx="2377440" cy="457200"/>
          </a:xfrm>
          <a:prstGeom prst="rect">
            <a:avLst/>
          </a:prstGeom>
          <a:noFill/>
          <a:ln/>
        </p:spPr>
        <p:txBody>
          <a:bodyPr wrap="square" lIns="0" tIns="0" rIns="0" bIns="0" rtlCol="0" anchor="t"/>
          <a:lstStyle/>
          <a:p>
            <a:pPr indent="0" marL="0">
              <a:buNone/>
            </a:pPr>
            <a:r>
              <a:rPr lang="en-US" sz="950" b="1" i="1" dirty="0">
                <a:solidFill>
                  <a:srgbClr val="1D6FB8"/>
                </a:solidFill>
                <a:latin typeface="Calibri" pitchFamily="34" charset="0"/>
                <a:ea typeface="Calibri" pitchFamily="34" charset="-122"/>
                <a:cs typeface="Calibri" pitchFamily="34" charset="-120"/>
              </a:rPr>
              <a:t>Nobody counted these by eye.</a:t>
            </a:r>
            <a:endParaRPr lang="en-US" sz="950" dirty="0"/>
          </a:p>
        </p:txBody>
      </p:sp>
      <p:sp>
        <p:nvSpPr>
          <p:cNvPr id="34" name="Shape 31"/>
          <p:cNvSpPr/>
          <p:nvPr/>
        </p:nvSpPr>
        <p:spPr>
          <a:xfrm>
            <a:off x="457200" y="4041648"/>
            <a:ext cx="11274552" cy="1051560"/>
          </a:xfrm>
          <a:prstGeom prst="roundRect">
            <a:avLst>
              <a:gd name="adj" fmla="val 8696"/>
            </a:avLst>
          </a:prstGeom>
          <a:solidFill>
            <a:srgbClr val="FFFFFF"/>
          </a:solidFill>
          <a:ln w="12700">
            <a:solidFill>
              <a:srgbClr val="DCE3EE"/>
            </a:solidFill>
            <a:prstDash val="solid"/>
          </a:ln>
        </p:spPr>
      </p:sp>
      <p:sp>
        <p:nvSpPr>
          <p:cNvPr id="35" name="Text 32"/>
          <p:cNvSpPr/>
          <p:nvPr/>
        </p:nvSpPr>
        <p:spPr>
          <a:xfrm>
            <a:off x="731520" y="4151376"/>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The one measurement that decides the biggest number on this part</a:t>
            </a:r>
            <a:endParaRPr lang="en-US" sz="1250" dirty="0"/>
          </a:p>
        </p:txBody>
      </p:sp>
      <p:sp>
        <p:nvSpPr>
          <p:cNvPr id="36" name="Text 33"/>
          <p:cNvSpPr/>
          <p:nvPr/>
        </p:nvSpPr>
        <p:spPr>
          <a:xfrm>
            <a:off x="731520" y="4443984"/>
            <a:ext cx="10744200" cy="548640"/>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The projected shadow — 9,900 cm². </a:t>
            </a:r>
            <a:pPr indent="0" marL="0">
              <a:buNone/>
            </a:pPr>
            <a:r>
              <a:rPr lang="en-US" sz="1150" dirty="0">
                <a:solidFill>
                  <a:srgbClr val="3A4356"/>
                </a:solidFill>
                <a:latin typeface="Calibri" pitchFamily="34" charset="0"/>
                <a:ea typeface="Calibri" pitchFamily="34" charset="-122"/>
                <a:cs typeface="Calibri" pitchFamily="34" charset="-120"/>
              </a:rPr>
              <a:t>Molten plastic pushing outwards over that area is what tries to force the mould open, so it sets the press size, and the press rate sets the moulding cost. A part this size cannot be moulded on a small machine, however cheap that machine is.</a:t>
            </a:r>
            <a:endParaRPr lang="en-US" sz="1150" dirty="0"/>
          </a:p>
        </p:txBody>
      </p:sp>
      <p:sp>
        <p:nvSpPr>
          <p:cNvPr id="37" name="Shape 34"/>
          <p:cNvSpPr/>
          <p:nvPr/>
        </p:nvSpPr>
        <p:spPr>
          <a:xfrm>
            <a:off x="457200" y="5257800"/>
            <a:ext cx="11274552" cy="777240"/>
          </a:xfrm>
          <a:prstGeom prst="roundRect">
            <a:avLst>
              <a:gd name="adj" fmla="val 11765"/>
            </a:avLst>
          </a:prstGeom>
          <a:solidFill>
            <a:srgbClr val="F1EBF8"/>
          </a:solidFill>
          <a:ln w="12700">
            <a:solidFill>
              <a:srgbClr val="6B3FA0"/>
            </a:solidFill>
            <a:prstDash val="solid"/>
          </a:ln>
        </p:spPr>
      </p:sp>
      <p:sp>
        <p:nvSpPr>
          <p:cNvPr id="38" name="Text 35"/>
          <p:cNvSpPr/>
          <p:nvPr/>
        </p:nvSpPr>
        <p:spPr>
          <a:xfrm>
            <a:off x="731520" y="5358384"/>
            <a:ext cx="10744200" cy="603504"/>
          </a:xfrm>
          <a:prstGeom prst="rect">
            <a:avLst/>
          </a:prstGeom>
          <a:noFill/>
          <a:ln/>
        </p:spPr>
        <p:txBody>
          <a:bodyPr wrap="square" lIns="0" tIns="0" rIns="0" bIns="0" rtlCol="0" anchor="ctr"/>
          <a:lstStyle/>
          <a:p>
            <a:pPr indent="0" marL="0">
              <a:buNone/>
            </a:pPr>
            <a:r>
              <a:rPr lang="en-US" sz="1150" b="1" dirty="0">
                <a:solidFill>
                  <a:srgbClr val="6B3FA0"/>
                </a:solidFill>
                <a:latin typeface="Calibri" pitchFamily="34" charset="0"/>
                <a:ea typeface="Calibri" pitchFamily="34" charset="-122"/>
                <a:cs typeface="Calibri" pitchFamily="34" charset="-120"/>
              </a:rPr>
              <a:t>Identical to the casting: </a:t>
            </a:r>
            <a:pPr indent="0" marL="0">
              <a:buNone/>
            </a:pPr>
            <a:r>
              <a:rPr lang="en-US" sz="1150" dirty="0">
                <a:solidFill>
                  <a:srgbClr val="3A4356"/>
                </a:solidFill>
                <a:latin typeface="Calibri" pitchFamily="34" charset="0"/>
                <a:ea typeface="Calibri" pitchFamily="34" charset="-122"/>
                <a:cs typeface="Calibri" pitchFamily="34" charset="-120"/>
              </a:rPr>
              <a:t>stages 1 to 3 happen before any AI is involved; in the AI modes it hands back four words and a confidence score with no access to a price, a rate or a machine — and in the default Rules mode it is skipped entirely.</a:t>
            </a:r>
            <a:endParaRPr lang="en-US" sz="1150" dirty="0"/>
          </a:p>
        </p:txBody>
      </p:sp>
      <p:sp>
        <p:nvSpPr>
          <p:cNvPr id="39" name="Text 3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40" name="Text 3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5–7 · The Guards, and Which Press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Four moulding-specific checks, then the press sized by physics</a:t>
            </a:r>
            <a:endParaRPr lang="en-US" sz="1200" dirty="0"/>
          </a:p>
        </p:txBody>
      </p:sp>
      <p:sp>
        <p:nvSpPr>
          <p:cNvPr id="5" name="Shape 3"/>
          <p:cNvSpPr/>
          <p:nvPr/>
        </p:nvSpPr>
        <p:spPr>
          <a:xfrm>
            <a:off x="457200" y="1188720"/>
            <a:ext cx="5486400" cy="1170432"/>
          </a:xfrm>
          <a:prstGeom prst="roundRect">
            <a:avLst>
              <a:gd name="adj" fmla="val 7031"/>
            </a:avLst>
          </a:prstGeom>
          <a:solidFill>
            <a:srgbClr val="FFFFFF"/>
          </a:solidFill>
          <a:ln w="12700">
            <a:solidFill>
              <a:srgbClr val="DCE3EE"/>
            </a:solidFill>
            <a:prstDash val="solid"/>
          </a:ln>
        </p:spPr>
      </p:sp>
      <p:sp>
        <p:nvSpPr>
          <p:cNvPr id="6" name="Text 4"/>
          <p:cNvSpPr/>
          <p:nvPr/>
        </p:nvSpPr>
        <p:spPr>
          <a:xfrm>
            <a:off x="658368" y="1280160"/>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1 · Hot runner means no wasted resin</a:t>
            </a:r>
            <a:endParaRPr lang="en-US" sz="1150" dirty="0"/>
          </a:p>
        </p:txBody>
      </p:sp>
      <p:sp>
        <p:nvSpPr>
          <p:cNvPr id="7" name="Text 5"/>
          <p:cNvSpPr/>
          <p:nvPr/>
        </p:nvSpPr>
        <p:spPr>
          <a:xfrm>
            <a:off x="658368" y="1572768"/>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A cold runner would add 0.6–0.9 kg of scrap plastic per shot. This tool has a hot runner, so the shot weight IS the part weight — the guard makes sure we do not charge for plastic nobody buys.</a:t>
            </a:r>
            <a:endParaRPr lang="en-US" sz="960" dirty="0"/>
          </a:p>
        </p:txBody>
      </p:sp>
      <p:sp>
        <p:nvSpPr>
          <p:cNvPr id="8" name="Shape 6"/>
          <p:cNvSpPr/>
          <p:nvPr/>
        </p:nvSpPr>
        <p:spPr>
          <a:xfrm>
            <a:off x="6245352" y="1188720"/>
            <a:ext cx="5486400" cy="1170432"/>
          </a:xfrm>
          <a:prstGeom prst="roundRect">
            <a:avLst>
              <a:gd name="adj" fmla="val 7031"/>
            </a:avLst>
          </a:prstGeom>
          <a:solidFill>
            <a:srgbClr val="FFFFFF"/>
          </a:solidFill>
          <a:ln w="12700">
            <a:solidFill>
              <a:srgbClr val="DCE3EE"/>
            </a:solidFill>
            <a:prstDash val="solid"/>
          </a:ln>
        </p:spPr>
      </p:sp>
      <p:sp>
        <p:nvSpPr>
          <p:cNvPr id="9" name="Text 7"/>
          <p:cNvSpPr/>
          <p:nvPr/>
        </p:nvSpPr>
        <p:spPr>
          <a:xfrm>
            <a:off x="6446520" y="1280160"/>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2 · Cooling is calculated, not guessed</a:t>
            </a:r>
            <a:endParaRPr lang="en-US" sz="1150" dirty="0"/>
          </a:p>
        </p:txBody>
      </p:sp>
      <p:sp>
        <p:nvSpPr>
          <p:cNvPr id="10" name="Text 8"/>
          <p:cNvSpPr/>
          <p:nvPr/>
        </p:nvSpPr>
        <p:spPr>
          <a:xfrm>
            <a:off x="6446520" y="1572768"/>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Cool time from Fourier’s transient-conduction law — each resin’s real melt/mould/eject temperatures, diffusivity calibrated to industry data (next slide shows every symbol). For PP: 3.16 s/mm² × (3.0 mm)² = 28.4 s — over half the whole cycle, and the wall enters SQUARED.</a:t>
            </a:r>
            <a:endParaRPr lang="en-US" sz="960" dirty="0"/>
          </a:p>
        </p:txBody>
      </p:sp>
      <p:sp>
        <p:nvSpPr>
          <p:cNvPr id="11" name="Shape 9"/>
          <p:cNvSpPr/>
          <p:nvPr/>
        </p:nvSpPr>
        <p:spPr>
          <a:xfrm>
            <a:off x="457200" y="2487168"/>
            <a:ext cx="5486400" cy="1170432"/>
          </a:xfrm>
          <a:prstGeom prst="roundRect">
            <a:avLst>
              <a:gd name="adj" fmla="val 7031"/>
            </a:avLst>
          </a:prstGeom>
          <a:solidFill>
            <a:srgbClr val="FFFFFF"/>
          </a:solidFill>
          <a:ln w="12700">
            <a:solidFill>
              <a:srgbClr val="DCE3EE"/>
            </a:solidFill>
            <a:prstDash val="solid"/>
          </a:ln>
        </p:spPr>
      </p:sp>
      <p:sp>
        <p:nvSpPr>
          <p:cNvPr id="12" name="Text 10"/>
          <p:cNvSpPr/>
          <p:nvPr/>
        </p:nvSpPr>
        <p:spPr>
          <a:xfrm>
            <a:off x="658368" y="2578608"/>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3 · Press sized to the projected area</a:t>
            </a:r>
            <a:endParaRPr lang="en-US" sz="1150" dirty="0"/>
          </a:p>
        </p:txBody>
      </p:sp>
      <p:sp>
        <p:nvSpPr>
          <p:cNvPr id="13" name="Text 11"/>
          <p:cNvSpPr/>
          <p:nvPr/>
        </p:nvSpPr>
        <p:spPr>
          <a:xfrm>
            <a:off x="658368" y="2871216"/>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Not a default machine. 9,900 cm² × 25 MPa × 1.15 safety = 2,902 tonnes of clamp force needed.</a:t>
            </a:r>
            <a:endParaRPr lang="en-US" sz="960" dirty="0"/>
          </a:p>
        </p:txBody>
      </p:sp>
      <p:sp>
        <p:nvSpPr>
          <p:cNvPr id="14" name="Shape 12"/>
          <p:cNvSpPr/>
          <p:nvPr/>
        </p:nvSpPr>
        <p:spPr>
          <a:xfrm>
            <a:off x="6245352" y="2487168"/>
            <a:ext cx="5486400" cy="1170432"/>
          </a:xfrm>
          <a:prstGeom prst="roundRect">
            <a:avLst>
              <a:gd name="adj" fmla="val 7031"/>
            </a:avLst>
          </a:prstGeom>
          <a:solidFill>
            <a:srgbClr val="FFFFFF"/>
          </a:solidFill>
          <a:ln w="12700">
            <a:solidFill>
              <a:srgbClr val="DCE3EE"/>
            </a:solidFill>
            <a:prstDash val="solid"/>
          </a:ln>
        </p:spPr>
      </p:sp>
      <p:sp>
        <p:nvSpPr>
          <p:cNvPr id="15" name="Text 13"/>
          <p:cNvSpPr/>
          <p:nvPr/>
        </p:nvSpPr>
        <p:spPr>
          <a:xfrm>
            <a:off x="6446520" y="2578608"/>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4 · Tool cost is entered, never invented</a:t>
            </a:r>
            <a:endParaRPr lang="en-US" sz="1150" dirty="0"/>
          </a:p>
        </p:txBody>
      </p:sp>
      <p:sp>
        <p:nvSpPr>
          <p:cNvPr id="16" name="Text 14"/>
          <p:cNvSpPr/>
          <p:nvPr/>
        </p:nvSpPr>
        <p:spPr>
          <a:xfrm>
            <a:off x="6446520" y="2871216"/>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A £420k mould is a quotation, not an estimate. The tool takes it as an input, applies the Class-A finish uplift, and shows the arithmetic.</a:t>
            </a:r>
            <a:endParaRPr lang="en-US" sz="960" dirty="0"/>
          </a:p>
        </p:txBody>
      </p:sp>
      <p:sp>
        <p:nvSpPr>
          <p:cNvPr id="17" name="Shape 15"/>
          <p:cNvSpPr/>
          <p:nvPr/>
        </p:nvSpPr>
        <p:spPr>
          <a:xfrm>
            <a:off x="457200" y="3840480"/>
            <a:ext cx="6858000" cy="2148840"/>
          </a:xfrm>
          <a:prstGeom prst="roundRect">
            <a:avLst>
              <a:gd name="adj" fmla="val 4255"/>
            </a:avLst>
          </a:prstGeom>
          <a:solidFill>
            <a:srgbClr val="E6F4F1"/>
          </a:solidFill>
          <a:ln w="15875">
            <a:solidFill>
              <a:srgbClr val="0E8074"/>
            </a:solidFill>
            <a:prstDash val="solid"/>
          </a:ln>
        </p:spPr>
      </p:sp>
      <p:sp>
        <p:nvSpPr>
          <p:cNvPr id="18" name="Text 16"/>
          <p:cNvSpPr/>
          <p:nvPr/>
        </p:nvSpPr>
        <p:spPr>
          <a:xfrm>
            <a:off x="685800" y="3950208"/>
            <a:ext cx="6400800" cy="256032"/>
          </a:xfrm>
          <a:prstGeom prst="rect">
            <a:avLst/>
          </a:prstGeom>
          <a:noFill/>
          <a:ln/>
        </p:spPr>
        <p:txBody>
          <a:bodyPr wrap="square" lIns="0" tIns="0" rIns="0" bIns="0" rtlCol="0" anchor="ctr"/>
          <a:lstStyle/>
          <a:p>
            <a:pPr indent="0" marL="0">
              <a:buNone/>
            </a:pPr>
            <a:r>
              <a:rPr lang="en-US" sz="1050" b="1" spc="40" kern="0" dirty="0">
                <a:solidFill>
                  <a:srgbClr val="0E8074"/>
                </a:solidFill>
                <a:latin typeface="Calibri" pitchFamily="34" charset="0"/>
                <a:ea typeface="Calibri" pitchFamily="34" charset="-122"/>
                <a:cs typeface="Calibri" pitchFamily="34" charset="-120"/>
              </a:rPr>
              <a:t>THE PRESS LADDER — the engine takes the smallest press that clamps the part</a:t>
            </a:r>
            <a:endParaRPr lang="en-US" sz="1050" dirty="0"/>
          </a:p>
        </p:txBody>
      </p:sp>
      <p:sp>
        <p:nvSpPr>
          <p:cNvPr id="19" name="Text 17"/>
          <p:cNvSpPr/>
          <p:nvPr/>
        </p:nvSpPr>
        <p:spPr>
          <a:xfrm>
            <a:off x="822960" y="4315968"/>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800 t</a:t>
            </a:r>
            <a:endParaRPr lang="en-US" sz="1100" dirty="0"/>
          </a:p>
        </p:txBody>
      </p:sp>
      <p:sp>
        <p:nvSpPr>
          <p:cNvPr id="20" name="Text 18"/>
          <p:cNvSpPr/>
          <p:nvPr/>
        </p:nvSpPr>
        <p:spPr>
          <a:xfrm>
            <a:off x="2103120" y="4315968"/>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£78.13/hr</a:t>
            </a:r>
            <a:endParaRPr lang="en-US" sz="1100" dirty="0"/>
          </a:p>
        </p:txBody>
      </p:sp>
      <p:sp>
        <p:nvSpPr>
          <p:cNvPr id="21" name="Text 19"/>
          <p:cNvSpPr/>
          <p:nvPr/>
        </p:nvSpPr>
        <p:spPr>
          <a:xfrm>
            <a:off x="3840480" y="4315968"/>
            <a:ext cx="1463040" cy="292608"/>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too small</a:t>
            </a:r>
            <a:endParaRPr lang="en-US" sz="950" dirty="0"/>
          </a:p>
        </p:txBody>
      </p:sp>
      <p:sp>
        <p:nvSpPr>
          <p:cNvPr id="22" name="Text 20"/>
          <p:cNvSpPr/>
          <p:nvPr/>
        </p:nvSpPr>
        <p:spPr>
          <a:xfrm>
            <a:off x="822960" y="4700016"/>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1,200 t</a:t>
            </a:r>
            <a:endParaRPr lang="en-US" sz="1100" dirty="0"/>
          </a:p>
        </p:txBody>
      </p:sp>
      <p:sp>
        <p:nvSpPr>
          <p:cNvPr id="23" name="Text 21"/>
          <p:cNvSpPr/>
          <p:nvPr/>
        </p:nvSpPr>
        <p:spPr>
          <a:xfrm>
            <a:off x="2103120" y="4700016"/>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£111.70/hr</a:t>
            </a:r>
            <a:endParaRPr lang="en-US" sz="1100" dirty="0"/>
          </a:p>
        </p:txBody>
      </p:sp>
      <p:sp>
        <p:nvSpPr>
          <p:cNvPr id="24" name="Text 22"/>
          <p:cNvSpPr/>
          <p:nvPr/>
        </p:nvSpPr>
        <p:spPr>
          <a:xfrm>
            <a:off x="3840480" y="4700016"/>
            <a:ext cx="1463040" cy="292608"/>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too small</a:t>
            </a:r>
            <a:endParaRPr lang="en-US" sz="950" dirty="0"/>
          </a:p>
        </p:txBody>
      </p:sp>
      <p:sp>
        <p:nvSpPr>
          <p:cNvPr id="25" name="Text 23"/>
          <p:cNvSpPr/>
          <p:nvPr/>
        </p:nvSpPr>
        <p:spPr>
          <a:xfrm>
            <a:off x="822960" y="5084064"/>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2,000 t</a:t>
            </a:r>
            <a:endParaRPr lang="en-US" sz="1100" dirty="0"/>
          </a:p>
        </p:txBody>
      </p:sp>
      <p:sp>
        <p:nvSpPr>
          <p:cNvPr id="26" name="Text 24"/>
          <p:cNvSpPr/>
          <p:nvPr/>
        </p:nvSpPr>
        <p:spPr>
          <a:xfrm>
            <a:off x="2103120" y="5084064"/>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£178.54/hr</a:t>
            </a:r>
            <a:endParaRPr lang="en-US" sz="1100" dirty="0"/>
          </a:p>
        </p:txBody>
      </p:sp>
      <p:sp>
        <p:nvSpPr>
          <p:cNvPr id="27" name="Text 25"/>
          <p:cNvSpPr/>
          <p:nvPr/>
        </p:nvSpPr>
        <p:spPr>
          <a:xfrm>
            <a:off x="3840480" y="5084064"/>
            <a:ext cx="1463040" cy="292608"/>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too small</a:t>
            </a:r>
            <a:endParaRPr lang="en-US" sz="950" dirty="0"/>
          </a:p>
        </p:txBody>
      </p:sp>
      <p:sp>
        <p:nvSpPr>
          <p:cNvPr id="28" name="Shape 26"/>
          <p:cNvSpPr/>
          <p:nvPr/>
        </p:nvSpPr>
        <p:spPr>
          <a:xfrm>
            <a:off x="640080" y="5431536"/>
            <a:ext cx="6492240" cy="365760"/>
          </a:xfrm>
          <a:prstGeom prst="roundRect">
            <a:avLst>
              <a:gd name="adj" fmla="val 15000"/>
            </a:avLst>
          </a:prstGeom>
          <a:solidFill>
            <a:srgbClr val="FFFFFF"/>
          </a:solidFill>
          <a:ln w="15875">
            <a:solidFill>
              <a:srgbClr val="0E8074"/>
            </a:solidFill>
            <a:prstDash val="solid"/>
          </a:ln>
        </p:spPr>
      </p:sp>
      <p:sp>
        <p:nvSpPr>
          <p:cNvPr id="29" name="Text 27"/>
          <p:cNvSpPr/>
          <p:nvPr/>
        </p:nvSpPr>
        <p:spPr>
          <a:xfrm>
            <a:off x="822960" y="5468112"/>
            <a:ext cx="1188720" cy="292608"/>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3,500 t</a:t>
            </a:r>
            <a:endParaRPr lang="en-US" sz="1100" dirty="0"/>
          </a:p>
        </p:txBody>
      </p:sp>
      <p:sp>
        <p:nvSpPr>
          <p:cNvPr id="30" name="Text 28"/>
          <p:cNvSpPr/>
          <p:nvPr/>
        </p:nvSpPr>
        <p:spPr>
          <a:xfrm>
            <a:off x="2103120" y="5468112"/>
            <a:ext cx="1463040" cy="292608"/>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£306.12/hr</a:t>
            </a:r>
            <a:endParaRPr lang="en-US" sz="1100" dirty="0"/>
          </a:p>
        </p:txBody>
      </p:sp>
      <p:sp>
        <p:nvSpPr>
          <p:cNvPr id="31" name="Text 29"/>
          <p:cNvSpPr/>
          <p:nvPr/>
        </p:nvSpPr>
        <p:spPr>
          <a:xfrm>
            <a:off x="3840480" y="5468112"/>
            <a:ext cx="1463040" cy="29260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CHOSEN</a:t>
            </a:r>
            <a:endParaRPr lang="en-US" sz="950" dirty="0"/>
          </a:p>
        </p:txBody>
      </p:sp>
      <p:sp>
        <p:nvSpPr>
          <p:cNvPr id="32" name="Text 30"/>
          <p:cNvSpPr/>
          <p:nvPr/>
        </p:nvSpPr>
        <p:spPr>
          <a:xfrm>
            <a:off x="5212080" y="5468112"/>
            <a:ext cx="1828800" cy="292608"/>
          </a:xfrm>
          <a:prstGeom prst="rect">
            <a:avLst/>
          </a:prstGeom>
          <a:noFill/>
          <a:ln/>
        </p:spPr>
        <p:txBody>
          <a:bodyPr wrap="square" lIns="0" tIns="0" rIns="0" bIns="0" rtlCol="0" anchor="ctr"/>
          <a:lstStyle/>
          <a:p>
            <a:pPr indent="0" marL="0">
              <a:buNone/>
            </a:pPr>
            <a:r>
              <a:rPr lang="en-US" sz="840" i="1" dirty="0">
                <a:solidFill>
                  <a:srgbClr val="0E8074"/>
                </a:solidFill>
                <a:latin typeface="Calibri" pitchFamily="34" charset="0"/>
                <a:ea typeface="Calibri" pitchFamily="34" charset="-122"/>
                <a:cs typeface="Calibri" pitchFamily="34" charset="-120"/>
              </a:rPr>
              <a:t>2,902 t needed → smallest press that covers it</a:t>
            </a:r>
            <a:endParaRPr lang="en-US" sz="840" dirty="0"/>
          </a:p>
        </p:txBody>
      </p:sp>
      <p:sp>
        <p:nvSpPr>
          <p:cNvPr id="33" name="Shape 31"/>
          <p:cNvSpPr/>
          <p:nvPr/>
        </p:nvSpPr>
        <p:spPr>
          <a:xfrm>
            <a:off x="7543800" y="3840480"/>
            <a:ext cx="4187952" cy="2148840"/>
          </a:xfrm>
          <a:prstGeom prst="roundRect">
            <a:avLst>
              <a:gd name="adj" fmla="val 4255"/>
            </a:avLst>
          </a:prstGeom>
          <a:solidFill>
            <a:srgbClr val="FFFFFF"/>
          </a:solidFill>
          <a:ln w="19050">
            <a:solidFill>
              <a:srgbClr val="B03A2E"/>
            </a:solidFill>
            <a:prstDash val="solid"/>
          </a:ln>
        </p:spPr>
      </p:sp>
      <p:sp>
        <p:nvSpPr>
          <p:cNvPr id="34" name="Text 32"/>
          <p:cNvSpPr/>
          <p:nvPr/>
        </p:nvSpPr>
        <p:spPr>
          <a:xfrm>
            <a:off x="7772400" y="3950208"/>
            <a:ext cx="3749040" cy="256032"/>
          </a:xfrm>
          <a:prstGeom prst="rect">
            <a:avLst/>
          </a:prstGeom>
          <a:noFill/>
          <a:ln/>
        </p:spPr>
        <p:txBody>
          <a:bodyPr wrap="square" lIns="0" tIns="0" rIns="0" bIns="0" rtlCol="0" anchor="ctr"/>
          <a:lstStyle/>
          <a:p>
            <a:pPr indent="0" marL="0">
              <a:buNone/>
            </a:pPr>
            <a:r>
              <a:rPr lang="en-US" sz="1000" b="1" spc="40" kern="0" dirty="0">
                <a:solidFill>
                  <a:srgbClr val="B03A2E"/>
                </a:solidFill>
                <a:latin typeface="Calibri" pitchFamily="34" charset="0"/>
                <a:ea typeface="Calibri" pitchFamily="34" charset="-122"/>
                <a:cs typeface="Calibri" pitchFamily="34" charset="-120"/>
              </a:rPr>
              <a:t>WHY THIS ONE CHECK IS WORTH THE TOOL</a:t>
            </a:r>
            <a:endParaRPr lang="en-US" sz="1000" dirty="0"/>
          </a:p>
        </p:txBody>
      </p:sp>
      <p:sp>
        <p:nvSpPr>
          <p:cNvPr id="35" name="Text 33"/>
          <p:cNvSpPr/>
          <p:nvPr/>
        </p:nvSpPr>
        <p:spPr>
          <a:xfrm>
            <a:off x="7772400" y="4279392"/>
            <a:ext cx="3749040" cy="155448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Accept a 2,000 t default and you cost the moulding at £178.54/hr instead of £306.12 — </a:t>
            </a:r>
            <a:pPr indent="0" marL="0">
              <a:buNone/>
            </a:pPr>
            <a:r>
              <a:rPr lang="en-US" sz="1050" b="1" dirty="0">
                <a:solidFill>
                  <a:srgbClr val="B03A2E"/>
                </a:solidFill>
                <a:latin typeface="Calibri" pitchFamily="34" charset="0"/>
                <a:ea typeface="Calibri" pitchFamily="34" charset="-122"/>
                <a:cs typeface="Calibri" pitchFamily="34" charset="-120"/>
              </a:rPr>
              <a:t>42% too cheap.
</a:t>
            </a:r>
            <a:pPr indent="0" marL="0">
              <a:buNone/>
            </a:pPr>
            <a:r>
              <a:rPr lang="en-US" sz="1050" dirty="0">
                <a:solidFill>
                  <a:srgbClr val="3A4356"/>
                </a:solidFill>
                <a:latin typeface="Calibri" pitchFamily="34" charset="0"/>
                <a:ea typeface="Calibri" pitchFamily="34" charset="-122"/>
                <a:cs typeface="Calibri" pitchFamily="34" charset="-120"/>
              </a:rPr>
              <a:t>And the part would never mould: the press could not hold the tool shut, so you would be negotiating hard against a price that is physically impossible to deliver.</a:t>
            </a:r>
            <a:endParaRPr lang="en-US" sz="105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30</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Cooling Time from First Principles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Fourier slab solution, calibrated to industry data — every input printable, nothing guessed</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6B3FA0"/>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52144"/>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physical law, not a fitted curve</a:t>
            </a:r>
            <a:endParaRPr lang="en-US" sz="1050" dirty="0"/>
          </a:p>
        </p:txBody>
      </p:sp>
      <p:sp>
        <p:nvSpPr>
          <p:cNvPr id="9" name="Text 7"/>
          <p:cNvSpPr/>
          <p:nvPr/>
        </p:nvSpPr>
        <p:spPr>
          <a:xfrm>
            <a:off x="1097280" y="1380744"/>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Cooling a moulded wall between two mould faces is textbook transient conduction, and its exact solution is:  t_cool = wall² ÷ (π²·α) × ln[ (4/π) × (T_melt − T_mould) ÷ (T_eject − T_mould) ].  The wall enters SQUARED because heat must diffuse out through half the thickness — that is why wall is the most powerful lever in moulding.</a:t>
            </a:r>
            <a:endParaRPr lang="en-US" sz="79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6B3FA0"/>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22576"/>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Every resin carries its real temperatures</a:t>
            </a:r>
            <a:endParaRPr lang="en-US" sz="1050" dirty="0"/>
          </a:p>
        </p:txBody>
      </p:sp>
      <p:sp>
        <p:nvSpPr>
          <p:cNvPr id="14" name="Text 12"/>
          <p:cNvSpPr/>
          <p:nvPr/>
        </p:nvSpPr>
        <p:spPr>
          <a:xfrm>
            <a:off x="1097280" y="2551176"/>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19 resin families each carry typical melt / mould / eject temperatures. PP (the bumper): melt 230 °C, mould 40 °C, eject 85 °C → log term ln(1.273 × 190/45) = 1.682. ABS runs 240/60/95; PA6 280/80/125; PC 300/90/130. Change the resin and the physics changes with it.</a:t>
            </a:r>
            <a:endParaRPr lang="en-US" sz="79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6B3FA0"/>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493008"/>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Calibrated ONCE against industry cycle data</a:t>
            </a:r>
            <a:endParaRPr lang="en-US" sz="1050" dirty="0"/>
          </a:p>
        </p:txBody>
      </p:sp>
      <p:sp>
        <p:nvSpPr>
          <p:cNvPr id="19" name="Text 17"/>
          <p:cNvSpPr/>
          <p:nvPr/>
        </p:nvSpPr>
        <p:spPr>
          <a:xfrm>
            <a:off x="1097280" y="3721608"/>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The effective diffusivity α_eff is derived from the curated industry factor at those reference temperatures — for PP: α_eff = 1.682 ÷ (π² × 3.16) = 0.054 mm²/s. α_eff deliberately absorbs what the ideal slab ignores: latent heat of crystallisation and mould-interface resistance. At reference temperatures the formula reproduces the curated factor EXACTLY — adopting the physics changed provenance, not price.</a:t>
            </a:r>
            <a:endParaRPr lang="en-US" sz="79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6B3FA0"/>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63440"/>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governing wall, and a sanity clamp</a:t>
            </a:r>
            <a:endParaRPr lang="en-US" sz="1050" dirty="0"/>
          </a:p>
        </p:txBody>
      </p:sp>
      <p:sp>
        <p:nvSpPr>
          <p:cNvPr id="24" name="Text 22"/>
          <p:cNvSpPr/>
          <p:nvPr/>
        </p:nvSpPr>
        <p:spPr>
          <a:xfrm>
            <a:off x="1097280" y="4892040"/>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Cooling is evaluated at the 95th-percentile measured wall (capped at 2× the mean): the part ejects when its THICKEST section is stiff, so the mean systematically under-times ribs and bosses. And the computed factor is clamped to [0.5×, 2×] of the curated value — physics may move the cycle; a pathological temperature pair may not run away with the cost.</a:t>
            </a:r>
            <a:endParaRPr lang="en-US" sz="79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6B3FA0"/>
                </a:solidFill>
                <a:latin typeface="Calibri" pitchFamily="34" charset="0"/>
                <a:ea typeface="Calibri" pitchFamily="34" charset="-122"/>
                <a:cs typeface="Calibri" pitchFamily="34" charset="-120"/>
              </a:rPr>
              <a:t>THE BUMPER, WORKED THROUGH</a:t>
            </a:r>
            <a:endParaRPr lang="en-US" sz="850" dirty="0"/>
          </a:p>
        </p:txBody>
      </p:sp>
      <p:sp>
        <p:nvSpPr>
          <p:cNvPr id="26" name="Shape 24"/>
          <p:cNvSpPr/>
          <p:nvPr/>
        </p:nvSpPr>
        <p:spPr>
          <a:xfrm>
            <a:off x="7269480" y="1298448"/>
            <a:ext cx="4462272" cy="1810512"/>
          </a:xfrm>
          <a:prstGeom prst="roundRect">
            <a:avLst>
              <a:gd name="adj" fmla="val 4545"/>
            </a:avLst>
          </a:prstGeom>
          <a:solidFill>
            <a:srgbClr val="FFFFFF"/>
          </a:solidFill>
          <a:ln w="12700">
            <a:solidFill>
              <a:srgbClr val="DCE3EE"/>
            </a:solidFill>
            <a:prstDash val="solid"/>
          </a:ln>
        </p:spPr>
      </p:sp>
      <p:sp>
        <p:nvSpPr>
          <p:cNvPr id="27" name="Text 25"/>
          <p:cNvSpPr/>
          <p:nvPr/>
        </p:nvSpPr>
        <p:spPr>
          <a:xfrm>
            <a:off x="7452360" y="142646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Resin / temps</a:t>
            </a:r>
            <a:endParaRPr lang="en-US" sz="860" dirty="0"/>
          </a:p>
        </p:txBody>
      </p:sp>
      <p:sp>
        <p:nvSpPr>
          <p:cNvPr id="28" name="Text 26"/>
          <p:cNvSpPr/>
          <p:nvPr/>
        </p:nvSpPr>
        <p:spPr>
          <a:xfrm>
            <a:off x="9098280" y="142646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PP · melt 230 °C · mould 40 °C · eject 85 °C</a:t>
            </a:r>
            <a:endParaRPr lang="en-US" sz="800" dirty="0"/>
          </a:p>
        </p:txBody>
      </p:sp>
      <p:sp>
        <p:nvSpPr>
          <p:cNvPr id="29" name="Text 27"/>
          <p:cNvSpPr/>
          <p:nvPr/>
        </p:nvSpPr>
        <p:spPr>
          <a:xfrm>
            <a:off x="7452360" y="174650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Log term</a:t>
            </a:r>
            <a:endParaRPr lang="en-US" sz="860" dirty="0"/>
          </a:p>
        </p:txBody>
      </p:sp>
      <p:sp>
        <p:nvSpPr>
          <p:cNvPr id="30" name="Text 28"/>
          <p:cNvSpPr/>
          <p:nvPr/>
        </p:nvSpPr>
        <p:spPr>
          <a:xfrm>
            <a:off x="9098280" y="174650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ln(1.273 × 190 ÷ 45) = 1.682</a:t>
            </a:r>
            <a:endParaRPr lang="en-US" sz="800" dirty="0"/>
          </a:p>
        </p:txBody>
      </p:sp>
      <p:sp>
        <p:nvSpPr>
          <p:cNvPr id="31" name="Text 29"/>
          <p:cNvSpPr/>
          <p:nvPr/>
        </p:nvSpPr>
        <p:spPr>
          <a:xfrm>
            <a:off x="7452360" y="206654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α_eff (calibrated)</a:t>
            </a:r>
            <a:endParaRPr lang="en-US" sz="860" dirty="0"/>
          </a:p>
        </p:txBody>
      </p:sp>
      <p:sp>
        <p:nvSpPr>
          <p:cNvPr id="32" name="Text 30"/>
          <p:cNvSpPr/>
          <p:nvPr/>
        </p:nvSpPr>
        <p:spPr>
          <a:xfrm>
            <a:off x="9098280" y="206654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1.682 ÷ (π² × 3.16) = 0.054 mm²/s</a:t>
            </a:r>
            <a:endParaRPr lang="en-US" sz="800" dirty="0"/>
          </a:p>
        </p:txBody>
      </p:sp>
      <p:sp>
        <p:nvSpPr>
          <p:cNvPr id="33" name="Text 31"/>
          <p:cNvSpPr/>
          <p:nvPr/>
        </p:nvSpPr>
        <p:spPr>
          <a:xfrm>
            <a:off x="7452360" y="238658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Factor</a:t>
            </a:r>
            <a:endParaRPr lang="en-US" sz="860" dirty="0"/>
          </a:p>
        </p:txBody>
      </p:sp>
      <p:sp>
        <p:nvSpPr>
          <p:cNvPr id="34" name="Text 32"/>
          <p:cNvSpPr/>
          <p:nvPr/>
        </p:nvSpPr>
        <p:spPr>
          <a:xfrm>
            <a:off x="9098280" y="238658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1.682 ÷ (π² × 0.054) = 3.16 s/mm²</a:t>
            </a:r>
            <a:endParaRPr lang="en-US" sz="800" dirty="0"/>
          </a:p>
        </p:txBody>
      </p:sp>
      <p:sp>
        <p:nvSpPr>
          <p:cNvPr id="35" name="Text 33"/>
          <p:cNvSpPr/>
          <p:nvPr/>
        </p:nvSpPr>
        <p:spPr>
          <a:xfrm>
            <a:off x="7452360" y="270662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Cooling</a:t>
            </a:r>
            <a:endParaRPr lang="en-US" sz="860" dirty="0"/>
          </a:p>
        </p:txBody>
      </p:sp>
      <p:sp>
        <p:nvSpPr>
          <p:cNvPr id="36" name="Text 34"/>
          <p:cNvSpPr/>
          <p:nvPr/>
        </p:nvSpPr>
        <p:spPr>
          <a:xfrm>
            <a:off x="9098280" y="270662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3.16 × (3.0 mm)² = 28.4 s — over half the 55 s cycle</a:t>
            </a:r>
            <a:endParaRPr lang="en-US" sz="800" dirty="0"/>
          </a:p>
        </p:txBody>
      </p:sp>
      <p:sp>
        <p:nvSpPr>
          <p:cNvPr id="37" name="Shape 35"/>
          <p:cNvSpPr/>
          <p:nvPr/>
        </p:nvSpPr>
        <p:spPr>
          <a:xfrm>
            <a:off x="7269480" y="3218688"/>
            <a:ext cx="4462272" cy="804672"/>
          </a:xfrm>
          <a:prstGeom prst="roundRect">
            <a:avLst>
              <a:gd name="adj" fmla="val 10227"/>
            </a:avLst>
          </a:prstGeom>
          <a:solidFill>
            <a:srgbClr val="FFFFFF"/>
          </a:solidFill>
          <a:ln w="12700">
            <a:solidFill>
              <a:srgbClr val="DCE3EE"/>
            </a:solidFill>
            <a:prstDash val="solid"/>
          </a:ln>
        </p:spPr>
      </p:sp>
      <p:sp>
        <p:nvSpPr>
          <p:cNvPr id="38" name="Shape 36"/>
          <p:cNvSpPr/>
          <p:nvPr/>
        </p:nvSpPr>
        <p:spPr>
          <a:xfrm>
            <a:off x="7397496" y="3319272"/>
            <a:ext cx="310896" cy="310896"/>
          </a:xfrm>
          <a:prstGeom prst="ellipse">
            <a:avLst/>
          </a:prstGeom>
          <a:solidFill>
            <a:srgbClr val="2E8B57"/>
          </a:solidFill>
          <a:ln/>
        </p:spPr>
      </p:sp>
      <p:pic>
        <p:nvPicPr>
          <p:cNvPr id="39" name="Image 0" descr="preencoded.png">    </p:cNvPr>
          <p:cNvPicPr>
            <a:picLocks noChangeAspect="1"/>
          </p:cNvPicPr>
          <p:nvPr/>
        </p:nvPicPr>
        <p:blipFill>
          <a:blip r:embed="rId1"/>
          <a:stretch>
            <a:fillRect/>
          </a:stretch>
        </p:blipFill>
        <p:spPr>
          <a:xfrm>
            <a:off x="7470648" y="3392424"/>
            <a:ext cx="164592" cy="164592"/>
          </a:xfrm>
          <a:prstGeom prst="rect">
            <a:avLst/>
          </a:prstGeom>
        </p:spPr>
      </p:pic>
      <p:sp>
        <p:nvSpPr>
          <p:cNvPr id="40" name="Text 37"/>
          <p:cNvSpPr/>
          <p:nvPr/>
        </p:nvSpPr>
        <p:spPr>
          <a:xfrm>
            <a:off x="7790688" y="3291840"/>
            <a:ext cx="388620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Same price, honest provenance</a:t>
            </a:r>
            <a:endParaRPr lang="en-US" sz="950" dirty="0"/>
          </a:p>
        </p:txBody>
      </p:sp>
      <p:sp>
        <p:nvSpPr>
          <p:cNvPr id="41" name="Text 38"/>
          <p:cNvSpPr/>
          <p:nvPr/>
        </p:nvSpPr>
        <p:spPr>
          <a:xfrm>
            <a:off x="7790688" y="3502152"/>
            <a:ext cx="3858768" cy="502920"/>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At reference temperatures the closed form reproduces the curated industry factor exactly, so adopting the physics moved NO estimate. What changed: the trace now shows α_eff, all three temperatures and the log term instead of one bare constant.</a:t>
            </a:r>
            <a:endParaRPr lang="en-US" sz="770" dirty="0"/>
          </a:p>
        </p:txBody>
      </p:sp>
      <p:sp>
        <p:nvSpPr>
          <p:cNvPr id="42" name="Shape 39"/>
          <p:cNvSpPr/>
          <p:nvPr/>
        </p:nvSpPr>
        <p:spPr>
          <a:xfrm>
            <a:off x="7269480" y="4105656"/>
            <a:ext cx="4462272" cy="804672"/>
          </a:xfrm>
          <a:prstGeom prst="roundRect">
            <a:avLst>
              <a:gd name="adj" fmla="val 10227"/>
            </a:avLst>
          </a:prstGeom>
          <a:solidFill>
            <a:srgbClr val="FFFFFF"/>
          </a:solidFill>
          <a:ln w="12700">
            <a:solidFill>
              <a:srgbClr val="DCE3EE"/>
            </a:solidFill>
            <a:prstDash val="solid"/>
          </a:ln>
        </p:spPr>
      </p:sp>
      <p:sp>
        <p:nvSpPr>
          <p:cNvPr id="43" name="Shape 40"/>
          <p:cNvSpPr/>
          <p:nvPr/>
        </p:nvSpPr>
        <p:spPr>
          <a:xfrm>
            <a:off x="7397496" y="4206240"/>
            <a:ext cx="310896" cy="310896"/>
          </a:xfrm>
          <a:prstGeom prst="ellipse">
            <a:avLst/>
          </a:prstGeom>
          <a:solidFill>
            <a:srgbClr val="6B3FA0"/>
          </a:solidFill>
          <a:ln/>
        </p:spPr>
      </p:sp>
      <p:pic>
        <p:nvPicPr>
          <p:cNvPr id="44" name="Image 1" descr="preencoded.png">    </p:cNvPr>
          <p:cNvPicPr>
            <a:picLocks noChangeAspect="1"/>
          </p:cNvPicPr>
          <p:nvPr/>
        </p:nvPicPr>
        <p:blipFill>
          <a:blip r:embed="rId2"/>
          <a:stretch>
            <a:fillRect/>
          </a:stretch>
        </p:blipFill>
        <p:spPr>
          <a:xfrm>
            <a:off x="7470648" y="4279392"/>
            <a:ext cx="164592" cy="164592"/>
          </a:xfrm>
          <a:prstGeom prst="rect">
            <a:avLst/>
          </a:prstGeom>
        </p:spPr>
      </p:pic>
      <p:sp>
        <p:nvSpPr>
          <p:cNvPr id="45" name="Text 41"/>
          <p:cNvSpPr/>
          <p:nvPr/>
        </p:nvSpPr>
        <p:spPr>
          <a:xfrm>
            <a:off x="7790688" y="4178808"/>
            <a:ext cx="3886200" cy="201168"/>
          </a:xfrm>
          <a:prstGeom prst="rect">
            <a:avLst/>
          </a:prstGeom>
          <a:noFill/>
          <a:ln/>
        </p:spPr>
        <p:txBody>
          <a:bodyPr wrap="square" lIns="0" tIns="0" rIns="0" bIns="0" rtlCol="0" anchor="ctr"/>
          <a:lstStyle/>
          <a:p>
            <a:pPr indent="0" marL="0">
              <a:buNone/>
            </a:pPr>
            <a:r>
              <a:rPr lang="en-US" sz="950" b="1" dirty="0">
                <a:solidFill>
                  <a:srgbClr val="6B3FA0"/>
                </a:solidFill>
                <a:latin typeface="Calibri" pitchFamily="34" charset="0"/>
                <a:ea typeface="Calibri" pitchFamily="34" charset="-122"/>
                <a:cs typeface="Calibri" pitchFamily="34" charset="-120"/>
              </a:rPr>
              <a:t>A lever a constant could never price</a:t>
            </a:r>
            <a:endParaRPr lang="en-US" sz="950" dirty="0"/>
          </a:p>
        </p:txBody>
      </p:sp>
      <p:sp>
        <p:nvSpPr>
          <p:cNvPr id="46" name="Text 42"/>
          <p:cNvSpPr/>
          <p:nvPr/>
        </p:nvSpPr>
        <p:spPr>
          <a:xfrm>
            <a:off x="7790688" y="4389120"/>
            <a:ext cx="3858768" cy="502920"/>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Run the mould at 20 °C instead of 40 °C and the factor follows the law: ln(1.273 × 210/65) = 1.414 → 2.66 s/mm² → cooling 23.9 s, 4.5 s off every shot. A curated constant cannot answer that question; the formula prices it.</a:t>
            </a:r>
            <a:endParaRPr lang="en-US" sz="770" dirty="0"/>
          </a:p>
        </p:txBody>
      </p:sp>
      <p:sp>
        <p:nvSpPr>
          <p:cNvPr id="47" name="Shape 43"/>
          <p:cNvSpPr/>
          <p:nvPr/>
        </p:nvSpPr>
        <p:spPr>
          <a:xfrm>
            <a:off x="7269480" y="4992624"/>
            <a:ext cx="4462272" cy="804672"/>
          </a:xfrm>
          <a:prstGeom prst="roundRect">
            <a:avLst>
              <a:gd name="adj" fmla="val 10227"/>
            </a:avLst>
          </a:prstGeom>
          <a:solidFill>
            <a:srgbClr val="FFFFFF"/>
          </a:solidFill>
          <a:ln w="12700">
            <a:solidFill>
              <a:srgbClr val="DCE3EE"/>
            </a:solidFill>
            <a:prstDash val="solid"/>
          </a:ln>
        </p:spPr>
      </p:sp>
      <p:sp>
        <p:nvSpPr>
          <p:cNvPr id="48" name="Shape 44"/>
          <p:cNvSpPr/>
          <p:nvPr/>
        </p:nvSpPr>
        <p:spPr>
          <a:xfrm>
            <a:off x="7397496" y="5093208"/>
            <a:ext cx="310896" cy="310896"/>
          </a:xfrm>
          <a:prstGeom prst="ellipse">
            <a:avLst/>
          </a:prstGeom>
          <a:solidFill>
            <a:srgbClr val="0E8074"/>
          </a:solidFill>
          <a:ln/>
        </p:spPr>
      </p:sp>
      <p:pic>
        <p:nvPicPr>
          <p:cNvPr id="49" name="Image 2" descr="preencoded.png">    </p:cNvPr>
          <p:cNvPicPr>
            <a:picLocks noChangeAspect="1"/>
          </p:cNvPicPr>
          <p:nvPr/>
        </p:nvPicPr>
        <p:blipFill>
          <a:blip r:embed="rId3"/>
          <a:stretch>
            <a:fillRect/>
          </a:stretch>
        </p:blipFill>
        <p:spPr>
          <a:xfrm>
            <a:off x="7470648" y="5166360"/>
            <a:ext cx="164592" cy="164592"/>
          </a:xfrm>
          <a:prstGeom prst="rect">
            <a:avLst/>
          </a:prstGeom>
        </p:spPr>
      </p:pic>
      <p:sp>
        <p:nvSpPr>
          <p:cNvPr id="50" name="Text 45"/>
          <p:cNvSpPr/>
          <p:nvPr/>
        </p:nvSpPr>
        <p:spPr>
          <a:xfrm>
            <a:off x="7790688" y="5065776"/>
            <a:ext cx="388620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The design lever, quantified</a:t>
            </a:r>
            <a:endParaRPr lang="en-US" sz="950" dirty="0"/>
          </a:p>
        </p:txBody>
      </p:sp>
      <p:sp>
        <p:nvSpPr>
          <p:cNvPr id="51" name="Text 46"/>
          <p:cNvSpPr/>
          <p:nvPr/>
        </p:nvSpPr>
        <p:spPr>
          <a:xfrm>
            <a:off x="7790688" y="5276088"/>
            <a:ext cx="3858768" cy="502920"/>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Wall enters squared: 3.0 mm → 2.5 mm takes cooling from 28.4 s to 19.8 s — nearly 9 s off every shot, £1.11 off the UK part. A design decision, priced before anyone tools anything.</a:t>
            </a:r>
            <a:endParaRPr lang="en-US" sz="770" dirty="0"/>
          </a:p>
        </p:txBody>
      </p:sp>
      <p:sp>
        <p:nvSpPr>
          <p:cNvPr id="52" name="Shape 47"/>
          <p:cNvSpPr/>
          <p:nvPr/>
        </p:nvSpPr>
        <p:spPr>
          <a:xfrm>
            <a:off x="457200" y="5870448"/>
            <a:ext cx="11274552" cy="502920"/>
          </a:xfrm>
          <a:prstGeom prst="roundRect">
            <a:avLst>
              <a:gd name="adj" fmla="val 14545"/>
            </a:avLst>
          </a:prstGeom>
          <a:solidFill>
            <a:srgbClr val="F3EFFA"/>
          </a:solidFill>
          <a:ln w="12700">
            <a:solidFill>
              <a:srgbClr val="6B3FA0"/>
            </a:solidFill>
            <a:prstDash val="solid"/>
          </a:ln>
        </p:spPr>
      </p:sp>
      <p:sp>
        <p:nvSpPr>
          <p:cNvPr id="53" name="Text 48"/>
          <p:cNvSpPr/>
          <p:nvPr/>
        </p:nvSpPr>
        <p:spPr>
          <a:xfrm>
            <a:off x="621792" y="5870448"/>
            <a:ext cx="10972800" cy="502920"/>
          </a:xfrm>
          <a:prstGeom prst="rect">
            <a:avLst/>
          </a:prstGeom>
          <a:noFill/>
          <a:ln/>
        </p:spPr>
        <p:txBody>
          <a:bodyPr wrap="square" lIns="0" tIns="0" rIns="0" bIns="0" rtlCol="0" anchor="ctr"/>
          <a:lstStyle/>
          <a:p>
            <a:pPr indent="0" marL="0">
              <a:buNone/>
            </a:pPr>
            <a:r>
              <a:rPr lang="en-US" sz="960" b="1" dirty="0">
                <a:solidFill>
                  <a:srgbClr val="6B3FA0"/>
                </a:solidFill>
                <a:latin typeface="Calibri" pitchFamily="34" charset="0"/>
                <a:ea typeface="Calibri" pitchFamily="34" charset="-122"/>
                <a:cs typeface="Calibri" pitchFamily="34" charset="-120"/>
              </a:rPr>
              <a:t>Read it in one line:  </a:t>
            </a:r>
            <a:pPr indent="0" marL="0">
              <a:buNone/>
            </a:pPr>
            <a:r>
              <a:rPr lang="en-US" sz="960" dirty="0">
                <a:solidFill>
                  <a:srgbClr val="3A4356"/>
                </a:solidFill>
                <a:latin typeface="Calibri" pitchFamily="34" charset="0"/>
                <a:ea typeface="Calibri" pitchFamily="34" charset="-122"/>
                <a:cs typeface="Calibri" pitchFamily="34" charset="-120"/>
              </a:rPr>
              <a:t>cooling is Fourier’s conduction law with each resin’s real temperatures and a diffusivity calibrated once against industry cycle data — the same number as before at standard conditions, but now every input is on the record and every temperature or wall change is priced by physics.</a:t>
            </a:r>
            <a:endParaRPr lang="en-US" sz="960" dirty="0"/>
          </a:p>
        </p:txBody>
      </p:sp>
      <p:sp>
        <p:nvSpPr>
          <p:cNvPr id="54" name="Text 49"/>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55" name="Text 50"/>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31</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5–7 in Detail · Show Me the Calculation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bumper — how the press is chosen and how every second of the cycle is derived</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32120" cy="3246120"/>
          </a:xfrm>
          <a:prstGeom prst="roundRect">
            <a:avLst>
              <a:gd name="adj" fmla="val 2817"/>
            </a:avLst>
          </a:prstGeom>
          <a:solidFill>
            <a:srgbClr val="E6F4F1"/>
          </a:solidFill>
          <a:ln w="15875">
            <a:solidFill>
              <a:srgbClr val="0E8074"/>
            </a:solidFill>
            <a:prstDash val="solid"/>
          </a:ln>
        </p:spPr>
      </p:sp>
      <p:sp>
        <p:nvSpPr>
          <p:cNvPr id="8" name="Text 6"/>
          <p:cNvSpPr/>
          <p:nvPr/>
        </p:nvSpPr>
        <p:spPr>
          <a:xfrm>
            <a:off x="685800" y="1298448"/>
            <a:ext cx="5074920" cy="237744"/>
          </a:xfrm>
          <a:prstGeom prst="rect">
            <a:avLst/>
          </a:prstGeom>
          <a:noFill/>
          <a:ln/>
        </p:spPr>
        <p:txBody>
          <a:bodyPr wrap="square" lIns="0" tIns="0" rIns="0" bIns="0" rtlCol="0" anchor="ctr"/>
          <a:lstStyle/>
          <a:p>
            <a:pPr indent="0" marL="0">
              <a:buNone/>
            </a:pPr>
            <a:r>
              <a:rPr lang="en-US" sz="1050" b="1" spc="50" kern="0" dirty="0">
                <a:solidFill>
                  <a:srgbClr val="0E8074"/>
                </a:solidFill>
                <a:latin typeface="Calibri" pitchFamily="34" charset="0"/>
                <a:ea typeface="Calibri" pitchFamily="34" charset="-122"/>
                <a:cs typeface="Calibri" pitchFamily="34" charset="-120"/>
              </a:rPr>
              <a:t>A · WHICH PRESS — clamp force from the measured shadow</a:t>
            </a:r>
            <a:endParaRPr lang="en-US" sz="1050" dirty="0"/>
          </a:p>
        </p:txBody>
      </p:sp>
      <p:sp>
        <p:nvSpPr>
          <p:cNvPr id="9" name="Text 7"/>
          <p:cNvSpPr/>
          <p:nvPr/>
        </p:nvSpPr>
        <p:spPr>
          <a:xfrm>
            <a:off x="685800" y="159105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Projected shadow, measured off the CAD</a:t>
            </a:r>
            <a:endParaRPr lang="en-US" sz="1020" dirty="0"/>
          </a:p>
        </p:txBody>
      </p:sp>
      <p:sp>
        <p:nvSpPr>
          <p:cNvPr id="10" name="Text 8"/>
          <p:cNvSpPr/>
          <p:nvPr/>
        </p:nvSpPr>
        <p:spPr>
          <a:xfrm>
            <a:off x="4297680" y="159105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9,900 cm²</a:t>
            </a:r>
            <a:endParaRPr lang="en-US" sz="1020" dirty="0"/>
          </a:p>
        </p:txBody>
      </p:sp>
      <p:sp>
        <p:nvSpPr>
          <p:cNvPr id="11" name="Text 9"/>
          <p:cNvSpPr/>
          <p:nvPr/>
        </p:nvSpPr>
        <p:spPr>
          <a:xfrm>
            <a:off x="685800" y="186537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cavity pressure, thin-wall PP</a:t>
            </a:r>
            <a:endParaRPr lang="en-US" sz="1020" dirty="0"/>
          </a:p>
        </p:txBody>
      </p:sp>
      <p:sp>
        <p:nvSpPr>
          <p:cNvPr id="12" name="Text 10"/>
          <p:cNvSpPr/>
          <p:nvPr/>
        </p:nvSpPr>
        <p:spPr>
          <a:xfrm>
            <a:off x="4297680" y="186537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25 MPa</a:t>
            </a:r>
            <a:endParaRPr lang="en-US" sz="1020" dirty="0"/>
          </a:p>
        </p:txBody>
      </p:sp>
      <p:sp>
        <p:nvSpPr>
          <p:cNvPr id="13" name="Text 11"/>
          <p:cNvSpPr/>
          <p:nvPr/>
        </p:nvSpPr>
        <p:spPr>
          <a:xfrm>
            <a:off x="685800" y="213969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force trying to blow the mould open</a:t>
            </a:r>
            <a:endParaRPr lang="en-US" sz="1020" dirty="0"/>
          </a:p>
        </p:txBody>
      </p:sp>
      <p:sp>
        <p:nvSpPr>
          <p:cNvPr id="14" name="Text 12"/>
          <p:cNvSpPr/>
          <p:nvPr/>
        </p:nvSpPr>
        <p:spPr>
          <a:xfrm>
            <a:off x="4297680" y="213969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2,524 t</a:t>
            </a:r>
            <a:endParaRPr lang="en-US" sz="1020" dirty="0"/>
          </a:p>
        </p:txBody>
      </p:sp>
      <p:sp>
        <p:nvSpPr>
          <p:cNvPr id="15" name="Text 13"/>
          <p:cNvSpPr/>
          <p:nvPr/>
        </p:nvSpPr>
        <p:spPr>
          <a:xfrm>
            <a:off x="685800" y="2414016"/>
            <a:ext cx="3703320" cy="274320"/>
          </a:xfrm>
          <a:prstGeom prst="rect">
            <a:avLst/>
          </a:prstGeom>
          <a:noFill/>
          <a:ln/>
        </p:spPr>
        <p:txBody>
          <a:bodyPr wrap="square" lIns="0" tIns="0" rIns="0" bIns="0" rtlCol="0" anchor="ctr"/>
          <a:lstStyle/>
          <a:p>
            <a:pPr indent="0" marL="0">
              <a:buNone/>
            </a:pPr>
            <a:r>
              <a:rPr lang="en-US" sz="1020" b="1" dirty="0">
                <a:solidFill>
                  <a:srgbClr val="16325C"/>
                </a:solidFill>
                <a:latin typeface="Calibri" pitchFamily="34" charset="0"/>
                <a:ea typeface="Calibri" pitchFamily="34" charset="-122"/>
                <a:cs typeface="Calibri" pitchFamily="34" charset="-120"/>
              </a:rPr>
              <a:t>× 1.15 safety factor (engine constant)</a:t>
            </a:r>
            <a:endParaRPr lang="en-US" sz="1020" dirty="0"/>
          </a:p>
        </p:txBody>
      </p:sp>
      <p:sp>
        <p:nvSpPr>
          <p:cNvPr id="16" name="Text 14"/>
          <p:cNvSpPr/>
          <p:nvPr/>
        </p:nvSpPr>
        <p:spPr>
          <a:xfrm>
            <a:off x="4297680" y="2414016"/>
            <a:ext cx="1463040" cy="274320"/>
          </a:xfrm>
          <a:prstGeom prst="rect">
            <a:avLst/>
          </a:prstGeom>
          <a:noFill/>
          <a:ln/>
        </p:spPr>
        <p:txBody>
          <a:bodyPr wrap="square" lIns="0" tIns="0" rIns="0" bIns="0" rtlCol="0" anchor="ctr"/>
          <a:lstStyle/>
          <a:p>
            <a:pPr algn="r" indent="0" marL="0">
              <a:buNone/>
            </a:pPr>
            <a:r>
              <a:rPr lang="en-US" sz="1020" b="1" dirty="0">
                <a:solidFill>
                  <a:srgbClr val="0E8074"/>
                </a:solidFill>
                <a:latin typeface="Calibri" pitchFamily="34" charset="0"/>
                <a:ea typeface="Calibri" pitchFamily="34" charset="-122"/>
                <a:cs typeface="Calibri" pitchFamily="34" charset="-120"/>
              </a:rPr>
              <a:t>2,902 t</a:t>
            </a:r>
            <a:endParaRPr lang="en-US" sz="1020" dirty="0"/>
          </a:p>
        </p:txBody>
      </p:sp>
      <p:sp>
        <p:nvSpPr>
          <p:cNvPr id="17" name="Text 15"/>
          <p:cNvSpPr/>
          <p:nvPr/>
        </p:nvSpPr>
        <p:spPr>
          <a:xfrm>
            <a:off x="685800" y="2779776"/>
            <a:ext cx="5074920" cy="219456"/>
          </a:xfrm>
          <a:prstGeom prst="rect">
            <a:avLst/>
          </a:prstGeom>
          <a:noFill/>
          <a:ln/>
        </p:spPr>
        <p:txBody>
          <a:bodyPr wrap="square" lIns="0" tIns="0" rIns="0" bIns="0" rtlCol="0" anchor="ctr"/>
          <a:lstStyle/>
          <a:p>
            <a:pPr indent="0" marL="0">
              <a:buNone/>
            </a:pPr>
            <a:r>
              <a:rPr lang="en-US" sz="900" b="1" i="1" dirty="0">
                <a:solidFill>
                  <a:srgbClr val="6B7280"/>
                </a:solidFill>
                <a:latin typeface="Calibri" pitchFamily="34" charset="0"/>
                <a:ea typeface="Calibri" pitchFamily="34" charset="-122"/>
                <a:cs typeface="Calibri" pitchFamily="34" charset="-120"/>
              </a:rPr>
              <a:t>Then the ladder — smallest machine that covers it</a:t>
            </a:r>
            <a:endParaRPr lang="en-US" sz="900" dirty="0"/>
          </a:p>
        </p:txBody>
      </p:sp>
      <p:sp>
        <p:nvSpPr>
          <p:cNvPr id="18" name="Text 16"/>
          <p:cNvSpPr/>
          <p:nvPr/>
        </p:nvSpPr>
        <p:spPr>
          <a:xfrm>
            <a:off x="804672" y="3017520"/>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800 t</a:t>
            </a:r>
            <a:endParaRPr lang="en-US" sz="1000" dirty="0"/>
          </a:p>
        </p:txBody>
      </p:sp>
      <p:sp>
        <p:nvSpPr>
          <p:cNvPr id="19" name="Text 17"/>
          <p:cNvSpPr/>
          <p:nvPr/>
        </p:nvSpPr>
        <p:spPr>
          <a:xfrm>
            <a:off x="1920240" y="3017520"/>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£78.13/hr</a:t>
            </a:r>
            <a:endParaRPr lang="en-US" sz="1000" dirty="0"/>
          </a:p>
        </p:txBody>
      </p:sp>
      <p:sp>
        <p:nvSpPr>
          <p:cNvPr id="20" name="Text 18"/>
          <p:cNvSpPr/>
          <p:nvPr/>
        </p:nvSpPr>
        <p:spPr>
          <a:xfrm>
            <a:off x="3337560" y="3017520"/>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1" name="Text 19"/>
          <p:cNvSpPr/>
          <p:nvPr/>
        </p:nvSpPr>
        <p:spPr>
          <a:xfrm>
            <a:off x="804672" y="3300984"/>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1,200 t</a:t>
            </a:r>
            <a:endParaRPr lang="en-US" sz="1000" dirty="0"/>
          </a:p>
        </p:txBody>
      </p:sp>
      <p:sp>
        <p:nvSpPr>
          <p:cNvPr id="22" name="Text 20"/>
          <p:cNvSpPr/>
          <p:nvPr/>
        </p:nvSpPr>
        <p:spPr>
          <a:xfrm>
            <a:off x="1920240" y="3300984"/>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£111.70/hr</a:t>
            </a:r>
            <a:endParaRPr lang="en-US" sz="1000" dirty="0"/>
          </a:p>
        </p:txBody>
      </p:sp>
      <p:sp>
        <p:nvSpPr>
          <p:cNvPr id="23" name="Text 21"/>
          <p:cNvSpPr/>
          <p:nvPr/>
        </p:nvSpPr>
        <p:spPr>
          <a:xfrm>
            <a:off x="3337560" y="3300984"/>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4" name="Text 22"/>
          <p:cNvSpPr/>
          <p:nvPr/>
        </p:nvSpPr>
        <p:spPr>
          <a:xfrm>
            <a:off x="804672" y="3584448"/>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2,000 t</a:t>
            </a:r>
            <a:endParaRPr lang="en-US" sz="1000" dirty="0"/>
          </a:p>
        </p:txBody>
      </p:sp>
      <p:sp>
        <p:nvSpPr>
          <p:cNvPr id="25" name="Text 23"/>
          <p:cNvSpPr/>
          <p:nvPr/>
        </p:nvSpPr>
        <p:spPr>
          <a:xfrm>
            <a:off x="1920240" y="3584448"/>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£178.54/hr</a:t>
            </a:r>
            <a:endParaRPr lang="en-US" sz="1000" dirty="0"/>
          </a:p>
        </p:txBody>
      </p:sp>
      <p:sp>
        <p:nvSpPr>
          <p:cNvPr id="26" name="Text 24"/>
          <p:cNvSpPr/>
          <p:nvPr/>
        </p:nvSpPr>
        <p:spPr>
          <a:xfrm>
            <a:off x="3337560" y="3584448"/>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7" name="Shape 25"/>
          <p:cNvSpPr/>
          <p:nvPr/>
        </p:nvSpPr>
        <p:spPr>
          <a:xfrm>
            <a:off x="640080" y="3840480"/>
            <a:ext cx="5148072" cy="301752"/>
          </a:xfrm>
          <a:prstGeom prst="roundRect">
            <a:avLst>
              <a:gd name="adj" fmla="val 18182"/>
            </a:avLst>
          </a:prstGeom>
          <a:solidFill>
            <a:srgbClr val="FFFFFF"/>
          </a:solidFill>
          <a:ln w="15875">
            <a:solidFill>
              <a:srgbClr val="0E8074"/>
            </a:solidFill>
            <a:prstDash val="solid"/>
          </a:ln>
        </p:spPr>
      </p:sp>
      <p:sp>
        <p:nvSpPr>
          <p:cNvPr id="28" name="Text 26"/>
          <p:cNvSpPr/>
          <p:nvPr/>
        </p:nvSpPr>
        <p:spPr>
          <a:xfrm>
            <a:off x="804672" y="3867912"/>
            <a:ext cx="1097280" cy="256032"/>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3,500 t</a:t>
            </a:r>
            <a:endParaRPr lang="en-US" sz="1000" dirty="0"/>
          </a:p>
        </p:txBody>
      </p:sp>
      <p:sp>
        <p:nvSpPr>
          <p:cNvPr id="29" name="Text 27"/>
          <p:cNvSpPr/>
          <p:nvPr/>
        </p:nvSpPr>
        <p:spPr>
          <a:xfrm>
            <a:off x="1920240" y="3867912"/>
            <a:ext cx="1280160" cy="256032"/>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£306.12/hr</a:t>
            </a:r>
            <a:endParaRPr lang="en-US" sz="1000" dirty="0"/>
          </a:p>
        </p:txBody>
      </p:sp>
      <p:sp>
        <p:nvSpPr>
          <p:cNvPr id="30" name="Text 28"/>
          <p:cNvSpPr/>
          <p:nvPr/>
        </p:nvSpPr>
        <p:spPr>
          <a:xfrm>
            <a:off x="3337560" y="3867912"/>
            <a:ext cx="2423160" cy="256032"/>
          </a:xfrm>
          <a:prstGeom prst="rect">
            <a:avLst/>
          </a:prstGeom>
          <a:noFill/>
          <a:ln/>
        </p:spPr>
        <p:txBody>
          <a:bodyPr wrap="square" lIns="0" tIns="0" rIns="0" bIns="0" rtlCol="0" anchor="ctr"/>
          <a:lstStyle/>
          <a:p>
            <a:pPr indent="0" marL="0">
              <a:buNone/>
            </a:pPr>
            <a:r>
              <a:rPr lang="en-US" sz="880" b="1" dirty="0">
                <a:solidFill>
                  <a:srgbClr val="0E8074"/>
                </a:solidFill>
                <a:latin typeface="Calibri" pitchFamily="34" charset="0"/>
                <a:ea typeface="Calibri" pitchFamily="34" charset="-122"/>
                <a:cs typeface="Calibri" pitchFamily="34" charset="-120"/>
              </a:rPr>
              <a:t>CHOSEN</a:t>
            </a:r>
            <a:endParaRPr lang="en-US" sz="880" dirty="0"/>
          </a:p>
        </p:txBody>
      </p:sp>
      <p:sp>
        <p:nvSpPr>
          <p:cNvPr id="31" name="Text 29"/>
          <p:cNvSpPr/>
          <p:nvPr/>
        </p:nvSpPr>
        <p:spPr>
          <a:xfrm>
            <a:off x="685800" y="4151376"/>
            <a:ext cx="5074920" cy="237744"/>
          </a:xfrm>
          <a:prstGeom prst="rect">
            <a:avLst/>
          </a:prstGeom>
          <a:noFill/>
          <a:ln/>
        </p:spPr>
        <p:txBody>
          <a:bodyPr wrap="square" lIns="0" tIns="0" rIns="0" bIns="0" rtlCol="0" anchor="ctr"/>
          <a:lstStyle/>
          <a:p>
            <a:pPr indent="0" marL="0">
              <a:buNone/>
            </a:pPr>
            <a:r>
              <a:rPr lang="en-US" sz="860" i="1" dirty="0">
                <a:solidFill>
                  <a:srgbClr val="6B7280"/>
                </a:solidFill>
                <a:latin typeface="Calibri" pitchFamily="34" charset="0"/>
                <a:ea typeface="Calibri" pitchFamily="34" charset="-122"/>
                <a:cs typeface="Calibri" pitchFamily="34" charset="-120"/>
              </a:rPr>
              <a:t>Same physics as the die-casting slide — different commodity, identical rule and code path.</a:t>
            </a:r>
            <a:endParaRPr lang="en-US" sz="860" dirty="0"/>
          </a:p>
        </p:txBody>
      </p:sp>
      <p:sp>
        <p:nvSpPr>
          <p:cNvPr id="32" name="Shape 30"/>
          <p:cNvSpPr/>
          <p:nvPr/>
        </p:nvSpPr>
        <p:spPr>
          <a:xfrm>
            <a:off x="6199632" y="1188720"/>
            <a:ext cx="5532120" cy="3246120"/>
          </a:xfrm>
          <a:prstGeom prst="roundRect">
            <a:avLst>
              <a:gd name="adj" fmla="val 2817"/>
            </a:avLst>
          </a:prstGeom>
          <a:solidFill>
            <a:srgbClr val="FFFFFF"/>
          </a:solidFill>
          <a:ln w="12700">
            <a:solidFill>
              <a:srgbClr val="DCE3EE"/>
            </a:solidFill>
            <a:prstDash val="solid"/>
          </a:ln>
        </p:spPr>
      </p:sp>
      <p:sp>
        <p:nvSpPr>
          <p:cNvPr id="33" name="Text 31"/>
          <p:cNvSpPr/>
          <p:nvPr/>
        </p:nvSpPr>
        <p:spPr>
          <a:xfrm>
            <a:off x="6428232" y="1298448"/>
            <a:ext cx="50292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B · WHERE THE 55 SECONDS COME FROM</a:t>
            </a:r>
            <a:endParaRPr lang="en-US" sz="1050" dirty="0"/>
          </a:p>
        </p:txBody>
      </p:sp>
      <p:sp>
        <p:nvSpPr>
          <p:cNvPr id="34" name="Text 32"/>
          <p:cNvSpPr/>
          <p:nvPr/>
        </p:nvSpPr>
        <p:spPr>
          <a:xfrm>
            <a:off x="6428232" y="1627632"/>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Fill the cavity</a:t>
            </a:r>
            <a:endParaRPr lang="en-US" sz="960" dirty="0"/>
          </a:p>
        </p:txBody>
      </p:sp>
      <p:sp>
        <p:nvSpPr>
          <p:cNvPr id="35" name="Text 33"/>
          <p:cNvSpPr/>
          <p:nvPr/>
        </p:nvSpPr>
        <p:spPr>
          <a:xfrm>
            <a:off x="9372600" y="1627632"/>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process input</a:t>
            </a:r>
            <a:endParaRPr lang="en-US" sz="800" dirty="0"/>
          </a:p>
        </p:txBody>
      </p:sp>
      <p:sp>
        <p:nvSpPr>
          <p:cNvPr id="36" name="Text 34"/>
          <p:cNvSpPr/>
          <p:nvPr/>
        </p:nvSpPr>
        <p:spPr>
          <a:xfrm>
            <a:off x="10652760" y="1627632"/>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4.50 s</a:t>
            </a:r>
            <a:endParaRPr lang="en-US" sz="980" dirty="0"/>
          </a:p>
        </p:txBody>
      </p:sp>
      <p:sp>
        <p:nvSpPr>
          <p:cNvPr id="37" name="Text 35"/>
          <p:cNvSpPr/>
          <p:nvPr/>
        </p:nvSpPr>
        <p:spPr>
          <a:xfrm>
            <a:off x="6428232" y="1920240"/>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Pack and hold under pressure</a:t>
            </a:r>
            <a:endParaRPr lang="en-US" sz="960" dirty="0"/>
          </a:p>
        </p:txBody>
      </p:sp>
      <p:sp>
        <p:nvSpPr>
          <p:cNvPr id="38" name="Text 36"/>
          <p:cNvSpPr/>
          <p:nvPr/>
        </p:nvSpPr>
        <p:spPr>
          <a:xfrm>
            <a:off x="9372600" y="1920240"/>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process input</a:t>
            </a:r>
            <a:endParaRPr lang="en-US" sz="800" dirty="0"/>
          </a:p>
        </p:txBody>
      </p:sp>
      <p:sp>
        <p:nvSpPr>
          <p:cNvPr id="39" name="Text 37"/>
          <p:cNvSpPr/>
          <p:nvPr/>
        </p:nvSpPr>
        <p:spPr>
          <a:xfrm>
            <a:off x="10652760" y="1920240"/>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12.00 s</a:t>
            </a:r>
            <a:endParaRPr lang="en-US" sz="980" dirty="0"/>
          </a:p>
        </p:txBody>
      </p:sp>
      <p:sp>
        <p:nvSpPr>
          <p:cNvPr id="40" name="Shape 38"/>
          <p:cNvSpPr/>
          <p:nvPr/>
        </p:nvSpPr>
        <p:spPr>
          <a:xfrm>
            <a:off x="6355080" y="2185416"/>
            <a:ext cx="5230368" cy="301752"/>
          </a:xfrm>
          <a:prstGeom prst="roundRect">
            <a:avLst>
              <a:gd name="adj" fmla="val 15152"/>
            </a:avLst>
          </a:prstGeom>
          <a:solidFill>
            <a:srgbClr val="E6F4F1"/>
          </a:solidFill>
          <a:ln/>
        </p:spPr>
      </p:sp>
      <p:sp>
        <p:nvSpPr>
          <p:cNvPr id="41" name="Text 39"/>
          <p:cNvSpPr/>
          <p:nvPr/>
        </p:nvSpPr>
        <p:spPr>
          <a:xfrm>
            <a:off x="6428232" y="2212848"/>
            <a:ext cx="2926080" cy="27432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Cool  =  3.16 × wall²  =  3.16 × 3.0²</a:t>
            </a:r>
            <a:endParaRPr lang="en-US" sz="960" dirty="0"/>
          </a:p>
        </p:txBody>
      </p:sp>
      <p:sp>
        <p:nvSpPr>
          <p:cNvPr id="42" name="Text 40"/>
          <p:cNvSpPr/>
          <p:nvPr/>
        </p:nvSpPr>
        <p:spPr>
          <a:xfrm>
            <a:off x="9372600" y="2212848"/>
            <a:ext cx="1234440" cy="274320"/>
          </a:xfrm>
          <a:prstGeom prst="rect">
            <a:avLst/>
          </a:prstGeom>
          <a:noFill/>
          <a:ln/>
        </p:spPr>
        <p:txBody>
          <a:bodyPr wrap="square" lIns="0" tIns="0" rIns="0" bIns="0" rtlCol="0" anchor="ctr"/>
          <a:lstStyle/>
          <a:p>
            <a:pPr algn="r" indent="0" marL="0">
              <a:buNone/>
            </a:pPr>
            <a:r>
              <a:rPr lang="en-US" sz="800" i="1" dirty="0">
                <a:solidFill>
                  <a:srgbClr val="0E8074"/>
                </a:solidFill>
                <a:latin typeface="Calibri" pitchFamily="34" charset="0"/>
                <a:ea typeface="Calibri" pitchFamily="34" charset="-122"/>
                <a:cs typeface="Calibri" pitchFamily="34" charset="-120"/>
              </a:rPr>
              <a:t>CALCULATED</a:t>
            </a:r>
            <a:endParaRPr lang="en-US" sz="800" dirty="0"/>
          </a:p>
        </p:txBody>
      </p:sp>
      <p:sp>
        <p:nvSpPr>
          <p:cNvPr id="43" name="Text 41"/>
          <p:cNvSpPr/>
          <p:nvPr/>
        </p:nvSpPr>
        <p:spPr>
          <a:xfrm>
            <a:off x="10652760" y="2212848"/>
            <a:ext cx="914400" cy="274320"/>
          </a:xfrm>
          <a:prstGeom prst="rect">
            <a:avLst/>
          </a:prstGeom>
          <a:noFill/>
          <a:ln/>
        </p:spPr>
        <p:txBody>
          <a:bodyPr wrap="square" lIns="0" tIns="0" rIns="0" bIns="0" rtlCol="0" anchor="ctr"/>
          <a:lstStyle/>
          <a:p>
            <a:pPr algn="r" indent="0" marL="0">
              <a:buNone/>
            </a:pPr>
            <a:r>
              <a:rPr lang="en-US" sz="980" b="1" dirty="0">
                <a:solidFill>
                  <a:srgbClr val="0E8074"/>
                </a:solidFill>
                <a:latin typeface="Calibri" pitchFamily="34" charset="0"/>
                <a:ea typeface="Calibri" pitchFamily="34" charset="-122"/>
                <a:cs typeface="Calibri" pitchFamily="34" charset="-120"/>
              </a:rPr>
              <a:t>28.44 s</a:t>
            </a:r>
            <a:endParaRPr lang="en-US" sz="980" dirty="0"/>
          </a:p>
        </p:txBody>
      </p:sp>
      <p:sp>
        <p:nvSpPr>
          <p:cNvPr id="44" name="Text 42"/>
          <p:cNvSpPr/>
          <p:nvPr/>
        </p:nvSpPr>
        <p:spPr>
          <a:xfrm>
            <a:off x="6428232" y="2505456"/>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Open, eject, close</a:t>
            </a:r>
            <a:endParaRPr lang="en-US" sz="960" dirty="0"/>
          </a:p>
        </p:txBody>
      </p:sp>
      <p:sp>
        <p:nvSpPr>
          <p:cNvPr id="45" name="Text 43"/>
          <p:cNvSpPr/>
          <p:nvPr/>
        </p:nvSpPr>
        <p:spPr>
          <a:xfrm>
            <a:off x="9372600" y="2505456"/>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process input</a:t>
            </a:r>
            <a:endParaRPr lang="en-US" sz="800" dirty="0"/>
          </a:p>
        </p:txBody>
      </p:sp>
      <p:sp>
        <p:nvSpPr>
          <p:cNvPr id="46" name="Text 44"/>
          <p:cNvSpPr/>
          <p:nvPr/>
        </p:nvSpPr>
        <p:spPr>
          <a:xfrm>
            <a:off x="10652760" y="2505456"/>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9.00 s</a:t>
            </a:r>
            <a:endParaRPr lang="en-US" sz="980" dirty="0"/>
          </a:p>
        </p:txBody>
      </p:sp>
      <p:sp>
        <p:nvSpPr>
          <p:cNvPr id="47" name="Text 45"/>
          <p:cNvSpPr/>
          <p:nvPr/>
        </p:nvSpPr>
        <p:spPr>
          <a:xfrm>
            <a:off x="6428232" y="2798064"/>
            <a:ext cx="2926080" cy="274320"/>
          </a:xfrm>
          <a:prstGeom prst="rect">
            <a:avLst/>
          </a:prstGeom>
          <a:noFill/>
          <a:ln/>
        </p:spPr>
        <p:txBody>
          <a:bodyPr wrap="square" lIns="0" tIns="0" rIns="0" bIns="0" rtlCol="0" anchor="ctr"/>
          <a:lstStyle/>
          <a:p>
            <a:pPr indent="0" marL="0">
              <a:buNone/>
            </a:pPr>
            <a:r>
              <a:rPr lang="en-US" sz="960" b="1" dirty="0">
                <a:solidFill>
                  <a:srgbClr val="3A4356"/>
                </a:solidFill>
                <a:latin typeface="Calibri" pitchFamily="34" charset="0"/>
                <a:ea typeface="Calibri" pitchFamily="34" charset="-122"/>
                <a:cs typeface="Calibri" pitchFamily="34" charset="-120"/>
              </a:rPr>
              <a:t>Sub-total</a:t>
            </a:r>
            <a:endParaRPr lang="en-US" sz="960" dirty="0"/>
          </a:p>
        </p:txBody>
      </p:sp>
      <p:sp>
        <p:nvSpPr>
          <p:cNvPr id="48" name="Text 46"/>
          <p:cNvSpPr/>
          <p:nvPr/>
        </p:nvSpPr>
        <p:spPr>
          <a:xfrm>
            <a:off x="9372600" y="2798064"/>
            <a:ext cx="1234440" cy="274320"/>
          </a:xfrm>
          <a:prstGeom prst="rect">
            <a:avLst/>
          </a:prstGeom>
          <a:noFill/>
          <a:ln/>
        </p:spPr>
        <p:txBody>
          <a:bodyPr wrap="square" lIns="0" tIns="0" rIns="0" bIns="0" rtlCol="0" anchor="ctr"/>
          <a:lstStyle/>
          <a:p>
            <a:pPr algn="r" indent="0" marL="0">
              <a:buNone/>
            </a:pPr>
            <a:endParaRPr lang="en-US" sz="800" dirty="0"/>
          </a:p>
        </p:txBody>
      </p:sp>
      <p:sp>
        <p:nvSpPr>
          <p:cNvPr id="49" name="Text 47"/>
          <p:cNvSpPr/>
          <p:nvPr/>
        </p:nvSpPr>
        <p:spPr>
          <a:xfrm>
            <a:off x="10652760" y="2798064"/>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53.94 s</a:t>
            </a:r>
            <a:endParaRPr lang="en-US" sz="980" dirty="0"/>
          </a:p>
        </p:txBody>
      </p:sp>
      <p:sp>
        <p:nvSpPr>
          <p:cNvPr id="50" name="Text 48"/>
          <p:cNvSpPr/>
          <p:nvPr/>
        </p:nvSpPr>
        <p:spPr>
          <a:xfrm>
            <a:off x="6428232" y="3090672"/>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1.02 reject uplift</a:t>
            </a:r>
            <a:endParaRPr lang="en-US" sz="960" dirty="0"/>
          </a:p>
        </p:txBody>
      </p:sp>
      <p:sp>
        <p:nvSpPr>
          <p:cNvPr id="51" name="Text 49"/>
          <p:cNvSpPr/>
          <p:nvPr/>
        </p:nvSpPr>
        <p:spPr>
          <a:xfrm>
            <a:off x="9372600" y="3090672"/>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engine rule</a:t>
            </a:r>
            <a:endParaRPr lang="en-US" sz="800" dirty="0"/>
          </a:p>
        </p:txBody>
      </p:sp>
      <p:sp>
        <p:nvSpPr>
          <p:cNvPr id="52" name="Text 50"/>
          <p:cNvSpPr/>
          <p:nvPr/>
        </p:nvSpPr>
        <p:spPr>
          <a:xfrm>
            <a:off x="10652760" y="3090672"/>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55.02 s</a:t>
            </a:r>
            <a:endParaRPr lang="en-US" sz="980" dirty="0"/>
          </a:p>
        </p:txBody>
      </p:sp>
      <p:sp>
        <p:nvSpPr>
          <p:cNvPr id="53" name="Shape 51"/>
          <p:cNvSpPr/>
          <p:nvPr/>
        </p:nvSpPr>
        <p:spPr>
          <a:xfrm>
            <a:off x="6428232" y="3438144"/>
            <a:ext cx="5120640" cy="0"/>
          </a:xfrm>
          <a:prstGeom prst="line">
            <a:avLst/>
          </a:prstGeom>
          <a:noFill/>
          <a:ln w="12700">
            <a:solidFill>
              <a:srgbClr val="DCE3EE"/>
            </a:solidFill>
            <a:prstDash val="solid"/>
          </a:ln>
        </p:spPr>
      </p:sp>
      <p:sp>
        <p:nvSpPr>
          <p:cNvPr id="54" name="Text 52"/>
          <p:cNvSpPr/>
          <p:nvPr/>
        </p:nvSpPr>
        <p:spPr>
          <a:xfrm>
            <a:off x="6428232" y="3529584"/>
            <a:ext cx="5074920" cy="777240"/>
          </a:xfrm>
          <a:prstGeom prst="rect">
            <a:avLst/>
          </a:prstGeom>
          <a:noFill/>
          <a:ln/>
        </p:spPr>
        <p:txBody>
          <a:bodyPr wrap="square" lIns="0" tIns="0" rIns="0" bIns="0" rtlCol="0" anchor="t"/>
          <a:lstStyle/>
          <a:p>
            <a:pPr indent="0" marL="0">
              <a:buNone/>
            </a:pPr>
            <a:r>
              <a:rPr lang="en-US" sz="980" b="1" dirty="0">
                <a:solidFill>
                  <a:srgbClr val="16325C"/>
                </a:solidFill>
                <a:latin typeface="Calibri" pitchFamily="34" charset="0"/>
                <a:ea typeface="Calibri" pitchFamily="34" charset="-122"/>
                <a:cs typeface="Calibri" pitchFamily="34" charset="-120"/>
              </a:rPr>
              <a:t>Cooling is over half the cycle, and it is the one term the engine calculates rather than accepts. </a:t>
            </a:r>
            <a:pPr indent="0" marL="0">
              <a:buNone/>
            </a:pPr>
            <a:r>
              <a:rPr lang="en-US" sz="980" dirty="0">
                <a:solidFill>
                  <a:srgbClr val="3A4356"/>
                </a:solidFill>
                <a:latin typeface="Calibri" pitchFamily="34" charset="0"/>
                <a:ea typeface="Calibri" pitchFamily="34" charset="-122"/>
                <a:cs typeface="Calibri" pitchFamily="34" charset="-120"/>
              </a:rPr>
              <a:t>Wall thickness enters squared, which is why it is the most powerful lever on any moulded part.</a:t>
            </a:r>
            <a:endParaRPr lang="en-US" sz="980" dirty="0"/>
          </a:p>
        </p:txBody>
      </p:sp>
      <p:sp>
        <p:nvSpPr>
          <p:cNvPr id="55" name="Shape 53"/>
          <p:cNvSpPr/>
          <p:nvPr/>
        </p:nvSpPr>
        <p:spPr>
          <a:xfrm>
            <a:off x="457200" y="4590288"/>
            <a:ext cx="11274552" cy="1481328"/>
          </a:xfrm>
          <a:prstGeom prst="roundRect">
            <a:avLst>
              <a:gd name="adj" fmla="val 6173"/>
            </a:avLst>
          </a:prstGeom>
          <a:solidFill>
            <a:srgbClr val="EAF6EF"/>
          </a:solidFill>
          <a:ln w="15875">
            <a:solidFill>
              <a:srgbClr val="2E8B57"/>
            </a:solidFill>
            <a:prstDash val="solid"/>
          </a:ln>
        </p:spPr>
      </p:sp>
      <p:sp>
        <p:nvSpPr>
          <p:cNvPr id="56" name="Text 54"/>
          <p:cNvSpPr/>
          <p:nvPr/>
        </p:nvSpPr>
        <p:spPr>
          <a:xfrm>
            <a:off x="731520" y="4681728"/>
            <a:ext cx="7315200" cy="256032"/>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What that squared term is worth — take 0.5 mm out of the wall</a:t>
            </a:r>
            <a:endParaRPr lang="en-US" sz="1250" dirty="0"/>
          </a:p>
        </p:txBody>
      </p:sp>
      <p:sp>
        <p:nvSpPr>
          <p:cNvPr id="57" name="Text 55"/>
          <p:cNvSpPr/>
          <p:nvPr/>
        </p:nvSpPr>
        <p:spPr>
          <a:xfrm>
            <a:off x="777240" y="4974336"/>
            <a:ext cx="2468880" cy="210312"/>
          </a:xfrm>
          <a:prstGeom prst="rect">
            <a:avLst/>
          </a:prstGeom>
          <a:noFill/>
          <a:ln/>
        </p:spPr>
        <p:txBody>
          <a:bodyPr wrap="square" lIns="0" tIns="0" rIns="0" bIns="0" rtlCol="0" anchor="ctr"/>
          <a:lstStyle/>
          <a:p>
            <a:pPr algn="l" indent="0" marL="0">
              <a:buNone/>
            </a:pPr>
            <a:endParaRPr lang="en-US" sz="840" dirty="0"/>
          </a:p>
        </p:txBody>
      </p:sp>
      <p:sp>
        <p:nvSpPr>
          <p:cNvPr id="58" name="Text 56"/>
          <p:cNvSpPr/>
          <p:nvPr/>
        </p:nvSpPr>
        <p:spPr>
          <a:xfrm>
            <a:off x="3291840" y="4974336"/>
            <a:ext cx="1600200" cy="210312"/>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3.0 mm wall</a:t>
            </a:r>
            <a:endParaRPr lang="en-US" sz="840" dirty="0"/>
          </a:p>
        </p:txBody>
      </p:sp>
      <p:sp>
        <p:nvSpPr>
          <p:cNvPr id="59" name="Text 57"/>
          <p:cNvSpPr/>
          <p:nvPr/>
        </p:nvSpPr>
        <p:spPr>
          <a:xfrm>
            <a:off x="4937760" y="4974336"/>
            <a:ext cx="1600200" cy="210312"/>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2.5 mm wall</a:t>
            </a:r>
            <a:endParaRPr lang="en-US" sz="840" dirty="0"/>
          </a:p>
        </p:txBody>
      </p:sp>
      <p:sp>
        <p:nvSpPr>
          <p:cNvPr id="60" name="Text 58"/>
          <p:cNvSpPr/>
          <p:nvPr/>
        </p:nvSpPr>
        <p:spPr>
          <a:xfrm>
            <a:off x="6583680" y="4974336"/>
            <a:ext cx="1600200" cy="210312"/>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Change</a:t>
            </a:r>
            <a:endParaRPr lang="en-US" sz="840" dirty="0"/>
          </a:p>
        </p:txBody>
      </p:sp>
      <p:sp>
        <p:nvSpPr>
          <p:cNvPr id="61" name="Text 59"/>
          <p:cNvSpPr/>
          <p:nvPr/>
        </p:nvSpPr>
        <p:spPr>
          <a:xfrm>
            <a:off x="777240" y="5184648"/>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Cool time</a:t>
            </a:r>
            <a:endParaRPr lang="en-US" sz="960" dirty="0"/>
          </a:p>
        </p:txBody>
      </p:sp>
      <p:sp>
        <p:nvSpPr>
          <p:cNvPr id="62" name="Text 60"/>
          <p:cNvSpPr/>
          <p:nvPr/>
        </p:nvSpPr>
        <p:spPr>
          <a:xfrm>
            <a:off x="3291840" y="5184648"/>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28.44 s</a:t>
            </a:r>
            <a:endParaRPr lang="en-US" sz="960" dirty="0"/>
          </a:p>
        </p:txBody>
      </p:sp>
      <p:sp>
        <p:nvSpPr>
          <p:cNvPr id="63" name="Text 61"/>
          <p:cNvSpPr/>
          <p:nvPr/>
        </p:nvSpPr>
        <p:spPr>
          <a:xfrm>
            <a:off x="4937760" y="5184648"/>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19.75 s</a:t>
            </a:r>
            <a:endParaRPr lang="en-US" sz="960" dirty="0"/>
          </a:p>
        </p:txBody>
      </p:sp>
      <p:sp>
        <p:nvSpPr>
          <p:cNvPr id="64" name="Text 62"/>
          <p:cNvSpPr/>
          <p:nvPr/>
        </p:nvSpPr>
        <p:spPr>
          <a:xfrm>
            <a:off x="6583680" y="5184648"/>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−8.69 s</a:t>
            </a:r>
            <a:endParaRPr lang="en-US" sz="960" dirty="0"/>
          </a:p>
        </p:txBody>
      </p:sp>
      <p:sp>
        <p:nvSpPr>
          <p:cNvPr id="65" name="Text 63"/>
          <p:cNvSpPr/>
          <p:nvPr/>
        </p:nvSpPr>
        <p:spPr>
          <a:xfrm>
            <a:off x="777240" y="5394960"/>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Total cycle</a:t>
            </a:r>
            <a:endParaRPr lang="en-US" sz="960" dirty="0"/>
          </a:p>
        </p:txBody>
      </p:sp>
      <p:sp>
        <p:nvSpPr>
          <p:cNvPr id="66" name="Text 64"/>
          <p:cNvSpPr/>
          <p:nvPr/>
        </p:nvSpPr>
        <p:spPr>
          <a:xfrm>
            <a:off x="3291840" y="5394960"/>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55.02 s</a:t>
            </a:r>
            <a:endParaRPr lang="en-US" sz="960" dirty="0"/>
          </a:p>
        </p:txBody>
      </p:sp>
      <p:sp>
        <p:nvSpPr>
          <p:cNvPr id="67" name="Text 65"/>
          <p:cNvSpPr/>
          <p:nvPr/>
        </p:nvSpPr>
        <p:spPr>
          <a:xfrm>
            <a:off x="4937760" y="5394960"/>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46.17 s</a:t>
            </a:r>
            <a:endParaRPr lang="en-US" sz="960" dirty="0"/>
          </a:p>
        </p:txBody>
      </p:sp>
      <p:sp>
        <p:nvSpPr>
          <p:cNvPr id="68" name="Text 66"/>
          <p:cNvSpPr/>
          <p:nvPr/>
        </p:nvSpPr>
        <p:spPr>
          <a:xfrm>
            <a:off x="6583680" y="5394960"/>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−8.85 s</a:t>
            </a:r>
            <a:endParaRPr lang="en-US" sz="960" dirty="0"/>
          </a:p>
        </p:txBody>
      </p:sp>
      <p:sp>
        <p:nvSpPr>
          <p:cNvPr id="69" name="Text 67"/>
          <p:cNvSpPr/>
          <p:nvPr/>
        </p:nvSpPr>
        <p:spPr>
          <a:xfrm>
            <a:off x="777240" y="5605272"/>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Press cost per part</a:t>
            </a:r>
            <a:endParaRPr lang="en-US" sz="960" dirty="0"/>
          </a:p>
        </p:txBody>
      </p:sp>
      <p:sp>
        <p:nvSpPr>
          <p:cNvPr id="70" name="Text 68"/>
          <p:cNvSpPr/>
          <p:nvPr/>
        </p:nvSpPr>
        <p:spPr>
          <a:xfrm>
            <a:off x="3291840" y="5605272"/>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£5.51</a:t>
            </a:r>
            <a:endParaRPr lang="en-US" sz="960" dirty="0"/>
          </a:p>
        </p:txBody>
      </p:sp>
      <p:sp>
        <p:nvSpPr>
          <p:cNvPr id="71" name="Text 69"/>
          <p:cNvSpPr/>
          <p:nvPr/>
        </p:nvSpPr>
        <p:spPr>
          <a:xfrm>
            <a:off x="4937760" y="5605272"/>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£4.62</a:t>
            </a:r>
            <a:endParaRPr lang="en-US" sz="960" dirty="0"/>
          </a:p>
        </p:txBody>
      </p:sp>
      <p:sp>
        <p:nvSpPr>
          <p:cNvPr id="72" name="Text 70"/>
          <p:cNvSpPr/>
          <p:nvPr/>
        </p:nvSpPr>
        <p:spPr>
          <a:xfrm>
            <a:off x="6583680" y="5605272"/>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−£0.89</a:t>
            </a:r>
            <a:endParaRPr lang="en-US" sz="960" dirty="0"/>
          </a:p>
        </p:txBody>
      </p:sp>
      <p:sp>
        <p:nvSpPr>
          <p:cNvPr id="73" name="Text 71"/>
          <p:cNvSpPr/>
          <p:nvPr/>
        </p:nvSpPr>
        <p:spPr>
          <a:xfrm>
            <a:off x="777240" y="5815584"/>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Part cost, UK</a:t>
            </a:r>
            <a:endParaRPr lang="en-US" sz="960" dirty="0"/>
          </a:p>
        </p:txBody>
      </p:sp>
      <p:sp>
        <p:nvSpPr>
          <p:cNvPr id="74" name="Text 72"/>
          <p:cNvSpPr/>
          <p:nvPr/>
        </p:nvSpPr>
        <p:spPr>
          <a:xfrm>
            <a:off x="3291840" y="5815584"/>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£31.06</a:t>
            </a:r>
            <a:endParaRPr lang="en-US" sz="960" dirty="0"/>
          </a:p>
        </p:txBody>
      </p:sp>
      <p:sp>
        <p:nvSpPr>
          <p:cNvPr id="75" name="Text 73"/>
          <p:cNvSpPr/>
          <p:nvPr/>
        </p:nvSpPr>
        <p:spPr>
          <a:xfrm>
            <a:off x="4937760" y="5815584"/>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£29.95</a:t>
            </a:r>
            <a:endParaRPr lang="en-US" sz="960" dirty="0"/>
          </a:p>
        </p:txBody>
      </p:sp>
      <p:sp>
        <p:nvSpPr>
          <p:cNvPr id="76" name="Text 74"/>
          <p:cNvSpPr/>
          <p:nvPr/>
        </p:nvSpPr>
        <p:spPr>
          <a:xfrm>
            <a:off x="6583680" y="5815584"/>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−£1.11</a:t>
            </a:r>
            <a:endParaRPr lang="en-US" sz="960" dirty="0"/>
          </a:p>
        </p:txBody>
      </p:sp>
      <p:sp>
        <p:nvSpPr>
          <p:cNvPr id="77" name="Text 75"/>
          <p:cNvSpPr/>
          <p:nvPr/>
        </p:nvSpPr>
        <p:spPr>
          <a:xfrm>
            <a:off x="8412480" y="4974336"/>
            <a:ext cx="3200400" cy="1005840"/>
          </a:xfrm>
          <a:prstGeom prst="rect">
            <a:avLst/>
          </a:prstGeom>
          <a:noFill/>
          <a:ln/>
        </p:spPr>
        <p:txBody>
          <a:bodyPr wrap="square" lIns="0" tIns="0" rIns="0" bIns="0" rtlCol="0" anchor="t"/>
          <a:lstStyle/>
          <a:p>
            <a:pPr indent="0" marL="0">
              <a:buNone/>
            </a:pPr>
            <a:r>
              <a:rPr lang="en-US" sz="980" b="1" dirty="0">
                <a:solidFill>
                  <a:srgbClr val="16325C"/>
                </a:solidFill>
                <a:latin typeface="Calibri" pitchFamily="34" charset="0"/>
                <a:ea typeface="Calibri" pitchFamily="34" charset="-122"/>
                <a:cs typeface="Calibri" pitchFamily="34" charset="-120"/>
              </a:rPr>
              <a:t>That is a design conversation, not a purchasing one. </a:t>
            </a:r>
            <a:pPr indent="0" marL="0">
              <a:buNone/>
            </a:pPr>
            <a:r>
              <a:rPr lang="en-US" sz="980" dirty="0">
                <a:solidFill>
                  <a:srgbClr val="3A4356"/>
                </a:solidFill>
                <a:latin typeface="Calibri" pitchFamily="34" charset="0"/>
                <a:ea typeface="Calibri" pitchFamily="34" charset="-122"/>
                <a:cs typeface="Calibri" pitchFamily="34" charset="-120"/>
              </a:rPr>
              <a:t>Half a millimetre of wall is worth more on this part than any price you could argue out of the moulder — and the tool is what lets you put a number on it before the design is frozen.</a:t>
            </a:r>
            <a:endParaRPr lang="en-US" sz="980" dirty="0"/>
          </a:p>
        </p:txBody>
      </p:sp>
      <p:sp>
        <p:nvSpPr>
          <p:cNvPr id="78" name="Text 7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79" name="Text 7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32</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8–10 · 55 Seconds, Then the Eight Buckets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 second priced at the press rate, then repriced by country</a:t>
            </a:r>
            <a:endParaRPr lang="en-US" sz="1200" dirty="0"/>
          </a:p>
        </p:txBody>
      </p:sp>
      <p:sp>
        <p:nvSpPr>
          <p:cNvPr id="5" name="Shape 3"/>
          <p:cNvSpPr/>
          <p:nvPr/>
        </p:nvSpPr>
        <p:spPr>
          <a:xfrm>
            <a:off x="457200" y="1188720"/>
            <a:ext cx="5029200" cy="2423160"/>
          </a:xfrm>
          <a:prstGeom prst="roundRect">
            <a:avLst>
              <a:gd name="adj" fmla="val 3774"/>
            </a:avLst>
          </a:prstGeom>
          <a:solidFill>
            <a:srgbClr val="FFFFFF"/>
          </a:solidFill>
          <a:ln w="12700">
            <a:solidFill>
              <a:srgbClr val="DCE3EE"/>
            </a:solidFill>
            <a:prstDash val="solid"/>
          </a:ln>
        </p:spPr>
      </p:sp>
      <p:sp>
        <p:nvSpPr>
          <p:cNvPr id="6" name="Text 4"/>
          <p:cNvSpPr/>
          <p:nvPr/>
        </p:nvSpPr>
        <p:spPr>
          <a:xfrm>
            <a:off x="685800" y="1298448"/>
            <a:ext cx="45720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HOW THE 55-SECOND CYCLE IS BUILT</a:t>
            </a:r>
            <a:endParaRPr lang="en-US" sz="1050" dirty="0"/>
          </a:p>
        </p:txBody>
      </p:sp>
      <p:sp>
        <p:nvSpPr>
          <p:cNvPr id="7" name="Text 5"/>
          <p:cNvSpPr/>
          <p:nvPr/>
        </p:nvSpPr>
        <p:spPr>
          <a:xfrm>
            <a:off x="713232" y="1627632"/>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Fill the cavity</a:t>
            </a:r>
            <a:endParaRPr lang="en-US" sz="1050" dirty="0"/>
          </a:p>
        </p:txBody>
      </p:sp>
      <p:sp>
        <p:nvSpPr>
          <p:cNvPr id="8" name="Text 6"/>
          <p:cNvSpPr/>
          <p:nvPr/>
        </p:nvSpPr>
        <p:spPr>
          <a:xfrm>
            <a:off x="4023360" y="1627632"/>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4.5 s</a:t>
            </a:r>
            <a:endParaRPr lang="en-US" sz="1050" dirty="0"/>
          </a:p>
        </p:txBody>
      </p:sp>
      <p:sp>
        <p:nvSpPr>
          <p:cNvPr id="9" name="Text 7"/>
          <p:cNvSpPr/>
          <p:nvPr/>
        </p:nvSpPr>
        <p:spPr>
          <a:xfrm>
            <a:off x="713232" y="1929384"/>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Pack and hold</a:t>
            </a:r>
            <a:endParaRPr lang="en-US" sz="1050" dirty="0"/>
          </a:p>
        </p:txBody>
      </p:sp>
      <p:sp>
        <p:nvSpPr>
          <p:cNvPr id="10" name="Text 8"/>
          <p:cNvSpPr/>
          <p:nvPr/>
        </p:nvSpPr>
        <p:spPr>
          <a:xfrm>
            <a:off x="4023360" y="1929384"/>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12.0 s</a:t>
            </a:r>
            <a:endParaRPr lang="en-US" sz="1050" dirty="0"/>
          </a:p>
        </p:txBody>
      </p:sp>
      <p:sp>
        <p:nvSpPr>
          <p:cNvPr id="11" name="Text 9"/>
          <p:cNvSpPr/>
          <p:nvPr/>
        </p:nvSpPr>
        <p:spPr>
          <a:xfrm>
            <a:off x="713232" y="2231136"/>
            <a:ext cx="3291840" cy="274320"/>
          </a:xfrm>
          <a:prstGeom prst="rect">
            <a:avLst/>
          </a:prstGeom>
          <a:noFill/>
          <a:ln/>
        </p:spPr>
        <p:txBody>
          <a:bodyPr wrap="square" lIns="0" tIns="0" rIns="0" bIns="0" rtlCol="0" anchor="ctr"/>
          <a:lstStyle/>
          <a:p>
            <a:pPr indent="0" marL="0">
              <a:buNone/>
            </a:pPr>
            <a:r>
              <a:rPr lang="en-US" sz="1050" b="1" dirty="0">
                <a:solidFill>
                  <a:srgbClr val="0E8074"/>
                </a:solidFill>
                <a:latin typeface="Calibri" pitchFamily="34" charset="0"/>
                <a:ea typeface="Calibri" pitchFamily="34" charset="-122"/>
                <a:cs typeface="Calibri" pitchFamily="34" charset="-120"/>
              </a:rPr>
              <a:t>Cool  =  3.16 × 3.0²</a:t>
            </a:r>
            <a:endParaRPr lang="en-US" sz="1050" dirty="0"/>
          </a:p>
        </p:txBody>
      </p:sp>
      <p:sp>
        <p:nvSpPr>
          <p:cNvPr id="12" name="Text 10"/>
          <p:cNvSpPr/>
          <p:nvPr/>
        </p:nvSpPr>
        <p:spPr>
          <a:xfrm>
            <a:off x="4023360" y="2231136"/>
            <a:ext cx="1280160" cy="274320"/>
          </a:xfrm>
          <a:prstGeom prst="rect">
            <a:avLst/>
          </a:prstGeom>
          <a:noFill/>
          <a:ln/>
        </p:spPr>
        <p:txBody>
          <a:bodyPr wrap="square" lIns="0" tIns="0" rIns="0" bIns="0" rtlCol="0" anchor="ctr"/>
          <a:lstStyle/>
          <a:p>
            <a:pPr algn="r" indent="0" marL="0">
              <a:buNone/>
            </a:pPr>
            <a:r>
              <a:rPr lang="en-US" sz="1050" b="1" dirty="0">
                <a:solidFill>
                  <a:srgbClr val="0E8074"/>
                </a:solidFill>
                <a:latin typeface="Calibri" pitchFamily="34" charset="0"/>
                <a:ea typeface="Calibri" pitchFamily="34" charset="-122"/>
                <a:cs typeface="Calibri" pitchFamily="34" charset="-120"/>
              </a:rPr>
              <a:t>28.4 s</a:t>
            </a:r>
            <a:endParaRPr lang="en-US" sz="1050" dirty="0"/>
          </a:p>
        </p:txBody>
      </p:sp>
      <p:sp>
        <p:nvSpPr>
          <p:cNvPr id="13" name="Text 11"/>
          <p:cNvSpPr/>
          <p:nvPr/>
        </p:nvSpPr>
        <p:spPr>
          <a:xfrm>
            <a:off x="713232" y="2532888"/>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Open and eject</a:t>
            </a:r>
            <a:endParaRPr lang="en-US" sz="1050" dirty="0"/>
          </a:p>
        </p:txBody>
      </p:sp>
      <p:sp>
        <p:nvSpPr>
          <p:cNvPr id="14" name="Text 12"/>
          <p:cNvSpPr/>
          <p:nvPr/>
        </p:nvSpPr>
        <p:spPr>
          <a:xfrm>
            <a:off x="4023360" y="2532888"/>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9.0 s</a:t>
            </a:r>
            <a:endParaRPr lang="en-US" sz="1050" dirty="0"/>
          </a:p>
        </p:txBody>
      </p:sp>
      <p:sp>
        <p:nvSpPr>
          <p:cNvPr id="15" name="Text 13"/>
          <p:cNvSpPr/>
          <p:nvPr/>
        </p:nvSpPr>
        <p:spPr>
          <a:xfrm>
            <a:off x="713232" y="2834640"/>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+ 2% reject uplift</a:t>
            </a:r>
            <a:endParaRPr lang="en-US" sz="1050" dirty="0"/>
          </a:p>
        </p:txBody>
      </p:sp>
      <p:sp>
        <p:nvSpPr>
          <p:cNvPr id="16" name="Text 14"/>
          <p:cNvSpPr/>
          <p:nvPr/>
        </p:nvSpPr>
        <p:spPr>
          <a:xfrm>
            <a:off x="4023360" y="2834640"/>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1.1 s</a:t>
            </a:r>
            <a:endParaRPr lang="en-US" sz="1050" dirty="0"/>
          </a:p>
        </p:txBody>
      </p:sp>
      <p:sp>
        <p:nvSpPr>
          <p:cNvPr id="17" name="Shape 15"/>
          <p:cNvSpPr/>
          <p:nvPr/>
        </p:nvSpPr>
        <p:spPr>
          <a:xfrm>
            <a:off x="713232" y="3163824"/>
            <a:ext cx="4590288" cy="0"/>
          </a:xfrm>
          <a:prstGeom prst="line">
            <a:avLst/>
          </a:prstGeom>
          <a:noFill/>
          <a:ln w="12700">
            <a:solidFill>
              <a:srgbClr val="DCE3EE"/>
            </a:solidFill>
            <a:prstDash val="solid"/>
          </a:ln>
        </p:spPr>
      </p:sp>
      <p:sp>
        <p:nvSpPr>
          <p:cNvPr id="18" name="Text 16"/>
          <p:cNvSpPr/>
          <p:nvPr/>
        </p:nvSpPr>
        <p:spPr>
          <a:xfrm>
            <a:off x="713232" y="3218688"/>
            <a:ext cx="3291840" cy="274320"/>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Total cycle</a:t>
            </a:r>
            <a:endParaRPr lang="en-US" sz="1100" dirty="0"/>
          </a:p>
        </p:txBody>
      </p:sp>
      <p:sp>
        <p:nvSpPr>
          <p:cNvPr id="19" name="Text 17"/>
          <p:cNvSpPr/>
          <p:nvPr/>
        </p:nvSpPr>
        <p:spPr>
          <a:xfrm>
            <a:off x="4023360" y="3218688"/>
            <a:ext cx="1280160" cy="274320"/>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55.0 s</a:t>
            </a:r>
            <a:endParaRPr lang="en-US" sz="1100" dirty="0"/>
          </a:p>
        </p:txBody>
      </p:sp>
      <p:sp>
        <p:nvSpPr>
          <p:cNvPr id="20" name="Shape 18"/>
          <p:cNvSpPr/>
          <p:nvPr/>
        </p:nvSpPr>
        <p:spPr>
          <a:xfrm>
            <a:off x="5715000" y="1188720"/>
            <a:ext cx="6016752" cy="2423160"/>
          </a:xfrm>
          <a:prstGeom prst="roundRect">
            <a:avLst>
              <a:gd name="adj" fmla="val 3774"/>
            </a:avLst>
          </a:prstGeom>
          <a:solidFill>
            <a:srgbClr val="E6F4F1"/>
          </a:solidFill>
          <a:ln w="15875">
            <a:solidFill>
              <a:srgbClr val="0E8074"/>
            </a:solidFill>
            <a:prstDash val="solid"/>
          </a:ln>
        </p:spPr>
      </p:sp>
      <p:sp>
        <p:nvSpPr>
          <p:cNvPr id="21" name="Text 19"/>
          <p:cNvSpPr/>
          <p:nvPr/>
        </p:nvSpPr>
        <p:spPr>
          <a:xfrm>
            <a:off x="5943600" y="1298448"/>
            <a:ext cx="5486400" cy="237744"/>
          </a:xfrm>
          <a:prstGeom prst="rect">
            <a:avLst/>
          </a:prstGeom>
          <a:noFill/>
          <a:ln/>
        </p:spPr>
        <p:txBody>
          <a:bodyPr wrap="square" lIns="0" tIns="0" rIns="0" bIns="0" rtlCol="0" anchor="ctr"/>
          <a:lstStyle/>
          <a:p>
            <a:pPr indent="0" marL="0">
              <a:buNone/>
            </a:pPr>
            <a:r>
              <a:rPr lang="en-US" sz="1050" b="1" spc="50" kern="0" dirty="0">
                <a:solidFill>
                  <a:srgbClr val="0E8074"/>
                </a:solidFill>
                <a:latin typeface="Calibri" pitchFamily="34" charset="0"/>
                <a:ea typeface="Calibri" pitchFamily="34" charset="-122"/>
                <a:cs typeface="Calibri" pitchFamily="34" charset="-120"/>
              </a:rPr>
              <a:t>AND WHAT THOSE 55 SECONDS COST</a:t>
            </a:r>
            <a:endParaRPr lang="en-US" sz="1050" dirty="0"/>
          </a:p>
        </p:txBody>
      </p:sp>
      <p:sp>
        <p:nvSpPr>
          <p:cNvPr id="22" name="Text 20"/>
          <p:cNvSpPr/>
          <p:nvPr/>
        </p:nvSpPr>
        <p:spPr>
          <a:xfrm>
            <a:off x="5943600" y="1645920"/>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55.0 s ÷ 3600</a:t>
            </a:r>
            <a:endParaRPr lang="en-US" sz="1050" dirty="0"/>
          </a:p>
        </p:txBody>
      </p:sp>
      <p:sp>
        <p:nvSpPr>
          <p:cNvPr id="23" name="Text 21"/>
          <p:cNvSpPr/>
          <p:nvPr/>
        </p:nvSpPr>
        <p:spPr>
          <a:xfrm>
            <a:off x="9189720" y="1645920"/>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0.0153 hr of cycle</a:t>
            </a:r>
            <a:endParaRPr lang="en-US" sz="1050" dirty="0"/>
          </a:p>
        </p:txBody>
      </p:sp>
      <p:sp>
        <p:nvSpPr>
          <p:cNvPr id="24" name="Text 22"/>
          <p:cNvSpPr/>
          <p:nvPr/>
        </p:nvSpPr>
        <p:spPr>
          <a:xfrm>
            <a:off x="5943600" y="1993392"/>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0.85 machine availability</a:t>
            </a:r>
            <a:endParaRPr lang="en-US" sz="1050" dirty="0"/>
          </a:p>
        </p:txBody>
      </p:sp>
      <p:sp>
        <p:nvSpPr>
          <p:cNvPr id="25" name="Text 23"/>
          <p:cNvSpPr/>
          <p:nvPr/>
        </p:nvSpPr>
        <p:spPr>
          <a:xfrm>
            <a:off x="9189720" y="1993392"/>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0.0180 hr charged</a:t>
            </a:r>
            <a:endParaRPr lang="en-US" sz="1050" dirty="0"/>
          </a:p>
        </p:txBody>
      </p:sp>
      <p:sp>
        <p:nvSpPr>
          <p:cNvPr id="26" name="Text 24"/>
          <p:cNvSpPr/>
          <p:nvPr/>
        </p:nvSpPr>
        <p:spPr>
          <a:xfrm>
            <a:off x="5943600" y="2340864"/>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£306.12/hr press rate</a:t>
            </a:r>
            <a:endParaRPr lang="en-US" sz="1050" dirty="0"/>
          </a:p>
        </p:txBody>
      </p:sp>
      <p:sp>
        <p:nvSpPr>
          <p:cNvPr id="27" name="Text 25"/>
          <p:cNvSpPr/>
          <p:nvPr/>
        </p:nvSpPr>
        <p:spPr>
          <a:xfrm>
            <a:off x="9189720" y="2340864"/>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£5.51 machine</a:t>
            </a:r>
            <a:endParaRPr lang="en-US" sz="1050" dirty="0"/>
          </a:p>
        </p:txBody>
      </p:sp>
      <p:sp>
        <p:nvSpPr>
          <p:cNvPr id="28" name="Text 26"/>
          <p:cNvSpPr/>
          <p:nvPr/>
        </p:nvSpPr>
        <p:spPr>
          <a:xfrm>
            <a:off x="5943600" y="2688336"/>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half an operator at £19.80/hr</a:t>
            </a:r>
            <a:endParaRPr lang="en-US" sz="1050" dirty="0"/>
          </a:p>
        </p:txBody>
      </p:sp>
      <p:sp>
        <p:nvSpPr>
          <p:cNvPr id="29" name="Text 27"/>
          <p:cNvSpPr/>
          <p:nvPr/>
        </p:nvSpPr>
        <p:spPr>
          <a:xfrm>
            <a:off x="9189720" y="2688336"/>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£0.17 labour</a:t>
            </a:r>
            <a:endParaRPr lang="en-US" sz="1050" dirty="0"/>
          </a:p>
        </p:txBody>
      </p:sp>
      <p:sp>
        <p:nvSpPr>
          <p:cNvPr id="30" name="Shape 28"/>
          <p:cNvSpPr/>
          <p:nvPr/>
        </p:nvSpPr>
        <p:spPr>
          <a:xfrm>
            <a:off x="5943600" y="3017520"/>
            <a:ext cx="5577840" cy="365760"/>
          </a:xfrm>
          <a:prstGeom prst="roundRect">
            <a:avLst>
              <a:gd name="adj" fmla="val 20000"/>
            </a:avLst>
          </a:prstGeom>
          <a:solidFill>
            <a:srgbClr val="FFFFFF"/>
          </a:solidFill>
          <a:ln w="15875">
            <a:solidFill>
              <a:srgbClr val="0E8074"/>
            </a:solidFill>
            <a:prstDash val="solid"/>
          </a:ln>
        </p:spPr>
      </p:sp>
      <p:sp>
        <p:nvSpPr>
          <p:cNvPr id="31" name="Text 29"/>
          <p:cNvSpPr/>
          <p:nvPr/>
        </p:nvSpPr>
        <p:spPr>
          <a:xfrm>
            <a:off x="5943600" y="3017520"/>
            <a:ext cx="5577840" cy="365760"/>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Moulding one bumper:  £5.67  —  and that is the whole making cost</a:t>
            </a:r>
            <a:endParaRPr lang="en-US" sz="1100" dirty="0"/>
          </a:p>
        </p:txBody>
      </p:sp>
      <p:sp>
        <p:nvSpPr>
          <p:cNvPr id="32" name="Text 30"/>
          <p:cNvSpPr/>
          <p:nvPr/>
        </p:nvSpPr>
        <p:spPr>
          <a:xfrm>
            <a:off x="5943600" y="3410712"/>
            <a:ext cx="5577840" cy="182880"/>
          </a:xfrm>
          <a:prstGeom prst="rect">
            <a:avLst/>
          </a:prstGeom>
          <a:noFill/>
          <a:ln/>
        </p:spPr>
        <p:txBody>
          <a:bodyPr wrap="square" lIns="0" tIns="0" rIns="0" bIns="0" rtlCol="0" anchor="ctr"/>
          <a:lstStyle/>
          <a:p>
            <a:pPr algn="ctr" indent="0" marL="0">
              <a:buNone/>
            </a:pPr>
            <a:r>
              <a:rPr lang="en-US" sz="800" i="1" dirty="0">
                <a:solidFill>
                  <a:srgbClr val="6B7280"/>
                </a:solidFill>
                <a:latin typeface="Calibri" pitchFamily="34" charset="0"/>
                <a:ea typeface="Calibri" pitchFamily="34" charset="-122"/>
                <a:cs typeface="Calibri" pitchFamily="34" charset="-120"/>
              </a:rPr>
              <a:t>£5.5063 + £0.1682 = £5.6745 — the two lines above are rounded to the penny.</a:t>
            </a:r>
            <a:endParaRPr lang="en-US" sz="800" dirty="0"/>
          </a:p>
        </p:txBody>
      </p:sp>
      <p:sp>
        <p:nvSpPr>
          <p:cNvPr id="33" name="Shape 31"/>
          <p:cNvSpPr/>
          <p:nvPr/>
        </p:nvSpPr>
        <p:spPr>
          <a:xfrm>
            <a:off x="457200" y="3794760"/>
            <a:ext cx="6858000" cy="2194560"/>
          </a:xfrm>
          <a:prstGeom prst="roundRect">
            <a:avLst>
              <a:gd name="adj" fmla="val 4167"/>
            </a:avLst>
          </a:prstGeom>
          <a:solidFill>
            <a:srgbClr val="FFFFFF"/>
          </a:solidFill>
          <a:ln w="12700">
            <a:solidFill>
              <a:srgbClr val="DCE3EE"/>
            </a:solidFill>
            <a:prstDash val="solid"/>
          </a:ln>
        </p:spPr>
      </p:sp>
      <p:sp>
        <p:nvSpPr>
          <p:cNvPr id="34" name="Text 32"/>
          <p:cNvSpPr/>
          <p:nvPr/>
        </p:nvSpPr>
        <p:spPr>
          <a:xfrm>
            <a:off x="685800" y="3895344"/>
            <a:ext cx="6309360" cy="237744"/>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THE EIGHT BUCKETS — bumper fascia, made in China</a:t>
            </a:r>
            <a:endParaRPr lang="en-US" sz="1100" dirty="0"/>
          </a:p>
        </p:txBody>
      </p:sp>
      <p:graphicFrame>
        <p:nvGraphicFramePr>
          <p:cNvPr id="35" name="Chart 0" descr=""/>
          <p:cNvGraphicFramePr/>
          <p:nvPr/>
        </p:nvGraphicFramePr>
        <p:xfrm>
          <a:off x="566928" y="4114800"/>
          <a:ext cx="6675120" cy="1783080"/>
        </p:xfrm>
        <a:graphic xmlns:a="http://schemas.openxmlformats.org/drawingml/2006/main">
          <a:graphicData uri="http://schemas.openxmlformats.org/drawingml/2006/chart">
            <c:chart xmlns:c="http://schemas.openxmlformats.org/drawingml/2006/chart" r:id="rId1"/>
          </a:graphicData>
        </a:graphic>
      </p:graphicFrame>
      <p:sp>
        <p:nvSpPr>
          <p:cNvPr id="36" name="Shape 33"/>
          <p:cNvSpPr/>
          <p:nvPr/>
        </p:nvSpPr>
        <p:spPr>
          <a:xfrm>
            <a:off x="7543800" y="3794760"/>
            <a:ext cx="4187952" cy="1024128"/>
          </a:xfrm>
          <a:prstGeom prst="roundRect">
            <a:avLst>
              <a:gd name="adj" fmla="val 8929"/>
            </a:avLst>
          </a:prstGeom>
          <a:solidFill>
            <a:srgbClr val="0E5A5A"/>
          </a:solidFill>
          <a:ln/>
        </p:spPr>
      </p:sp>
      <p:sp>
        <p:nvSpPr>
          <p:cNvPr id="37" name="Text 34"/>
          <p:cNvSpPr/>
          <p:nvPr/>
        </p:nvSpPr>
        <p:spPr>
          <a:xfrm>
            <a:off x="7772400" y="3886200"/>
            <a:ext cx="3749040" cy="219456"/>
          </a:xfrm>
          <a:prstGeom prst="rect">
            <a:avLst/>
          </a:prstGeom>
          <a:noFill/>
          <a:ln/>
        </p:spPr>
        <p:txBody>
          <a:bodyPr wrap="square" lIns="0" tIns="0" rIns="0" bIns="0" rtlCol="0" anchor="ctr"/>
          <a:lstStyle/>
          <a:p>
            <a:pPr indent="0" marL="0">
              <a:buNone/>
            </a:pPr>
            <a:r>
              <a:rPr lang="en-US" sz="900" b="1" spc="80" kern="0" dirty="0">
                <a:solidFill>
                  <a:srgbClr val="9FD9CF"/>
                </a:solidFill>
                <a:latin typeface="Calibri" pitchFamily="34" charset="0"/>
                <a:ea typeface="Calibri" pitchFamily="34" charset="-122"/>
                <a:cs typeface="Calibri" pitchFamily="34" charset="-120"/>
              </a:rPr>
              <a:t>SHOULD-COST — MADE IN CHINA</a:t>
            </a:r>
            <a:endParaRPr lang="en-US" sz="900" dirty="0"/>
          </a:p>
        </p:txBody>
      </p:sp>
      <p:sp>
        <p:nvSpPr>
          <p:cNvPr id="38" name="Text 35"/>
          <p:cNvSpPr/>
          <p:nvPr/>
        </p:nvSpPr>
        <p:spPr>
          <a:xfrm>
            <a:off x="7772400" y="4078224"/>
            <a:ext cx="2103120" cy="548640"/>
          </a:xfrm>
          <a:prstGeom prst="rect">
            <a:avLst/>
          </a:prstGeom>
          <a:noFill/>
          <a:ln/>
        </p:spPr>
        <p:txBody>
          <a:bodyPr wrap="square" lIns="0" tIns="0" rIns="0" bIns="0" rtlCol="0" anchor="ctr"/>
          <a:lstStyle/>
          <a:p>
            <a:pPr indent="0" marL="0">
              <a:buNone/>
            </a:pPr>
            <a:r>
              <a:rPr lang="en-US" sz="3300" b="1" dirty="0">
                <a:solidFill>
                  <a:srgbClr val="FFFFFF"/>
                </a:solidFill>
                <a:latin typeface="Cambria" pitchFamily="34" charset="0"/>
                <a:ea typeface="Cambria" pitchFamily="34" charset="-122"/>
                <a:cs typeface="Cambria" pitchFamily="34" charset="-120"/>
              </a:rPr>
              <a:t>£26.08</a:t>
            </a:r>
            <a:endParaRPr lang="en-US" sz="3300" dirty="0"/>
          </a:p>
        </p:txBody>
      </p:sp>
      <p:sp>
        <p:nvSpPr>
          <p:cNvPr id="39" name="Text 36"/>
          <p:cNvSpPr/>
          <p:nvPr/>
        </p:nvSpPr>
        <p:spPr>
          <a:xfrm>
            <a:off x="9921240" y="4114800"/>
            <a:ext cx="1691640" cy="502920"/>
          </a:xfrm>
          <a:prstGeom prst="rect">
            <a:avLst/>
          </a:prstGeom>
          <a:noFill/>
          <a:ln/>
        </p:spPr>
        <p:txBody>
          <a:bodyPr wrap="square" lIns="0" tIns="0" rIns="0" bIns="0" rtlCol="0" anchor="ctr"/>
          <a:lstStyle/>
          <a:p>
            <a:pPr indent="0" marL="0">
              <a:buNone/>
            </a:pPr>
            <a:r>
              <a:rPr lang="en-US" sz="900" dirty="0">
                <a:solidFill>
                  <a:srgbClr val="CDEDE7"/>
                </a:solidFill>
                <a:latin typeface="Calibri" pitchFamily="34" charset="0"/>
                <a:ea typeface="Calibri" pitchFamily="34" charset="-122"/>
                <a:cs typeface="Calibri" pitchFamily="34" charset="-120"/>
              </a:rPr>
              <a:t>unpainted, ex-works,</a:t>
            </a:r>
            <a:endParaRPr lang="en-US" sz="900" dirty="0"/>
          </a:p>
          <a:p>
            <a:pPr indent="0" marL="0">
              <a:buNone/>
            </a:pPr>
            <a:r>
              <a:rPr lang="en-US" sz="900" dirty="0">
                <a:solidFill>
                  <a:srgbClr val="CDEDE7"/>
                </a:solidFill>
                <a:latin typeface="Calibri" pitchFamily="34" charset="0"/>
                <a:ea typeface="Calibri" pitchFamily="34" charset="-122"/>
                <a:cs typeface="Calibri" pitchFamily="34" charset="-120"/>
              </a:rPr>
              <a:t>at 60,000 a year</a:t>
            </a:r>
            <a:endParaRPr lang="en-US" sz="900" dirty="0"/>
          </a:p>
        </p:txBody>
      </p:sp>
      <p:sp>
        <p:nvSpPr>
          <p:cNvPr id="40" name="Shape 37"/>
          <p:cNvSpPr/>
          <p:nvPr/>
        </p:nvSpPr>
        <p:spPr>
          <a:xfrm>
            <a:off x="7543800" y="4956048"/>
            <a:ext cx="4187952" cy="1033272"/>
          </a:xfrm>
          <a:prstGeom prst="roundRect">
            <a:avLst>
              <a:gd name="adj" fmla="val 8850"/>
            </a:avLst>
          </a:prstGeom>
          <a:solidFill>
            <a:srgbClr val="FFFFFF"/>
          </a:solidFill>
          <a:ln w="12700">
            <a:solidFill>
              <a:srgbClr val="DCE3EE"/>
            </a:solidFill>
            <a:prstDash val="solid"/>
          </a:ln>
        </p:spPr>
      </p:sp>
      <p:sp>
        <p:nvSpPr>
          <p:cNvPr id="41" name="Text 38"/>
          <p:cNvSpPr/>
          <p:nvPr/>
        </p:nvSpPr>
        <p:spPr>
          <a:xfrm>
            <a:off x="7726680" y="5029200"/>
            <a:ext cx="3840480" cy="219456"/>
          </a:xfrm>
          <a:prstGeom prst="rect">
            <a:avLst/>
          </a:prstGeom>
          <a:noFill/>
          <a:ln/>
        </p:spPr>
        <p:txBody>
          <a:bodyPr wrap="square" lIns="0" tIns="0" rIns="0" bIns="0" rtlCol="0" anchor="ctr"/>
          <a:lstStyle/>
          <a:p>
            <a:pPr indent="0" marL="0">
              <a:buNone/>
            </a:pPr>
            <a:r>
              <a:rPr lang="en-US" sz="900" b="1" spc="60" kern="0" dirty="0">
                <a:solidFill>
                  <a:srgbClr val="16325C"/>
                </a:solidFill>
                <a:latin typeface="Calibri" pitchFamily="34" charset="0"/>
                <a:ea typeface="Calibri" pitchFamily="34" charset="-122"/>
                <a:cs typeface="Calibri" pitchFamily="34" charset="-120"/>
              </a:rPr>
              <a:t>THE SAME PART, PRICED ELSEWHERE</a:t>
            </a:r>
            <a:endParaRPr lang="en-US" sz="900" dirty="0"/>
          </a:p>
        </p:txBody>
      </p:sp>
      <p:sp>
        <p:nvSpPr>
          <p:cNvPr id="42" name="Text 39"/>
          <p:cNvSpPr/>
          <p:nvPr/>
        </p:nvSpPr>
        <p:spPr>
          <a:xfrm>
            <a:off x="7726680"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China</a:t>
            </a:r>
            <a:endParaRPr lang="en-US" sz="900" dirty="0"/>
          </a:p>
        </p:txBody>
      </p:sp>
      <p:sp>
        <p:nvSpPr>
          <p:cNvPr id="43" name="Text 40"/>
          <p:cNvSpPr/>
          <p:nvPr/>
        </p:nvSpPr>
        <p:spPr>
          <a:xfrm>
            <a:off x="7726680" y="5449824"/>
            <a:ext cx="914400" cy="237744"/>
          </a:xfrm>
          <a:prstGeom prst="rect">
            <a:avLst/>
          </a:prstGeom>
          <a:noFill/>
          <a:ln/>
        </p:spPr>
        <p:txBody>
          <a:bodyPr wrap="square" lIns="0" tIns="0" rIns="0" bIns="0" rtlCol="0" anchor="ctr"/>
          <a:lstStyle/>
          <a:p>
            <a:pPr algn="ctr" indent="0" marL="0">
              <a:buNone/>
            </a:pPr>
            <a:r>
              <a:rPr lang="en-US" sz="1100" b="1" dirty="0">
                <a:solidFill>
                  <a:srgbClr val="0E8074"/>
                </a:solidFill>
                <a:latin typeface="Calibri" pitchFamily="34" charset="0"/>
                <a:ea typeface="Calibri" pitchFamily="34" charset="-122"/>
                <a:cs typeface="Calibri" pitchFamily="34" charset="-120"/>
              </a:rPr>
              <a:t>£26.08</a:t>
            </a:r>
            <a:endParaRPr lang="en-US" sz="1100" dirty="0"/>
          </a:p>
        </p:txBody>
      </p:sp>
      <p:sp>
        <p:nvSpPr>
          <p:cNvPr id="44" name="Text 41"/>
          <p:cNvSpPr/>
          <p:nvPr/>
        </p:nvSpPr>
        <p:spPr>
          <a:xfrm>
            <a:off x="8695944"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India</a:t>
            </a:r>
            <a:endParaRPr lang="en-US" sz="900" dirty="0"/>
          </a:p>
        </p:txBody>
      </p:sp>
      <p:sp>
        <p:nvSpPr>
          <p:cNvPr id="45" name="Text 42"/>
          <p:cNvSpPr/>
          <p:nvPr/>
        </p:nvSpPr>
        <p:spPr>
          <a:xfrm>
            <a:off x="8695944"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£26.13</a:t>
            </a:r>
            <a:endParaRPr lang="en-US" sz="1100" dirty="0"/>
          </a:p>
        </p:txBody>
      </p:sp>
      <p:sp>
        <p:nvSpPr>
          <p:cNvPr id="46" name="Text 43"/>
          <p:cNvSpPr/>
          <p:nvPr/>
        </p:nvSpPr>
        <p:spPr>
          <a:xfrm>
            <a:off x="9665208"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Mexico</a:t>
            </a:r>
            <a:endParaRPr lang="en-US" sz="900" dirty="0"/>
          </a:p>
        </p:txBody>
      </p:sp>
      <p:sp>
        <p:nvSpPr>
          <p:cNvPr id="47" name="Text 44"/>
          <p:cNvSpPr/>
          <p:nvPr/>
        </p:nvSpPr>
        <p:spPr>
          <a:xfrm>
            <a:off x="9665208"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£27.04</a:t>
            </a:r>
            <a:endParaRPr lang="en-US" sz="1100" dirty="0"/>
          </a:p>
        </p:txBody>
      </p:sp>
      <p:sp>
        <p:nvSpPr>
          <p:cNvPr id="48" name="Text 45"/>
          <p:cNvSpPr/>
          <p:nvPr/>
        </p:nvSpPr>
        <p:spPr>
          <a:xfrm>
            <a:off x="10634472"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UK</a:t>
            </a:r>
            <a:endParaRPr lang="en-US" sz="900" dirty="0"/>
          </a:p>
        </p:txBody>
      </p:sp>
      <p:sp>
        <p:nvSpPr>
          <p:cNvPr id="49" name="Text 46"/>
          <p:cNvSpPr/>
          <p:nvPr/>
        </p:nvSpPr>
        <p:spPr>
          <a:xfrm>
            <a:off x="10634472"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£31.06</a:t>
            </a:r>
            <a:endParaRPr lang="en-US" sz="1100" dirty="0"/>
          </a:p>
        </p:txBody>
      </p:sp>
      <p:sp>
        <p:nvSpPr>
          <p:cNvPr id="50" name="Text 47"/>
          <p:cNvSpPr/>
          <p:nvPr/>
        </p:nvSpPr>
        <p:spPr>
          <a:xfrm>
            <a:off x="7726680" y="5705856"/>
            <a:ext cx="3840480" cy="219456"/>
          </a:xfrm>
          <a:prstGeom prst="rect">
            <a:avLst/>
          </a:prstGeom>
          <a:noFill/>
          <a:ln/>
        </p:spPr>
        <p:txBody>
          <a:bodyPr wrap="square" lIns="0" tIns="0" rIns="0" bIns="0" rtlCol="0" anchor="ctr"/>
          <a:lstStyle/>
          <a:p>
            <a:pPr algn="ctr" indent="0" marL="0">
              <a:buNone/>
            </a:pPr>
            <a:r>
              <a:rPr lang="en-US" sz="840" i="1" dirty="0">
                <a:solidFill>
                  <a:srgbClr val="6B7280"/>
                </a:solidFill>
                <a:latin typeface="Calibri" pitchFamily="34" charset="0"/>
                <a:ea typeface="Calibri" pitchFamily="34" charset="-122"/>
                <a:cs typeface="Calibri" pitchFamily="34" charset="-120"/>
              </a:rPr>
              <a:t>Only 19% between China and the UK — on the casting it was 55%.</a:t>
            </a:r>
            <a:endParaRPr lang="en-US" sz="840" dirty="0"/>
          </a:p>
        </p:txBody>
      </p:sp>
      <p:sp>
        <p:nvSpPr>
          <p:cNvPr id="51" name="Text 4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52" name="Text 4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33</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And Then It Is Painted · The Second Half of a Bumper</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A separate line, a separate supplier — and the tool costs it separately</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6949440" cy="3035808"/>
          </a:xfrm>
          <a:prstGeom prst="roundRect">
            <a:avLst>
              <a:gd name="adj" fmla="val 3012"/>
            </a:avLst>
          </a:prstGeom>
          <a:solidFill>
            <a:srgbClr val="FFFFFF"/>
          </a:solidFill>
          <a:ln w="12700">
            <a:solidFill>
              <a:srgbClr val="DCE3EE"/>
            </a:solidFill>
            <a:prstDash val="solid"/>
          </a:ln>
        </p:spPr>
      </p:sp>
      <p:sp>
        <p:nvSpPr>
          <p:cNvPr id="8" name="Text 6"/>
          <p:cNvSpPr/>
          <p:nvPr/>
        </p:nvSpPr>
        <p:spPr>
          <a:xfrm>
            <a:off x="685800" y="1280160"/>
            <a:ext cx="6492240" cy="237744"/>
          </a:xfrm>
          <a:prstGeom prst="rect">
            <a:avLst/>
          </a:prstGeom>
          <a:noFill/>
          <a:ln/>
        </p:spPr>
        <p:txBody>
          <a:bodyPr wrap="square" lIns="0" tIns="0" rIns="0" bIns="0" rtlCol="0" anchor="ctr"/>
          <a:lstStyle/>
          <a:p>
            <a:pPr indent="0" marL="0">
              <a:buNone/>
            </a:pPr>
            <a:r>
              <a:rPr lang="en-US" sz="1050" b="1" spc="40" kern="0" dirty="0">
                <a:solidFill>
                  <a:srgbClr val="16325C"/>
                </a:solidFill>
                <a:latin typeface="Calibri" pitchFamily="34" charset="0"/>
                <a:ea typeface="Calibri" pitchFamily="34" charset="-122"/>
                <a:cs typeface="Calibri" pitchFamily="34" charset="-120"/>
              </a:rPr>
              <a:t>HOW PAINT IS COSTED — from film thickness, not from a rule of thumb</a:t>
            </a:r>
            <a:endParaRPr lang="en-US" sz="1050" dirty="0"/>
          </a:p>
        </p:txBody>
      </p:sp>
      <p:sp>
        <p:nvSpPr>
          <p:cNvPr id="9" name="Text 7"/>
          <p:cNvSpPr/>
          <p:nvPr/>
        </p:nvSpPr>
        <p:spPr>
          <a:xfrm>
            <a:off x="685800" y="1554480"/>
            <a:ext cx="6492240" cy="237744"/>
          </a:xfrm>
          <a:prstGeom prst="rect">
            <a:avLst/>
          </a:prstGeom>
          <a:noFill/>
          <a:ln/>
        </p:spPr>
        <p:txBody>
          <a:bodyPr wrap="square" lIns="0" tIns="0" rIns="0" bIns="0" rtlCol="0" anchor="ctr"/>
          <a:lstStyle/>
          <a:p>
            <a:pPr indent="0" marL="0">
              <a:buNone/>
            </a:pPr>
            <a:r>
              <a:rPr lang="en-US" sz="1050" b="1" i="1" dirty="0">
                <a:solidFill>
                  <a:srgbClr val="0E8074"/>
                </a:solidFill>
                <a:latin typeface="Calibri" pitchFamily="34" charset="0"/>
                <a:ea typeface="Calibri" pitchFamily="34" charset="-122"/>
                <a:cs typeface="Calibri" pitchFamily="34" charset="-120"/>
              </a:rPr>
              <a:t>wet litres  =  area × dry film thickness  ÷  (solids % × transfer efficiency)</a:t>
            </a:r>
            <a:endParaRPr lang="en-US" sz="1050" dirty="0"/>
          </a:p>
        </p:txBody>
      </p:sp>
      <p:sp>
        <p:nvSpPr>
          <p:cNvPr id="10" name="Text 8"/>
          <p:cNvSpPr/>
          <p:nvPr/>
        </p:nvSpPr>
        <p:spPr>
          <a:xfrm>
            <a:off x="713232" y="1865376"/>
            <a:ext cx="100584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Coat</a:t>
            </a:r>
            <a:endParaRPr lang="en-US" sz="840" dirty="0"/>
          </a:p>
        </p:txBody>
      </p:sp>
      <p:sp>
        <p:nvSpPr>
          <p:cNvPr id="11" name="Text 9"/>
          <p:cNvSpPr/>
          <p:nvPr/>
        </p:nvSpPr>
        <p:spPr>
          <a:xfrm>
            <a:off x="1783080" y="1865376"/>
            <a:ext cx="68580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Film</a:t>
            </a:r>
            <a:endParaRPr lang="en-US" sz="840" dirty="0"/>
          </a:p>
        </p:txBody>
      </p:sp>
      <p:sp>
        <p:nvSpPr>
          <p:cNvPr id="12" name="Text 10"/>
          <p:cNvSpPr/>
          <p:nvPr/>
        </p:nvSpPr>
        <p:spPr>
          <a:xfrm>
            <a:off x="2514600" y="1865376"/>
            <a:ext cx="178308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Solids × transfer</a:t>
            </a:r>
            <a:endParaRPr lang="en-US" sz="840" dirty="0"/>
          </a:p>
        </p:txBody>
      </p:sp>
      <p:sp>
        <p:nvSpPr>
          <p:cNvPr id="13" name="Text 11"/>
          <p:cNvSpPr/>
          <p:nvPr/>
        </p:nvSpPr>
        <p:spPr>
          <a:xfrm>
            <a:off x="4343400" y="1865376"/>
            <a:ext cx="82296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Wet L</a:t>
            </a:r>
            <a:endParaRPr lang="en-US" sz="840" dirty="0"/>
          </a:p>
        </p:txBody>
      </p:sp>
      <p:sp>
        <p:nvSpPr>
          <p:cNvPr id="14" name="Text 12"/>
          <p:cNvSpPr/>
          <p:nvPr/>
        </p:nvSpPr>
        <p:spPr>
          <a:xfrm>
            <a:off x="5257800" y="1865376"/>
            <a:ext cx="82296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£/L</a:t>
            </a:r>
            <a:endParaRPr lang="en-US" sz="840" dirty="0"/>
          </a:p>
        </p:txBody>
      </p:sp>
      <p:sp>
        <p:nvSpPr>
          <p:cNvPr id="15" name="Text 13"/>
          <p:cNvSpPr/>
          <p:nvPr/>
        </p:nvSpPr>
        <p:spPr>
          <a:xfrm>
            <a:off x="6126480" y="1865376"/>
            <a:ext cx="96012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Cost</a:t>
            </a:r>
            <a:endParaRPr lang="en-US" sz="840" dirty="0"/>
          </a:p>
        </p:txBody>
      </p:sp>
      <p:sp>
        <p:nvSpPr>
          <p:cNvPr id="16" name="Shape 14"/>
          <p:cNvSpPr/>
          <p:nvPr/>
        </p:nvSpPr>
        <p:spPr>
          <a:xfrm>
            <a:off x="621792" y="2066544"/>
            <a:ext cx="6620256" cy="274320"/>
          </a:xfrm>
          <a:prstGeom prst="rect">
            <a:avLst/>
          </a:prstGeom>
          <a:solidFill>
            <a:srgbClr val="F4F7FB"/>
          </a:solidFill>
          <a:ln/>
        </p:spPr>
      </p:sp>
      <p:sp>
        <p:nvSpPr>
          <p:cNvPr id="17" name="Text 15"/>
          <p:cNvSpPr/>
          <p:nvPr/>
        </p:nvSpPr>
        <p:spPr>
          <a:xfrm>
            <a:off x="713232" y="2084832"/>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Primer</a:t>
            </a:r>
            <a:endParaRPr lang="en-US" sz="920" dirty="0"/>
          </a:p>
        </p:txBody>
      </p:sp>
      <p:sp>
        <p:nvSpPr>
          <p:cNvPr id="18" name="Text 16"/>
          <p:cNvSpPr/>
          <p:nvPr/>
        </p:nvSpPr>
        <p:spPr>
          <a:xfrm>
            <a:off x="1783080" y="2084832"/>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25 µm</a:t>
            </a:r>
            <a:endParaRPr lang="en-US" sz="920" dirty="0"/>
          </a:p>
        </p:txBody>
      </p:sp>
      <p:sp>
        <p:nvSpPr>
          <p:cNvPr id="19" name="Text 17"/>
          <p:cNvSpPr/>
          <p:nvPr/>
        </p:nvSpPr>
        <p:spPr>
          <a:xfrm>
            <a:off x="2514600" y="2084832"/>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0.45 × 0.65 = 0.293</a:t>
            </a:r>
            <a:endParaRPr lang="en-US" sz="920" dirty="0"/>
          </a:p>
        </p:txBody>
      </p:sp>
      <p:sp>
        <p:nvSpPr>
          <p:cNvPr id="20" name="Text 18"/>
          <p:cNvSpPr/>
          <p:nvPr/>
        </p:nvSpPr>
        <p:spPr>
          <a:xfrm>
            <a:off x="4343400" y="2084832"/>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0.137</a:t>
            </a:r>
            <a:endParaRPr lang="en-US" sz="920" dirty="0"/>
          </a:p>
        </p:txBody>
      </p:sp>
      <p:sp>
        <p:nvSpPr>
          <p:cNvPr id="21" name="Text 19"/>
          <p:cNvSpPr/>
          <p:nvPr/>
        </p:nvSpPr>
        <p:spPr>
          <a:xfrm>
            <a:off x="5257800" y="2084832"/>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£9.50</a:t>
            </a:r>
            <a:endParaRPr lang="en-US" sz="920" dirty="0"/>
          </a:p>
        </p:txBody>
      </p:sp>
      <p:sp>
        <p:nvSpPr>
          <p:cNvPr id="22" name="Text 20"/>
          <p:cNvSpPr/>
          <p:nvPr/>
        </p:nvSpPr>
        <p:spPr>
          <a:xfrm>
            <a:off x="6126480" y="2084832"/>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£1.30</a:t>
            </a:r>
            <a:endParaRPr lang="en-US" sz="920" dirty="0"/>
          </a:p>
        </p:txBody>
      </p:sp>
      <p:sp>
        <p:nvSpPr>
          <p:cNvPr id="23" name="Text 21"/>
          <p:cNvSpPr/>
          <p:nvPr/>
        </p:nvSpPr>
        <p:spPr>
          <a:xfrm>
            <a:off x="713232" y="2377440"/>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Basecoat</a:t>
            </a:r>
            <a:endParaRPr lang="en-US" sz="920" dirty="0"/>
          </a:p>
        </p:txBody>
      </p:sp>
      <p:sp>
        <p:nvSpPr>
          <p:cNvPr id="24" name="Text 22"/>
          <p:cNvSpPr/>
          <p:nvPr/>
        </p:nvSpPr>
        <p:spPr>
          <a:xfrm>
            <a:off x="1783080" y="2377440"/>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20 µm</a:t>
            </a:r>
            <a:endParaRPr lang="en-US" sz="920" dirty="0"/>
          </a:p>
        </p:txBody>
      </p:sp>
      <p:sp>
        <p:nvSpPr>
          <p:cNvPr id="25" name="Text 23"/>
          <p:cNvSpPr/>
          <p:nvPr/>
        </p:nvSpPr>
        <p:spPr>
          <a:xfrm>
            <a:off x="2514600" y="2377440"/>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0.25 × 0.60 = 0.150</a:t>
            </a:r>
            <a:endParaRPr lang="en-US" sz="920" dirty="0"/>
          </a:p>
        </p:txBody>
      </p:sp>
      <p:sp>
        <p:nvSpPr>
          <p:cNvPr id="26" name="Text 24"/>
          <p:cNvSpPr/>
          <p:nvPr/>
        </p:nvSpPr>
        <p:spPr>
          <a:xfrm>
            <a:off x="4343400" y="2377440"/>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0.213</a:t>
            </a:r>
            <a:endParaRPr lang="en-US" sz="920" dirty="0"/>
          </a:p>
        </p:txBody>
      </p:sp>
      <p:sp>
        <p:nvSpPr>
          <p:cNvPr id="27" name="Text 25"/>
          <p:cNvSpPr/>
          <p:nvPr/>
        </p:nvSpPr>
        <p:spPr>
          <a:xfrm>
            <a:off x="5257800" y="2377440"/>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£26.00</a:t>
            </a:r>
            <a:endParaRPr lang="en-US" sz="920" dirty="0"/>
          </a:p>
        </p:txBody>
      </p:sp>
      <p:sp>
        <p:nvSpPr>
          <p:cNvPr id="28" name="Text 26"/>
          <p:cNvSpPr/>
          <p:nvPr/>
        </p:nvSpPr>
        <p:spPr>
          <a:xfrm>
            <a:off x="6126480" y="2377440"/>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£5.55</a:t>
            </a:r>
            <a:endParaRPr lang="en-US" sz="920" dirty="0"/>
          </a:p>
        </p:txBody>
      </p:sp>
      <p:sp>
        <p:nvSpPr>
          <p:cNvPr id="29" name="Shape 27"/>
          <p:cNvSpPr/>
          <p:nvPr/>
        </p:nvSpPr>
        <p:spPr>
          <a:xfrm>
            <a:off x="621792" y="2651760"/>
            <a:ext cx="6620256" cy="274320"/>
          </a:xfrm>
          <a:prstGeom prst="rect">
            <a:avLst/>
          </a:prstGeom>
          <a:solidFill>
            <a:srgbClr val="F4F7FB"/>
          </a:solidFill>
          <a:ln/>
        </p:spPr>
      </p:sp>
      <p:sp>
        <p:nvSpPr>
          <p:cNvPr id="30" name="Text 28"/>
          <p:cNvSpPr/>
          <p:nvPr/>
        </p:nvSpPr>
        <p:spPr>
          <a:xfrm>
            <a:off x="713232" y="2670048"/>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Clearcoat</a:t>
            </a:r>
            <a:endParaRPr lang="en-US" sz="920" dirty="0"/>
          </a:p>
        </p:txBody>
      </p:sp>
      <p:sp>
        <p:nvSpPr>
          <p:cNvPr id="31" name="Text 29"/>
          <p:cNvSpPr/>
          <p:nvPr/>
        </p:nvSpPr>
        <p:spPr>
          <a:xfrm>
            <a:off x="1783080" y="2670048"/>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40 µm</a:t>
            </a:r>
            <a:endParaRPr lang="en-US" sz="920" dirty="0"/>
          </a:p>
        </p:txBody>
      </p:sp>
      <p:sp>
        <p:nvSpPr>
          <p:cNvPr id="32" name="Text 30"/>
          <p:cNvSpPr/>
          <p:nvPr/>
        </p:nvSpPr>
        <p:spPr>
          <a:xfrm>
            <a:off x="2514600" y="2670048"/>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0.50 × 0.65 = 0.325</a:t>
            </a:r>
            <a:endParaRPr lang="en-US" sz="920" dirty="0"/>
          </a:p>
        </p:txBody>
      </p:sp>
      <p:sp>
        <p:nvSpPr>
          <p:cNvPr id="33" name="Text 31"/>
          <p:cNvSpPr/>
          <p:nvPr/>
        </p:nvSpPr>
        <p:spPr>
          <a:xfrm>
            <a:off x="4343400" y="2670048"/>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0.197</a:t>
            </a:r>
            <a:endParaRPr lang="en-US" sz="920" dirty="0"/>
          </a:p>
        </p:txBody>
      </p:sp>
      <p:sp>
        <p:nvSpPr>
          <p:cNvPr id="34" name="Text 32"/>
          <p:cNvSpPr/>
          <p:nvPr/>
        </p:nvSpPr>
        <p:spPr>
          <a:xfrm>
            <a:off x="5257800" y="2670048"/>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£18.00</a:t>
            </a:r>
            <a:endParaRPr lang="en-US" sz="920" dirty="0"/>
          </a:p>
        </p:txBody>
      </p:sp>
      <p:sp>
        <p:nvSpPr>
          <p:cNvPr id="35" name="Text 33"/>
          <p:cNvSpPr/>
          <p:nvPr/>
        </p:nvSpPr>
        <p:spPr>
          <a:xfrm>
            <a:off x="6126480" y="2670048"/>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£3.54</a:t>
            </a:r>
            <a:endParaRPr lang="en-US" sz="920" dirty="0"/>
          </a:p>
        </p:txBody>
      </p:sp>
      <p:sp>
        <p:nvSpPr>
          <p:cNvPr id="36" name="Shape 34"/>
          <p:cNvSpPr/>
          <p:nvPr/>
        </p:nvSpPr>
        <p:spPr>
          <a:xfrm>
            <a:off x="713232" y="2999232"/>
            <a:ext cx="6446520" cy="0"/>
          </a:xfrm>
          <a:prstGeom prst="line">
            <a:avLst/>
          </a:prstGeom>
          <a:noFill/>
          <a:ln w="12700">
            <a:solidFill>
              <a:srgbClr val="DCE3EE"/>
            </a:solidFill>
            <a:prstDash val="solid"/>
          </a:ln>
        </p:spPr>
      </p:sp>
      <p:sp>
        <p:nvSpPr>
          <p:cNvPr id="37" name="Text 35"/>
          <p:cNvSpPr/>
          <p:nvPr/>
        </p:nvSpPr>
        <p:spPr>
          <a:xfrm>
            <a:off x="713232" y="3072384"/>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Paint on 1.6 m² of bumper, + 6% rework</a:t>
            </a:r>
            <a:endParaRPr lang="en-US" sz="940" dirty="0"/>
          </a:p>
        </p:txBody>
      </p:sp>
      <p:sp>
        <p:nvSpPr>
          <p:cNvPr id="38" name="Text 36"/>
          <p:cNvSpPr/>
          <p:nvPr/>
        </p:nvSpPr>
        <p:spPr>
          <a:xfrm>
            <a:off x="5943600" y="3072384"/>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£11.01</a:t>
            </a:r>
            <a:endParaRPr lang="en-US" sz="980" dirty="0"/>
          </a:p>
        </p:txBody>
      </p:sp>
      <p:sp>
        <p:nvSpPr>
          <p:cNvPr id="39" name="Text 37"/>
          <p:cNvSpPr/>
          <p:nvPr/>
        </p:nvSpPr>
        <p:spPr>
          <a:xfrm>
            <a:off x="713232" y="3328416"/>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Paint line, 55 parts/hr ÷ 0.85 OEE × £102.13/hr</a:t>
            </a:r>
            <a:endParaRPr lang="en-US" sz="940" dirty="0"/>
          </a:p>
        </p:txBody>
      </p:sp>
      <p:sp>
        <p:nvSpPr>
          <p:cNvPr id="40" name="Text 38"/>
          <p:cNvSpPr/>
          <p:nvPr/>
        </p:nvSpPr>
        <p:spPr>
          <a:xfrm>
            <a:off x="5943600" y="3328416"/>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£2.32</a:t>
            </a:r>
            <a:endParaRPr lang="en-US" sz="980" dirty="0"/>
          </a:p>
        </p:txBody>
      </p:sp>
      <p:sp>
        <p:nvSpPr>
          <p:cNvPr id="41" name="Text 39"/>
          <p:cNvSpPr/>
          <p:nvPr/>
        </p:nvSpPr>
        <p:spPr>
          <a:xfrm>
            <a:off x="713232" y="3584448"/>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Two operators on the line</a:t>
            </a:r>
            <a:endParaRPr lang="en-US" sz="940" dirty="0"/>
          </a:p>
        </p:txBody>
      </p:sp>
      <p:sp>
        <p:nvSpPr>
          <p:cNvPr id="42" name="Text 40"/>
          <p:cNvSpPr/>
          <p:nvPr/>
        </p:nvSpPr>
        <p:spPr>
          <a:xfrm>
            <a:off x="5943600" y="3584448"/>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£0.85</a:t>
            </a:r>
            <a:endParaRPr lang="en-US" sz="980" dirty="0"/>
          </a:p>
        </p:txBody>
      </p:sp>
      <p:sp>
        <p:nvSpPr>
          <p:cNvPr id="43" name="Text 41"/>
          <p:cNvSpPr/>
          <p:nvPr/>
        </p:nvSpPr>
        <p:spPr>
          <a:xfrm>
            <a:off x="713232" y="3840480"/>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Masking fixtures, £45k ÷ 60,000</a:t>
            </a:r>
            <a:endParaRPr lang="en-US" sz="940" dirty="0"/>
          </a:p>
        </p:txBody>
      </p:sp>
      <p:sp>
        <p:nvSpPr>
          <p:cNvPr id="44" name="Text 42"/>
          <p:cNvSpPr/>
          <p:nvPr/>
        </p:nvSpPr>
        <p:spPr>
          <a:xfrm>
            <a:off x="5943600" y="3840480"/>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£0.75</a:t>
            </a:r>
            <a:endParaRPr lang="en-US" sz="980" dirty="0"/>
          </a:p>
        </p:txBody>
      </p:sp>
      <p:sp>
        <p:nvSpPr>
          <p:cNvPr id="45" name="Shape 43"/>
          <p:cNvSpPr/>
          <p:nvPr/>
        </p:nvSpPr>
        <p:spPr>
          <a:xfrm>
            <a:off x="7635240" y="1188720"/>
            <a:ext cx="4096512" cy="3035808"/>
          </a:xfrm>
          <a:prstGeom prst="roundRect">
            <a:avLst>
              <a:gd name="adj" fmla="val 3012"/>
            </a:avLst>
          </a:prstGeom>
          <a:solidFill>
            <a:srgbClr val="0E5A5A"/>
          </a:solidFill>
          <a:ln/>
        </p:spPr>
      </p:sp>
      <p:sp>
        <p:nvSpPr>
          <p:cNvPr id="46" name="Text 44"/>
          <p:cNvSpPr/>
          <p:nvPr/>
        </p:nvSpPr>
        <p:spPr>
          <a:xfrm>
            <a:off x="7863840" y="1298448"/>
            <a:ext cx="3657600" cy="219456"/>
          </a:xfrm>
          <a:prstGeom prst="rect">
            <a:avLst/>
          </a:prstGeom>
          <a:noFill/>
          <a:ln/>
        </p:spPr>
        <p:txBody>
          <a:bodyPr wrap="square" lIns="0" tIns="0" rIns="0" bIns="0" rtlCol="0" anchor="ctr"/>
          <a:lstStyle/>
          <a:p>
            <a:pPr indent="0" marL="0">
              <a:buNone/>
            </a:pPr>
            <a:r>
              <a:rPr lang="en-US" sz="950" b="1" spc="70" kern="0" dirty="0">
                <a:solidFill>
                  <a:srgbClr val="9FD9CF"/>
                </a:solidFill>
                <a:latin typeface="Calibri" pitchFamily="34" charset="0"/>
                <a:ea typeface="Calibri" pitchFamily="34" charset="-122"/>
                <a:cs typeface="Calibri" pitchFamily="34" charset="-120"/>
              </a:rPr>
              <a:t>THE DELIVERED BUMPER</a:t>
            </a:r>
            <a:endParaRPr lang="en-US" sz="950" dirty="0"/>
          </a:p>
        </p:txBody>
      </p:sp>
      <p:sp>
        <p:nvSpPr>
          <p:cNvPr id="47" name="Text 45"/>
          <p:cNvSpPr/>
          <p:nvPr/>
        </p:nvSpPr>
        <p:spPr>
          <a:xfrm>
            <a:off x="7863840" y="1737360"/>
            <a:ext cx="2377440" cy="292608"/>
          </a:xfrm>
          <a:prstGeom prst="rect">
            <a:avLst/>
          </a:prstGeom>
          <a:noFill/>
          <a:ln/>
        </p:spPr>
        <p:txBody>
          <a:bodyPr wrap="square" lIns="0" tIns="0" rIns="0" bIns="0" rtlCol="0" anchor="ctr"/>
          <a:lstStyle/>
          <a:p>
            <a:pPr indent="0" marL="0">
              <a:buNone/>
            </a:pPr>
            <a:r>
              <a:rPr lang="en-US" sz="1000" dirty="0">
                <a:solidFill>
                  <a:srgbClr val="CDEDE7"/>
                </a:solidFill>
                <a:latin typeface="Calibri" pitchFamily="34" charset="0"/>
                <a:ea typeface="Calibri" pitchFamily="34" charset="-122"/>
                <a:cs typeface="Calibri" pitchFamily="34" charset="-120"/>
              </a:rPr>
              <a:t>Moulded, ex-works (China)</a:t>
            </a:r>
            <a:endParaRPr lang="en-US" sz="1000" dirty="0"/>
          </a:p>
        </p:txBody>
      </p:sp>
      <p:sp>
        <p:nvSpPr>
          <p:cNvPr id="48" name="Text 46"/>
          <p:cNvSpPr/>
          <p:nvPr/>
        </p:nvSpPr>
        <p:spPr>
          <a:xfrm>
            <a:off x="10241280" y="1737360"/>
            <a:ext cx="1280160" cy="292608"/>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£26.08</a:t>
            </a:r>
            <a:endParaRPr lang="en-US" sz="1100" dirty="0"/>
          </a:p>
        </p:txBody>
      </p:sp>
      <p:sp>
        <p:nvSpPr>
          <p:cNvPr id="49" name="Text 47"/>
          <p:cNvSpPr/>
          <p:nvPr/>
        </p:nvSpPr>
        <p:spPr>
          <a:xfrm>
            <a:off x="7863840" y="2066544"/>
            <a:ext cx="2377440" cy="292608"/>
          </a:xfrm>
          <a:prstGeom prst="rect">
            <a:avLst/>
          </a:prstGeom>
          <a:noFill/>
          <a:ln/>
        </p:spPr>
        <p:txBody>
          <a:bodyPr wrap="square" lIns="0" tIns="0" rIns="0" bIns="0" rtlCol="0" anchor="ctr"/>
          <a:lstStyle/>
          <a:p>
            <a:pPr indent="0" marL="0">
              <a:buNone/>
            </a:pPr>
            <a:r>
              <a:rPr lang="en-US" sz="1000" dirty="0">
                <a:solidFill>
                  <a:srgbClr val="CDEDE7"/>
                </a:solidFill>
                <a:latin typeface="Calibri" pitchFamily="34" charset="0"/>
                <a:ea typeface="Calibri" pitchFamily="34" charset="-122"/>
                <a:cs typeface="Calibri" pitchFamily="34" charset="-120"/>
              </a:rPr>
              <a:t>+ Paint line (China rates)</a:t>
            </a:r>
            <a:endParaRPr lang="en-US" sz="1000" dirty="0"/>
          </a:p>
        </p:txBody>
      </p:sp>
      <p:sp>
        <p:nvSpPr>
          <p:cNvPr id="50" name="Text 48"/>
          <p:cNvSpPr/>
          <p:nvPr/>
        </p:nvSpPr>
        <p:spPr>
          <a:xfrm>
            <a:off x="10241280" y="2066544"/>
            <a:ext cx="1280160" cy="292608"/>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£13.14</a:t>
            </a:r>
            <a:endParaRPr lang="en-US" sz="1100" dirty="0"/>
          </a:p>
        </p:txBody>
      </p:sp>
      <p:sp>
        <p:nvSpPr>
          <p:cNvPr id="51" name="Shape 49"/>
          <p:cNvSpPr/>
          <p:nvPr/>
        </p:nvSpPr>
        <p:spPr>
          <a:xfrm>
            <a:off x="7863840" y="2468880"/>
            <a:ext cx="3657600" cy="0"/>
          </a:xfrm>
          <a:prstGeom prst="line">
            <a:avLst/>
          </a:prstGeom>
          <a:noFill/>
          <a:ln w="12700">
            <a:solidFill>
              <a:srgbClr val="9FD9CF"/>
            </a:solidFill>
            <a:prstDash val="solid"/>
          </a:ln>
        </p:spPr>
      </p:sp>
      <p:sp>
        <p:nvSpPr>
          <p:cNvPr id="52" name="Text 50"/>
          <p:cNvSpPr/>
          <p:nvPr/>
        </p:nvSpPr>
        <p:spPr>
          <a:xfrm>
            <a:off x="7863840" y="2578608"/>
            <a:ext cx="3657600" cy="64008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£39.22</a:t>
            </a:r>
            <a:endParaRPr lang="en-US" sz="3400" dirty="0"/>
          </a:p>
        </p:txBody>
      </p:sp>
      <p:sp>
        <p:nvSpPr>
          <p:cNvPr id="53" name="Text 51"/>
          <p:cNvSpPr/>
          <p:nvPr/>
        </p:nvSpPr>
        <p:spPr>
          <a:xfrm>
            <a:off x="7863840" y="3255264"/>
            <a:ext cx="3657600" cy="237744"/>
          </a:xfrm>
          <a:prstGeom prst="rect">
            <a:avLst/>
          </a:prstGeom>
          <a:noFill/>
          <a:ln/>
        </p:spPr>
        <p:txBody>
          <a:bodyPr wrap="square" lIns="0" tIns="0" rIns="0" bIns="0" rtlCol="0" anchor="ctr"/>
          <a:lstStyle/>
          <a:p>
            <a:pPr algn="ctr" indent="0" marL="0">
              <a:buNone/>
            </a:pPr>
            <a:r>
              <a:rPr lang="en-US" sz="1000" dirty="0">
                <a:solidFill>
                  <a:srgbClr val="CDEDE7"/>
                </a:solidFill>
                <a:latin typeface="Calibri" pitchFamily="34" charset="0"/>
                <a:ea typeface="Calibri" pitchFamily="34" charset="-122"/>
                <a:cs typeface="Calibri" pitchFamily="34" charset="-120"/>
              </a:rPr>
              <a:t>painted, ex-works, per part</a:t>
            </a:r>
            <a:endParaRPr lang="en-US" sz="1000" dirty="0"/>
          </a:p>
        </p:txBody>
      </p:sp>
      <p:sp>
        <p:nvSpPr>
          <p:cNvPr id="54" name="Text 52"/>
          <p:cNvSpPr/>
          <p:nvPr/>
        </p:nvSpPr>
        <p:spPr>
          <a:xfrm>
            <a:off x="7863840" y="3566160"/>
            <a:ext cx="3657600" cy="512064"/>
          </a:xfrm>
          <a:prstGeom prst="rect">
            <a:avLst/>
          </a:prstGeom>
          <a:noFill/>
          <a:ln/>
        </p:spPr>
        <p:txBody>
          <a:bodyPr wrap="square" lIns="0" tIns="0" rIns="0" bIns="0" rtlCol="0" anchor="t"/>
          <a:lstStyle/>
          <a:p>
            <a:pPr algn="ctr" indent="0" marL="0">
              <a:buNone/>
            </a:pPr>
            <a:r>
              <a:rPr lang="en-US" sz="920" i="1" dirty="0">
                <a:solidFill>
                  <a:srgbClr val="9FD9CF"/>
                </a:solidFill>
                <a:latin typeface="Calibri" pitchFamily="34" charset="0"/>
                <a:ea typeface="Calibri" pitchFamily="34" charset="-122"/>
                <a:cs typeface="Calibri" pitchFamily="34" charset="-120"/>
              </a:rPr>
              <a:t>Paint is a third of the delivered cost — and half of THAT is one litre of basecoat.</a:t>
            </a:r>
            <a:endParaRPr lang="en-US" sz="920" dirty="0"/>
          </a:p>
        </p:txBody>
      </p:sp>
      <p:sp>
        <p:nvSpPr>
          <p:cNvPr id="55" name="Shape 53"/>
          <p:cNvSpPr/>
          <p:nvPr/>
        </p:nvSpPr>
        <p:spPr>
          <a:xfrm>
            <a:off x="457200" y="4334256"/>
            <a:ext cx="11274552" cy="1152144"/>
          </a:xfrm>
          <a:prstGeom prst="roundRect">
            <a:avLst>
              <a:gd name="adj" fmla="val 7937"/>
            </a:avLst>
          </a:prstGeom>
          <a:solidFill>
            <a:srgbClr val="FFFFFF"/>
          </a:solidFill>
          <a:ln w="19050">
            <a:solidFill>
              <a:srgbClr val="2E8B57"/>
            </a:solidFill>
            <a:prstDash val="solid"/>
          </a:ln>
        </p:spPr>
      </p:sp>
      <p:sp>
        <p:nvSpPr>
          <p:cNvPr id="56" name="Text 54"/>
          <p:cNvSpPr/>
          <p:nvPr/>
        </p:nvSpPr>
        <p:spPr>
          <a:xfrm>
            <a:off x="731520" y="4434840"/>
            <a:ext cx="10515600" cy="256032"/>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Why this is worth costing separately rather than as a percentage uplift</a:t>
            </a:r>
            <a:endParaRPr lang="en-US" sz="1250" dirty="0"/>
          </a:p>
        </p:txBody>
      </p:sp>
      <p:sp>
        <p:nvSpPr>
          <p:cNvPr id="57" name="Text 55"/>
          <p:cNvSpPr/>
          <p:nvPr/>
        </p:nvSpPr>
        <p:spPr>
          <a:xfrm>
            <a:off x="731520" y="4718304"/>
            <a:ext cx="10744200" cy="694944"/>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Transfer efficiency is the number nobody argues about and everybody should. </a:t>
            </a:r>
            <a:pPr indent="0" marL="0">
              <a:buNone/>
            </a:pPr>
            <a:r>
              <a:rPr lang="en-US" sz="1150" dirty="0">
                <a:solidFill>
                  <a:srgbClr val="3A4356"/>
                </a:solidFill>
                <a:latin typeface="Calibri" pitchFamily="34" charset="0"/>
                <a:ea typeface="Calibri" pitchFamily="34" charset="-122"/>
                <a:cs typeface="Calibri" pitchFamily="34" charset="-120"/>
              </a:rPr>
              <a:t>At 60% transfer, four of every ten pounds of basecoat lands in the booth filters rather than on the car. Move that one line to 70% with better electrostatics and the basecoat drops from £5.55 to £4.76 — on 60,000 parts a year that is £47,000. A percentage uplift on the moulded cost would have hidden that completely.</a:t>
            </a:r>
            <a:endParaRPr lang="en-US" sz="1150" dirty="0"/>
          </a:p>
        </p:txBody>
      </p:sp>
      <p:sp>
        <p:nvSpPr>
          <p:cNvPr id="58" name="Shape 56"/>
          <p:cNvSpPr/>
          <p:nvPr/>
        </p:nvSpPr>
        <p:spPr>
          <a:xfrm>
            <a:off x="457200" y="5596128"/>
            <a:ext cx="11274552" cy="694944"/>
          </a:xfrm>
          <a:prstGeom prst="roundRect">
            <a:avLst>
              <a:gd name="adj" fmla="val 13158"/>
            </a:avLst>
          </a:prstGeom>
          <a:solidFill>
            <a:srgbClr val="FCF3E3"/>
          </a:solidFill>
          <a:ln w="12700">
            <a:solidFill>
              <a:srgbClr val="B7791F"/>
            </a:solidFill>
            <a:prstDash val="solid"/>
          </a:ln>
        </p:spPr>
      </p:sp>
      <p:sp>
        <p:nvSpPr>
          <p:cNvPr id="59" name="Text 57"/>
          <p:cNvSpPr/>
          <p:nvPr/>
        </p:nvSpPr>
        <p:spPr>
          <a:xfrm>
            <a:off x="731520" y="5669280"/>
            <a:ext cx="10744200" cy="548640"/>
          </a:xfrm>
          <a:prstGeom prst="rect">
            <a:avLst/>
          </a:prstGeom>
          <a:noFill/>
          <a:ln/>
        </p:spPr>
        <p:txBody>
          <a:bodyPr wrap="square" lIns="0" tIns="0" rIns="0" bIns="0" rtlCol="0" anchor="ctr"/>
          <a:lstStyle/>
          <a:p>
            <a:pPr indent="0" marL="0">
              <a:buNone/>
            </a:pPr>
            <a:r>
              <a:rPr lang="en-US" sz="1100" b="1" dirty="0">
                <a:solidFill>
                  <a:srgbClr val="B7791F"/>
                </a:solidFill>
                <a:latin typeface="Calibri" pitchFamily="34" charset="0"/>
                <a:ea typeface="Calibri" pitchFamily="34" charset="-122"/>
                <a:cs typeface="Calibri" pitchFamily="34" charset="-120"/>
              </a:rPr>
              <a:t>Honest note:  </a:t>
            </a:r>
            <a:pPr indent="0" marL="0">
              <a:buNone/>
            </a:pPr>
            <a:r>
              <a:rPr lang="en-US" sz="1100" dirty="0">
                <a:solidFill>
                  <a:srgbClr val="3A4356"/>
                </a:solidFill>
                <a:latin typeface="Calibri" pitchFamily="34" charset="0"/>
                <a:ea typeface="Calibri" pitchFamily="34" charset="-122"/>
                <a:cs typeface="Calibri" pitchFamily="34" charset="-120"/>
              </a:rPr>
              <a:t>the paint line is a separate costing in the tool, not a bucket inside the moulding one — because in the real world it is usually a separate supplier with its own overhead and margin. The £39.22 above adds the two ex-works costs; it does not double-count either supplier’s margin.</a:t>
            </a:r>
            <a:endParaRPr lang="en-US" sz="1100" dirty="0"/>
          </a:p>
        </p:txBody>
      </p:sp>
      <p:sp>
        <p:nvSpPr>
          <p:cNvPr id="60" name="Text 5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1" name="Text 5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Two Findings From the Moulded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Neither of these was predictable in advance — the method surfaced both</a:t>
            </a:r>
            <a:endParaRPr lang="en-US" sz="1200" dirty="0"/>
          </a:p>
        </p:txBody>
      </p:sp>
      <p:sp>
        <p:nvSpPr>
          <p:cNvPr id="5" name="Shape 3"/>
          <p:cNvSpPr/>
          <p:nvPr/>
        </p:nvSpPr>
        <p:spPr>
          <a:xfrm>
            <a:off x="457200" y="1188720"/>
            <a:ext cx="5532120" cy="2395728"/>
          </a:xfrm>
          <a:prstGeom prst="roundRect">
            <a:avLst>
              <a:gd name="adj" fmla="val 3817"/>
            </a:avLst>
          </a:prstGeom>
          <a:solidFill>
            <a:srgbClr val="FFFFFF"/>
          </a:solidFill>
          <a:ln w="22225">
            <a:solidFill>
              <a:srgbClr val="0E8074"/>
            </a:solidFill>
            <a:prstDash val="solid"/>
          </a:ln>
        </p:spPr>
      </p:sp>
      <p:sp>
        <p:nvSpPr>
          <p:cNvPr id="6" name="Shape 4"/>
          <p:cNvSpPr/>
          <p:nvPr/>
        </p:nvSpPr>
        <p:spPr>
          <a:xfrm>
            <a:off x="685800" y="1371600"/>
            <a:ext cx="457200" cy="457200"/>
          </a:xfrm>
          <a:prstGeom prst="ellipse">
            <a:avLst/>
          </a:prstGeom>
          <a:solidFill>
            <a:srgbClr val="0E8074"/>
          </a:solidFill>
          <a:ln/>
        </p:spPr>
      </p:sp>
      <p:sp>
        <p:nvSpPr>
          <p:cNvPr id="7" name="Text 5"/>
          <p:cNvSpPr/>
          <p:nvPr/>
        </p:nvSpPr>
        <p:spPr>
          <a:xfrm>
            <a:off x="685800" y="137160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8" name="Text 6"/>
          <p:cNvSpPr/>
          <p:nvPr/>
        </p:nvSpPr>
        <p:spPr>
          <a:xfrm>
            <a:off x="1280160" y="1371600"/>
            <a:ext cx="4480560" cy="457200"/>
          </a:xfrm>
          <a:prstGeom prst="rect">
            <a:avLst/>
          </a:prstGeom>
          <a:noFill/>
          <a:ln/>
        </p:spPr>
        <p:txBody>
          <a:bodyPr wrap="square" lIns="0" tIns="0" rIns="0" bIns="0" rtlCol="0" anchor="ctr"/>
          <a:lstStyle/>
          <a:p>
            <a:pPr indent="0" marL="0">
              <a:buNone/>
            </a:pPr>
            <a:r>
              <a:rPr lang="en-US" sz="1500" b="1" dirty="0">
                <a:solidFill>
                  <a:srgbClr val="0E8074"/>
                </a:solidFill>
                <a:latin typeface="Calibri" pitchFamily="34" charset="0"/>
                <a:ea typeface="Calibri" pitchFamily="34" charset="-122"/>
                <a:cs typeface="Calibri" pitchFamily="34" charset="-120"/>
              </a:rPr>
              <a:t>The tool is the product</a:t>
            </a:r>
            <a:endParaRPr lang="en-US" sz="1500" dirty="0"/>
          </a:p>
        </p:txBody>
      </p:sp>
      <p:sp>
        <p:nvSpPr>
          <p:cNvPr id="9" name="Text 7"/>
          <p:cNvSpPr/>
          <p:nvPr/>
        </p:nvSpPr>
        <p:spPr>
          <a:xfrm>
            <a:off x="713232" y="1938528"/>
            <a:ext cx="5029200" cy="155448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Tooling is £11.20 of the £26.08 part — 43%, the biggest single bucket. </a:t>
            </a:r>
            <a:pPr indent="0" marL="0">
              <a:buNone/>
            </a:pPr>
            <a:r>
              <a:rPr lang="en-US" sz="1100" dirty="0">
                <a:solidFill>
                  <a:srgbClr val="3A4356"/>
                </a:solidFill>
                <a:latin typeface="Calibri" pitchFamily="34" charset="0"/>
                <a:ea typeface="Calibri" pitchFamily="34" charset="-122"/>
                <a:cs typeface="Calibri" pitchFamily="34" charset="-120"/>
              </a:rPr>
              <a:t>It is larger than the resin, the press and the labour </a:t>
            </a:r>
            <a:pPr indent="0" marL="0">
              <a:buNone/>
            </a:pPr>
            <a:r>
              <a:rPr lang="en-US" sz="1100" b="1" dirty="0">
                <a:solidFill>
                  <a:srgbClr val="16325C"/>
                </a:solidFill>
                <a:latin typeface="Calibri" pitchFamily="34" charset="0"/>
                <a:ea typeface="Calibri" pitchFamily="34" charset="-122"/>
                <a:cs typeface="Calibri" pitchFamily="34" charset="-120"/>
              </a:rPr>
              <a:t>added together </a:t>
            </a:r>
            <a:pPr indent="0" marL="0">
              <a:buNone/>
            </a:pPr>
            <a:r>
              <a:rPr lang="en-US" sz="1100" dirty="0">
                <a:solidFill>
                  <a:srgbClr val="3A4356"/>
                </a:solidFill>
                <a:latin typeface="Calibri" pitchFamily="34" charset="0"/>
                <a:ea typeface="Calibri" pitchFamily="34" charset="-122"/>
                <a:cs typeface="Calibri" pitchFamily="34" charset="-120"/>
              </a:rPr>
              <a:t>(£4.46 + £2.45 + £0.05 = £6.96).</a:t>
            </a:r>
            <a:endParaRPr lang="en-US" sz="1100" dirty="0"/>
          </a:p>
          <a:p>
            <a:pPr indent="0" marL="0">
              <a:buNone/>
            </a:pPr>
            <a:endParaRPr lang="en-US" sz="1100" dirty="0"/>
          </a:p>
          <a:p>
            <a:pPr indent="0" marL="0">
              <a:buNone/>
            </a:pPr>
            <a:r>
              <a:rPr lang="en-US" sz="1100" dirty="0">
                <a:solidFill>
                  <a:srgbClr val="3A4356"/>
                </a:solidFill>
                <a:latin typeface="Calibri" pitchFamily="34" charset="0"/>
                <a:ea typeface="Calibri" pitchFamily="34" charset="-122"/>
                <a:cs typeface="Calibri" pitchFamily="34" charset="-120"/>
              </a:rPr>
              <a:t>On the casting, tooling was £2.17 — six percent. Same method, same engine, and the money has moved to a completely different bucket.</a:t>
            </a:r>
            <a:endParaRPr lang="en-US" sz="1100" dirty="0"/>
          </a:p>
        </p:txBody>
      </p:sp>
      <p:sp>
        <p:nvSpPr>
          <p:cNvPr id="10" name="Shape 8"/>
          <p:cNvSpPr/>
          <p:nvPr/>
        </p:nvSpPr>
        <p:spPr>
          <a:xfrm>
            <a:off x="6199632" y="1188720"/>
            <a:ext cx="5532120" cy="2395728"/>
          </a:xfrm>
          <a:prstGeom prst="roundRect">
            <a:avLst>
              <a:gd name="adj" fmla="val 3817"/>
            </a:avLst>
          </a:prstGeom>
          <a:solidFill>
            <a:srgbClr val="FFFFFF"/>
          </a:solidFill>
          <a:ln w="22225">
            <a:solidFill>
              <a:srgbClr val="2E8B57"/>
            </a:solidFill>
            <a:prstDash val="solid"/>
          </a:ln>
        </p:spPr>
      </p:sp>
      <p:sp>
        <p:nvSpPr>
          <p:cNvPr id="11" name="Shape 9"/>
          <p:cNvSpPr/>
          <p:nvPr/>
        </p:nvSpPr>
        <p:spPr>
          <a:xfrm>
            <a:off x="6428232" y="1371600"/>
            <a:ext cx="457200" cy="457200"/>
          </a:xfrm>
          <a:prstGeom prst="ellipse">
            <a:avLst/>
          </a:prstGeom>
          <a:solidFill>
            <a:srgbClr val="2E8B57"/>
          </a:solidFill>
          <a:ln/>
        </p:spPr>
      </p:sp>
      <p:sp>
        <p:nvSpPr>
          <p:cNvPr id="12" name="Text 10"/>
          <p:cNvSpPr/>
          <p:nvPr/>
        </p:nvSpPr>
        <p:spPr>
          <a:xfrm>
            <a:off x="6428232" y="137160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3" name="Text 11"/>
          <p:cNvSpPr/>
          <p:nvPr/>
        </p:nvSpPr>
        <p:spPr>
          <a:xfrm>
            <a:off x="7022592" y="1371600"/>
            <a:ext cx="4480560" cy="457200"/>
          </a:xfrm>
          <a:prstGeom prst="rect">
            <a:avLst/>
          </a:prstGeom>
          <a:noFill/>
          <a:ln/>
        </p:spPr>
        <p:txBody>
          <a:bodyPr wrap="square" lIns="0" tIns="0" rIns="0" bIns="0" rtlCol="0" anchor="ctr"/>
          <a:lstStyle/>
          <a:p>
            <a:pPr indent="0" marL="0">
              <a:buNone/>
            </a:pPr>
            <a:r>
              <a:rPr lang="en-US" sz="1500" b="1" dirty="0">
                <a:solidFill>
                  <a:srgbClr val="2E8B57"/>
                </a:solidFill>
                <a:latin typeface="Calibri" pitchFamily="34" charset="0"/>
                <a:ea typeface="Calibri" pitchFamily="34" charset="-122"/>
                <a:cs typeface="Calibri" pitchFamily="34" charset="-120"/>
              </a:rPr>
              <a:t>Offshoring barely pays here</a:t>
            </a:r>
            <a:endParaRPr lang="en-US" sz="1500" dirty="0"/>
          </a:p>
        </p:txBody>
      </p:sp>
      <p:sp>
        <p:nvSpPr>
          <p:cNvPr id="14" name="Text 12"/>
          <p:cNvSpPr/>
          <p:nvPr/>
        </p:nvSpPr>
        <p:spPr>
          <a:xfrm>
            <a:off x="6455664" y="1938528"/>
            <a:ext cx="5029200" cy="155448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China £26.08 against a UK £31.06 — a 19% gap. On the casting the same comparison was 55%.
</a:t>
            </a:r>
            <a:pPr indent="0" marL="0">
              <a:buNone/>
            </a:pPr>
            <a:r>
              <a:rPr lang="en-US" sz="1100" dirty="0">
                <a:solidFill>
                  <a:srgbClr val="3A4356"/>
                </a:solidFill>
                <a:latin typeface="Calibri" pitchFamily="34" charset="0"/>
                <a:ea typeface="Calibri" pitchFamily="34" charset="-122"/>
                <a:cs typeface="Calibri" pitchFamily="34" charset="-120"/>
              </a:rPr>
              <a:t>The tool, the packaging and the logistics do not get cheaper by moving the factory, and the resin is a world price. Only press hours and labour move — and this part has barely any labour in it.</a:t>
            </a:r>
            <a:endParaRPr lang="en-US" sz="1100" dirty="0"/>
          </a:p>
        </p:txBody>
      </p:sp>
      <p:sp>
        <p:nvSpPr>
          <p:cNvPr id="15" name="Shape 13"/>
          <p:cNvSpPr/>
          <p:nvPr/>
        </p:nvSpPr>
        <p:spPr>
          <a:xfrm>
            <a:off x="457200" y="3767328"/>
            <a:ext cx="11274552" cy="1298448"/>
          </a:xfrm>
          <a:prstGeom prst="roundRect">
            <a:avLst>
              <a:gd name="adj" fmla="val 7042"/>
            </a:avLst>
          </a:prstGeom>
          <a:solidFill>
            <a:srgbClr val="FFFFFF"/>
          </a:solidFill>
          <a:ln w="12700">
            <a:solidFill>
              <a:srgbClr val="DCE3EE"/>
            </a:solidFill>
            <a:prstDash val="solid"/>
          </a:ln>
        </p:spPr>
      </p:sp>
      <p:sp>
        <p:nvSpPr>
          <p:cNvPr id="16" name="Text 14"/>
          <p:cNvSpPr/>
          <p:nvPr/>
        </p:nvSpPr>
        <p:spPr>
          <a:xfrm>
            <a:off x="731520" y="3877056"/>
            <a:ext cx="10515600" cy="256032"/>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What each finding changes on Monday morning</a:t>
            </a:r>
            <a:endParaRPr lang="en-US" sz="1250" dirty="0"/>
          </a:p>
        </p:txBody>
      </p:sp>
      <p:sp>
        <p:nvSpPr>
          <p:cNvPr id="17" name="Text 15"/>
          <p:cNvSpPr/>
          <p:nvPr/>
        </p:nvSpPr>
        <p:spPr>
          <a:xfrm>
            <a:off x="731520" y="4169664"/>
            <a:ext cx="10744200" cy="804672"/>
          </a:xfrm>
          <a:prstGeom prst="rect">
            <a:avLst/>
          </a:prstGeom>
          <a:noFill/>
          <a:ln/>
        </p:spPr>
        <p:txBody>
          <a:bodyPr wrap="square" lIns="0" tIns="0" rIns="0" bIns="0" rtlCol="0" anchor="t"/>
          <a:lstStyle/>
          <a:p>
            <a:pPr indent="0" marL="0">
              <a:buNone/>
            </a:pPr>
            <a:r>
              <a:rPr lang="en-US" sz="1150" b="1" dirty="0">
                <a:solidFill>
                  <a:srgbClr val="0E8074"/>
                </a:solidFill>
                <a:latin typeface="Calibri" pitchFamily="34" charset="0"/>
                <a:ea typeface="Calibri" pitchFamily="34" charset="-122"/>
                <a:cs typeface="Calibri" pitchFamily="34" charset="-120"/>
              </a:rPr>
              <a:t>Finding 1 → </a:t>
            </a:r>
            <a:pPr indent="0" marL="0">
              <a:buNone/>
            </a:pPr>
            <a:r>
              <a:rPr lang="en-US" sz="1150" dirty="0">
                <a:solidFill>
                  <a:srgbClr val="3A4356"/>
                </a:solidFill>
                <a:latin typeface="Calibri" pitchFamily="34" charset="0"/>
                <a:ea typeface="Calibri" pitchFamily="34" charset="-122"/>
                <a:cs typeface="Calibri" pitchFamily="34" charset="-120"/>
              </a:rPr>
              <a:t>stop negotiating the piece price and negotiate the tooling deal: who owns the tool, over how many parts it is amortised, and what happens at end of programme. Over five years instead of one, this part is £15.14 rather than £26.08.
</a:t>
            </a:r>
            <a:pPr indent="0" marL="0">
              <a:buNone/>
            </a:pPr>
            <a:r>
              <a:rPr lang="en-US" sz="1150" b="1" dirty="0">
                <a:solidFill>
                  <a:srgbClr val="2E8B57"/>
                </a:solidFill>
                <a:latin typeface="Calibri" pitchFamily="34" charset="0"/>
                <a:ea typeface="Calibri" pitchFamily="34" charset="-122"/>
                <a:cs typeface="Calibri" pitchFamily="34" charset="-120"/>
              </a:rPr>
              <a:t>Finding 2 → </a:t>
            </a:r>
            <a:pPr indent="0" marL="0">
              <a:buNone/>
            </a:pPr>
            <a:r>
              <a:rPr lang="en-US" sz="1150" dirty="0">
                <a:solidFill>
                  <a:srgbClr val="3A4356"/>
                </a:solidFill>
                <a:latin typeface="Calibri" pitchFamily="34" charset="0"/>
                <a:ea typeface="Calibri" pitchFamily="34" charset="-122"/>
                <a:cs typeface="Calibri" pitchFamily="34" charset="-120"/>
              </a:rPr>
              <a:t>do not move a tooling-heavy part offshore expecting casting-sized savings. Nineteen percent, against freight, lead time, quality risk and tooling transfer cost, may not clear the bar at all.</a:t>
            </a:r>
            <a:endParaRPr lang="en-US" sz="1150" dirty="0"/>
          </a:p>
        </p:txBody>
      </p:sp>
      <p:sp>
        <p:nvSpPr>
          <p:cNvPr id="18" name="Shape 16"/>
          <p:cNvSpPr/>
          <p:nvPr/>
        </p:nvSpPr>
        <p:spPr>
          <a:xfrm>
            <a:off x="457200" y="5212080"/>
            <a:ext cx="11274552" cy="777240"/>
          </a:xfrm>
          <a:prstGeom prst="roundRect">
            <a:avLst>
              <a:gd name="adj" fmla="val 11765"/>
            </a:avLst>
          </a:prstGeom>
          <a:solidFill>
            <a:srgbClr val="16325C"/>
          </a:solidFill>
          <a:ln/>
        </p:spPr>
      </p:sp>
      <p:sp>
        <p:nvSpPr>
          <p:cNvPr id="19" name="Text 17"/>
          <p:cNvSpPr/>
          <p:nvPr/>
        </p:nvSpPr>
        <p:spPr>
          <a:xfrm>
            <a:off x="777240" y="5285232"/>
            <a:ext cx="10652760" cy="640080"/>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Ask yourself honestly:  </a:t>
            </a:r>
            <a:pPr indent="0" marL="0">
              <a:buNone/>
            </a:pPr>
            <a:r>
              <a:rPr lang="en-US" sz="1200" dirty="0">
                <a:solidFill>
                  <a:srgbClr val="FFFFFF"/>
                </a:solidFill>
                <a:latin typeface="Calibri" pitchFamily="34" charset="0"/>
                <a:ea typeface="Calibri" pitchFamily="34" charset="-122"/>
                <a:cs typeface="Calibri" pitchFamily="34" charset="-120"/>
              </a:rPr>
              <a:t>before this run, would anyone have told you the tool was 43% of a bumper, or that offshoring it saves only 19%? That is what the method is for.</a:t>
            </a:r>
            <a:endParaRPr lang="en-US" sz="1200" dirty="0"/>
          </a:p>
        </p:txBody>
      </p:sp>
      <p:sp>
        <p:nvSpPr>
          <p:cNvPr id="20" name="Text 1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21" name="Text 1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35</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11–12 · The Band, and What the Two Parts Teach</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Same tool, same method — two completely different answers about where the money is</a:t>
            </a:r>
            <a:endParaRPr lang="en-US" sz="1200" dirty="0"/>
          </a:p>
        </p:txBody>
      </p:sp>
      <p:sp>
        <p:nvSpPr>
          <p:cNvPr id="5" name="Shape 3"/>
          <p:cNvSpPr/>
          <p:nvPr/>
        </p:nvSpPr>
        <p:spPr>
          <a:xfrm>
            <a:off x="457200" y="1188720"/>
            <a:ext cx="5532120" cy="1719072"/>
          </a:xfrm>
          <a:prstGeom prst="roundRect">
            <a:avLst>
              <a:gd name="adj" fmla="val 5319"/>
            </a:avLst>
          </a:prstGeom>
          <a:solidFill>
            <a:srgbClr val="FFFFFF"/>
          </a:solidFill>
          <a:ln w="12700">
            <a:solidFill>
              <a:srgbClr val="DCE3EE"/>
            </a:solidFill>
            <a:prstDash val="solid"/>
          </a:ln>
        </p:spPr>
      </p:sp>
      <p:sp>
        <p:nvSpPr>
          <p:cNvPr id="6" name="Text 4"/>
          <p:cNvSpPr/>
          <p:nvPr/>
        </p:nvSpPr>
        <p:spPr>
          <a:xfrm>
            <a:off x="685800" y="1298448"/>
            <a:ext cx="5029200" cy="256032"/>
          </a:xfrm>
          <a:prstGeom prst="rect">
            <a:avLst/>
          </a:prstGeom>
          <a:noFill/>
          <a:ln/>
        </p:spPr>
        <p:txBody>
          <a:bodyPr wrap="square" lIns="0" tIns="0" rIns="0" bIns="0" rtlCol="0" anchor="ctr"/>
          <a:lstStyle/>
          <a:p>
            <a:pPr indent="0" marL="0">
              <a:buNone/>
            </a:pPr>
            <a:r>
              <a:rPr lang="en-US" sz="1200" b="1" dirty="0">
                <a:solidFill>
                  <a:srgbClr val="2E8B57"/>
                </a:solidFill>
                <a:latin typeface="Calibri" pitchFamily="34" charset="0"/>
                <a:ea typeface="Calibri" pitchFamily="34" charset="-122"/>
                <a:cs typeface="Calibri" pitchFamily="34" charset="-120"/>
              </a:rPr>
              <a:t>11 · The honest range on this part</a:t>
            </a:r>
            <a:endParaRPr lang="en-US" sz="1200" dirty="0"/>
          </a:p>
        </p:txBody>
      </p:sp>
      <p:sp>
        <p:nvSpPr>
          <p:cNvPr id="7" name="Shape 5"/>
          <p:cNvSpPr/>
          <p:nvPr/>
        </p:nvSpPr>
        <p:spPr>
          <a:xfrm>
            <a:off x="713232" y="1700784"/>
            <a:ext cx="5029200" cy="274320"/>
          </a:xfrm>
          <a:prstGeom prst="roundRect">
            <a:avLst>
              <a:gd name="adj" fmla="val 50000"/>
            </a:avLst>
          </a:prstGeom>
          <a:solidFill>
            <a:srgbClr val="DCE3EE"/>
          </a:solidFill>
          <a:ln/>
        </p:spPr>
      </p:sp>
      <p:sp>
        <p:nvSpPr>
          <p:cNvPr id="8" name="Shape 6"/>
          <p:cNvSpPr/>
          <p:nvPr/>
        </p:nvSpPr>
        <p:spPr>
          <a:xfrm>
            <a:off x="1630462" y="1700784"/>
            <a:ext cx="3192345" cy="274320"/>
          </a:xfrm>
          <a:prstGeom prst="roundRect">
            <a:avLst>
              <a:gd name="adj" fmla="val 50000"/>
            </a:avLst>
          </a:prstGeom>
          <a:solidFill>
            <a:srgbClr val="0E8074"/>
          </a:solidFill>
          <a:ln/>
        </p:spPr>
      </p:sp>
      <p:sp>
        <p:nvSpPr>
          <p:cNvPr id="9" name="Shape 7"/>
          <p:cNvSpPr/>
          <p:nvPr/>
        </p:nvSpPr>
        <p:spPr>
          <a:xfrm>
            <a:off x="3103474" y="1636776"/>
            <a:ext cx="47549" cy="402336"/>
          </a:xfrm>
          <a:prstGeom prst="rect">
            <a:avLst/>
          </a:prstGeom>
          <a:solidFill>
            <a:srgbClr val="16325C"/>
          </a:solidFill>
          <a:ln/>
        </p:spPr>
      </p:sp>
      <p:sp>
        <p:nvSpPr>
          <p:cNvPr id="10" name="Text 8"/>
          <p:cNvSpPr/>
          <p:nvPr/>
        </p:nvSpPr>
        <p:spPr>
          <a:xfrm>
            <a:off x="1081822" y="2048256"/>
            <a:ext cx="1097280" cy="201168"/>
          </a:xfrm>
          <a:prstGeom prst="rect">
            <a:avLst/>
          </a:prstGeom>
          <a:noFill/>
          <a:ln/>
        </p:spPr>
        <p:txBody>
          <a:bodyPr wrap="square" lIns="0" tIns="0" rIns="0" bIns="0" rtlCol="0" anchor="ctr"/>
          <a:lstStyle/>
          <a:p>
            <a:pPr algn="ctr" indent="0" marL="0">
              <a:buNone/>
            </a:pPr>
            <a:r>
              <a:rPr lang="en-US" sz="850" dirty="0">
                <a:solidFill>
                  <a:srgbClr val="6B7280"/>
                </a:solidFill>
                <a:latin typeface="Calibri" pitchFamily="34" charset="0"/>
                <a:ea typeface="Calibri" pitchFamily="34" charset="-122"/>
                <a:cs typeface="Calibri" pitchFamily="34" charset="-120"/>
              </a:rPr>
              <a:t>P10  £19.83</a:t>
            </a:r>
            <a:endParaRPr lang="en-US" sz="850" dirty="0"/>
          </a:p>
        </p:txBody>
      </p:sp>
      <p:sp>
        <p:nvSpPr>
          <p:cNvPr id="11" name="Text 9"/>
          <p:cNvSpPr/>
          <p:nvPr/>
        </p:nvSpPr>
        <p:spPr>
          <a:xfrm>
            <a:off x="2578608" y="2048256"/>
            <a:ext cx="1097280" cy="201168"/>
          </a:xfrm>
          <a:prstGeom prst="rect">
            <a:avLst/>
          </a:prstGeom>
          <a:noFill/>
          <a:ln/>
        </p:spPr>
        <p:txBody>
          <a:bodyPr wrap="square" lIns="0" tIns="0" rIns="0" bIns="0" rtlCol="0" anchor="ctr"/>
          <a:lstStyle/>
          <a:p>
            <a:pPr algn="ctr" indent="0" marL="0">
              <a:buNone/>
            </a:pPr>
            <a:r>
              <a:rPr lang="en-US" sz="1000" b="1" dirty="0">
                <a:solidFill>
                  <a:srgbClr val="16325C"/>
                </a:solidFill>
                <a:latin typeface="Calibri" pitchFamily="34" charset="0"/>
                <a:ea typeface="Calibri" pitchFamily="34" charset="-122"/>
                <a:cs typeface="Calibri" pitchFamily="34" charset="-120"/>
              </a:rPr>
              <a:t>£26.08</a:t>
            </a:r>
            <a:endParaRPr lang="en-US" sz="1000" dirty="0"/>
          </a:p>
        </p:txBody>
      </p:sp>
      <p:sp>
        <p:nvSpPr>
          <p:cNvPr id="12" name="Text 10"/>
          <p:cNvSpPr/>
          <p:nvPr/>
        </p:nvSpPr>
        <p:spPr>
          <a:xfrm>
            <a:off x="4274167" y="2048256"/>
            <a:ext cx="1097280" cy="201168"/>
          </a:xfrm>
          <a:prstGeom prst="rect">
            <a:avLst/>
          </a:prstGeom>
          <a:noFill/>
          <a:ln/>
        </p:spPr>
        <p:txBody>
          <a:bodyPr wrap="square" lIns="0" tIns="0" rIns="0" bIns="0" rtlCol="0" anchor="ctr"/>
          <a:lstStyle/>
          <a:p>
            <a:pPr algn="ctr" indent="0" marL="0">
              <a:buNone/>
            </a:pPr>
            <a:r>
              <a:rPr lang="en-US" sz="850" dirty="0">
                <a:solidFill>
                  <a:srgbClr val="6B7280"/>
                </a:solidFill>
                <a:latin typeface="Calibri" pitchFamily="34" charset="0"/>
                <a:ea typeface="Calibri" pitchFamily="34" charset="-122"/>
                <a:cs typeface="Calibri" pitchFamily="34" charset="-120"/>
              </a:rPr>
              <a:t>P90  £33.16</a:t>
            </a:r>
            <a:endParaRPr lang="en-US" sz="850" dirty="0"/>
          </a:p>
        </p:txBody>
      </p:sp>
      <p:sp>
        <p:nvSpPr>
          <p:cNvPr id="13" name="Text 11"/>
          <p:cNvSpPr/>
          <p:nvPr/>
        </p:nvSpPr>
        <p:spPr>
          <a:xfrm>
            <a:off x="713232" y="2340864"/>
            <a:ext cx="5029200" cy="512064"/>
          </a:xfrm>
          <a:prstGeom prst="rect">
            <a:avLst/>
          </a:prstGeom>
          <a:noFill/>
          <a:ln/>
        </p:spPr>
        <p:txBody>
          <a:bodyPr wrap="square" lIns="0" tIns="0" rIns="0" bIns="0" rtlCol="0" anchor="t"/>
          <a:lstStyle/>
          <a:p>
            <a:pPr indent="0" marL="0">
              <a:buNone/>
            </a:pPr>
            <a:r>
              <a:rPr lang="en-US" sz="940" i="1" dirty="0">
                <a:solidFill>
                  <a:srgbClr val="6B7280"/>
                </a:solidFill>
                <a:latin typeface="Calibri" pitchFamily="34" charset="0"/>
                <a:ea typeface="Calibri" pitchFamily="34" charset="-122"/>
                <a:cs typeface="Calibri" pitchFamily="34" charset="-120"/>
              </a:rPr>
              <a:t>±26% — wider than the casting, because so much of the answer rides on one tooling quotation.</a:t>
            </a:r>
            <a:endParaRPr lang="en-US" sz="940" dirty="0"/>
          </a:p>
        </p:txBody>
      </p:sp>
      <p:sp>
        <p:nvSpPr>
          <p:cNvPr id="14" name="Shape 12"/>
          <p:cNvSpPr/>
          <p:nvPr/>
        </p:nvSpPr>
        <p:spPr>
          <a:xfrm>
            <a:off x="6199632" y="1188720"/>
            <a:ext cx="5532120" cy="1719072"/>
          </a:xfrm>
          <a:prstGeom prst="roundRect">
            <a:avLst>
              <a:gd name="adj" fmla="val 5319"/>
            </a:avLst>
          </a:prstGeom>
          <a:solidFill>
            <a:srgbClr val="EAF6EF"/>
          </a:solidFill>
          <a:ln w="15875">
            <a:solidFill>
              <a:srgbClr val="2E8B57"/>
            </a:solidFill>
            <a:prstDash val="solid"/>
          </a:ln>
        </p:spPr>
      </p:sp>
      <p:sp>
        <p:nvSpPr>
          <p:cNvPr id="15" name="Text 13"/>
          <p:cNvSpPr/>
          <p:nvPr/>
        </p:nvSpPr>
        <p:spPr>
          <a:xfrm>
            <a:off x="6428232" y="1298448"/>
            <a:ext cx="5029200" cy="256032"/>
          </a:xfrm>
          <a:prstGeom prst="rect">
            <a:avLst/>
          </a:prstGeom>
          <a:noFill/>
          <a:ln/>
        </p:spPr>
        <p:txBody>
          <a:bodyPr wrap="square" lIns="0" tIns="0" rIns="0" bIns="0" rtlCol="0" anchor="ctr"/>
          <a:lstStyle/>
          <a:p>
            <a:pPr indent="0" marL="0">
              <a:buNone/>
            </a:pPr>
            <a:r>
              <a:rPr lang="en-US" sz="1200" b="1" dirty="0">
                <a:solidFill>
                  <a:srgbClr val="2E8B57"/>
                </a:solidFill>
                <a:latin typeface="Calibri" pitchFamily="34" charset="0"/>
                <a:ea typeface="Calibri" pitchFamily="34" charset="-122"/>
                <a:cs typeface="Calibri" pitchFamily="34" charset="-120"/>
              </a:rPr>
              <a:t>12 · The lever the engineer actually has</a:t>
            </a:r>
            <a:endParaRPr lang="en-US" sz="1200" dirty="0"/>
          </a:p>
        </p:txBody>
      </p:sp>
      <p:sp>
        <p:nvSpPr>
          <p:cNvPr id="16" name="Text 14"/>
          <p:cNvSpPr/>
          <p:nvPr/>
        </p:nvSpPr>
        <p:spPr>
          <a:xfrm>
            <a:off x="6428232" y="1591056"/>
            <a:ext cx="2286000" cy="201168"/>
          </a:xfrm>
          <a:prstGeom prst="rect">
            <a:avLst/>
          </a:prstGeom>
          <a:noFill/>
          <a:ln/>
        </p:spPr>
        <p:txBody>
          <a:bodyPr wrap="square" lIns="0" tIns="0" rIns="0" bIns="0" rtlCol="0" anchor="ctr"/>
          <a:lstStyle/>
          <a:p>
            <a:pPr indent="0" marL="0">
              <a:buNone/>
            </a:pPr>
            <a:r>
              <a:rPr lang="en-US" sz="850" b="1" dirty="0">
                <a:solidFill>
                  <a:srgbClr val="6B7280"/>
                </a:solidFill>
                <a:latin typeface="Calibri" pitchFamily="34" charset="0"/>
                <a:ea typeface="Calibri" pitchFamily="34" charset="-122"/>
                <a:cs typeface="Calibri" pitchFamily="34" charset="-120"/>
              </a:rPr>
              <a:t>Amortise the tool over</a:t>
            </a:r>
            <a:endParaRPr lang="en-US" sz="850" dirty="0"/>
          </a:p>
        </p:txBody>
      </p:sp>
      <p:sp>
        <p:nvSpPr>
          <p:cNvPr id="17" name="Text 15"/>
          <p:cNvSpPr/>
          <p:nvPr/>
        </p:nvSpPr>
        <p:spPr>
          <a:xfrm>
            <a:off x="8778240" y="1591056"/>
            <a:ext cx="118872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Tooling/part</a:t>
            </a:r>
            <a:endParaRPr lang="en-US" sz="850" dirty="0"/>
          </a:p>
        </p:txBody>
      </p:sp>
      <p:sp>
        <p:nvSpPr>
          <p:cNvPr id="18" name="Text 16"/>
          <p:cNvSpPr/>
          <p:nvPr/>
        </p:nvSpPr>
        <p:spPr>
          <a:xfrm>
            <a:off x="10058400" y="1591056"/>
            <a:ext cx="137160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Part cost</a:t>
            </a:r>
            <a:endParaRPr lang="en-US" sz="850" dirty="0"/>
          </a:p>
        </p:txBody>
      </p:sp>
      <p:sp>
        <p:nvSpPr>
          <p:cNvPr id="19" name="Text 17"/>
          <p:cNvSpPr/>
          <p:nvPr/>
        </p:nvSpPr>
        <p:spPr>
          <a:xfrm>
            <a:off x="6428232" y="1819656"/>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 year — 60,000 parts</a:t>
            </a:r>
            <a:endParaRPr lang="en-US" sz="1000" dirty="0"/>
          </a:p>
        </p:txBody>
      </p:sp>
      <p:sp>
        <p:nvSpPr>
          <p:cNvPr id="20" name="Text 18"/>
          <p:cNvSpPr/>
          <p:nvPr/>
        </p:nvSpPr>
        <p:spPr>
          <a:xfrm>
            <a:off x="8778240" y="1819656"/>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£11.20</a:t>
            </a:r>
            <a:endParaRPr lang="en-US" sz="1000" dirty="0"/>
          </a:p>
        </p:txBody>
      </p:sp>
      <p:sp>
        <p:nvSpPr>
          <p:cNvPr id="21" name="Text 19"/>
          <p:cNvSpPr/>
          <p:nvPr/>
        </p:nvSpPr>
        <p:spPr>
          <a:xfrm>
            <a:off x="10058400" y="1819656"/>
            <a:ext cx="1371600" cy="237744"/>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£26.08</a:t>
            </a:r>
            <a:endParaRPr lang="en-US" sz="1050" dirty="0"/>
          </a:p>
        </p:txBody>
      </p:sp>
      <p:sp>
        <p:nvSpPr>
          <p:cNvPr id="22" name="Text 20"/>
          <p:cNvSpPr/>
          <p:nvPr/>
        </p:nvSpPr>
        <p:spPr>
          <a:xfrm>
            <a:off x="6428232" y="2084832"/>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3 years — 180,000</a:t>
            </a:r>
            <a:endParaRPr lang="en-US" sz="1000" dirty="0"/>
          </a:p>
        </p:txBody>
      </p:sp>
      <p:sp>
        <p:nvSpPr>
          <p:cNvPr id="23" name="Text 21"/>
          <p:cNvSpPr/>
          <p:nvPr/>
        </p:nvSpPr>
        <p:spPr>
          <a:xfrm>
            <a:off x="8778240" y="2084832"/>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£3.73</a:t>
            </a:r>
            <a:endParaRPr lang="en-US" sz="1000" dirty="0"/>
          </a:p>
        </p:txBody>
      </p:sp>
      <p:sp>
        <p:nvSpPr>
          <p:cNvPr id="24" name="Text 22"/>
          <p:cNvSpPr/>
          <p:nvPr/>
        </p:nvSpPr>
        <p:spPr>
          <a:xfrm>
            <a:off x="10058400" y="2084832"/>
            <a:ext cx="1371600" cy="237744"/>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£16.97</a:t>
            </a:r>
            <a:endParaRPr lang="en-US" sz="1050" dirty="0"/>
          </a:p>
        </p:txBody>
      </p:sp>
      <p:sp>
        <p:nvSpPr>
          <p:cNvPr id="25" name="Text 23"/>
          <p:cNvSpPr/>
          <p:nvPr/>
        </p:nvSpPr>
        <p:spPr>
          <a:xfrm>
            <a:off x="6428232" y="2350008"/>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5 years — 300,000</a:t>
            </a:r>
            <a:endParaRPr lang="en-US" sz="1000" dirty="0"/>
          </a:p>
        </p:txBody>
      </p:sp>
      <p:sp>
        <p:nvSpPr>
          <p:cNvPr id="26" name="Text 24"/>
          <p:cNvSpPr/>
          <p:nvPr/>
        </p:nvSpPr>
        <p:spPr>
          <a:xfrm>
            <a:off x="8778240" y="2350008"/>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£2.24</a:t>
            </a:r>
            <a:endParaRPr lang="en-US" sz="1000" dirty="0"/>
          </a:p>
        </p:txBody>
      </p:sp>
      <p:sp>
        <p:nvSpPr>
          <p:cNvPr id="27" name="Text 25"/>
          <p:cNvSpPr/>
          <p:nvPr/>
        </p:nvSpPr>
        <p:spPr>
          <a:xfrm>
            <a:off x="10058400" y="2350008"/>
            <a:ext cx="1371600" cy="237744"/>
          </a:xfrm>
          <a:prstGeom prst="rect">
            <a:avLst/>
          </a:prstGeom>
          <a:noFill/>
          <a:ln/>
        </p:spPr>
        <p:txBody>
          <a:bodyPr wrap="square" lIns="0" tIns="0" rIns="0" bIns="0" rtlCol="0" anchor="ctr"/>
          <a:lstStyle/>
          <a:p>
            <a:pPr algn="r" indent="0" marL="0">
              <a:buNone/>
            </a:pPr>
            <a:r>
              <a:rPr lang="en-US" sz="1050" b="1" dirty="0">
                <a:solidFill>
                  <a:srgbClr val="2E8B57"/>
                </a:solidFill>
                <a:latin typeface="Calibri" pitchFamily="34" charset="0"/>
                <a:ea typeface="Calibri" pitchFamily="34" charset="-122"/>
                <a:cs typeface="Calibri" pitchFamily="34" charset="-120"/>
              </a:rPr>
              <a:t>£15.14</a:t>
            </a:r>
            <a:endParaRPr lang="en-US" sz="1050" dirty="0"/>
          </a:p>
        </p:txBody>
      </p:sp>
      <p:sp>
        <p:nvSpPr>
          <p:cNvPr id="28" name="Text 26"/>
          <p:cNvSpPr/>
          <p:nvPr/>
        </p:nvSpPr>
        <p:spPr>
          <a:xfrm>
            <a:off x="6428232" y="2633472"/>
            <a:ext cx="5029200" cy="237744"/>
          </a:xfrm>
          <a:prstGeom prst="rect">
            <a:avLst/>
          </a:prstGeom>
          <a:noFill/>
          <a:ln/>
        </p:spPr>
        <p:txBody>
          <a:bodyPr wrap="square" lIns="0" tIns="0" rIns="0" bIns="0" rtlCol="0" anchor="ctr"/>
          <a:lstStyle/>
          <a:p>
            <a:pPr indent="0" marL="0">
              <a:buNone/>
            </a:pPr>
            <a:r>
              <a:rPr lang="en-US" sz="900" b="1" i="1" dirty="0">
                <a:solidFill>
                  <a:srgbClr val="2E8B57"/>
                </a:solidFill>
                <a:latin typeface="Calibri" pitchFamily="34" charset="0"/>
                <a:ea typeface="Calibri" pitchFamily="34" charset="-122"/>
                <a:cs typeface="Calibri" pitchFamily="34" charset="-120"/>
              </a:rPr>
              <a:t>Same part, same supplier — a commercial decision worth £10.94.</a:t>
            </a:r>
            <a:endParaRPr lang="en-US" sz="900" dirty="0"/>
          </a:p>
        </p:txBody>
      </p:sp>
      <p:sp>
        <p:nvSpPr>
          <p:cNvPr id="29" name="Shape 27"/>
          <p:cNvSpPr/>
          <p:nvPr/>
        </p:nvSpPr>
        <p:spPr>
          <a:xfrm>
            <a:off x="457200" y="3054096"/>
            <a:ext cx="11274552" cy="2212848"/>
          </a:xfrm>
          <a:prstGeom prst="roundRect">
            <a:avLst>
              <a:gd name="adj" fmla="val 4132"/>
            </a:avLst>
          </a:prstGeom>
          <a:solidFill>
            <a:srgbClr val="FFFFFF"/>
          </a:solidFill>
          <a:ln w="19050">
            <a:solidFill>
              <a:srgbClr val="16325C"/>
            </a:solidFill>
            <a:prstDash val="solid"/>
          </a:ln>
        </p:spPr>
      </p:sp>
      <p:sp>
        <p:nvSpPr>
          <p:cNvPr id="30" name="Text 28"/>
          <p:cNvSpPr/>
          <p:nvPr/>
        </p:nvSpPr>
        <p:spPr>
          <a:xfrm>
            <a:off x="731520" y="3154680"/>
            <a:ext cx="10515600" cy="256032"/>
          </a:xfrm>
          <a:prstGeom prst="rect">
            <a:avLst/>
          </a:prstGeom>
          <a:noFill/>
          <a:ln/>
        </p:spPr>
        <p:txBody>
          <a:bodyPr wrap="square" lIns="0" tIns="0" rIns="0" bIns="0" rtlCol="0" anchor="ctr"/>
          <a:lstStyle/>
          <a:p>
            <a:pPr indent="0" marL="0">
              <a:buNone/>
            </a:pPr>
            <a:r>
              <a:rPr lang="en-US" sz="1200" b="1" spc="30" kern="0" dirty="0">
                <a:solidFill>
                  <a:srgbClr val="16325C"/>
                </a:solidFill>
                <a:latin typeface="Calibri" pitchFamily="34" charset="0"/>
                <a:ea typeface="Calibri" pitchFamily="34" charset="-122"/>
                <a:cs typeface="Calibri" pitchFamily="34" charset="-120"/>
              </a:rPr>
              <a:t>TWO PARTS, ONE METHOD — and the money is in a completely different place</a:t>
            </a:r>
            <a:endParaRPr lang="en-US" sz="1200" dirty="0"/>
          </a:p>
        </p:txBody>
      </p:sp>
      <p:sp>
        <p:nvSpPr>
          <p:cNvPr id="31" name="Text 29"/>
          <p:cNvSpPr/>
          <p:nvPr/>
        </p:nvSpPr>
        <p:spPr>
          <a:xfrm>
            <a:off x="731520" y="3456432"/>
            <a:ext cx="2560320" cy="219456"/>
          </a:xfrm>
          <a:prstGeom prst="rect">
            <a:avLst/>
          </a:prstGeom>
          <a:noFill/>
          <a:ln/>
        </p:spPr>
        <p:txBody>
          <a:bodyPr wrap="square" lIns="0" tIns="0" rIns="0" bIns="0" rtlCol="0" anchor="ctr"/>
          <a:lstStyle/>
          <a:p>
            <a:pPr indent="0" marL="0">
              <a:buNone/>
            </a:pPr>
            <a:endParaRPr lang="en-US" sz="900" dirty="0"/>
          </a:p>
        </p:txBody>
      </p:sp>
      <p:sp>
        <p:nvSpPr>
          <p:cNvPr id="32" name="Text 30"/>
          <p:cNvSpPr/>
          <p:nvPr/>
        </p:nvSpPr>
        <p:spPr>
          <a:xfrm>
            <a:off x="3383280" y="3456432"/>
            <a:ext cx="2103120" cy="219456"/>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Die-cast housing</a:t>
            </a:r>
            <a:endParaRPr lang="en-US" sz="900" dirty="0"/>
          </a:p>
        </p:txBody>
      </p:sp>
      <p:sp>
        <p:nvSpPr>
          <p:cNvPr id="33" name="Text 31"/>
          <p:cNvSpPr/>
          <p:nvPr/>
        </p:nvSpPr>
        <p:spPr>
          <a:xfrm>
            <a:off x="5577840" y="3456432"/>
            <a:ext cx="2103120" cy="219456"/>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Bumper fascia</a:t>
            </a:r>
            <a:endParaRPr lang="en-US" sz="900" dirty="0"/>
          </a:p>
        </p:txBody>
      </p:sp>
      <p:sp>
        <p:nvSpPr>
          <p:cNvPr id="34" name="Text 32"/>
          <p:cNvSpPr/>
          <p:nvPr/>
        </p:nvSpPr>
        <p:spPr>
          <a:xfrm>
            <a:off x="7772400" y="3456432"/>
            <a:ext cx="3931920" cy="219456"/>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What it means</a:t>
            </a:r>
            <a:endParaRPr lang="en-US" sz="900" dirty="0"/>
          </a:p>
        </p:txBody>
      </p:sp>
      <p:sp>
        <p:nvSpPr>
          <p:cNvPr id="35" name="Shape 33"/>
          <p:cNvSpPr/>
          <p:nvPr/>
        </p:nvSpPr>
        <p:spPr>
          <a:xfrm>
            <a:off x="658368" y="3685032"/>
            <a:ext cx="10881360" cy="283464"/>
          </a:xfrm>
          <a:prstGeom prst="rect">
            <a:avLst/>
          </a:prstGeom>
          <a:solidFill>
            <a:srgbClr val="F4F7FB"/>
          </a:solidFill>
          <a:ln/>
        </p:spPr>
      </p:sp>
      <p:sp>
        <p:nvSpPr>
          <p:cNvPr id="36" name="Text 34"/>
          <p:cNvSpPr/>
          <p:nvPr/>
        </p:nvSpPr>
        <p:spPr>
          <a:xfrm>
            <a:off x="731520" y="3703320"/>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Making the part</a:t>
            </a:r>
            <a:endParaRPr lang="en-US" sz="940" dirty="0"/>
          </a:p>
        </p:txBody>
      </p:sp>
      <p:sp>
        <p:nvSpPr>
          <p:cNvPr id="37" name="Text 35"/>
          <p:cNvSpPr/>
          <p:nvPr/>
        </p:nvSpPr>
        <p:spPr>
          <a:xfrm>
            <a:off x="3383280" y="3703320"/>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£32.57</a:t>
            </a:r>
            <a:endParaRPr lang="en-US" sz="940" dirty="0"/>
          </a:p>
        </p:txBody>
      </p:sp>
      <p:sp>
        <p:nvSpPr>
          <p:cNvPr id="38" name="Text 36"/>
          <p:cNvSpPr/>
          <p:nvPr/>
        </p:nvSpPr>
        <p:spPr>
          <a:xfrm>
            <a:off x="5577840" y="3703320"/>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£5.67</a:t>
            </a:r>
            <a:endParaRPr lang="en-US" sz="940" dirty="0"/>
          </a:p>
        </p:txBody>
      </p:sp>
      <p:sp>
        <p:nvSpPr>
          <p:cNvPr id="39" name="Text 37"/>
          <p:cNvSpPr/>
          <p:nvPr/>
        </p:nvSpPr>
        <p:spPr>
          <a:xfrm>
            <a:off x="7772400" y="3703320"/>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One shot beats four machining operations</a:t>
            </a:r>
            <a:endParaRPr lang="en-US" sz="940" dirty="0"/>
          </a:p>
        </p:txBody>
      </p:sp>
      <p:sp>
        <p:nvSpPr>
          <p:cNvPr id="40" name="Text 38"/>
          <p:cNvSpPr/>
          <p:nvPr/>
        </p:nvSpPr>
        <p:spPr>
          <a:xfrm>
            <a:off x="731520" y="4005072"/>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Tooling per part</a:t>
            </a:r>
            <a:endParaRPr lang="en-US" sz="940" dirty="0"/>
          </a:p>
        </p:txBody>
      </p:sp>
      <p:sp>
        <p:nvSpPr>
          <p:cNvPr id="41" name="Text 39"/>
          <p:cNvSpPr/>
          <p:nvPr/>
        </p:nvSpPr>
        <p:spPr>
          <a:xfrm>
            <a:off x="3383280" y="4005072"/>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£2.17</a:t>
            </a:r>
            <a:endParaRPr lang="en-US" sz="940" dirty="0"/>
          </a:p>
        </p:txBody>
      </p:sp>
      <p:sp>
        <p:nvSpPr>
          <p:cNvPr id="42" name="Text 40"/>
          <p:cNvSpPr/>
          <p:nvPr/>
        </p:nvSpPr>
        <p:spPr>
          <a:xfrm>
            <a:off x="5577840" y="4005072"/>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£11.20</a:t>
            </a:r>
            <a:endParaRPr lang="en-US" sz="940" dirty="0"/>
          </a:p>
        </p:txBody>
      </p:sp>
      <p:sp>
        <p:nvSpPr>
          <p:cNvPr id="43" name="Text 41"/>
          <p:cNvSpPr/>
          <p:nvPr/>
        </p:nvSpPr>
        <p:spPr>
          <a:xfrm>
            <a:off x="7772400" y="4005072"/>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The mould, not the machine, is the cost</a:t>
            </a:r>
            <a:endParaRPr lang="en-US" sz="940" dirty="0"/>
          </a:p>
        </p:txBody>
      </p:sp>
      <p:sp>
        <p:nvSpPr>
          <p:cNvPr id="44" name="Shape 42"/>
          <p:cNvSpPr/>
          <p:nvPr/>
        </p:nvSpPr>
        <p:spPr>
          <a:xfrm>
            <a:off x="658368" y="4288536"/>
            <a:ext cx="10881360" cy="283464"/>
          </a:xfrm>
          <a:prstGeom prst="rect">
            <a:avLst/>
          </a:prstGeom>
          <a:solidFill>
            <a:srgbClr val="F4F7FB"/>
          </a:solidFill>
          <a:ln/>
        </p:spPr>
      </p:sp>
      <p:sp>
        <p:nvSpPr>
          <p:cNvPr id="45" name="Text 43"/>
          <p:cNvSpPr/>
          <p:nvPr/>
        </p:nvSpPr>
        <p:spPr>
          <a:xfrm>
            <a:off x="731520" y="4306824"/>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Biggest single bucket</a:t>
            </a:r>
            <a:endParaRPr lang="en-US" sz="940" dirty="0"/>
          </a:p>
        </p:txBody>
      </p:sp>
      <p:sp>
        <p:nvSpPr>
          <p:cNvPr id="46" name="Text 44"/>
          <p:cNvSpPr/>
          <p:nvPr/>
        </p:nvSpPr>
        <p:spPr>
          <a:xfrm>
            <a:off x="3383280" y="4306824"/>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Process 37%</a:t>
            </a:r>
            <a:endParaRPr lang="en-US" sz="940" dirty="0"/>
          </a:p>
        </p:txBody>
      </p:sp>
      <p:sp>
        <p:nvSpPr>
          <p:cNvPr id="47" name="Text 45"/>
          <p:cNvSpPr/>
          <p:nvPr/>
        </p:nvSpPr>
        <p:spPr>
          <a:xfrm>
            <a:off x="5577840" y="4306824"/>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Tooling 43%</a:t>
            </a:r>
            <a:endParaRPr lang="en-US" sz="940" dirty="0"/>
          </a:p>
        </p:txBody>
      </p:sp>
      <p:sp>
        <p:nvSpPr>
          <p:cNvPr id="48" name="Text 46"/>
          <p:cNvSpPr/>
          <p:nvPr/>
        </p:nvSpPr>
        <p:spPr>
          <a:xfrm>
            <a:off x="7772400" y="4306824"/>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Different bucket, so a different negotiation</a:t>
            </a:r>
            <a:endParaRPr lang="en-US" sz="940" dirty="0"/>
          </a:p>
        </p:txBody>
      </p:sp>
      <p:sp>
        <p:nvSpPr>
          <p:cNvPr id="49" name="Text 47"/>
          <p:cNvSpPr/>
          <p:nvPr/>
        </p:nvSpPr>
        <p:spPr>
          <a:xfrm>
            <a:off x="731520" y="4608576"/>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China vs UK gap</a:t>
            </a:r>
            <a:endParaRPr lang="en-US" sz="940" dirty="0"/>
          </a:p>
        </p:txBody>
      </p:sp>
      <p:sp>
        <p:nvSpPr>
          <p:cNvPr id="50" name="Text 48"/>
          <p:cNvSpPr/>
          <p:nvPr/>
        </p:nvSpPr>
        <p:spPr>
          <a:xfrm>
            <a:off x="3383280" y="4608576"/>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55%</a:t>
            </a:r>
            <a:endParaRPr lang="en-US" sz="940" dirty="0"/>
          </a:p>
        </p:txBody>
      </p:sp>
      <p:sp>
        <p:nvSpPr>
          <p:cNvPr id="51" name="Text 49"/>
          <p:cNvSpPr/>
          <p:nvPr/>
        </p:nvSpPr>
        <p:spPr>
          <a:xfrm>
            <a:off x="5577840" y="4608576"/>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19%</a:t>
            </a:r>
            <a:endParaRPr lang="en-US" sz="940" dirty="0"/>
          </a:p>
        </p:txBody>
      </p:sp>
      <p:sp>
        <p:nvSpPr>
          <p:cNvPr id="52" name="Text 50"/>
          <p:cNvSpPr/>
          <p:nvPr/>
        </p:nvSpPr>
        <p:spPr>
          <a:xfrm>
            <a:off x="7772400" y="4608576"/>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Offshoring pays far less on a tooling-heavy part</a:t>
            </a:r>
            <a:endParaRPr lang="en-US" sz="940" dirty="0"/>
          </a:p>
        </p:txBody>
      </p:sp>
      <p:sp>
        <p:nvSpPr>
          <p:cNvPr id="53" name="Shape 51"/>
          <p:cNvSpPr/>
          <p:nvPr/>
        </p:nvSpPr>
        <p:spPr>
          <a:xfrm>
            <a:off x="658368" y="4892040"/>
            <a:ext cx="10881360" cy="283464"/>
          </a:xfrm>
          <a:prstGeom prst="rect">
            <a:avLst/>
          </a:prstGeom>
          <a:solidFill>
            <a:srgbClr val="F4F7FB"/>
          </a:solidFill>
          <a:ln/>
        </p:spPr>
      </p:sp>
      <p:sp>
        <p:nvSpPr>
          <p:cNvPr id="54" name="Text 52"/>
          <p:cNvSpPr/>
          <p:nvPr/>
        </p:nvSpPr>
        <p:spPr>
          <a:xfrm>
            <a:off x="731520" y="4910328"/>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Where to push a supplier</a:t>
            </a:r>
            <a:endParaRPr lang="en-US" sz="940" dirty="0"/>
          </a:p>
        </p:txBody>
      </p:sp>
      <p:sp>
        <p:nvSpPr>
          <p:cNvPr id="55" name="Text 53"/>
          <p:cNvSpPr/>
          <p:nvPr/>
        </p:nvSpPr>
        <p:spPr>
          <a:xfrm>
            <a:off x="3383280" y="4910328"/>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Cycle time, fixturing</a:t>
            </a:r>
            <a:endParaRPr lang="en-US" sz="940" dirty="0"/>
          </a:p>
        </p:txBody>
      </p:sp>
      <p:sp>
        <p:nvSpPr>
          <p:cNvPr id="56" name="Text 54"/>
          <p:cNvSpPr/>
          <p:nvPr/>
        </p:nvSpPr>
        <p:spPr>
          <a:xfrm>
            <a:off x="5577840" y="4910328"/>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Programme volume, wall thickness</a:t>
            </a:r>
            <a:endParaRPr lang="en-US" sz="940" dirty="0"/>
          </a:p>
        </p:txBody>
      </p:sp>
      <p:sp>
        <p:nvSpPr>
          <p:cNvPr id="57" name="Text 55"/>
          <p:cNvSpPr/>
          <p:nvPr/>
        </p:nvSpPr>
        <p:spPr>
          <a:xfrm>
            <a:off x="7772400" y="4910328"/>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The tool tells you which lever exists</a:t>
            </a:r>
            <a:endParaRPr lang="en-US" sz="940" dirty="0"/>
          </a:p>
        </p:txBody>
      </p:sp>
      <p:sp>
        <p:nvSpPr>
          <p:cNvPr id="58" name="Shape 56"/>
          <p:cNvSpPr/>
          <p:nvPr/>
        </p:nvSpPr>
        <p:spPr>
          <a:xfrm>
            <a:off x="457200" y="5413248"/>
            <a:ext cx="11274552" cy="713232"/>
          </a:xfrm>
          <a:prstGeom prst="roundRect">
            <a:avLst>
              <a:gd name="adj" fmla="val 12821"/>
            </a:avLst>
          </a:prstGeom>
          <a:solidFill>
            <a:srgbClr val="16325C"/>
          </a:solidFill>
          <a:ln/>
        </p:spPr>
      </p:sp>
      <p:sp>
        <p:nvSpPr>
          <p:cNvPr id="59" name="Text 57"/>
          <p:cNvSpPr/>
          <p:nvPr/>
        </p:nvSpPr>
        <p:spPr>
          <a:xfrm>
            <a:off x="777240" y="5486400"/>
            <a:ext cx="10652760" cy="566928"/>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This is the whole argument for the tool:  </a:t>
            </a:r>
            <a:pPr indent="0" marL="0">
              <a:buNone/>
            </a:pPr>
            <a:r>
              <a:rPr lang="en-US" sz="1200" dirty="0">
                <a:solidFill>
                  <a:srgbClr val="FFFFFF"/>
                </a:solidFill>
                <a:latin typeface="Calibri" pitchFamily="34" charset="0"/>
                <a:ea typeface="Calibri" pitchFamily="34" charset="-122"/>
                <a:cs typeface="Calibri" pitchFamily="34" charset="-120"/>
              </a:rPr>
              <a:t>nobody could have told you in advance that the money was in machining on one part and in tooling on the other. The method finds it. Every time, on any part, without anyone having to already know the answer.</a:t>
            </a:r>
            <a:endParaRPr lang="en-US" sz="1200" dirty="0"/>
          </a:p>
        </p:txBody>
      </p:sp>
      <p:sp>
        <p:nvSpPr>
          <p:cNvPr id="60" name="Text 5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1" name="Text 5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03A2E"/>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What This Tool Cannot Do</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limits, from us rather than from a sceptic in the room</a:t>
            </a:r>
            <a:endParaRPr lang="en-US" sz="1200" dirty="0"/>
          </a:p>
        </p:txBody>
      </p:sp>
      <p:sp>
        <p:nvSpPr>
          <p:cNvPr id="5" name="Shape 3"/>
          <p:cNvSpPr/>
          <p:nvPr/>
        </p:nvSpPr>
        <p:spPr>
          <a:xfrm>
            <a:off x="457200" y="1133856"/>
            <a:ext cx="5486400" cy="1335024"/>
          </a:xfrm>
          <a:prstGeom prst="roundRect">
            <a:avLst>
              <a:gd name="adj" fmla="val 6164"/>
            </a:avLst>
          </a:prstGeom>
          <a:solidFill>
            <a:srgbClr val="FFFFFF"/>
          </a:solidFill>
          <a:ln w="12700">
            <a:solidFill>
              <a:srgbClr val="DCE3EE"/>
            </a:solidFill>
            <a:prstDash val="solid"/>
          </a:ln>
        </p:spPr>
      </p:sp>
      <p:pic>
        <p:nvPicPr>
          <p:cNvPr id="6" name="Image 0" descr="preencoded.png">    </p:cNvPr>
          <p:cNvPicPr>
            <a:picLocks noChangeAspect="1"/>
          </p:cNvPicPr>
          <p:nvPr/>
        </p:nvPicPr>
        <p:blipFill>
          <a:blip r:embed="rId1"/>
          <a:stretch>
            <a:fillRect/>
          </a:stretch>
        </p:blipFill>
        <p:spPr>
          <a:xfrm>
            <a:off x="658368" y="1280160"/>
            <a:ext cx="155448" cy="155448"/>
          </a:xfrm>
          <a:prstGeom prst="rect">
            <a:avLst/>
          </a:prstGeom>
        </p:spPr>
      </p:pic>
      <p:sp>
        <p:nvSpPr>
          <p:cNvPr id="7" name="Text 4"/>
          <p:cNvSpPr/>
          <p:nvPr/>
        </p:nvSpPr>
        <p:spPr>
          <a:xfrm>
            <a:off x="914400" y="1216152"/>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Cost an assembly from one CAD file</a:t>
            </a:r>
            <a:endParaRPr lang="en-US" sz="1150" dirty="0"/>
          </a:p>
        </p:txBody>
      </p:sp>
      <p:sp>
        <p:nvSpPr>
          <p:cNvPr id="8" name="Text 5"/>
          <p:cNvSpPr/>
          <p:nvPr/>
        </p:nvSpPr>
        <p:spPr>
          <a:xfrm>
            <a:off x="658368" y="1536192"/>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It rolls up an assembly from parts you have already costed. It cannot open one assembly model, work out which parts are in it, how they join, or what the assembly labour is. Multi-part programmes still need a person to define the structure.</a:t>
            </a:r>
            <a:endParaRPr lang="en-US" sz="940" dirty="0"/>
          </a:p>
        </p:txBody>
      </p:sp>
      <p:sp>
        <p:nvSpPr>
          <p:cNvPr id="9" name="Shape 6"/>
          <p:cNvSpPr/>
          <p:nvPr/>
        </p:nvSpPr>
        <p:spPr>
          <a:xfrm>
            <a:off x="6245352" y="1133856"/>
            <a:ext cx="5486400" cy="1335024"/>
          </a:xfrm>
          <a:prstGeom prst="roundRect">
            <a:avLst>
              <a:gd name="adj" fmla="val 6164"/>
            </a:avLst>
          </a:prstGeom>
          <a:solidFill>
            <a:srgbClr val="FFFFFF"/>
          </a:solidFill>
          <a:ln w="12700">
            <a:solidFill>
              <a:srgbClr val="DCE3EE"/>
            </a:solidFill>
            <a:prstDash val="solid"/>
          </a:ln>
        </p:spPr>
      </p:sp>
      <p:pic>
        <p:nvPicPr>
          <p:cNvPr id="10" name="Image 1" descr="preencoded.png">    </p:cNvPr>
          <p:cNvPicPr>
            <a:picLocks noChangeAspect="1"/>
          </p:cNvPicPr>
          <p:nvPr/>
        </p:nvPicPr>
        <p:blipFill>
          <a:blip r:embed="rId2"/>
          <a:stretch>
            <a:fillRect/>
          </a:stretch>
        </p:blipFill>
        <p:spPr>
          <a:xfrm>
            <a:off x="6446520" y="1280160"/>
            <a:ext cx="155448" cy="155448"/>
          </a:xfrm>
          <a:prstGeom prst="rect">
            <a:avLst/>
          </a:prstGeom>
        </p:spPr>
      </p:pic>
      <p:sp>
        <p:nvSpPr>
          <p:cNvPr id="11" name="Text 7"/>
          <p:cNvSpPr/>
          <p:nvPr/>
        </p:nvSpPr>
        <p:spPr>
          <a:xfrm>
            <a:off x="6702552" y="1216152"/>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Read a tolerance or a surface finish</a:t>
            </a:r>
            <a:endParaRPr lang="en-US" sz="1150" dirty="0"/>
          </a:p>
        </p:txBody>
      </p:sp>
      <p:sp>
        <p:nvSpPr>
          <p:cNvPr id="12" name="Text 8"/>
          <p:cNvSpPr/>
          <p:nvPr/>
        </p:nvSpPr>
        <p:spPr>
          <a:xfrm>
            <a:off x="6446520" y="1536192"/>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The kernel measures shape, exactly. It cannot see a ±0.02 callout, a Ra value or a material spec unless the CAD file carries the annotation — and most do not. Those still come off the drawing or from our engineer.</a:t>
            </a:r>
            <a:endParaRPr lang="en-US" sz="940" dirty="0"/>
          </a:p>
        </p:txBody>
      </p:sp>
      <p:sp>
        <p:nvSpPr>
          <p:cNvPr id="13" name="Shape 9"/>
          <p:cNvSpPr/>
          <p:nvPr/>
        </p:nvSpPr>
        <p:spPr>
          <a:xfrm>
            <a:off x="457200" y="2615184"/>
            <a:ext cx="5486400" cy="1335024"/>
          </a:xfrm>
          <a:prstGeom prst="roundRect">
            <a:avLst>
              <a:gd name="adj" fmla="val 6164"/>
            </a:avLst>
          </a:prstGeom>
          <a:solidFill>
            <a:srgbClr val="FFFFFF"/>
          </a:solidFill>
          <a:ln w="12700">
            <a:solidFill>
              <a:srgbClr val="DCE3EE"/>
            </a:solidFill>
            <a:prstDash val="solid"/>
          </a:ln>
        </p:spPr>
      </p:sp>
      <p:pic>
        <p:nvPicPr>
          <p:cNvPr id="14" name="Image 2" descr="preencoded.png">    </p:cNvPr>
          <p:cNvPicPr>
            <a:picLocks noChangeAspect="1"/>
          </p:cNvPicPr>
          <p:nvPr/>
        </p:nvPicPr>
        <p:blipFill>
          <a:blip r:embed="rId3"/>
          <a:stretch>
            <a:fillRect/>
          </a:stretch>
        </p:blipFill>
        <p:spPr>
          <a:xfrm>
            <a:off x="658368" y="2761488"/>
            <a:ext cx="155448" cy="155448"/>
          </a:xfrm>
          <a:prstGeom prst="rect">
            <a:avLst/>
          </a:prstGeom>
        </p:spPr>
      </p:pic>
      <p:sp>
        <p:nvSpPr>
          <p:cNvPr id="15" name="Text 10"/>
          <p:cNvSpPr/>
          <p:nvPr/>
        </p:nvSpPr>
        <p:spPr>
          <a:xfrm>
            <a:off x="914400" y="2697480"/>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Guarantee the AI classified correctly</a:t>
            </a:r>
            <a:endParaRPr lang="en-US" sz="1150" dirty="0"/>
          </a:p>
        </p:txBody>
      </p:sp>
      <p:sp>
        <p:nvSpPr>
          <p:cNvPr id="16" name="Text 11"/>
          <p:cNvSpPr/>
          <p:nvPr/>
        </p:nvSpPr>
        <p:spPr>
          <a:xfrm>
            <a:off x="658368" y="3017520"/>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It can misread an unusual part. That is why it carries a confidence score, why nine checks run automatically, and why a person signs the result. We claim no AI-invented number becomes money — not that the AI is never wrong.</a:t>
            </a:r>
            <a:endParaRPr lang="en-US" sz="940" dirty="0"/>
          </a:p>
        </p:txBody>
      </p:sp>
      <p:sp>
        <p:nvSpPr>
          <p:cNvPr id="17" name="Shape 12"/>
          <p:cNvSpPr/>
          <p:nvPr/>
        </p:nvSpPr>
        <p:spPr>
          <a:xfrm>
            <a:off x="6245352" y="2615184"/>
            <a:ext cx="5486400" cy="1335024"/>
          </a:xfrm>
          <a:prstGeom prst="roundRect">
            <a:avLst>
              <a:gd name="adj" fmla="val 6164"/>
            </a:avLst>
          </a:prstGeom>
          <a:solidFill>
            <a:srgbClr val="FFFFFF"/>
          </a:solidFill>
          <a:ln w="12700">
            <a:solidFill>
              <a:srgbClr val="DCE3EE"/>
            </a:solidFill>
            <a:prstDash val="solid"/>
          </a:ln>
        </p:spPr>
      </p:sp>
      <p:pic>
        <p:nvPicPr>
          <p:cNvPr id="18" name="Image 3" descr="preencoded.png">    </p:cNvPr>
          <p:cNvPicPr>
            <a:picLocks noChangeAspect="1"/>
          </p:cNvPicPr>
          <p:nvPr/>
        </p:nvPicPr>
        <p:blipFill>
          <a:blip r:embed="rId4"/>
          <a:stretch>
            <a:fillRect/>
          </a:stretch>
        </p:blipFill>
        <p:spPr>
          <a:xfrm>
            <a:off x="6446520" y="2761488"/>
            <a:ext cx="155448" cy="155448"/>
          </a:xfrm>
          <a:prstGeom prst="rect">
            <a:avLst/>
          </a:prstGeom>
        </p:spPr>
      </p:pic>
      <p:sp>
        <p:nvSpPr>
          <p:cNvPr id="19" name="Text 13"/>
          <p:cNvSpPr/>
          <p:nvPr/>
        </p:nvSpPr>
        <p:spPr>
          <a:xfrm>
            <a:off x="6702552" y="2697480"/>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Replace a quotation</a:t>
            </a:r>
            <a:endParaRPr lang="en-US" sz="1150" dirty="0"/>
          </a:p>
        </p:txBody>
      </p:sp>
      <p:sp>
        <p:nvSpPr>
          <p:cNvPr id="20" name="Text 14"/>
          <p:cNvSpPr/>
          <p:nvPr/>
        </p:nvSpPr>
        <p:spPr>
          <a:xfrm>
            <a:off x="6446520" y="3017520"/>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This is a should-cost: what the part ought to cost on stated assumptions. It is a negotiating instrument and a design-feedback loop, not a price, and not a substitute for an RFQ.</a:t>
            </a:r>
            <a:endParaRPr lang="en-US" sz="940" dirty="0"/>
          </a:p>
        </p:txBody>
      </p:sp>
      <p:sp>
        <p:nvSpPr>
          <p:cNvPr id="21" name="Shape 15"/>
          <p:cNvSpPr/>
          <p:nvPr/>
        </p:nvSpPr>
        <p:spPr>
          <a:xfrm>
            <a:off x="457200" y="4096512"/>
            <a:ext cx="5486400" cy="1335024"/>
          </a:xfrm>
          <a:prstGeom prst="roundRect">
            <a:avLst>
              <a:gd name="adj" fmla="val 6164"/>
            </a:avLst>
          </a:prstGeom>
          <a:solidFill>
            <a:srgbClr val="FFFFFF"/>
          </a:solidFill>
          <a:ln w="12700">
            <a:solidFill>
              <a:srgbClr val="DCE3EE"/>
            </a:solidFill>
            <a:prstDash val="solid"/>
          </a:ln>
        </p:spPr>
      </p:sp>
      <p:pic>
        <p:nvPicPr>
          <p:cNvPr id="22" name="Image 4" descr="preencoded.png">    </p:cNvPr>
          <p:cNvPicPr>
            <a:picLocks noChangeAspect="1"/>
          </p:cNvPicPr>
          <p:nvPr/>
        </p:nvPicPr>
        <p:blipFill>
          <a:blip r:embed="rId5"/>
          <a:stretch>
            <a:fillRect/>
          </a:stretch>
        </p:blipFill>
        <p:spPr>
          <a:xfrm>
            <a:off x="658368" y="4242816"/>
            <a:ext cx="155448" cy="155448"/>
          </a:xfrm>
          <a:prstGeom prst="rect">
            <a:avLst/>
          </a:prstGeom>
        </p:spPr>
      </p:pic>
      <p:sp>
        <p:nvSpPr>
          <p:cNvPr id="23" name="Text 16"/>
          <p:cNvSpPr/>
          <p:nvPr/>
        </p:nvSpPr>
        <p:spPr>
          <a:xfrm>
            <a:off x="914400" y="4178808"/>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Keep duty and tariff data fresh by itself</a:t>
            </a:r>
            <a:endParaRPr lang="en-US" sz="1150" dirty="0"/>
          </a:p>
        </p:txBody>
      </p:sp>
      <p:sp>
        <p:nvSpPr>
          <p:cNvPr id="24" name="Text 17"/>
          <p:cNvSpPr/>
          <p:nvPr/>
        </p:nvSpPr>
        <p:spPr>
          <a:xfrm>
            <a:off x="658368" y="4498848"/>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Rates decay. The engine blocks any rate that is unverified or older than 90 days rather than quietly using it — but somebody has to run the refresh against the official tariff service.</a:t>
            </a:r>
            <a:endParaRPr lang="en-US" sz="940" dirty="0"/>
          </a:p>
        </p:txBody>
      </p:sp>
      <p:sp>
        <p:nvSpPr>
          <p:cNvPr id="25" name="Shape 18"/>
          <p:cNvSpPr/>
          <p:nvPr/>
        </p:nvSpPr>
        <p:spPr>
          <a:xfrm>
            <a:off x="6245352" y="4096512"/>
            <a:ext cx="5486400" cy="1335024"/>
          </a:xfrm>
          <a:prstGeom prst="roundRect">
            <a:avLst>
              <a:gd name="adj" fmla="val 6164"/>
            </a:avLst>
          </a:prstGeom>
          <a:solidFill>
            <a:srgbClr val="FFFFFF"/>
          </a:solidFill>
          <a:ln w="12700">
            <a:solidFill>
              <a:srgbClr val="DCE3EE"/>
            </a:solidFill>
            <a:prstDash val="solid"/>
          </a:ln>
        </p:spPr>
      </p:sp>
      <p:pic>
        <p:nvPicPr>
          <p:cNvPr id="26" name="Image 5" descr="preencoded.png">    </p:cNvPr>
          <p:cNvPicPr>
            <a:picLocks noChangeAspect="1"/>
          </p:cNvPicPr>
          <p:nvPr/>
        </p:nvPicPr>
        <p:blipFill>
          <a:blip r:embed="rId6"/>
          <a:stretch>
            <a:fillRect/>
          </a:stretch>
        </p:blipFill>
        <p:spPr>
          <a:xfrm>
            <a:off x="6446520" y="4242816"/>
            <a:ext cx="155448" cy="155448"/>
          </a:xfrm>
          <a:prstGeom prst="rect">
            <a:avLst/>
          </a:prstGeom>
        </p:spPr>
      </p:pic>
      <p:sp>
        <p:nvSpPr>
          <p:cNvPr id="27" name="Text 19"/>
          <p:cNvSpPr/>
          <p:nvPr/>
        </p:nvSpPr>
        <p:spPr>
          <a:xfrm>
            <a:off x="6702552" y="4178808"/>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Cost a process it has never met</a:t>
            </a:r>
            <a:endParaRPr lang="en-US" sz="1150" dirty="0"/>
          </a:p>
        </p:txBody>
      </p:sp>
      <p:sp>
        <p:nvSpPr>
          <p:cNvPr id="28" name="Text 20"/>
          <p:cNvSpPr/>
          <p:nvPr/>
        </p:nvSpPr>
        <p:spPr>
          <a:xfrm>
            <a:off x="6446520" y="4498848"/>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Twenty commodities are modelled. A genuinely novel process needs a new module — days of work, not minutes, and it needs a process engineer to specify it.</a:t>
            </a:r>
            <a:endParaRPr lang="en-US" sz="940" dirty="0"/>
          </a:p>
        </p:txBody>
      </p:sp>
      <p:sp>
        <p:nvSpPr>
          <p:cNvPr id="29" name="Shape 21"/>
          <p:cNvSpPr/>
          <p:nvPr/>
        </p:nvSpPr>
        <p:spPr>
          <a:xfrm>
            <a:off x="457200" y="5596128"/>
            <a:ext cx="11274552" cy="713232"/>
          </a:xfrm>
          <a:prstGeom prst="roundRect">
            <a:avLst>
              <a:gd name="adj" fmla="val 12821"/>
            </a:avLst>
          </a:prstGeom>
          <a:solidFill>
            <a:srgbClr val="16325C"/>
          </a:solidFill>
          <a:ln/>
        </p:spPr>
      </p:sp>
      <p:sp>
        <p:nvSpPr>
          <p:cNvPr id="30" name="Text 22"/>
          <p:cNvSpPr/>
          <p:nvPr/>
        </p:nvSpPr>
        <p:spPr>
          <a:xfrm>
            <a:off x="777240" y="5669280"/>
            <a:ext cx="10652760" cy="566928"/>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Why show you this:  </a:t>
            </a:r>
            <a:pPr indent="0" marL="0">
              <a:buNone/>
            </a:pPr>
            <a:r>
              <a:rPr lang="en-US" sz="1200" dirty="0">
                <a:solidFill>
                  <a:srgbClr val="FFFFFF"/>
                </a:solidFill>
                <a:latin typeface="Calibri" pitchFamily="34" charset="0"/>
                <a:ea typeface="Calibri" pitchFamily="34" charset="-122"/>
                <a:cs typeface="Calibri" pitchFamily="34" charset="-120"/>
              </a:rPr>
              <a:t>a tool that claims no limits is a tool nobody should trust with a supplier negotiation. Every one of these six is either on the roadmap, or is a job we have deliberately left with a person.</a:t>
            </a:r>
            <a:endParaRPr lang="en-US" sz="1200" dirty="0"/>
          </a:p>
        </p:txBody>
      </p:sp>
      <p:sp>
        <p:nvSpPr>
          <p:cNvPr id="31" name="Text 2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2" name="Text 2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37</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2026-08-05T11:04:37Z</dcterms:created>
  <dcterms:modified xsi:type="dcterms:W3CDTF">2026-08-05T11:04:37Z</dcterms:modified>
</cp:coreProperties>
</file>