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business case was missing, and I want to be honest about why. The previous version led with engineer-hours — and hours are not money. Worse, we then said "capacity, not headcount", which to a budget holder reads as "nothing actually comes out". So this version leads with the money and puts the hours where they belong. Three streams. A, the negotiation floor: a defensible should-cost turns a quote into a conversation with a number underneath it, and because every line prints its own derivation the challenge survives the meeting rather than collapsing the first time a supplier pushes back. On our reference part the tool identified three pounds twenty-two of opportunity against a twenty-five pound piece cost. B, design-stage avoidance: at ten to fifteen minutes a part this can run at concept stage, while wall thickness and cavitation are still open — and the bumper is the proof, where tooling turned out to be forty-three percent of piece cost, more than the resin, the press and the labour added together. Nobody in this room predicted that in advance. C, capacity — and note that I have put it third. The hours are the enabler, not the prize. You cannot hold forty floor-price negotiations a year if every should-cost costs half a day to prepare. Then the calculation, laid out as a chain deliberately, so you can attack any single term instead of the whole idea. Addressed spend, times what the tool identifies, times what we actually capture. Twenty million of purchased value, eight percent identified, twenty percent captured: three hundred and twenty thousand a year, recurring, against a one-off pilot cost of about twenty-five thousand. The assumptions are printed on the slide because I would rather you argued with the model than with me — and they are deliberately pessimistic. Eight percent is below the twelve point eight the tool actually measured. A twenty percent capture assumes four out of every five ideas never get acted on. But the line to leave with is the navy strip. At this pilot cost the break-even capture rate is one point six percent. One pound in sixty. I am not asking you to believe twenty percent — I am asking whether one point six is plausible. If it is, the pilot is very nearly free, and the only remaining question is whether the tool works, which is precisely what a pilot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links straight back to the money slide — this capacity is stream C, and stream C is what makes stream A reachable.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fifty-two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slide the old deck did not have at all — it ended on what the tool cannot do, which left you with nothing to decide. So here is one specific ask. Approve a ninety-day pilot on forty parts. One named owner, three tenths of an engineer, one virtual machine, about twenty-five thousand pounds one-off. No licence, no per-seat cost, no per-estimate cost — in the default mode there is no AI call to pay for. And nothing recurring is committed until we come back at day ninety. Scope is deliberately bounded. Forty live parts across four or five commodities we already buy, picked with purchasing, deliberately mixing parts already quoted with parts still in design so we can test both value streams. And explicitly out of scope: no supplier is ever told a number came from a tool, and every figure is reviewed and owned by an engineer before it leaves the building. Ninety days in three phases: set up and calibrate, run the basket, then measure and decide. The criteria on the right are the part I would most like you to hold me to, and I want them agreed today rather than at day ninety. Seventy percent of parts within twenty percent of an independent manual cost or the actual PO price. Median twenty minutes a part, read from the tool’s own logs rather than estimated by me. A hundred and fifty thousand of opportunity identified and at least three levers actually taken to a supplier with the outcome recorded — including when the answer is no. And two engineers running it unaided without the person who built it in the room. If we miss those, stopping is the correct decision and I will say so. The amber box is the four objections I expect, with what is already built for each. And the close is the arithmetic from the money slide: twenty-five thousand pounds and ninety days to find out whether something already built and already validated on six parts holds up on forty of ours. If it fails we stop, having committed nothing ongoing. If it works, it has already paid for itself at a one point six percent capture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fifty-two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scores a part eight and a half out of ten for manufacturability and offers a dozen cost-reduction ideas — where do those actually come from? The answer is a written rule book, and it is small enough to show you in full. Fifty-two threshold rules reading nineteen parameters and signals, ten geometry advisors reading the measured solid, and a thirty-six-lever idea catalogue spanning eight categories — material, design, process, tooling, logistics, commercial, quality and sustainability. That is the entire analysis. There is no hidden model behind it. And I want to be upfront: the first version of this layer was thinner — ten levers, mostly cost-structure ones. We took the challenge that it read like a basic checklist rather than what a good VAVE engineer would produce, went back to the engine, and rebuilt it as a full 360-degree catalogue. Everything you are about to see ships in the tool today. The flow is five steps and all of them are arithmetic. The costing is reduced to its parameters. Fifty-two written checks run, each one a plain threshold that fires or passes, while the geometry advisors do the same job on the measured shape. Findings knock points off two scores that start at ten. The three biggest savings combine root-sum-square so overlapping fixes are never double-counted. And the lever catalogue turns what fired into a ranked, categorised action list priced from the part’s own numbers. One thing to be precise about, because it is the theme of this whole pack: the AI is nowhere in this. Every rule is deterministic engine code — same part in, same findings out, with the network cable unplugged. The optional AI button writes commentary around the findings; it cannot add one, remove one, or change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 the ten core parameters from before, and nine extended signals we added with the 360-degree upgrade. Nothing else goes in. The ten core ones you know: the total, six bucket shares, the operation count, OEE and material utilisation — teal read straight from the costing, blue entered with the part, with stated assumptions when left blank. The nine extended signals are what let the new rules and levers behave like an experienced cost engineer instead of a checklist. Packaging and logistics shares — two buckets the old rules ignored entirely. Labour efficiency per operation. The per-operation cost split, so the tool knows WHICH operation carries the money, not just how many there are. Consumables — cores, patterns, shell. The tooling investment and, importantly, its amortisation basis against the stated annual volume — a mismatch there is a commercial finding on its own. Manning and parts-per-cycle. Labour time against machine cycle time. And the operation names themselves — welding, inspection, rework and heat-treat words in the routing are signals, and the rules read them. And the card on the right is the one that changed most recently, on direct feedback from this room. It used to be a scoring card — manufacturability out of ten, assembly out of ten. It is now a ranking card. Every finding is priced against this part: saving percentage times the part cost equals pounds per part, ranked biggest first inside its category. No score is published and no severity label appears anywhere an engineer sees. The engine still grades findings internally, because it needs an order — but that grading never leaves the engine. The reason is worth saying out loud: a previous exercise like this scored designs, and the engineering team quite reasonably read it as a report card on their work. Nothing gets implemented after that. A ranked list of actions with money against each one is the same arithmetic and a completely different conversation. The headline is unchanged: the three biggest combined root-sum-square, capped at forty percent. And the context gates at the bottom — if the volume was assumed rather than entered, if the part is already costed in the region a lever would recommend, or if pack rates are tool estimates, the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 twenty-seven checks that switch on for the specific process being costed. A casting is never judged by sheet-metal rules. Most of these you saw in the previous version. What changed with the upgrade: extrusion and rotational moulding now have their own rule blocks — conversion cost and offcut scrap for extrusion, oven cycle and secondary operations for rotomoulding — where before those commodities only got the universal checks. Painting gains the rule this deck itself argues for two sections earlier: paint material above forty percent of cost points straight at transfer efficiency, because at sixty percent transfer efficiency four litres in ten end up in the booth filters. And cast-and-machine parts now run BOTH the machining rules and the casting rules — the split-routing check on their machining content, the die-cost check on their casting content — where before they fell between the two. The machining rules are also smarter than a count: the split-routing rule is station-aware. It knows the difference between seven operations across five machines and seven operations on one five-axis — and when the routing is already consolidated it says so as a verified note instead of recommending what has already been done. And notice again the two biggest numbers sit with wiring harness and composites — labour past half the cost, hand layup past forty percent. Where the money is people, the rules say so bluntly.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deterministic, all of it from the measured geometry — and the AI can add commentary to these findings, but it cannot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 tooling, packaging and logistics, commercial, quality and sustainability. This is the "360 degrees" part of the claim: the old layer stopped at the factory gate; this one follows the part all the way to the loading dock and the contract. Tooling: the volume lever as before, plus soft tooling below twenty-five thousand parts, a tooling-ownership clause — who owns the tool, who maintains it, what happens at end of programme — and a tool-life programme on die processes. Packaging and logistics were completely dark before: returnable packaging above four percent, pack density above eight, freight mode above six, and my favourite of the new set — the near-shore check. If the part is already in China and logistics is past nine percent of its cost, the tool now asks the opposite question to the usual one: would a nearer supplier win on LANDED cost? The same arithmetic that used to only push parts offshore can now push back. Commercial: the three from before — regional sourcing, open-book overhead, competitive RFQ — plus make-vs-buy, a raw-material indexation clause, a learning-curve price-down where a real volume was confirmed, and payment terms. Quality reads the routing: standalone inspection and manual finishing both get challenged at source. And sustainability carries real money as well as carbon: recycled resin content and process energy. Two honest notes to close. Every lever is gated on what a person actually told the tool — assumed volumes, quoted regions and estimated pack rates downgrade the lever to a confirm-first note. And the two backstops still exist so no part ever leaves with an empty list — they are labelled as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output, for a real part — the reference machined bracket, run through the shipped engine. Not a mock-up; these are the numbers the tool produced. Top line: three pounds twenty-two per part of combined opportunity, about thirteen percent of a twenty-five pound piece cost, ten ranked opportunities across four categories. Then the list, and this is the whole point of the change. Commercial and sourcing first, because it holds the single biggest action — a regional sourcing study worth four pounds fifty-three a part, and the tool flags it high risk and long term rather than pretending it is free. Material second: near-net-shape at two fifty-two, and a scrap-credit clause at eighty-two pence that costs nothing but a conversation. Process third, led by the bottleneck lever that names the operation — CNC milling carries sixty-four percent of the conversion cost on this part, so that is where cycle-time work pays. Design last on this part, at a pound twenty-six. Every row says what to do, why it is on the list, what it is worth in pounds, who can pull it and how long it takes. And now the thing I would ask you to notice, which is what is NOT on the slide. There is no score. There is no "critical". There is nothing that grades the part or the person who designed it. This is exactly the same deterministic arithmetic we had before — fifty-two rules, ten advisors, thirty-six levers — presented as a work list instead of a verdict. That was the feedback, and I think it is right: the last time an exercise like this scored designs, engineering read it as criticism and nothing got implemented. A ranked list with money against it is a conversation people want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three with the lid off, and it answers two questions at once: what each box is built from, and what it hands to the next box. Follow it left to right. Upload a CAD file, a PCB photo or a typed form. The Python kernel measures the solid and hands on a parcel we call OCCTGeometry — sizes, wall thickness, holes, draft angles. All measured; none of it guessed. The rules layer turns those measurements into cost inputs and the engineer answers the two or three things a shape cannot tell you, such as what it is made of and how many a year; that parcel is the UniversalStackInput — a material, a list of operations, and a tooling block. The cost engine sits in the middle because everything either feeds it or renders what it produced. It works out the eight buckets, it has a module per commodity, its optimisers pick the cheapest capable machine, and its guardrails check every number. What it hands on is the PartCostResult: the eight buckets, plus where every single number came from. The line at the bottom of that box is the design decision that matters most — numbers in, numbers out, no database, no network, no file access. That is exactly why fifteen hundred tests can cover it and why the identical code runs in the browser and on the server. Then out to the right: the guardrails and self-audit check the answer and attach a confidence band, the findings become savings ranked by money — which is the change we made after the last review — and finally it is saved to SQLite on our own server, with the reports built in the browser. The grey strip underneath opens those four parcels up, because somebody always asks what is actually in them. The geometry parcel carries bounding box, volume, wall thickness including a ninety-fifth percentile because the thickest section governs cooling, draft, setup count and a hole table. The input parcel carries one row per operation with cycle time, OEE, manning and efficiency. The result parcel carries the eight buckets and a traceability row for every figure — value, unit, which rate it used and how confident that rate is; that is what prints under every number in the report. And the opportunities parcel carries each idea with its saving in pounds per part, its risk, its timeframe and its owner. The table answers the language, size and licence questions row by row. Only one component is Python — the geometry kernel, driving Open CASCADE, the same kernel FreeCAD is built on. Everything else is TypeScript. Is it free? Yes, with exactly one exception: every library is MIT, Apache-2.0 or LGPL, there is no licence fee and no per-seat cost, and the single paid item anywhere in the stack is the optional Anthropic API call, metered per token only when somebody chooses to use it. I would still get that list formally reviewed before we distribute anything outside the company. And the box along the bottom is the question I was asked, answered completely rather than reassuringly. API calls: one, and it is optional, through a single point in the code so it can be pointed at a private endpoint or switched off with an environment variable. KPI calls: none — no KPIs measured, no usage tracked, nothing phoning home. Error telemetry: yes, and I want to be precise because an earlier draft of this slide said "no telemetry" and that was too absolute. When the app hits an uncaught error it posts it to our own Express server and it lands in our own log. No Sentry, no Google Analytics, no third party, nothing leaving the network. And the optional feeds are off by default and display-only; none of them can price a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deep-dive slide, and I have pitched it at someone who thinks in schemas rather than in castings, because that is the question I was asked. Five typed hand-offs from CAD file to database, and every type name and field on this slide is copied from the source rather than paraphrased. One: the kernel writes an OCCTGeometry document to stdout as JSON. Bounding box, volume, surface area, fill ratio, and then the interesting parts — a topology block that tells you whether the shape encloses a sealed void, which is how a fuel tank is distinguished from a bumper; a wall-thickness block with a p95 because the thickest section is what governs cooling; draft, setup count, a bottom-up CNC cycle estimate, and weights in three candidate materials. Everything in there is measured. Nothing in there is guessed. Two: the rules layer plus the engineer’s answers produce a UniversalStackInput. This is the form the cost engine actually eats — a material with a utilisation, an array of operations each with cycle time, OEE, manning and labour efficiency, a tooling block, and the universal per-part costs. Where geometry can determine a field, geometry wins; where it cannot, the engineer answers and the tool blocks until they do. Three: computeUniversalStack turns that into a PartCostResult. Eight buckets, per-operation detail, and — the field I would point at first — a traceability array. Every cost line emits its field, value, unit, rate source, rate id and confidence. That is what prints beneath every number in the report, and it is why a figure survives a supplier meeting. Four: the DFM/DFA layer reads the finished result and produces RankedOpportunities, which is the change we made after the last review — savings ranked in money per part and grouped by category, with no score and no severity anywhere a person sees. Five: SQLite, twelve tables, one file on our own server. And note the design decision, because a data person will spot it immediately: the JSON objects above are stored whole in data columns rather than shredded into a relational model. The engine owns the schema, so a costing round-trips byte-identical, and rate_overrides is a proper audit trail of who changed which rate and when. The teal strip in the middle is the sentence I would like him to leave with. The whole system is one pure transform between two typed structures: UniversalStackInput and a RateLibrary in, PartCostResult out. Same input, same output, forever. That property is what makes fifteen hundred tests possible, and it is why the identical code runs in the browser and on the server without a line changing. And the three panels at the bottom are the things I would want to be asked about. Provenance: nothing is a bare number. Units: fields carry their unit in the name, because seconds-versus-hours and millimetres-versus-centimetres are genuinely where the bugs in this domain come from, and that convention is pinned by tests rather than by good intentions. Storage: typed in code, JSON at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slideLayout" Target="../slideLayouts/slideLayout1.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3–7</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8–26</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27–37</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38</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5–9 (the business case) · slide 26 (the housing on one page) · slide 36 (the two findings) · slide 38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~1,490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36776"/>
            <a:ext cx="397764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Routable to a private endpoint · AIR_GAPPED=1 refuses the call — CAD costing still works</a:t>
            </a:r>
            <a:endParaRPr lang="en-US" sz="76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AI vision reads it (↑)</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13" name="Shape 10"/>
          <p:cNvSpPr/>
          <p:nvPr/>
        </p:nvSpPr>
        <p:spPr>
          <a:xfrm>
            <a:off x="685800" y="1874520"/>
            <a:ext cx="3200400" cy="256032"/>
          </a:xfrm>
          <a:prstGeom prst="roundRect">
            <a:avLst>
              <a:gd name="adj" fmla="val 50000"/>
            </a:avLst>
          </a:prstGeom>
          <a:solidFill>
            <a:srgbClr val="0E8074"/>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B7791F"/>
            </a:solidFill>
            <a:prstDash val="solid"/>
          </a:ln>
        </p:spPr>
      </p:sp>
      <p:sp>
        <p:nvSpPr>
          <p:cNvPr id="43" name="Shape 38"/>
          <p:cNvSpPr/>
          <p:nvPr/>
        </p:nvSpPr>
        <p:spPr>
          <a:xfrm>
            <a:off x="5111496" y="2560320"/>
            <a:ext cx="310896" cy="310896"/>
          </a:xfrm>
          <a:prstGeom prst="ellipse">
            <a:avLst/>
          </a:prstGeom>
          <a:solidFill>
            <a:srgbClr val="B7791F"/>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B7791F"/>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E8B57"/>
            </a:solidFill>
            <a:prstDash val="solid"/>
          </a:ln>
        </p:spPr>
      </p:sp>
      <p:sp>
        <p:nvSpPr>
          <p:cNvPr id="48" name="Shape 42"/>
          <p:cNvSpPr/>
          <p:nvPr/>
        </p:nvSpPr>
        <p:spPr>
          <a:xfrm>
            <a:off x="5111496" y="4956048"/>
            <a:ext cx="310896" cy="310896"/>
          </a:xfrm>
          <a:prstGeom prst="ellipse">
            <a:avLst/>
          </a:prstGeom>
          <a:solidFill>
            <a:srgbClr val="2E8B57"/>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E8B57"/>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E8074"/>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423160" y="3008376"/>
            <a:ext cx="182880" cy="0"/>
          </a:xfrm>
          <a:prstGeom prst="line">
            <a:avLst/>
          </a:prstGeom>
          <a:noFill/>
          <a:ln w="22225">
            <a:solidFill>
              <a:srgbClr val="1D6FB8"/>
            </a:solidFill>
            <a:prstDash val="solid"/>
            <a:tailEnd type="triangle"/>
          </a:ln>
        </p:spPr>
      </p:sp>
      <p:sp>
        <p:nvSpPr>
          <p:cNvPr id="61" name="Shape 53"/>
          <p:cNvSpPr/>
          <p:nvPr/>
        </p:nvSpPr>
        <p:spPr>
          <a:xfrm>
            <a:off x="3611880" y="3566160"/>
            <a:ext cx="0" cy="146304"/>
          </a:xfrm>
          <a:prstGeom prst="line">
            <a:avLst/>
          </a:prstGeom>
          <a:noFill/>
          <a:ln w="22225">
            <a:solidFill>
              <a:srgbClr val="4F46E5"/>
            </a:solidFill>
            <a:prstDash val="solid"/>
            <a:tailEnd type="triangle"/>
          </a:ln>
        </p:spPr>
      </p:sp>
      <p:sp>
        <p:nvSpPr>
          <p:cNvPr id="62" name="Shape 54"/>
          <p:cNvSpPr/>
          <p:nvPr/>
        </p:nvSpPr>
        <p:spPr>
          <a:xfrm>
            <a:off x="4754880" y="3008376"/>
            <a:ext cx="228600" cy="0"/>
          </a:xfrm>
          <a:prstGeom prst="line">
            <a:avLst/>
          </a:prstGeom>
          <a:noFill/>
          <a:ln w="22225">
            <a:solidFill>
              <a:srgbClr val="4F46E5"/>
            </a:solidFill>
            <a:prstDash val="solid"/>
            <a:tailEnd type="triangle"/>
          </a:ln>
        </p:spPr>
      </p:sp>
      <p:sp>
        <p:nvSpPr>
          <p:cNvPr id="63" name="Shape 55"/>
          <p:cNvSpPr/>
          <p:nvPr/>
        </p:nvSpPr>
        <p:spPr>
          <a:xfrm flipV="1">
            <a:off x="4754880" y="3520440"/>
            <a:ext cx="228600" cy="749808"/>
          </a:xfrm>
          <a:prstGeom prst="line">
            <a:avLst/>
          </a:prstGeom>
          <a:noFill/>
          <a:ln w="17780">
            <a:solidFill>
              <a:srgbClr val="4F46E5"/>
            </a:solidFill>
            <a:prstDash val="solid"/>
            <a:tailEnd type="triangle"/>
          </a:ln>
        </p:spPr>
      </p:sp>
      <p:sp>
        <p:nvSpPr>
          <p:cNvPr id="64" name="Shape 56"/>
          <p:cNvSpPr/>
          <p:nvPr/>
        </p:nvSpPr>
        <p:spPr>
          <a:xfrm>
            <a:off x="7086600" y="3063240"/>
            <a:ext cx="411480" cy="0"/>
          </a:xfrm>
          <a:prstGeom prst="line">
            <a:avLst/>
          </a:prstGeom>
          <a:noFill/>
          <a:ln w="22225">
            <a:solidFill>
              <a:srgbClr val="B7791F"/>
            </a:solidFill>
            <a:prstDash val="solid"/>
            <a:tailEnd type="triangle"/>
          </a:ln>
        </p:spPr>
      </p:sp>
      <p:sp>
        <p:nvSpPr>
          <p:cNvPr id="65" name="Shape 57"/>
          <p:cNvSpPr/>
          <p:nvPr/>
        </p:nvSpPr>
        <p:spPr>
          <a:xfrm flipH="1">
            <a:off x="7086600" y="4773168"/>
            <a:ext cx="411480" cy="347472"/>
          </a:xfrm>
          <a:prstGeom prst="line">
            <a:avLst/>
          </a:prstGeom>
          <a:noFill/>
          <a:ln w="17780">
            <a:solidFill>
              <a:srgbClr val="0E8074"/>
            </a:solidFill>
            <a:prstDash val="solid"/>
            <a:tailEnd type="triangle"/>
          </a:ln>
        </p:spPr>
      </p:sp>
      <p:sp>
        <p:nvSpPr>
          <p:cNvPr id="66" name="Shape 58"/>
          <p:cNvSpPr/>
          <p:nvPr/>
        </p:nvSpPr>
        <p:spPr>
          <a:xfrm flipV="1">
            <a:off x="6035040" y="3685032"/>
            <a:ext cx="0" cy="1161288"/>
          </a:xfrm>
          <a:prstGeom prst="line">
            <a:avLst/>
          </a:prstGeom>
          <a:noFill/>
          <a:ln w="17780">
            <a:solidFill>
              <a:srgbClr val="2E8B57"/>
            </a:solidFill>
            <a:prstDash val="solid"/>
            <a:tailEnd type="triangle"/>
          </a:ln>
        </p:spPr>
      </p:sp>
      <p:sp>
        <p:nvSpPr>
          <p:cNvPr id="67" name="Shape 59"/>
          <p:cNvSpPr/>
          <p:nvPr/>
        </p:nvSpPr>
        <p:spPr>
          <a:xfrm>
            <a:off x="9784080" y="3246120"/>
            <a:ext cx="320040" cy="0"/>
          </a:xfrm>
          <a:prstGeom prst="line">
            <a:avLst/>
          </a:prstGeom>
          <a:noFill/>
          <a:ln w="22225">
            <a:solidFill>
              <a:srgbClr val="2E8B57"/>
            </a:solidFill>
            <a:prstDash val="solid"/>
            <a:tailEnd type="triangle"/>
          </a:ln>
        </p:spPr>
      </p:sp>
      <p:sp>
        <p:nvSpPr>
          <p:cNvPr id="68" name="Shape 60"/>
          <p:cNvSpPr/>
          <p:nvPr/>
        </p:nvSpPr>
        <p:spPr>
          <a:xfrm>
            <a:off x="9784080" y="4754880"/>
            <a:ext cx="320040" cy="685800"/>
          </a:xfrm>
          <a:prstGeom prst="line">
            <a:avLst/>
          </a:prstGeom>
          <a:noFill/>
          <a:ln w="17780">
            <a:solidFill>
              <a:srgbClr val="2E8B57"/>
            </a:solidFill>
            <a:prstDash val="solid"/>
            <a:tailEnd type="triangle"/>
          </a:ln>
        </p:spPr>
      </p:sp>
      <p:sp>
        <p:nvSpPr>
          <p:cNvPr id="69" name="Shape 61"/>
          <p:cNvSpPr/>
          <p:nvPr/>
        </p:nvSpPr>
        <p:spPr>
          <a:xfrm>
            <a:off x="4197096" y="2368296"/>
            <a:ext cx="548640" cy="155448"/>
          </a:xfrm>
          <a:prstGeom prst="roundRect">
            <a:avLst>
              <a:gd name="adj" fmla="val 50000"/>
            </a:avLst>
          </a:prstGeom>
          <a:solidFill>
            <a:srgbClr val="4F46E5"/>
          </a:solidFill>
          <a:ln/>
        </p:spPr>
      </p:sp>
      <p:sp>
        <p:nvSpPr>
          <p:cNvPr id="70" name="Text 62"/>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1" name="Shape 63"/>
          <p:cNvSpPr/>
          <p:nvPr/>
        </p:nvSpPr>
        <p:spPr>
          <a:xfrm>
            <a:off x="4197096" y="3630168"/>
            <a:ext cx="548640" cy="155448"/>
          </a:xfrm>
          <a:prstGeom prst="roundRect">
            <a:avLst>
              <a:gd name="adj" fmla="val 50000"/>
            </a:avLst>
          </a:prstGeom>
          <a:solidFill>
            <a:srgbClr val="4F46E5"/>
          </a:solidFill>
          <a:ln/>
        </p:spPr>
      </p:sp>
      <p:sp>
        <p:nvSpPr>
          <p:cNvPr id="72" name="Text 64"/>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3" name="Shape 65"/>
          <p:cNvSpPr/>
          <p:nvPr/>
        </p:nvSpPr>
        <p:spPr>
          <a:xfrm>
            <a:off x="6528816" y="2368296"/>
            <a:ext cx="548640" cy="155448"/>
          </a:xfrm>
          <a:prstGeom prst="roundRect">
            <a:avLst>
              <a:gd name="adj" fmla="val 50000"/>
            </a:avLst>
          </a:prstGeom>
          <a:solidFill>
            <a:srgbClr val="B7791F"/>
          </a:solidFill>
          <a:ln/>
        </p:spPr>
      </p:sp>
      <p:sp>
        <p:nvSpPr>
          <p:cNvPr id="74" name="Text 66"/>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5" name="Shape 67"/>
          <p:cNvSpPr/>
          <p:nvPr/>
        </p:nvSpPr>
        <p:spPr>
          <a:xfrm>
            <a:off x="9226296" y="2368296"/>
            <a:ext cx="548640" cy="155448"/>
          </a:xfrm>
          <a:prstGeom prst="roundRect">
            <a:avLst>
              <a:gd name="adj" fmla="val 50000"/>
            </a:avLst>
          </a:prstGeom>
          <a:solidFill>
            <a:srgbClr val="0E8074"/>
          </a:solidFill>
          <a:ln/>
        </p:spPr>
      </p:sp>
      <p:sp>
        <p:nvSpPr>
          <p:cNvPr id="76" name="Text 68"/>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7" name="Shape 69"/>
          <p:cNvSpPr/>
          <p:nvPr/>
        </p:nvSpPr>
        <p:spPr>
          <a:xfrm>
            <a:off x="9226296" y="4270248"/>
            <a:ext cx="548640" cy="155448"/>
          </a:xfrm>
          <a:prstGeom prst="roundRect">
            <a:avLst>
              <a:gd name="adj" fmla="val 50000"/>
            </a:avLst>
          </a:prstGeom>
          <a:solidFill>
            <a:srgbClr val="0E8074"/>
          </a:solidFill>
          <a:ln/>
        </p:spPr>
      </p:sp>
      <p:sp>
        <p:nvSpPr>
          <p:cNvPr id="78" name="Text 70"/>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9" name="Shape 71"/>
          <p:cNvSpPr/>
          <p:nvPr/>
        </p:nvSpPr>
        <p:spPr>
          <a:xfrm>
            <a:off x="6528816" y="4764024"/>
            <a:ext cx="548640" cy="155448"/>
          </a:xfrm>
          <a:prstGeom prst="roundRect">
            <a:avLst>
              <a:gd name="adj" fmla="val 50000"/>
            </a:avLst>
          </a:prstGeom>
          <a:solidFill>
            <a:srgbClr val="2E8B57"/>
          </a:solidFill>
          <a:ln/>
        </p:spPr>
      </p:sp>
      <p:sp>
        <p:nvSpPr>
          <p:cNvPr id="80" name="Text 72"/>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81" name="Shape 73"/>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82" name="Text 74"/>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3"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4"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Where the Money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Three value streams, one transparent calculation — every assumption is on the slide and open to challenge</a:t>
            </a:r>
            <a:endParaRPr lang="en-US" sz="1200" dirty="0"/>
          </a:p>
        </p:txBody>
      </p:sp>
      <p:sp>
        <p:nvSpPr>
          <p:cNvPr id="5" name="Shape 3"/>
          <p:cNvSpPr/>
          <p:nvPr/>
        </p:nvSpPr>
        <p:spPr>
          <a:xfrm>
            <a:off x="457200" y="1042416"/>
            <a:ext cx="3602736" cy="1737360"/>
          </a:xfrm>
          <a:prstGeom prst="roundRect">
            <a:avLst>
              <a:gd name="adj" fmla="val 5263"/>
            </a:avLst>
          </a:prstGeom>
          <a:solidFill>
            <a:srgbClr val="FFFFFF"/>
          </a:solidFill>
          <a:ln w="19050">
            <a:solidFill>
              <a:srgbClr val="2E8B57"/>
            </a:solidFill>
            <a:prstDash val="solid"/>
          </a:ln>
        </p:spPr>
      </p:sp>
      <p:sp>
        <p:nvSpPr>
          <p:cNvPr id="6" name="Shape 4"/>
          <p:cNvSpPr/>
          <p:nvPr/>
        </p:nvSpPr>
        <p:spPr>
          <a:xfrm>
            <a:off x="603504" y="1152144"/>
            <a:ext cx="310896" cy="310896"/>
          </a:xfrm>
          <a:prstGeom prst="ellipse">
            <a:avLst/>
          </a:prstGeom>
          <a:solidFill>
            <a:srgbClr val="2E8B57"/>
          </a:solidFill>
          <a:ln/>
        </p:spPr>
      </p:sp>
      <p:pic>
        <p:nvPicPr>
          <p:cNvPr id="7" name="Image 0" descr="preencoded.png">    </p:cNvPr>
          <p:cNvPicPr>
            <a:picLocks noChangeAspect="1"/>
          </p:cNvPicPr>
          <p:nvPr/>
        </p:nvPicPr>
        <p:blipFill>
          <a:blip r:embed="rId1"/>
          <a:stretch>
            <a:fillRect/>
          </a:stretch>
        </p:blipFill>
        <p:spPr>
          <a:xfrm>
            <a:off x="676656" y="1225296"/>
            <a:ext cx="164592" cy="164592"/>
          </a:xfrm>
          <a:prstGeom prst="rect">
            <a:avLst/>
          </a:prstGeom>
        </p:spPr>
      </p:pic>
      <p:sp>
        <p:nvSpPr>
          <p:cNvPr id="8" name="Text 5"/>
          <p:cNvSpPr/>
          <p:nvPr/>
        </p:nvSpPr>
        <p:spPr>
          <a:xfrm>
            <a:off x="987552" y="1133856"/>
            <a:ext cx="2926080" cy="274320"/>
          </a:xfrm>
          <a:prstGeom prst="rect">
            <a:avLst/>
          </a:prstGeom>
          <a:noFill/>
          <a:ln/>
        </p:spPr>
        <p:txBody>
          <a:bodyPr wrap="square" lIns="0" tIns="0" rIns="0" bIns="0" rtlCol="0" anchor="ctr"/>
          <a:lstStyle/>
          <a:p>
            <a:pPr indent="0" marL="0">
              <a:buNone/>
            </a:pPr>
            <a:r>
              <a:rPr lang="en-US" sz="1100" b="1" dirty="0">
                <a:solidFill>
                  <a:srgbClr val="2E8B57"/>
                </a:solidFill>
                <a:latin typeface="Calibri" pitchFamily="34" charset="0"/>
                <a:ea typeface="Calibri" pitchFamily="34" charset="-122"/>
                <a:cs typeface="Calibri" pitchFamily="34" charset="-120"/>
              </a:rPr>
              <a:t>A · Negotiation floor</a:t>
            </a:r>
            <a:endParaRPr lang="en-US" sz="1100" dirty="0"/>
          </a:p>
        </p:txBody>
      </p:sp>
      <p:sp>
        <p:nvSpPr>
          <p:cNvPr id="9" name="Text 6"/>
          <p:cNvSpPr/>
          <p:nvPr/>
        </p:nvSpPr>
        <p:spPr>
          <a:xfrm>
            <a:off x="603504"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A defensible should-cost turns a quote into a conversation with a floor price under it. Supplier margin and overhead are priced as separate lines, and every line prints its own derivation — so the challenge survives the meeting.</a:t>
            </a:r>
            <a:endParaRPr lang="en-US" sz="830" dirty="0"/>
          </a:p>
        </p:txBody>
      </p:sp>
      <p:sp>
        <p:nvSpPr>
          <p:cNvPr id="10" name="Shape 7"/>
          <p:cNvSpPr/>
          <p:nvPr/>
        </p:nvSpPr>
        <p:spPr>
          <a:xfrm>
            <a:off x="603504" y="2267712"/>
            <a:ext cx="3310128" cy="420624"/>
          </a:xfrm>
          <a:prstGeom prst="roundRect">
            <a:avLst>
              <a:gd name="adj" fmla="val 10870"/>
            </a:avLst>
          </a:prstGeom>
          <a:solidFill>
            <a:srgbClr val="F0F4F9"/>
          </a:solidFill>
          <a:ln/>
        </p:spPr>
      </p:sp>
      <p:sp>
        <p:nvSpPr>
          <p:cNvPr id="11" name="Text 8"/>
          <p:cNvSpPr/>
          <p:nvPr/>
        </p:nvSpPr>
        <p:spPr>
          <a:xfrm>
            <a:off x="694944"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£3.22/part of ranked opportunity on the £25.14 reference part — 12.8%, of which the commercial levers alone are £5.28.</a:t>
            </a:r>
            <a:endParaRPr lang="en-US" sz="740" dirty="0"/>
          </a:p>
        </p:txBody>
      </p:sp>
      <p:sp>
        <p:nvSpPr>
          <p:cNvPr id="12" name="Shape 9"/>
          <p:cNvSpPr/>
          <p:nvPr/>
        </p:nvSpPr>
        <p:spPr>
          <a:xfrm>
            <a:off x="4288536" y="1042416"/>
            <a:ext cx="3602736" cy="1737360"/>
          </a:xfrm>
          <a:prstGeom prst="roundRect">
            <a:avLst>
              <a:gd name="adj" fmla="val 5263"/>
            </a:avLst>
          </a:prstGeom>
          <a:solidFill>
            <a:srgbClr val="FFFFFF"/>
          </a:solidFill>
          <a:ln w="19050">
            <a:solidFill>
              <a:srgbClr val="0E8074"/>
            </a:solidFill>
            <a:prstDash val="solid"/>
          </a:ln>
        </p:spPr>
      </p:sp>
      <p:sp>
        <p:nvSpPr>
          <p:cNvPr id="13" name="Shape 10"/>
          <p:cNvSpPr/>
          <p:nvPr/>
        </p:nvSpPr>
        <p:spPr>
          <a:xfrm>
            <a:off x="4434840" y="1152144"/>
            <a:ext cx="310896" cy="310896"/>
          </a:xfrm>
          <a:prstGeom prst="ellipse">
            <a:avLst/>
          </a:prstGeom>
          <a:solidFill>
            <a:srgbClr val="0E8074"/>
          </a:solidFill>
          <a:ln/>
        </p:spPr>
      </p:sp>
      <p:pic>
        <p:nvPicPr>
          <p:cNvPr id="14" name="Image 1" descr="preencoded.png">    </p:cNvPr>
          <p:cNvPicPr>
            <a:picLocks noChangeAspect="1"/>
          </p:cNvPicPr>
          <p:nvPr/>
        </p:nvPicPr>
        <p:blipFill>
          <a:blip r:embed="rId2"/>
          <a:stretch>
            <a:fillRect/>
          </a:stretch>
        </p:blipFill>
        <p:spPr>
          <a:xfrm>
            <a:off x="4507992" y="1225296"/>
            <a:ext cx="164592" cy="164592"/>
          </a:xfrm>
          <a:prstGeom prst="rect">
            <a:avLst/>
          </a:prstGeom>
        </p:spPr>
      </p:pic>
      <p:sp>
        <p:nvSpPr>
          <p:cNvPr id="15" name="Text 11"/>
          <p:cNvSpPr/>
          <p:nvPr/>
        </p:nvSpPr>
        <p:spPr>
          <a:xfrm>
            <a:off x="4818888" y="1133856"/>
            <a:ext cx="2926080" cy="274320"/>
          </a:xfrm>
          <a:prstGeom prst="rect">
            <a:avLst/>
          </a:prstGeom>
          <a:noFill/>
          <a:ln/>
        </p:spPr>
        <p:txBody>
          <a:bodyPr wrap="square" lIns="0" tIns="0" rIns="0" bIns="0" rtlCol="0" anchor="ctr"/>
          <a:lstStyle/>
          <a:p>
            <a:pPr indent="0" marL="0">
              <a:buNone/>
            </a:pPr>
            <a:r>
              <a:rPr lang="en-US" sz="1100" b="1" dirty="0">
                <a:solidFill>
                  <a:srgbClr val="0E8074"/>
                </a:solidFill>
                <a:latin typeface="Calibri" pitchFamily="34" charset="0"/>
                <a:ea typeface="Calibri" pitchFamily="34" charset="-122"/>
                <a:cs typeface="Calibri" pitchFamily="34" charset="-120"/>
              </a:rPr>
              <a:t>B · Design-stage avoidance</a:t>
            </a:r>
            <a:endParaRPr lang="en-US" sz="1100" dirty="0"/>
          </a:p>
        </p:txBody>
      </p:sp>
      <p:sp>
        <p:nvSpPr>
          <p:cNvPr id="16" name="Text 12"/>
          <p:cNvSpPr/>
          <p:nvPr/>
        </p:nvSpPr>
        <p:spPr>
          <a:xfrm>
            <a:off x="4434840"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Cost known while the design can still move. At 10–15 minutes a part this runs at concept stage rather than after the quote lands, while wall thickness, cavitation and routing are all still open.</a:t>
            </a:r>
            <a:endParaRPr lang="en-US" sz="830" dirty="0"/>
          </a:p>
        </p:txBody>
      </p:sp>
      <p:sp>
        <p:nvSpPr>
          <p:cNvPr id="17" name="Shape 13"/>
          <p:cNvSpPr/>
          <p:nvPr/>
        </p:nvSpPr>
        <p:spPr>
          <a:xfrm>
            <a:off x="4434840" y="2267712"/>
            <a:ext cx="3310128" cy="420624"/>
          </a:xfrm>
          <a:prstGeom prst="roundRect">
            <a:avLst>
              <a:gd name="adj" fmla="val 10870"/>
            </a:avLst>
          </a:prstGeom>
          <a:solidFill>
            <a:srgbClr val="F0F4F9"/>
          </a:solidFill>
          <a:ln/>
        </p:spPr>
      </p:sp>
      <p:sp>
        <p:nvSpPr>
          <p:cNvPr id="18" name="Text 14"/>
          <p:cNvSpPr/>
          <p:nvPr/>
        </p:nvSpPr>
        <p:spPr>
          <a:xfrm>
            <a:off x="4526280"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on the bumper, tooling was 43% of piece cost — more than resin, press and labour combined. Nobody predicted that before the run.</a:t>
            </a:r>
            <a:endParaRPr lang="en-US" sz="740" dirty="0"/>
          </a:p>
        </p:txBody>
      </p:sp>
      <p:sp>
        <p:nvSpPr>
          <p:cNvPr id="19" name="Shape 15"/>
          <p:cNvSpPr/>
          <p:nvPr/>
        </p:nvSpPr>
        <p:spPr>
          <a:xfrm>
            <a:off x="8119872" y="1042416"/>
            <a:ext cx="3602736" cy="1737360"/>
          </a:xfrm>
          <a:prstGeom prst="roundRect">
            <a:avLst>
              <a:gd name="adj" fmla="val 5263"/>
            </a:avLst>
          </a:prstGeom>
          <a:solidFill>
            <a:srgbClr val="FFFFFF"/>
          </a:solidFill>
          <a:ln w="19050">
            <a:solidFill>
              <a:srgbClr val="1D6FB8"/>
            </a:solidFill>
            <a:prstDash val="solid"/>
          </a:ln>
        </p:spPr>
      </p:sp>
      <p:sp>
        <p:nvSpPr>
          <p:cNvPr id="20" name="Shape 16"/>
          <p:cNvSpPr/>
          <p:nvPr/>
        </p:nvSpPr>
        <p:spPr>
          <a:xfrm>
            <a:off x="8266176" y="1152144"/>
            <a:ext cx="310896" cy="310896"/>
          </a:xfrm>
          <a:prstGeom prst="ellipse">
            <a:avLst/>
          </a:prstGeom>
          <a:solidFill>
            <a:srgbClr val="1D6FB8"/>
          </a:solidFill>
          <a:ln/>
        </p:spPr>
      </p:sp>
      <p:pic>
        <p:nvPicPr>
          <p:cNvPr id="21" name="Image 2" descr="preencoded.png">    </p:cNvPr>
          <p:cNvPicPr>
            <a:picLocks noChangeAspect="1"/>
          </p:cNvPicPr>
          <p:nvPr/>
        </p:nvPicPr>
        <p:blipFill>
          <a:blip r:embed="rId3"/>
          <a:stretch>
            <a:fillRect/>
          </a:stretch>
        </p:blipFill>
        <p:spPr>
          <a:xfrm>
            <a:off x="8339328" y="1225296"/>
            <a:ext cx="164592" cy="164592"/>
          </a:xfrm>
          <a:prstGeom prst="rect">
            <a:avLst/>
          </a:prstGeom>
        </p:spPr>
      </p:pic>
      <p:sp>
        <p:nvSpPr>
          <p:cNvPr id="22" name="Text 17"/>
          <p:cNvSpPr/>
          <p:nvPr/>
        </p:nvSpPr>
        <p:spPr>
          <a:xfrm>
            <a:off x="8650224" y="1133856"/>
            <a:ext cx="2926080" cy="274320"/>
          </a:xfrm>
          <a:prstGeom prst="rect">
            <a:avLst/>
          </a:prstGeom>
          <a:noFill/>
          <a:ln/>
        </p:spPr>
        <p:txBody>
          <a:bodyPr wrap="square" lIns="0" tIns="0" rIns="0" bIns="0" rtlCol="0" anchor="ctr"/>
          <a:lstStyle/>
          <a:p>
            <a:pPr indent="0" marL="0">
              <a:buNone/>
            </a:pPr>
            <a:r>
              <a:rPr lang="en-US" sz="1100" b="1" dirty="0">
                <a:solidFill>
                  <a:srgbClr val="1D6FB8"/>
                </a:solidFill>
                <a:latin typeface="Calibri" pitchFamily="34" charset="0"/>
                <a:ea typeface="Calibri" pitchFamily="34" charset="-122"/>
                <a:cs typeface="Calibri" pitchFamily="34" charset="-120"/>
              </a:rPr>
              <a:t>C · Engineering capacity</a:t>
            </a:r>
            <a:endParaRPr lang="en-US" sz="1100" dirty="0"/>
          </a:p>
        </p:txBody>
      </p:sp>
      <p:sp>
        <p:nvSpPr>
          <p:cNvPr id="23" name="Text 18"/>
          <p:cNvSpPr/>
          <p:nvPr/>
        </p:nvSpPr>
        <p:spPr>
          <a:xfrm>
            <a:off x="8266176"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The hours are the enabler, not the prize. You cannot hold 40 floor-price negotiations a year if each should-cost costs half a day to prepare — capacity is what makes stream A reachable at all.</a:t>
            </a:r>
            <a:endParaRPr lang="en-US" sz="830" dirty="0"/>
          </a:p>
        </p:txBody>
      </p:sp>
      <p:sp>
        <p:nvSpPr>
          <p:cNvPr id="24" name="Shape 19"/>
          <p:cNvSpPr/>
          <p:nvPr/>
        </p:nvSpPr>
        <p:spPr>
          <a:xfrm>
            <a:off x="8266176" y="2267712"/>
            <a:ext cx="3310128" cy="420624"/>
          </a:xfrm>
          <a:prstGeom prst="roundRect">
            <a:avLst>
              <a:gd name="adj" fmla="val 10870"/>
            </a:avLst>
          </a:prstGeom>
          <a:solidFill>
            <a:srgbClr val="F0F4F9"/>
          </a:solidFill>
          <a:ln/>
        </p:spPr>
      </p:sp>
      <p:sp>
        <p:nvSpPr>
          <p:cNvPr id="25" name="Text 20"/>
          <p:cNvSpPr/>
          <p:nvPr/>
        </p:nvSpPr>
        <p:spPr>
          <a:xfrm>
            <a:off x="8357616"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16–30× faster than the confirmed CAPEE baseline · ≈1,650 h/yr on an illustrative 500-part mix.</a:t>
            </a:r>
            <a:endParaRPr lang="en-US" sz="740" dirty="0"/>
          </a:p>
        </p:txBody>
      </p:sp>
      <p:sp>
        <p:nvSpPr>
          <p:cNvPr id="26" name="Text 21"/>
          <p:cNvSpPr/>
          <p:nvPr/>
        </p:nvSpPr>
        <p:spPr>
          <a:xfrm>
            <a:off x="457200" y="2871216"/>
            <a:ext cx="73152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CALCULATION — ATTACK ANY OF THE THREE TERMS</a:t>
            </a:r>
            <a:endParaRPr lang="en-US" sz="850" dirty="0"/>
          </a:p>
        </p:txBody>
      </p:sp>
      <p:sp>
        <p:nvSpPr>
          <p:cNvPr id="27" name="Shape 22"/>
          <p:cNvSpPr/>
          <p:nvPr/>
        </p:nvSpPr>
        <p:spPr>
          <a:xfrm>
            <a:off x="457200" y="3108960"/>
            <a:ext cx="2542032" cy="1170432"/>
          </a:xfrm>
          <a:prstGeom prst="roundRect">
            <a:avLst>
              <a:gd name="adj" fmla="val 7031"/>
            </a:avLst>
          </a:prstGeom>
          <a:solidFill>
            <a:srgbClr val="FFFFFF"/>
          </a:solidFill>
          <a:ln w="12700">
            <a:solidFill>
              <a:srgbClr val="DCE3EE"/>
            </a:solidFill>
            <a:prstDash val="solid"/>
          </a:ln>
        </p:spPr>
      </p:sp>
      <p:sp>
        <p:nvSpPr>
          <p:cNvPr id="28" name="Text 23"/>
          <p:cNvSpPr/>
          <p:nvPr/>
        </p:nvSpPr>
        <p:spPr>
          <a:xfrm>
            <a:off x="585216"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Addressed spend</a:t>
            </a:r>
            <a:endParaRPr lang="en-US" sz="860" dirty="0"/>
          </a:p>
        </p:txBody>
      </p:sp>
      <p:sp>
        <p:nvSpPr>
          <p:cNvPr id="29" name="Text 24"/>
          <p:cNvSpPr/>
          <p:nvPr/>
        </p:nvSpPr>
        <p:spPr>
          <a:xfrm>
            <a:off x="585216"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 m</a:t>
            </a:r>
            <a:endParaRPr lang="en-US" sz="2100" dirty="0"/>
          </a:p>
        </p:txBody>
      </p:sp>
      <p:sp>
        <p:nvSpPr>
          <p:cNvPr id="30" name="Text 25"/>
          <p:cNvSpPr/>
          <p:nvPr/>
        </p:nvSpPr>
        <p:spPr>
          <a:xfrm>
            <a:off x="585216"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annual purchased value of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parts we put through it</a:t>
            </a:r>
            <a:endParaRPr lang="en-US" sz="740" dirty="0"/>
          </a:p>
        </p:txBody>
      </p:sp>
      <p:sp>
        <p:nvSpPr>
          <p:cNvPr id="31" name="Text 26"/>
          <p:cNvSpPr/>
          <p:nvPr/>
        </p:nvSpPr>
        <p:spPr>
          <a:xfrm>
            <a:off x="3017520"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2" name="Shape 27"/>
          <p:cNvSpPr/>
          <p:nvPr/>
        </p:nvSpPr>
        <p:spPr>
          <a:xfrm>
            <a:off x="3319272" y="3108960"/>
            <a:ext cx="2542032" cy="1170432"/>
          </a:xfrm>
          <a:prstGeom prst="roundRect">
            <a:avLst>
              <a:gd name="adj" fmla="val 7031"/>
            </a:avLst>
          </a:prstGeom>
          <a:solidFill>
            <a:srgbClr val="FFFFFF"/>
          </a:solidFill>
          <a:ln w="12700">
            <a:solidFill>
              <a:srgbClr val="DCE3EE"/>
            </a:solidFill>
            <a:prstDash val="solid"/>
          </a:ln>
        </p:spPr>
      </p:sp>
      <p:sp>
        <p:nvSpPr>
          <p:cNvPr id="33" name="Text 28"/>
          <p:cNvSpPr/>
          <p:nvPr/>
        </p:nvSpPr>
        <p:spPr>
          <a:xfrm>
            <a:off x="3447288"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Identified</a:t>
            </a:r>
            <a:endParaRPr lang="en-US" sz="860" dirty="0"/>
          </a:p>
        </p:txBody>
      </p:sp>
      <p:sp>
        <p:nvSpPr>
          <p:cNvPr id="34" name="Text 29"/>
          <p:cNvSpPr/>
          <p:nvPr/>
        </p:nvSpPr>
        <p:spPr>
          <a:xfrm>
            <a:off x="3447288"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8%</a:t>
            </a:r>
            <a:endParaRPr lang="en-US" sz="2100" dirty="0"/>
          </a:p>
        </p:txBody>
      </p:sp>
      <p:sp>
        <p:nvSpPr>
          <p:cNvPr id="35" name="Text 30"/>
          <p:cNvSpPr/>
          <p:nvPr/>
        </p:nvSpPr>
        <p:spPr>
          <a:xfrm>
            <a:off x="3447288"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planning figure — the tool</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measured 12.8% on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reference part</a:t>
            </a:r>
            <a:endParaRPr lang="en-US" sz="740" dirty="0"/>
          </a:p>
        </p:txBody>
      </p:sp>
      <p:sp>
        <p:nvSpPr>
          <p:cNvPr id="36" name="Text 31"/>
          <p:cNvSpPr/>
          <p:nvPr/>
        </p:nvSpPr>
        <p:spPr>
          <a:xfrm>
            <a:off x="5879592"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7" name="Shape 32"/>
          <p:cNvSpPr/>
          <p:nvPr/>
        </p:nvSpPr>
        <p:spPr>
          <a:xfrm>
            <a:off x="6181344" y="3108960"/>
            <a:ext cx="2542032" cy="1170432"/>
          </a:xfrm>
          <a:prstGeom prst="roundRect">
            <a:avLst>
              <a:gd name="adj" fmla="val 7031"/>
            </a:avLst>
          </a:prstGeom>
          <a:solidFill>
            <a:srgbClr val="FFFFFF"/>
          </a:solidFill>
          <a:ln w="12700">
            <a:solidFill>
              <a:srgbClr val="DCE3EE"/>
            </a:solidFill>
            <a:prstDash val="solid"/>
          </a:ln>
        </p:spPr>
      </p:sp>
      <p:sp>
        <p:nvSpPr>
          <p:cNvPr id="38" name="Text 33"/>
          <p:cNvSpPr/>
          <p:nvPr/>
        </p:nvSpPr>
        <p:spPr>
          <a:xfrm>
            <a:off x="6309360"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Captured</a:t>
            </a:r>
            <a:endParaRPr lang="en-US" sz="860" dirty="0"/>
          </a:p>
        </p:txBody>
      </p:sp>
      <p:sp>
        <p:nvSpPr>
          <p:cNvPr id="39" name="Text 34"/>
          <p:cNvSpPr/>
          <p:nvPr/>
        </p:nvSpPr>
        <p:spPr>
          <a:xfrm>
            <a:off x="6309360"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a:t>
            </a:r>
            <a:endParaRPr lang="en-US" sz="2100" dirty="0"/>
          </a:p>
        </p:txBody>
      </p:sp>
      <p:sp>
        <p:nvSpPr>
          <p:cNvPr id="40" name="Text 35"/>
          <p:cNvSpPr/>
          <p:nvPr/>
        </p:nvSpPr>
        <p:spPr>
          <a:xfrm>
            <a:off x="6309360" y="3785616"/>
            <a:ext cx="2286000" cy="457200"/>
          </a:xfrm>
          <a:prstGeom prst="rect">
            <a:avLst/>
          </a:prstGeom>
          <a:noFill/>
          <a:ln/>
        </p:spPr>
        <p:txBody>
          <a:bodyPr wrap="square" lIns="0" tIns="0" rIns="0" bIns="0" rtlCol="0" anchor="t"/>
          <a:lstStyle/>
          <a:p>
            <a:pPr indent="0" marL="0">
              <a:buNone/>
            </a:pPr>
            <a:r>
              <a:rPr lang="en-US" sz="740" dirty="0">
                <a:solidFill>
                  <a:srgbClr val="B7791F"/>
                </a:solidFill>
                <a:latin typeface="Calibri" pitchFamily="34" charset="0"/>
                <a:ea typeface="Calibri" pitchFamily="34" charset="-122"/>
                <a:cs typeface="Calibri" pitchFamily="34" charset="-120"/>
              </a:rPr>
              <a:t>the share we actually</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implement — the honest</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unknown</a:t>
            </a:r>
            <a:endParaRPr lang="en-US" sz="740" dirty="0"/>
          </a:p>
        </p:txBody>
      </p:sp>
      <p:sp>
        <p:nvSpPr>
          <p:cNvPr id="41" name="Text 36"/>
          <p:cNvSpPr/>
          <p:nvPr/>
        </p:nvSpPr>
        <p:spPr>
          <a:xfrm>
            <a:off x="8741664"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42" name="Shape 37"/>
          <p:cNvSpPr/>
          <p:nvPr/>
        </p:nvSpPr>
        <p:spPr>
          <a:xfrm>
            <a:off x="9043416" y="3108960"/>
            <a:ext cx="2542032" cy="1170432"/>
          </a:xfrm>
          <a:prstGeom prst="roundRect">
            <a:avLst>
              <a:gd name="adj" fmla="val 7031"/>
            </a:avLst>
          </a:prstGeom>
          <a:solidFill>
            <a:srgbClr val="EAF6EF"/>
          </a:solidFill>
          <a:ln w="19050">
            <a:solidFill>
              <a:srgbClr val="2E8B57"/>
            </a:solidFill>
            <a:prstDash val="solid"/>
          </a:ln>
        </p:spPr>
      </p:sp>
      <p:sp>
        <p:nvSpPr>
          <p:cNvPr id="43" name="Text 38"/>
          <p:cNvSpPr/>
          <p:nvPr/>
        </p:nvSpPr>
        <p:spPr>
          <a:xfrm>
            <a:off x="9171432" y="3182112"/>
            <a:ext cx="2286000" cy="219456"/>
          </a:xfrm>
          <a:prstGeom prst="rect">
            <a:avLst/>
          </a:prstGeom>
          <a:noFill/>
          <a:ln/>
        </p:spPr>
        <p:txBody>
          <a:bodyPr wrap="square" lIns="0" tIns="0" rIns="0" bIns="0" rtlCol="0" anchor="ctr"/>
          <a:lstStyle/>
          <a:p>
            <a:pPr indent="0" marL="0">
              <a:buNone/>
            </a:pPr>
            <a:r>
              <a:rPr lang="en-US" sz="860" b="1" dirty="0">
                <a:solidFill>
                  <a:srgbClr val="2E8B57"/>
                </a:solidFill>
                <a:latin typeface="Calibri" pitchFamily="34" charset="0"/>
                <a:ea typeface="Calibri" pitchFamily="34" charset="-122"/>
                <a:cs typeface="Calibri" pitchFamily="34" charset="-120"/>
              </a:rPr>
              <a:t>= Saving</a:t>
            </a:r>
            <a:endParaRPr lang="en-US" sz="860" dirty="0"/>
          </a:p>
        </p:txBody>
      </p:sp>
      <p:sp>
        <p:nvSpPr>
          <p:cNvPr id="44" name="Text 39"/>
          <p:cNvSpPr/>
          <p:nvPr/>
        </p:nvSpPr>
        <p:spPr>
          <a:xfrm>
            <a:off x="9171432" y="3401568"/>
            <a:ext cx="2286000" cy="384048"/>
          </a:xfrm>
          <a:prstGeom prst="rect">
            <a:avLst/>
          </a:prstGeom>
          <a:noFill/>
          <a:ln/>
        </p:spPr>
        <p:txBody>
          <a:bodyPr wrap="square" lIns="0" tIns="0" rIns="0" bIns="0" rtlCol="0" anchor="ctr"/>
          <a:lstStyle/>
          <a:p>
            <a:pPr indent="0" marL="0">
              <a:buNone/>
            </a:pPr>
            <a:r>
              <a:rPr lang="en-US" sz="2100" b="1" dirty="0">
                <a:solidFill>
                  <a:srgbClr val="2E8B57"/>
                </a:solidFill>
                <a:latin typeface="Cambria" pitchFamily="34" charset="0"/>
                <a:ea typeface="Cambria" pitchFamily="34" charset="-122"/>
                <a:cs typeface="Cambria" pitchFamily="34" charset="-120"/>
              </a:rPr>
              <a:t>£320k/yr</a:t>
            </a:r>
            <a:endParaRPr lang="en-US" sz="2100" dirty="0"/>
          </a:p>
        </p:txBody>
      </p:sp>
      <p:sp>
        <p:nvSpPr>
          <p:cNvPr id="45" name="Text 40"/>
          <p:cNvSpPr/>
          <p:nvPr/>
        </p:nvSpPr>
        <p:spPr>
          <a:xfrm>
            <a:off x="9171432" y="3785616"/>
            <a:ext cx="2286000" cy="457200"/>
          </a:xfrm>
          <a:prstGeom prst="rect">
            <a:avLst/>
          </a:prstGeom>
          <a:noFill/>
          <a:ln/>
        </p:spPr>
        <p:txBody>
          <a:bodyPr wrap="square" lIns="0" tIns="0" rIns="0" bIns="0" rtlCol="0" anchor="t"/>
          <a:lstStyle/>
          <a:p>
            <a:pPr indent="0" marL="0">
              <a:buNone/>
            </a:pPr>
            <a:r>
              <a:rPr lang="en-US" sz="740" dirty="0">
                <a:solidFill>
                  <a:srgbClr val="2E8B57"/>
                </a:solidFill>
                <a:latin typeface="Calibri" pitchFamily="34" charset="0"/>
                <a:ea typeface="Calibri" pitchFamily="34" charset="-122"/>
                <a:cs typeface="Calibri" pitchFamily="34" charset="-120"/>
              </a:rPr>
              <a:t>recurring, against a one-off</a:t>
            </a:r>
            <a:endParaRPr lang="en-US" sz="740" dirty="0"/>
          </a:p>
          <a:p>
            <a:pPr indent="0" marL="0">
              <a:buNone/>
            </a:pPr>
            <a:r>
              <a:rPr lang="en-US" sz="740" dirty="0">
                <a:solidFill>
                  <a:srgbClr val="2E8B57"/>
                </a:solidFill>
                <a:latin typeface="Calibri" pitchFamily="34" charset="0"/>
                <a:ea typeface="Calibri" pitchFamily="34" charset="-122"/>
                <a:cs typeface="Calibri" pitchFamily="34" charset="-120"/>
              </a:rPr>
              <a:t>pilot cost of ≈ £25k</a:t>
            </a:r>
            <a:endParaRPr lang="en-US" sz="740" dirty="0"/>
          </a:p>
        </p:txBody>
      </p:sp>
      <p:sp>
        <p:nvSpPr>
          <p:cNvPr id="46" name="Shape 41"/>
          <p:cNvSpPr/>
          <p:nvPr/>
        </p:nvSpPr>
        <p:spPr>
          <a:xfrm>
            <a:off x="457200" y="4370832"/>
            <a:ext cx="6903720" cy="1097280"/>
          </a:xfrm>
          <a:prstGeom prst="roundRect">
            <a:avLst>
              <a:gd name="adj" fmla="val 7500"/>
            </a:avLst>
          </a:prstGeom>
          <a:solidFill>
            <a:srgbClr val="FFFFFF"/>
          </a:solidFill>
          <a:ln w="12700">
            <a:solidFill>
              <a:srgbClr val="DCE3EE"/>
            </a:solidFill>
            <a:prstDash val="solid"/>
          </a:ln>
        </p:spPr>
      </p:sp>
      <p:sp>
        <p:nvSpPr>
          <p:cNvPr id="47" name="Text 42"/>
          <p:cNvSpPr/>
          <p:nvPr/>
        </p:nvSpPr>
        <p:spPr>
          <a:xfrm>
            <a:off x="621792" y="4434840"/>
            <a:ext cx="65836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WHAT WE ASSUMED — SWAP ANY OF THESE FOR OUR REAL NUMBERS</a:t>
            </a:r>
            <a:endParaRPr lang="en-US" sz="800" dirty="0"/>
          </a:p>
        </p:txBody>
      </p:sp>
      <p:sp>
        <p:nvSpPr>
          <p:cNvPr id="48" name="Text 43"/>
          <p:cNvSpPr/>
          <p:nvPr/>
        </p:nvSpPr>
        <p:spPr>
          <a:xfrm>
            <a:off x="621792" y="4636008"/>
            <a:ext cx="6583680" cy="786384"/>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40 parts in the pilot basket · £500k average annual purchased value each · 8% identified · 20% captured.
</a:t>
            </a:r>
            <a:pPr indent="0" marL="0">
              <a:buNone/>
            </a:pPr>
            <a:r>
              <a:rPr lang="en-US" sz="840" b="1" dirty="0">
                <a:solidFill>
                  <a:srgbClr val="16325C"/>
                </a:solidFill>
                <a:latin typeface="Calibri" pitchFamily="34" charset="0"/>
                <a:ea typeface="Calibri" pitchFamily="34" charset="-122"/>
                <a:cs typeface="Calibri" pitchFamily="34" charset="-120"/>
              </a:rPr>
              <a:t>Deliberately conservative: </a:t>
            </a:r>
            <a:pPr indent="0" marL="0">
              <a:buNone/>
            </a:pPr>
            <a:r>
              <a:rPr lang="en-US" sz="840" dirty="0">
                <a:solidFill>
                  <a:srgbClr val="3A4356"/>
                </a:solidFill>
                <a:latin typeface="Calibri" pitchFamily="34" charset="0"/>
                <a:ea typeface="Calibri" pitchFamily="34" charset="-122"/>
                <a:cs typeface="Calibri" pitchFamily="34" charset="-120"/>
              </a:rPr>
              <a:t>the 8% sits below the 12.8% the tool actually measured, and a 20% capture assumes four of every five ideas are never acted on. Nothing here needs the tool to be right about one part — only roughly right across a basket.</a:t>
            </a:r>
            <a:endParaRPr lang="en-US" sz="840" dirty="0"/>
          </a:p>
        </p:txBody>
      </p:sp>
      <p:sp>
        <p:nvSpPr>
          <p:cNvPr id="49" name="Shape 44"/>
          <p:cNvSpPr/>
          <p:nvPr/>
        </p:nvSpPr>
        <p:spPr>
          <a:xfrm>
            <a:off x="7571232" y="4370832"/>
            <a:ext cx="4160520" cy="1097280"/>
          </a:xfrm>
          <a:prstGeom prst="roundRect">
            <a:avLst>
              <a:gd name="adj" fmla="val 7500"/>
            </a:avLst>
          </a:prstGeom>
          <a:solidFill>
            <a:srgbClr val="FBEAE8"/>
          </a:solidFill>
          <a:ln w="12700">
            <a:solidFill>
              <a:srgbClr val="B03A2E"/>
            </a:solidFill>
            <a:prstDash val="solid"/>
          </a:ln>
        </p:spPr>
      </p:sp>
      <p:sp>
        <p:nvSpPr>
          <p:cNvPr id="50" name="Text 45"/>
          <p:cNvSpPr/>
          <p:nvPr/>
        </p:nvSpPr>
        <p:spPr>
          <a:xfrm>
            <a:off x="7735824" y="4434840"/>
            <a:ext cx="3840480" cy="182880"/>
          </a:xfrm>
          <a:prstGeom prst="rect">
            <a:avLst/>
          </a:prstGeom>
          <a:noFill/>
          <a:ln/>
        </p:spPr>
        <p:txBody>
          <a:bodyPr wrap="square" lIns="0" tIns="0" rIns="0" bIns="0" rtlCol="0" anchor="ctr"/>
          <a:lstStyle/>
          <a:p>
            <a:pPr indent="0" marL="0">
              <a:buNone/>
            </a:pPr>
            <a:r>
              <a:rPr lang="en-US" sz="800" b="1" spc="40" kern="0" dirty="0">
                <a:solidFill>
                  <a:srgbClr val="B03A2E"/>
                </a:solidFill>
                <a:latin typeface="Calibri" pitchFamily="34" charset="0"/>
                <a:ea typeface="Calibri" pitchFamily="34" charset="-122"/>
                <a:cs typeface="Calibri" pitchFamily="34" charset="-120"/>
              </a:rPr>
              <a:t>IF WE DO NOTHING</a:t>
            </a:r>
            <a:endParaRPr lang="en-US" sz="800" dirty="0"/>
          </a:p>
        </p:txBody>
      </p:sp>
      <p:sp>
        <p:nvSpPr>
          <p:cNvPr id="51" name="Text 46"/>
          <p:cNvSpPr/>
          <p:nvPr/>
        </p:nvSpPr>
        <p:spPr>
          <a:xfrm>
            <a:off x="7735824" y="4636008"/>
            <a:ext cx="3840480" cy="786384"/>
          </a:xfrm>
          <a:prstGeom prst="rect">
            <a:avLst/>
          </a:prstGeom>
          <a:noFill/>
          <a:ln/>
        </p:spPr>
        <p:txBody>
          <a:bodyPr wrap="square" lIns="0" tIns="0" rIns="0" bIns="0" rtlCol="0" anchor="t"/>
          <a:lstStyle/>
          <a:p>
            <a:pPr indent="0" marL="0">
              <a:buNone/>
            </a:pPr>
            <a:r>
              <a:rPr lang="en-US" sz="810" dirty="0">
                <a:solidFill>
                  <a:srgbClr val="3A4356"/>
                </a:solidFill>
                <a:latin typeface="Calibri" pitchFamily="34" charset="0"/>
                <a:ea typeface="Calibri" pitchFamily="34" charset="-122"/>
                <a:cs typeface="Calibri" pitchFamily="34" charset="-120"/>
              </a:rPr>
              <a:t>Quotes keep being accepted without a floor price · cost keeps being discovered after the design is locked, when the cheap levers have closed · findings like 43%-tooling keep arriving too late to act on · a should-cost stays half a day of an engineer, so only the biggest parts ever get one.</a:t>
            </a:r>
            <a:endParaRPr lang="en-US" sz="810" dirty="0"/>
          </a:p>
        </p:txBody>
      </p:sp>
      <p:sp>
        <p:nvSpPr>
          <p:cNvPr id="52" name="Shape 47"/>
          <p:cNvSpPr/>
          <p:nvPr/>
        </p:nvSpPr>
        <p:spPr>
          <a:xfrm>
            <a:off x="457200" y="5577840"/>
            <a:ext cx="11274552" cy="786384"/>
          </a:xfrm>
          <a:prstGeom prst="roundRect">
            <a:avLst>
              <a:gd name="adj" fmla="val 11628"/>
            </a:avLst>
          </a:prstGeom>
          <a:solidFill>
            <a:srgbClr val="16325C"/>
          </a:solidFill>
          <a:ln/>
        </p:spPr>
      </p:sp>
      <p:sp>
        <p:nvSpPr>
          <p:cNvPr id="53" name="Text 48"/>
          <p:cNvSpPr/>
          <p:nvPr/>
        </p:nvSpPr>
        <p:spPr>
          <a:xfrm>
            <a:off x="777240" y="5632704"/>
            <a:ext cx="10652760" cy="676656"/>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Break-even: </a:t>
            </a:r>
            <a:pPr indent="0" marL="0">
              <a:buNone/>
            </a:pPr>
            <a:r>
              <a:rPr lang="en-US" sz="1200" dirty="0">
                <a:solidFill>
                  <a:srgbClr val="FFFFFF"/>
                </a:solidFill>
                <a:latin typeface="Calibri" pitchFamily="34" charset="0"/>
                <a:ea typeface="Calibri" pitchFamily="34" charset="-122"/>
                <a:cs typeface="Calibri" pitchFamily="34" charset="-120"/>
              </a:rPr>
              <a:t>the pilot pays for itself if we capture </a:t>
            </a:r>
            <a:pPr indent="0" marL="0">
              <a:buNone/>
            </a:pPr>
            <a:r>
              <a:rPr lang="en-US" sz="1500" b="1" dirty="0">
                <a:solidFill>
                  <a:srgbClr val="6EE7B7"/>
                </a:solidFill>
                <a:latin typeface="Calibri" pitchFamily="34" charset="0"/>
                <a:ea typeface="Calibri" pitchFamily="34" charset="-122"/>
                <a:cs typeface="Calibri" pitchFamily="34" charset="-120"/>
              </a:rPr>
              <a:t>1.6% </a:t>
            </a:r>
            <a:pPr indent="0" marL="0">
              <a:buNone/>
            </a:pPr>
            <a:r>
              <a:rPr lang="en-US" sz="1200" dirty="0">
                <a:solidFill>
                  <a:srgbClr val="FFFFFF"/>
                </a:solidFill>
                <a:latin typeface="Calibri" pitchFamily="34" charset="0"/>
                <a:ea typeface="Calibri" pitchFamily="34" charset="-122"/>
                <a:cs typeface="Calibri" pitchFamily="34" charset="-120"/>
              </a:rPr>
              <a:t>of what it identifies — one pound in sixty. Every point of capture above that is ≈£16k a year.   </a:t>
            </a:r>
            <a:pPr indent="0" marL="0">
              <a:buNone/>
            </a:pPr>
            <a:r>
              <a:rPr lang="en-US" sz="1200" b="1" dirty="0">
                <a:solidFill>
                  <a:srgbClr val="FFFFFF"/>
                </a:solidFill>
                <a:latin typeface="Calibri" pitchFamily="34" charset="0"/>
                <a:ea typeface="Calibri" pitchFamily="34" charset="-122"/>
                <a:cs typeface="Calibri" pitchFamily="34" charset="-120"/>
              </a:rPr>
              <a:t>We are not asking you to believe 20%. We are asking whether 1.6% is plausible.</a:t>
            </a:r>
            <a:endParaRPr lang="en-US" sz="120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the capacity in stream C exists — the same should-cost, by commodity,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IV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V — The Ask: a 90-Day Pilot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decision, a fixed scope, criteria agreed before we start, and a go/no-go date</a:t>
            </a:r>
            <a:endParaRPr lang="en-US" sz="1200" dirty="0"/>
          </a:p>
        </p:txBody>
      </p:sp>
      <p:sp>
        <p:nvSpPr>
          <p:cNvPr id="5" name="Shape 3"/>
          <p:cNvSpPr/>
          <p:nvPr/>
        </p:nvSpPr>
        <p:spPr>
          <a:xfrm>
            <a:off x="457200" y="1042416"/>
            <a:ext cx="5120640" cy="1371600"/>
          </a:xfrm>
          <a:prstGeom prst="roundRect">
            <a:avLst>
              <a:gd name="adj" fmla="val 6667"/>
            </a:avLst>
          </a:prstGeom>
          <a:solidFill>
            <a:srgbClr val="EAF6EF"/>
          </a:solidFill>
          <a:ln w="25400">
            <a:solidFill>
              <a:srgbClr val="2E8B57"/>
            </a:solidFill>
            <a:prstDash val="solid"/>
          </a:ln>
        </p:spPr>
      </p:sp>
      <p:sp>
        <p:nvSpPr>
          <p:cNvPr id="6" name="Text 4"/>
          <p:cNvSpPr/>
          <p:nvPr/>
        </p:nvSpPr>
        <p:spPr>
          <a:xfrm>
            <a:off x="658368" y="1115568"/>
            <a:ext cx="475488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WE ARE ASKING FOR</a:t>
            </a:r>
            <a:endParaRPr lang="en-US" sz="850" dirty="0"/>
          </a:p>
        </p:txBody>
      </p:sp>
      <p:sp>
        <p:nvSpPr>
          <p:cNvPr id="7" name="Text 5"/>
          <p:cNvSpPr/>
          <p:nvPr/>
        </p:nvSpPr>
        <p:spPr>
          <a:xfrm>
            <a:off x="658368" y="1353312"/>
            <a:ext cx="4754880" cy="987552"/>
          </a:xfrm>
          <a:prstGeom prst="rect">
            <a:avLst/>
          </a:prstGeom>
          <a:noFill/>
          <a:ln/>
        </p:spPr>
        <p:txBody>
          <a:bodyPr wrap="square" lIns="0" tIns="0" rIns="0" bIns="0" rtlCol="0" anchor="t"/>
          <a:lstStyle/>
          <a:p>
            <a:pPr indent="0" marL="0">
              <a:buNone/>
            </a:pPr>
            <a:r>
              <a:rPr lang="en-US" sz="1500" b="1" dirty="0">
                <a:solidFill>
                  <a:srgbClr val="16325C"/>
                </a:solidFill>
                <a:latin typeface="Calibri" pitchFamily="34" charset="0"/>
                <a:ea typeface="Calibri" pitchFamily="34" charset="-122"/>
                <a:cs typeface="Calibri" pitchFamily="34" charset="-120"/>
              </a:rPr>
              <a:t>Approve a 90-day pilot on 40 parts.
</a:t>
            </a:r>
            <a:pPr indent="0" marL="0">
              <a:buNone/>
            </a:pPr>
            <a:r>
              <a:rPr lang="en-US" sz="950" dirty="0">
                <a:solidFill>
                  <a:srgbClr val="3A4356"/>
                </a:solidFill>
                <a:latin typeface="Calibri" pitchFamily="34" charset="0"/>
                <a:ea typeface="Calibri" pitchFamily="34" charset="-122"/>
                <a:cs typeface="Calibri" pitchFamily="34" charset="-120"/>
              </a:rPr>
              <a:t>One named owner · 0.3 FTE · one VM · ≈£25k one-off · no licence, no per-seat and no per-estimate cost. Nothing recurring is committed until the day-90 review.</a:t>
            </a:r>
            <a:endParaRPr lang="en-US" sz="1500" dirty="0"/>
          </a:p>
        </p:txBody>
      </p:sp>
      <p:sp>
        <p:nvSpPr>
          <p:cNvPr id="8" name="Shape 6"/>
          <p:cNvSpPr/>
          <p:nvPr/>
        </p:nvSpPr>
        <p:spPr>
          <a:xfrm>
            <a:off x="457200" y="2523744"/>
            <a:ext cx="5120640" cy="1298448"/>
          </a:xfrm>
          <a:prstGeom prst="roundRect">
            <a:avLst>
              <a:gd name="adj" fmla="val 6338"/>
            </a:avLst>
          </a:prstGeom>
          <a:solidFill>
            <a:srgbClr val="FFFFFF"/>
          </a:solidFill>
          <a:ln w="12700">
            <a:solidFill>
              <a:srgbClr val="DCE3EE"/>
            </a:solidFill>
            <a:prstDash val="solid"/>
          </a:ln>
        </p:spPr>
      </p:sp>
      <p:sp>
        <p:nvSpPr>
          <p:cNvPr id="9" name="Text 7"/>
          <p:cNvSpPr/>
          <p:nvPr/>
        </p:nvSpPr>
        <p:spPr>
          <a:xfrm>
            <a:off x="658368" y="2596896"/>
            <a:ext cx="47548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PILOT SCOPE — AGREED UP FRONT</a:t>
            </a:r>
            <a:endParaRPr lang="en-US" sz="800" dirty="0"/>
          </a:p>
        </p:txBody>
      </p:sp>
      <p:sp>
        <p:nvSpPr>
          <p:cNvPr id="10" name="Text 8"/>
          <p:cNvSpPr/>
          <p:nvPr/>
        </p:nvSpPr>
        <p:spPr>
          <a:xfrm>
            <a:off x="658368" y="2798064"/>
            <a:ext cx="384048" cy="438912"/>
          </a:xfrm>
          <a:prstGeom prst="rect">
            <a:avLst/>
          </a:prstGeom>
          <a:noFill/>
          <a:ln/>
        </p:spPr>
        <p:txBody>
          <a:bodyPr wrap="square" lIns="0" tIns="0" rIns="0" bIns="0" rtlCol="0" anchor="t"/>
          <a:lstStyle/>
          <a:p>
            <a:pPr indent="0" marL="0">
              <a:buNone/>
            </a:pPr>
            <a:r>
              <a:rPr lang="en-US" sz="840" b="1" dirty="0">
                <a:solidFill>
                  <a:srgbClr val="2E8B57"/>
                </a:solidFill>
                <a:latin typeface="Calibri" pitchFamily="34" charset="0"/>
                <a:ea typeface="Calibri" pitchFamily="34" charset="-122"/>
                <a:cs typeface="Calibri" pitchFamily="34" charset="-120"/>
              </a:rPr>
              <a:t>In</a:t>
            </a:r>
            <a:endParaRPr lang="en-US" sz="840" dirty="0"/>
          </a:p>
        </p:txBody>
      </p:sp>
      <p:sp>
        <p:nvSpPr>
          <p:cNvPr id="11" name="Text 9"/>
          <p:cNvSpPr/>
          <p:nvPr/>
        </p:nvSpPr>
        <p:spPr>
          <a:xfrm>
            <a:off x="1060704" y="2798064"/>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40 live parts across 4–5 commodities we already buy, chosen with purchasing — a mix of quoted parts and parts still in design.</a:t>
            </a:r>
            <a:endParaRPr lang="en-US" sz="820" dirty="0"/>
          </a:p>
        </p:txBody>
      </p:sp>
      <p:sp>
        <p:nvSpPr>
          <p:cNvPr id="12" name="Text 10"/>
          <p:cNvSpPr/>
          <p:nvPr/>
        </p:nvSpPr>
        <p:spPr>
          <a:xfrm>
            <a:off x="658368" y="3273552"/>
            <a:ext cx="384048" cy="438912"/>
          </a:xfrm>
          <a:prstGeom prst="rect">
            <a:avLst/>
          </a:prstGeom>
          <a:noFill/>
          <a:ln/>
        </p:spPr>
        <p:txBody>
          <a:bodyPr wrap="square" lIns="0" tIns="0" rIns="0" bIns="0" rtlCol="0" anchor="t"/>
          <a:lstStyle/>
          <a:p>
            <a:pPr indent="0" marL="0">
              <a:buNone/>
            </a:pPr>
            <a:r>
              <a:rPr lang="en-US" sz="840" b="1" dirty="0">
                <a:solidFill>
                  <a:srgbClr val="B03A2E"/>
                </a:solidFill>
                <a:latin typeface="Calibri" pitchFamily="34" charset="0"/>
                <a:ea typeface="Calibri" pitchFamily="34" charset="-122"/>
                <a:cs typeface="Calibri" pitchFamily="34" charset="-120"/>
              </a:rPr>
              <a:t>Out</a:t>
            </a:r>
            <a:endParaRPr lang="en-US" sz="840" dirty="0"/>
          </a:p>
        </p:txBody>
      </p:sp>
      <p:sp>
        <p:nvSpPr>
          <p:cNvPr id="13" name="Text 11"/>
          <p:cNvSpPr/>
          <p:nvPr/>
        </p:nvSpPr>
        <p:spPr>
          <a:xfrm>
            <a:off x="1060704" y="3273552"/>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No supplier is told a price comes from a tool. Every number is reviewed and owned by an engineer before it leaves the building.</a:t>
            </a:r>
            <a:endParaRPr lang="en-US" sz="820" dirty="0"/>
          </a:p>
        </p:txBody>
      </p:sp>
      <p:sp>
        <p:nvSpPr>
          <p:cNvPr id="14" name="Text 12"/>
          <p:cNvSpPr/>
          <p:nvPr/>
        </p:nvSpPr>
        <p:spPr>
          <a:xfrm>
            <a:off x="457200" y="3950208"/>
            <a:ext cx="5120640" cy="182880"/>
          </a:xfrm>
          <a:prstGeom prst="rect">
            <a:avLst/>
          </a:prstGeom>
          <a:noFill/>
          <a:ln/>
        </p:spPr>
        <p:txBody>
          <a:bodyPr wrap="square" lIns="0" tIns="0" rIns="0" bIns="0" rtlCol="0" anchor="ctr"/>
          <a:lstStyle/>
          <a:p>
            <a:pPr indent="0" marL="0">
              <a:buNone/>
            </a:pPr>
            <a:r>
              <a:rPr lang="en-US" sz="800" b="1" spc="40" kern="0" dirty="0">
                <a:solidFill>
                  <a:srgbClr val="16325C"/>
                </a:solidFill>
                <a:latin typeface="Calibri" pitchFamily="34" charset="0"/>
                <a:ea typeface="Calibri" pitchFamily="34" charset="-122"/>
                <a:cs typeface="Calibri" pitchFamily="34" charset="-120"/>
              </a:rPr>
              <a:t>90 DAYS, THREE PHASES</a:t>
            </a:r>
            <a:endParaRPr lang="en-US" sz="800" dirty="0"/>
          </a:p>
        </p:txBody>
      </p:sp>
      <p:sp>
        <p:nvSpPr>
          <p:cNvPr id="15" name="Shape 13"/>
          <p:cNvSpPr/>
          <p:nvPr/>
        </p:nvSpPr>
        <p:spPr>
          <a:xfrm>
            <a:off x="457200" y="4151376"/>
            <a:ext cx="914400" cy="420624"/>
          </a:xfrm>
          <a:prstGeom prst="roundRect">
            <a:avLst>
              <a:gd name="adj" fmla="val 10870"/>
            </a:avLst>
          </a:prstGeom>
          <a:solidFill>
            <a:srgbClr val="0E8074"/>
          </a:solidFill>
          <a:ln/>
        </p:spPr>
      </p:sp>
      <p:sp>
        <p:nvSpPr>
          <p:cNvPr id="16" name="Text 14"/>
          <p:cNvSpPr/>
          <p:nvPr/>
        </p:nvSpPr>
        <p:spPr>
          <a:xfrm>
            <a:off x="457200" y="41513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1–30</a:t>
            </a:r>
            <a:endParaRPr lang="en-US" sz="780" dirty="0"/>
          </a:p>
        </p:txBody>
      </p:sp>
      <p:sp>
        <p:nvSpPr>
          <p:cNvPr id="17" name="Text 15"/>
          <p:cNvSpPr/>
          <p:nvPr/>
        </p:nvSpPr>
        <p:spPr>
          <a:xfrm>
            <a:off x="1463040" y="41696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Set up + calibrate</a:t>
            </a:r>
            <a:endParaRPr lang="en-US" sz="840" dirty="0"/>
          </a:p>
        </p:txBody>
      </p:sp>
      <p:sp>
        <p:nvSpPr>
          <p:cNvPr id="18" name="Text 16"/>
          <p:cNvSpPr/>
          <p:nvPr/>
        </p:nvSpPr>
        <p:spPr>
          <a:xfrm>
            <a:off x="1463040" y="43342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One VM, our own rates loaded, the 6 validated parts re-run to confirm the baseline, two engineers trained.</a:t>
            </a:r>
            <a:endParaRPr lang="en-US" sz="760" dirty="0"/>
          </a:p>
        </p:txBody>
      </p:sp>
      <p:sp>
        <p:nvSpPr>
          <p:cNvPr id="19" name="Shape 17"/>
          <p:cNvSpPr/>
          <p:nvPr/>
        </p:nvSpPr>
        <p:spPr>
          <a:xfrm>
            <a:off x="457200" y="4608576"/>
            <a:ext cx="914400" cy="420624"/>
          </a:xfrm>
          <a:prstGeom prst="roundRect">
            <a:avLst>
              <a:gd name="adj" fmla="val 10870"/>
            </a:avLst>
          </a:prstGeom>
          <a:solidFill>
            <a:srgbClr val="1D6FB8"/>
          </a:solidFill>
          <a:ln/>
        </p:spPr>
      </p:sp>
      <p:sp>
        <p:nvSpPr>
          <p:cNvPr id="20" name="Text 18"/>
          <p:cNvSpPr/>
          <p:nvPr/>
        </p:nvSpPr>
        <p:spPr>
          <a:xfrm>
            <a:off x="457200" y="46085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31–60</a:t>
            </a:r>
            <a:endParaRPr lang="en-US" sz="780" dirty="0"/>
          </a:p>
        </p:txBody>
      </p:sp>
      <p:sp>
        <p:nvSpPr>
          <p:cNvPr id="21" name="Text 19"/>
          <p:cNvSpPr/>
          <p:nvPr/>
        </p:nvSpPr>
        <p:spPr>
          <a:xfrm>
            <a:off x="1463040" y="46268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Run the basket</a:t>
            </a:r>
            <a:endParaRPr lang="en-US" sz="840" dirty="0"/>
          </a:p>
        </p:txBody>
      </p:sp>
      <p:sp>
        <p:nvSpPr>
          <p:cNvPr id="22" name="Text 20"/>
          <p:cNvSpPr/>
          <p:nvPr/>
        </p:nvSpPr>
        <p:spPr>
          <a:xfrm>
            <a:off x="1463040" y="47914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The 40 parts costed. Every estimate logged against the quote or the actual PO. Top levers taken to suppliers.</a:t>
            </a:r>
            <a:endParaRPr lang="en-US" sz="760" dirty="0"/>
          </a:p>
        </p:txBody>
      </p:sp>
      <p:sp>
        <p:nvSpPr>
          <p:cNvPr id="23" name="Shape 21"/>
          <p:cNvSpPr/>
          <p:nvPr/>
        </p:nvSpPr>
        <p:spPr>
          <a:xfrm>
            <a:off x="457200" y="5065776"/>
            <a:ext cx="914400" cy="420624"/>
          </a:xfrm>
          <a:prstGeom prst="roundRect">
            <a:avLst>
              <a:gd name="adj" fmla="val 10870"/>
            </a:avLst>
          </a:prstGeom>
          <a:solidFill>
            <a:srgbClr val="2E8B57"/>
          </a:solidFill>
          <a:ln/>
        </p:spPr>
      </p:sp>
      <p:sp>
        <p:nvSpPr>
          <p:cNvPr id="24" name="Text 22"/>
          <p:cNvSpPr/>
          <p:nvPr/>
        </p:nvSpPr>
        <p:spPr>
          <a:xfrm>
            <a:off x="457200" y="50657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61–90</a:t>
            </a:r>
            <a:endParaRPr lang="en-US" sz="780" dirty="0"/>
          </a:p>
        </p:txBody>
      </p:sp>
      <p:sp>
        <p:nvSpPr>
          <p:cNvPr id="25" name="Text 23"/>
          <p:cNvSpPr/>
          <p:nvPr/>
        </p:nvSpPr>
        <p:spPr>
          <a:xfrm>
            <a:off x="1463040" y="50840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Measure + decide</a:t>
            </a:r>
            <a:endParaRPr lang="en-US" sz="840" dirty="0"/>
          </a:p>
        </p:txBody>
      </p:sp>
      <p:sp>
        <p:nvSpPr>
          <p:cNvPr id="26" name="Text 24"/>
          <p:cNvSpPr/>
          <p:nvPr/>
        </p:nvSpPr>
        <p:spPr>
          <a:xfrm>
            <a:off x="1463040" y="52486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Scored against the four criteria opposite. Captured saving written up. Go / no-go presented here.</a:t>
            </a:r>
            <a:endParaRPr lang="en-US" sz="760" dirty="0"/>
          </a:p>
        </p:txBody>
      </p:sp>
      <p:sp>
        <p:nvSpPr>
          <p:cNvPr id="27" name="Shape 25"/>
          <p:cNvSpPr/>
          <p:nvPr/>
        </p:nvSpPr>
        <p:spPr>
          <a:xfrm>
            <a:off x="5760720" y="1042416"/>
            <a:ext cx="5971032" cy="2286000"/>
          </a:xfrm>
          <a:prstGeom prst="roundRect">
            <a:avLst>
              <a:gd name="adj" fmla="val 4000"/>
            </a:avLst>
          </a:prstGeom>
          <a:solidFill>
            <a:srgbClr val="FFFFFF"/>
          </a:solidFill>
          <a:ln w="19050">
            <a:solidFill>
              <a:srgbClr val="16325C"/>
            </a:solidFill>
            <a:prstDash val="solid"/>
          </a:ln>
        </p:spPr>
      </p:sp>
      <p:sp>
        <p:nvSpPr>
          <p:cNvPr id="28" name="Text 26"/>
          <p:cNvSpPr/>
          <p:nvPr/>
        </p:nvSpPr>
        <p:spPr>
          <a:xfrm>
            <a:off x="5943600" y="1115568"/>
            <a:ext cx="55778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SUCCESS CRITERIA — SET NOW, SCORED AT DAY 90</a:t>
            </a:r>
            <a:endParaRPr lang="en-US" sz="850" dirty="0"/>
          </a:p>
        </p:txBody>
      </p:sp>
      <p:sp>
        <p:nvSpPr>
          <p:cNvPr id="29" name="Text 27"/>
          <p:cNvSpPr/>
          <p:nvPr/>
        </p:nvSpPr>
        <p:spPr>
          <a:xfrm>
            <a:off x="5943600" y="1316736"/>
            <a:ext cx="5577840" cy="237744"/>
          </a:xfrm>
          <a:prstGeom prst="rect">
            <a:avLst/>
          </a:prstGeom>
          <a:noFill/>
          <a:ln/>
        </p:spPr>
        <p:txBody>
          <a:bodyPr wrap="square" lIns="0" tIns="0" rIns="0" bIns="0" rtlCol="0" anchor="ctr"/>
          <a:lstStyle/>
          <a:p>
            <a:pPr indent="0" marL="0">
              <a:buNone/>
            </a:pPr>
            <a:r>
              <a:rPr lang="en-US" sz="760" i="1" dirty="0">
                <a:solidFill>
                  <a:srgbClr val="6B7280"/>
                </a:solidFill>
                <a:latin typeface="Calibri" pitchFamily="34" charset="0"/>
                <a:ea typeface="Calibri" pitchFamily="34" charset="-122"/>
                <a:cs typeface="Calibri" pitchFamily="34" charset="-120"/>
              </a:rPr>
              <a:t>Agreeing these before we start is the point: at day 90 the decision is arithmetic, not opinion — and a miss is a legitimate stop.</a:t>
            </a:r>
            <a:endParaRPr lang="en-US" sz="760" dirty="0"/>
          </a:p>
        </p:txBody>
      </p:sp>
      <p:sp>
        <p:nvSpPr>
          <p:cNvPr id="30" name="Shape 28"/>
          <p:cNvSpPr/>
          <p:nvPr/>
        </p:nvSpPr>
        <p:spPr>
          <a:xfrm>
            <a:off x="5943600" y="1609344"/>
            <a:ext cx="868680" cy="365760"/>
          </a:xfrm>
          <a:prstGeom prst="roundRect">
            <a:avLst>
              <a:gd name="adj" fmla="val 12500"/>
            </a:avLst>
          </a:prstGeom>
          <a:solidFill>
            <a:srgbClr val="E8EDF6"/>
          </a:solidFill>
          <a:ln/>
        </p:spPr>
      </p:sp>
      <p:sp>
        <p:nvSpPr>
          <p:cNvPr id="31" name="Text 29"/>
          <p:cNvSpPr/>
          <p:nvPr/>
        </p:nvSpPr>
        <p:spPr>
          <a:xfrm>
            <a:off x="5943600" y="160934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Accuracy</a:t>
            </a:r>
            <a:endParaRPr lang="en-US" sz="800" dirty="0"/>
          </a:p>
        </p:txBody>
      </p:sp>
      <p:sp>
        <p:nvSpPr>
          <p:cNvPr id="32" name="Text 30"/>
          <p:cNvSpPr/>
          <p:nvPr/>
        </p:nvSpPr>
        <p:spPr>
          <a:xfrm>
            <a:off x="6903720" y="160934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70% of pilot parts within ±20% of an independent manual should-cost or the actual PO price</a:t>
            </a:r>
            <a:endParaRPr lang="en-US" sz="800" dirty="0"/>
          </a:p>
        </p:txBody>
      </p:sp>
      <p:sp>
        <p:nvSpPr>
          <p:cNvPr id="33" name="Shape 31"/>
          <p:cNvSpPr/>
          <p:nvPr/>
        </p:nvSpPr>
        <p:spPr>
          <a:xfrm>
            <a:off x="5943600" y="2020824"/>
            <a:ext cx="868680" cy="365760"/>
          </a:xfrm>
          <a:prstGeom prst="roundRect">
            <a:avLst>
              <a:gd name="adj" fmla="val 12500"/>
            </a:avLst>
          </a:prstGeom>
          <a:solidFill>
            <a:srgbClr val="E8EDF6"/>
          </a:solidFill>
          <a:ln/>
        </p:spPr>
      </p:sp>
      <p:sp>
        <p:nvSpPr>
          <p:cNvPr id="34" name="Text 32"/>
          <p:cNvSpPr/>
          <p:nvPr/>
        </p:nvSpPr>
        <p:spPr>
          <a:xfrm>
            <a:off x="5943600" y="202082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Speed</a:t>
            </a:r>
            <a:endParaRPr lang="en-US" sz="800" dirty="0"/>
          </a:p>
        </p:txBody>
      </p:sp>
      <p:sp>
        <p:nvSpPr>
          <p:cNvPr id="35" name="Text 33"/>
          <p:cNvSpPr/>
          <p:nvPr/>
        </p:nvSpPr>
        <p:spPr>
          <a:xfrm>
            <a:off x="6903720" y="202082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Median ≤ 20 min per CAD part, engineer-attended — read from the tool’s own run logs, not estimated</a:t>
            </a:r>
            <a:endParaRPr lang="en-US" sz="800" dirty="0"/>
          </a:p>
        </p:txBody>
      </p:sp>
      <p:sp>
        <p:nvSpPr>
          <p:cNvPr id="36" name="Shape 34"/>
          <p:cNvSpPr/>
          <p:nvPr/>
        </p:nvSpPr>
        <p:spPr>
          <a:xfrm>
            <a:off x="5943600" y="2432304"/>
            <a:ext cx="868680" cy="365760"/>
          </a:xfrm>
          <a:prstGeom prst="roundRect">
            <a:avLst>
              <a:gd name="adj" fmla="val 12500"/>
            </a:avLst>
          </a:prstGeom>
          <a:solidFill>
            <a:srgbClr val="E8EDF6"/>
          </a:solidFill>
          <a:ln/>
        </p:spPr>
      </p:sp>
      <p:sp>
        <p:nvSpPr>
          <p:cNvPr id="37" name="Text 35"/>
          <p:cNvSpPr/>
          <p:nvPr/>
        </p:nvSpPr>
        <p:spPr>
          <a:xfrm>
            <a:off x="5943600" y="243230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Value</a:t>
            </a:r>
            <a:endParaRPr lang="en-US" sz="800" dirty="0"/>
          </a:p>
        </p:txBody>
      </p:sp>
      <p:sp>
        <p:nvSpPr>
          <p:cNvPr id="38" name="Text 36"/>
          <p:cNvSpPr/>
          <p:nvPr/>
        </p:nvSpPr>
        <p:spPr>
          <a:xfrm>
            <a:off x="6903720" y="243230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£150k of opportunity identified across the basket, and ≥ 3 levers taken to a supplier with the outcome recorded either way</a:t>
            </a:r>
            <a:endParaRPr lang="en-US" sz="800" dirty="0"/>
          </a:p>
        </p:txBody>
      </p:sp>
      <p:sp>
        <p:nvSpPr>
          <p:cNvPr id="39" name="Shape 37"/>
          <p:cNvSpPr/>
          <p:nvPr/>
        </p:nvSpPr>
        <p:spPr>
          <a:xfrm>
            <a:off x="5943600" y="2843784"/>
            <a:ext cx="868680" cy="365760"/>
          </a:xfrm>
          <a:prstGeom prst="roundRect">
            <a:avLst>
              <a:gd name="adj" fmla="val 12500"/>
            </a:avLst>
          </a:prstGeom>
          <a:solidFill>
            <a:srgbClr val="E8EDF6"/>
          </a:solidFill>
          <a:ln/>
        </p:spPr>
      </p:sp>
      <p:sp>
        <p:nvSpPr>
          <p:cNvPr id="40" name="Text 38"/>
          <p:cNvSpPr/>
          <p:nvPr/>
        </p:nvSpPr>
        <p:spPr>
          <a:xfrm>
            <a:off x="5943600" y="284378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Adoption</a:t>
            </a:r>
            <a:endParaRPr lang="en-US" sz="800" dirty="0"/>
          </a:p>
        </p:txBody>
      </p:sp>
      <p:sp>
        <p:nvSpPr>
          <p:cNvPr id="41" name="Text 39"/>
          <p:cNvSpPr/>
          <p:nvPr/>
        </p:nvSpPr>
        <p:spPr>
          <a:xfrm>
            <a:off x="6903720" y="284378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2+ engineers running it unaided after one day of training, without the person who built it in the room</a:t>
            </a:r>
            <a:endParaRPr lang="en-US" sz="800" dirty="0"/>
          </a:p>
        </p:txBody>
      </p:sp>
      <p:sp>
        <p:nvSpPr>
          <p:cNvPr id="42" name="Shape 40"/>
          <p:cNvSpPr/>
          <p:nvPr/>
        </p:nvSpPr>
        <p:spPr>
          <a:xfrm>
            <a:off x="5760720" y="3438144"/>
            <a:ext cx="5971032" cy="2029968"/>
          </a:xfrm>
          <a:prstGeom prst="roundRect">
            <a:avLst>
              <a:gd name="adj" fmla="val 4054"/>
            </a:avLst>
          </a:prstGeom>
          <a:solidFill>
            <a:srgbClr val="FCF3E3"/>
          </a:solidFill>
          <a:ln w="12700">
            <a:solidFill>
              <a:srgbClr val="B7791F"/>
            </a:solidFill>
            <a:prstDash val="solid"/>
          </a:ln>
        </p:spPr>
      </p:sp>
      <p:pic>
        <p:nvPicPr>
          <p:cNvPr id="43" name="Image 0" descr="preencoded.png">    </p:cNvPr>
          <p:cNvPicPr>
            <a:picLocks noChangeAspect="1"/>
          </p:cNvPicPr>
          <p:nvPr/>
        </p:nvPicPr>
        <p:blipFill>
          <a:blip r:embed="rId1"/>
          <a:stretch>
            <a:fillRect/>
          </a:stretch>
        </p:blipFill>
        <p:spPr>
          <a:xfrm>
            <a:off x="5943600" y="3520440"/>
            <a:ext cx="182880" cy="182880"/>
          </a:xfrm>
          <a:prstGeom prst="rect">
            <a:avLst/>
          </a:prstGeom>
        </p:spPr>
      </p:pic>
      <p:sp>
        <p:nvSpPr>
          <p:cNvPr id="44" name="Text 41"/>
          <p:cNvSpPr/>
          <p:nvPr/>
        </p:nvSpPr>
        <p:spPr>
          <a:xfrm>
            <a:off x="6199632" y="3511296"/>
            <a:ext cx="5394960" cy="201168"/>
          </a:xfrm>
          <a:prstGeom prst="rect">
            <a:avLst/>
          </a:prstGeom>
          <a:noFill/>
          <a:ln/>
        </p:spPr>
        <p:txBody>
          <a:bodyPr wrap="square" lIns="0" tIns="0" rIns="0" bIns="0" rtlCol="0" anchor="ctr"/>
          <a:lstStyle/>
          <a:p>
            <a:pPr indent="0" marL="0">
              <a:buNone/>
            </a:pPr>
            <a:r>
              <a:rPr lang="en-US" sz="820" b="1" spc="40" kern="0" dirty="0">
                <a:solidFill>
                  <a:srgbClr val="B7791F"/>
                </a:solidFill>
                <a:latin typeface="Calibri" pitchFamily="34" charset="0"/>
                <a:ea typeface="Calibri" pitchFamily="34" charset="-122"/>
                <a:cs typeface="Calibri" pitchFamily="34" charset="-120"/>
              </a:rPr>
              <a:t>THE FOUR OBJECTIONS — AND WHAT IS ALREADY BUILT FOR THEM</a:t>
            </a:r>
            <a:endParaRPr lang="en-US" sz="820" dirty="0"/>
          </a:p>
        </p:txBody>
      </p:sp>
      <p:sp>
        <p:nvSpPr>
          <p:cNvPr id="45" name="Text 42"/>
          <p:cNvSpPr/>
          <p:nvPr/>
        </p:nvSpPr>
        <p:spPr>
          <a:xfrm>
            <a:off x="5943600" y="3749040"/>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“It will be wrong on parts it has not seen.”</a:t>
            </a:r>
            <a:endParaRPr lang="en-US" sz="760" dirty="0"/>
          </a:p>
        </p:txBody>
      </p:sp>
      <p:sp>
        <p:nvSpPr>
          <p:cNvPr id="46" name="Text 43"/>
          <p:cNvSpPr/>
          <p:nvPr/>
        </p:nvSpPr>
        <p:spPr>
          <a:xfrm>
            <a:off x="8366760" y="3749040"/>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band is agreed before we start, every actual is logged, and the calibration layer learns from them. 6 parts validated so far and the deck says so.</a:t>
            </a:r>
            <a:endParaRPr lang="en-US" sz="740" dirty="0"/>
          </a:p>
        </p:txBody>
      </p:sp>
      <p:sp>
        <p:nvSpPr>
          <p:cNvPr id="47" name="Text 44"/>
          <p:cNvSpPr/>
          <p:nvPr/>
        </p:nvSpPr>
        <p:spPr>
          <a:xfrm>
            <a:off x="5943600" y="4169664"/>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“The AI is inventing numbers.”</a:t>
            </a:r>
            <a:endParaRPr lang="en-US" sz="760" dirty="0"/>
          </a:p>
        </p:txBody>
      </p:sp>
      <p:sp>
        <p:nvSpPr>
          <p:cNvPr id="48" name="Text 45"/>
          <p:cNvSpPr/>
          <p:nvPr/>
        </p:nvSpPr>
        <p:spPr>
          <a:xfrm>
            <a:off x="8366760" y="4169664"/>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Deterministic by default — no outbound call at all. Every cost line prints its own derivation, and there is an air-gapped mode.</a:t>
            </a:r>
            <a:endParaRPr lang="en-US" sz="740" dirty="0"/>
          </a:p>
        </p:txBody>
      </p:sp>
      <p:sp>
        <p:nvSpPr>
          <p:cNvPr id="49" name="Text 46"/>
          <p:cNvSpPr/>
          <p:nvPr/>
        </p:nvSpPr>
        <p:spPr>
          <a:xfrm>
            <a:off x="5943600" y="4590288"/>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“Rates go stale and nobody notices.”</a:t>
            </a:r>
            <a:endParaRPr lang="en-US" sz="760" dirty="0"/>
          </a:p>
        </p:txBody>
      </p:sp>
      <p:sp>
        <p:nvSpPr>
          <p:cNvPr id="50" name="Text 47"/>
          <p:cNvSpPr/>
          <p:nvPr/>
        </p:nvSpPr>
        <p:spPr>
          <a:xfrm>
            <a:off x="8366760" y="4590288"/>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engine blocks a duty rate that is unverified or over 90 days old rather than quietly using it. The refresh gets a named owner in the pilot.</a:t>
            </a:r>
            <a:endParaRPr lang="en-US" sz="740" dirty="0"/>
          </a:p>
        </p:txBody>
      </p:sp>
      <p:sp>
        <p:nvSpPr>
          <p:cNvPr id="51" name="Text 48"/>
          <p:cNvSpPr/>
          <p:nvPr/>
        </p:nvSpPr>
        <p:spPr>
          <a:xfrm>
            <a:off x="5943600" y="5010912"/>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“Engineering will read it as criticism.”</a:t>
            </a:r>
            <a:endParaRPr lang="en-US" sz="760" dirty="0"/>
          </a:p>
        </p:txBody>
      </p:sp>
      <p:sp>
        <p:nvSpPr>
          <p:cNvPr id="52" name="Text 49"/>
          <p:cNvSpPr/>
          <p:nvPr/>
        </p:nvSpPr>
        <p:spPr>
          <a:xfrm>
            <a:off x="8366760" y="5010912"/>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Already changed: the output is savings ranked by category, with no score and no severity anywhere an engineer sees.</a:t>
            </a:r>
            <a:endParaRPr lang="en-US" sz="740" dirty="0"/>
          </a:p>
        </p:txBody>
      </p:sp>
      <p:sp>
        <p:nvSpPr>
          <p:cNvPr id="53" name="Shape 50"/>
          <p:cNvSpPr/>
          <p:nvPr/>
        </p:nvSpPr>
        <p:spPr>
          <a:xfrm>
            <a:off x="457200" y="5577840"/>
            <a:ext cx="11274552" cy="786384"/>
          </a:xfrm>
          <a:prstGeom prst="roundRect">
            <a:avLst>
              <a:gd name="adj" fmla="val 11628"/>
            </a:avLst>
          </a:prstGeom>
          <a:solidFill>
            <a:srgbClr val="16325C"/>
          </a:solidFill>
          <a:ln/>
        </p:spPr>
      </p:sp>
      <p:sp>
        <p:nvSpPr>
          <p:cNvPr id="54" name="Text 51"/>
          <p:cNvSpPr/>
          <p:nvPr/>
        </p:nvSpPr>
        <p:spPr>
          <a:xfrm>
            <a:off x="777240" y="5614416"/>
            <a:ext cx="10652760" cy="713232"/>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The decision on the table:  </a:t>
            </a:r>
            <a:pPr indent="0" marL="0">
              <a:buNone/>
            </a:pPr>
            <a:r>
              <a:rPr lang="en-US" sz="1150" dirty="0">
                <a:solidFill>
                  <a:srgbClr val="FFFFFF"/>
                </a:solidFill>
                <a:latin typeface="Calibri" pitchFamily="34" charset="0"/>
                <a:ea typeface="Calibri" pitchFamily="34" charset="-122"/>
                <a:cs typeface="Calibri" pitchFamily="34" charset="-120"/>
              </a:rPr>
              <a:t>≈£25k and 90 days to find out whether a tool that is already built and already validated on six parts holds up on forty of ours. If it misses the criteria we stop and nothing recurring has been committed. If it meets them, the same £25k has already bought its way out at a 1.6% capture rate.</a:t>
            </a:r>
            <a:endParaRPr lang="en-US" sz="1200" dirty="0"/>
          </a:p>
        </p:txBody>
      </p:sp>
      <p:sp>
        <p:nvSpPr>
          <p:cNvPr id="55" name="Text 5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6" name="Text 5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Ranked by money, not marked out of ten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finding is converted to £/part against this costing and ranked biggest first, grouped by category. The engine still grades findings internally to order them, but no score and no severity is ever published — the report shows what to do and what it is worth, never a mark against the design.</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E8074"/>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E8074"/>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B7791F"/>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B7791F"/>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E8B57"/>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E8B57"/>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E8074"/>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Rank</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Each finding is priced in £/part against this costing and ranked biggest-first inside its category. No score is published, and no severity label.</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score and saving on the next seven slides is deterministic engine code. The optional "AI deep analysis" only writes commentary on findings the rules have already made — it cannot add, remove or re-score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E8074"/>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E8074"/>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E8074"/>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E8074"/>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E8074"/>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E8074"/>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E8074"/>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2E8B57"/>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2E8B57"/>
                </a:solidFill>
                <a:latin typeface="Calibri" pitchFamily="34" charset="0"/>
                <a:ea typeface="Calibri" pitchFamily="34" charset="-122"/>
                <a:cs typeface="Calibri" pitchFamily="34" charset="-120"/>
              </a:rPr>
              <a:t>HOW THE RANKING</a:t>
            </a:r>
            <a:endParaRPr lang="en-US" sz="1000" dirty="0"/>
          </a:p>
          <a:p>
            <a:pPr indent="0" marL="0">
              <a:buNone/>
            </a:pPr>
            <a:r>
              <a:rPr lang="en-US" sz="1000" b="1" spc="40" kern="0" dirty="0">
                <a:solidFill>
                  <a:srgbClr val="2E8B57"/>
                </a:solidFill>
                <a:latin typeface="Calibri" pitchFamily="34" charset="0"/>
                <a:ea typeface="Calibri" pitchFamily="34" charset="-122"/>
                <a:cs typeface="Calibri" pitchFamily="34" charset="-120"/>
              </a:rPr>
              <a:t>WORKS</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Every finding is priced:
</a:t>
            </a:r>
            <a:pPr indent="0" marL="0">
              <a:buNone/>
            </a:pPr>
            <a:r>
              <a:rPr lang="en-US" sz="860" dirty="0">
                <a:solidFill>
                  <a:srgbClr val="3A4356"/>
                </a:solidFill>
                <a:latin typeface="Calibri" pitchFamily="34" charset="0"/>
                <a:ea typeface="Calibri" pitchFamily="34" charset="-122"/>
                <a:cs typeface="Calibri" pitchFamily="34" charset="-120"/>
              </a:rPr>
              <a:t>saving % × this part’s cost = </a:t>
            </a:r>
            <a:pPr indent="0" marL="0">
              <a:buNone/>
            </a:pPr>
            <a:r>
              <a:rPr lang="en-US" sz="860" b="1" dirty="0">
                <a:solidFill>
                  <a:srgbClr val="2E8B57"/>
                </a:solidFill>
                <a:latin typeface="Calibri" pitchFamily="34" charset="0"/>
                <a:ea typeface="Calibri" pitchFamily="34" charset="-122"/>
                <a:cs typeface="Calibri" pitchFamily="34" charset="-120"/>
              </a:rPr>
              <a:t>£/part.
</a:t>
            </a:r>
            <a:pPr indent="0" marL="0">
              <a:buNone/>
            </a:pPr>
            <a:r>
              <a:rPr lang="en-US" sz="860" dirty="0">
                <a:solidFill>
                  <a:srgbClr val="3A4356"/>
                </a:solidFill>
                <a:latin typeface="Calibri" pitchFamily="34" charset="0"/>
                <a:ea typeface="Calibri" pitchFamily="34" charset="-122"/>
                <a:cs typeface="Calibri" pitchFamily="34" charset="-120"/>
              </a:rPr>
              <a:t>Ranked biggest-first inside its category; categories ordered by their best single action.
</a:t>
            </a:r>
            <a:pPr indent="0" marL="0">
              <a:buNone/>
            </a:pPr>
            <a:r>
              <a:rPr lang="en-US" sz="860" b="1" dirty="0">
                <a:solidFill>
                  <a:srgbClr val="16325C"/>
                </a:solidFill>
                <a:latin typeface="Calibri" pitchFamily="34" charset="0"/>
                <a:ea typeface="Calibri" pitchFamily="34" charset="-122"/>
                <a:cs typeface="Calibri" pitchFamily="34" charset="-120"/>
              </a:rPr>
              <a:t>No score is published </a:t>
            </a:r>
            <a:pPr indent="0" marL="0">
              <a:buNone/>
            </a:pPr>
            <a:r>
              <a:rPr lang="en-US" sz="860" dirty="0">
                <a:solidFill>
                  <a:srgbClr val="3A4356"/>
                </a:solidFill>
                <a:latin typeface="Calibri" pitchFamily="34" charset="0"/>
                <a:ea typeface="Calibri" pitchFamily="34" charset="-122"/>
                <a:cs typeface="Calibri" pitchFamily="34" charset="-120"/>
              </a:rPr>
              <a:t>and no severity label. The engine still grades findings internally to order them — that grading never leaves the engine.
</a:t>
            </a:r>
            <a:pPr indent="0" marL="0">
              <a:buNone/>
            </a:pPr>
            <a:r>
              <a:rPr lang="en-US" sz="860" b="1" dirty="0">
                <a:solidFill>
                  <a:srgbClr val="16325C"/>
                </a:solidFill>
                <a:latin typeface="Calibri" pitchFamily="34" charset="0"/>
                <a:ea typeface="Calibri" pitchFamily="34" charset="-122"/>
                <a:cs typeface="Calibri" pitchFamily="34" charset="-120"/>
              </a:rPr>
              <a:t>Headline: </a:t>
            </a:r>
            <a:pPr indent="0" marL="0">
              <a:buNone/>
            </a:pPr>
            <a:r>
              <a:rPr lang="en-US" sz="860" dirty="0">
                <a:solidFill>
                  <a:srgbClr val="3A4356"/>
                </a:solidFill>
                <a:latin typeface="Calibri" pitchFamily="34" charset="0"/>
                <a:ea typeface="Calibri" pitchFamily="34" charset="-122"/>
                <a:cs typeface="Calibri" pitchFamily="34" charset="-120"/>
              </a:rPr>
              <a:t>the three biggest combined root-sum-square — not added — capped at 40%, so overlapping actions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  SEVERITY IS INTERNAL: it orders the rule list inside the engine and never appears in the app or the report — engineering sees the ranked £/part list on the last slide.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slides 1–2: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Severity here is internal ordering only — what reaches an engineer is the ranked £/part list, never a grade.</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75 geometry checks in total. They run alongside the 52 cost-structure rules and feed the same DFM/DFA sections of the report — findings the AI can comment on but never write.</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E8074"/>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47</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B7791F"/>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E8B57"/>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48</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Engineering Actually Sees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output for one real part — ranked by money, grouped by category, nothing graded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78992"/>
            <a:ext cx="11274552" cy="658368"/>
          </a:xfrm>
          <a:prstGeom prst="roundRect">
            <a:avLst>
              <a:gd name="adj" fmla="val 11111"/>
            </a:avLst>
          </a:prstGeom>
          <a:solidFill>
            <a:srgbClr val="EAF6EF"/>
          </a:solidFill>
          <a:ln w="15875">
            <a:solidFill>
              <a:srgbClr val="2E8B57"/>
            </a:solidFill>
            <a:prstDash val="solid"/>
          </a:ln>
        </p:spPr>
      </p:sp>
      <p:sp>
        <p:nvSpPr>
          <p:cNvPr id="8" name="Text 6"/>
          <p:cNvSpPr/>
          <p:nvPr/>
        </p:nvSpPr>
        <p:spPr>
          <a:xfrm>
            <a:off x="713232" y="1078992"/>
            <a:ext cx="10789920" cy="658368"/>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Combined opportunity £3.22/part </a:t>
            </a:r>
            <a:pPr indent="0" marL="0">
              <a:buNone/>
            </a:pPr>
            <a:r>
              <a:rPr lang="en-US" sz="1100" dirty="0">
                <a:solidFill>
                  <a:srgbClr val="3A4356"/>
                </a:solidFill>
                <a:latin typeface="Calibri" pitchFamily="34" charset="0"/>
                <a:ea typeface="Calibri" pitchFamily="34" charset="-122"/>
                <a:cs typeface="Calibri" pitchFamily="34" charset="-120"/>
              </a:rPr>
              <a:t>(~12.8% of the £25.14 piece cost)  ·  10 ranked opportunities across 4 categories  ·  machining</a:t>
            </a:r>
            <a:endParaRPr lang="en-US" sz="1300" dirty="0"/>
          </a:p>
        </p:txBody>
      </p:sp>
      <p:sp>
        <p:nvSpPr>
          <p:cNvPr id="9" name="Text 7"/>
          <p:cNvSpPr/>
          <p:nvPr/>
        </p:nvSpPr>
        <p:spPr>
          <a:xfrm>
            <a:off x="658368" y="1847088"/>
            <a:ext cx="36576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t>
            </a:r>
            <a:endParaRPr lang="en-US" sz="740" dirty="0"/>
          </a:p>
        </p:txBody>
      </p:sp>
      <p:sp>
        <p:nvSpPr>
          <p:cNvPr id="10" name="Text 8"/>
          <p:cNvSpPr/>
          <p:nvPr/>
        </p:nvSpPr>
        <p:spPr>
          <a:xfrm>
            <a:off x="1143000" y="1847088"/>
            <a:ext cx="3291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ACTION</a:t>
            </a:r>
            <a:endParaRPr lang="en-US" sz="740" dirty="0"/>
          </a:p>
        </p:txBody>
      </p:sp>
      <p:sp>
        <p:nvSpPr>
          <p:cNvPr id="11" name="Text 9"/>
          <p:cNvSpPr/>
          <p:nvPr/>
        </p:nvSpPr>
        <p:spPr>
          <a:xfrm>
            <a:off x="4480560" y="1847088"/>
            <a:ext cx="475488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WHY IT IS ON THE LIST</a:t>
            </a:r>
            <a:endParaRPr lang="en-US" sz="740" dirty="0"/>
          </a:p>
        </p:txBody>
      </p:sp>
      <p:sp>
        <p:nvSpPr>
          <p:cNvPr id="12" name="Text 10"/>
          <p:cNvSpPr/>
          <p:nvPr/>
        </p:nvSpPr>
        <p:spPr>
          <a:xfrm>
            <a:off x="9281160" y="1847088"/>
            <a:ext cx="91440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SAVE/PART</a:t>
            </a:r>
            <a:endParaRPr lang="en-US" sz="740" dirty="0"/>
          </a:p>
        </p:txBody>
      </p:sp>
      <p:sp>
        <p:nvSpPr>
          <p:cNvPr id="13" name="Text 11"/>
          <p:cNvSpPr/>
          <p:nvPr/>
        </p:nvSpPr>
        <p:spPr>
          <a:xfrm>
            <a:off x="10287000" y="1847088"/>
            <a:ext cx="7772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RISK</a:t>
            </a:r>
            <a:endParaRPr lang="en-US" sz="740" dirty="0"/>
          </a:p>
        </p:txBody>
      </p:sp>
      <p:sp>
        <p:nvSpPr>
          <p:cNvPr id="14" name="Text 12"/>
          <p:cNvSpPr/>
          <p:nvPr/>
        </p:nvSpPr>
        <p:spPr>
          <a:xfrm>
            <a:off x="11109960" y="1847088"/>
            <a:ext cx="1005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TIMEFRAME</a:t>
            </a:r>
            <a:endParaRPr lang="en-US" sz="740" dirty="0"/>
          </a:p>
        </p:txBody>
      </p:sp>
      <p:sp>
        <p:nvSpPr>
          <p:cNvPr id="15" name="Shape 13"/>
          <p:cNvSpPr/>
          <p:nvPr/>
        </p:nvSpPr>
        <p:spPr>
          <a:xfrm>
            <a:off x="457200" y="2029968"/>
            <a:ext cx="11274552" cy="201168"/>
          </a:xfrm>
          <a:prstGeom prst="roundRect">
            <a:avLst>
              <a:gd name="adj" fmla="val 22727"/>
            </a:avLst>
          </a:prstGeom>
          <a:solidFill>
            <a:srgbClr val="E8EDF6"/>
          </a:solidFill>
          <a:ln/>
        </p:spPr>
      </p:sp>
      <p:sp>
        <p:nvSpPr>
          <p:cNvPr id="16" name="Text 14"/>
          <p:cNvSpPr/>
          <p:nvPr/>
        </p:nvSpPr>
        <p:spPr>
          <a:xfrm>
            <a:off x="658368" y="2029968"/>
            <a:ext cx="7315200" cy="201168"/>
          </a:xfrm>
          <a:prstGeom prst="rect">
            <a:avLst/>
          </a:prstGeom>
          <a:noFill/>
          <a:ln/>
        </p:spPr>
        <p:txBody>
          <a:bodyPr wrap="square" lIns="0" tIns="0" rIns="0" bIns="0" rtlCol="0" anchor="ctr"/>
          <a:lstStyle/>
          <a:p>
            <a:pPr indent="0" marL="0">
              <a:buNone/>
            </a:pPr>
            <a:r>
              <a:rPr lang="en-US" sz="800" b="1" spc="50" kern="0" dirty="0">
                <a:solidFill>
                  <a:srgbClr val="16325C"/>
                </a:solidFill>
                <a:latin typeface="Calibri" pitchFamily="34" charset="0"/>
                <a:ea typeface="Calibri" pitchFamily="34" charset="-122"/>
                <a:cs typeface="Calibri" pitchFamily="34" charset="-120"/>
              </a:rPr>
              <a:t>COMMERCIAL &amp; SOURCING · 2 opportunities</a:t>
            </a:r>
            <a:endParaRPr lang="en-US" sz="800" dirty="0"/>
          </a:p>
        </p:txBody>
      </p:sp>
      <p:sp>
        <p:nvSpPr>
          <p:cNvPr id="17" name="Text 15"/>
          <p:cNvSpPr/>
          <p:nvPr/>
        </p:nvSpPr>
        <p:spPr>
          <a:xfrm>
            <a:off x="9144000" y="2029968"/>
            <a:ext cx="2377440" cy="201168"/>
          </a:xfrm>
          <a:prstGeom prst="rect">
            <a:avLst/>
          </a:prstGeom>
          <a:noFill/>
          <a:ln/>
        </p:spPr>
        <p:txBody>
          <a:bodyPr wrap="square" lIns="0" tIns="0" rIns="0" bIns="0" rtlCol="0" anchor="ctr"/>
          <a:lstStyle/>
          <a:p>
            <a:pPr algn="r" indent="0" marL="0">
              <a:buNone/>
            </a:pPr>
            <a:r>
              <a:rPr lang="en-US" sz="800" b="1" dirty="0">
                <a:solidFill>
                  <a:srgbClr val="16325C"/>
                </a:solidFill>
                <a:latin typeface="Calibri" pitchFamily="34" charset="0"/>
                <a:ea typeface="Calibri" pitchFamily="34" charset="-122"/>
                <a:cs typeface="Calibri" pitchFamily="34" charset="-120"/>
              </a:rPr>
              <a:t>best £4.53/part</a:t>
            </a:r>
            <a:endParaRPr lang="en-US" sz="800" dirty="0"/>
          </a:p>
        </p:txBody>
      </p:sp>
      <p:sp>
        <p:nvSpPr>
          <p:cNvPr id="18" name="Shape 16"/>
          <p:cNvSpPr/>
          <p:nvPr/>
        </p:nvSpPr>
        <p:spPr>
          <a:xfrm>
            <a:off x="457200" y="2263140"/>
            <a:ext cx="11274552" cy="224028"/>
          </a:xfrm>
          <a:prstGeom prst="rect">
            <a:avLst/>
          </a:prstGeom>
          <a:solidFill>
            <a:srgbClr val="FFFFFF"/>
          </a:solidFill>
          <a:ln/>
        </p:spPr>
      </p:sp>
      <p:sp>
        <p:nvSpPr>
          <p:cNvPr id="19" name="Text 17"/>
          <p:cNvSpPr/>
          <p:nvPr/>
        </p:nvSpPr>
        <p:spPr>
          <a:xfrm>
            <a:off x="658368" y="22677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a:t>
            </a:r>
            <a:endParaRPr lang="en-US" sz="840" dirty="0"/>
          </a:p>
        </p:txBody>
      </p:sp>
      <p:sp>
        <p:nvSpPr>
          <p:cNvPr id="20" name="Text 18"/>
          <p:cNvSpPr/>
          <p:nvPr/>
        </p:nvSpPr>
        <p:spPr>
          <a:xfrm>
            <a:off x="1143000" y="22677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Regional sourcing study (LCC)</a:t>
            </a:r>
            <a:endParaRPr lang="en-US" sz="840" dirty="0"/>
          </a:p>
        </p:txBody>
      </p:sp>
      <p:sp>
        <p:nvSpPr>
          <p:cNvPr id="21" name="Text 19"/>
          <p:cNvSpPr/>
          <p:nvPr/>
        </p:nvSpPr>
        <p:spPr>
          <a:xfrm>
            <a:off x="4480560" y="22677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Conversion cost at 69.6% of the part — real regional arbitrage</a:t>
            </a:r>
            <a:endParaRPr lang="en-US" sz="800" dirty="0"/>
          </a:p>
        </p:txBody>
      </p:sp>
      <p:sp>
        <p:nvSpPr>
          <p:cNvPr id="22" name="Text 20"/>
          <p:cNvSpPr/>
          <p:nvPr/>
        </p:nvSpPr>
        <p:spPr>
          <a:xfrm>
            <a:off x="9281160" y="22677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£4.53</a:t>
            </a:r>
            <a:endParaRPr lang="en-US" sz="900" dirty="0"/>
          </a:p>
        </p:txBody>
      </p:sp>
      <p:sp>
        <p:nvSpPr>
          <p:cNvPr id="23" name="Text 21"/>
          <p:cNvSpPr/>
          <p:nvPr/>
        </p:nvSpPr>
        <p:spPr>
          <a:xfrm>
            <a:off x="10287000" y="2267712"/>
            <a:ext cx="777240" cy="219456"/>
          </a:xfrm>
          <a:prstGeom prst="rect">
            <a:avLst/>
          </a:prstGeom>
          <a:noFill/>
          <a:ln/>
        </p:spPr>
        <p:txBody>
          <a:bodyPr wrap="square" lIns="0" tIns="0" rIns="0" bIns="0" rtlCol="0" anchor="ctr"/>
          <a:lstStyle/>
          <a:p>
            <a:pPr indent="0" marL="0">
              <a:buNone/>
            </a:pPr>
            <a:r>
              <a:rPr lang="en-US" sz="800" b="1" dirty="0">
                <a:solidFill>
                  <a:srgbClr val="B03A2E"/>
                </a:solidFill>
                <a:latin typeface="Calibri" pitchFamily="34" charset="0"/>
                <a:ea typeface="Calibri" pitchFamily="34" charset="-122"/>
                <a:cs typeface="Calibri" pitchFamily="34" charset="-120"/>
              </a:rPr>
              <a:t>High</a:t>
            </a:r>
            <a:endParaRPr lang="en-US" sz="800" dirty="0"/>
          </a:p>
        </p:txBody>
      </p:sp>
      <p:sp>
        <p:nvSpPr>
          <p:cNvPr id="24" name="Text 22"/>
          <p:cNvSpPr/>
          <p:nvPr/>
        </p:nvSpPr>
        <p:spPr>
          <a:xfrm>
            <a:off x="11109960" y="2267712"/>
            <a:ext cx="1005840" cy="219456"/>
          </a:xfrm>
          <a:prstGeom prst="rect">
            <a:avLst/>
          </a:prstGeom>
          <a:noFill/>
          <a:ln/>
        </p:spPr>
        <p:txBody>
          <a:bodyPr wrap="square" lIns="0" tIns="0" rIns="0" bIns="0" rtlCol="0" anchor="ctr"/>
          <a:lstStyle/>
          <a:p>
            <a:pPr indent="0" marL="0">
              <a:buNone/>
            </a:pPr>
            <a:r>
              <a:rPr lang="en-US" sz="800" b="1" dirty="0">
                <a:solidFill>
                  <a:srgbClr val="3A4356"/>
                </a:solidFill>
                <a:latin typeface="Calibri" pitchFamily="34" charset="0"/>
                <a:ea typeface="Calibri" pitchFamily="34" charset="-122"/>
                <a:cs typeface="Calibri" pitchFamily="34" charset="-120"/>
              </a:rPr>
              <a:t>Long term</a:t>
            </a:r>
            <a:endParaRPr lang="en-US" sz="800" dirty="0"/>
          </a:p>
        </p:txBody>
      </p:sp>
      <p:sp>
        <p:nvSpPr>
          <p:cNvPr id="25" name="Text 23"/>
          <p:cNvSpPr/>
          <p:nvPr/>
        </p:nvSpPr>
        <p:spPr>
          <a:xfrm>
            <a:off x="658368" y="24963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2</a:t>
            </a:r>
            <a:endParaRPr lang="en-US" sz="840" dirty="0"/>
          </a:p>
        </p:txBody>
      </p:sp>
      <p:sp>
        <p:nvSpPr>
          <p:cNvPr id="26" name="Text 24"/>
          <p:cNvSpPr/>
          <p:nvPr/>
        </p:nvSpPr>
        <p:spPr>
          <a:xfrm>
            <a:off x="1143000" y="24963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Learning-curve price-down</a:t>
            </a:r>
            <a:endParaRPr lang="en-US" sz="840" dirty="0"/>
          </a:p>
        </p:txBody>
      </p:sp>
      <p:sp>
        <p:nvSpPr>
          <p:cNvPr id="27" name="Text 25"/>
          <p:cNvSpPr/>
          <p:nvPr/>
        </p:nvSpPr>
        <p:spPr>
          <a:xfrm>
            <a:off x="4480560" y="24963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Labour 23.5% with a confirmed volume and no curve priced in</a:t>
            </a:r>
            <a:endParaRPr lang="en-US" sz="800" dirty="0"/>
          </a:p>
        </p:txBody>
      </p:sp>
      <p:sp>
        <p:nvSpPr>
          <p:cNvPr id="28" name="Text 26"/>
          <p:cNvSpPr/>
          <p:nvPr/>
        </p:nvSpPr>
        <p:spPr>
          <a:xfrm>
            <a:off x="9281160" y="24963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£0.75</a:t>
            </a:r>
            <a:endParaRPr lang="en-US" sz="900" dirty="0"/>
          </a:p>
        </p:txBody>
      </p:sp>
      <p:sp>
        <p:nvSpPr>
          <p:cNvPr id="29" name="Text 27"/>
          <p:cNvSpPr/>
          <p:nvPr/>
        </p:nvSpPr>
        <p:spPr>
          <a:xfrm>
            <a:off x="10287000" y="2496312"/>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30" name="Text 28"/>
          <p:cNvSpPr/>
          <p:nvPr/>
        </p:nvSpPr>
        <p:spPr>
          <a:xfrm>
            <a:off x="11109960" y="2496312"/>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31" name="Shape 29"/>
          <p:cNvSpPr/>
          <p:nvPr/>
        </p:nvSpPr>
        <p:spPr>
          <a:xfrm>
            <a:off x="457200" y="2779776"/>
            <a:ext cx="11274552" cy="201168"/>
          </a:xfrm>
          <a:prstGeom prst="roundRect">
            <a:avLst>
              <a:gd name="adj" fmla="val 22727"/>
            </a:avLst>
          </a:prstGeom>
          <a:solidFill>
            <a:srgbClr val="E6F4F1"/>
          </a:solidFill>
          <a:ln/>
        </p:spPr>
      </p:sp>
      <p:sp>
        <p:nvSpPr>
          <p:cNvPr id="32" name="Text 30"/>
          <p:cNvSpPr/>
          <p:nvPr/>
        </p:nvSpPr>
        <p:spPr>
          <a:xfrm>
            <a:off x="658368" y="2779776"/>
            <a:ext cx="7315200" cy="201168"/>
          </a:xfrm>
          <a:prstGeom prst="rect">
            <a:avLst/>
          </a:prstGeom>
          <a:noFill/>
          <a:ln/>
        </p:spPr>
        <p:txBody>
          <a:bodyPr wrap="square" lIns="0" tIns="0" rIns="0" bIns="0" rtlCol="0" anchor="ctr"/>
          <a:lstStyle/>
          <a:p>
            <a:pPr indent="0" marL="0">
              <a:buNone/>
            </a:pPr>
            <a:r>
              <a:rPr lang="en-US" sz="800" b="1" spc="50" kern="0" dirty="0">
                <a:solidFill>
                  <a:srgbClr val="0E8074"/>
                </a:solidFill>
                <a:latin typeface="Calibri" pitchFamily="34" charset="0"/>
                <a:ea typeface="Calibri" pitchFamily="34" charset="-122"/>
                <a:cs typeface="Calibri" pitchFamily="34" charset="-120"/>
              </a:rPr>
              <a:t>MATERIAL · 2 opportunities</a:t>
            </a:r>
            <a:endParaRPr lang="en-US" sz="800" dirty="0"/>
          </a:p>
        </p:txBody>
      </p:sp>
      <p:sp>
        <p:nvSpPr>
          <p:cNvPr id="33" name="Text 31"/>
          <p:cNvSpPr/>
          <p:nvPr/>
        </p:nvSpPr>
        <p:spPr>
          <a:xfrm>
            <a:off x="9144000" y="2779776"/>
            <a:ext cx="2377440" cy="201168"/>
          </a:xfrm>
          <a:prstGeom prst="rect">
            <a:avLst/>
          </a:prstGeom>
          <a:noFill/>
          <a:ln/>
        </p:spPr>
        <p:txBody>
          <a:bodyPr wrap="square" lIns="0" tIns="0" rIns="0" bIns="0" rtlCol="0" anchor="ctr"/>
          <a:lstStyle/>
          <a:p>
            <a:pPr algn="r" indent="0" marL="0">
              <a:buNone/>
            </a:pPr>
            <a:r>
              <a:rPr lang="en-US" sz="800" b="1" dirty="0">
                <a:solidFill>
                  <a:srgbClr val="0E8074"/>
                </a:solidFill>
                <a:latin typeface="Calibri" pitchFamily="34" charset="0"/>
                <a:ea typeface="Calibri" pitchFamily="34" charset="-122"/>
                <a:cs typeface="Calibri" pitchFamily="34" charset="-120"/>
              </a:rPr>
              <a:t>best £2.52/part</a:t>
            </a:r>
            <a:endParaRPr lang="en-US" sz="800" dirty="0"/>
          </a:p>
        </p:txBody>
      </p:sp>
      <p:sp>
        <p:nvSpPr>
          <p:cNvPr id="34" name="Shape 32"/>
          <p:cNvSpPr/>
          <p:nvPr/>
        </p:nvSpPr>
        <p:spPr>
          <a:xfrm>
            <a:off x="457200" y="3012948"/>
            <a:ext cx="11274552" cy="224028"/>
          </a:xfrm>
          <a:prstGeom prst="rect">
            <a:avLst/>
          </a:prstGeom>
          <a:solidFill>
            <a:srgbClr val="FFFFFF"/>
          </a:solidFill>
          <a:ln/>
        </p:spPr>
      </p:sp>
      <p:sp>
        <p:nvSpPr>
          <p:cNvPr id="35" name="Text 33"/>
          <p:cNvSpPr/>
          <p:nvPr/>
        </p:nvSpPr>
        <p:spPr>
          <a:xfrm>
            <a:off x="658368" y="30175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3</a:t>
            </a:r>
            <a:endParaRPr lang="en-US" sz="840" dirty="0"/>
          </a:p>
        </p:txBody>
      </p:sp>
      <p:sp>
        <p:nvSpPr>
          <p:cNvPr id="36" name="Text 34"/>
          <p:cNvSpPr/>
          <p:nvPr/>
        </p:nvSpPr>
        <p:spPr>
          <a:xfrm>
            <a:off x="1143000" y="30175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 better nesting</a:t>
            </a:r>
            <a:endParaRPr lang="en-US" sz="840" dirty="0"/>
          </a:p>
        </p:txBody>
      </p:sp>
      <p:sp>
        <p:nvSpPr>
          <p:cNvPr id="37" name="Text 35"/>
          <p:cNvSpPr/>
          <p:nvPr/>
        </p:nvSpPr>
        <p:spPr>
          <a:xfrm>
            <a:off x="4480560" y="30175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Utilisation 65% against the 80–90% target</a:t>
            </a:r>
            <a:endParaRPr lang="en-US" sz="800" dirty="0"/>
          </a:p>
        </p:txBody>
      </p:sp>
      <p:sp>
        <p:nvSpPr>
          <p:cNvPr id="38" name="Text 36"/>
          <p:cNvSpPr/>
          <p:nvPr/>
        </p:nvSpPr>
        <p:spPr>
          <a:xfrm>
            <a:off x="9281160" y="30175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£2.52</a:t>
            </a:r>
            <a:endParaRPr lang="en-US" sz="900" dirty="0"/>
          </a:p>
        </p:txBody>
      </p:sp>
      <p:sp>
        <p:nvSpPr>
          <p:cNvPr id="39" name="Text 37"/>
          <p:cNvSpPr/>
          <p:nvPr/>
        </p:nvSpPr>
        <p:spPr>
          <a:xfrm>
            <a:off x="10287000" y="3017520"/>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40" name="Text 38"/>
          <p:cNvSpPr/>
          <p:nvPr/>
        </p:nvSpPr>
        <p:spPr>
          <a:xfrm>
            <a:off x="11109960" y="3017520"/>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41" name="Text 39"/>
          <p:cNvSpPr/>
          <p:nvPr/>
        </p:nvSpPr>
        <p:spPr>
          <a:xfrm>
            <a:off x="658368" y="32461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4</a:t>
            </a:r>
            <a:endParaRPr lang="en-US" sz="840" dirty="0"/>
          </a:p>
        </p:txBody>
      </p:sp>
      <p:sp>
        <p:nvSpPr>
          <p:cNvPr id="42" name="Text 40"/>
          <p:cNvSpPr/>
          <p:nvPr/>
        </p:nvSpPr>
        <p:spPr>
          <a:xfrm>
            <a:off x="1143000" y="32461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Scrap revenue at index prices</a:t>
            </a:r>
            <a:endParaRPr lang="en-US" sz="840" dirty="0"/>
          </a:p>
        </p:txBody>
      </p:sp>
      <p:sp>
        <p:nvSpPr>
          <p:cNvPr id="43" name="Text 41"/>
          <p:cNvSpPr/>
          <p:nvPr/>
        </p:nvSpPr>
        <p:spPr>
          <a:xfrm>
            <a:off x="4480560" y="32461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35% of bought metal leaves as chips — claim the credit</a:t>
            </a:r>
            <a:endParaRPr lang="en-US" sz="800" dirty="0"/>
          </a:p>
        </p:txBody>
      </p:sp>
      <p:sp>
        <p:nvSpPr>
          <p:cNvPr id="44" name="Text 42"/>
          <p:cNvSpPr/>
          <p:nvPr/>
        </p:nvSpPr>
        <p:spPr>
          <a:xfrm>
            <a:off x="9281160" y="32461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£0.82</a:t>
            </a:r>
            <a:endParaRPr lang="en-US" sz="900" dirty="0"/>
          </a:p>
        </p:txBody>
      </p:sp>
      <p:sp>
        <p:nvSpPr>
          <p:cNvPr id="45" name="Text 43"/>
          <p:cNvSpPr/>
          <p:nvPr/>
        </p:nvSpPr>
        <p:spPr>
          <a:xfrm>
            <a:off x="10287000" y="3246120"/>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46" name="Text 44"/>
          <p:cNvSpPr/>
          <p:nvPr/>
        </p:nvSpPr>
        <p:spPr>
          <a:xfrm>
            <a:off x="11109960" y="3246120"/>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47" name="Shape 45"/>
          <p:cNvSpPr/>
          <p:nvPr/>
        </p:nvSpPr>
        <p:spPr>
          <a:xfrm>
            <a:off x="457200" y="3529584"/>
            <a:ext cx="11274552" cy="201168"/>
          </a:xfrm>
          <a:prstGeom prst="roundRect">
            <a:avLst>
              <a:gd name="adj" fmla="val 22727"/>
            </a:avLst>
          </a:prstGeom>
          <a:solidFill>
            <a:srgbClr val="E8F1FA"/>
          </a:solidFill>
          <a:ln/>
        </p:spPr>
      </p:sp>
      <p:sp>
        <p:nvSpPr>
          <p:cNvPr id="48" name="Text 46"/>
          <p:cNvSpPr/>
          <p:nvPr/>
        </p:nvSpPr>
        <p:spPr>
          <a:xfrm>
            <a:off x="658368" y="3529584"/>
            <a:ext cx="7315200" cy="201168"/>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PROCESS &amp; AUTOMATION · 4 opportunities</a:t>
            </a:r>
            <a:endParaRPr lang="en-US" sz="800" dirty="0"/>
          </a:p>
        </p:txBody>
      </p:sp>
      <p:sp>
        <p:nvSpPr>
          <p:cNvPr id="49" name="Text 47"/>
          <p:cNvSpPr/>
          <p:nvPr/>
        </p:nvSpPr>
        <p:spPr>
          <a:xfrm>
            <a:off x="9144000" y="3529584"/>
            <a:ext cx="2377440" cy="201168"/>
          </a:xfrm>
          <a:prstGeom prst="rect">
            <a:avLst/>
          </a:prstGeom>
          <a:noFill/>
          <a:ln/>
        </p:spPr>
        <p:txBody>
          <a:bodyPr wrap="square" lIns="0" tIns="0" rIns="0" bIns="0" rtlCol="0" anchor="ctr"/>
          <a:lstStyle/>
          <a:p>
            <a:pPr algn="r" indent="0" marL="0">
              <a:buNone/>
            </a:pPr>
            <a:r>
              <a:rPr lang="en-US" sz="800" b="1" dirty="0">
                <a:solidFill>
                  <a:srgbClr val="1D6FB8"/>
                </a:solidFill>
                <a:latin typeface="Calibri" pitchFamily="34" charset="0"/>
                <a:ea typeface="Calibri" pitchFamily="34" charset="-122"/>
                <a:cs typeface="Calibri" pitchFamily="34" charset="-120"/>
              </a:rPr>
              <a:t>best £2.01/part</a:t>
            </a:r>
            <a:endParaRPr lang="en-US" sz="800" dirty="0"/>
          </a:p>
        </p:txBody>
      </p:sp>
      <p:sp>
        <p:nvSpPr>
          <p:cNvPr id="50" name="Shape 48"/>
          <p:cNvSpPr/>
          <p:nvPr/>
        </p:nvSpPr>
        <p:spPr>
          <a:xfrm>
            <a:off x="457200" y="3762756"/>
            <a:ext cx="11274552" cy="224028"/>
          </a:xfrm>
          <a:prstGeom prst="rect">
            <a:avLst/>
          </a:prstGeom>
          <a:solidFill>
            <a:srgbClr val="FFFFFF"/>
          </a:solidFill>
          <a:ln/>
        </p:spPr>
      </p:sp>
      <p:sp>
        <p:nvSpPr>
          <p:cNvPr id="51" name="Text 49"/>
          <p:cNvSpPr/>
          <p:nvPr/>
        </p:nvSpPr>
        <p:spPr>
          <a:xfrm>
            <a:off x="658368" y="37673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5</a:t>
            </a:r>
            <a:endParaRPr lang="en-US" sz="840" dirty="0"/>
          </a:p>
        </p:txBody>
      </p:sp>
      <p:sp>
        <p:nvSpPr>
          <p:cNvPr id="52" name="Text 50"/>
          <p:cNvSpPr/>
          <p:nvPr/>
        </p:nvSpPr>
        <p:spPr>
          <a:xfrm>
            <a:off x="1143000" y="37673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Attack the bottleneck: "CNC Milling"</a:t>
            </a:r>
            <a:endParaRPr lang="en-US" sz="840" dirty="0"/>
          </a:p>
        </p:txBody>
      </p:sp>
      <p:sp>
        <p:nvSpPr>
          <p:cNvPr id="53" name="Text 51"/>
          <p:cNvSpPr/>
          <p:nvPr/>
        </p:nvSpPr>
        <p:spPr>
          <a:xfrm>
            <a:off x="4480560" y="37673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operation carries 64% of the conversion cost</a:t>
            </a:r>
            <a:endParaRPr lang="en-US" sz="800" dirty="0"/>
          </a:p>
        </p:txBody>
      </p:sp>
      <p:sp>
        <p:nvSpPr>
          <p:cNvPr id="54" name="Text 52"/>
          <p:cNvSpPr/>
          <p:nvPr/>
        </p:nvSpPr>
        <p:spPr>
          <a:xfrm>
            <a:off x="9281160" y="37673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55" name="Text 53"/>
          <p:cNvSpPr/>
          <p:nvPr/>
        </p:nvSpPr>
        <p:spPr>
          <a:xfrm>
            <a:off x="10287000" y="37673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56" name="Text 54"/>
          <p:cNvSpPr/>
          <p:nvPr/>
        </p:nvSpPr>
        <p:spPr>
          <a:xfrm>
            <a:off x="11109960" y="37673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57" name="Text 55"/>
          <p:cNvSpPr/>
          <p:nvPr/>
        </p:nvSpPr>
        <p:spPr>
          <a:xfrm>
            <a:off x="658368" y="39959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6</a:t>
            </a:r>
            <a:endParaRPr lang="en-US" sz="840" dirty="0"/>
          </a:p>
        </p:txBody>
      </p:sp>
      <p:sp>
        <p:nvSpPr>
          <p:cNvPr id="58" name="Text 56"/>
          <p:cNvSpPr/>
          <p:nvPr/>
        </p:nvSpPr>
        <p:spPr>
          <a:xfrm>
            <a:off x="1143000" y="39959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pre-form (cast/forge)</a:t>
            </a:r>
            <a:endParaRPr lang="en-US" sz="840" dirty="0"/>
          </a:p>
        </p:txBody>
      </p:sp>
      <p:sp>
        <p:nvSpPr>
          <p:cNvPr id="59" name="Text 57"/>
          <p:cNvSpPr/>
          <p:nvPr/>
        </p:nvSpPr>
        <p:spPr>
          <a:xfrm>
            <a:off x="4480560" y="39959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Machining is 46.0% of the part cost</a:t>
            </a:r>
            <a:endParaRPr lang="en-US" sz="800" dirty="0"/>
          </a:p>
        </p:txBody>
      </p:sp>
      <p:sp>
        <p:nvSpPr>
          <p:cNvPr id="60" name="Text 58"/>
          <p:cNvSpPr/>
          <p:nvPr/>
        </p:nvSpPr>
        <p:spPr>
          <a:xfrm>
            <a:off x="9281160" y="39959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61" name="Text 59"/>
          <p:cNvSpPr/>
          <p:nvPr/>
        </p:nvSpPr>
        <p:spPr>
          <a:xfrm>
            <a:off x="10287000" y="39959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2" name="Text 60"/>
          <p:cNvSpPr/>
          <p:nvPr/>
        </p:nvSpPr>
        <p:spPr>
          <a:xfrm>
            <a:off x="11109960" y="39959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63" name="Shape 61"/>
          <p:cNvSpPr/>
          <p:nvPr/>
        </p:nvSpPr>
        <p:spPr>
          <a:xfrm>
            <a:off x="457200" y="4219956"/>
            <a:ext cx="11274552" cy="224028"/>
          </a:xfrm>
          <a:prstGeom prst="rect">
            <a:avLst/>
          </a:prstGeom>
          <a:solidFill>
            <a:srgbClr val="FFFFFF"/>
          </a:solidFill>
          <a:ln/>
        </p:spPr>
      </p:sp>
      <p:sp>
        <p:nvSpPr>
          <p:cNvPr id="64" name="Text 62"/>
          <p:cNvSpPr/>
          <p:nvPr/>
        </p:nvSpPr>
        <p:spPr>
          <a:xfrm>
            <a:off x="658368" y="42245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7</a:t>
            </a:r>
            <a:endParaRPr lang="en-US" sz="840" dirty="0"/>
          </a:p>
        </p:txBody>
      </p:sp>
      <p:sp>
        <p:nvSpPr>
          <p:cNvPr id="65" name="Text 63"/>
          <p:cNvSpPr/>
          <p:nvPr/>
        </p:nvSpPr>
        <p:spPr>
          <a:xfrm>
            <a:off x="1143000" y="42245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Unmanned / lights-out running</a:t>
            </a:r>
            <a:endParaRPr lang="en-US" sz="840" dirty="0"/>
          </a:p>
        </p:txBody>
      </p:sp>
      <p:sp>
        <p:nvSpPr>
          <p:cNvPr id="66" name="Text 64"/>
          <p:cNvSpPr/>
          <p:nvPr/>
        </p:nvSpPr>
        <p:spPr>
          <a:xfrm>
            <a:off x="4480560" y="42245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Machine-paced, labour 23.5%, OEE 89% — the classic profile</a:t>
            </a:r>
            <a:endParaRPr lang="en-US" sz="800" dirty="0"/>
          </a:p>
        </p:txBody>
      </p:sp>
      <p:sp>
        <p:nvSpPr>
          <p:cNvPr id="67" name="Text 65"/>
          <p:cNvSpPr/>
          <p:nvPr/>
        </p:nvSpPr>
        <p:spPr>
          <a:xfrm>
            <a:off x="9281160" y="42245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£1.51</a:t>
            </a:r>
            <a:endParaRPr lang="en-US" sz="900" dirty="0"/>
          </a:p>
        </p:txBody>
      </p:sp>
      <p:sp>
        <p:nvSpPr>
          <p:cNvPr id="68" name="Text 66"/>
          <p:cNvSpPr/>
          <p:nvPr/>
        </p:nvSpPr>
        <p:spPr>
          <a:xfrm>
            <a:off x="10287000" y="42245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9" name="Text 67"/>
          <p:cNvSpPr/>
          <p:nvPr/>
        </p:nvSpPr>
        <p:spPr>
          <a:xfrm>
            <a:off x="11109960" y="42245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70" name="Text 68"/>
          <p:cNvSpPr/>
          <p:nvPr/>
        </p:nvSpPr>
        <p:spPr>
          <a:xfrm>
            <a:off x="658368" y="44531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8</a:t>
            </a:r>
            <a:endParaRPr lang="en-US" sz="840" dirty="0"/>
          </a:p>
        </p:txBody>
      </p:sp>
      <p:sp>
        <p:nvSpPr>
          <p:cNvPr id="71" name="Text 69"/>
          <p:cNvSpPr/>
          <p:nvPr/>
        </p:nvSpPr>
        <p:spPr>
          <a:xfrm>
            <a:off x="1143000" y="44531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Multi-machine manning</a:t>
            </a:r>
            <a:endParaRPr lang="en-US" sz="840" dirty="0"/>
          </a:p>
        </p:txBody>
      </p:sp>
      <p:sp>
        <p:nvSpPr>
          <p:cNvPr id="72" name="Text 70"/>
          <p:cNvSpPr/>
          <p:nvPr/>
        </p:nvSpPr>
        <p:spPr>
          <a:xfrm>
            <a:off x="4480560" y="44531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operator per machine while the machine paces the cycle</a:t>
            </a:r>
            <a:endParaRPr lang="en-US" sz="800" dirty="0"/>
          </a:p>
        </p:txBody>
      </p:sp>
      <p:sp>
        <p:nvSpPr>
          <p:cNvPr id="73" name="Text 71"/>
          <p:cNvSpPr/>
          <p:nvPr/>
        </p:nvSpPr>
        <p:spPr>
          <a:xfrm>
            <a:off x="9281160" y="44531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74" name="Text 72"/>
          <p:cNvSpPr/>
          <p:nvPr/>
        </p:nvSpPr>
        <p:spPr>
          <a:xfrm>
            <a:off x="10287000" y="4453128"/>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75" name="Text 73"/>
          <p:cNvSpPr/>
          <p:nvPr/>
        </p:nvSpPr>
        <p:spPr>
          <a:xfrm>
            <a:off x="11109960" y="4453128"/>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76" name="Shape 74"/>
          <p:cNvSpPr/>
          <p:nvPr/>
        </p:nvSpPr>
        <p:spPr>
          <a:xfrm>
            <a:off x="457200" y="4736592"/>
            <a:ext cx="11274552" cy="201168"/>
          </a:xfrm>
          <a:prstGeom prst="roundRect">
            <a:avLst>
              <a:gd name="adj" fmla="val 22727"/>
            </a:avLst>
          </a:prstGeom>
          <a:solidFill>
            <a:srgbClr val="F1EBF8"/>
          </a:solidFill>
          <a:ln/>
        </p:spPr>
      </p:sp>
      <p:sp>
        <p:nvSpPr>
          <p:cNvPr id="77" name="Text 75"/>
          <p:cNvSpPr/>
          <p:nvPr/>
        </p:nvSpPr>
        <p:spPr>
          <a:xfrm>
            <a:off x="658368" y="4736592"/>
            <a:ext cx="7315200" cy="201168"/>
          </a:xfrm>
          <a:prstGeom prst="rect">
            <a:avLst/>
          </a:prstGeom>
          <a:noFill/>
          <a:ln/>
        </p:spPr>
        <p:txBody>
          <a:bodyPr wrap="square" lIns="0" tIns="0" rIns="0" bIns="0" rtlCol="0" anchor="ctr"/>
          <a:lstStyle/>
          <a:p>
            <a:pPr indent="0" marL="0">
              <a:buNone/>
            </a:pPr>
            <a:r>
              <a:rPr lang="en-US" sz="800" b="1" spc="50" kern="0" dirty="0">
                <a:solidFill>
                  <a:srgbClr val="6B3FA0"/>
                </a:solidFill>
                <a:latin typeface="Calibri" pitchFamily="34" charset="0"/>
                <a:ea typeface="Calibri" pitchFamily="34" charset="-122"/>
                <a:cs typeface="Calibri" pitchFamily="34" charset="-120"/>
              </a:rPr>
              <a:t>DESIGN &amp; GEOMETRY · 2 opportunities</a:t>
            </a:r>
            <a:endParaRPr lang="en-US" sz="800" dirty="0"/>
          </a:p>
        </p:txBody>
      </p:sp>
      <p:sp>
        <p:nvSpPr>
          <p:cNvPr id="78" name="Text 76"/>
          <p:cNvSpPr/>
          <p:nvPr/>
        </p:nvSpPr>
        <p:spPr>
          <a:xfrm>
            <a:off x="9144000" y="4736592"/>
            <a:ext cx="2377440" cy="201168"/>
          </a:xfrm>
          <a:prstGeom prst="rect">
            <a:avLst/>
          </a:prstGeom>
          <a:noFill/>
          <a:ln/>
        </p:spPr>
        <p:txBody>
          <a:bodyPr wrap="square" lIns="0" tIns="0" rIns="0" bIns="0" rtlCol="0" anchor="ctr"/>
          <a:lstStyle/>
          <a:p>
            <a:pPr algn="r" indent="0" marL="0">
              <a:buNone/>
            </a:pPr>
            <a:r>
              <a:rPr lang="en-US" sz="800" b="1" dirty="0">
                <a:solidFill>
                  <a:srgbClr val="6B3FA0"/>
                </a:solidFill>
                <a:latin typeface="Calibri" pitchFamily="34" charset="0"/>
                <a:ea typeface="Calibri" pitchFamily="34" charset="-122"/>
                <a:cs typeface="Calibri" pitchFamily="34" charset="-120"/>
              </a:rPr>
              <a:t>best £1.26/part</a:t>
            </a:r>
            <a:endParaRPr lang="en-US" sz="800" dirty="0"/>
          </a:p>
        </p:txBody>
      </p:sp>
      <p:sp>
        <p:nvSpPr>
          <p:cNvPr id="79" name="Shape 77"/>
          <p:cNvSpPr/>
          <p:nvPr/>
        </p:nvSpPr>
        <p:spPr>
          <a:xfrm>
            <a:off x="457200" y="4969764"/>
            <a:ext cx="11274552" cy="224028"/>
          </a:xfrm>
          <a:prstGeom prst="rect">
            <a:avLst/>
          </a:prstGeom>
          <a:solidFill>
            <a:srgbClr val="FFFFFF"/>
          </a:solidFill>
          <a:ln/>
        </p:spPr>
      </p:sp>
      <p:sp>
        <p:nvSpPr>
          <p:cNvPr id="80" name="Text 78"/>
          <p:cNvSpPr/>
          <p:nvPr/>
        </p:nvSpPr>
        <p:spPr>
          <a:xfrm>
            <a:off x="658368" y="49743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9</a:t>
            </a:r>
            <a:endParaRPr lang="en-US" sz="840" dirty="0"/>
          </a:p>
        </p:txBody>
      </p:sp>
      <p:sp>
        <p:nvSpPr>
          <p:cNvPr id="81" name="Text 79"/>
          <p:cNvSpPr/>
          <p:nvPr/>
        </p:nvSpPr>
        <p:spPr>
          <a:xfrm>
            <a:off x="1143000" y="49743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Pallet / tombstone fixturing</a:t>
            </a:r>
            <a:endParaRPr lang="en-US" sz="840" dirty="0"/>
          </a:p>
        </p:txBody>
      </p:sp>
      <p:sp>
        <p:nvSpPr>
          <p:cNvPr id="82" name="Text 80"/>
          <p:cNvSpPr/>
          <p:nvPr/>
        </p:nvSpPr>
        <p:spPr>
          <a:xfrm>
            <a:off x="4480560" y="49743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 operations across 3 stations imply repeated re-fixturing</a:t>
            </a:r>
            <a:endParaRPr lang="en-US" sz="800" dirty="0"/>
          </a:p>
        </p:txBody>
      </p:sp>
      <p:sp>
        <p:nvSpPr>
          <p:cNvPr id="83" name="Text 81"/>
          <p:cNvSpPr/>
          <p:nvPr/>
        </p:nvSpPr>
        <p:spPr>
          <a:xfrm>
            <a:off x="9281160" y="49743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84" name="Text 82"/>
          <p:cNvSpPr/>
          <p:nvPr/>
        </p:nvSpPr>
        <p:spPr>
          <a:xfrm>
            <a:off x="10287000" y="49743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85" name="Text 83"/>
          <p:cNvSpPr/>
          <p:nvPr/>
        </p:nvSpPr>
        <p:spPr>
          <a:xfrm>
            <a:off x="11109960" y="49743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86" name="Text 84"/>
          <p:cNvSpPr/>
          <p:nvPr/>
        </p:nvSpPr>
        <p:spPr>
          <a:xfrm>
            <a:off x="658368" y="52029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10</a:t>
            </a:r>
            <a:endParaRPr lang="en-US" sz="840" dirty="0"/>
          </a:p>
        </p:txBody>
      </p:sp>
      <p:sp>
        <p:nvSpPr>
          <p:cNvPr id="87" name="Text 85"/>
          <p:cNvSpPr/>
          <p:nvPr/>
        </p:nvSpPr>
        <p:spPr>
          <a:xfrm>
            <a:off x="1143000" y="52029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Tolerance &amp; surface-finish relaxation</a:t>
            </a:r>
            <a:endParaRPr lang="en-US" sz="840" dirty="0"/>
          </a:p>
        </p:txBody>
      </p:sp>
      <p:sp>
        <p:nvSpPr>
          <p:cNvPr id="88" name="Text 86"/>
          <p:cNvSpPr/>
          <p:nvPr/>
        </p:nvSpPr>
        <p:spPr>
          <a:xfrm>
            <a:off x="4480560" y="52029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The tightest callouts set the machine, cycle and inspection</a:t>
            </a:r>
            <a:endParaRPr lang="en-US" sz="800" dirty="0"/>
          </a:p>
        </p:txBody>
      </p:sp>
      <p:sp>
        <p:nvSpPr>
          <p:cNvPr id="89" name="Text 87"/>
          <p:cNvSpPr/>
          <p:nvPr/>
        </p:nvSpPr>
        <p:spPr>
          <a:xfrm>
            <a:off x="9281160" y="52029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£1.01</a:t>
            </a:r>
            <a:endParaRPr lang="en-US" sz="900" dirty="0"/>
          </a:p>
        </p:txBody>
      </p:sp>
      <p:sp>
        <p:nvSpPr>
          <p:cNvPr id="90" name="Text 88"/>
          <p:cNvSpPr/>
          <p:nvPr/>
        </p:nvSpPr>
        <p:spPr>
          <a:xfrm>
            <a:off x="10287000" y="52029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91" name="Text 89"/>
          <p:cNvSpPr/>
          <p:nvPr/>
        </p:nvSpPr>
        <p:spPr>
          <a:xfrm>
            <a:off x="11109960" y="52029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92" name="Shape 90"/>
          <p:cNvSpPr/>
          <p:nvPr/>
        </p:nvSpPr>
        <p:spPr>
          <a:xfrm>
            <a:off x="457200" y="5614416"/>
            <a:ext cx="11274552" cy="694944"/>
          </a:xfrm>
          <a:prstGeom prst="roundRect">
            <a:avLst>
              <a:gd name="adj" fmla="val 13158"/>
            </a:avLst>
          </a:prstGeom>
          <a:solidFill>
            <a:srgbClr val="16325C"/>
          </a:solidFill>
          <a:ln/>
        </p:spPr>
      </p:sp>
      <p:sp>
        <p:nvSpPr>
          <p:cNvPr id="93" name="Text 91"/>
          <p:cNvSpPr/>
          <p:nvPr/>
        </p:nvSpPr>
        <p:spPr>
          <a:xfrm>
            <a:off x="777240" y="5687568"/>
            <a:ext cx="10652760" cy="548640"/>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Read the whole slide and notice what is missing:  </a:t>
            </a:r>
            <a:pPr indent="0" marL="0">
              <a:buNone/>
            </a:pPr>
            <a:r>
              <a:rPr lang="en-US" sz="1150" dirty="0">
                <a:solidFill>
                  <a:srgbClr val="FFFFFF"/>
                </a:solidFill>
                <a:latin typeface="Calibri" pitchFamily="34" charset="0"/>
                <a:ea typeface="Calibri" pitchFamily="34" charset="-122"/>
                <a:cs typeface="Calibri" pitchFamily="34" charset="-120"/>
              </a:rPr>
              <a:t>no score, no “critical”, nothing that grades the design. Ten things to do, what each is worth, who owns it and how long it takes — the identical deterministic findings, presented as work rather than as a verdict.</a:t>
            </a:r>
            <a:endParaRPr lang="en-US" sz="1150" dirty="0"/>
          </a:p>
        </p:txBody>
      </p:sp>
      <p:sp>
        <p:nvSpPr>
          <p:cNvPr id="94" name="Text 9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95" name="Text 9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49</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Technical Architecture — Boxes, Code and Data Flow</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Six steps with the cost engine in the middle. Each box: what it is built from, and what it hands on</a:t>
            </a:r>
            <a:endParaRPr lang="en-US" sz="1200" dirty="0"/>
          </a:p>
        </p:txBody>
      </p:sp>
      <p:sp>
        <p:nvSpPr>
          <p:cNvPr id="5" name="Shape 3"/>
          <p:cNvSpPr/>
          <p:nvPr/>
        </p:nvSpPr>
        <p:spPr>
          <a:xfrm>
            <a:off x="457200" y="969264"/>
            <a:ext cx="1078992" cy="1481328"/>
          </a:xfrm>
          <a:prstGeom prst="roundRect">
            <a:avLst>
              <a:gd name="adj" fmla="val 6780"/>
            </a:avLst>
          </a:prstGeom>
          <a:solidFill>
            <a:srgbClr val="FFFFFF"/>
          </a:solidFill>
          <a:ln w="15875">
            <a:solidFill>
              <a:srgbClr val="1D6FB8"/>
            </a:solidFill>
            <a:prstDash val="solid"/>
          </a:ln>
        </p:spPr>
      </p:sp>
      <p:sp>
        <p:nvSpPr>
          <p:cNvPr id="6" name="Shape 4"/>
          <p:cNvSpPr/>
          <p:nvPr/>
        </p:nvSpPr>
        <p:spPr>
          <a:xfrm>
            <a:off x="868680" y="1033272"/>
            <a:ext cx="256032" cy="256032"/>
          </a:xfrm>
          <a:prstGeom prst="ellipse">
            <a:avLst/>
          </a:prstGeom>
          <a:solidFill>
            <a:srgbClr val="1D6FB8"/>
          </a:solidFill>
          <a:ln/>
        </p:spPr>
      </p:sp>
      <p:sp>
        <p:nvSpPr>
          <p:cNvPr id="7" name="Text 5"/>
          <p:cNvSpPr/>
          <p:nvPr/>
        </p:nvSpPr>
        <p:spPr>
          <a:xfrm>
            <a:off x="868680"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1</a:t>
            </a:r>
            <a:endParaRPr lang="en-US" sz="860" dirty="0"/>
          </a:p>
        </p:txBody>
      </p:sp>
      <p:sp>
        <p:nvSpPr>
          <p:cNvPr id="8" name="Text 6"/>
          <p:cNvSpPr/>
          <p:nvPr/>
        </p:nvSpPr>
        <p:spPr>
          <a:xfrm>
            <a:off x="502920" y="1316736"/>
            <a:ext cx="987552" cy="182880"/>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Upload</a:t>
            </a:r>
            <a:endParaRPr lang="en-US" sz="880" dirty="0"/>
          </a:p>
        </p:txBody>
      </p:sp>
      <p:sp>
        <p:nvSpPr>
          <p:cNvPr id="9" name="Text 7"/>
          <p:cNvSpPr/>
          <p:nvPr/>
        </p:nvSpPr>
        <p:spPr>
          <a:xfrm>
            <a:off x="512064"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A CAD file, a PCB photo, or a typed form</a:t>
            </a:r>
            <a:endParaRPr lang="en-US" sz="700" dirty="0"/>
          </a:p>
        </p:txBody>
      </p:sp>
      <p:sp>
        <p:nvSpPr>
          <p:cNvPr id="10" name="Shape 8"/>
          <p:cNvSpPr/>
          <p:nvPr/>
        </p:nvSpPr>
        <p:spPr>
          <a:xfrm>
            <a:off x="512064" y="1901952"/>
            <a:ext cx="969264" cy="493776"/>
          </a:xfrm>
          <a:prstGeom prst="roundRect">
            <a:avLst>
              <a:gd name="adj" fmla="val 9259"/>
            </a:avLst>
          </a:prstGeom>
          <a:solidFill>
            <a:srgbClr val="F0F4F9"/>
          </a:solidFill>
          <a:ln w="9525">
            <a:solidFill>
              <a:srgbClr val="DCE3EE"/>
            </a:solidFill>
            <a:prstDash val="solid"/>
          </a:ln>
        </p:spPr>
      </p:sp>
      <p:sp>
        <p:nvSpPr>
          <p:cNvPr id="11" name="Text 9"/>
          <p:cNvSpPr/>
          <p:nvPr/>
        </p:nvSpPr>
        <p:spPr>
          <a:xfrm>
            <a:off x="512064"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12" name="Text 10"/>
          <p:cNvSpPr/>
          <p:nvPr/>
        </p:nvSpPr>
        <p:spPr>
          <a:xfrm>
            <a:off x="484632"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the file</a:t>
            </a:r>
            <a:endParaRPr lang="en-US" sz="620" dirty="0"/>
          </a:p>
        </p:txBody>
      </p:sp>
      <p:sp>
        <p:nvSpPr>
          <p:cNvPr id="13" name="Text 11"/>
          <p:cNvSpPr/>
          <p:nvPr/>
        </p:nvSpPr>
        <p:spPr>
          <a:xfrm>
            <a:off x="512064"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STEP · IGES · STL · JPG</a:t>
            </a:r>
            <a:endParaRPr lang="en-US" sz="620" dirty="0"/>
          </a:p>
        </p:txBody>
      </p:sp>
      <p:sp>
        <p:nvSpPr>
          <p:cNvPr id="14" name="Shape 12"/>
          <p:cNvSpPr/>
          <p:nvPr/>
        </p:nvSpPr>
        <p:spPr>
          <a:xfrm>
            <a:off x="1627632" y="969264"/>
            <a:ext cx="1078992" cy="1481328"/>
          </a:xfrm>
          <a:prstGeom prst="roundRect">
            <a:avLst>
              <a:gd name="adj" fmla="val 6780"/>
            </a:avLst>
          </a:prstGeom>
          <a:solidFill>
            <a:srgbClr val="FFFFFF"/>
          </a:solidFill>
          <a:ln w="15875">
            <a:solidFill>
              <a:srgbClr val="B7791F"/>
            </a:solidFill>
            <a:prstDash val="solid"/>
          </a:ln>
        </p:spPr>
      </p:sp>
      <p:sp>
        <p:nvSpPr>
          <p:cNvPr id="15" name="Shape 13"/>
          <p:cNvSpPr/>
          <p:nvPr/>
        </p:nvSpPr>
        <p:spPr>
          <a:xfrm>
            <a:off x="2039112" y="1033272"/>
            <a:ext cx="256032" cy="256032"/>
          </a:xfrm>
          <a:prstGeom prst="ellipse">
            <a:avLst/>
          </a:prstGeom>
          <a:solidFill>
            <a:srgbClr val="B7791F"/>
          </a:solidFill>
          <a:ln/>
        </p:spPr>
      </p:sp>
      <p:sp>
        <p:nvSpPr>
          <p:cNvPr id="16" name="Text 14"/>
          <p:cNvSpPr/>
          <p:nvPr/>
        </p:nvSpPr>
        <p:spPr>
          <a:xfrm>
            <a:off x="203911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2</a:t>
            </a:r>
            <a:endParaRPr lang="en-US" sz="860" dirty="0"/>
          </a:p>
        </p:txBody>
      </p:sp>
      <p:sp>
        <p:nvSpPr>
          <p:cNvPr id="17" name="Text 15"/>
          <p:cNvSpPr/>
          <p:nvPr/>
        </p:nvSpPr>
        <p:spPr>
          <a:xfrm>
            <a:off x="167335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a:t>
            </a:r>
            <a:endParaRPr lang="en-US" sz="880" dirty="0"/>
          </a:p>
        </p:txBody>
      </p:sp>
      <p:sp>
        <p:nvSpPr>
          <p:cNvPr id="18" name="Text 16"/>
          <p:cNvSpPr/>
          <p:nvPr/>
        </p:nvSpPr>
        <p:spPr>
          <a:xfrm>
            <a:off x="1682496"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The Python kernel measures the solid</a:t>
            </a:r>
            <a:endParaRPr lang="en-US" sz="700" dirty="0"/>
          </a:p>
        </p:txBody>
      </p:sp>
      <p:sp>
        <p:nvSpPr>
          <p:cNvPr id="19" name="Shape 17"/>
          <p:cNvSpPr/>
          <p:nvPr/>
        </p:nvSpPr>
        <p:spPr>
          <a:xfrm>
            <a:off x="1682496" y="1901952"/>
            <a:ext cx="969264" cy="493776"/>
          </a:xfrm>
          <a:prstGeom prst="roundRect">
            <a:avLst>
              <a:gd name="adj" fmla="val 9259"/>
            </a:avLst>
          </a:prstGeom>
          <a:solidFill>
            <a:srgbClr val="F0F4F9"/>
          </a:solidFill>
          <a:ln w="9525">
            <a:solidFill>
              <a:srgbClr val="DCE3EE"/>
            </a:solidFill>
            <a:prstDash val="solid"/>
          </a:ln>
        </p:spPr>
      </p:sp>
      <p:sp>
        <p:nvSpPr>
          <p:cNvPr id="20" name="Text 18"/>
          <p:cNvSpPr/>
          <p:nvPr/>
        </p:nvSpPr>
        <p:spPr>
          <a:xfrm>
            <a:off x="1682496"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21" name="Text 19"/>
          <p:cNvSpPr/>
          <p:nvPr/>
        </p:nvSpPr>
        <p:spPr>
          <a:xfrm>
            <a:off x="1655064"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OCCTGeometry</a:t>
            </a:r>
            <a:endParaRPr lang="en-US" sz="620" dirty="0"/>
          </a:p>
        </p:txBody>
      </p:sp>
      <p:sp>
        <p:nvSpPr>
          <p:cNvPr id="22" name="Text 20"/>
          <p:cNvSpPr/>
          <p:nvPr/>
        </p:nvSpPr>
        <p:spPr>
          <a:xfrm>
            <a:off x="1682496"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size, walls, holes, draft</a:t>
            </a:r>
            <a:endParaRPr lang="en-US" sz="620" dirty="0"/>
          </a:p>
        </p:txBody>
      </p:sp>
      <p:sp>
        <p:nvSpPr>
          <p:cNvPr id="23" name="Shape 21"/>
          <p:cNvSpPr/>
          <p:nvPr/>
        </p:nvSpPr>
        <p:spPr>
          <a:xfrm>
            <a:off x="2798064" y="969264"/>
            <a:ext cx="1078992" cy="1481328"/>
          </a:xfrm>
          <a:prstGeom prst="roundRect">
            <a:avLst>
              <a:gd name="adj" fmla="val 6780"/>
            </a:avLst>
          </a:prstGeom>
          <a:solidFill>
            <a:srgbClr val="FFFFFF"/>
          </a:solidFill>
          <a:ln w="15875">
            <a:solidFill>
              <a:srgbClr val="0E8074"/>
            </a:solidFill>
            <a:prstDash val="solid"/>
          </a:ln>
        </p:spPr>
      </p:sp>
      <p:sp>
        <p:nvSpPr>
          <p:cNvPr id="24" name="Shape 22"/>
          <p:cNvSpPr/>
          <p:nvPr/>
        </p:nvSpPr>
        <p:spPr>
          <a:xfrm>
            <a:off x="3209544" y="1033272"/>
            <a:ext cx="256032" cy="256032"/>
          </a:xfrm>
          <a:prstGeom prst="ellipse">
            <a:avLst/>
          </a:prstGeom>
          <a:solidFill>
            <a:srgbClr val="0E8074"/>
          </a:solidFill>
          <a:ln/>
        </p:spPr>
      </p:sp>
      <p:sp>
        <p:nvSpPr>
          <p:cNvPr id="25" name="Text 23"/>
          <p:cNvSpPr/>
          <p:nvPr/>
        </p:nvSpPr>
        <p:spPr>
          <a:xfrm>
            <a:off x="320954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3</a:t>
            </a:r>
            <a:endParaRPr lang="en-US" sz="860" dirty="0"/>
          </a:p>
        </p:txBody>
      </p:sp>
      <p:sp>
        <p:nvSpPr>
          <p:cNvPr id="26" name="Text 24"/>
          <p:cNvSpPr/>
          <p:nvPr/>
        </p:nvSpPr>
        <p:spPr>
          <a:xfrm>
            <a:off x="2843784" y="1316736"/>
            <a:ext cx="987552" cy="182880"/>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Derive</a:t>
            </a:r>
            <a:endParaRPr lang="en-US" sz="880" dirty="0"/>
          </a:p>
        </p:txBody>
      </p:sp>
      <p:sp>
        <p:nvSpPr>
          <p:cNvPr id="27" name="Text 25"/>
          <p:cNvSpPr/>
          <p:nvPr/>
        </p:nvSpPr>
        <p:spPr>
          <a:xfrm>
            <a:off x="2852928"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162 rules turn measurements into cost inputs</a:t>
            </a:r>
            <a:endParaRPr lang="en-US" sz="700" dirty="0"/>
          </a:p>
        </p:txBody>
      </p:sp>
      <p:sp>
        <p:nvSpPr>
          <p:cNvPr id="28" name="Shape 26"/>
          <p:cNvSpPr/>
          <p:nvPr/>
        </p:nvSpPr>
        <p:spPr>
          <a:xfrm>
            <a:off x="2852928" y="1901952"/>
            <a:ext cx="969264" cy="493776"/>
          </a:xfrm>
          <a:prstGeom prst="roundRect">
            <a:avLst>
              <a:gd name="adj" fmla="val 9259"/>
            </a:avLst>
          </a:prstGeom>
          <a:solidFill>
            <a:srgbClr val="F0F4F9"/>
          </a:solidFill>
          <a:ln w="9525">
            <a:solidFill>
              <a:srgbClr val="DCE3EE"/>
            </a:solidFill>
            <a:prstDash val="solid"/>
          </a:ln>
        </p:spPr>
      </p:sp>
      <p:sp>
        <p:nvSpPr>
          <p:cNvPr id="29" name="Text 27"/>
          <p:cNvSpPr/>
          <p:nvPr/>
        </p:nvSpPr>
        <p:spPr>
          <a:xfrm>
            <a:off x="2852928"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30" name="Text 28"/>
          <p:cNvSpPr/>
          <p:nvPr/>
        </p:nvSpPr>
        <p:spPr>
          <a:xfrm>
            <a:off x="2825496"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UniversalStackInput</a:t>
            </a:r>
            <a:endParaRPr lang="en-US" sz="620" dirty="0"/>
          </a:p>
        </p:txBody>
      </p:sp>
      <p:sp>
        <p:nvSpPr>
          <p:cNvPr id="31" name="Text 29"/>
          <p:cNvSpPr/>
          <p:nvPr/>
        </p:nvSpPr>
        <p:spPr>
          <a:xfrm>
            <a:off x="2852928"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material, operations, tooling</a:t>
            </a:r>
            <a:endParaRPr lang="en-US" sz="620" dirty="0"/>
          </a:p>
        </p:txBody>
      </p:sp>
      <p:sp>
        <p:nvSpPr>
          <p:cNvPr id="32" name="Shape 30"/>
          <p:cNvSpPr/>
          <p:nvPr/>
        </p:nvSpPr>
        <p:spPr>
          <a:xfrm>
            <a:off x="3913632" y="1709928"/>
            <a:ext cx="201168" cy="0"/>
          </a:xfrm>
          <a:prstGeom prst="line">
            <a:avLst/>
          </a:prstGeom>
          <a:noFill/>
          <a:ln w="31750">
            <a:solidFill>
              <a:srgbClr val="0E8074"/>
            </a:solidFill>
            <a:prstDash val="solid"/>
            <a:tailEnd type="triangle"/>
          </a:ln>
        </p:spPr>
      </p:sp>
      <p:sp>
        <p:nvSpPr>
          <p:cNvPr id="33" name="Shape 31"/>
          <p:cNvSpPr/>
          <p:nvPr/>
        </p:nvSpPr>
        <p:spPr>
          <a:xfrm>
            <a:off x="4151376" y="969264"/>
            <a:ext cx="3895344" cy="1481328"/>
          </a:xfrm>
          <a:prstGeom prst="roundRect">
            <a:avLst>
              <a:gd name="adj" fmla="val 6173"/>
            </a:avLst>
          </a:prstGeom>
          <a:solidFill>
            <a:srgbClr val="E6F4F1"/>
          </a:solidFill>
          <a:ln w="25400">
            <a:solidFill>
              <a:srgbClr val="0E8074"/>
            </a:solidFill>
            <a:prstDash val="solid"/>
          </a:ln>
        </p:spPr>
      </p:sp>
      <p:sp>
        <p:nvSpPr>
          <p:cNvPr id="34" name="Text 32"/>
          <p:cNvSpPr/>
          <p:nvPr/>
        </p:nvSpPr>
        <p:spPr>
          <a:xfrm>
            <a:off x="4279392" y="1014984"/>
            <a:ext cx="3657600" cy="20116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THE COST ENGINE  ·  src/engine/</a:t>
            </a:r>
            <a:endParaRPr lang="en-US" sz="1050" dirty="0"/>
          </a:p>
        </p:txBody>
      </p:sp>
      <p:sp>
        <p:nvSpPr>
          <p:cNvPr id="35" name="Text 33"/>
          <p:cNvSpPr/>
          <p:nvPr/>
        </p:nvSpPr>
        <p:spPr>
          <a:xfrm>
            <a:off x="4279392" y="1207008"/>
            <a:ext cx="3657600" cy="164592"/>
          </a:xfrm>
          <a:prstGeom prst="rect">
            <a:avLst/>
          </a:prstGeom>
          <a:noFill/>
          <a:ln/>
        </p:spPr>
        <p:txBody>
          <a:bodyPr wrap="square" lIns="0" tIns="0" rIns="0" bIns="0" rtlCol="0" anchor="ctr"/>
          <a:lstStyle/>
          <a:p>
            <a:pPr indent="0" marL="0">
              <a:buNone/>
            </a:pPr>
            <a:r>
              <a:rPr lang="en-US" sz="690" i="1" dirty="0">
                <a:solidFill>
                  <a:srgbClr val="16325C"/>
                </a:solidFill>
                <a:latin typeface="Calibri" pitchFamily="34" charset="0"/>
                <a:ea typeface="Calibri" pitchFamily="34" charset="-122"/>
                <a:cs typeface="Calibri" pitchFamily="34" charset="-120"/>
              </a:rPr>
              <a:t>TypeScript · 29,229 lines · 1,530 tests · same code runs in the browser and on the server</a:t>
            </a:r>
            <a:endParaRPr lang="en-US" sz="690" dirty="0"/>
          </a:p>
        </p:txBody>
      </p:sp>
      <p:sp>
        <p:nvSpPr>
          <p:cNvPr id="36" name="Shape 34"/>
          <p:cNvSpPr/>
          <p:nvPr/>
        </p:nvSpPr>
        <p:spPr>
          <a:xfrm>
            <a:off x="4279392" y="1444752"/>
            <a:ext cx="64008" cy="64008"/>
          </a:xfrm>
          <a:prstGeom prst="ellipse">
            <a:avLst/>
          </a:prstGeom>
          <a:solidFill>
            <a:srgbClr val="0E8074"/>
          </a:solidFill>
          <a:ln/>
        </p:spPr>
      </p:sp>
      <p:sp>
        <p:nvSpPr>
          <p:cNvPr id="37" name="Text 35"/>
          <p:cNvSpPr/>
          <p:nvPr/>
        </p:nvSpPr>
        <p:spPr>
          <a:xfrm>
            <a:off x="4389120" y="1399032"/>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core.ts works out the 8 cost buckets</a:t>
            </a:r>
            <a:endParaRPr lang="en-US" sz="650" dirty="0"/>
          </a:p>
        </p:txBody>
      </p:sp>
      <p:sp>
        <p:nvSpPr>
          <p:cNvPr id="38" name="Shape 36"/>
          <p:cNvSpPr/>
          <p:nvPr/>
        </p:nvSpPr>
        <p:spPr>
          <a:xfrm>
            <a:off x="6126480" y="1444752"/>
            <a:ext cx="64008" cy="64008"/>
          </a:xfrm>
          <a:prstGeom prst="ellipse">
            <a:avLst/>
          </a:prstGeom>
          <a:solidFill>
            <a:srgbClr val="0E8074"/>
          </a:solidFill>
          <a:ln/>
        </p:spPr>
      </p:sp>
      <p:sp>
        <p:nvSpPr>
          <p:cNvPr id="39" name="Text 37"/>
          <p:cNvSpPr/>
          <p:nvPr/>
        </p:nvSpPr>
        <p:spPr>
          <a:xfrm>
            <a:off x="6236208" y="1399032"/>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18 commodity modules</a:t>
            </a:r>
            <a:endParaRPr lang="en-US" sz="650" dirty="0"/>
          </a:p>
        </p:txBody>
      </p:sp>
      <p:sp>
        <p:nvSpPr>
          <p:cNvPr id="40" name="Shape 38"/>
          <p:cNvSpPr/>
          <p:nvPr/>
        </p:nvSpPr>
        <p:spPr>
          <a:xfrm>
            <a:off x="4279392" y="1613916"/>
            <a:ext cx="64008" cy="64008"/>
          </a:xfrm>
          <a:prstGeom prst="ellipse">
            <a:avLst/>
          </a:prstGeom>
          <a:solidFill>
            <a:srgbClr val="0E8074"/>
          </a:solidFill>
          <a:ln/>
        </p:spPr>
      </p:sp>
      <p:sp>
        <p:nvSpPr>
          <p:cNvPr id="41" name="Text 39"/>
          <p:cNvSpPr/>
          <p:nvPr/>
        </p:nvSpPr>
        <p:spPr>
          <a:xfrm>
            <a:off x="4389120" y="1568196"/>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Optimisers pick the cheapest capable machine</a:t>
            </a:r>
            <a:endParaRPr lang="en-US" sz="650" dirty="0"/>
          </a:p>
        </p:txBody>
      </p:sp>
      <p:sp>
        <p:nvSpPr>
          <p:cNvPr id="42" name="Shape 40"/>
          <p:cNvSpPr/>
          <p:nvPr/>
        </p:nvSpPr>
        <p:spPr>
          <a:xfrm>
            <a:off x="6126480" y="1613916"/>
            <a:ext cx="64008" cy="64008"/>
          </a:xfrm>
          <a:prstGeom prst="ellipse">
            <a:avLst/>
          </a:prstGeom>
          <a:solidFill>
            <a:srgbClr val="0E8074"/>
          </a:solidFill>
          <a:ln/>
        </p:spPr>
      </p:sp>
      <p:sp>
        <p:nvSpPr>
          <p:cNvPr id="43" name="Text 41"/>
          <p:cNvSpPr/>
          <p:nvPr/>
        </p:nvSpPr>
        <p:spPr>
          <a:xfrm>
            <a:off x="6236208" y="1568196"/>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Guardrails check every number</a:t>
            </a:r>
            <a:endParaRPr lang="en-US" sz="650" dirty="0"/>
          </a:p>
        </p:txBody>
      </p:sp>
      <p:sp>
        <p:nvSpPr>
          <p:cNvPr id="44" name="Shape 42"/>
          <p:cNvSpPr/>
          <p:nvPr/>
        </p:nvSpPr>
        <p:spPr>
          <a:xfrm>
            <a:off x="4279392" y="1755648"/>
            <a:ext cx="3639312" cy="274320"/>
          </a:xfrm>
          <a:prstGeom prst="roundRect">
            <a:avLst>
              <a:gd name="adj" fmla="val 16667"/>
            </a:avLst>
          </a:prstGeom>
          <a:solidFill>
            <a:srgbClr val="FFFFFF"/>
          </a:solidFill>
          <a:ln w="9525">
            <a:solidFill>
              <a:srgbClr val="0E8074"/>
            </a:solidFill>
            <a:prstDash val="solid"/>
          </a:ln>
        </p:spPr>
      </p:sp>
      <p:sp>
        <p:nvSpPr>
          <p:cNvPr id="45" name="Text 43"/>
          <p:cNvSpPr/>
          <p:nvPr/>
        </p:nvSpPr>
        <p:spPr>
          <a:xfrm>
            <a:off x="4352544" y="1755648"/>
            <a:ext cx="3493008" cy="274320"/>
          </a:xfrm>
          <a:prstGeom prst="rect">
            <a:avLst/>
          </a:prstGeom>
          <a:noFill/>
          <a:ln/>
        </p:spPr>
        <p:txBody>
          <a:bodyPr wrap="square" lIns="0" tIns="0" rIns="0" bIns="0" rtlCol="0" anchor="ctr"/>
          <a:lstStyle/>
          <a:p>
            <a:pPr indent="0" marL="0">
              <a:buNone/>
            </a:pPr>
            <a:r>
              <a:rPr lang="en-US" sz="560" b="1" dirty="0">
                <a:solidFill>
                  <a:srgbClr val="6B7280"/>
                </a:solidFill>
                <a:latin typeface="Calibri" pitchFamily="34" charset="0"/>
                <a:ea typeface="Calibri" pitchFamily="34" charset="-122"/>
                <a:cs typeface="Calibri" pitchFamily="34" charset="-120"/>
              </a:rPr>
              <a:t>HANDS ON  </a:t>
            </a:r>
            <a:pPr indent="0" marL="0">
              <a:buNone/>
            </a:pPr>
            <a:r>
              <a:rPr lang="en-US" sz="740" b="1" dirty="0">
                <a:solidFill>
                  <a:srgbClr val="16325C"/>
                </a:solidFill>
                <a:latin typeface="Consolas" pitchFamily="34" charset="0"/>
                <a:ea typeface="Consolas" pitchFamily="34" charset="-122"/>
                <a:cs typeface="Consolas" pitchFamily="34" charset="-120"/>
              </a:rPr>
              <a:t>PartCostResult</a:t>
            </a:r>
            <a:pPr indent="0" marL="0">
              <a:buNone/>
            </a:pPr>
            <a:r>
              <a:rPr lang="en-US" sz="660" dirty="0">
                <a:solidFill>
                  <a:srgbClr val="3A4356"/>
                </a:solidFill>
                <a:latin typeface="Calibri" pitchFamily="34" charset="0"/>
                <a:ea typeface="Calibri" pitchFamily="34" charset="-122"/>
                <a:cs typeface="Calibri" pitchFamily="34" charset="-120"/>
              </a:rPr>
              <a:t>  — the 8 buckets, plus where every number came from</a:t>
            </a:r>
            <a:endParaRPr lang="en-US" sz="560" dirty="0"/>
          </a:p>
        </p:txBody>
      </p:sp>
      <p:sp>
        <p:nvSpPr>
          <p:cNvPr id="46" name="Shape 44"/>
          <p:cNvSpPr/>
          <p:nvPr/>
        </p:nvSpPr>
        <p:spPr>
          <a:xfrm>
            <a:off x="4279392" y="2084832"/>
            <a:ext cx="3639312" cy="274320"/>
          </a:xfrm>
          <a:prstGeom prst="roundRect">
            <a:avLst>
              <a:gd name="adj" fmla="val 16667"/>
            </a:avLst>
          </a:prstGeom>
          <a:solidFill>
            <a:srgbClr val="16325C"/>
          </a:solidFill>
          <a:ln/>
        </p:spPr>
      </p:sp>
      <p:sp>
        <p:nvSpPr>
          <p:cNvPr id="47" name="Text 45"/>
          <p:cNvSpPr/>
          <p:nvPr/>
        </p:nvSpPr>
        <p:spPr>
          <a:xfrm>
            <a:off x="4370832" y="2084832"/>
            <a:ext cx="3456432" cy="274320"/>
          </a:xfrm>
          <a:prstGeom prst="rect">
            <a:avLst/>
          </a:prstGeom>
          <a:noFill/>
          <a:ln/>
        </p:spPr>
        <p:txBody>
          <a:bodyPr wrap="square" lIns="0" tIns="0" rIns="0" bIns="0" rtlCol="0" anchor="ctr"/>
          <a:lstStyle/>
          <a:p>
            <a:pPr indent="0" marL="0">
              <a:buNone/>
            </a:pPr>
            <a:r>
              <a:rPr lang="en-US" sz="690" b="1" dirty="0">
                <a:solidFill>
                  <a:srgbClr val="FFFFFF"/>
                </a:solidFill>
                <a:latin typeface="Calibri" pitchFamily="34" charset="0"/>
                <a:ea typeface="Calibri" pitchFamily="34" charset="-122"/>
                <a:cs typeface="Calibri" pitchFamily="34" charset="-120"/>
              </a:rPr>
              <a:t>Numbers in, numbers out. No database, no network, no file access.</a:t>
            </a:r>
            <a:endParaRPr lang="en-US" sz="690" dirty="0"/>
          </a:p>
        </p:txBody>
      </p:sp>
      <p:sp>
        <p:nvSpPr>
          <p:cNvPr id="48" name="Shape 46"/>
          <p:cNvSpPr/>
          <p:nvPr/>
        </p:nvSpPr>
        <p:spPr>
          <a:xfrm>
            <a:off x="8083296" y="1709928"/>
            <a:ext cx="201168" cy="0"/>
          </a:xfrm>
          <a:prstGeom prst="line">
            <a:avLst/>
          </a:prstGeom>
          <a:noFill/>
          <a:ln w="31750">
            <a:solidFill>
              <a:srgbClr val="0E8074"/>
            </a:solidFill>
            <a:prstDash val="solid"/>
            <a:tailEnd type="triangle"/>
          </a:ln>
        </p:spPr>
      </p:sp>
      <p:sp>
        <p:nvSpPr>
          <p:cNvPr id="49" name="Shape 47"/>
          <p:cNvSpPr/>
          <p:nvPr/>
        </p:nvSpPr>
        <p:spPr>
          <a:xfrm>
            <a:off x="8302752" y="969264"/>
            <a:ext cx="1078992" cy="1481328"/>
          </a:xfrm>
          <a:prstGeom prst="roundRect">
            <a:avLst>
              <a:gd name="adj" fmla="val 6780"/>
            </a:avLst>
          </a:prstGeom>
          <a:solidFill>
            <a:srgbClr val="FFFFFF"/>
          </a:solidFill>
          <a:ln w="15875">
            <a:solidFill>
              <a:srgbClr val="B7791F"/>
            </a:solidFill>
            <a:prstDash val="solid"/>
          </a:ln>
        </p:spPr>
      </p:sp>
      <p:sp>
        <p:nvSpPr>
          <p:cNvPr id="50" name="Shape 48"/>
          <p:cNvSpPr/>
          <p:nvPr/>
        </p:nvSpPr>
        <p:spPr>
          <a:xfrm>
            <a:off x="8714232" y="1033272"/>
            <a:ext cx="256032" cy="256032"/>
          </a:xfrm>
          <a:prstGeom prst="ellipse">
            <a:avLst/>
          </a:prstGeom>
          <a:solidFill>
            <a:srgbClr val="B7791F"/>
          </a:solidFill>
          <a:ln/>
        </p:spPr>
      </p:sp>
      <p:sp>
        <p:nvSpPr>
          <p:cNvPr id="51" name="Text 49"/>
          <p:cNvSpPr/>
          <p:nvPr/>
        </p:nvSpPr>
        <p:spPr>
          <a:xfrm>
            <a:off x="871423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4</a:t>
            </a:r>
            <a:endParaRPr lang="en-US" sz="860" dirty="0"/>
          </a:p>
        </p:txBody>
      </p:sp>
      <p:sp>
        <p:nvSpPr>
          <p:cNvPr id="52" name="Text 50"/>
          <p:cNvSpPr/>
          <p:nvPr/>
        </p:nvSpPr>
        <p:spPr>
          <a:xfrm>
            <a:off x="834847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Check</a:t>
            </a:r>
            <a:endParaRPr lang="en-US" sz="880" dirty="0"/>
          </a:p>
        </p:txBody>
      </p:sp>
      <p:sp>
        <p:nvSpPr>
          <p:cNvPr id="53" name="Text 51"/>
          <p:cNvSpPr/>
          <p:nvPr/>
        </p:nvSpPr>
        <p:spPr>
          <a:xfrm>
            <a:off x="8357616"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Guardrails, self-audit and the confidence band</a:t>
            </a:r>
            <a:endParaRPr lang="en-US" sz="700" dirty="0"/>
          </a:p>
        </p:txBody>
      </p:sp>
      <p:sp>
        <p:nvSpPr>
          <p:cNvPr id="54" name="Shape 52"/>
          <p:cNvSpPr/>
          <p:nvPr/>
        </p:nvSpPr>
        <p:spPr>
          <a:xfrm>
            <a:off x="8357616" y="1901952"/>
            <a:ext cx="969264" cy="493776"/>
          </a:xfrm>
          <a:prstGeom prst="roundRect">
            <a:avLst>
              <a:gd name="adj" fmla="val 9259"/>
            </a:avLst>
          </a:prstGeom>
          <a:solidFill>
            <a:srgbClr val="F0F4F9"/>
          </a:solidFill>
          <a:ln w="9525">
            <a:solidFill>
              <a:srgbClr val="DCE3EE"/>
            </a:solidFill>
            <a:prstDash val="solid"/>
          </a:ln>
        </p:spPr>
      </p:sp>
      <p:sp>
        <p:nvSpPr>
          <p:cNvPr id="55" name="Text 53"/>
          <p:cNvSpPr/>
          <p:nvPr/>
        </p:nvSpPr>
        <p:spPr>
          <a:xfrm>
            <a:off x="8357616"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56" name="Text 54"/>
          <p:cNvSpPr/>
          <p:nvPr/>
        </p:nvSpPr>
        <p:spPr>
          <a:xfrm>
            <a:off x="8330184"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a checked cost</a:t>
            </a:r>
            <a:endParaRPr lang="en-US" sz="620" dirty="0"/>
          </a:p>
        </p:txBody>
      </p:sp>
      <p:sp>
        <p:nvSpPr>
          <p:cNvPr id="57" name="Text 55"/>
          <p:cNvSpPr/>
          <p:nvPr/>
        </p:nvSpPr>
        <p:spPr>
          <a:xfrm>
            <a:off x="8357616"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plus any warnings</a:t>
            </a:r>
            <a:endParaRPr lang="en-US" sz="620" dirty="0"/>
          </a:p>
        </p:txBody>
      </p:sp>
      <p:sp>
        <p:nvSpPr>
          <p:cNvPr id="58" name="Shape 56"/>
          <p:cNvSpPr/>
          <p:nvPr/>
        </p:nvSpPr>
        <p:spPr>
          <a:xfrm>
            <a:off x="9473184" y="969264"/>
            <a:ext cx="1078992" cy="1481328"/>
          </a:xfrm>
          <a:prstGeom prst="roundRect">
            <a:avLst>
              <a:gd name="adj" fmla="val 6780"/>
            </a:avLst>
          </a:prstGeom>
          <a:solidFill>
            <a:srgbClr val="FFFFFF"/>
          </a:solidFill>
          <a:ln w="15875">
            <a:solidFill>
              <a:srgbClr val="2E8B57"/>
            </a:solidFill>
            <a:prstDash val="solid"/>
          </a:ln>
        </p:spPr>
      </p:sp>
      <p:sp>
        <p:nvSpPr>
          <p:cNvPr id="59" name="Shape 57"/>
          <p:cNvSpPr/>
          <p:nvPr/>
        </p:nvSpPr>
        <p:spPr>
          <a:xfrm>
            <a:off x="9884664" y="1033272"/>
            <a:ext cx="256032" cy="256032"/>
          </a:xfrm>
          <a:prstGeom prst="ellipse">
            <a:avLst/>
          </a:prstGeom>
          <a:solidFill>
            <a:srgbClr val="2E8B57"/>
          </a:solidFill>
          <a:ln/>
        </p:spPr>
      </p:sp>
      <p:sp>
        <p:nvSpPr>
          <p:cNvPr id="60" name="Text 58"/>
          <p:cNvSpPr/>
          <p:nvPr/>
        </p:nvSpPr>
        <p:spPr>
          <a:xfrm>
            <a:off x="988466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5</a:t>
            </a:r>
            <a:endParaRPr lang="en-US" sz="860" dirty="0"/>
          </a:p>
        </p:txBody>
      </p:sp>
      <p:sp>
        <p:nvSpPr>
          <p:cNvPr id="61" name="Text 59"/>
          <p:cNvSpPr/>
          <p:nvPr/>
        </p:nvSpPr>
        <p:spPr>
          <a:xfrm>
            <a:off x="9518904" y="1316736"/>
            <a:ext cx="987552" cy="182880"/>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Rank</a:t>
            </a:r>
            <a:endParaRPr lang="en-US" sz="880" dirty="0"/>
          </a:p>
        </p:txBody>
      </p:sp>
      <p:sp>
        <p:nvSpPr>
          <p:cNvPr id="62" name="Text 60"/>
          <p:cNvSpPr/>
          <p:nvPr/>
        </p:nvSpPr>
        <p:spPr>
          <a:xfrm>
            <a:off x="9528048"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Findings become savings, ranked by money</a:t>
            </a:r>
            <a:endParaRPr lang="en-US" sz="700" dirty="0"/>
          </a:p>
        </p:txBody>
      </p:sp>
      <p:sp>
        <p:nvSpPr>
          <p:cNvPr id="63" name="Shape 61"/>
          <p:cNvSpPr/>
          <p:nvPr/>
        </p:nvSpPr>
        <p:spPr>
          <a:xfrm>
            <a:off x="9528048" y="1901952"/>
            <a:ext cx="969264" cy="493776"/>
          </a:xfrm>
          <a:prstGeom prst="roundRect">
            <a:avLst>
              <a:gd name="adj" fmla="val 9259"/>
            </a:avLst>
          </a:prstGeom>
          <a:solidFill>
            <a:srgbClr val="F0F4F9"/>
          </a:solidFill>
          <a:ln w="9525">
            <a:solidFill>
              <a:srgbClr val="DCE3EE"/>
            </a:solidFill>
            <a:prstDash val="solid"/>
          </a:ln>
        </p:spPr>
      </p:sp>
      <p:sp>
        <p:nvSpPr>
          <p:cNvPr id="64" name="Text 62"/>
          <p:cNvSpPr/>
          <p:nvPr/>
        </p:nvSpPr>
        <p:spPr>
          <a:xfrm>
            <a:off x="9528048"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65" name="Text 63"/>
          <p:cNvSpPr/>
          <p:nvPr/>
        </p:nvSpPr>
        <p:spPr>
          <a:xfrm>
            <a:off x="9500616"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RankedOpportunities</a:t>
            </a:r>
            <a:endParaRPr lang="en-US" sz="620" dirty="0"/>
          </a:p>
        </p:txBody>
      </p:sp>
      <p:sp>
        <p:nvSpPr>
          <p:cNvPr id="66" name="Text 64"/>
          <p:cNvSpPr/>
          <p:nvPr/>
        </p:nvSpPr>
        <p:spPr>
          <a:xfrm>
            <a:off x="9528048"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what to do, what it is worth</a:t>
            </a:r>
            <a:endParaRPr lang="en-US" sz="620" dirty="0"/>
          </a:p>
        </p:txBody>
      </p:sp>
      <p:sp>
        <p:nvSpPr>
          <p:cNvPr id="67" name="Shape 65"/>
          <p:cNvSpPr/>
          <p:nvPr/>
        </p:nvSpPr>
        <p:spPr>
          <a:xfrm>
            <a:off x="10643616" y="969264"/>
            <a:ext cx="1078992" cy="1481328"/>
          </a:xfrm>
          <a:prstGeom prst="roundRect">
            <a:avLst>
              <a:gd name="adj" fmla="val 6780"/>
            </a:avLst>
          </a:prstGeom>
          <a:solidFill>
            <a:srgbClr val="FFFFFF"/>
          </a:solidFill>
          <a:ln w="15875">
            <a:solidFill>
              <a:srgbClr val="6B3FA0"/>
            </a:solidFill>
            <a:prstDash val="solid"/>
          </a:ln>
        </p:spPr>
      </p:sp>
      <p:sp>
        <p:nvSpPr>
          <p:cNvPr id="68" name="Shape 66"/>
          <p:cNvSpPr/>
          <p:nvPr/>
        </p:nvSpPr>
        <p:spPr>
          <a:xfrm>
            <a:off x="11055096" y="1033272"/>
            <a:ext cx="256032" cy="256032"/>
          </a:xfrm>
          <a:prstGeom prst="ellipse">
            <a:avLst/>
          </a:prstGeom>
          <a:solidFill>
            <a:srgbClr val="6B3FA0"/>
          </a:solidFill>
          <a:ln/>
        </p:spPr>
      </p:sp>
      <p:sp>
        <p:nvSpPr>
          <p:cNvPr id="69" name="Text 67"/>
          <p:cNvSpPr/>
          <p:nvPr/>
        </p:nvSpPr>
        <p:spPr>
          <a:xfrm>
            <a:off x="11055096"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6</a:t>
            </a:r>
            <a:endParaRPr lang="en-US" sz="860" dirty="0"/>
          </a:p>
        </p:txBody>
      </p:sp>
      <p:sp>
        <p:nvSpPr>
          <p:cNvPr id="70" name="Text 68"/>
          <p:cNvSpPr/>
          <p:nvPr/>
        </p:nvSpPr>
        <p:spPr>
          <a:xfrm>
            <a:off x="10689336" y="1316736"/>
            <a:ext cx="987552" cy="182880"/>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Keep</a:t>
            </a:r>
            <a:endParaRPr lang="en-US" sz="880" dirty="0"/>
          </a:p>
        </p:txBody>
      </p:sp>
      <p:sp>
        <p:nvSpPr>
          <p:cNvPr id="71" name="Text 69"/>
          <p:cNvSpPr/>
          <p:nvPr/>
        </p:nvSpPr>
        <p:spPr>
          <a:xfrm>
            <a:off x="10698480"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Saved on your server; reports made in the browser</a:t>
            </a:r>
            <a:endParaRPr lang="en-US" sz="700" dirty="0"/>
          </a:p>
        </p:txBody>
      </p:sp>
      <p:sp>
        <p:nvSpPr>
          <p:cNvPr id="72" name="Shape 70"/>
          <p:cNvSpPr/>
          <p:nvPr/>
        </p:nvSpPr>
        <p:spPr>
          <a:xfrm>
            <a:off x="10698480" y="1901952"/>
            <a:ext cx="969264" cy="493776"/>
          </a:xfrm>
          <a:prstGeom prst="roundRect">
            <a:avLst>
              <a:gd name="adj" fmla="val 9259"/>
            </a:avLst>
          </a:prstGeom>
          <a:solidFill>
            <a:srgbClr val="F0F4F9"/>
          </a:solidFill>
          <a:ln w="9525">
            <a:solidFill>
              <a:srgbClr val="DCE3EE"/>
            </a:solidFill>
            <a:prstDash val="solid"/>
          </a:ln>
        </p:spPr>
      </p:sp>
      <p:sp>
        <p:nvSpPr>
          <p:cNvPr id="73" name="Text 71"/>
          <p:cNvSpPr/>
          <p:nvPr/>
        </p:nvSpPr>
        <p:spPr>
          <a:xfrm>
            <a:off x="10698480"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74" name="Text 72"/>
          <p:cNvSpPr/>
          <p:nvPr/>
        </p:nvSpPr>
        <p:spPr>
          <a:xfrm>
            <a:off x="10671048"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SQLite · 12 tables</a:t>
            </a:r>
            <a:endParaRPr lang="en-US" sz="620" dirty="0"/>
          </a:p>
        </p:txBody>
      </p:sp>
      <p:sp>
        <p:nvSpPr>
          <p:cNvPr id="75" name="Text 73"/>
          <p:cNvSpPr/>
          <p:nvPr/>
        </p:nvSpPr>
        <p:spPr>
          <a:xfrm>
            <a:off x="10698480"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PDF · Excel · PowerPoint</a:t>
            </a:r>
            <a:endParaRPr lang="en-US" sz="620" dirty="0"/>
          </a:p>
        </p:txBody>
      </p:sp>
      <p:sp>
        <p:nvSpPr>
          <p:cNvPr id="76" name="Shape 74"/>
          <p:cNvSpPr/>
          <p:nvPr/>
        </p:nvSpPr>
        <p:spPr>
          <a:xfrm>
            <a:off x="457200" y="2542032"/>
            <a:ext cx="11274552" cy="603504"/>
          </a:xfrm>
          <a:prstGeom prst="roundRect">
            <a:avLst>
              <a:gd name="adj" fmla="val 10606"/>
            </a:avLst>
          </a:prstGeom>
          <a:solidFill>
            <a:srgbClr val="F0F4F9"/>
          </a:solidFill>
          <a:ln w="12700">
            <a:solidFill>
              <a:srgbClr val="DCE3EE"/>
            </a:solidFill>
            <a:prstDash val="solid"/>
          </a:ln>
        </p:spPr>
      </p:sp>
      <p:sp>
        <p:nvSpPr>
          <p:cNvPr id="77" name="Text 75"/>
          <p:cNvSpPr/>
          <p:nvPr/>
        </p:nvSpPr>
        <p:spPr>
          <a:xfrm>
            <a:off x="621792" y="2578608"/>
            <a:ext cx="2743200" cy="146304"/>
          </a:xfrm>
          <a:prstGeom prst="rect">
            <a:avLst/>
          </a:prstGeom>
          <a:noFill/>
          <a:ln/>
        </p:spPr>
        <p:txBody>
          <a:bodyPr wrap="square" lIns="0" tIns="0" rIns="0" bIns="0" rtlCol="0" anchor="ctr"/>
          <a:lstStyle/>
          <a:p>
            <a:pPr indent="0" marL="0">
              <a:buNone/>
            </a:pPr>
            <a:r>
              <a:rPr lang="en-US" sz="700" b="1" spc="40" kern="0" dirty="0">
                <a:solidFill>
                  <a:srgbClr val="6B7280"/>
                </a:solidFill>
                <a:latin typeface="Calibri" pitchFamily="34" charset="0"/>
                <a:ea typeface="Calibri" pitchFamily="34" charset="-122"/>
                <a:cs typeface="Calibri" pitchFamily="34" charset="-120"/>
              </a:rPr>
              <a:t>WHAT IS INSIDE EACH PARCEL</a:t>
            </a:r>
            <a:endParaRPr lang="en-US" sz="700" dirty="0"/>
          </a:p>
        </p:txBody>
      </p:sp>
      <p:sp>
        <p:nvSpPr>
          <p:cNvPr id="78" name="Text 76"/>
          <p:cNvSpPr/>
          <p:nvPr/>
        </p:nvSpPr>
        <p:spPr>
          <a:xfrm>
            <a:off x="621792" y="273405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OCCTGeometry</a:t>
            </a:r>
            <a:endParaRPr lang="en-US" sz="640" dirty="0"/>
          </a:p>
        </p:txBody>
      </p:sp>
      <p:sp>
        <p:nvSpPr>
          <p:cNvPr id="79" name="Text 77"/>
          <p:cNvSpPr/>
          <p:nvPr/>
        </p:nvSpPr>
        <p:spPr>
          <a:xfrm>
            <a:off x="1847088" y="273405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bounding box · volume · wall thickness · draft angles · setup count · hole and boss table</a:t>
            </a:r>
            <a:endParaRPr lang="en-US" sz="640" dirty="0"/>
          </a:p>
        </p:txBody>
      </p:sp>
      <p:sp>
        <p:nvSpPr>
          <p:cNvPr id="80" name="Text 78"/>
          <p:cNvSpPr/>
          <p:nvPr/>
        </p:nvSpPr>
        <p:spPr>
          <a:xfrm>
            <a:off x="621792" y="291693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UniversalStackInput</a:t>
            </a:r>
            <a:endParaRPr lang="en-US" sz="640" dirty="0"/>
          </a:p>
        </p:txBody>
      </p:sp>
      <p:sp>
        <p:nvSpPr>
          <p:cNvPr id="81" name="Text 79"/>
          <p:cNvSpPr/>
          <p:nvPr/>
        </p:nvSpPr>
        <p:spPr>
          <a:xfrm>
            <a:off x="1847088" y="291693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material and utilisation · per-operation cycle time, OEE, manning · tooling · overhead · margin</a:t>
            </a:r>
            <a:endParaRPr lang="en-US" sz="640" dirty="0"/>
          </a:p>
        </p:txBody>
      </p:sp>
      <p:sp>
        <p:nvSpPr>
          <p:cNvPr id="82" name="Text 80"/>
          <p:cNvSpPr/>
          <p:nvPr/>
        </p:nvSpPr>
        <p:spPr>
          <a:xfrm>
            <a:off x="6245352" y="273405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PartCostResult</a:t>
            </a:r>
            <a:endParaRPr lang="en-US" sz="640" dirty="0"/>
          </a:p>
        </p:txBody>
      </p:sp>
      <p:sp>
        <p:nvSpPr>
          <p:cNvPr id="83" name="Text 81"/>
          <p:cNvSpPr/>
          <p:nvPr/>
        </p:nvSpPr>
        <p:spPr>
          <a:xfrm>
            <a:off x="7470648" y="273405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the 8 buckets · cost per operation · total · a traceability row per figure (value, unit, rate)</a:t>
            </a:r>
            <a:endParaRPr lang="en-US" sz="640" dirty="0"/>
          </a:p>
        </p:txBody>
      </p:sp>
      <p:sp>
        <p:nvSpPr>
          <p:cNvPr id="84" name="Text 82"/>
          <p:cNvSpPr/>
          <p:nvPr/>
        </p:nvSpPr>
        <p:spPr>
          <a:xfrm>
            <a:off x="6245352" y="291693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RankedOpportunities</a:t>
            </a:r>
            <a:endParaRPr lang="en-US" sz="640" dirty="0"/>
          </a:p>
        </p:txBody>
      </p:sp>
      <p:sp>
        <p:nvSpPr>
          <p:cNvPr id="85" name="Text 83"/>
          <p:cNvSpPr/>
          <p:nvPr/>
        </p:nvSpPr>
        <p:spPr>
          <a:xfrm>
            <a:off x="7470648" y="291693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each idea with its saving in £/part, risk, timeframe and owner — grouped by category, biggest first</a:t>
            </a:r>
            <a:endParaRPr lang="en-US" sz="640" dirty="0"/>
          </a:p>
        </p:txBody>
      </p:sp>
      <p:sp>
        <p:nvSpPr>
          <p:cNvPr id="86" name="Text 84"/>
          <p:cNvSpPr/>
          <p:nvPr/>
        </p:nvSpPr>
        <p:spPr>
          <a:xfrm>
            <a:off x="457200" y="3236976"/>
            <a:ext cx="233172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Component</a:t>
            </a:r>
            <a:endParaRPr lang="en-US" sz="800" dirty="0"/>
          </a:p>
        </p:txBody>
      </p:sp>
      <p:sp>
        <p:nvSpPr>
          <p:cNvPr id="87" name="Text 85"/>
          <p:cNvSpPr/>
          <p:nvPr/>
        </p:nvSpPr>
        <p:spPr>
          <a:xfrm>
            <a:off x="2788920" y="3236976"/>
            <a:ext cx="269748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Built with</a:t>
            </a:r>
            <a:endParaRPr lang="en-US" sz="800" dirty="0"/>
          </a:p>
        </p:txBody>
      </p:sp>
      <p:sp>
        <p:nvSpPr>
          <p:cNvPr id="88" name="Text 86"/>
          <p:cNvSpPr/>
          <p:nvPr/>
        </p:nvSpPr>
        <p:spPr>
          <a:xfrm>
            <a:off x="5577840" y="3236976"/>
            <a:ext cx="731520" cy="219456"/>
          </a:xfrm>
          <a:prstGeom prst="rect">
            <a:avLst/>
          </a:prstGeom>
          <a:solidFill>
            <a:srgbClr val="16325C"/>
          </a:solidFill>
          <a:ln/>
        </p:spPr>
        <p:txBody>
          <a:bodyPr wrap="square" lIns="762" tIns="762" rIns="762" bIns="762"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Lines</a:t>
            </a:r>
            <a:endParaRPr lang="en-US" sz="800" dirty="0"/>
          </a:p>
        </p:txBody>
      </p:sp>
      <p:sp>
        <p:nvSpPr>
          <p:cNvPr id="89" name="Text 87"/>
          <p:cNvSpPr/>
          <p:nvPr/>
        </p:nvSpPr>
        <p:spPr>
          <a:xfrm>
            <a:off x="6601968" y="3236976"/>
            <a:ext cx="219456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Free to use?</a:t>
            </a:r>
            <a:endParaRPr lang="en-US" sz="800" dirty="0"/>
          </a:p>
        </p:txBody>
      </p:sp>
      <p:sp>
        <p:nvSpPr>
          <p:cNvPr id="90" name="Text 88"/>
          <p:cNvSpPr/>
          <p:nvPr/>
        </p:nvSpPr>
        <p:spPr>
          <a:xfrm>
            <a:off x="8887968" y="3236976"/>
            <a:ext cx="2843784"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Calls out to the internet?</a:t>
            </a:r>
            <a:endParaRPr lang="en-US" sz="800" dirty="0"/>
          </a:p>
        </p:txBody>
      </p:sp>
      <p:sp>
        <p:nvSpPr>
          <p:cNvPr id="91" name="Text 89"/>
          <p:cNvSpPr/>
          <p:nvPr/>
        </p:nvSpPr>
        <p:spPr>
          <a:xfrm>
            <a:off x="457200" y="3456432"/>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Geometry kernel</a:t>
            </a:r>
            <a:endParaRPr lang="en-US" sz="740" dirty="0"/>
          </a:p>
        </p:txBody>
      </p:sp>
      <p:sp>
        <p:nvSpPr>
          <p:cNvPr id="92" name="Text 90"/>
          <p:cNvSpPr/>
          <p:nvPr/>
        </p:nvSpPr>
        <p:spPr>
          <a:xfrm>
            <a:off x="2788920" y="3456432"/>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Python 3 + Open CASCADE (via OCP)</a:t>
            </a:r>
            <a:endParaRPr lang="en-US" sz="740" dirty="0"/>
          </a:p>
        </p:txBody>
      </p:sp>
      <p:sp>
        <p:nvSpPr>
          <p:cNvPr id="93" name="Text 91"/>
          <p:cNvSpPr/>
          <p:nvPr/>
        </p:nvSpPr>
        <p:spPr>
          <a:xfrm>
            <a:off x="5577840" y="3456432"/>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1,587</a:t>
            </a:r>
            <a:endParaRPr lang="en-US" sz="740" dirty="0"/>
          </a:p>
        </p:txBody>
      </p:sp>
      <p:sp>
        <p:nvSpPr>
          <p:cNvPr id="94" name="Text 92"/>
          <p:cNvSpPr/>
          <p:nvPr/>
        </p:nvSpPr>
        <p:spPr>
          <a:xfrm>
            <a:off x="6601968" y="3456432"/>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LGPL-2.1 + exc. / Apache-2.0</a:t>
            </a:r>
            <a:endParaRPr lang="en-US" sz="740" dirty="0"/>
          </a:p>
        </p:txBody>
      </p:sp>
      <p:sp>
        <p:nvSpPr>
          <p:cNvPr id="95" name="Text 93"/>
          <p:cNvSpPr/>
          <p:nvPr/>
        </p:nvSpPr>
        <p:spPr>
          <a:xfrm>
            <a:off x="8887968" y="3456432"/>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96" name="Text 94"/>
          <p:cNvSpPr/>
          <p:nvPr/>
        </p:nvSpPr>
        <p:spPr>
          <a:xfrm>
            <a:off x="457200" y="363565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3D viewer</a:t>
            </a:r>
            <a:endParaRPr lang="en-US" sz="740" dirty="0"/>
          </a:p>
        </p:txBody>
      </p:sp>
      <p:sp>
        <p:nvSpPr>
          <p:cNvPr id="97" name="Text 95"/>
          <p:cNvSpPr/>
          <p:nvPr/>
        </p:nvSpPr>
        <p:spPr>
          <a:xfrm>
            <a:off x="2788920" y="363565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three.js (WebGL)</a:t>
            </a:r>
            <a:endParaRPr lang="en-US" sz="740" dirty="0"/>
          </a:p>
        </p:txBody>
      </p:sp>
      <p:sp>
        <p:nvSpPr>
          <p:cNvPr id="98" name="Text 96"/>
          <p:cNvSpPr/>
          <p:nvPr/>
        </p:nvSpPr>
        <p:spPr>
          <a:xfrm>
            <a:off x="5577840" y="363565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2,334</a:t>
            </a:r>
            <a:endParaRPr lang="en-US" sz="740" dirty="0"/>
          </a:p>
        </p:txBody>
      </p:sp>
      <p:sp>
        <p:nvSpPr>
          <p:cNvPr id="99" name="Text 97"/>
          <p:cNvSpPr/>
          <p:nvPr/>
        </p:nvSpPr>
        <p:spPr>
          <a:xfrm>
            <a:off x="6601968" y="363565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00" name="Text 98"/>
          <p:cNvSpPr/>
          <p:nvPr/>
        </p:nvSpPr>
        <p:spPr>
          <a:xfrm>
            <a:off x="8887968" y="363565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01" name="Text 99"/>
          <p:cNvSpPr/>
          <p:nvPr/>
        </p:nvSpPr>
        <p:spPr>
          <a:xfrm>
            <a:off x="457200" y="3814877"/>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Cost engine (core + 18 modules)</a:t>
            </a:r>
            <a:endParaRPr lang="en-US" sz="740" dirty="0"/>
          </a:p>
        </p:txBody>
      </p:sp>
      <p:sp>
        <p:nvSpPr>
          <p:cNvPr id="102" name="Text 100"/>
          <p:cNvSpPr/>
          <p:nvPr/>
        </p:nvSpPr>
        <p:spPr>
          <a:xfrm>
            <a:off x="2788920" y="3814877"/>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no framework</a:t>
            </a:r>
            <a:endParaRPr lang="en-US" sz="740" dirty="0"/>
          </a:p>
        </p:txBody>
      </p:sp>
      <p:sp>
        <p:nvSpPr>
          <p:cNvPr id="103" name="Text 101"/>
          <p:cNvSpPr/>
          <p:nvPr/>
        </p:nvSpPr>
        <p:spPr>
          <a:xfrm>
            <a:off x="5577840" y="3814877"/>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29,229</a:t>
            </a:r>
            <a:endParaRPr lang="en-US" sz="740" dirty="0"/>
          </a:p>
        </p:txBody>
      </p:sp>
      <p:sp>
        <p:nvSpPr>
          <p:cNvPr id="104" name="Text 102"/>
          <p:cNvSpPr/>
          <p:nvPr/>
        </p:nvSpPr>
        <p:spPr>
          <a:xfrm>
            <a:off x="6601968" y="3814877"/>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05" name="Text 103"/>
          <p:cNvSpPr/>
          <p:nvPr/>
        </p:nvSpPr>
        <p:spPr>
          <a:xfrm>
            <a:off x="8887968" y="3814877"/>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06" name="Text 104"/>
          <p:cNvSpPr/>
          <p:nvPr/>
        </p:nvSpPr>
        <p:spPr>
          <a:xfrm>
            <a:off x="457200" y="3994099"/>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Cost-input rules (162 of them)</a:t>
            </a:r>
            <a:endParaRPr lang="en-US" sz="740" dirty="0"/>
          </a:p>
        </p:txBody>
      </p:sp>
      <p:sp>
        <p:nvSpPr>
          <p:cNvPr id="107" name="Text 105"/>
          <p:cNvSpPr/>
          <p:nvPr/>
        </p:nvSpPr>
        <p:spPr>
          <a:xfrm>
            <a:off x="2788920" y="3994099"/>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inside the engine</a:t>
            </a:r>
            <a:endParaRPr lang="en-US" sz="740" dirty="0"/>
          </a:p>
        </p:txBody>
      </p:sp>
      <p:sp>
        <p:nvSpPr>
          <p:cNvPr id="108" name="Text 106"/>
          <p:cNvSpPr/>
          <p:nvPr/>
        </p:nvSpPr>
        <p:spPr>
          <a:xfrm>
            <a:off x="5577840" y="3994099"/>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7,525</a:t>
            </a:r>
            <a:endParaRPr lang="en-US" sz="740" dirty="0"/>
          </a:p>
        </p:txBody>
      </p:sp>
      <p:sp>
        <p:nvSpPr>
          <p:cNvPr id="109" name="Text 107"/>
          <p:cNvSpPr/>
          <p:nvPr/>
        </p:nvSpPr>
        <p:spPr>
          <a:xfrm>
            <a:off x="6601968" y="3994099"/>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10" name="Text 108"/>
          <p:cNvSpPr/>
          <p:nvPr/>
        </p:nvSpPr>
        <p:spPr>
          <a:xfrm>
            <a:off x="8887968" y="3994099"/>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11" name="Text 109"/>
          <p:cNvSpPr/>
          <p:nvPr/>
        </p:nvSpPr>
        <p:spPr>
          <a:xfrm>
            <a:off x="457200" y="4173322"/>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Optimisers + DFM / idea levers</a:t>
            </a:r>
            <a:endParaRPr lang="en-US" sz="740" dirty="0"/>
          </a:p>
        </p:txBody>
      </p:sp>
      <p:sp>
        <p:nvSpPr>
          <p:cNvPr id="112" name="Text 110"/>
          <p:cNvSpPr/>
          <p:nvPr/>
        </p:nvSpPr>
        <p:spPr>
          <a:xfrm>
            <a:off x="2788920" y="4173322"/>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inside the engine</a:t>
            </a:r>
            <a:endParaRPr lang="en-US" sz="740" dirty="0"/>
          </a:p>
        </p:txBody>
      </p:sp>
      <p:sp>
        <p:nvSpPr>
          <p:cNvPr id="113" name="Text 111"/>
          <p:cNvSpPr/>
          <p:nvPr/>
        </p:nvSpPr>
        <p:spPr>
          <a:xfrm>
            <a:off x="5577840" y="4173322"/>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1,973</a:t>
            </a:r>
            <a:endParaRPr lang="en-US" sz="740" dirty="0"/>
          </a:p>
        </p:txBody>
      </p:sp>
      <p:sp>
        <p:nvSpPr>
          <p:cNvPr id="114" name="Text 112"/>
          <p:cNvSpPr/>
          <p:nvPr/>
        </p:nvSpPr>
        <p:spPr>
          <a:xfrm>
            <a:off x="6601968" y="4173322"/>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15" name="Text 113"/>
          <p:cNvSpPr/>
          <p:nvPr/>
        </p:nvSpPr>
        <p:spPr>
          <a:xfrm>
            <a:off x="8887968" y="4173322"/>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16" name="Text 114"/>
          <p:cNvSpPr/>
          <p:nvPr/>
        </p:nvSpPr>
        <p:spPr>
          <a:xfrm>
            <a:off x="457200" y="435254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Guardrails + self-audit</a:t>
            </a:r>
            <a:endParaRPr lang="en-US" sz="740" dirty="0"/>
          </a:p>
        </p:txBody>
      </p:sp>
      <p:sp>
        <p:nvSpPr>
          <p:cNvPr id="117" name="Text 115"/>
          <p:cNvSpPr/>
          <p:nvPr/>
        </p:nvSpPr>
        <p:spPr>
          <a:xfrm>
            <a:off x="2788920" y="435254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(engine + server)</a:t>
            </a:r>
            <a:endParaRPr lang="en-US" sz="740" dirty="0"/>
          </a:p>
        </p:txBody>
      </p:sp>
      <p:sp>
        <p:nvSpPr>
          <p:cNvPr id="118" name="Text 116"/>
          <p:cNvSpPr/>
          <p:nvPr/>
        </p:nvSpPr>
        <p:spPr>
          <a:xfrm>
            <a:off x="5577840" y="435254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780</a:t>
            </a:r>
            <a:endParaRPr lang="en-US" sz="740" dirty="0"/>
          </a:p>
        </p:txBody>
      </p:sp>
      <p:sp>
        <p:nvSpPr>
          <p:cNvPr id="119" name="Text 117"/>
          <p:cNvSpPr/>
          <p:nvPr/>
        </p:nvSpPr>
        <p:spPr>
          <a:xfrm>
            <a:off x="6601968" y="435254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20" name="Text 118"/>
          <p:cNvSpPr/>
          <p:nvPr/>
        </p:nvSpPr>
        <p:spPr>
          <a:xfrm>
            <a:off x="8887968" y="435254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21" name="Text 119"/>
          <p:cNvSpPr/>
          <p:nvPr/>
        </p:nvSpPr>
        <p:spPr>
          <a:xfrm>
            <a:off x="457200" y="4531766"/>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Rate library — 20 regions</a:t>
            </a:r>
            <a:endParaRPr lang="en-US" sz="740" dirty="0"/>
          </a:p>
        </p:txBody>
      </p:sp>
      <p:sp>
        <p:nvSpPr>
          <p:cNvPr id="122" name="Text 120"/>
          <p:cNvSpPr/>
          <p:nvPr/>
        </p:nvSpPr>
        <p:spPr>
          <a:xfrm>
            <a:off x="2788920" y="4531766"/>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data files, in git</a:t>
            </a:r>
            <a:endParaRPr lang="en-US" sz="740" dirty="0"/>
          </a:p>
        </p:txBody>
      </p:sp>
      <p:sp>
        <p:nvSpPr>
          <p:cNvPr id="123" name="Text 121"/>
          <p:cNvSpPr/>
          <p:nvPr/>
        </p:nvSpPr>
        <p:spPr>
          <a:xfrm>
            <a:off x="5577840" y="4531766"/>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2,501</a:t>
            </a:r>
            <a:endParaRPr lang="en-US" sz="740" dirty="0"/>
          </a:p>
        </p:txBody>
      </p:sp>
      <p:sp>
        <p:nvSpPr>
          <p:cNvPr id="124" name="Text 122"/>
          <p:cNvSpPr/>
          <p:nvPr/>
        </p:nvSpPr>
        <p:spPr>
          <a:xfrm>
            <a:off x="6601968" y="4531766"/>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data</a:t>
            </a:r>
            <a:endParaRPr lang="en-US" sz="740" dirty="0"/>
          </a:p>
        </p:txBody>
      </p:sp>
      <p:sp>
        <p:nvSpPr>
          <p:cNvPr id="125" name="Text 123"/>
          <p:cNvSpPr/>
          <p:nvPr/>
        </p:nvSpPr>
        <p:spPr>
          <a:xfrm>
            <a:off x="8887968" y="4531766"/>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26" name="Text 124"/>
          <p:cNvSpPr/>
          <p:nvPr/>
        </p:nvSpPr>
        <p:spPr>
          <a:xfrm>
            <a:off x="457200" y="4710989"/>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Server + database</a:t>
            </a:r>
            <a:endParaRPr lang="en-US" sz="740" dirty="0"/>
          </a:p>
        </p:txBody>
      </p:sp>
      <p:sp>
        <p:nvSpPr>
          <p:cNvPr id="127" name="Text 125"/>
          <p:cNvSpPr/>
          <p:nvPr/>
        </p:nvSpPr>
        <p:spPr>
          <a:xfrm>
            <a:off x="2788920" y="4710989"/>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Express + SQLite</a:t>
            </a:r>
            <a:endParaRPr lang="en-US" sz="740" dirty="0"/>
          </a:p>
        </p:txBody>
      </p:sp>
      <p:sp>
        <p:nvSpPr>
          <p:cNvPr id="128" name="Text 126"/>
          <p:cNvSpPr/>
          <p:nvPr/>
        </p:nvSpPr>
        <p:spPr>
          <a:xfrm>
            <a:off x="5577840" y="4710989"/>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14,215</a:t>
            </a:r>
            <a:endParaRPr lang="en-US" sz="740" dirty="0"/>
          </a:p>
        </p:txBody>
      </p:sp>
      <p:sp>
        <p:nvSpPr>
          <p:cNvPr id="129" name="Text 127"/>
          <p:cNvSpPr/>
          <p:nvPr/>
        </p:nvSpPr>
        <p:spPr>
          <a:xfrm>
            <a:off x="6601968" y="4710989"/>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30" name="Text 128"/>
          <p:cNvSpPr/>
          <p:nvPr/>
        </p:nvSpPr>
        <p:spPr>
          <a:xfrm>
            <a:off x="8887968" y="4710989"/>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Localhost only</a:t>
            </a:r>
            <a:endParaRPr lang="en-US" sz="740" dirty="0"/>
          </a:p>
        </p:txBody>
      </p:sp>
      <p:sp>
        <p:nvSpPr>
          <p:cNvPr id="131" name="Text 129"/>
          <p:cNvSpPr/>
          <p:nvPr/>
        </p:nvSpPr>
        <p:spPr>
          <a:xfrm>
            <a:off x="457200" y="4890211"/>
            <a:ext cx="2331720" cy="179222"/>
          </a:xfrm>
          <a:prstGeom prst="rect">
            <a:avLst/>
          </a:prstGeom>
          <a:solidFill>
            <a:srgbClr val="F1EBF8"/>
          </a:solidFill>
          <a:ln/>
        </p:spPr>
        <p:txBody>
          <a:bodyPr wrap="square" lIns="762" tIns="762" rIns="762" bIns="762" rtlCol="0" anchor="ctr"/>
          <a:lstStyle/>
          <a:p>
            <a:pPr algn="l" indent="0" marL="0">
              <a:buNone/>
            </a:pPr>
            <a:r>
              <a:rPr lang="en-US" sz="740" b="1" dirty="0">
                <a:solidFill>
                  <a:srgbClr val="6B3FA0"/>
                </a:solidFill>
                <a:latin typeface="Calibri" pitchFamily="34" charset="0"/>
                <a:ea typeface="Calibri" pitchFamily="34" charset="-122"/>
                <a:cs typeface="Calibri" pitchFamily="34" charset="-120"/>
              </a:rPr>
              <a:t>AI classifier — OPTIONAL</a:t>
            </a:r>
            <a:endParaRPr lang="en-US" sz="740" dirty="0"/>
          </a:p>
        </p:txBody>
      </p:sp>
      <p:sp>
        <p:nvSpPr>
          <p:cNvPr id="132" name="Text 130"/>
          <p:cNvSpPr/>
          <p:nvPr/>
        </p:nvSpPr>
        <p:spPr>
          <a:xfrm>
            <a:off x="2788920" y="4890211"/>
            <a:ext cx="2697480" cy="179222"/>
          </a:xfrm>
          <a:prstGeom prst="rect">
            <a:avLst/>
          </a:prstGeom>
          <a:solidFill>
            <a:srgbClr val="F1EBF8"/>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Anthropic SDK</a:t>
            </a:r>
            <a:endParaRPr lang="en-US" sz="740" dirty="0"/>
          </a:p>
        </p:txBody>
      </p:sp>
      <p:sp>
        <p:nvSpPr>
          <p:cNvPr id="133" name="Text 131"/>
          <p:cNvSpPr/>
          <p:nvPr/>
        </p:nvSpPr>
        <p:spPr>
          <a:xfrm>
            <a:off x="5577840" y="4890211"/>
            <a:ext cx="731520" cy="179222"/>
          </a:xfrm>
          <a:prstGeom prst="rect">
            <a:avLst/>
          </a:prstGeom>
          <a:solidFill>
            <a:srgbClr val="F1EBF8"/>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~900</a:t>
            </a:r>
            <a:endParaRPr lang="en-US" sz="740" dirty="0"/>
          </a:p>
        </p:txBody>
      </p:sp>
      <p:sp>
        <p:nvSpPr>
          <p:cNvPr id="134" name="Text 132"/>
          <p:cNvSpPr/>
          <p:nvPr/>
        </p:nvSpPr>
        <p:spPr>
          <a:xfrm>
            <a:off x="6601968" y="4890211"/>
            <a:ext cx="2194560" cy="179222"/>
          </a:xfrm>
          <a:prstGeom prst="rect">
            <a:avLst/>
          </a:prstGeom>
          <a:solidFill>
            <a:srgbClr val="F1EBF8"/>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SDK free · API paid per token</a:t>
            </a:r>
            <a:endParaRPr lang="en-US" sz="740" dirty="0"/>
          </a:p>
        </p:txBody>
      </p:sp>
      <p:sp>
        <p:nvSpPr>
          <p:cNvPr id="135" name="Text 133"/>
          <p:cNvSpPr/>
          <p:nvPr/>
        </p:nvSpPr>
        <p:spPr>
          <a:xfrm>
            <a:off x="8887968" y="4890211"/>
            <a:ext cx="2843784" cy="179222"/>
          </a:xfrm>
          <a:prstGeom prst="rect">
            <a:avLst/>
          </a:prstGeom>
          <a:solidFill>
            <a:srgbClr val="F1EBF8"/>
          </a:solidFill>
          <a:ln/>
        </p:spPr>
        <p:txBody>
          <a:bodyPr wrap="square" lIns="762" tIns="762" rIns="762" bIns="762" rtlCol="0" anchor="ctr"/>
          <a:lstStyle/>
          <a:p>
            <a:pPr algn="l" indent="0" marL="0">
              <a:buNone/>
            </a:pPr>
            <a:r>
              <a:rPr lang="en-US" sz="740" b="1" dirty="0">
                <a:solidFill>
                  <a:srgbClr val="6B3FA0"/>
                </a:solidFill>
                <a:latin typeface="Calibri" pitchFamily="34" charset="0"/>
                <a:ea typeface="Calibri" pitchFamily="34" charset="-122"/>
                <a:cs typeface="Calibri" pitchFamily="34" charset="-120"/>
              </a:rPr>
              <a:t>YES — the only one</a:t>
            </a:r>
            <a:endParaRPr lang="en-US" sz="740" dirty="0"/>
          </a:p>
        </p:txBody>
      </p:sp>
      <p:sp>
        <p:nvSpPr>
          <p:cNvPr id="136" name="Text 134"/>
          <p:cNvSpPr/>
          <p:nvPr/>
        </p:nvSpPr>
        <p:spPr>
          <a:xfrm>
            <a:off x="457200" y="506943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Automated tests</a:t>
            </a:r>
            <a:endParaRPr lang="en-US" sz="740" dirty="0"/>
          </a:p>
        </p:txBody>
      </p:sp>
      <p:sp>
        <p:nvSpPr>
          <p:cNvPr id="137" name="Text 135"/>
          <p:cNvSpPr/>
          <p:nvPr/>
        </p:nvSpPr>
        <p:spPr>
          <a:xfrm>
            <a:off x="2788920" y="506943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Vitest</a:t>
            </a:r>
            <a:endParaRPr lang="en-US" sz="740" dirty="0"/>
          </a:p>
        </p:txBody>
      </p:sp>
      <p:sp>
        <p:nvSpPr>
          <p:cNvPr id="138" name="Text 136"/>
          <p:cNvSpPr/>
          <p:nvPr/>
        </p:nvSpPr>
        <p:spPr>
          <a:xfrm>
            <a:off x="5577840" y="506943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17,507</a:t>
            </a:r>
            <a:endParaRPr lang="en-US" sz="740" dirty="0"/>
          </a:p>
        </p:txBody>
      </p:sp>
      <p:sp>
        <p:nvSpPr>
          <p:cNvPr id="139" name="Text 137"/>
          <p:cNvSpPr/>
          <p:nvPr/>
        </p:nvSpPr>
        <p:spPr>
          <a:xfrm>
            <a:off x="6601968" y="506943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40" name="Text 138"/>
          <p:cNvSpPr/>
          <p:nvPr/>
        </p:nvSpPr>
        <p:spPr>
          <a:xfrm>
            <a:off x="8887968" y="506943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41" name="Text 139"/>
          <p:cNvSpPr/>
          <p:nvPr/>
        </p:nvSpPr>
        <p:spPr>
          <a:xfrm>
            <a:off x="457200" y="5266944"/>
            <a:ext cx="11274552" cy="164592"/>
          </a:xfrm>
          <a:prstGeom prst="rect">
            <a:avLst/>
          </a:prstGeom>
          <a:noFill/>
          <a:ln/>
        </p:spPr>
        <p:txBody>
          <a:bodyPr wrap="square" lIns="0" tIns="0" rIns="0" bIns="0" rtlCol="0" anchor="ctr"/>
          <a:lstStyle/>
          <a:p>
            <a:pPr indent="0" marL="0">
              <a:buNone/>
            </a:pPr>
            <a:r>
              <a:rPr lang="en-US" sz="690" i="1" dirty="0">
                <a:solidFill>
                  <a:srgbClr val="6B7280"/>
                </a:solidFill>
                <a:latin typeface="Calibri" pitchFamily="34" charset="0"/>
                <a:ea typeface="Calibri" pitchFamily="34" charset="-122"/>
                <a:cs typeface="Calibri" pitchFamily="34" charset="-120"/>
              </a:rPr>
              <a:t>Line counts measured from the repository. Licences as published by each project — worth a formal review before anything is distributed outside the company.</a:t>
            </a:r>
            <a:endParaRPr lang="en-US" sz="690" dirty="0"/>
          </a:p>
        </p:txBody>
      </p:sp>
      <p:sp>
        <p:nvSpPr>
          <p:cNvPr id="142" name="Shape 140"/>
          <p:cNvSpPr/>
          <p:nvPr/>
        </p:nvSpPr>
        <p:spPr>
          <a:xfrm>
            <a:off x="457200" y="5486400"/>
            <a:ext cx="11274552" cy="859536"/>
          </a:xfrm>
          <a:prstGeom prst="roundRect">
            <a:avLst>
              <a:gd name="adj" fmla="val 8511"/>
            </a:avLst>
          </a:prstGeom>
          <a:solidFill>
            <a:srgbClr val="FFFFFF"/>
          </a:solidFill>
          <a:ln w="19050">
            <a:solidFill>
              <a:srgbClr val="16325C"/>
            </a:solidFill>
            <a:prstDash val="solid"/>
          </a:ln>
        </p:spPr>
      </p:sp>
      <p:sp>
        <p:nvSpPr>
          <p:cNvPr id="143" name="Text 141"/>
          <p:cNvSpPr/>
          <p:nvPr/>
        </p:nvSpPr>
        <p:spPr>
          <a:xfrm>
            <a:off x="621792" y="5522976"/>
            <a:ext cx="5486400" cy="164592"/>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DOES IT CALL ANYTHING? — API, KPI AND TELEMETRY, IN FULL</a:t>
            </a:r>
            <a:endParaRPr lang="en-US" sz="780" dirty="0"/>
          </a:p>
        </p:txBody>
      </p:sp>
      <p:sp>
        <p:nvSpPr>
          <p:cNvPr id="144" name="Shape 142"/>
          <p:cNvSpPr/>
          <p:nvPr/>
        </p:nvSpPr>
        <p:spPr>
          <a:xfrm>
            <a:off x="621792" y="5751576"/>
            <a:ext cx="73152" cy="73152"/>
          </a:xfrm>
          <a:prstGeom prst="ellipse">
            <a:avLst/>
          </a:prstGeom>
          <a:solidFill>
            <a:srgbClr val="6B3FA0"/>
          </a:solidFill>
          <a:ln/>
        </p:spPr>
      </p:sp>
      <p:sp>
        <p:nvSpPr>
          <p:cNvPr id="145" name="Text 143"/>
          <p:cNvSpPr/>
          <p:nvPr/>
        </p:nvSpPr>
        <p:spPr>
          <a:xfrm>
            <a:off x="758952" y="5705856"/>
            <a:ext cx="914400" cy="146304"/>
          </a:xfrm>
          <a:prstGeom prst="rect">
            <a:avLst/>
          </a:prstGeom>
          <a:noFill/>
          <a:ln/>
        </p:spPr>
        <p:txBody>
          <a:bodyPr wrap="square" lIns="0" tIns="0" rIns="0" bIns="0" rtlCol="0" anchor="ctr"/>
          <a:lstStyle/>
          <a:p>
            <a:pPr indent="0" marL="0">
              <a:buNone/>
            </a:pPr>
            <a:r>
              <a:rPr lang="en-US" sz="720" b="1" dirty="0">
                <a:solidFill>
                  <a:srgbClr val="6B3FA0"/>
                </a:solidFill>
                <a:latin typeface="Calibri" pitchFamily="34" charset="0"/>
                <a:ea typeface="Calibri" pitchFamily="34" charset="-122"/>
                <a:cs typeface="Calibri" pitchFamily="34" charset="-120"/>
              </a:rPr>
              <a:t>API calls</a:t>
            </a:r>
            <a:endParaRPr lang="en-US" sz="720" dirty="0"/>
          </a:p>
        </p:txBody>
      </p:sp>
      <p:sp>
        <p:nvSpPr>
          <p:cNvPr id="146" name="Text 144"/>
          <p:cNvSpPr/>
          <p:nvPr/>
        </p:nvSpPr>
        <p:spPr>
          <a:xfrm>
            <a:off x="1691640" y="5705856"/>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One — and optional</a:t>
            </a:r>
            <a:endParaRPr lang="en-US" sz="720" dirty="0"/>
          </a:p>
        </p:txBody>
      </p:sp>
      <p:sp>
        <p:nvSpPr>
          <p:cNvPr id="147" name="Text 145"/>
          <p:cNvSpPr/>
          <p:nvPr/>
        </p:nvSpPr>
        <p:spPr>
          <a:xfrm>
            <a:off x="758952" y="5843016"/>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The AI classifier → api.anthropic.com, or your own endpoint. AIR_GAPPED=1 switches it off. The costing path never calls out.</a:t>
            </a:r>
            <a:endParaRPr lang="en-US" sz="650" dirty="0"/>
          </a:p>
        </p:txBody>
      </p:sp>
      <p:sp>
        <p:nvSpPr>
          <p:cNvPr id="148" name="Shape 146"/>
          <p:cNvSpPr/>
          <p:nvPr/>
        </p:nvSpPr>
        <p:spPr>
          <a:xfrm>
            <a:off x="621792" y="6044184"/>
            <a:ext cx="73152" cy="73152"/>
          </a:xfrm>
          <a:prstGeom prst="ellipse">
            <a:avLst/>
          </a:prstGeom>
          <a:solidFill>
            <a:srgbClr val="2E8B57"/>
          </a:solidFill>
          <a:ln/>
        </p:spPr>
      </p:sp>
      <p:sp>
        <p:nvSpPr>
          <p:cNvPr id="149" name="Text 147"/>
          <p:cNvSpPr/>
          <p:nvPr/>
        </p:nvSpPr>
        <p:spPr>
          <a:xfrm>
            <a:off x="758952" y="5998464"/>
            <a:ext cx="914400" cy="146304"/>
          </a:xfrm>
          <a:prstGeom prst="rect">
            <a:avLst/>
          </a:prstGeom>
          <a:noFill/>
          <a:ln/>
        </p:spPr>
        <p:txBody>
          <a:bodyPr wrap="square" lIns="0" tIns="0" rIns="0" bIns="0" rtlCol="0" anchor="ctr"/>
          <a:lstStyle/>
          <a:p>
            <a:pPr indent="0" marL="0">
              <a:buNone/>
            </a:pPr>
            <a:r>
              <a:rPr lang="en-US" sz="720" b="1" dirty="0">
                <a:solidFill>
                  <a:srgbClr val="2E8B57"/>
                </a:solidFill>
                <a:latin typeface="Calibri" pitchFamily="34" charset="0"/>
                <a:ea typeface="Calibri" pitchFamily="34" charset="-122"/>
                <a:cs typeface="Calibri" pitchFamily="34" charset="-120"/>
              </a:rPr>
              <a:t>KPI calls</a:t>
            </a:r>
            <a:endParaRPr lang="en-US" sz="720" dirty="0"/>
          </a:p>
        </p:txBody>
      </p:sp>
      <p:sp>
        <p:nvSpPr>
          <p:cNvPr id="150" name="Text 148"/>
          <p:cNvSpPr/>
          <p:nvPr/>
        </p:nvSpPr>
        <p:spPr>
          <a:xfrm>
            <a:off x="1691640" y="5998464"/>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None. Not one.</a:t>
            </a:r>
            <a:endParaRPr lang="en-US" sz="720" dirty="0"/>
          </a:p>
        </p:txBody>
      </p:sp>
      <p:sp>
        <p:nvSpPr>
          <p:cNvPr id="151" name="Text 149"/>
          <p:cNvSpPr/>
          <p:nvPr/>
        </p:nvSpPr>
        <p:spPr>
          <a:xfrm>
            <a:off x="758952" y="6135624"/>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No KPIs measured, no usage tracked, no per-seat licence check phoning home. No analytics call of any kind.</a:t>
            </a:r>
            <a:endParaRPr lang="en-US" sz="650" dirty="0"/>
          </a:p>
        </p:txBody>
      </p:sp>
      <p:sp>
        <p:nvSpPr>
          <p:cNvPr id="152" name="Shape 150"/>
          <p:cNvSpPr/>
          <p:nvPr/>
        </p:nvSpPr>
        <p:spPr>
          <a:xfrm>
            <a:off x="6245352" y="5751576"/>
            <a:ext cx="73152" cy="73152"/>
          </a:xfrm>
          <a:prstGeom prst="ellipse">
            <a:avLst/>
          </a:prstGeom>
          <a:solidFill>
            <a:srgbClr val="B7791F"/>
          </a:solidFill>
          <a:ln/>
        </p:spPr>
      </p:sp>
      <p:sp>
        <p:nvSpPr>
          <p:cNvPr id="153" name="Text 151"/>
          <p:cNvSpPr/>
          <p:nvPr/>
        </p:nvSpPr>
        <p:spPr>
          <a:xfrm>
            <a:off x="6382512" y="5705856"/>
            <a:ext cx="914400" cy="146304"/>
          </a:xfrm>
          <a:prstGeom prst="rect">
            <a:avLst/>
          </a:prstGeom>
          <a:noFill/>
          <a:ln/>
        </p:spPr>
        <p:txBody>
          <a:bodyPr wrap="square" lIns="0" tIns="0" rIns="0" bIns="0" rtlCol="0" anchor="ctr"/>
          <a:lstStyle/>
          <a:p>
            <a:pPr indent="0" marL="0">
              <a:buNone/>
            </a:pPr>
            <a:r>
              <a:rPr lang="en-US" sz="720" b="1" dirty="0">
                <a:solidFill>
                  <a:srgbClr val="B7791F"/>
                </a:solidFill>
                <a:latin typeface="Calibri" pitchFamily="34" charset="0"/>
                <a:ea typeface="Calibri" pitchFamily="34" charset="-122"/>
                <a:cs typeface="Calibri" pitchFamily="34" charset="-120"/>
              </a:rPr>
              <a:t>Error telemetry</a:t>
            </a:r>
            <a:endParaRPr lang="en-US" sz="720" dirty="0"/>
          </a:p>
        </p:txBody>
      </p:sp>
      <p:sp>
        <p:nvSpPr>
          <p:cNvPr id="154" name="Text 152"/>
          <p:cNvSpPr/>
          <p:nvPr/>
        </p:nvSpPr>
        <p:spPr>
          <a:xfrm>
            <a:off x="7315200" y="5705856"/>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Yes — stays in-house</a:t>
            </a:r>
            <a:endParaRPr lang="en-US" sz="720" dirty="0"/>
          </a:p>
        </p:txBody>
      </p:sp>
      <p:sp>
        <p:nvSpPr>
          <p:cNvPr id="155" name="Text 153"/>
          <p:cNvSpPr/>
          <p:nvPr/>
        </p:nvSpPr>
        <p:spPr>
          <a:xfrm>
            <a:off x="6382512" y="5843016"/>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Uncaught errors go to /api/telemetry/error on YOUR server, into YOUR log. No Sentry, no Analytics, no third party.</a:t>
            </a:r>
            <a:endParaRPr lang="en-US" sz="650" dirty="0"/>
          </a:p>
        </p:txBody>
      </p:sp>
      <p:sp>
        <p:nvSpPr>
          <p:cNvPr id="156" name="Shape 154"/>
          <p:cNvSpPr/>
          <p:nvPr/>
        </p:nvSpPr>
        <p:spPr>
          <a:xfrm>
            <a:off x="6245352" y="6044184"/>
            <a:ext cx="73152" cy="73152"/>
          </a:xfrm>
          <a:prstGeom prst="ellipse">
            <a:avLst/>
          </a:prstGeom>
          <a:solidFill>
            <a:srgbClr val="6B7280"/>
          </a:solidFill>
          <a:ln/>
        </p:spPr>
      </p:sp>
      <p:sp>
        <p:nvSpPr>
          <p:cNvPr id="157" name="Text 155"/>
          <p:cNvSpPr/>
          <p:nvPr/>
        </p:nvSpPr>
        <p:spPr>
          <a:xfrm>
            <a:off x="6382512" y="5998464"/>
            <a:ext cx="914400" cy="146304"/>
          </a:xfrm>
          <a:prstGeom prst="rect">
            <a:avLst/>
          </a:prstGeom>
          <a:noFill/>
          <a:ln/>
        </p:spPr>
        <p:txBody>
          <a:bodyPr wrap="square" lIns="0" tIns="0" rIns="0" bIns="0" rtlCol="0" anchor="ctr"/>
          <a:lstStyle/>
          <a:p>
            <a:pPr indent="0" marL="0">
              <a:buNone/>
            </a:pPr>
            <a:r>
              <a:rPr lang="en-US" sz="720" b="1" dirty="0">
                <a:solidFill>
                  <a:srgbClr val="6B7280"/>
                </a:solidFill>
                <a:latin typeface="Calibri" pitchFamily="34" charset="0"/>
                <a:ea typeface="Calibri" pitchFamily="34" charset="-122"/>
                <a:cs typeface="Calibri" pitchFamily="34" charset="-120"/>
              </a:rPr>
              <a:t>Optional feeds</a:t>
            </a:r>
            <a:endParaRPr lang="en-US" sz="720" dirty="0"/>
          </a:p>
        </p:txBody>
      </p:sp>
      <p:sp>
        <p:nvSpPr>
          <p:cNvPr id="158" name="Text 156"/>
          <p:cNvSpPr/>
          <p:nvPr/>
        </p:nvSpPr>
        <p:spPr>
          <a:xfrm>
            <a:off x="7315200" y="5998464"/>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Off by default</a:t>
            </a:r>
            <a:endParaRPr lang="en-US" sz="720" dirty="0"/>
          </a:p>
        </p:txBody>
      </p:sp>
      <p:sp>
        <p:nvSpPr>
          <p:cNvPr id="159" name="Text 157"/>
          <p:cNvSpPr/>
          <p:nvPr/>
        </p:nvSpPr>
        <p:spPr>
          <a:xfrm>
            <a:off x="6382512" y="6135624"/>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PCB component prices, metal ticker, industry news. Display-only — none of them can price a part.</a:t>
            </a:r>
            <a:endParaRPr lang="en-US" sz="650" dirty="0"/>
          </a:p>
        </p:txBody>
      </p:sp>
      <p:sp>
        <p:nvSpPr>
          <p:cNvPr id="160" name="Text 1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161" name="Text 1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50</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Backup — Data Contracts, Field by Field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exact objects behind the four parcels on the previous slide. Type and field names copied from the source</a:t>
            </a:r>
            <a:endParaRPr lang="en-US" sz="1200" dirty="0"/>
          </a:p>
        </p:txBody>
      </p:sp>
      <p:sp>
        <p:nvSpPr>
          <p:cNvPr id="5" name="Shape 3"/>
          <p:cNvSpPr/>
          <p:nvPr/>
        </p:nvSpPr>
        <p:spPr>
          <a:xfrm>
            <a:off x="9710928" y="237744"/>
            <a:ext cx="2020824" cy="274320"/>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710928" y="237744"/>
            <a:ext cx="2020824" cy="274320"/>
          </a:xfrm>
          <a:prstGeom prst="rect">
            <a:avLst/>
          </a:prstGeom>
          <a:noFill/>
          <a:ln/>
        </p:spPr>
        <p:txBody>
          <a:bodyPr wrap="square" lIns="0" tIns="0" rIns="0" bIns="0" rtlCol="0" anchor="ctr"/>
          <a:lstStyle/>
          <a:p>
            <a:pPr algn="ctr" indent="0" marL="0">
              <a:buNone/>
            </a:pPr>
            <a:r>
              <a:rPr lang="en-US" sz="800" b="1" dirty="0">
                <a:solidFill>
                  <a:srgbClr val="B7791F"/>
                </a:solidFill>
                <a:latin typeface="Calibri" pitchFamily="34" charset="0"/>
                <a:ea typeface="Calibri" pitchFamily="34" charset="-122"/>
                <a:cs typeface="Calibri" pitchFamily="34" charset="-120"/>
              </a:rPr>
              <a:t>BACKUP — ONLY IF ASKED</a:t>
            </a:r>
            <a:endParaRPr lang="en-US" sz="800" dirty="0"/>
          </a:p>
        </p:txBody>
      </p:sp>
      <p:sp>
        <p:nvSpPr>
          <p:cNvPr id="7" name="Shape 5"/>
          <p:cNvSpPr/>
          <p:nvPr/>
        </p:nvSpPr>
        <p:spPr>
          <a:xfrm>
            <a:off x="457200" y="1042416"/>
            <a:ext cx="2139696" cy="3127248"/>
          </a:xfrm>
          <a:prstGeom prst="roundRect">
            <a:avLst>
              <a:gd name="adj" fmla="val 3846"/>
            </a:avLst>
          </a:prstGeom>
          <a:solidFill>
            <a:srgbClr val="FFFFFF"/>
          </a:solidFill>
          <a:ln w="17780">
            <a:solidFill>
              <a:srgbClr val="B7791F"/>
            </a:solidFill>
            <a:prstDash val="solid"/>
          </a:ln>
        </p:spPr>
      </p:sp>
      <p:sp>
        <p:nvSpPr>
          <p:cNvPr id="8" name="Shape 6"/>
          <p:cNvSpPr/>
          <p:nvPr/>
        </p:nvSpPr>
        <p:spPr>
          <a:xfrm>
            <a:off x="457200" y="1042416"/>
            <a:ext cx="2139696" cy="384048"/>
          </a:xfrm>
          <a:prstGeom prst="roundRect">
            <a:avLst>
              <a:gd name="adj" fmla="val 21429"/>
            </a:avLst>
          </a:prstGeom>
          <a:solidFill>
            <a:srgbClr val="B7791F"/>
          </a:solidFill>
          <a:ln/>
        </p:spPr>
      </p:sp>
      <p:sp>
        <p:nvSpPr>
          <p:cNvPr id="9" name="Shape 7"/>
          <p:cNvSpPr/>
          <p:nvPr/>
        </p:nvSpPr>
        <p:spPr>
          <a:xfrm>
            <a:off x="457200" y="1280160"/>
            <a:ext cx="2139696" cy="146304"/>
          </a:xfrm>
          <a:prstGeom prst="rect">
            <a:avLst/>
          </a:prstGeom>
          <a:solidFill>
            <a:srgbClr val="B7791F"/>
          </a:solidFill>
          <a:ln/>
        </p:spPr>
      </p:sp>
      <p:sp>
        <p:nvSpPr>
          <p:cNvPr id="10" name="Shape 8"/>
          <p:cNvSpPr/>
          <p:nvPr/>
        </p:nvSpPr>
        <p:spPr>
          <a:xfrm>
            <a:off x="557784" y="1124712"/>
            <a:ext cx="219456" cy="219456"/>
          </a:xfrm>
          <a:prstGeom prst="ellipse">
            <a:avLst/>
          </a:prstGeom>
          <a:solidFill>
            <a:srgbClr val="FFFFFF"/>
          </a:solidFill>
          <a:ln/>
        </p:spPr>
      </p:sp>
      <p:sp>
        <p:nvSpPr>
          <p:cNvPr id="11" name="Text 9"/>
          <p:cNvSpPr/>
          <p:nvPr/>
        </p:nvSpPr>
        <p:spPr>
          <a:xfrm>
            <a:off x="557784" y="1124712"/>
            <a:ext cx="219456" cy="219456"/>
          </a:xfrm>
          <a:prstGeom prst="rect">
            <a:avLst/>
          </a:prstGeom>
          <a:noFill/>
          <a:ln/>
        </p:spPr>
        <p:txBody>
          <a:bodyPr wrap="square" lIns="0" tIns="0" rIns="0" bIns="0" rtlCol="0" anchor="ctr"/>
          <a:lstStyle/>
          <a:p>
            <a:pPr algn="ctr" indent="0" marL="0">
              <a:buNone/>
            </a:pPr>
            <a:r>
              <a:rPr lang="en-US" sz="800" b="1" dirty="0">
                <a:solidFill>
                  <a:srgbClr val="B7791F"/>
                </a:solidFill>
                <a:latin typeface="Calibri" pitchFamily="34" charset="0"/>
                <a:ea typeface="Calibri" pitchFamily="34" charset="-122"/>
                <a:cs typeface="Calibri" pitchFamily="34" charset="-120"/>
              </a:rPr>
              <a:t>1</a:t>
            </a:r>
            <a:endParaRPr lang="en-US" sz="800" dirty="0"/>
          </a:p>
        </p:txBody>
      </p:sp>
      <p:sp>
        <p:nvSpPr>
          <p:cNvPr id="12" name="Text 10"/>
          <p:cNvSpPr/>
          <p:nvPr/>
        </p:nvSpPr>
        <p:spPr>
          <a:xfrm>
            <a:off x="841248"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OCCTGeometry</a:t>
            </a:r>
            <a:endParaRPr lang="en-US" sz="840" dirty="0"/>
          </a:p>
        </p:txBody>
      </p:sp>
      <p:sp>
        <p:nvSpPr>
          <p:cNvPr id="13" name="Text 11"/>
          <p:cNvSpPr/>
          <p:nvPr/>
        </p:nvSpPr>
        <p:spPr>
          <a:xfrm>
            <a:off x="841248"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Python kernel → JSON on stdout</a:t>
            </a:r>
            <a:endParaRPr lang="en-US" sz="660" dirty="0"/>
          </a:p>
        </p:txBody>
      </p:sp>
      <p:sp>
        <p:nvSpPr>
          <p:cNvPr id="14" name="Text 12"/>
          <p:cNvSpPr/>
          <p:nvPr/>
        </p:nvSpPr>
        <p:spPr>
          <a:xfrm>
            <a:off x="566928"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status: success|error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boundingBox: {xMm,yMm,zMm}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volume: {mm3, cm3}</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surfaceArea: {mm2, cm2}</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fillRatio: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topology: {solidCount,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shellCount, voidCount,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enclosesSealedVoid,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openShell}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wallThickness: {minMm,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maxMm, meanMm, p95Mm,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method, uniformity}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draftAnalysis: {undercut-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FaceCount, minPositive-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DraftDeg,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setupAnalysis: {estimated-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SetupCount, principal-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Directions[]}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cncCycleTimeEstimate: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weights: {aluminiumKg,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steelKg, plasticKg}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featureTable, detected-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Hardware, bendCount</a:t>
            </a:r>
            <a:endParaRPr lang="en-US" sz="610" dirty="0"/>
          </a:p>
        </p:txBody>
      </p:sp>
      <p:sp>
        <p:nvSpPr>
          <p:cNvPr id="15" name="Text 13"/>
          <p:cNvSpPr/>
          <p:nvPr/>
        </p:nvSpPr>
        <p:spPr>
          <a:xfrm>
            <a:off x="566928" y="3950208"/>
            <a:ext cx="1920240" cy="182880"/>
          </a:xfrm>
          <a:prstGeom prst="rect">
            <a:avLst/>
          </a:prstGeom>
          <a:noFill/>
          <a:ln/>
        </p:spPr>
        <p:txBody>
          <a:bodyPr wrap="square" lIns="0" tIns="0" rIns="0" bIns="0" rtlCol="0" anchor="ctr"/>
          <a:lstStyle/>
          <a:p>
            <a:pPr indent="0" marL="0">
              <a:buNone/>
            </a:pPr>
            <a:r>
              <a:rPr lang="en-US" sz="660" i="1" dirty="0">
                <a:solidFill>
                  <a:srgbClr val="B7791F"/>
                </a:solidFill>
                <a:latin typeface="Calibri" pitchFamily="34" charset="0"/>
                <a:ea typeface="Calibri" pitchFamily="34" charset="-122"/>
                <a:cs typeface="Calibri" pitchFamily="34" charset="-120"/>
              </a:rPr>
              <a:t>Measured. Never guessed.</a:t>
            </a:r>
            <a:endParaRPr lang="en-US" sz="660" dirty="0"/>
          </a:p>
        </p:txBody>
      </p:sp>
      <p:sp>
        <p:nvSpPr>
          <p:cNvPr id="16" name="Shape 14"/>
          <p:cNvSpPr/>
          <p:nvPr/>
        </p:nvSpPr>
        <p:spPr>
          <a:xfrm>
            <a:off x="2738628" y="1042416"/>
            <a:ext cx="2139696" cy="3127248"/>
          </a:xfrm>
          <a:prstGeom prst="roundRect">
            <a:avLst>
              <a:gd name="adj" fmla="val 3846"/>
            </a:avLst>
          </a:prstGeom>
          <a:solidFill>
            <a:srgbClr val="FFFFFF"/>
          </a:solidFill>
          <a:ln w="17780">
            <a:solidFill>
              <a:srgbClr val="0E8074"/>
            </a:solidFill>
            <a:prstDash val="solid"/>
          </a:ln>
        </p:spPr>
      </p:sp>
      <p:sp>
        <p:nvSpPr>
          <p:cNvPr id="17" name="Shape 15"/>
          <p:cNvSpPr/>
          <p:nvPr/>
        </p:nvSpPr>
        <p:spPr>
          <a:xfrm>
            <a:off x="2738628" y="1042416"/>
            <a:ext cx="2139696" cy="384048"/>
          </a:xfrm>
          <a:prstGeom prst="roundRect">
            <a:avLst>
              <a:gd name="adj" fmla="val 21429"/>
            </a:avLst>
          </a:prstGeom>
          <a:solidFill>
            <a:srgbClr val="0E8074"/>
          </a:solidFill>
          <a:ln/>
        </p:spPr>
      </p:sp>
      <p:sp>
        <p:nvSpPr>
          <p:cNvPr id="18" name="Shape 16"/>
          <p:cNvSpPr/>
          <p:nvPr/>
        </p:nvSpPr>
        <p:spPr>
          <a:xfrm>
            <a:off x="2738628" y="1280160"/>
            <a:ext cx="2139696" cy="146304"/>
          </a:xfrm>
          <a:prstGeom prst="rect">
            <a:avLst/>
          </a:prstGeom>
          <a:solidFill>
            <a:srgbClr val="0E8074"/>
          </a:solidFill>
          <a:ln/>
        </p:spPr>
      </p:sp>
      <p:sp>
        <p:nvSpPr>
          <p:cNvPr id="19" name="Shape 17"/>
          <p:cNvSpPr/>
          <p:nvPr/>
        </p:nvSpPr>
        <p:spPr>
          <a:xfrm>
            <a:off x="2839212" y="1124712"/>
            <a:ext cx="219456" cy="219456"/>
          </a:xfrm>
          <a:prstGeom prst="ellipse">
            <a:avLst/>
          </a:prstGeom>
          <a:solidFill>
            <a:srgbClr val="FFFFFF"/>
          </a:solidFill>
          <a:ln/>
        </p:spPr>
      </p:sp>
      <p:sp>
        <p:nvSpPr>
          <p:cNvPr id="20" name="Text 18"/>
          <p:cNvSpPr/>
          <p:nvPr/>
        </p:nvSpPr>
        <p:spPr>
          <a:xfrm>
            <a:off x="2839212" y="1124712"/>
            <a:ext cx="219456" cy="219456"/>
          </a:xfrm>
          <a:prstGeom prst="rect">
            <a:avLst/>
          </a:prstGeom>
          <a:noFill/>
          <a:ln/>
        </p:spPr>
        <p:txBody>
          <a:bodyPr wrap="square" lIns="0" tIns="0" rIns="0" bIns="0" rtlCol="0" anchor="ctr"/>
          <a:lstStyle/>
          <a:p>
            <a:pPr algn="ctr" indent="0" marL="0">
              <a:buNone/>
            </a:pPr>
            <a:r>
              <a:rPr lang="en-US" sz="800" b="1" dirty="0">
                <a:solidFill>
                  <a:srgbClr val="0E8074"/>
                </a:solidFill>
                <a:latin typeface="Calibri" pitchFamily="34" charset="0"/>
                <a:ea typeface="Calibri" pitchFamily="34" charset="-122"/>
                <a:cs typeface="Calibri" pitchFamily="34" charset="-120"/>
              </a:rPr>
              <a:t>2</a:t>
            </a:r>
            <a:endParaRPr lang="en-US" sz="800" dirty="0"/>
          </a:p>
        </p:txBody>
      </p:sp>
      <p:sp>
        <p:nvSpPr>
          <p:cNvPr id="21" name="Text 19"/>
          <p:cNvSpPr/>
          <p:nvPr/>
        </p:nvSpPr>
        <p:spPr>
          <a:xfrm>
            <a:off x="3122676"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UniversalStackInput</a:t>
            </a:r>
            <a:endParaRPr lang="en-US" sz="840" dirty="0"/>
          </a:p>
        </p:txBody>
      </p:sp>
      <p:sp>
        <p:nvSpPr>
          <p:cNvPr id="22" name="Text 20"/>
          <p:cNvSpPr/>
          <p:nvPr/>
        </p:nvSpPr>
        <p:spPr>
          <a:xfrm>
            <a:off x="3122676"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162 rules + engineer answers</a:t>
            </a:r>
            <a:endParaRPr lang="en-US" sz="660" dirty="0"/>
          </a:p>
        </p:txBody>
      </p:sp>
      <p:sp>
        <p:nvSpPr>
          <p:cNvPr id="23" name="Text 21"/>
          <p:cNvSpPr/>
          <p:nvPr/>
        </p:nvSpPr>
        <p:spPr>
          <a:xfrm>
            <a:off x="2848356"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rawMaterial: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materialId: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netWeightKg: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materialUtilization: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directCost?: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consumablesCostPerPart?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operations: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operationName: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machineId: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cycleTimeHr: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partsPerCycle: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oee: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manning: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labourTimeHr: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labourEfficiency: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tooling: {totalToolingCost,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amortizationVolume, mode}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packagingPerPart: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logisticsPerPart: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overheadPct · marginPct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annualVolume?</a:t>
            </a:r>
            <a:endParaRPr lang="en-US" sz="610" dirty="0"/>
          </a:p>
        </p:txBody>
      </p:sp>
      <p:sp>
        <p:nvSpPr>
          <p:cNvPr id="24" name="Text 22"/>
          <p:cNvSpPr/>
          <p:nvPr/>
        </p:nvSpPr>
        <p:spPr>
          <a:xfrm>
            <a:off x="2848356" y="3950208"/>
            <a:ext cx="1920240" cy="182880"/>
          </a:xfrm>
          <a:prstGeom prst="rect">
            <a:avLst/>
          </a:prstGeom>
          <a:noFill/>
          <a:ln/>
        </p:spPr>
        <p:txBody>
          <a:bodyPr wrap="square" lIns="0" tIns="0" rIns="0" bIns="0" rtlCol="0" anchor="ctr"/>
          <a:lstStyle/>
          <a:p>
            <a:pPr indent="0" marL="0">
              <a:buNone/>
            </a:pPr>
            <a:r>
              <a:rPr lang="en-US" sz="660" i="1" dirty="0">
                <a:solidFill>
                  <a:srgbClr val="0E8074"/>
                </a:solidFill>
                <a:latin typeface="Calibri" pitchFamily="34" charset="0"/>
                <a:ea typeface="Calibri" pitchFamily="34" charset="-122"/>
                <a:cs typeface="Calibri" pitchFamily="34" charset="-120"/>
              </a:rPr>
              <a:t>Geometry wins; engineer fills gaps.</a:t>
            </a:r>
            <a:endParaRPr lang="en-US" sz="660" dirty="0"/>
          </a:p>
        </p:txBody>
      </p:sp>
      <p:sp>
        <p:nvSpPr>
          <p:cNvPr id="25" name="Shape 23"/>
          <p:cNvSpPr/>
          <p:nvPr/>
        </p:nvSpPr>
        <p:spPr>
          <a:xfrm>
            <a:off x="5020056" y="1042416"/>
            <a:ext cx="2139696" cy="3127248"/>
          </a:xfrm>
          <a:prstGeom prst="roundRect">
            <a:avLst>
              <a:gd name="adj" fmla="val 3846"/>
            </a:avLst>
          </a:prstGeom>
          <a:solidFill>
            <a:srgbClr val="FFFFFF"/>
          </a:solidFill>
          <a:ln w="17780">
            <a:solidFill>
              <a:srgbClr val="1D6FB8"/>
            </a:solidFill>
            <a:prstDash val="solid"/>
          </a:ln>
        </p:spPr>
      </p:sp>
      <p:sp>
        <p:nvSpPr>
          <p:cNvPr id="26" name="Shape 24"/>
          <p:cNvSpPr/>
          <p:nvPr/>
        </p:nvSpPr>
        <p:spPr>
          <a:xfrm>
            <a:off x="5020056" y="1042416"/>
            <a:ext cx="2139696" cy="384048"/>
          </a:xfrm>
          <a:prstGeom prst="roundRect">
            <a:avLst>
              <a:gd name="adj" fmla="val 21429"/>
            </a:avLst>
          </a:prstGeom>
          <a:solidFill>
            <a:srgbClr val="1D6FB8"/>
          </a:solidFill>
          <a:ln/>
        </p:spPr>
      </p:sp>
      <p:sp>
        <p:nvSpPr>
          <p:cNvPr id="27" name="Shape 25"/>
          <p:cNvSpPr/>
          <p:nvPr/>
        </p:nvSpPr>
        <p:spPr>
          <a:xfrm>
            <a:off x="5020056" y="1280160"/>
            <a:ext cx="2139696" cy="146304"/>
          </a:xfrm>
          <a:prstGeom prst="rect">
            <a:avLst/>
          </a:prstGeom>
          <a:solidFill>
            <a:srgbClr val="1D6FB8"/>
          </a:solidFill>
          <a:ln/>
        </p:spPr>
      </p:sp>
      <p:sp>
        <p:nvSpPr>
          <p:cNvPr id="28" name="Shape 26"/>
          <p:cNvSpPr/>
          <p:nvPr/>
        </p:nvSpPr>
        <p:spPr>
          <a:xfrm>
            <a:off x="5120640" y="1124712"/>
            <a:ext cx="219456" cy="219456"/>
          </a:xfrm>
          <a:prstGeom prst="ellipse">
            <a:avLst/>
          </a:prstGeom>
          <a:solidFill>
            <a:srgbClr val="FFFFFF"/>
          </a:solidFill>
          <a:ln/>
        </p:spPr>
      </p:sp>
      <p:sp>
        <p:nvSpPr>
          <p:cNvPr id="29" name="Text 27"/>
          <p:cNvSpPr/>
          <p:nvPr/>
        </p:nvSpPr>
        <p:spPr>
          <a:xfrm>
            <a:off x="5120640" y="1124712"/>
            <a:ext cx="219456" cy="219456"/>
          </a:xfrm>
          <a:prstGeom prst="rect">
            <a:avLst/>
          </a:prstGeom>
          <a:noFill/>
          <a:ln/>
        </p:spPr>
        <p:txBody>
          <a:bodyPr wrap="square" lIns="0" tIns="0" rIns="0" bIns="0" rtlCol="0" anchor="ctr"/>
          <a:lstStyle/>
          <a:p>
            <a:pPr algn="ctr" indent="0" marL="0">
              <a:buNone/>
            </a:pPr>
            <a:r>
              <a:rPr lang="en-US" sz="800" b="1" dirty="0">
                <a:solidFill>
                  <a:srgbClr val="1D6FB8"/>
                </a:solidFill>
                <a:latin typeface="Calibri" pitchFamily="34" charset="0"/>
                <a:ea typeface="Calibri" pitchFamily="34" charset="-122"/>
                <a:cs typeface="Calibri" pitchFamily="34" charset="-120"/>
              </a:rPr>
              <a:t>3</a:t>
            </a:r>
            <a:endParaRPr lang="en-US" sz="800" dirty="0"/>
          </a:p>
        </p:txBody>
      </p:sp>
      <p:sp>
        <p:nvSpPr>
          <p:cNvPr id="30" name="Text 28"/>
          <p:cNvSpPr/>
          <p:nvPr/>
        </p:nvSpPr>
        <p:spPr>
          <a:xfrm>
            <a:off x="5404104"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PartCostResult</a:t>
            </a:r>
            <a:endParaRPr lang="en-US" sz="840" dirty="0"/>
          </a:p>
        </p:txBody>
      </p:sp>
      <p:sp>
        <p:nvSpPr>
          <p:cNvPr id="31" name="Text 29"/>
          <p:cNvSpPr/>
          <p:nvPr/>
        </p:nvSpPr>
        <p:spPr>
          <a:xfrm>
            <a:off x="5404104"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core.ts :: computeUniversalStack()</a:t>
            </a:r>
            <a:endParaRPr lang="en-US" sz="660" dirty="0"/>
          </a:p>
        </p:txBody>
      </p:sp>
      <p:sp>
        <p:nvSpPr>
          <p:cNvPr id="32" name="Text 30"/>
          <p:cNvSpPr/>
          <p:nvPr/>
        </p:nvSpPr>
        <p:spPr>
          <a:xfrm>
            <a:off x="5129784"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breakdown: Breakdown8Bucket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rawMaterial · process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 · tooling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packaging · logistics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overhead · margin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operationDetails: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operationName, machineId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processCost, labourCost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machineRateUsed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labourRateUsed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cycleTimeHr, oee, manning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factoryCost · subtotal · total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toolingNRE?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traceability: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field, value, unit,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rateSource, rateId,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confidence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warnings?: string[]</a:t>
            </a:r>
            <a:endParaRPr lang="en-US" sz="610" dirty="0"/>
          </a:p>
        </p:txBody>
      </p:sp>
      <p:sp>
        <p:nvSpPr>
          <p:cNvPr id="33" name="Text 31"/>
          <p:cNvSpPr/>
          <p:nvPr/>
        </p:nvSpPr>
        <p:spPr>
          <a:xfrm>
            <a:off x="5129784" y="3950208"/>
            <a:ext cx="1920240" cy="182880"/>
          </a:xfrm>
          <a:prstGeom prst="rect">
            <a:avLst/>
          </a:prstGeom>
          <a:noFill/>
          <a:ln/>
        </p:spPr>
        <p:txBody>
          <a:bodyPr wrap="square" lIns="0" tIns="0" rIns="0" bIns="0" rtlCol="0" anchor="ctr"/>
          <a:lstStyle/>
          <a:p>
            <a:pPr indent="0" marL="0">
              <a:buNone/>
            </a:pPr>
            <a:r>
              <a:rPr lang="en-US" sz="660" i="1" dirty="0">
                <a:solidFill>
                  <a:srgbClr val="1D6FB8"/>
                </a:solidFill>
                <a:latin typeface="Calibri" pitchFamily="34" charset="0"/>
                <a:ea typeface="Calibri" pitchFamily="34" charset="-122"/>
                <a:cs typeface="Calibri" pitchFamily="34" charset="-120"/>
              </a:rPr>
              <a:t>traceability[] = the printed derivation.</a:t>
            </a:r>
            <a:endParaRPr lang="en-US" sz="660" dirty="0"/>
          </a:p>
        </p:txBody>
      </p:sp>
      <p:sp>
        <p:nvSpPr>
          <p:cNvPr id="34" name="Shape 32"/>
          <p:cNvSpPr/>
          <p:nvPr/>
        </p:nvSpPr>
        <p:spPr>
          <a:xfrm>
            <a:off x="7301484" y="1042416"/>
            <a:ext cx="2139696" cy="3127248"/>
          </a:xfrm>
          <a:prstGeom prst="roundRect">
            <a:avLst>
              <a:gd name="adj" fmla="val 3846"/>
            </a:avLst>
          </a:prstGeom>
          <a:solidFill>
            <a:srgbClr val="FFFFFF"/>
          </a:solidFill>
          <a:ln w="17780">
            <a:solidFill>
              <a:srgbClr val="2E8B57"/>
            </a:solidFill>
            <a:prstDash val="solid"/>
          </a:ln>
        </p:spPr>
      </p:sp>
      <p:sp>
        <p:nvSpPr>
          <p:cNvPr id="35" name="Shape 33"/>
          <p:cNvSpPr/>
          <p:nvPr/>
        </p:nvSpPr>
        <p:spPr>
          <a:xfrm>
            <a:off x="7301484" y="1042416"/>
            <a:ext cx="2139696" cy="384048"/>
          </a:xfrm>
          <a:prstGeom prst="roundRect">
            <a:avLst>
              <a:gd name="adj" fmla="val 21429"/>
            </a:avLst>
          </a:prstGeom>
          <a:solidFill>
            <a:srgbClr val="2E8B57"/>
          </a:solidFill>
          <a:ln/>
        </p:spPr>
      </p:sp>
      <p:sp>
        <p:nvSpPr>
          <p:cNvPr id="36" name="Shape 34"/>
          <p:cNvSpPr/>
          <p:nvPr/>
        </p:nvSpPr>
        <p:spPr>
          <a:xfrm>
            <a:off x="7301484" y="1280160"/>
            <a:ext cx="2139696" cy="146304"/>
          </a:xfrm>
          <a:prstGeom prst="rect">
            <a:avLst/>
          </a:prstGeom>
          <a:solidFill>
            <a:srgbClr val="2E8B57"/>
          </a:solidFill>
          <a:ln/>
        </p:spPr>
      </p:sp>
      <p:sp>
        <p:nvSpPr>
          <p:cNvPr id="37" name="Shape 35"/>
          <p:cNvSpPr/>
          <p:nvPr/>
        </p:nvSpPr>
        <p:spPr>
          <a:xfrm>
            <a:off x="7402068" y="1124712"/>
            <a:ext cx="219456" cy="219456"/>
          </a:xfrm>
          <a:prstGeom prst="ellipse">
            <a:avLst/>
          </a:prstGeom>
          <a:solidFill>
            <a:srgbClr val="FFFFFF"/>
          </a:solidFill>
          <a:ln/>
        </p:spPr>
      </p:sp>
      <p:sp>
        <p:nvSpPr>
          <p:cNvPr id="38" name="Text 36"/>
          <p:cNvSpPr/>
          <p:nvPr/>
        </p:nvSpPr>
        <p:spPr>
          <a:xfrm>
            <a:off x="7402068" y="1124712"/>
            <a:ext cx="219456" cy="219456"/>
          </a:xfrm>
          <a:prstGeom prst="rect">
            <a:avLst/>
          </a:prstGeom>
          <a:noFill/>
          <a:ln/>
        </p:spPr>
        <p:txBody>
          <a:bodyPr wrap="square" lIns="0" tIns="0" rIns="0" bIns="0" rtlCol="0" anchor="ctr"/>
          <a:lstStyle/>
          <a:p>
            <a:pPr algn="ctr" indent="0" marL="0">
              <a:buNone/>
            </a:pPr>
            <a:r>
              <a:rPr lang="en-US" sz="800" b="1" dirty="0">
                <a:solidFill>
                  <a:srgbClr val="2E8B57"/>
                </a:solidFill>
                <a:latin typeface="Calibri" pitchFamily="34" charset="0"/>
                <a:ea typeface="Calibri" pitchFamily="34" charset="-122"/>
                <a:cs typeface="Calibri" pitchFamily="34" charset="-120"/>
              </a:rPr>
              <a:t>4</a:t>
            </a:r>
            <a:endParaRPr lang="en-US" sz="800" dirty="0"/>
          </a:p>
        </p:txBody>
      </p:sp>
      <p:sp>
        <p:nvSpPr>
          <p:cNvPr id="39" name="Text 37"/>
          <p:cNvSpPr/>
          <p:nvPr/>
        </p:nvSpPr>
        <p:spPr>
          <a:xfrm>
            <a:off x="7685532"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RankedOpportunities</a:t>
            </a:r>
            <a:endParaRPr lang="en-US" sz="840" dirty="0"/>
          </a:p>
        </p:txBody>
      </p:sp>
      <p:sp>
        <p:nvSpPr>
          <p:cNvPr id="40" name="Text 38"/>
          <p:cNvSpPr/>
          <p:nvPr/>
        </p:nvSpPr>
        <p:spPr>
          <a:xfrm>
            <a:off x="7685532"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dfm-dfa → opportunity-ranking</a:t>
            </a:r>
            <a:endParaRPr lang="en-US" sz="660" dirty="0"/>
          </a:p>
        </p:txBody>
      </p:sp>
      <p:sp>
        <p:nvSpPr>
          <p:cNvPr id="41" name="Text 39"/>
          <p:cNvSpPr/>
          <p:nvPr/>
        </p:nvSpPr>
        <p:spPr>
          <a:xfrm>
            <a:off x="7411212"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groups: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category: LeverCategory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label: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opportunities: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action: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basis: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detail?: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savingPct: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savingPerPart: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risk · timeframe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owner?: design|supplier|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sourcing|assumption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signal: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groupSavingPerPart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topSavingPerPart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all: RankedOpportunity[]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verificationChecks: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title, detail, action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headlineSavingPct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headlineSavingPerPart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partTotal</a:t>
            </a:r>
            <a:endParaRPr lang="en-US" sz="610" dirty="0"/>
          </a:p>
        </p:txBody>
      </p:sp>
      <p:sp>
        <p:nvSpPr>
          <p:cNvPr id="42" name="Text 40"/>
          <p:cNvSpPr/>
          <p:nvPr/>
        </p:nvSpPr>
        <p:spPr>
          <a:xfrm>
            <a:off x="7411212" y="3950208"/>
            <a:ext cx="1920240" cy="182880"/>
          </a:xfrm>
          <a:prstGeom prst="rect">
            <a:avLst/>
          </a:prstGeom>
          <a:noFill/>
          <a:ln/>
        </p:spPr>
        <p:txBody>
          <a:bodyPr wrap="square" lIns="0" tIns="0" rIns="0" bIns="0" rtlCol="0" anchor="ctr"/>
          <a:lstStyle/>
          <a:p>
            <a:pPr indent="0" marL="0">
              <a:buNone/>
            </a:pPr>
            <a:r>
              <a:rPr lang="en-US" sz="660" i="1" dirty="0">
                <a:solidFill>
                  <a:srgbClr val="2E8B57"/>
                </a:solidFill>
                <a:latin typeface="Calibri" pitchFamily="34" charset="0"/>
                <a:ea typeface="Calibri" pitchFamily="34" charset="-122"/>
                <a:cs typeface="Calibri" pitchFamily="34" charset="-120"/>
              </a:rPr>
              <a:t>Ranked by money, never scored.</a:t>
            </a:r>
            <a:endParaRPr lang="en-US" sz="660" dirty="0"/>
          </a:p>
        </p:txBody>
      </p:sp>
      <p:sp>
        <p:nvSpPr>
          <p:cNvPr id="43" name="Shape 41"/>
          <p:cNvSpPr/>
          <p:nvPr/>
        </p:nvSpPr>
        <p:spPr>
          <a:xfrm>
            <a:off x="9582912" y="1042416"/>
            <a:ext cx="2139696" cy="3127248"/>
          </a:xfrm>
          <a:prstGeom prst="roundRect">
            <a:avLst>
              <a:gd name="adj" fmla="val 3846"/>
            </a:avLst>
          </a:prstGeom>
          <a:solidFill>
            <a:srgbClr val="FFFFFF"/>
          </a:solidFill>
          <a:ln w="17780">
            <a:solidFill>
              <a:srgbClr val="6B3FA0"/>
            </a:solidFill>
            <a:prstDash val="solid"/>
          </a:ln>
        </p:spPr>
      </p:sp>
      <p:sp>
        <p:nvSpPr>
          <p:cNvPr id="44" name="Shape 42"/>
          <p:cNvSpPr/>
          <p:nvPr/>
        </p:nvSpPr>
        <p:spPr>
          <a:xfrm>
            <a:off x="9582912" y="1042416"/>
            <a:ext cx="2139696" cy="384048"/>
          </a:xfrm>
          <a:prstGeom prst="roundRect">
            <a:avLst>
              <a:gd name="adj" fmla="val 21429"/>
            </a:avLst>
          </a:prstGeom>
          <a:solidFill>
            <a:srgbClr val="6B3FA0"/>
          </a:solidFill>
          <a:ln/>
        </p:spPr>
      </p:sp>
      <p:sp>
        <p:nvSpPr>
          <p:cNvPr id="45" name="Shape 43"/>
          <p:cNvSpPr/>
          <p:nvPr/>
        </p:nvSpPr>
        <p:spPr>
          <a:xfrm>
            <a:off x="9582912" y="1280160"/>
            <a:ext cx="2139696" cy="146304"/>
          </a:xfrm>
          <a:prstGeom prst="rect">
            <a:avLst/>
          </a:prstGeom>
          <a:solidFill>
            <a:srgbClr val="6B3FA0"/>
          </a:solidFill>
          <a:ln/>
        </p:spPr>
      </p:sp>
      <p:sp>
        <p:nvSpPr>
          <p:cNvPr id="46" name="Shape 44"/>
          <p:cNvSpPr/>
          <p:nvPr/>
        </p:nvSpPr>
        <p:spPr>
          <a:xfrm>
            <a:off x="9683496" y="1124712"/>
            <a:ext cx="219456" cy="219456"/>
          </a:xfrm>
          <a:prstGeom prst="ellipse">
            <a:avLst/>
          </a:prstGeom>
          <a:solidFill>
            <a:srgbClr val="FFFFFF"/>
          </a:solidFill>
          <a:ln/>
        </p:spPr>
      </p:sp>
      <p:sp>
        <p:nvSpPr>
          <p:cNvPr id="47" name="Text 45"/>
          <p:cNvSpPr/>
          <p:nvPr/>
        </p:nvSpPr>
        <p:spPr>
          <a:xfrm>
            <a:off x="9683496" y="1124712"/>
            <a:ext cx="219456" cy="219456"/>
          </a:xfrm>
          <a:prstGeom prst="rect">
            <a:avLst/>
          </a:prstGeom>
          <a:noFill/>
          <a:ln/>
        </p:spPr>
        <p:txBody>
          <a:bodyPr wrap="square" lIns="0" tIns="0" rIns="0" bIns="0" rtlCol="0" anchor="ctr"/>
          <a:lstStyle/>
          <a:p>
            <a:pPr algn="ctr" indent="0" marL="0">
              <a:buNone/>
            </a:pPr>
            <a:r>
              <a:rPr lang="en-US" sz="800" b="1" dirty="0">
                <a:solidFill>
                  <a:srgbClr val="6B3FA0"/>
                </a:solidFill>
                <a:latin typeface="Calibri" pitchFamily="34" charset="0"/>
                <a:ea typeface="Calibri" pitchFamily="34" charset="-122"/>
                <a:cs typeface="Calibri" pitchFamily="34" charset="-120"/>
              </a:rPr>
              <a:t>5</a:t>
            </a:r>
            <a:endParaRPr lang="en-US" sz="800" dirty="0"/>
          </a:p>
        </p:txBody>
      </p:sp>
      <p:sp>
        <p:nvSpPr>
          <p:cNvPr id="48" name="Text 46"/>
          <p:cNvSpPr/>
          <p:nvPr/>
        </p:nvSpPr>
        <p:spPr>
          <a:xfrm>
            <a:off x="9966960"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SQLite  ·  12 tables</a:t>
            </a:r>
            <a:endParaRPr lang="en-US" sz="840" dirty="0"/>
          </a:p>
        </p:txBody>
      </p:sp>
      <p:sp>
        <p:nvSpPr>
          <p:cNvPr id="49" name="Text 47"/>
          <p:cNvSpPr/>
          <p:nvPr/>
        </p:nvSpPr>
        <p:spPr>
          <a:xfrm>
            <a:off x="9966960"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better-sqlite3 — one file, your server</a:t>
            </a:r>
            <a:endParaRPr lang="en-US" sz="660" dirty="0"/>
          </a:p>
        </p:txBody>
      </p:sp>
      <p:sp>
        <p:nvSpPr>
          <p:cNvPr id="50" name="Text 48"/>
          <p:cNvSpPr/>
          <p:nvPr/>
        </p:nvSpPr>
        <p:spPr>
          <a:xfrm>
            <a:off x="9692640"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projects (id, user_id, kind,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name, data, created_at,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updated_at)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scenarios (id, name,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description, data,</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created_by, created_at)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supplier_quotes (id,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scenario_id, supplier_name,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supplier_country, unit_price,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currency, moq,</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lead_time_weeks, tooling_cost)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bom_items (id,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parent_scenario_id,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child_scenario_id, quantity,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unit_cost_override)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rate_library (id, data,</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updated_at, updated_by)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rate_overrides (id, tbl,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row_id, field, value)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users · shared_costings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material_price_overrides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price_fetch_log · app_settings</a:t>
            </a:r>
            <a:endParaRPr lang="en-US" sz="610" dirty="0"/>
          </a:p>
        </p:txBody>
      </p:sp>
      <p:sp>
        <p:nvSpPr>
          <p:cNvPr id="51" name="Text 49"/>
          <p:cNvSpPr/>
          <p:nvPr/>
        </p:nvSpPr>
        <p:spPr>
          <a:xfrm>
            <a:off x="9692640" y="3950208"/>
            <a:ext cx="1920240" cy="182880"/>
          </a:xfrm>
          <a:prstGeom prst="rect">
            <a:avLst/>
          </a:prstGeom>
          <a:noFill/>
          <a:ln/>
        </p:spPr>
        <p:txBody>
          <a:bodyPr wrap="square" lIns="0" tIns="0" rIns="0" bIns="0" rtlCol="0" anchor="ctr"/>
          <a:lstStyle/>
          <a:p>
            <a:pPr indent="0" marL="0">
              <a:buNone/>
            </a:pPr>
            <a:r>
              <a:rPr lang="en-US" sz="660" i="1" dirty="0">
                <a:solidFill>
                  <a:srgbClr val="6B3FA0"/>
                </a:solidFill>
                <a:latin typeface="Calibri" pitchFamily="34" charset="0"/>
                <a:ea typeface="Calibri" pitchFamily="34" charset="-122"/>
                <a:cs typeface="Calibri" pitchFamily="34" charset="-120"/>
              </a:rPr>
              <a:t>data columns hold the JSON above.</a:t>
            </a:r>
            <a:endParaRPr lang="en-US" sz="660" dirty="0"/>
          </a:p>
        </p:txBody>
      </p:sp>
      <p:sp>
        <p:nvSpPr>
          <p:cNvPr id="52" name="Shape 50"/>
          <p:cNvSpPr/>
          <p:nvPr/>
        </p:nvSpPr>
        <p:spPr>
          <a:xfrm>
            <a:off x="2607869" y="2596896"/>
            <a:ext cx="119786" cy="0"/>
          </a:xfrm>
          <a:prstGeom prst="line">
            <a:avLst/>
          </a:prstGeom>
          <a:noFill/>
          <a:ln w="25400">
            <a:solidFill>
              <a:srgbClr val="6B7280"/>
            </a:solidFill>
            <a:prstDash val="solid"/>
            <a:tailEnd type="triangle"/>
          </a:ln>
        </p:spPr>
      </p:sp>
      <p:sp>
        <p:nvSpPr>
          <p:cNvPr id="53" name="Shape 51"/>
          <p:cNvSpPr/>
          <p:nvPr/>
        </p:nvSpPr>
        <p:spPr>
          <a:xfrm>
            <a:off x="4889297" y="2596896"/>
            <a:ext cx="119786" cy="0"/>
          </a:xfrm>
          <a:prstGeom prst="line">
            <a:avLst/>
          </a:prstGeom>
          <a:noFill/>
          <a:ln w="25400">
            <a:solidFill>
              <a:srgbClr val="6B7280"/>
            </a:solidFill>
            <a:prstDash val="solid"/>
            <a:tailEnd type="triangle"/>
          </a:ln>
        </p:spPr>
      </p:sp>
      <p:sp>
        <p:nvSpPr>
          <p:cNvPr id="54" name="Shape 52"/>
          <p:cNvSpPr/>
          <p:nvPr/>
        </p:nvSpPr>
        <p:spPr>
          <a:xfrm>
            <a:off x="7170725" y="2596896"/>
            <a:ext cx="119786" cy="0"/>
          </a:xfrm>
          <a:prstGeom prst="line">
            <a:avLst/>
          </a:prstGeom>
          <a:noFill/>
          <a:ln w="25400">
            <a:solidFill>
              <a:srgbClr val="6B7280"/>
            </a:solidFill>
            <a:prstDash val="solid"/>
            <a:tailEnd type="triangle"/>
          </a:ln>
        </p:spPr>
      </p:sp>
      <p:sp>
        <p:nvSpPr>
          <p:cNvPr id="55" name="Shape 53"/>
          <p:cNvSpPr/>
          <p:nvPr/>
        </p:nvSpPr>
        <p:spPr>
          <a:xfrm>
            <a:off x="9452153" y="2596896"/>
            <a:ext cx="119786" cy="0"/>
          </a:xfrm>
          <a:prstGeom prst="line">
            <a:avLst/>
          </a:prstGeom>
          <a:noFill/>
          <a:ln w="25400">
            <a:solidFill>
              <a:srgbClr val="6B7280"/>
            </a:solidFill>
            <a:prstDash val="solid"/>
            <a:tailEnd type="triangle"/>
          </a:ln>
        </p:spPr>
      </p:sp>
      <p:sp>
        <p:nvSpPr>
          <p:cNvPr id="56" name="Shape 54"/>
          <p:cNvSpPr/>
          <p:nvPr/>
        </p:nvSpPr>
        <p:spPr>
          <a:xfrm>
            <a:off x="457200" y="4279392"/>
            <a:ext cx="11274552" cy="566928"/>
          </a:xfrm>
          <a:prstGeom prst="roundRect">
            <a:avLst>
              <a:gd name="adj" fmla="val 12903"/>
            </a:avLst>
          </a:prstGeom>
          <a:solidFill>
            <a:srgbClr val="E6F4F1"/>
          </a:solidFill>
          <a:ln w="15875">
            <a:solidFill>
              <a:srgbClr val="0E8074"/>
            </a:solidFill>
            <a:prstDash val="solid"/>
          </a:ln>
        </p:spPr>
      </p:sp>
      <p:sp>
        <p:nvSpPr>
          <p:cNvPr id="57" name="Text 55"/>
          <p:cNvSpPr/>
          <p:nvPr/>
        </p:nvSpPr>
        <p:spPr>
          <a:xfrm>
            <a:off x="658368" y="4279392"/>
            <a:ext cx="10881360" cy="56692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Same sentence as the previous slide:  </a:t>
            </a:r>
            <a:pPr indent="0" marL="0">
              <a:buNone/>
            </a:pPr>
            <a:r>
              <a:rPr lang="en-US" sz="1050" b="1" dirty="0">
                <a:solidFill>
                  <a:srgbClr val="16325C"/>
                </a:solidFill>
                <a:latin typeface="Consolas" pitchFamily="34" charset="0"/>
                <a:ea typeface="Consolas" pitchFamily="34" charset="-122"/>
                <a:cs typeface="Consolas" pitchFamily="34" charset="-120"/>
              </a:rPr>
              <a:t>computeUniversalStack(UniversalStackInput, RateLibrary) → PartCostResult</a:t>
            </a:r>
            <a:pPr indent="0" marL="0">
              <a:buNone/>
            </a:pPr>
            <a:r>
              <a:rPr lang="en-US" sz="950" dirty="0">
                <a:solidFill>
                  <a:srgbClr val="3A4356"/>
                </a:solidFill>
                <a:latin typeface="Calibri" pitchFamily="34" charset="0"/>
                <a:ea typeface="Calibri" pitchFamily="34" charset="-122"/>
                <a:cs typeface="Calibri" pitchFamily="34" charset="-120"/>
              </a:rPr>
              <a:t>   — a pure transform between two typed structures. Same input, same output, forever. That is what makes 1,530 tests possible and why the identical code runs in the browser and on the server.</a:t>
            </a:r>
            <a:endParaRPr lang="en-US" sz="1050" dirty="0"/>
          </a:p>
        </p:txBody>
      </p:sp>
      <p:sp>
        <p:nvSpPr>
          <p:cNvPr id="58" name="Shape 56"/>
          <p:cNvSpPr/>
          <p:nvPr/>
        </p:nvSpPr>
        <p:spPr>
          <a:xfrm>
            <a:off x="457200" y="4974336"/>
            <a:ext cx="3602736" cy="1371600"/>
          </a:xfrm>
          <a:prstGeom prst="roundRect">
            <a:avLst>
              <a:gd name="adj" fmla="val 6000"/>
            </a:avLst>
          </a:prstGeom>
          <a:solidFill>
            <a:srgbClr val="FFFFFF"/>
          </a:solidFill>
          <a:ln w="15875">
            <a:solidFill>
              <a:srgbClr val="0E8074"/>
            </a:solidFill>
            <a:prstDash val="solid"/>
          </a:ln>
        </p:spPr>
      </p:sp>
      <p:sp>
        <p:nvSpPr>
          <p:cNvPr id="59" name="Shape 57"/>
          <p:cNvSpPr/>
          <p:nvPr/>
        </p:nvSpPr>
        <p:spPr>
          <a:xfrm>
            <a:off x="457200" y="4974336"/>
            <a:ext cx="54864" cy="1371600"/>
          </a:xfrm>
          <a:prstGeom prst="rect">
            <a:avLst/>
          </a:prstGeom>
          <a:solidFill>
            <a:srgbClr val="0E8074"/>
          </a:solidFill>
          <a:ln/>
        </p:spPr>
      </p:sp>
      <p:sp>
        <p:nvSpPr>
          <p:cNvPr id="60" name="Text 58"/>
          <p:cNvSpPr/>
          <p:nvPr/>
        </p:nvSpPr>
        <p:spPr>
          <a:xfrm>
            <a:off x="621792" y="5047488"/>
            <a:ext cx="3328416" cy="219456"/>
          </a:xfrm>
          <a:prstGeom prst="rect">
            <a:avLst/>
          </a:prstGeom>
          <a:noFill/>
          <a:ln/>
        </p:spPr>
        <p:txBody>
          <a:bodyPr wrap="square" lIns="0" tIns="0" rIns="0" bIns="0" rtlCol="0" anchor="ctr"/>
          <a:lstStyle/>
          <a:p>
            <a:pPr indent="0" marL="0">
              <a:buNone/>
            </a:pPr>
            <a:r>
              <a:rPr lang="en-US" sz="780" b="1" spc="40" kern="0" dirty="0">
                <a:solidFill>
                  <a:srgbClr val="0E8074"/>
                </a:solidFill>
                <a:latin typeface="Calibri" pitchFamily="34" charset="0"/>
                <a:ea typeface="Calibri" pitchFamily="34" charset="-122"/>
                <a:cs typeface="Calibri" pitchFamily="34" charset="-120"/>
              </a:rPr>
              <a:t>PROVENANCE — EVERY NUMBER KNOWS ITS SOURCE</a:t>
            </a:r>
            <a:endParaRPr lang="en-US" sz="780" dirty="0"/>
          </a:p>
        </p:txBody>
      </p:sp>
      <p:sp>
        <p:nvSpPr>
          <p:cNvPr id="61" name="Text 59"/>
          <p:cNvSpPr/>
          <p:nvPr/>
        </p:nvSpPr>
        <p:spPr>
          <a:xfrm>
            <a:off x="621792"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Each cost line emits a TraceabilityRecord: field, value, unit, rateSource, rateId, confidence. That is what prints under every figure in the report, and what a supplier is shown in the meeting. Nothing is a bare number.</a:t>
            </a:r>
            <a:endParaRPr lang="en-US" sz="790" dirty="0"/>
          </a:p>
        </p:txBody>
      </p:sp>
      <p:sp>
        <p:nvSpPr>
          <p:cNvPr id="62" name="Shape 60"/>
          <p:cNvSpPr/>
          <p:nvPr/>
        </p:nvSpPr>
        <p:spPr>
          <a:xfrm>
            <a:off x="4288536" y="4974336"/>
            <a:ext cx="3602736" cy="1371600"/>
          </a:xfrm>
          <a:prstGeom prst="roundRect">
            <a:avLst>
              <a:gd name="adj" fmla="val 6000"/>
            </a:avLst>
          </a:prstGeom>
          <a:solidFill>
            <a:srgbClr val="FFFFFF"/>
          </a:solidFill>
          <a:ln w="15875">
            <a:solidFill>
              <a:srgbClr val="B7791F"/>
            </a:solidFill>
            <a:prstDash val="solid"/>
          </a:ln>
        </p:spPr>
      </p:sp>
      <p:sp>
        <p:nvSpPr>
          <p:cNvPr id="63" name="Shape 61"/>
          <p:cNvSpPr/>
          <p:nvPr/>
        </p:nvSpPr>
        <p:spPr>
          <a:xfrm>
            <a:off x="4288536" y="4974336"/>
            <a:ext cx="54864" cy="1371600"/>
          </a:xfrm>
          <a:prstGeom prst="rect">
            <a:avLst/>
          </a:prstGeom>
          <a:solidFill>
            <a:srgbClr val="B7791F"/>
          </a:solidFill>
          <a:ln/>
        </p:spPr>
      </p:sp>
      <p:sp>
        <p:nvSpPr>
          <p:cNvPr id="64" name="Text 62"/>
          <p:cNvSpPr/>
          <p:nvPr/>
        </p:nvSpPr>
        <p:spPr>
          <a:xfrm>
            <a:off x="4453128" y="5047488"/>
            <a:ext cx="3328416" cy="219456"/>
          </a:xfrm>
          <a:prstGeom prst="rect">
            <a:avLst/>
          </a:prstGeom>
          <a:noFill/>
          <a:ln/>
        </p:spPr>
        <p:txBody>
          <a:bodyPr wrap="square" lIns="0" tIns="0" rIns="0" bIns="0" rtlCol="0" anchor="ctr"/>
          <a:lstStyle/>
          <a:p>
            <a:pPr indent="0" marL="0">
              <a:buNone/>
            </a:pPr>
            <a:r>
              <a:rPr lang="en-US" sz="780" b="1" spc="40" kern="0" dirty="0">
                <a:solidFill>
                  <a:srgbClr val="B7791F"/>
                </a:solidFill>
                <a:latin typeface="Calibri" pitchFamily="34" charset="0"/>
                <a:ea typeface="Calibri" pitchFamily="34" charset="-122"/>
                <a:cs typeface="Calibri" pitchFamily="34" charset="-120"/>
              </a:rPr>
              <a:t>UNITS — WHERE BUGS ACTUALLY COME FROM</a:t>
            </a:r>
            <a:endParaRPr lang="en-US" sz="780" dirty="0"/>
          </a:p>
        </p:txBody>
      </p:sp>
      <p:sp>
        <p:nvSpPr>
          <p:cNvPr id="65" name="Text 63"/>
          <p:cNvSpPr/>
          <p:nvPr/>
        </p:nvSpPr>
        <p:spPr>
          <a:xfrm>
            <a:off x="4453128"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Fields carry units in their names (cycleTimeHr, netWeightKg, boundingBoxMm, savingPerPart). The recurring bug class in this domain is sec/hr and mm/cm/kg conversions, so the convention is enforced by naming and pinned by tests.</a:t>
            </a:r>
            <a:endParaRPr lang="en-US" sz="790" dirty="0"/>
          </a:p>
        </p:txBody>
      </p:sp>
      <p:sp>
        <p:nvSpPr>
          <p:cNvPr id="66" name="Shape 64"/>
          <p:cNvSpPr/>
          <p:nvPr/>
        </p:nvSpPr>
        <p:spPr>
          <a:xfrm>
            <a:off x="8119872" y="4974336"/>
            <a:ext cx="3602736" cy="1371600"/>
          </a:xfrm>
          <a:prstGeom prst="roundRect">
            <a:avLst>
              <a:gd name="adj" fmla="val 6000"/>
            </a:avLst>
          </a:prstGeom>
          <a:solidFill>
            <a:srgbClr val="FFFFFF"/>
          </a:solidFill>
          <a:ln w="15875">
            <a:solidFill>
              <a:srgbClr val="6B3FA0"/>
            </a:solidFill>
            <a:prstDash val="solid"/>
          </a:ln>
        </p:spPr>
      </p:sp>
      <p:sp>
        <p:nvSpPr>
          <p:cNvPr id="67" name="Shape 65"/>
          <p:cNvSpPr/>
          <p:nvPr/>
        </p:nvSpPr>
        <p:spPr>
          <a:xfrm>
            <a:off x="8119872" y="4974336"/>
            <a:ext cx="54864" cy="1371600"/>
          </a:xfrm>
          <a:prstGeom prst="rect">
            <a:avLst/>
          </a:prstGeom>
          <a:solidFill>
            <a:srgbClr val="6B3FA0"/>
          </a:solidFill>
          <a:ln/>
        </p:spPr>
      </p:sp>
      <p:sp>
        <p:nvSpPr>
          <p:cNvPr id="68" name="Text 66"/>
          <p:cNvSpPr/>
          <p:nvPr/>
        </p:nvSpPr>
        <p:spPr>
          <a:xfrm>
            <a:off x="8284464" y="5047488"/>
            <a:ext cx="3328416" cy="219456"/>
          </a:xfrm>
          <a:prstGeom prst="rect">
            <a:avLst/>
          </a:prstGeom>
          <a:noFill/>
          <a:ln/>
        </p:spPr>
        <p:txBody>
          <a:bodyPr wrap="square" lIns="0" tIns="0" rIns="0" bIns="0" rtlCol="0" anchor="ctr"/>
          <a:lstStyle/>
          <a:p>
            <a:pPr indent="0" marL="0">
              <a:buNone/>
            </a:pPr>
            <a:r>
              <a:rPr lang="en-US" sz="780" b="1" spc="40" kern="0" dirty="0">
                <a:solidFill>
                  <a:srgbClr val="6B3FA0"/>
                </a:solidFill>
                <a:latin typeface="Calibri" pitchFamily="34" charset="0"/>
                <a:ea typeface="Calibri" pitchFamily="34" charset="-122"/>
                <a:cs typeface="Calibri" pitchFamily="34" charset="-120"/>
              </a:rPr>
              <a:t>STORAGE — TYPED IN CODE, JSON AT REST</a:t>
            </a:r>
            <a:endParaRPr lang="en-US" sz="780" dirty="0"/>
          </a:p>
        </p:txBody>
      </p:sp>
      <p:sp>
        <p:nvSpPr>
          <p:cNvPr id="69" name="Text 67"/>
          <p:cNvSpPr/>
          <p:nvPr/>
        </p:nvSpPr>
        <p:spPr>
          <a:xfrm>
            <a:off x="8284464"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SQLite holds the JSON blobs above in `data` columns rather than a shredded relational model: the engine owns the schema, and a costing round-trips byte-identical. rate_overrides is the audit trail of who changed which rate.</a:t>
            </a:r>
            <a:endParaRPr lang="en-US" sz="790" dirty="0"/>
          </a:p>
        </p:txBody>
      </p:sp>
      <p:sp>
        <p:nvSpPr>
          <p:cNvPr id="70" name="Text 6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71" name="Text 6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2026-08-06T13:05:08Z</dcterms:created>
  <dcterms:modified xsi:type="dcterms:W3CDTF">2026-08-06T13:05:08Z</dcterms:modified>
</cp:coreProperties>
</file>