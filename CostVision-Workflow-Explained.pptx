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charts/chart3.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housing</c:v>
                </c:pt>
              </c:strCache>
            </c:strRef>
          </c:tx>
          <c:spPr>
            <a:solidFill>
              <a:srgbClr val="0E8074"/>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dPt>
            <c:idx val="0"/>
            <c:invertIfNegative val="0"/>
            <c:bubble3D val="0"/>
            <c:spPr>
              <a:solidFill>
                <a:srgbClr val="0E8074"/>
              </a:solidFill>
              <a:effectLst/>
            </c:spPr>
          </c:dPt>
          <c:dPt>
            <c:idx val="1"/>
            <c:invertIfNegative val="0"/>
            <c:bubble3D val="0"/>
            <c:spPr>
              <a:solidFill>
                <a:srgbClr val="6B7280"/>
              </a:solidFill>
              <a:effectLst/>
            </c:spPr>
          </c:dPt>
          <c:cat>
            <c:multiLvlStrRef>
              <c:f>Sheet1!$A$2:$A$3</c:f>
              <c:multiLvlStrCache>
                <c:ptCount val="2"/>
                <c:lvl>
                  <c:pt idx="0">
                    <c:v>Everything after it</c:v>
                  </c:pt>
                  <c:pt idx="1">
                    <c:v>The casting shot</c:v>
                  </c:pt>
                </c:lvl>
              </c:multiLvlStrCache>
            </c:multiLvlStrRef>
          </c:cat>
          <c:val>
            <c:numRef>
              <c:f>Sheet1!$B$2:$B$3</c:f>
              <c:numCache>
                <c:formatCode>General</c:formatCode>
                <c:ptCount val="2"/>
                <c:pt idx="0">
                  <c:v>29.89</c:v>
                </c:pt>
                <c:pt idx="1">
                  <c:v>2.68</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4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E8074"/>
            </a:solidFill>
            <a:effectLst/>
          </c:spPr>
          <c:invertIfNegative val="0"/>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3.18</c:v>
                </c:pt>
                <c:pt idx="1">
                  <c:v>3.61</c:v>
                </c:pt>
                <c:pt idx="2">
                  <c:v>1.1</c:v>
                </c:pt>
                <c:pt idx="3">
                  <c:v>0.6</c:v>
                </c:pt>
                <c:pt idx="4">
                  <c:v>2.17</c:v>
                </c:pt>
                <c:pt idx="5">
                  <c:v>1.36</c:v>
                </c:pt>
                <c:pt idx="6">
                  <c:v>14.34</c:v>
                </c:pt>
                <c:pt idx="7">
                  <c:v>12.18</c:v>
                </c:pt>
              </c:numCache>
            </c:numRef>
          </c:val>
        </c:ser>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9"/>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E8074"/>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2.15</c:v>
                </c:pt>
                <c:pt idx="1">
                  <c:v>2.18</c:v>
                </c:pt>
                <c:pt idx="2">
                  <c:v>2.4</c:v>
                </c:pt>
                <c:pt idx="3">
                  <c:v>1.2</c:v>
                </c:pt>
                <c:pt idx="4">
                  <c:v>11.2</c:v>
                </c:pt>
                <c:pt idx="5">
                  <c:v>0.05</c:v>
                </c:pt>
                <c:pt idx="6">
                  <c:v>2.45</c:v>
                </c:pt>
                <c:pt idx="7">
                  <c:v>4.46</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5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all for coming back. In the last session I showed you what this tool produces. The feedback I got — very fairly — was that the workflow itself was still a black box. People told me they could not follow who does what, and where the AI actually sits in all this. So today I am going to open the box. I am going to take one real part — a die-cast aluminium housing, the sort of thing we buy tens of thousands of a year — and walk it through the tool from the moment we upload the CAD file to the moment a buyer walks into a supplier meeting with a number. Every single step. And I will keep colour-coding who owns each step, because that is the bit that has been confusing. Blue is measuring. Purple is the AI. Amber is the safety checks. Teal is the costing engine doing the arithmetic. Green is where a human signs it off. If you take one line away today, take the line on the screen: the AI reads the part, the costing engine does every calculation, and a person approves the answer. Everything I show you for the next twenty minutes is an elaboration of that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map of where we are going, because there is more here than an hour needs and I would rather you chose than sat through all of it. Section one, two slides: how the whole thing connects, and what it is worth measured against doing the same job by hand. About eight minutes. Section two is the first worked example — a die-cast aluminium housing, followed through all twelve stages from CAD file to defensible price, including the calculation shown in full so you can check it. Fourteen slides, about twenty-two minutes, and it is the heart of the pack. Section three does the same thing on a completely different part, an injection-moulded bumper fascia, plus paint, plus two findings that I genuinely did not predict. Ten slides, about eighteen minutes. Section four is five minutes on what the tool cannot do. And the strip along the bottom is there because I have been in enough of these meetings. If the hour collapses to ten minutes, take slides three, four, eighteen, twenty-seven and twenty-nine. Everything in between is the evidence for those five, and you can read it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walk through the twelve stages, I want to give you the whole thing on one picture, because I think the bird’s-eye view answers half the questions before they get asked. Start in the middle. That dark box is the cost calculation engine, and everything on this slide connects to it. It is fixed arithmetic — the same eight buckets, the same formulas, every part, every time. There is no AI inside that box and no judgement inside it. Coming in from the left, the four ways work arrives: a three-D CAD model, a photograph of a circuit board, a plain description or an RFQ sheet, and the two things only a person can supply — how many a year and where we plan to make them. Those inputs hit the blue box, the geometry kernel, which measures the part. From there, look up. That purple box sits deliberately outside the dashed line, and it is the single most important thing on this slide. It is the only outbound call on the costing path. What goes up is a description of a shape — volumes, wall thicknesses, hole counts. What comes back is words: "aluminium die-casting alloy", "high-pressure die cast". No prices go up, no rates go up, no drawings go up. And there are two controls on it: we can route it to a private endpoint inside our own cloud tenancy, or we can set the air-gapped flag and the call simply refuses to happen, with the deterministic costing still working perfectly. Those words come back down into the amber box — the guardrails. Nine automatic checks, plus the autocorrect. If the AI and the measurements disagree, the measurements win, automatically. Only then does anything reach the engine. On the right of the engine, two feeds. The rate library — materials, machines, labour, twenty regions — which is the only source of money anywhere in the tool. And the local database, which holds our parts, our quotes and, importantly, our real actuals, which feed back in and calibrate the estimates over time. Below the engine, the uncertainty layer, which turns a single number into an honest range. And out to the right, what our engineer actually receives: the eight-bucket cost with every figure traceable, the operation list, the confidence band and country comparison, and the exportable negotiation pack. The top-right box is there for completeness and for the security conversation. There are three other things that can talk to the internet — live component pricing for circuit boards, an industry news feed, and a metal-price ticker that is display-only and does not price any part. All three are optional and all three are off by default. So if you remember one line from this slide: the kernel measures, the AI names, the guardrails check, the engine calculates, a person approves — and the only thing that ever leaves your network is a description of a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go into how it works, let me put the commercial case on the table, because that is the question I would be asking. On the left is what costing this housing looks like today. Open the CAD and take the measurements. Decide the material grade and go and find a price. Decide the process route and pick a machine. Build the cycle time operation by operation. Key it all into CAPEE and correct the typos. Then sanity-check it and iterate with an engineer. Call it six hours for a moderately complex part, and be honest — a different engineer doing the same part next week gets a different answer, because every one of those steps is a judgement. On the right, the same part through this tool. Upload the file. The measuring, the classification, the safety checks and the whole calculation run unattended in about two minutes. Then our engineer spends fifteen minutes reviewing every AI call and confirming or overriding it, seven minutes setting volume and region and looking at the confidence band, and five minutes exporting the report. Half an hour. And it is the same answer every time, for everyone. I want to be careful here: the two minutes is the machine, the half hour is the human. We have not automated the engineer away — we have taken the mechanical work off them and left them the judgement, which is the bit they are actually good at. The table at the bottom left shows how that plays out across the part types we actually buy. A bracket, ten times faster. This casting, twelve. A moulded fascia with paint, thirteen. And the standout is the circuit board — building a two-hundred-line bill of materials by hand and pricing every component is genuinely two to four days of work, and the tool does it from a photograph in about forty-five minutes. What that buys the programme is on the right, and it is not a headcount argument. It is coverage. The same team can cost eight to ten times more parts, which means you stop cherry-picking the top twenty spend items and start covering the tail where the leakage actually is. You get the same answer twice, which you simply cannot do by hand. And critically you get the number during design, while the wall thickness can still be changed, rather than after the quote has landed and the tool is already cut. One caveat I want to say out loud: the timings on this slide are planning assumptions, not measured results. I have tried to be realistic rather than flattering. Run twenty parts through it and replace them with your own numbers — the tool logs its own run times, so that measurement is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orientation done. Now I want to slow right down and take one real part through all twelve stages, because the only way to judge a costing tool is to watch it work on something concrete. This is a die-cast aluminium housing. Over the next fourteen slides you will see exactly what the geometry kernel measures and what the AI is allowed to say about it, the four automatic guards and the autocorrect that fires when the AI and the measurements disagree, how the press gets chosen by physics rather than by default, where every single cutting minute comes from, and then the eight buckets, the country comparison, the confidence band and the human sign-off. If you take nothing else from this section, take the calculation slide. It is the one you can check with a calculator while I am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A die-cast aluminium housing — the sort of thing that sits on an engine or a gearbox and that we buy tens of thousands of a year without ever really knowing what it should cost. Two point eight kilos finished. Walls about three millimetres. Two precision bores that have to be reamed. Sixteen holes that get drilled and tapped. Two faces that have to be machined flat because something bolts to them. And a projected shadow of one thousand six hundred and fifty square centimetres, which is going to decide which press it runs on. I want you to look at that list on the right and register one thing: every single number on it came out of the three-D model. Nobody typed them in, nobody estimated them off a drawing, and if we open the same file tomorrow we get exactly the same numbers. That is the foundation everything else in this deck is built on. The picture is an illustration rather than a photograph, but it is drawn to the dimensions the tool actually measured — so what you are looking at is the part as the software sees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part and here is the map of where we are going. The housing weighs two point eight kilos finished, has walls about three millimetres thick, two precision bores, sixteen holes that need drilling and threading, and two faces that must be machined flat. We buy sixty thousand a year and we are looking at making them in China. Underneath, the five phases. Blue, we measure. Purple, the AI reads. Amber, four automatic safety checks run. Teal, the engine calculates. Green, a person checks and signs. Twelve stages in total, and the whole thing takes about two minutes of computer time. Now look at the box at the bottom, because this answers the question I was asked most often last time — how much of this is AI? Of the twelve stages, the AI owns exactly one. One. Three stages are measurement, two are safety checks, four are arithmetic, two are human review. That is deliberate. We did not build an AI tool and bolt some costing onto it. We built a costing engine and gave it a very small, very bounded AI assistant to do the one job AI is genuinely good at — recognising what something is. Everything else is engineering that we can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one. Our engineer uploads the CAD file, and types in two things the drawing cannot possibly tell us: how many we need a year, and where we plan to make them. Those two numbers matter enormously — the volume decides how thinly the tooling cost is spread, and the location decides which labour and machine rates apply. Stage two is the measuring. The geometry kernel opens the 3D model and measures it like a very fast, very precise digital ruler. It computes the exact solid volume — one thousand and thirty-seven cubic centimetres. Note what it does NOT do: it does not tell you the weight, because weight needs a density and nothing has named the material yet. So it publishes a weight for every candidate density — aluminium, steel, plastic, cast iron, copper, titanium — and waits. On aluminium that is two point eight kilos. It finds the walls are about three millimetres. It counts two precision bores, sixteen holes that need threading, two faces that must be machined flat. I want to labour this point because it is where people assume AI is involved. It is not. This is geometry. Nobody typed these numbers and nobody estimated them. Give it the same file tomorrow and you get identical results — which, incidentally, is why two different engineers costing the same part now get the same answer, which was never true with spreadsheets. Stage three is a small step with a huge consequence. The tool asks: is this hollow or solid? Three millimetre walls around an enclosed space means hollow — a casting. So the cutting machines are only tidying up surfaces. If it wrongly decided this was a solid block of aluminium, it would price machining the entire shape out of solid metal, and the answer would come out roughly double. One sense-check, and it protects the whole number. And notice the purple box. Where is the AI so far? Nowhere. It has not been involved at all. That ordering is deliberate — we establish the facts first, so that when the AI does speak, we already have something independent to check it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what the geometry kernel actually is, so let me answer that properly, including the commercial question underneath it. A geometry kernel is the mathematical engine that understands solid shapes. It is the same class of software that sits underneath CATIA, SolidWorks and NX — when you drag a face in CAD, a kernel is doing the maths. Ours is Open CASCADE, usually called OCCT, and we drive it from Python using a library called CadQuery. The important distinction is that it reads the real geometry, not a picture of it. A STEP file describes a cylinder as a genuine mathematical cylinder with a radius and an axis. A mesh file only has triangles that look round. That is why we can say "this is a twelve millimetre bore, forty millimetres deep, and it goes all the way through" with certainty rather than approximation. Is it open source? Yes, and I want to be transparent about the licences because someone will ask. Open CASCADE is LGPL version two point one with a linking exception, which is what lets us use it in a commercial tool. CadQuery and its bindings are Apache two point zero. The three-D viewer you see on screen is three.js, which is MIT. All permissive, all long-established, all free. Practically that means three things. There is no per-seat CAD licence to buy for the costing tool. There is no vendor who can change the terms on us. And — this is the one that matters for us — no third party ever sees the model, because the kernel runs as a process on our own server. The CAD file is measured exactly where it sits. How does it actually measure? Four things. It integrates the solid to get an exact volume, then publishes a weight for every candidate density and waits for something to name the material. It walks every cylindrical face to build the hole table — diameter from the exact radius, depth from the surface parameter span, and through-versus-blind by comparing that depth to the bounding box. It ray-casts inside the solid to find true wall thickness, which is the measurement that distinguishes a casting from a machined block. And it classifies every face by surface type, so the flats we will have to mill are counted rather than guessed. And the honest limitation, which I would rather you hear from me. The kernel is exact about what is in the model and completely silent about what is not. It cannot read a tolerance, a surface finish or a material callout unless the CAD file actually carries it. Those still come off the drawing or from our engineer. It measures. It does not interpret.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AI. This is the one stage out of twelve that it owns, so let us be precise about it. What is it given? Only the measurements from the previous slide, plus the part name. It does not see a price list. It does not see our rate library. It cannot see what the answer ought to be. What does it say back? Four things. The material family — an aluminium die-casting alloy. How it is made — high-pressure die casting, meaning molten aluminium injected into a steel mould under very high pressure. What happens next — machine finishing. And how sure it is: eighty-four percent. Now the red box, which is the answer to "but what if the AI gets it wrong". The AI cannot set a price or any part of a price. It cannot change a measured dimension or the weight. It cannot choose the machine or the cycle time. It cannot touch the rate library. And it cannot override a safety check. Those are not rules we ask it to follow — it has no access to any of those things. One more thing on the confidence score, because it does real work. At eighty-four percent the tool proceeds but flags the call for review. There is a hard rule in the code: if the material confidence falls below fifty percent, a warning fires that says the suggestion is a coin toss and asks for a part photo or a manual confirmation, and that warning stays attached to the result until a person clears it. A confident-sounding wrong answer is the most dangerous thing an AI can give you, so we make the uncertainty visible rather than hiding it. In plain terms: the AI does what an experienced engineer does in the first ten seconds of picking up a part. It saves setup time. It does not do the costing, and it cannot.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most wanted to get in front of you, because it answers the question "what if the AI is wrong". The answer is that the tool assumes it might be, and checks. Four checks ran on this part, before a single pound was calculated. Check one. To sell us a two point eight kilo casting, the supplier does not melt two point eight kilos. They pour four point eight three kilos. The difference runs down the feed channels and into the overflow, and gets recycled at scrap value. If you cost only the part weight you understate the metal by seventy percent. This is the single most common error in casting cost, and the tool cannot make it. Check two. On a casting, the bores and the holes are already cast in. The cutter is removing a thin skim to hit tolerance. So machining adds time, not material. If the model were allowed to think the cutter was carving the shape out of metal, the cost would roughly double. The guard caps machining to a finishing envelope. Check three. Because this part has machined faces, a model can be tempted to say "machined from solid billet". The guard keeps casting as the primary process and redirects the material to a genuine die-casting alloy, not a wrought grade — different alloys have genuinely different prices per kilo. Check four is machine sizing, and I will give that its own slide in a moment. Now the amber box, and this is the autocorrect feature you asked about. When the AI and the measurements disagree, the measurements win. Automatically. Every time. The tool corrects the input, writes down what it changed and why, and shows our engineer. It never quietly proceeds with something it knows is wrong. And why four checks rather than one general one? Because a cast-and-machined part has four distinct ways to go wrong, and each guard was written after a specific real-world costing mistake. They are lessons, not decoration.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into the engine, and this is where the real engineering lives. Two questions get answered here: which process, and which machine. First, the process. The AI suggested die casting, but the engine does not simply accept that. It tests the measured shape against what each process can physically do. Three millimetre walls, a hollow shape, sixty thousand a year — that combination points firmly at high-pressure die casting. Sand casting is rejected because it cannot reliably produce three millimetre walls at that quality or speed. Machining from solid is rejected because you would cut away about eighty percent of the metal — absurd on cost. Gravity die casting is rejected because it cannot reliably fill walls that thin. Second, and this is check four from the previous slide — the press. When you inject molten aluminium at high pressure it tries to force the two halves of the mould apart. The press has to clamp it shut. So the engine takes the shadow area of the part, which it measured from the CAD, multiplies it by the pressure inside the mould, and gets the force trying to open the tool. Add a safety margin, and pick the smallest press in the library that can hold it. That comes out at sixteen hundred tonnes. Why does this matter commercially? Because every machine carries its own hourly rate. A bigger press costs more per hour to own and to run. Choose too big a machine and you overstate the cost — you go into a negotiation asking for the wrong number. Choose too small and the part physically cannot be made. So the engine sizes it by calculation rather than defaulting, and it flags the choice for our engineer to confirm. And in the purple box, the summary of who did what. The AI proposed. The engine disposed. If the AI had said sand casting, the three millimetre walls would have overruled it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to show the calculation rather than assert it, so this slide is the arithmetic behind the two numbers that matter most on a casting: which press, and how many minutes of cutting. Left-hand side, the press. The kernel measures the projected shadow of the part — the silhouette you would see looking down the direction the die opens — and gets one thousand six hundred and fifty square centimetres. Aluminium high-pressure die casting runs at about seventy megapascals of cavity pressure; that is a material property, not an opinion. Multiply the two and you get the force trying to blow the die open: one thousand one hundred and seventy-eight tonnes. The engine applies a twenty percent safety factor, so we need a press that can hold one thousand four hundred and thirteen tonnes. Then it walks the ladder — one sixty, five hundred, eight hundred, sixteen hundred — and takes the smallest one that covers it. Sixteen hundred tonnes, one hundred and thirty-seven pounds fifty-five an hour. Nothing on that left-hand side was typed in by a person. The area came out of the model, the pressure is a property of the alloy, and the ladder and the rates are the rate library. Right-hand side, the cutting minutes, and this is where people are most sceptical, so let us be concrete. Every feature the kernel found gets its own time from a published shop formula. Two faces at one eighty by one twenty millimetres: nought point two zero minutes of approach plus the area divided by eight thousand square millimetres a minute of face-mill coverage — three point seven seven minutes each. Two bores at forty millimetres diameter, forty-five deep: nought point five plus forty-five times nought point zero five — three point five eight each. Sixteen blind holes at eight millimetres: nought point one five plus depth times nought point zero two, plus a tenth of a minute because a blind hole needs its bottom finishing — nought point eight five each. Add it up with a thirty percent uplift for the reamed tolerance on the bores and the geometry proposes twenty-eight point two minutes. Now watch what happens next, because this is the guard doing real work in front of you. The near-net envelope says a two point eight kilo casting cannot need more than nought point one hours plus nought point zero seven hours per kilo of finishing — seventeen point eight minutes. Twenty-eight is above that, so the guard caps it. And the routing we actually costed from the supplier is fifteen point nine minutes, which sits inside both. Three independent numbers, bounding each other. That is the point I want you to take away. When they agree, as they do here, the number stands. When they disagree badly, that is the signal — either the part is not really near-net, or the routing is wrong, or the quote is padded. Either way, you find out before the meeting rather than during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detail people usually want and rarely get, so let us go through it properly — and I have deliberately laid this table out so you can check any row with a calculator while I am talking. Take the milling row. The five-axis machine costs eighty-five pounds an hour. The cut itself takes nought point one one of an hour. But a machine is never a hundred percent available, so the engine divides by the overall equipment effectiveness — eighty-five percent — which gives nought point one two nine four of an hour of machine occupied. Eighty-five pounds times that is eleven pounds exactly. Then labour: half an operator at twenty-six pounds an hour for that time is one pound fifty-nine. Twelve fifty-nine for the operation. Every row on this slide works the same way and every row multiplies out. The casting shot: fifty-five seconds on the sixteen-hundred-tonne press at one hundred and thirty-seven fifty-five an hour, plus a two percent reject uplift, is two pounds sixty-eight. Boring and reaming the two bores, nine seventy-three. Drilling and tapping sixteen holes on a cheaper drill-and-tap machine at thirty pounds an hour, three twenty-four. Leak test, deburr and wash, four pounds. Plus a small amortised setup. Add it up: nought point three nine of an hour of machine time, twenty-eight pounds of machine and four pounds fifty-nine of labour — thirty-two pounds fifty-seven at UK rates. On the right, how a cycle time is actually built, and I want to draw your eye to that third box. The divide-by-OEE column is the one people miss. It is the difference between costing the theoretical best case and costing the factory as it really runs. Now the chart at the bottom, which for me is the single most valuable output on this part. The famous casting shot — the thing everyone pictures when you say die casting — is two pounds sixty-eight. Eight percent. Cutting metal is twenty-five eighty-nine, seventy-nine percent; add the test and clean-up and everything after the shot is twenty-nine eighty-nine, ninety-two percent. Think about what that means for a negotiation. If you go in to argue about the price of aluminium, you are arguing about eight percent of the making cost. The money is in cycle time. So the productive conversation with that supplier is about fixturing, tool paths and how many seconds each operation really 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money comes together. Every part this tool costs — whether it is a one pound stamped bracket or this casting — is built into the same eight buckets. Material, process, labour, tooling, packaging, logistics, overhead, margin. Always the same eight. For this housing made in China: the metal, costed at the poured weight and net of the scrap we get back on the runner, is twelve pounds eighteen. The making — the casting shot plus all the machining — is fourteen thirty-four. People one thirty-six. The die spread across the year, two seventeen. Packaging and transport, one pound seventy between them. Then factory overhead at twelve percent and a nine percent supplier margin. Thirty-eight pounds fifty-five. Bottom right, the same part priced elsewhere, and every one of those is a full recalculation on that country’s own rates, not a fudge factor. India thirty-seven seventeen. China thirty-eight fifty-five. Mexico forty forty-four. The UK, fifty-nine sixty. And the reason the gap is not larger is worth understanding, because buyers get this wrong. Look at the metal: twelve pounds eighteen in China, twelve fifty-six in the UK. Aluminium is a world commodity — it costs roughly the same everywhere. What actually changes between countries is the labour, the machine and the overhead rates. On a machining-heavy part like this, that is the whole difference. Two rules at the bottom that I would ask you to hold onto. First, always the same eight buckets, which is what lets you compare two completely different parts honestly — and overhead is applied once, margin is applied once, never twice, which is a classic quoting trick. Second, every figure traces back to a driver. Material is measured weight times a published metal price. Process is calculated time times a machine rate. If you change an input you can point at exactly why the number moved. There is no black box anywhere in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stages left, and they are the two that make this usable in a real negotiation rather than just interesting. Stage eleven. The tool does not give you one number pretending to be exact. It runs the whole calculation four thousand times, varying the inputs it is least confident about — and it varies them by different amounts, because tooling estimates are genuinely less certain than a published metal price. Overhead and margin are percentages of policy, so they simply follow. What comes out is a range: ten percent of the runs came in below thirty-two thirty-one, ten percent came in above forty-five thirty-eight, and the middle of the distribution is our thirty-eight fifty-five. About plus or minus seventeen percent on this part. I would rather hand you an honest range than a falsely precise number, and the width of that band is itself information — it is wider here than it would be on a simple pressing, because a machining-heavy casting carries more cycle-time risk. Stage twelve, and this is the one I care most about. Every AI suggestion arrives as an editable pre-fill. Highlighted. Never silently applied. Our engineer can change the material, the process, the machine, the cycle time, the rates — and the whole cost recalculates instantly. The tool proposes. The engineer disposes. The last line of defence is a person, and it always will be. And here is what it is all for. A supplier quotes fifty-two pounds for this part. That is above our P90 — above where ninety percent of our simulated outcomes landed. Our buyer no longer has to say "that feels high". They can open the operation list and say: your machining time looks about thirty percent above what this geometry needs, walk me through your fixturing. That is a completely different conversation, and it is the reason this tool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have been asked, quite reasonably, whether this thing makes numbers up. Let me answer it precisely rather than reassuringly, because the precise answer is more useful. On the left, all eight buckets and what each one is actually made of. Material is measured volume times a density times a published price per kilo. Process is cycle time divided by machine availability, times a machine rate from our library. Labour is that same time times the manning level times a wage-grade rate. Tooling is the die cost our engineer entered, divided by the parts it will make. Packaging and logistics are typed in directly. Overhead and margin are percentages of the figures above, applied once each. Read down that list and notice what is missing. Not one of those six lines contains a number the AI produced. It cannot, because the AI never sees the rate library and never touches the arithmetic. On the right, the checks that run automatically on every single estimate. If the AI reports a volume more than twenty-five percent away from what we measured, that warns; more than fifty percent and it is an error. Weight must equal volume times density to within twenty percent. If material confidence drops under fifty percent, it asks for a photo or a manual confirmation. Any cycle time outside one point eight seconds to twenty-four hours is physically implausible and gets rejected. Near-net machining is capped to a finish envelope. And the machine must be big enough for the part or it is flagged. Every one of those is code. That distinction matters — a prompt can be talked out of a rule; a line of code cannot. Now the honest part, and please hear both halves of it. We do say that no AI-invented number ever becomes money. The AI hands over words, and the engine takes it from there. What we do not say is that the AI is never wrong. It can misread a part. It might look at an unusual casting and call it something else. That is exactly why it carries a confidence score, why those checks run automatically, and why a person signs the result before it goes anywhere. Anyone who tells you their AI never makes a mistake is selling you something. And one last thing, which is the test I would apply to any costing tool. Run the same file with the same inputs a hundred times and you get thirty-eight fifty-five a hundred times. The arithmetic is fixed code. The answer cannot drift between runs, between two engineers, or between one supplier meeting and the next one. That is what makes it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put the whole thing on one page, because this is the answer to the question you asked me after the last session. Five players, left to right, in the order they act. The ruler measures the CAD file and gives the same answer every time. The AI reads those measurements and names what the part is — words only, never money. The guards check the AI against the measurements and autocorrect it where they disagree, and the measurements always win. The engine does every calculation — sizes the machine, builds the cycle times, fills the eight buckets, reprices across twenty countries — with fixed, traceable formulas. And our engineer sets the commercial context, confirms every AI call, and signs off the number. The line in the middle is the whole tool in one sentence. The AI reads the part. The engine does every calculation. A person approves the answer. And the result on this housing: a defensible forty pounds ninety-nine, with a thirty-five to forty-seven confidence band, produced in about two minutes, and every penny traceable to either a measurement or a published rate. That is the workflow. I am very happy to take questions — and if it would help, I can run this live on any part you want to throw at me, and you can watch each of these stages happen in real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worked example, and the reason it is here is to answer a fair question: is this a tool, or is it a demo that only works on one part? So we do it all again on something as different as I could find — an injection-moulded bumper fascia. Same kernel, same AI, same rate library, same eight buckets, same person signing it off. What changes is which bucket holds the money, and the answer is going to surprise you. Along the way you will see cooling time calculated from wall thickness and what half a millimetre of wall is actually worth, and the paint line costed properly from film thickness rather than as a percentage uplift on the moulded price. And it ends with two findings that I would not have predicted before we ran it — which is, in the end, the whole argument for having the tool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 second worked example, and I have chosen a part that could not be much more different from the casting: a front bumper fascia. It is talc-filled polypropylene, four point two kilos, walls three millimetres thick, roughly one point eight metres by half a metre, with six undercut features that need sliding sections in the tool for the lamp and sensor apertures, and it is Class-A painted. Sixty thousand a year, made in China — deliberately the same volume and the same country as the casting so you can compare like with like. Look at the five phases across the middle and compare them with the strip I showed you on the casting. They are identical. Same twelve stages, same owners, same colours. The geometry kernel is the same kernel. The AI does the same one job. The rate library is the same library. The engine builds the same eight buckets. That is the point of this second example, and it is worth saying out loud: we have not built twenty different tools. We have built one method that applies to twenty commodities. When someone brings us a part we have never costed before, nothing new has to be invented. What does change — and this is what makes it worth your time — is which bucket ends up holding the money. On the casting it was the machining. On this part it is somewhere completely different, and I think the answer will surprise you as much as it surprised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 is the second part, chosen because it could hardly be more different from the casting while still being something every one of us would recognise. A front bumper fascia. Four point two kilos of talc-filled polypropylene, walls three millimetres thick, one point eight metres across. The grille aperture, the two fog-lamp openings and the parking-sensor holes all face back against the direction the mould opens, so the tool needs six sliding sections to release the part — and each of those slides is real money in the mould. The projected shadow is nine thousand nine hundred square centimetres, which is six times the casting, and that single number is going to drive the biggest process decision on this part. Note the last two rows deliberately: sixty thousand a year, made in China. Exactly the same volume and the same country as the casting, so when we compare the two at the end we are comparing like with like rather than two different sourcing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one to four, and I will go quickly because the method is the one you have already seen. The kernel opens the model and measures. Volume, and on polypropylene that is four point two kilos. Wall thickness, three millimetres — hold onto that, it matters more than you would think. The projected shadow in the direction the mould opens, nine thousand nine hundred square centimetres. The painted surface area, one point six square metres. And then the measurement that I find genuinely clever: it classifies every face by its angle to the mould-opening direction and counts the ones pointing back against the draw. Six of them. Every one of those needs a sliding section in the tool so the part can be released, and every slide is real money in the mould. Nobody counted those by eye off a drawing. The AI then does its one job and hands back four words: talc-filled polypropylene, injection moulded in one shot, painted to a Class-A finish, eighty-seven percent confident. Four words and a score. No numbers. It still cannot see a price list, a rate or a machine. And the box across the bottom is the one I would underline. That projected shadow, nine thousand nine hundred square centimetres, decides the biggest process number on this part. Molten plastic pushing outwards across that area is what tries to force the mould open, so it sets the press size — and the press rate then sets the moulding cost. A part this size simply cannot be moulded on a small machine, no matter how cheap that machine is per hour. We will see exactly what that costs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five to seven. Four guards run on this part, and they are different guards from the casting — because a moulded part goes wrong in different ways. Guard one, the runner. On a cold-runner tool, every shot also produces a sprue and runner — six hundred to nine hundred grams of plastic that is not the part. This tool has a hot runner, so the shot weight is the part weight. The guard makes sure we neither charge for plastic that does not exist nor forget it when the tool is cold-runner. Guard two, cooling. And this is the number people guess and should not. Cool time is three point one six times the wall thickness squared. At three millimetres that is twenty-eight point four seconds — more than half the entire cycle. Notice it is the wall SQUARED. Take the wall from three millimetres to two point five and you take about nine seconds out of every shot. That is the single most powerful lever in injection moulding, and it is a design decision, not a purchasing one. Guard three is the press, and it is the same physics as the die-casting slide, just a different commodity. Nine thousand nine hundred square centimetres of shadow, times twenty-five megapascals of cavity pressure, times a fifteen percent safety factor, gives two thousand nine hundred tonnes of clamp force needed. The engine walks the ladder and takes the smallest press that covers it — three and a half thousand tonnes at three hundred and six pounds an hour. Guard four, the tool cost. A four hundred and twenty thousand pound mould is a quotation from a toolmaker, not something we invent. The tool takes it as an input, applies the Class-A finish uplift, and shows you the arithmetic. Now the red box, because this is the commercial argument for having the guard at all. If you let the model sit on a default two-thousand-tonne press, you cost the moulding at a hundred and seventy-eight pounds an hour instead of three hundred and six. Forty-two percent too cheap. And worse than being wrong — the part would never mould, because that press cannot hold the tool shut. You would walk into a supplier meeting and negotiate hard against a price that is physically impossible to deliver. That is the kind of mistake that costs credibility, and you only need to make it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treatment for the bumper — show the calculation, do not assert it. Left-hand side, the press, and I want you to notice that it is literally the same slide as the casting with different numbers in it. Projected shadow off the CAD, nine thousand nine hundred square centimetres. Cavity pressure for a large thin-wall polypropylene part, twenty-five megapascals. Multiply: two thousand five hundred and twenty-four tonnes trying to force the mould open. Fifteen percent safety factor, two thousand nine hundred and two tonnes. Walk the ladder — eight hundred, twelve hundred, two thousand, three and a half thousand — and take the smallest that covers it. Three and a half thousand tonnes at three hundred and six pounds twelve an hour. Same physics, same rule, same code path. Different commodity. Right-hand side, the cycle, and here I want to be precise about which numbers are calculated and which are entered, because that distinction matters. Fill, pack and eject are process inputs — four and a half seconds, twelve seconds, nine seconds — they come from the moulder or from our process engineer. But the cooling term is calculated: three point one six times the wall thickness squared. Three millimetres squared is nine, times three point one six is twenty-eight point four four seconds. Then the engine adds a two percent reject uplift and you get fifty-five seconds. Cooling is over half of that cycle, and it is the one term the tool works out for itself rather than accepting. Which brings me to the box along the bottom, and this is the most commercially useful thing on the slide. Because the wall enters squared, taking half a millimetre out of it — three millimetres down to two point five — drops the cooling from twenty-eight point four to nineteen point eight seconds. The whole cycle falls by nearly nine seconds. The press cost per part drops eighty-nine pence, and the UK part cost drops one pound eleven. Now think about who that conversation belongs to. That is not a purchasing conversation. You cannot negotiate eighty-nine pence out of a moulder who is already running an efficient press. That is a design conversation, and it has to happen before the design is frozen. What the tool gives you is the ability to put a hard number on it while there is still time to act — and in my experience that is worth more than any of the negotiation the rest of this deck talks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eight to ten. Left-hand box, how the fifty-five second cycle is built, and every line of it is calculated rather than typed. Four and a half seconds to fill the cavity. Twelve seconds packing and holding under pressure. Twenty-eight point four seconds cooling — which, remember, is three point one six times three millimetres squared. Nine seconds to open and eject. Plus a two percent reject uplift. Fifty-five seconds. Right-hand box, and this is the arithmetic you can check while I talk. Fifty-five seconds is nought point zero one five three of an hour. Divide by eighty-five percent machine availability and the press is occupied for nought point zero one eight of an hour. Times three hundred and six pounds twelve an hour gives five pounds fifty-one of machine. Add half an operator at nineteen eighty an hour, seventeen pence of labour. Five pounds sixty-seven — and if you add the two rounded figures on the slide you get sixty-eight, because both are rounded to the penny; the engine carries the full precision. And now stop and look at that number, because it is the whole making cost of a car bumper. Five pounds sixty-seven. On the casting, making the part was thirty-two fifty-seven. Here it is under six pounds — one shot, fifty-five seconds, done. So where did the money go? Look at the chart. The tooling bar — eleven pounds twenty — is more than twice the next biggest bucket, and it is bigger than the resin, the press and the labour added together. On this part, the tool IS the cost. Twenty-six pounds eight in China, and that is unpainted and ex-works — paint is a separate operation and I will come to it. And look at the country row, because it makes a point I would not have predicted. China twenty-six oh eight, the UK thirty-one oh six. Only nineteen percent apart. On the casting the UK was fifty-five percent above China. Why the difference? Because the tool, the packaging and the logistics do not get cheaper by moving the factory, and the resin is a world price. Only the press hours and the labour move — and on this part there are barely any labour hours to move. The lesson for a sourcing strategy is worth stating plainly: offshoring saves you a lot on a labour-heavy part and very little on a tooling-heavy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owe you the other half of this part, because a bumper is not finished when it comes off the press — it gets painted, and paint is not a rounding error. The formula at the top is the whole of it, and it is the standard paint-shop calculation rather than anything we invented. Wet litres equals the area you are covering times the dry film thickness you need, divided by the solids content of the paint times the transfer efficiency of the booth. Work it through for the basecoat, because that is where the money is. One point six square metres of bumper, twenty microns of dry film — that is thirty-two millilitres of actual paint on the car. But basecoat is only twenty-five percent solids, and only sixty percent of what the gun sprays lands on the part. So you have to buy two hundred and thirteen millilitres of wet paint to get thirty-two millilitres of dry film on the car. At twenty-six pounds a litre, five pounds fifty-five. Add the primer and the clearcoat, add six percent for rework because painted parts do get rejected, and the paint material alone is eleven pounds. Then the line itself — fifty-five parts an hour, divided by eighty-five percent availability, at a hundred and two pounds an hour — two thirty-two. Two operators, eighty-five pence. Masking fixtures spread over the year, seventy-five pence. So the delivered bumper, painted and ex-works in China, is thirty-nine pounds twenty-two. The moulded part was twenty-six oh eight. Paint is a third of the delivered cost, and half of the paint is one litre of basecoat. Now the box that I would put in front of a purchasing team. Transfer efficiency is the number nobody argues about and everybody should. At sixty percent, four of every ten pounds of basecoat you buy ends up in the booth filters instead of on the car. Move one line from sixty to seventy percent with better electrostatics and the basecoat drops from five fifty-five to four seventy-six a part — on sixty thousand parts a year that is forty-seven thousand pounds, from one process parameter. If we had costed paint as a percentage uplift on the moulded price, which is what most tools do, that number would simply not exist. And the honest note at the bottom. We cost the paint line as a separate costing, not as a bucket inside the moulding one, because in the real world it is usually a separate supplier with its own overhead and margin. The thirty-nine twenty-two adds two ex-works costs — it does not double-count anybody’s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stop on these two, because they are the return on having done any of this. Finding one. Tooling is eleven pounds twenty of a twenty-six pound part. Forty-three percent — the biggest single bucket, and larger than the resin, the press and the labour added together, which come to six pounds ninety-six between them. On the casting, tooling was two pounds seventeen, about six percent. Same method, same engine, same eight buckets — and the money has moved to a completely different place. Finding two. China twenty-six oh eight against a UK thirty-one oh six. A nineteen percent gap. On the casting that same comparison was fifty-five percent. The reason is straightforward once you see it: the tool, the packaging and the logistics do not get cheaper by moving the factory, and polypropylene is a world price. The only things that actually move are press hours and labour, and this part has almost no labour in it. Now the row that matters, which is what each of those changes on Monday morning. Finding one says stop negotiating the piece price and go and negotiate the tooling deal instead. Who owns the tool. Over how many parts it is amortised. What happens at end of programme. Amortised over five years instead of one, this part is fifteen fourteen rather than twenty-six oh eight — and no amount of piece-price haggling gets you eleven pounds. Finding two says do not move a tooling-heavy part offshore expecting the savings you got on a casting. Nineteen percent, once you set it against freight, lead time, quality risk and the cost of transferring the tool, may not clear the bar at all. That is a decision you would rather make with a number than a hunch. And I would put one honest question to the room. Before we ran this, would anybody here have told you the tool was forty-three percent of a bumper, or that offshoring it saves only nineteen percent? I would not have. That is exactly what the method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two stages, and then the payoff. Stage eleven, the honest range. Nineteen eighty-three to thirty-three sixteen, plus or minus twenty-six percent. That is wider than the casting was, and the reason is worth knowing: on this part a very large share of the answer rides on one tooling quotation, and tooling is the input the tool trusts least. The band is telling you where the risk actually sits. Stage twelve, and here the engineer has a lever that did not exist on the casting. How long do we amortise the tool over? Over one year, sixty thousand parts, tooling is eleven pounds twenty and the part is twenty-six pounds eight. Over a three-year programme it is three seventy-three and the part is under seventeen pounds. Over five years, two twenty-four and fifteen fourteen. Same part, same supplier, same tool — nearly eleven pounds of difference, and it is purely a commercial decision about programme life. If a supplier quotes you twenty-six pounds while amortising over one year, that is not them being expensive, that is them carrying tooling risk. Now you can have that conversation properly. And one thing I owe you for completeness: this is the unpainted, ex-works fascia. Paint is a separate operation on a separate line, and the tool costs it separately — at UK rates it comes out at about fifteen pounds a part, of which eleven is the paint material itself. So paint roughly doubles the delivered cost of a bumper, which is exactly why the industry cares so much about body-colour versus grained finishes. Now the table across the middle, which for me is the single most valuable slide in this pack. Two parts. One method. Look at where the money is. Making the casting cost thirty-two fifty-seven; moulding the bumper cost five sixty-seven — one shot beats four machining operations, comfortably. But tooling on the casting was two pounds seventeen and on the bumper it is eleven twenty. The biggest bucket flips from process to tooling. The China-to-UK gap collapses from fifty-five percent to nineteen. And the lever you push in a supplier meeting changes completely — cycle time and fixturing on one, programme volume and wall thickness on the other. And that is the whole argument for having this tool at all. Nobody in this room could have told you in advance that the money was in machining on one part and in tooling on the other. Not reliably, not with numbers you could defend. The method finds it. Every time, on any part, without anyone having to already know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would rather you heard the limits from me than found them yourself in three months, so here are six, honestly. One, and it is the one I get asked most: it cannot cost an assembly from a single CAD file. It will happily roll up an assembly from parts you have already costed — that works today. What it cannot do is open one assembly model and work out which parts are in it, how they join, and what the assembly labour is. That needs a person to define the structure. We looked hard at whether that could be automated and concluded honestly that it cannot, not reliably. Two, it cannot read a tolerance or a surface finish. The kernel measures shape and it measures it exactly, but a plus-or-minus two-hundredths callout or a roughness value is an annotation, and most CAD files we receive do not carry them. Those still come off the drawing or out of our engineer’s head. Three, it cannot guarantee the AI classified the part correctly. It can misread something unusual. That is precisely why there is a confidence score, why nine checks run automatically on every estimate, and why a person signs the result. Our claim is narrow and deliberate: no AI-invented number ever becomes money. It is not that the AI is never wrong. Four, it does not replace a quotation. This is a should-cost — what the part ought to cost on stated assumptions. It is a negotiating instrument and a design-feedback loop. It is not a price and it does not replace an RFQ. Five, it cannot keep the duty and tariff data fresh on its own. Rates decay. The engine will block a rate that is unverified or more than ninety days old rather than quietly using it — which is the right behaviour — but somebody still has to run the refresh against the official tariff service. Six, it cannot cost a process it has never met. Twenty commodities are modelled. Something genuinely novel needs a new module: days of work, and a process engineer to specify it. And the reason I am showing you this slide at all is on the navy strip. A tool that claims no limits is a tool nobody should trust with a supplier negotiation. Every one of those six is either on the roadmap or is a job we have deliberately chosen to leave with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slideLayout" Target="../slideLayouts/slideLayout1.xml"/><Relationship Id="rId8"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731520" y="1188720"/>
            <a:ext cx="731520" cy="731520"/>
          </a:xfrm>
          <a:prstGeom prst="roundRect">
            <a:avLst>
              <a:gd name="adj" fmla="val 22000"/>
            </a:avLst>
          </a:prstGeom>
          <a:solidFill>
            <a:srgbClr val="4F46E5"/>
          </a:solidFill>
          <a:ln/>
        </p:spPr>
      </p:sp>
      <p:sp>
        <p:nvSpPr>
          <p:cNvPr id="3" name="Text 1"/>
          <p:cNvSpPr/>
          <p:nvPr/>
        </p:nvSpPr>
        <p:spPr>
          <a:xfrm>
            <a:off x="731520" y="118872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CV</a:t>
            </a:r>
            <a:endParaRPr lang="en-US" sz="2400" dirty="0"/>
          </a:p>
        </p:txBody>
      </p:sp>
      <p:sp>
        <p:nvSpPr>
          <p:cNvPr id="4" name="Text 2"/>
          <p:cNvSpPr/>
          <p:nvPr/>
        </p:nvSpPr>
        <p:spPr>
          <a:xfrm>
            <a:off x="1627632" y="1298448"/>
            <a:ext cx="548640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CostVision</a:t>
            </a:r>
            <a:endParaRPr lang="en-US" sz="1900" dirty="0"/>
          </a:p>
        </p:txBody>
      </p:sp>
      <p:sp>
        <p:nvSpPr>
          <p:cNvPr id="5" name="Text 3"/>
          <p:cNvSpPr/>
          <p:nvPr/>
        </p:nvSpPr>
        <p:spPr>
          <a:xfrm>
            <a:off x="1627632" y="1627632"/>
            <a:ext cx="5486400" cy="274320"/>
          </a:xfrm>
          <a:prstGeom prst="rect">
            <a:avLst/>
          </a:prstGeom>
          <a:noFill/>
          <a:ln/>
        </p:spPr>
        <p:txBody>
          <a:bodyPr wrap="square" lIns="0" tIns="0" rIns="0" bIns="0" rtlCol="0" anchor="ctr"/>
          <a:lstStyle/>
          <a:p>
            <a:pPr indent="0" marL="0">
              <a:buNone/>
            </a:pPr>
            <a:r>
              <a:rPr lang="en-US" sz="1150" dirty="0">
                <a:solidFill>
                  <a:srgbClr val="8FA3CC"/>
                </a:solidFill>
                <a:latin typeface="Calibri" pitchFamily="34" charset="0"/>
                <a:ea typeface="Calibri" pitchFamily="34" charset="-122"/>
                <a:cs typeface="Calibri" pitchFamily="34" charset="-120"/>
              </a:rPr>
              <a:t>AI Cost Intelligence</a:t>
            </a:r>
            <a:endParaRPr lang="en-US" sz="1150" dirty="0"/>
          </a:p>
        </p:txBody>
      </p:sp>
      <p:sp>
        <p:nvSpPr>
          <p:cNvPr id="6" name="Text 4"/>
          <p:cNvSpPr/>
          <p:nvPr/>
        </p:nvSpPr>
        <p:spPr>
          <a:xfrm>
            <a:off x="731520" y="2057400"/>
            <a:ext cx="10698480" cy="73152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How CostVision Actually Works</a:t>
            </a:r>
            <a:endParaRPr lang="en-US" sz="4200" dirty="0"/>
          </a:p>
        </p:txBody>
      </p:sp>
      <p:sp>
        <p:nvSpPr>
          <p:cNvPr id="7" name="Text 5"/>
          <p:cNvSpPr/>
          <p:nvPr/>
        </p:nvSpPr>
        <p:spPr>
          <a:xfrm>
            <a:off x="731520" y="2880360"/>
            <a:ext cx="10698480" cy="41148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Who does what — followed end to end on one real part</a:t>
            </a:r>
            <a:endParaRPr lang="en-US" sz="2000" dirty="0"/>
          </a:p>
        </p:txBody>
      </p:sp>
      <p:sp>
        <p:nvSpPr>
          <p:cNvPr id="8" name="Shape 6"/>
          <p:cNvSpPr/>
          <p:nvPr/>
        </p:nvSpPr>
        <p:spPr>
          <a:xfrm>
            <a:off x="731520" y="3611880"/>
            <a:ext cx="10698480" cy="685800"/>
          </a:xfrm>
          <a:prstGeom prst="roundRect">
            <a:avLst>
              <a:gd name="adj" fmla="val 13333"/>
            </a:avLst>
          </a:prstGeom>
          <a:solidFill>
            <a:srgbClr val="24406E"/>
          </a:solidFill>
          <a:ln/>
        </p:spPr>
      </p:sp>
      <p:sp>
        <p:nvSpPr>
          <p:cNvPr id="9" name="Text 7"/>
          <p:cNvSpPr/>
          <p:nvPr/>
        </p:nvSpPr>
        <p:spPr>
          <a:xfrm>
            <a:off x="1005840" y="3611880"/>
            <a:ext cx="10149840" cy="685800"/>
          </a:xfrm>
          <a:prstGeom prst="rect">
            <a:avLst/>
          </a:prstGeom>
          <a:noFill/>
          <a:ln/>
        </p:spPr>
        <p:txBody>
          <a:bodyPr wrap="square" lIns="0" tIns="0" rIns="0" bIns="0" rtlCol="0" anchor="ctr"/>
          <a:lstStyle/>
          <a:p>
            <a:pPr indent="0" marL="0">
              <a:buNone/>
            </a:pPr>
            <a:r>
              <a:rPr lang="en-US" sz="1500" b="1" dirty="0">
                <a:solidFill>
                  <a:srgbClr val="9FB6DF"/>
                </a:solidFill>
                <a:latin typeface="Calibri" pitchFamily="34" charset="0"/>
                <a:ea typeface="Calibri" pitchFamily="34" charset="-122"/>
                <a:cs typeface="Calibri" pitchFamily="34" charset="-120"/>
              </a:rPr>
              <a:t>The one line to remember:  </a:t>
            </a:r>
            <a:pPr indent="0" marL="0">
              <a:buNone/>
            </a:pPr>
            <a:r>
              <a:rPr lang="en-US" sz="1500" b="1" dirty="0">
                <a:solidFill>
                  <a:srgbClr val="FFFFFF"/>
                </a:solidFill>
                <a:latin typeface="Calibri" pitchFamily="34" charset="0"/>
                <a:ea typeface="Calibri" pitchFamily="34" charset="-122"/>
                <a:cs typeface="Calibri" pitchFamily="34" charset="-120"/>
              </a:rPr>
              <a:t>the AI reads the part.  The costing engine does every calculation.  A person approves the answer.</a:t>
            </a:r>
            <a:endParaRPr lang="en-US" sz="1500" dirty="0"/>
          </a:p>
        </p:txBody>
      </p:sp>
      <p:sp>
        <p:nvSpPr>
          <p:cNvPr id="10" name="Text 8"/>
          <p:cNvSpPr/>
          <p:nvPr/>
        </p:nvSpPr>
        <p:spPr>
          <a:xfrm>
            <a:off x="731520" y="4663440"/>
            <a:ext cx="10698480" cy="274320"/>
          </a:xfrm>
          <a:prstGeom prst="rect">
            <a:avLst/>
          </a:prstGeom>
          <a:noFill/>
          <a:ln/>
        </p:spPr>
        <p:txBody>
          <a:bodyPr wrap="square" lIns="0" tIns="0" rIns="0" bIns="0" rtlCol="0" anchor="ctr"/>
          <a:lstStyle/>
          <a:p>
            <a:pPr indent="0" marL="0">
              <a:buNone/>
            </a:pPr>
            <a:r>
              <a:rPr lang="en-US" sz="1300" dirty="0">
                <a:solidFill>
                  <a:srgbClr val="8FA3CC"/>
                </a:solidFill>
                <a:latin typeface="Calibri" pitchFamily="34" charset="0"/>
                <a:ea typeface="Calibri" pitchFamily="34" charset="-122"/>
                <a:cs typeface="Calibri" pitchFamily="34" charset="-120"/>
              </a:rPr>
              <a:t>Worked example: die-cast aluminium housing · 2.8 kg · 60,000 per year · made in China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What We Are Going to Cover</a:t>
            </a:r>
            <a:endParaRPr lang="en-US" sz="2400" dirty="0"/>
          </a:p>
        </p:txBody>
      </p:sp>
      <p:sp>
        <p:nvSpPr>
          <p:cNvPr id="5" name="Text 3"/>
          <p:cNvSpPr/>
          <p:nvPr/>
        </p:nvSpPr>
        <p:spPr>
          <a:xfrm>
            <a:off x="1143000" y="603504"/>
            <a:ext cx="8229600" cy="256032"/>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sections, about an hour — or five slides if that is all the time there is</a:t>
            </a:r>
            <a:endParaRPr lang="en-US" sz="1200" dirty="0"/>
          </a:p>
        </p:txBody>
      </p:sp>
      <p:sp>
        <p:nvSpPr>
          <p:cNvPr id="6" name="Shape 4"/>
          <p:cNvSpPr/>
          <p:nvPr/>
        </p:nvSpPr>
        <p:spPr>
          <a:xfrm>
            <a:off x="457200" y="1115568"/>
            <a:ext cx="11274552" cy="950976"/>
          </a:xfrm>
          <a:prstGeom prst="roundRect">
            <a:avLst>
              <a:gd name="adj" fmla="val 9615"/>
            </a:avLst>
          </a:prstGeom>
          <a:solidFill>
            <a:srgbClr val="FFFFFF"/>
          </a:solidFill>
          <a:ln w="12700">
            <a:solidFill>
              <a:srgbClr val="DCE3EE"/>
            </a:solidFill>
            <a:prstDash val="solid"/>
          </a:ln>
        </p:spPr>
      </p:sp>
      <p:sp>
        <p:nvSpPr>
          <p:cNvPr id="7" name="Shape 5"/>
          <p:cNvSpPr/>
          <p:nvPr/>
        </p:nvSpPr>
        <p:spPr>
          <a:xfrm>
            <a:off x="713232" y="1371600"/>
            <a:ext cx="438912" cy="438912"/>
          </a:xfrm>
          <a:prstGeom prst="ellipse">
            <a:avLst/>
          </a:prstGeom>
          <a:solidFill>
            <a:srgbClr val="1D6FB8"/>
          </a:solidFill>
          <a:ln/>
        </p:spPr>
      </p:sp>
      <p:sp>
        <p:nvSpPr>
          <p:cNvPr id="8" name="Text 6"/>
          <p:cNvSpPr/>
          <p:nvPr/>
        </p:nvSpPr>
        <p:spPr>
          <a:xfrm>
            <a:off x="713232" y="1371600"/>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1</a:t>
            </a:r>
            <a:endParaRPr lang="en-US" sz="1900" dirty="0"/>
          </a:p>
        </p:txBody>
      </p:sp>
      <p:sp>
        <p:nvSpPr>
          <p:cNvPr id="9" name="Text 7"/>
          <p:cNvSpPr/>
          <p:nvPr/>
        </p:nvSpPr>
        <p:spPr>
          <a:xfrm>
            <a:off x="1298448" y="1243584"/>
            <a:ext cx="6766560" cy="292608"/>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Orientation</a:t>
            </a:r>
            <a:endParaRPr lang="en-US" sz="1300" dirty="0"/>
          </a:p>
        </p:txBody>
      </p:sp>
      <p:sp>
        <p:nvSpPr>
          <p:cNvPr id="10" name="Text 8"/>
          <p:cNvSpPr/>
          <p:nvPr/>
        </p:nvSpPr>
        <p:spPr>
          <a:xfrm>
            <a:off x="1298448" y="1554480"/>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How the whole thing connects, and what it is worth against costing by hand</a:t>
            </a:r>
            <a:endParaRPr lang="en-US" sz="1020" dirty="0"/>
          </a:p>
        </p:txBody>
      </p:sp>
      <p:sp>
        <p:nvSpPr>
          <p:cNvPr id="11" name="Text 9"/>
          <p:cNvSpPr/>
          <p:nvPr/>
        </p:nvSpPr>
        <p:spPr>
          <a:xfrm>
            <a:off x="9326880" y="1261872"/>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3–4</a:t>
            </a:r>
            <a:endParaRPr lang="en-US" sz="960" dirty="0"/>
          </a:p>
        </p:txBody>
      </p:sp>
      <p:sp>
        <p:nvSpPr>
          <p:cNvPr id="12" name="Text 10"/>
          <p:cNvSpPr/>
          <p:nvPr/>
        </p:nvSpPr>
        <p:spPr>
          <a:xfrm>
            <a:off x="10835640" y="1261872"/>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8 min</a:t>
            </a:r>
            <a:endParaRPr lang="en-US" sz="1100" dirty="0"/>
          </a:p>
        </p:txBody>
      </p:sp>
      <p:sp>
        <p:nvSpPr>
          <p:cNvPr id="13" name="Shape 11"/>
          <p:cNvSpPr/>
          <p:nvPr/>
        </p:nvSpPr>
        <p:spPr>
          <a:xfrm>
            <a:off x="9326880" y="1591056"/>
            <a:ext cx="2286000" cy="274320"/>
          </a:xfrm>
          <a:prstGeom prst="roundRect">
            <a:avLst>
              <a:gd name="adj" fmla="val 50000"/>
            </a:avLst>
          </a:prstGeom>
          <a:solidFill>
            <a:srgbClr val="EAF6EF"/>
          </a:solidFill>
          <a:ln w="12700">
            <a:solidFill>
              <a:srgbClr val="2E8B57"/>
            </a:solidFill>
            <a:prstDash val="solid"/>
          </a:ln>
        </p:spPr>
      </p:sp>
      <p:sp>
        <p:nvSpPr>
          <p:cNvPr id="14" name="Text 12"/>
          <p:cNvSpPr/>
          <p:nvPr/>
        </p:nvSpPr>
        <p:spPr>
          <a:xfrm>
            <a:off x="9326880" y="1591056"/>
            <a:ext cx="2286000" cy="274320"/>
          </a:xfrm>
          <a:prstGeom prst="rect">
            <a:avLst/>
          </a:prstGeom>
          <a:noFill/>
          <a:ln/>
        </p:spPr>
        <p:txBody>
          <a:bodyPr wrap="square" lIns="0" tIns="0" rIns="0" bIns="0" rtlCol="0" anchor="ctr"/>
          <a:lstStyle/>
          <a:p>
            <a:pPr algn="ctr" indent="0" marL="0">
              <a:buNone/>
            </a:pPr>
            <a:r>
              <a:rPr lang="en-US" sz="840" b="1" dirty="0">
                <a:solidFill>
                  <a:srgbClr val="2E8B57"/>
                </a:solidFill>
                <a:latin typeface="Calibri" pitchFamily="34" charset="0"/>
                <a:ea typeface="Calibri" pitchFamily="34" charset="-122"/>
                <a:cs typeface="Calibri" pitchFamily="34" charset="-120"/>
              </a:rPr>
              <a:t>★  on the 10-minute path</a:t>
            </a:r>
            <a:endParaRPr lang="en-US" sz="840" dirty="0"/>
          </a:p>
        </p:txBody>
      </p:sp>
      <p:sp>
        <p:nvSpPr>
          <p:cNvPr id="15" name="Shape 13"/>
          <p:cNvSpPr/>
          <p:nvPr/>
        </p:nvSpPr>
        <p:spPr>
          <a:xfrm>
            <a:off x="457200" y="2176272"/>
            <a:ext cx="11274552" cy="950976"/>
          </a:xfrm>
          <a:prstGeom prst="roundRect">
            <a:avLst>
              <a:gd name="adj" fmla="val 9615"/>
            </a:avLst>
          </a:prstGeom>
          <a:solidFill>
            <a:srgbClr val="FFFFFF"/>
          </a:solidFill>
          <a:ln w="12700">
            <a:solidFill>
              <a:srgbClr val="DCE3EE"/>
            </a:solidFill>
            <a:prstDash val="solid"/>
          </a:ln>
        </p:spPr>
      </p:sp>
      <p:sp>
        <p:nvSpPr>
          <p:cNvPr id="16" name="Shape 14"/>
          <p:cNvSpPr/>
          <p:nvPr/>
        </p:nvSpPr>
        <p:spPr>
          <a:xfrm>
            <a:off x="713232" y="2432304"/>
            <a:ext cx="438912" cy="438912"/>
          </a:xfrm>
          <a:prstGeom prst="ellipse">
            <a:avLst/>
          </a:prstGeom>
          <a:solidFill>
            <a:srgbClr val="0E8074"/>
          </a:solidFill>
          <a:ln/>
        </p:spPr>
      </p:sp>
      <p:sp>
        <p:nvSpPr>
          <p:cNvPr id="17" name="Text 15"/>
          <p:cNvSpPr/>
          <p:nvPr/>
        </p:nvSpPr>
        <p:spPr>
          <a:xfrm>
            <a:off x="713232" y="2432304"/>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2</a:t>
            </a:r>
            <a:endParaRPr lang="en-US" sz="1900" dirty="0"/>
          </a:p>
        </p:txBody>
      </p:sp>
      <p:sp>
        <p:nvSpPr>
          <p:cNvPr id="18" name="Text 16"/>
          <p:cNvSpPr/>
          <p:nvPr/>
        </p:nvSpPr>
        <p:spPr>
          <a:xfrm>
            <a:off x="1298448" y="2304288"/>
            <a:ext cx="6766560" cy="292608"/>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Worked example one — die-cast aluminium housing</a:t>
            </a:r>
            <a:endParaRPr lang="en-US" sz="1300" dirty="0"/>
          </a:p>
        </p:txBody>
      </p:sp>
      <p:sp>
        <p:nvSpPr>
          <p:cNvPr id="19" name="Text 17"/>
          <p:cNvSpPr/>
          <p:nvPr/>
        </p:nvSpPr>
        <p:spPr>
          <a:xfrm>
            <a:off x="1298448" y="2615184"/>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Twelve stages end to end: measure, classify, guard, calculate, approve. Includes the calculation shown in full.</a:t>
            </a:r>
            <a:endParaRPr lang="en-US" sz="1020" dirty="0"/>
          </a:p>
        </p:txBody>
      </p:sp>
      <p:sp>
        <p:nvSpPr>
          <p:cNvPr id="20" name="Text 18"/>
          <p:cNvSpPr/>
          <p:nvPr/>
        </p:nvSpPr>
        <p:spPr>
          <a:xfrm>
            <a:off x="9326880" y="2322576"/>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5–18</a:t>
            </a:r>
            <a:endParaRPr lang="en-US" sz="960" dirty="0"/>
          </a:p>
        </p:txBody>
      </p:sp>
      <p:sp>
        <p:nvSpPr>
          <p:cNvPr id="21" name="Text 19"/>
          <p:cNvSpPr/>
          <p:nvPr/>
        </p:nvSpPr>
        <p:spPr>
          <a:xfrm>
            <a:off x="10835640" y="2322576"/>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22 min</a:t>
            </a:r>
            <a:endParaRPr lang="en-US" sz="1100" dirty="0"/>
          </a:p>
        </p:txBody>
      </p:sp>
      <p:sp>
        <p:nvSpPr>
          <p:cNvPr id="22" name="Shape 20"/>
          <p:cNvSpPr/>
          <p:nvPr/>
        </p:nvSpPr>
        <p:spPr>
          <a:xfrm>
            <a:off x="457200" y="3236976"/>
            <a:ext cx="11274552" cy="950976"/>
          </a:xfrm>
          <a:prstGeom prst="roundRect">
            <a:avLst>
              <a:gd name="adj" fmla="val 9615"/>
            </a:avLst>
          </a:prstGeom>
          <a:solidFill>
            <a:srgbClr val="FFFFFF"/>
          </a:solidFill>
          <a:ln w="12700">
            <a:solidFill>
              <a:srgbClr val="DCE3EE"/>
            </a:solidFill>
            <a:prstDash val="solid"/>
          </a:ln>
        </p:spPr>
      </p:sp>
      <p:sp>
        <p:nvSpPr>
          <p:cNvPr id="23" name="Shape 21"/>
          <p:cNvSpPr/>
          <p:nvPr/>
        </p:nvSpPr>
        <p:spPr>
          <a:xfrm>
            <a:off x="713232" y="3493008"/>
            <a:ext cx="438912" cy="438912"/>
          </a:xfrm>
          <a:prstGeom prst="ellipse">
            <a:avLst/>
          </a:prstGeom>
          <a:solidFill>
            <a:srgbClr val="6B3FA0"/>
          </a:solidFill>
          <a:ln/>
        </p:spPr>
      </p:sp>
      <p:sp>
        <p:nvSpPr>
          <p:cNvPr id="24" name="Text 22"/>
          <p:cNvSpPr/>
          <p:nvPr/>
        </p:nvSpPr>
        <p:spPr>
          <a:xfrm>
            <a:off x="713232" y="3493008"/>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3</a:t>
            </a:r>
            <a:endParaRPr lang="en-US" sz="1900" dirty="0"/>
          </a:p>
        </p:txBody>
      </p:sp>
      <p:sp>
        <p:nvSpPr>
          <p:cNvPr id="25" name="Text 23"/>
          <p:cNvSpPr/>
          <p:nvPr/>
        </p:nvSpPr>
        <p:spPr>
          <a:xfrm>
            <a:off x="1298448" y="3364992"/>
            <a:ext cx="6766560" cy="292608"/>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Worked example two — injection-moulded bumper fascia</a:t>
            </a:r>
            <a:endParaRPr lang="en-US" sz="1300" dirty="0"/>
          </a:p>
        </p:txBody>
      </p:sp>
      <p:sp>
        <p:nvSpPr>
          <p:cNvPr id="26" name="Text 24"/>
          <p:cNvSpPr/>
          <p:nvPr/>
        </p:nvSpPr>
        <p:spPr>
          <a:xfrm>
            <a:off x="1298448" y="3675888"/>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The same method on a very different part — plus paint, and the two findings nobody predicted</a:t>
            </a:r>
            <a:endParaRPr lang="en-US" sz="1020" dirty="0"/>
          </a:p>
        </p:txBody>
      </p:sp>
      <p:sp>
        <p:nvSpPr>
          <p:cNvPr id="27" name="Text 25"/>
          <p:cNvSpPr/>
          <p:nvPr/>
        </p:nvSpPr>
        <p:spPr>
          <a:xfrm>
            <a:off x="9326880" y="3383280"/>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19–28</a:t>
            </a:r>
            <a:endParaRPr lang="en-US" sz="960" dirty="0"/>
          </a:p>
        </p:txBody>
      </p:sp>
      <p:sp>
        <p:nvSpPr>
          <p:cNvPr id="28" name="Text 26"/>
          <p:cNvSpPr/>
          <p:nvPr/>
        </p:nvSpPr>
        <p:spPr>
          <a:xfrm>
            <a:off x="10835640" y="3383280"/>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18 min</a:t>
            </a:r>
            <a:endParaRPr lang="en-US" sz="1100" dirty="0"/>
          </a:p>
        </p:txBody>
      </p:sp>
      <p:sp>
        <p:nvSpPr>
          <p:cNvPr id="29" name="Shape 27"/>
          <p:cNvSpPr/>
          <p:nvPr/>
        </p:nvSpPr>
        <p:spPr>
          <a:xfrm>
            <a:off x="457200" y="4297680"/>
            <a:ext cx="11274552" cy="950976"/>
          </a:xfrm>
          <a:prstGeom prst="roundRect">
            <a:avLst>
              <a:gd name="adj" fmla="val 9615"/>
            </a:avLst>
          </a:prstGeom>
          <a:solidFill>
            <a:srgbClr val="FFFFFF"/>
          </a:solidFill>
          <a:ln w="12700">
            <a:solidFill>
              <a:srgbClr val="DCE3EE"/>
            </a:solidFill>
            <a:prstDash val="solid"/>
          </a:ln>
        </p:spPr>
      </p:sp>
      <p:sp>
        <p:nvSpPr>
          <p:cNvPr id="30" name="Shape 28"/>
          <p:cNvSpPr/>
          <p:nvPr/>
        </p:nvSpPr>
        <p:spPr>
          <a:xfrm>
            <a:off x="713232" y="4553712"/>
            <a:ext cx="438912" cy="438912"/>
          </a:xfrm>
          <a:prstGeom prst="ellipse">
            <a:avLst/>
          </a:prstGeom>
          <a:solidFill>
            <a:srgbClr val="B03A2E"/>
          </a:solidFill>
          <a:ln/>
        </p:spPr>
      </p:sp>
      <p:sp>
        <p:nvSpPr>
          <p:cNvPr id="31" name="Text 29"/>
          <p:cNvSpPr/>
          <p:nvPr/>
        </p:nvSpPr>
        <p:spPr>
          <a:xfrm>
            <a:off x="713232" y="4553712"/>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4</a:t>
            </a:r>
            <a:endParaRPr lang="en-US" sz="1900" dirty="0"/>
          </a:p>
        </p:txBody>
      </p:sp>
      <p:sp>
        <p:nvSpPr>
          <p:cNvPr id="32" name="Text 30"/>
          <p:cNvSpPr/>
          <p:nvPr/>
        </p:nvSpPr>
        <p:spPr>
          <a:xfrm>
            <a:off x="1298448" y="4425696"/>
            <a:ext cx="6766560" cy="292608"/>
          </a:xfrm>
          <a:prstGeom prst="rect">
            <a:avLst/>
          </a:prstGeom>
          <a:noFill/>
          <a:ln/>
        </p:spPr>
        <p:txBody>
          <a:bodyPr wrap="square" lIns="0" tIns="0" rIns="0" bIns="0" rtlCol="0" anchor="ctr"/>
          <a:lstStyle/>
          <a:p>
            <a:pPr indent="0" marL="0">
              <a:buNone/>
            </a:pPr>
            <a:r>
              <a:rPr lang="en-US" sz="1300" b="1" dirty="0">
                <a:solidFill>
                  <a:srgbClr val="B03A2E"/>
                </a:solidFill>
                <a:latin typeface="Calibri" pitchFamily="34" charset="0"/>
                <a:ea typeface="Calibri" pitchFamily="34" charset="-122"/>
                <a:cs typeface="Calibri" pitchFamily="34" charset="-120"/>
              </a:rPr>
              <a:t>The honest limits</a:t>
            </a:r>
            <a:endParaRPr lang="en-US" sz="1300" dirty="0"/>
          </a:p>
        </p:txBody>
      </p:sp>
      <p:sp>
        <p:nvSpPr>
          <p:cNvPr id="33" name="Text 31"/>
          <p:cNvSpPr/>
          <p:nvPr/>
        </p:nvSpPr>
        <p:spPr>
          <a:xfrm>
            <a:off x="1298448" y="4736592"/>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Six things this tool cannot do, from us rather than from a sceptic in the room</a:t>
            </a:r>
            <a:endParaRPr lang="en-US" sz="1020" dirty="0"/>
          </a:p>
        </p:txBody>
      </p:sp>
      <p:sp>
        <p:nvSpPr>
          <p:cNvPr id="34" name="Text 32"/>
          <p:cNvSpPr/>
          <p:nvPr/>
        </p:nvSpPr>
        <p:spPr>
          <a:xfrm>
            <a:off x="9326880" y="4443984"/>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 29</a:t>
            </a:r>
            <a:endParaRPr lang="en-US" sz="960" dirty="0"/>
          </a:p>
        </p:txBody>
      </p:sp>
      <p:sp>
        <p:nvSpPr>
          <p:cNvPr id="35" name="Text 33"/>
          <p:cNvSpPr/>
          <p:nvPr/>
        </p:nvSpPr>
        <p:spPr>
          <a:xfrm>
            <a:off x="10835640" y="4443984"/>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 min</a:t>
            </a:r>
            <a:endParaRPr lang="en-US" sz="1100" dirty="0"/>
          </a:p>
        </p:txBody>
      </p:sp>
      <p:sp>
        <p:nvSpPr>
          <p:cNvPr id="36" name="Shape 34"/>
          <p:cNvSpPr/>
          <p:nvPr/>
        </p:nvSpPr>
        <p:spPr>
          <a:xfrm>
            <a:off x="9326880" y="4773168"/>
            <a:ext cx="2286000" cy="274320"/>
          </a:xfrm>
          <a:prstGeom prst="roundRect">
            <a:avLst>
              <a:gd name="adj" fmla="val 50000"/>
            </a:avLst>
          </a:prstGeom>
          <a:solidFill>
            <a:srgbClr val="EAF6EF"/>
          </a:solidFill>
          <a:ln w="12700">
            <a:solidFill>
              <a:srgbClr val="2E8B57"/>
            </a:solidFill>
            <a:prstDash val="solid"/>
          </a:ln>
        </p:spPr>
      </p:sp>
      <p:sp>
        <p:nvSpPr>
          <p:cNvPr id="37" name="Text 35"/>
          <p:cNvSpPr/>
          <p:nvPr/>
        </p:nvSpPr>
        <p:spPr>
          <a:xfrm>
            <a:off x="9326880" y="4773168"/>
            <a:ext cx="2286000" cy="274320"/>
          </a:xfrm>
          <a:prstGeom prst="rect">
            <a:avLst/>
          </a:prstGeom>
          <a:noFill/>
          <a:ln/>
        </p:spPr>
        <p:txBody>
          <a:bodyPr wrap="square" lIns="0" tIns="0" rIns="0" bIns="0" rtlCol="0" anchor="ctr"/>
          <a:lstStyle/>
          <a:p>
            <a:pPr algn="ctr" indent="0" marL="0">
              <a:buNone/>
            </a:pPr>
            <a:r>
              <a:rPr lang="en-US" sz="840" b="1" dirty="0">
                <a:solidFill>
                  <a:srgbClr val="2E8B57"/>
                </a:solidFill>
                <a:latin typeface="Calibri" pitchFamily="34" charset="0"/>
                <a:ea typeface="Calibri" pitchFamily="34" charset="-122"/>
                <a:cs typeface="Calibri" pitchFamily="34" charset="-120"/>
              </a:rPr>
              <a:t>★  on the 10-minute path</a:t>
            </a:r>
            <a:endParaRPr lang="en-US" sz="840" dirty="0"/>
          </a:p>
        </p:txBody>
      </p:sp>
      <p:sp>
        <p:nvSpPr>
          <p:cNvPr id="38" name="Shape 36"/>
          <p:cNvSpPr/>
          <p:nvPr/>
        </p:nvSpPr>
        <p:spPr>
          <a:xfrm>
            <a:off x="457200" y="5413248"/>
            <a:ext cx="11274552" cy="822960"/>
          </a:xfrm>
          <a:prstGeom prst="roundRect">
            <a:avLst>
              <a:gd name="adj" fmla="val 11111"/>
            </a:avLst>
          </a:prstGeom>
          <a:solidFill>
            <a:srgbClr val="16325C"/>
          </a:solidFill>
          <a:ln/>
        </p:spPr>
      </p:sp>
      <p:sp>
        <p:nvSpPr>
          <p:cNvPr id="39" name="Text 37"/>
          <p:cNvSpPr/>
          <p:nvPr/>
        </p:nvSpPr>
        <p:spPr>
          <a:xfrm>
            <a:off x="777240" y="5504688"/>
            <a:ext cx="10652760" cy="658368"/>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If you only have ten minutes:  </a:t>
            </a:r>
            <a:pPr indent="0" marL="0">
              <a:buNone/>
            </a:pPr>
            <a:r>
              <a:rPr lang="en-US" sz="1150" dirty="0">
                <a:solidFill>
                  <a:srgbClr val="FFFFFF"/>
                </a:solidFill>
                <a:latin typeface="Calibri" pitchFamily="34" charset="0"/>
                <a:ea typeface="Calibri" pitchFamily="34" charset="-122"/>
                <a:cs typeface="Calibri" pitchFamily="34" charset="-120"/>
              </a:rPr>
              <a:t>slide 3 (how it connects) · slide 4 (what it is worth) · slide 18 (the housing on one page) · slide 27 (the two findings) · slide 29 (the limits). Everything in between is the evidence for those five.</a:t>
            </a:r>
            <a:endParaRPr lang="en-US" sz="1150" dirty="0"/>
          </a:p>
        </p:txBody>
      </p:sp>
      <p:sp>
        <p:nvSpPr>
          <p:cNvPr id="40" name="Text 3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1" name="Text 3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How It All Connects — One Picture</a:t>
            </a:r>
            <a:endParaRPr lang="en-US" sz="2400" dirty="0"/>
          </a:p>
        </p:txBody>
      </p:sp>
      <p:sp>
        <p:nvSpPr>
          <p:cNvPr id="5" name="Text 3"/>
          <p:cNvSpPr/>
          <p:nvPr/>
        </p:nvSpPr>
        <p:spPr>
          <a:xfrm>
            <a:off x="1143000" y="603504"/>
            <a:ext cx="7863840" cy="256032"/>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Everything feeds one engine. Only one arrow leaves the building.</a:t>
            </a:r>
            <a:endParaRPr lang="en-US" sz="1200" dirty="0"/>
          </a:p>
        </p:txBody>
      </p:sp>
      <p:sp>
        <p:nvSpPr>
          <p:cNvPr id="6" name="Shape 4"/>
          <p:cNvSpPr/>
          <p:nvPr/>
        </p:nvSpPr>
        <p:spPr>
          <a:xfrm>
            <a:off x="9098280" y="288036"/>
            <a:ext cx="109728" cy="109728"/>
          </a:xfrm>
          <a:prstGeom prst="ellipse">
            <a:avLst/>
          </a:prstGeom>
          <a:solidFill>
            <a:srgbClr val="1D6FB8"/>
          </a:solidFill>
          <a:ln/>
        </p:spPr>
      </p:sp>
      <p:sp>
        <p:nvSpPr>
          <p:cNvPr id="7" name="Text 5"/>
          <p:cNvSpPr/>
          <p:nvPr/>
        </p:nvSpPr>
        <p:spPr>
          <a:xfrm>
            <a:off x="9253728" y="237744"/>
            <a:ext cx="868680" cy="219456"/>
          </a:xfrm>
          <a:prstGeom prst="rect">
            <a:avLst/>
          </a:prstGeom>
          <a:noFill/>
          <a:ln/>
        </p:spPr>
        <p:txBody>
          <a:bodyPr wrap="square" lIns="0" tIns="0" rIns="0" bIns="0" rtlCol="0" anchor="ctr"/>
          <a:lstStyle/>
          <a:p>
            <a:pPr indent="0" marL="0">
              <a:buNone/>
            </a:pPr>
            <a:r>
              <a:rPr lang="en-US" sz="820" dirty="0">
                <a:solidFill>
                  <a:srgbClr val="3A4356"/>
                </a:solidFill>
                <a:latin typeface="Calibri" pitchFamily="34" charset="0"/>
                <a:ea typeface="Calibri" pitchFamily="34" charset="-122"/>
                <a:cs typeface="Calibri" pitchFamily="34" charset="-120"/>
              </a:rPr>
              <a:t>Measure</a:t>
            </a:r>
            <a:endParaRPr lang="en-US" sz="820" dirty="0"/>
          </a:p>
        </p:txBody>
      </p:sp>
      <p:sp>
        <p:nvSpPr>
          <p:cNvPr id="8" name="Shape 6"/>
          <p:cNvSpPr/>
          <p:nvPr/>
        </p:nvSpPr>
        <p:spPr>
          <a:xfrm>
            <a:off x="10012680" y="288036"/>
            <a:ext cx="109728" cy="109728"/>
          </a:xfrm>
          <a:prstGeom prst="ellipse">
            <a:avLst/>
          </a:prstGeom>
          <a:solidFill>
            <a:srgbClr val="6B3FA0"/>
          </a:solidFill>
          <a:ln/>
        </p:spPr>
      </p:sp>
      <p:sp>
        <p:nvSpPr>
          <p:cNvPr id="9" name="Text 7"/>
          <p:cNvSpPr/>
          <p:nvPr/>
        </p:nvSpPr>
        <p:spPr>
          <a:xfrm>
            <a:off x="10168128" y="237744"/>
            <a:ext cx="868680" cy="219456"/>
          </a:xfrm>
          <a:prstGeom prst="rect">
            <a:avLst/>
          </a:prstGeom>
          <a:noFill/>
          <a:ln/>
        </p:spPr>
        <p:txBody>
          <a:bodyPr wrap="square" lIns="0" tIns="0" rIns="0" bIns="0" rtlCol="0" anchor="ctr"/>
          <a:lstStyle/>
          <a:p>
            <a:pPr indent="0" marL="0">
              <a:buNone/>
            </a:pPr>
            <a:r>
              <a:rPr lang="en-US" sz="820" dirty="0">
                <a:solidFill>
                  <a:srgbClr val="3A4356"/>
                </a:solidFill>
                <a:latin typeface="Calibri" pitchFamily="34" charset="0"/>
                <a:ea typeface="Calibri" pitchFamily="34" charset="-122"/>
                <a:cs typeface="Calibri" pitchFamily="34" charset="-120"/>
              </a:rPr>
              <a:t>AI</a:t>
            </a:r>
            <a:endParaRPr lang="en-US" sz="820" dirty="0"/>
          </a:p>
        </p:txBody>
      </p:sp>
      <p:sp>
        <p:nvSpPr>
          <p:cNvPr id="10" name="Shape 8"/>
          <p:cNvSpPr/>
          <p:nvPr/>
        </p:nvSpPr>
        <p:spPr>
          <a:xfrm>
            <a:off x="10927080" y="288036"/>
            <a:ext cx="109728" cy="109728"/>
          </a:xfrm>
          <a:prstGeom prst="ellipse">
            <a:avLst/>
          </a:prstGeom>
          <a:solidFill>
            <a:srgbClr val="B7791F"/>
          </a:solidFill>
          <a:ln/>
        </p:spPr>
      </p:sp>
      <p:sp>
        <p:nvSpPr>
          <p:cNvPr id="11" name="Text 9"/>
          <p:cNvSpPr/>
          <p:nvPr/>
        </p:nvSpPr>
        <p:spPr>
          <a:xfrm>
            <a:off x="11082528" y="237744"/>
            <a:ext cx="868680" cy="219456"/>
          </a:xfrm>
          <a:prstGeom prst="rect">
            <a:avLst/>
          </a:prstGeom>
          <a:noFill/>
          <a:ln/>
        </p:spPr>
        <p:txBody>
          <a:bodyPr wrap="square" lIns="0" tIns="0" rIns="0" bIns="0" rtlCol="0" anchor="ctr"/>
          <a:lstStyle/>
          <a:p>
            <a:pPr indent="0" marL="0">
              <a:buNone/>
            </a:pPr>
            <a:r>
              <a:rPr lang="en-US" sz="820" dirty="0">
                <a:solidFill>
                  <a:srgbClr val="3A4356"/>
                </a:solidFill>
                <a:latin typeface="Calibri" pitchFamily="34" charset="0"/>
                <a:ea typeface="Calibri" pitchFamily="34" charset="-122"/>
                <a:cs typeface="Calibri" pitchFamily="34" charset="-120"/>
              </a:rPr>
              <a:t>Guardrail</a:t>
            </a:r>
            <a:endParaRPr lang="en-US" sz="820" dirty="0"/>
          </a:p>
        </p:txBody>
      </p:sp>
      <p:sp>
        <p:nvSpPr>
          <p:cNvPr id="12" name="Shape 10"/>
          <p:cNvSpPr/>
          <p:nvPr/>
        </p:nvSpPr>
        <p:spPr>
          <a:xfrm>
            <a:off x="9098280" y="544068"/>
            <a:ext cx="109728" cy="109728"/>
          </a:xfrm>
          <a:prstGeom prst="ellipse">
            <a:avLst/>
          </a:prstGeom>
          <a:solidFill>
            <a:srgbClr val="0E8074"/>
          </a:solidFill>
          <a:ln/>
        </p:spPr>
      </p:sp>
      <p:sp>
        <p:nvSpPr>
          <p:cNvPr id="13" name="Text 11"/>
          <p:cNvSpPr/>
          <p:nvPr/>
        </p:nvSpPr>
        <p:spPr>
          <a:xfrm>
            <a:off x="9253728" y="493776"/>
            <a:ext cx="868680" cy="219456"/>
          </a:xfrm>
          <a:prstGeom prst="rect">
            <a:avLst/>
          </a:prstGeom>
          <a:noFill/>
          <a:ln/>
        </p:spPr>
        <p:txBody>
          <a:bodyPr wrap="square" lIns="0" tIns="0" rIns="0" bIns="0" rtlCol="0" anchor="ctr"/>
          <a:lstStyle/>
          <a:p>
            <a:pPr indent="0" marL="0">
              <a:buNone/>
            </a:pPr>
            <a:r>
              <a:rPr lang="en-US" sz="820" dirty="0">
                <a:solidFill>
                  <a:srgbClr val="3A4356"/>
                </a:solidFill>
                <a:latin typeface="Calibri" pitchFamily="34" charset="0"/>
                <a:ea typeface="Calibri" pitchFamily="34" charset="-122"/>
                <a:cs typeface="Calibri" pitchFamily="34" charset="-120"/>
              </a:rPr>
              <a:t>Engine</a:t>
            </a:r>
            <a:endParaRPr lang="en-US" sz="820" dirty="0"/>
          </a:p>
        </p:txBody>
      </p:sp>
      <p:sp>
        <p:nvSpPr>
          <p:cNvPr id="14" name="Shape 12"/>
          <p:cNvSpPr/>
          <p:nvPr/>
        </p:nvSpPr>
        <p:spPr>
          <a:xfrm>
            <a:off x="10012680" y="544068"/>
            <a:ext cx="109728" cy="109728"/>
          </a:xfrm>
          <a:prstGeom prst="ellipse">
            <a:avLst/>
          </a:prstGeom>
          <a:solidFill>
            <a:srgbClr val="2E8B57"/>
          </a:solidFill>
          <a:ln/>
        </p:spPr>
      </p:sp>
      <p:sp>
        <p:nvSpPr>
          <p:cNvPr id="15" name="Text 13"/>
          <p:cNvSpPr/>
          <p:nvPr/>
        </p:nvSpPr>
        <p:spPr>
          <a:xfrm>
            <a:off x="10168128" y="493776"/>
            <a:ext cx="868680" cy="219456"/>
          </a:xfrm>
          <a:prstGeom prst="rect">
            <a:avLst/>
          </a:prstGeom>
          <a:noFill/>
          <a:ln/>
        </p:spPr>
        <p:txBody>
          <a:bodyPr wrap="square" lIns="0" tIns="0" rIns="0" bIns="0" rtlCol="0" anchor="ctr"/>
          <a:lstStyle/>
          <a:p>
            <a:pPr indent="0" marL="0">
              <a:buNone/>
            </a:pPr>
            <a:r>
              <a:rPr lang="en-US" sz="820" dirty="0">
                <a:solidFill>
                  <a:srgbClr val="3A4356"/>
                </a:solidFill>
                <a:latin typeface="Calibri" pitchFamily="34" charset="0"/>
                <a:ea typeface="Calibri" pitchFamily="34" charset="-122"/>
                <a:cs typeface="Calibri" pitchFamily="34" charset="-120"/>
              </a:rPr>
              <a:t>Human / output</a:t>
            </a:r>
            <a:endParaRPr lang="en-US" sz="820" dirty="0"/>
          </a:p>
        </p:txBody>
      </p:sp>
      <p:sp>
        <p:nvSpPr>
          <p:cNvPr id="16" name="Shape 14"/>
          <p:cNvSpPr/>
          <p:nvPr/>
        </p:nvSpPr>
        <p:spPr>
          <a:xfrm>
            <a:off x="2331720" y="932688"/>
            <a:ext cx="4754880" cy="868680"/>
          </a:xfrm>
          <a:prstGeom prst="roundRect">
            <a:avLst>
              <a:gd name="adj" fmla="val 9474"/>
            </a:avLst>
          </a:prstGeom>
          <a:solidFill>
            <a:srgbClr val="F1EBF8"/>
          </a:solidFill>
          <a:ln w="19050">
            <a:solidFill>
              <a:srgbClr val="6B3FA0"/>
            </a:solidFill>
            <a:prstDash val="dash"/>
          </a:ln>
        </p:spPr>
      </p:sp>
      <p:sp>
        <p:nvSpPr>
          <p:cNvPr id="17" name="Shape 15"/>
          <p:cNvSpPr/>
          <p:nvPr/>
        </p:nvSpPr>
        <p:spPr>
          <a:xfrm>
            <a:off x="2468880" y="1170432"/>
            <a:ext cx="402336" cy="402336"/>
          </a:xfrm>
          <a:prstGeom prst="ellipse">
            <a:avLst/>
          </a:prstGeom>
          <a:solidFill>
            <a:srgbClr val="6B3FA0"/>
          </a:solidFill>
          <a:ln/>
        </p:spPr>
      </p:sp>
      <p:pic>
        <p:nvPicPr>
          <p:cNvPr id="18" name="Image 0" descr="preencoded.png">    </p:cNvPr>
          <p:cNvPicPr>
            <a:picLocks noChangeAspect="1"/>
          </p:cNvPicPr>
          <p:nvPr/>
        </p:nvPicPr>
        <p:blipFill>
          <a:blip r:embed="rId1"/>
          <a:stretch>
            <a:fillRect/>
          </a:stretch>
        </p:blipFill>
        <p:spPr>
          <a:xfrm>
            <a:off x="2569464" y="1271016"/>
            <a:ext cx="201168" cy="201168"/>
          </a:xfrm>
          <a:prstGeom prst="rect">
            <a:avLst/>
          </a:prstGeom>
        </p:spPr>
      </p:pic>
      <p:sp>
        <p:nvSpPr>
          <p:cNvPr id="19" name="Text 16"/>
          <p:cNvSpPr/>
          <p:nvPr/>
        </p:nvSpPr>
        <p:spPr>
          <a:xfrm>
            <a:off x="2999232" y="987552"/>
            <a:ext cx="3977640" cy="182880"/>
          </a:xfrm>
          <a:prstGeom prst="rect">
            <a:avLst/>
          </a:prstGeom>
          <a:noFill/>
          <a:ln/>
        </p:spPr>
        <p:txBody>
          <a:bodyPr wrap="square" lIns="0" tIns="0" rIns="0" bIns="0" rtlCol="0" anchor="ctr"/>
          <a:lstStyle/>
          <a:p>
            <a:pPr indent="0" marL="0">
              <a:buNone/>
            </a:pPr>
            <a:r>
              <a:rPr lang="en-US" sz="800" b="1" spc="40" kern="0" dirty="0">
                <a:solidFill>
                  <a:srgbClr val="6B3FA0"/>
                </a:solidFill>
                <a:latin typeface="Calibri" pitchFamily="34" charset="0"/>
                <a:ea typeface="Calibri" pitchFamily="34" charset="-122"/>
                <a:cs typeface="Calibri" pitchFamily="34" charset="-120"/>
              </a:rPr>
              <a:t>LEAVES YOUR NETWORK — the only outbound call</a:t>
            </a:r>
            <a:endParaRPr lang="en-US" sz="800" dirty="0"/>
          </a:p>
        </p:txBody>
      </p:sp>
      <p:sp>
        <p:nvSpPr>
          <p:cNvPr id="20" name="Text 17"/>
          <p:cNvSpPr/>
          <p:nvPr/>
        </p:nvSpPr>
        <p:spPr>
          <a:xfrm>
            <a:off x="2999232" y="1179576"/>
            <a:ext cx="3977640" cy="365760"/>
          </a:xfrm>
          <a:prstGeom prst="rect">
            <a:avLst/>
          </a:prstGeom>
          <a:noFill/>
          <a:ln/>
        </p:spPr>
        <p:txBody>
          <a:bodyPr wrap="square" lIns="0" tIns="0" rIns="0" bIns="0" rtlCol="0" anchor="t"/>
          <a:lstStyle/>
          <a:p>
            <a:pPr indent="0" marL="0">
              <a:buNone/>
            </a:pPr>
            <a:r>
              <a:rPr lang="en-US" sz="900" b="1" dirty="0">
                <a:solidFill>
                  <a:srgbClr val="16325C"/>
                </a:solidFill>
                <a:latin typeface="Calibri" pitchFamily="34" charset="0"/>
                <a:ea typeface="Calibri" pitchFamily="34" charset="-122"/>
                <a:cs typeface="Calibri" pitchFamily="34" charset="-120"/>
              </a:rPr>
              <a:t>Claude API · classification only. </a:t>
            </a:r>
            <a:pPr indent="0" marL="0">
              <a:buNone/>
            </a:pPr>
            <a:r>
              <a:rPr lang="en-US" sz="900" dirty="0">
                <a:solidFill>
                  <a:srgbClr val="3A4356"/>
                </a:solidFill>
                <a:latin typeface="Calibri" pitchFamily="34" charset="0"/>
                <a:ea typeface="Calibri" pitchFamily="34" charset="-122"/>
                <a:cs typeface="Calibri" pitchFamily="34" charset="-120"/>
              </a:rPr>
              <a:t>Geometry out, words back. No prices, no rates, no drawings.</a:t>
            </a:r>
            <a:endParaRPr lang="en-US" sz="900" dirty="0"/>
          </a:p>
        </p:txBody>
      </p:sp>
      <p:sp>
        <p:nvSpPr>
          <p:cNvPr id="21" name="Text 18"/>
          <p:cNvSpPr/>
          <p:nvPr/>
        </p:nvSpPr>
        <p:spPr>
          <a:xfrm>
            <a:off x="2999232" y="1563624"/>
            <a:ext cx="3977640" cy="182880"/>
          </a:xfrm>
          <a:prstGeom prst="rect">
            <a:avLst/>
          </a:prstGeom>
          <a:noFill/>
          <a:ln/>
        </p:spPr>
        <p:txBody>
          <a:bodyPr wrap="square" lIns="0" tIns="0" rIns="0" bIns="0" rtlCol="0" anchor="ctr"/>
          <a:lstStyle/>
          <a:p>
            <a:pPr indent="0" marL="0">
              <a:buNone/>
            </a:pPr>
            <a:r>
              <a:rPr lang="en-US" sz="800" i="1" dirty="0">
                <a:solidFill>
                  <a:srgbClr val="6B3FA0"/>
                </a:solidFill>
                <a:latin typeface="Calibri" pitchFamily="34" charset="0"/>
                <a:ea typeface="Calibri" pitchFamily="34" charset="-122"/>
                <a:cs typeface="Calibri" pitchFamily="34" charset="-120"/>
              </a:rPr>
              <a:t>Routable to a private endpoint · AIR_GAPPED=1 switches it off entirely</a:t>
            </a:r>
            <a:endParaRPr lang="en-US" sz="800" dirty="0"/>
          </a:p>
        </p:txBody>
      </p:sp>
      <p:sp>
        <p:nvSpPr>
          <p:cNvPr id="22" name="Shape 19"/>
          <p:cNvSpPr/>
          <p:nvPr/>
        </p:nvSpPr>
        <p:spPr>
          <a:xfrm>
            <a:off x="7315200" y="932688"/>
            <a:ext cx="4416552" cy="868680"/>
          </a:xfrm>
          <a:prstGeom prst="roundRect">
            <a:avLst>
              <a:gd name="adj" fmla="val 9474"/>
            </a:avLst>
          </a:prstGeom>
          <a:solidFill>
            <a:srgbClr val="FFFFFF"/>
          </a:solidFill>
          <a:ln w="12700">
            <a:solidFill>
              <a:srgbClr val="DCE3EE"/>
            </a:solidFill>
            <a:prstDash val="dash"/>
          </a:ln>
        </p:spPr>
      </p:sp>
      <p:sp>
        <p:nvSpPr>
          <p:cNvPr id="23" name="Text 20"/>
          <p:cNvSpPr/>
          <p:nvPr/>
        </p:nvSpPr>
        <p:spPr>
          <a:xfrm>
            <a:off x="7498080" y="1024128"/>
            <a:ext cx="4114800" cy="201168"/>
          </a:xfrm>
          <a:prstGeom prst="rect">
            <a:avLst/>
          </a:prstGeom>
          <a:noFill/>
          <a:ln/>
        </p:spPr>
        <p:txBody>
          <a:bodyPr wrap="square" lIns="0" tIns="0" rIns="0" bIns="0" rtlCol="0" anchor="ctr"/>
          <a:lstStyle/>
          <a:p>
            <a:pPr indent="0" marL="0">
              <a:buNone/>
            </a:pPr>
            <a:r>
              <a:rPr lang="en-US" sz="800" b="1" spc="40" kern="0" dirty="0">
                <a:solidFill>
                  <a:srgbClr val="6B7280"/>
                </a:solidFill>
                <a:latin typeface="Calibri" pitchFamily="34" charset="0"/>
                <a:ea typeface="Calibri" pitchFamily="34" charset="-122"/>
                <a:cs typeface="Calibri" pitchFamily="34" charset="-120"/>
              </a:rPr>
              <a:t>OPTIONAL FEEDS — off by default, none of them price a part</a:t>
            </a:r>
            <a:endParaRPr lang="en-US" sz="800" dirty="0"/>
          </a:p>
        </p:txBody>
      </p:sp>
      <p:sp>
        <p:nvSpPr>
          <p:cNvPr id="24" name="Text 21"/>
          <p:cNvSpPr/>
          <p:nvPr/>
        </p:nvSpPr>
        <p:spPr>
          <a:xfrm>
            <a:off x="7498080" y="1261872"/>
            <a:ext cx="4114800" cy="45720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Live component pricing (PCB only) · industry news · metal-price ticker (display only)</a:t>
            </a:r>
            <a:endParaRPr lang="en-US" sz="900" dirty="0"/>
          </a:p>
        </p:txBody>
      </p:sp>
      <p:sp>
        <p:nvSpPr>
          <p:cNvPr id="25" name="Shape 22"/>
          <p:cNvSpPr/>
          <p:nvPr/>
        </p:nvSpPr>
        <p:spPr>
          <a:xfrm>
            <a:off x="411480" y="1993392"/>
            <a:ext cx="11338560" cy="4023360"/>
          </a:xfrm>
          <a:prstGeom prst="roundRect">
            <a:avLst>
              <a:gd name="adj" fmla="val 2727"/>
            </a:avLst>
          </a:prstGeom>
          <a:solidFill>
            <a:srgbClr val="FFFFFF"/>
          </a:solidFill>
          <a:ln w="22225">
            <a:solidFill>
              <a:srgbClr val="0E8074"/>
            </a:solidFill>
            <a:prstDash val="dash"/>
          </a:ln>
        </p:spPr>
      </p:sp>
      <p:sp>
        <p:nvSpPr>
          <p:cNvPr id="26" name="Shape 23"/>
          <p:cNvSpPr/>
          <p:nvPr/>
        </p:nvSpPr>
        <p:spPr>
          <a:xfrm>
            <a:off x="685800" y="1874520"/>
            <a:ext cx="3200400" cy="256032"/>
          </a:xfrm>
          <a:prstGeom prst="roundRect">
            <a:avLst>
              <a:gd name="adj" fmla="val 50000"/>
            </a:avLst>
          </a:prstGeom>
          <a:solidFill>
            <a:srgbClr val="0E8074"/>
          </a:solidFill>
          <a:ln/>
        </p:spPr>
      </p:sp>
      <p:sp>
        <p:nvSpPr>
          <p:cNvPr id="27" name="Text 24"/>
          <p:cNvSpPr/>
          <p:nvPr/>
        </p:nvSpPr>
        <p:spPr>
          <a:xfrm>
            <a:off x="685800" y="1874520"/>
            <a:ext cx="3200400" cy="256032"/>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Calibri" pitchFamily="34" charset="0"/>
                <a:ea typeface="Calibri" pitchFamily="34" charset="-122"/>
                <a:cs typeface="Calibri" pitchFamily="34" charset="-120"/>
              </a:rPr>
              <a:t>INSIDE — RUNS ON YOUR OWN SERVER</a:t>
            </a:r>
            <a:endParaRPr lang="en-US" sz="850" dirty="0"/>
          </a:p>
        </p:txBody>
      </p:sp>
      <p:sp>
        <p:nvSpPr>
          <p:cNvPr id="28" name="Shape 25"/>
          <p:cNvSpPr/>
          <p:nvPr/>
        </p:nvSpPr>
        <p:spPr>
          <a:xfrm>
            <a:off x="3794760" y="1801368"/>
            <a:ext cx="0" cy="649224"/>
          </a:xfrm>
          <a:prstGeom prst="line">
            <a:avLst/>
          </a:prstGeom>
          <a:noFill/>
          <a:ln w="19050">
            <a:solidFill>
              <a:srgbClr val="6B3FA0"/>
            </a:solidFill>
            <a:prstDash val="dash"/>
            <a:headEnd type="triangle"/>
            <a:tailEnd type="triangle"/>
          </a:ln>
        </p:spPr>
      </p:sp>
      <p:sp>
        <p:nvSpPr>
          <p:cNvPr id="29" name="Text 26"/>
          <p:cNvSpPr/>
          <p:nvPr/>
        </p:nvSpPr>
        <p:spPr>
          <a:xfrm>
            <a:off x="594360" y="2231136"/>
            <a:ext cx="1874520" cy="219456"/>
          </a:xfrm>
          <a:prstGeom prst="rect">
            <a:avLst/>
          </a:prstGeom>
          <a:noFill/>
          <a:ln/>
        </p:spPr>
        <p:txBody>
          <a:bodyPr wrap="square" lIns="0" tIns="0" rIns="0" bIns="0" rtlCol="0" anchor="ctr"/>
          <a:lstStyle/>
          <a:p>
            <a:pPr indent="0" marL="0">
              <a:buNone/>
            </a:pPr>
            <a:r>
              <a:rPr lang="en-US" sz="850" b="1" spc="60" kern="0" dirty="0">
                <a:solidFill>
                  <a:srgbClr val="1D6FB8"/>
                </a:solidFill>
                <a:latin typeface="Calibri" pitchFamily="34" charset="0"/>
                <a:ea typeface="Calibri" pitchFamily="34" charset="-122"/>
                <a:cs typeface="Calibri" pitchFamily="34" charset="-120"/>
              </a:rPr>
              <a:t>WHAT GOES IN</a:t>
            </a:r>
            <a:endParaRPr lang="en-US" sz="850" dirty="0"/>
          </a:p>
        </p:txBody>
      </p:sp>
      <p:sp>
        <p:nvSpPr>
          <p:cNvPr id="30" name="Shape 27"/>
          <p:cNvSpPr/>
          <p:nvPr/>
        </p:nvSpPr>
        <p:spPr>
          <a:xfrm>
            <a:off x="594360" y="2505456"/>
            <a:ext cx="1874520" cy="621792"/>
          </a:xfrm>
          <a:prstGeom prst="roundRect">
            <a:avLst>
              <a:gd name="adj" fmla="val 10294"/>
            </a:avLst>
          </a:prstGeom>
          <a:solidFill>
            <a:srgbClr val="FFFFFF"/>
          </a:solidFill>
          <a:ln w="12700">
            <a:solidFill>
              <a:srgbClr val="DCE3EE"/>
            </a:solidFill>
            <a:prstDash val="solid"/>
          </a:ln>
        </p:spPr>
      </p:sp>
      <p:sp>
        <p:nvSpPr>
          <p:cNvPr id="31" name="Text 28"/>
          <p:cNvSpPr/>
          <p:nvPr/>
        </p:nvSpPr>
        <p:spPr>
          <a:xfrm>
            <a:off x="713232" y="2505456"/>
            <a:ext cx="1636776" cy="621792"/>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3D CAD model</a:t>
            </a:r>
            <a:endParaRPr lang="en-US" sz="880" dirty="0"/>
          </a:p>
          <a:p>
            <a:pPr indent="0" marL="0">
              <a:buNone/>
            </a:pPr>
            <a:r>
              <a:rPr lang="en-US" sz="880" dirty="0">
                <a:solidFill>
                  <a:srgbClr val="3A4356"/>
                </a:solidFill>
                <a:latin typeface="Calibri" pitchFamily="34" charset="0"/>
                <a:ea typeface="Calibri" pitchFamily="34" charset="-122"/>
                <a:cs typeface="Calibri" pitchFamily="34" charset="-120"/>
              </a:rPr>
              <a:t>(STEP / IGES / STL)</a:t>
            </a:r>
            <a:endParaRPr lang="en-US" sz="880" dirty="0"/>
          </a:p>
        </p:txBody>
      </p:sp>
      <p:sp>
        <p:nvSpPr>
          <p:cNvPr id="32" name="Shape 29"/>
          <p:cNvSpPr/>
          <p:nvPr/>
        </p:nvSpPr>
        <p:spPr>
          <a:xfrm>
            <a:off x="594360" y="3236976"/>
            <a:ext cx="1874520" cy="621792"/>
          </a:xfrm>
          <a:prstGeom prst="roundRect">
            <a:avLst>
              <a:gd name="adj" fmla="val 10294"/>
            </a:avLst>
          </a:prstGeom>
          <a:solidFill>
            <a:srgbClr val="FFFFFF"/>
          </a:solidFill>
          <a:ln w="12700">
            <a:solidFill>
              <a:srgbClr val="DCE3EE"/>
            </a:solidFill>
            <a:prstDash val="solid"/>
          </a:ln>
        </p:spPr>
      </p:sp>
      <p:sp>
        <p:nvSpPr>
          <p:cNvPr id="33" name="Text 30"/>
          <p:cNvSpPr/>
          <p:nvPr/>
        </p:nvSpPr>
        <p:spPr>
          <a:xfrm>
            <a:off x="713232" y="3236976"/>
            <a:ext cx="1636776" cy="621792"/>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Photo of a PCB</a:t>
            </a:r>
            <a:endParaRPr lang="en-US" sz="880" dirty="0"/>
          </a:p>
        </p:txBody>
      </p:sp>
      <p:sp>
        <p:nvSpPr>
          <p:cNvPr id="34" name="Shape 31"/>
          <p:cNvSpPr/>
          <p:nvPr/>
        </p:nvSpPr>
        <p:spPr>
          <a:xfrm>
            <a:off x="594360" y="3968496"/>
            <a:ext cx="1874520" cy="621792"/>
          </a:xfrm>
          <a:prstGeom prst="roundRect">
            <a:avLst>
              <a:gd name="adj" fmla="val 10294"/>
            </a:avLst>
          </a:prstGeom>
          <a:solidFill>
            <a:srgbClr val="FFFFFF"/>
          </a:solidFill>
          <a:ln w="12700">
            <a:solidFill>
              <a:srgbClr val="DCE3EE"/>
            </a:solidFill>
            <a:prstDash val="solid"/>
          </a:ln>
        </p:spPr>
      </p:sp>
      <p:sp>
        <p:nvSpPr>
          <p:cNvPr id="35" name="Text 32"/>
          <p:cNvSpPr/>
          <p:nvPr/>
        </p:nvSpPr>
        <p:spPr>
          <a:xfrm>
            <a:off x="713232" y="3968496"/>
            <a:ext cx="1636776" cy="621792"/>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Plain description</a:t>
            </a:r>
            <a:endParaRPr lang="en-US" sz="880" dirty="0"/>
          </a:p>
          <a:p>
            <a:pPr indent="0" marL="0">
              <a:buNone/>
            </a:pPr>
            <a:r>
              <a:rPr lang="en-US" sz="880" dirty="0">
                <a:solidFill>
                  <a:srgbClr val="3A4356"/>
                </a:solidFill>
                <a:latin typeface="Calibri" pitchFamily="34" charset="0"/>
                <a:ea typeface="Calibri" pitchFamily="34" charset="-122"/>
                <a:cs typeface="Calibri" pitchFamily="34" charset="-120"/>
              </a:rPr>
              <a:t>or an RFQ sheet</a:t>
            </a:r>
            <a:endParaRPr lang="en-US" sz="880" dirty="0"/>
          </a:p>
        </p:txBody>
      </p:sp>
      <p:sp>
        <p:nvSpPr>
          <p:cNvPr id="36" name="Shape 33"/>
          <p:cNvSpPr/>
          <p:nvPr/>
        </p:nvSpPr>
        <p:spPr>
          <a:xfrm>
            <a:off x="594360" y="4700016"/>
            <a:ext cx="1874520" cy="621792"/>
          </a:xfrm>
          <a:prstGeom prst="roundRect">
            <a:avLst>
              <a:gd name="adj" fmla="val 10294"/>
            </a:avLst>
          </a:prstGeom>
          <a:solidFill>
            <a:srgbClr val="FFFFFF"/>
          </a:solidFill>
          <a:ln w="12700">
            <a:solidFill>
              <a:srgbClr val="DCE3EE"/>
            </a:solidFill>
            <a:prstDash val="solid"/>
          </a:ln>
        </p:spPr>
      </p:sp>
      <p:sp>
        <p:nvSpPr>
          <p:cNvPr id="37" name="Text 34"/>
          <p:cNvSpPr/>
          <p:nvPr/>
        </p:nvSpPr>
        <p:spPr>
          <a:xfrm>
            <a:off x="713232" y="4700016"/>
            <a:ext cx="1636776" cy="621792"/>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Volume + region</a:t>
            </a:r>
            <a:endParaRPr lang="en-US" sz="880" dirty="0"/>
          </a:p>
          <a:p>
            <a:pPr indent="0" marL="0">
              <a:buNone/>
            </a:pPr>
            <a:r>
              <a:rPr lang="en-US" sz="880" dirty="0">
                <a:solidFill>
                  <a:srgbClr val="3A4356"/>
                </a:solidFill>
                <a:latin typeface="Calibri" pitchFamily="34" charset="0"/>
                <a:ea typeface="Calibri" pitchFamily="34" charset="-122"/>
                <a:cs typeface="Calibri" pitchFamily="34" charset="-120"/>
              </a:rPr>
              <a:t>(the engineer types)</a:t>
            </a:r>
            <a:endParaRPr lang="en-US" sz="880" dirty="0"/>
          </a:p>
        </p:txBody>
      </p:sp>
      <p:sp>
        <p:nvSpPr>
          <p:cNvPr id="38" name="Text 35"/>
          <p:cNvSpPr/>
          <p:nvPr/>
        </p:nvSpPr>
        <p:spPr>
          <a:xfrm>
            <a:off x="10058400" y="2231136"/>
            <a:ext cx="1691640" cy="219456"/>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COMES OUT</a:t>
            </a:r>
            <a:endParaRPr lang="en-US" sz="850" dirty="0"/>
          </a:p>
        </p:txBody>
      </p:sp>
      <p:sp>
        <p:nvSpPr>
          <p:cNvPr id="39" name="Shape 36"/>
          <p:cNvSpPr/>
          <p:nvPr/>
        </p:nvSpPr>
        <p:spPr>
          <a:xfrm>
            <a:off x="10058400" y="2505456"/>
            <a:ext cx="1691640" cy="621792"/>
          </a:xfrm>
          <a:prstGeom prst="roundRect">
            <a:avLst>
              <a:gd name="adj" fmla="val 10294"/>
            </a:avLst>
          </a:prstGeom>
          <a:solidFill>
            <a:srgbClr val="FFFFFF"/>
          </a:solidFill>
          <a:ln w="12700">
            <a:solidFill>
              <a:srgbClr val="DCE3EE"/>
            </a:solidFill>
            <a:prstDash val="solid"/>
          </a:ln>
        </p:spPr>
      </p:sp>
      <p:sp>
        <p:nvSpPr>
          <p:cNvPr id="40" name="Text 37"/>
          <p:cNvSpPr/>
          <p:nvPr/>
        </p:nvSpPr>
        <p:spPr>
          <a:xfrm>
            <a:off x="10177272" y="2505456"/>
            <a:ext cx="1453896" cy="621792"/>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8-bucket cost, with</a:t>
            </a:r>
            <a:endParaRPr lang="en-US" sz="880" dirty="0"/>
          </a:p>
          <a:p>
            <a:pPr indent="0" marL="0">
              <a:buNone/>
            </a:pPr>
            <a:r>
              <a:rPr lang="en-US" sz="880" dirty="0">
                <a:solidFill>
                  <a:srgbClr val="3A4356"/>
                </a:solidFill>
                <a:latin typeface="Calibri" pitchFamily="34" charset="0"/>
                <a:ea typeface="Calibri" pitchFamily="34" charset="-122"/>
                <a:cs typeface="Calibri" pitchFamily="34" charset="-120"/>
              </a:rPr>
              <a:t>every figure traceable</a:t>
            </a:r>
            <a:endParaRPr lang="en-US" sz="880" dirty="0"/>
          </a:p>
        </p:txBody>
      </p:sp>
      <p:sp>
        <p:nvSpPr>
          <p:cNvPr id="41" name="Shape 38"/>
          <p:cNvSpPr/>
          <p:nvPr/>
        </p:nvSpPr>
        <p:spPr>
          <a:xfrm>
            <a:off x="10058400" y="3236976"/>
            <a:ext cx="1691640" cy="621792"/>
          </a:xfrm>
          <a:prstGeom prst="roundRect">
            <a:avLst>
              <a:gd name="adj" fmla="val 10294"/>
            </a:avLst>
          </a:prstGeom>
          <a:solidFill>
            <a:srgbClr val="FFFFFF"/>
          </a:solidFill>
          <a:ln w="12700">
            <a:solidFill>
              <a:srgbClr val="DCE3EE"/>
            </a:solidFill>
            <a:prstDash val="solid"/>
          </a:ln>
        </p:spPr>
      </p:sp>
      <p:sp>
        <p:nvSpPr>
          <p:cNvPr id="42" name="Text 39"/>
          <p:cNvSpPr/>
          <p:nvPr/>
        </p:nvSpPr>
        <p:spPr>
          <a:xfrm>
            <a:off x="10177272" y="3236976"/>
            <a:ext cx="1453896" cy="621792"/>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Operation list —</a:t>
            </a:r>
            <a:endParaRPr lang="en-US" sz="880" dirty="0"/>
          </a:p>
          <a:p>
            <a:pPr indent="0" marL="0">
              <a:buNone/>
            </a:pPr>
            <a:r>
              <a:rPr lang="en-US" sz="880" dirty="0">
                <a:solidFill>
                  <a:srgbClr val="3A4356"/>
                </a:solidFill>
                <a:latin typeface="Calibri" pitchFamily="34" charset="0"/>
                <a:ea typeface="Calibri" pitchFamily="34" charset="-122"/>
                <a:cs typeface="Calibri" pitchFamily="34" charset="-120"/>
              </a:rPr>
              <a:t>what takes the time</a:t>
            </a:r>
            <a:endParaRPr lang="en-US" sz="880" dirty="0"/>
          </a:p>
        </p:txBody>
      </p:sp>
      <p:sp>
        <p:nvSpPr>
          <p:cNvPr id="43" name="Shape 40"/>
          <p:cNvSpPr/>
          <p:nvPr/>
        </p:nvSpPr>
        <p:spPr>
          <a:xfrm>
            <a:off x="10058400" y="3968496"/>
            <a:ext cx="1691640" cy="621792"/>
          </a:xfrm>
          <a:prstGeom prst="roundRect">
            <a:avLst>
              <a:gd name="adj" fmla="val 10294"/>
            </a:avLst>
          </a:prstGeom>
          <a:solidFill>
            <a:srgbClr val="FFFFFF"/>
          </a:solidFill>
          <a:ln w="12700">
            <a:solidFill>
              <a:srgbClr val="DCE3EE"/>
            </a:solidFill>
            <a:prstDash val="solid"/>
          </a:ln>
        </p:spPr>
      </p:sp>
      <p:sp>
        <p:nvSpPr>
          <p:cNvPr id="44" name="Text 41"/>
          <p:cNvSpPr/>
          <p:nvPr/>
        </p:nvSpPr>
        <p:spPr>
          <a:xfrm>
            <a:off x="10177272" y="3968496"/>
            <a:ext cx="1453896" cy="621792"/>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Confidence band +</a:t>
            </a:r>
            <a:endParaRPr lang="en-US" sz="880" dirty="0"/>
          </a:p>
          <a:p>
            <a:pPr indent="0" marL="0">
              <a:buNone/>
            </a:pPr>
            <a:r>
              <a:rPr lang="en-US" sz="880" dirty="0">
                <a:solidFill>
                  <a:srgbClr val="3A4356"/>
                </a:solidFill>
                <a:latin typeface="Calibri" pitchFamily="34" charset="0"/>
                <a:ea typeface="Calibri" pitchFamily="34" charset="-122"/>
                <a:cs typeface="Calibri" pitchFamily="34" charset="-120"/>
              </a:rPr>
              <a:t>20-country comparison</a:t>
            </a:r>
            <a:endParaRPr lang="en-US" sz="880" dirty="0"/>
          </a:p>
        </p:txBody>
      </p:sp>
      <p:sp>
        <p:nvSpPr>
          <p:cNvPr id="45" name="Shape 42"/>
          <p:cNvSpPr/>
          <p:nvPr/>
        </p:nvSpPr>
        <p:spPr>
          <a:xfrm>
            <a:off x="10058400" y="4700016"/>
            <a:ext cx="1691640" cy="621792"/>
          </a:xfrm>
          <a:prstGeom prst="roundRect">
            <a:avLst>
              <a:gd name="adj" fmla="val 10294"/>
            </a:avLst>
          </a:prstGeom>
          <a:solidFill>
            <a:srgbClr val="FFFFFF"/>
          </a:solidFill>
          <a:ln w="12700">
            <a:solidFill>
              <a:srgbClr val="DCE3EE"/>
            </a:solidFill>
            <a:prstDash val="solid"/>
          </a:ln>
        </p:spPr>
      </p:sp>
      <p:sp>
        <p:nvSpPr>
          <p:cNvPr id="46" name="Text 43"/>
          <p:cNvSpPr/>
          <p:nvPr/>
        </p:nvSpPr>
        <p:spPr>
          <a:xfrm>
            <a:off x="10177272" y="4700016"/>
            <a:ext cx="1453896" cy="621792"/>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PDF · Excel · PowerPoint</a:t>
            </a:r>
            <a:endParaRPr lang="en-US" sz="880" dirty="0"/>
          </a:p>
          <a:p>
            <a:pPr indent="0" marL="0">
              <a:buNone/>
            </a:pPr>
            <a:r>
              <a:rPr lang="en-US" sz="880" dirty="0">
                <a:solidFill>
                  <a:srgbClr val="3A4356"/>
                </a:solidFill>
                <a:latin typeface="Calibri" pitchFamily="34" charset="0"/>
                <a:ea typeface="Calibri" pitchFamily="34" charset="-122"/>
                <a:cs typeface="Calibri" pitchFamily="34" charset="-120"/>
              </a:rPr>
              <a:t>negotiation pack</a:t>
            </a:r>
            <a:endParaRPr lang="en-US" sz="880" dirty="0"/>
          </a:p>
        </p:txBody>
      </p:sp>
      <p:sp>
        <p:nvSpPr>
          <p:cNvPr id="47" name="Shape 44"/>
          <p:cNvSpPr/>
          <p:nvPr/>
        </p:nvSpPr>
        <p:spPr>
          <a:xfrm>
            <a:off x="2788920" y="2450592"/>
            <a:ext cx="2011680" cy="1188720"/>
          </a:xfrm>
          <a:prstGeom prst="roundRect">
            <a:avLst>
              <a:gd name="adj" fmla="val 6923"/>
            </a:avLst>
          </a:prstGeom>
          <a:solidFill>
            <a:srgbClr val="E8F1FA"/>
          </a:solidFill>
          <a:ln w="17780">
            <a:solidFill>
              <a:srgbClr val="1D6FB8"/>
            </a:solidFill>
            <a:prstDash val="solid"/>
          </a:ln>
        </p:spPr>
      </p:sp>
      <p:sp>
        <p:nvSpPr>
          <p:cNvPr id="48" name="Shape 45"/>
          <p:cNvSpPr/>
          <p:nvPr/>
        </p:nvSpPr>
        <p:spPr>
          <a:xfrm>
            <a:off x="2916936" y="2578608"/>
            <a:ext cx="329184" cy="329184"/>
          </a:xfrm>
          <a:prstGeom prst="ellipse">
            <a:avLst/>
          </a:prstGeom>
          <a:solidFill>
            <a:srgbClr val="1D6FB8"/>
          </a:solidFill>
          <a:ln/>
        </p:spPr>
      </p:sp>
      <p:pic>
        <p:nvPicPr>
          <p:cNvPr id="49" name="Image 1" descr="preencoded.png">    </p:cNvPr>
          <p:cNvPicPr>
            <a:picLocks noChangeAspect="1"/>
          </p:cNvPicPr>
          <p:nvPr/>
        </p:nvPicPr>
        <p:blipFill>
          <a:blip r:embed="rId2"/>
          <a:stretch>
            <a:fillRect/>
          </a:stretch>
        </p:blipFill>
        <p:spPr>
          <a:xfrm>
            <a:off x="2999232" y="2660904"/>
            <a:ext cx="164592" cy="164592"/>
          </a:xfrm>
          <a:prstGeom prst="rect">
            <a:avLst/>
          </a:prstGeom>
        </p:spPr>
      </p:pic>
      <p:sp>
        <p:nvSpPr>
          <p:cNvPr id="50" name="Text 46"/>
          <p:cNvSpPr/>
          <p:nvPr/>
        </p:nvSpPr>
        <p:spPr>
          <a:xfrm>
            <a:off x="3319272" y="2569464"/>
            <a:ext cx="1353312" cy="256032"/>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Geometry kernel</a:t>
            </a:r>
            <a:endParaRPr lang="en-US" sz="1050" dirty="0"/>
          </a:p>
        </p:txBody>
      </p:sp>
      <p:sp>
        <p:nvSpPr>
          <p:cNvPr id="51" name="Text 47"/>
          <p:cNvSpPr/>
          <p:nvPr/>
        </p:nvSpPr>
        <p:spPr>
          <a:xfrm>
            <a:off x="2935224" y="2926080"/>
            <a:ext cx="1719072" cy="585216"/>
          </a:xfrm>
          <a:prstGeom prst="rect">
            <a:avLst/>
          </a:prstGeom>
          <a:noFill/>
          <a:ln/>
        </p:spPr>
        <p:txBody>
          <a:bodyPr wrap="square" lIns="0" tIns="0" rIns="0" bIns="0" rtlCol="0" anchor="t"/>
          <a:lstStyle/>
          <a:p>
            <a:pPr indent="0" marL="0">
              <a:buNone/>
            </a:pPr>
            <a:r>
              <a:rPr lang="en-US" sz="840" dirty="0">
                <a:solidFill>
                  <a:srgbClr val="3A4356"/>
                </a:solidFill>
                <a:latin typeface="Calibri" pitchFamily="34" charset="0"/>
                <a:ea typeface="Calibri" pitchFamily="34" charset="-122"/>
                <a:cs typeface="Calibri" pitchFamily="34" charset="-120"/>
              </a:rPr>
              <a:t>OCCT / CadQuery. Volume, walls, holes and faces — measured, never guessed.</a:t>
            </a:r>
            <a:endParaRPr lang="en-US" sz="840" dirty="0"/>
          </a:p>
        </p:txBody>
      </p:sp>
      <p:sp>
        <p:nvSpPr>
          <p:cNvPr id="52" name="Shape 48"/>
          <p:cNvSpPr/>
          <p:nvPr/>
        </p:nvSpPr>
        <p:spPr>
          <a:xfrm>
            <a:off x="2788920" y="4160520"/>
            <a:ext cx="2011680" cy="1188720"/>
          </a:xfrm>
          <a:prstGeom prst="roundRect">
            <a:avLst>
              <a:gd name="adj" fmla="val 6923"/>
            </a:avLst>
          </a:prstGeom>
          <a:solidFill>
            <a:srgbClr val="FCF3E3"/>
          </a:solidFill>
          <a:ln w="17780">
            <a:solidFill>
              <a:srgbClr val="B7791F"/>
            </a:solidFill>
            <a:prstDash val="solid"/>
          </a:ln>
        </p:spPr>
      </p:sp>
      <p:sp>
        <p:nvSpPr>
          <p:cNvPr id="53" name="Shape 49"/>
          <p:cNvSpPr/>
          <p:nvPr/>
        </p:nvSpPr>
        <p:spPr>
          <a:xfrm>
            <a:off x="2916936" y="4288536"/>
            <a:ext cx="329184" cy="329184"/>
          </a:xfrm>
          <a:prstGeom prst="ellipse">
            <a:avLst/>
          </a:prstGeom>
          <a:solidFill>
            <a:srgbClr val="B7791F"/>
          </a:solidFill>
          <a:ln/>
        </p:spPr>
      </p:sp>
      <p:pic>
        <p:nvPicPr>
          <p:cNvPr id="54" name="Image 2" descr="preencoded.png">    </p:cNvPr>
          <p:cNvPicPr>
            <a:picLocks noChangeAspect="1"/>
          </p:cNvPicPr>
          <p:nvPr/>
        </p:nvPicPr>
        <p:blipFill>
          <a:blip r:embed="rId3"/>
          <a:stretch>
            <a:fillRect/>
          </a:stretch>
        </p:blipFill>
        <p:spPr>
          <a:xfrm>
            <a:off x="2999232" y="4370832"/>
            <a:ext cx="164592" cy="164592"/>
          </a:xfrm>
          <a:prstGeom prst="rect">
            <a:avLst/>
          </a:prstGeom>
        </p:spPr>
      </p:pic>
      <p:sp>
        <p:nvSpPr>
          <p:cNvPr id="55" name="Text 50"/>
          <p:cNvSpPr/>
          <p:nvPr/>
        </p:nvSpPr>
        <p:spPr>
          <a:xfrm>
            <a:off x="3319272" y="4279392"/>
            <a:ext cx="1353312" cy="256032"/>
          </a:xfrm>
          <a:prstGeom prst="rect">
            <a:avLst/>
          </a:prstGeom>
          <a:noFill/>
          <a:ln/>
        </p:spPr>
        <p:txBody>
          <a:bodyPr wrap="square" lIns="0" tIns="0" rIns="0" bIns="0" rtlCol="0" anchor="ctr"/>
          <a:lstStyle/>
          <a:p>
            <a:pPr indent="0" marL="0">
              <a:buNone/>
            </a:pPr>
            <a:r>
              <a:rPr lang="en-US" sz="1050" b="1" dirty="0">
                <a:solidFill>
                  <a:srgbClr val="B7791F"/>
                </a:solidFill>
                <a:latin typeface="Calibri" pitchFamily="34" charset="0"/>
                <a:ea typeface="Calibri" pitchFamily="34" charset="-122"/>
                <a:cs typeface="Calibri" pitchFamily="34" charset="-120"/>
              </a:rPr>
              <a:t>Guardrails</a:t>
            </a:r>
            <a:endParaRPr lang="en-US" sz="1050" dirty="0"/>
          </a:p>
        </p:txBody>
      </p:sp>
      <p:sp>
        <p:nvSpPr>
          <p:cNvPr id="56" name="Text 51"/>
          <p:cNvSpPr/>
          <p:nvPr/>
        </p:nvSpPr>
        <p:spPr>
          <a:xfrm>
            <a:off x="2935224" y="4636008"/>
            <a:ext cx="1719072" cy="585216"/>
          </a:xfrm>
          <a:prstGeom prst="rect">
            <a:avLst/>
          </a:prstGeom>
          <a:noFill/>
          <a:ln/>
        </p:spPr>
        <p:txBody>
          <a:bodyPr wrap="square" lIns="0" tIns="0" rIns="0" bIns="0" rtlCol="0" anchor="t"/>
          <a:lstStyle/>
          <a:p>
            <a:pPr indent="0" marL="0">
              <a:buNone/>
            </a:pPr>
            <a:r>
              <a:rPr lang="en-US" sz="840" dirty="0">
                <a:solidFill>
                  <a:srgbClr val="3A4356"/>
                </a:solidFill>
                <a:latin typeface="Calibri" pitchFamily="34" charset="0"/>
                <a:ea typeface="Calibri" pitchFamily="34" charset="-122"/>
                <a:cs typeface="Calibri" pitchFamily="34" charset="-120"/>
              </a:rPr>
              <a:t>Nine automatic checks plus autocorrect. Measurements always beat the AI.</a:t>
            </a:r>
            <a:endParaRPr lang="en-US" sz="840" dirty="0"/>
          </a:p>
        </p:txBody>
      </p:sp>
      <p:sp>
        <p:nvSpPr>
          <p:cNvPr id="57" name="Shape 52"/>
          <p:cNvSpPr/>
          <p:nvPr/>
        </p:nvSpPr>
        <p:spPr>
          <a:xfrm>
            <a:off x="7772400" y="2450592"/>
            <a:ext cx="2011680" cy="1188720"/>
          </a:xfrm>
          <a:prstGeom prst="roundRect">
            <a:avLst>
              <a:gd name="adj" fmla="val 6923"/>
            </a:avLst>
          </a:prstGeom>
          <a:solidFill>
            <a:srgbClr val="E6F4F1"/>
          </a:solidFill>
          <a:ln w="17780">
            <a:solidFill>
              <a:srgbClr val="0E8074"/>
            </a:solidFill>
            <a:prstDash val="solid"/>
          </a:ln>
        </p:spPr>
      </p:sp>
      <p:sp>
        <p:nvSpPr>
          <p:cNvPr id="58" name="Shape 53"/>
          <p:cNvSpPr/>
          <p:nvPr/>
        </p:nvSpPr>
        <p:spPr>
          <a:xfrm>
            <a:off x="7900416" y="2578608"/>
            <a:ext cx="329184" cy="329184"/>
          </a:xfrm>
          <a:prstGeom prst="ellipse">
            <a:avLst/>
          </a:prstGeom>
          <a:solidFill>
            <a:srgbClr val="0E8074"/>
          </a:solidFill>
          <a:ln/>
        </p:spPr>
      </p:sp>
      <p:pic>
        <p:nvPicPr>
          <p:cNvPr id="59" name="Image 3" descr="preencoded.png">    </p:cNvPr>
          <p:cNvPicPr>
            <a:picLocks noChangeAspect="1"/>
          </p:cNvPicPr>
          <p:nvPr/>
        </p:nvPicPr>
        <p:blipFill>
          <a:blip r:embed="rId4"/>
          <a:stretch>
            <a:fillRect/>
          </a:stretch>
        </p:blipFill>
        <p:spPr>
          <a:xfrm>
            <a:off x="7982712" y="2660904"/>
            <a:ext cx="164592" cy="164592"/>
          </a:xfrm>
          <a:prstGeom prst="rect">
            <a:avLst/>
          </a:prstGeom>
        </p:spPr>
      </p:pic>
      <p:sp>
        <p:nvSpPr>
          <p:cNvPr id="60" name="Text 54"/>
          <p:cNvSpPr/>
          <p:nvPr/>
        </p:nvSpPr>
        <p:spPr>
          <a:xfrm>
            <a:off x="8302752" y="2569464"/>
            <a:ext cx="1353312" cy="256032"/>
          </a:xfrm>
          <a:prstGeom prst="rect">
            <a:avLst/>
          </a:prstGeom>
          <a:noFill/>
          <a:ln/>
        </p:spPr>
        <p:txBody>
          <a:bodyPr wrap="square" lIns="0" tIns="0" rIns="0" bIns="0" rtlCol="0" anchor="ctr"/>
          <a:lstStyle/>
          <a:p>
            <a:pPr indent="0" marL="0">
              <a:buNone/>
            </a:pPr>
            <a:r>
              <a:rPr lang="en-US" sz="1050" b="1" dirty="0">
                <a:solidFill>
                  <a:srgbClr val="0E8074"/>
                </a:solidFill>
                <a:latin typeface="Calibri" pitchFamily="34" charset="0"/>
                <a:ea typeface="Calibri" pitchFamily="34" charset="-122"/>
                <a:cs typeface="Calibri" pitchFamily="34" charset="-120"/>
              </a:rPr>
              <a:t>Rate library</a:t>
            </a:r>
            <a:endParaRPr lang="en-US" sz="1050" dirty="0"/>
          </a:p>
        </p:txBody>
      </p:sp>
      <p:sp>
        <p:nvSpPr>
          <p:cNvPr id="61" name="Text 55"/>
          <p:cNvSpPr/>
          <p:nvPr/>
        </p:nvSpPr>
        <p:spPr>
          <a:xfrm>
            <a:off x="7918704" y="2926080"/>
            <a:ext cx="1719072" cy="585216"/>
          </a:xfrm>
          <a:prstGeom prst="rect">
            <a:avLst/>
          </a:prstGeom>
          <a:noFill/>
          <a:ln/>
        </p:spPr>
        <p:txBody>
          <a:bodyPr wrap="square" lIns="0" tIns="0" rIns="0" bIns="0" rtlCol="0" anchor="t"/>
          <a:lstStyle/>
          <a:p>
            <a:pPr indent="0" marL="0">
              <a:buNone/>
            </a:pPr>
            <a:r>
              <a:rPr lang="en-US" sz="840" dirty="0">
                <a:solidFill>
                  <a:srgbClr val="3A4356"/>
                </a:solidFill>
                <a:latin typeface="Calibri" pitchFamily="34" charset="0"/>
                <a:ea typeface="Calibri" pitchFamily="34" charset="-122"/>
                <a:cs typeface="Calibri" pitchFamily="34" charset="-120"/>
              </a:rPr>
              <a:t>Materials, machines, labour, 20 regions. The only source of money in the tool.</a:t>
            </a:r>
            <a:endParaRPr lang="en-US" sz="840" dirty="0"/>
          </a:p>
        </p:txBody>
      </p:sp>
      <p:sp>
        <p:nvSpPr>
          <p:cNvPr id="62" name="Shape 56"/>
          <p:cNvSpPr/>
          <p:nvPr/>
        </p:nvSpPr>
        <p:spPr>
          <a:xfrm>
            <a:off x="7772400" y="4160520"/>
            <a:ext cx="2011680" cy="1188720"/>
          </a:xfrm>
          <a:prstGeom prst="roundRect">
            <a:avLst>
              <a:gd name="adj" fmla="val 6923"/>
            </a:avLst>
          </a:prstGeom>
          <a:solidFill>
            <a:srgbClr val="E6F4F1"/>
          </a:solidFill>
          <a:ln w="17780">
            <a:solidFill>
              <a:srgbClr val="0E8074"/>
            </a:solidFill>
            <a:prstDash val="solid"/>
          </a:ln>
        </p:spPr>
      </p:sp>
      <p:sp>
        <p:nvSpPr>
          <p:cNvPr id="63" name="Shape 57"/>
          <p:cNvSpPr/>
          <p:nvPr/>
        </p:nvSpPr>
        <p:spPr>
          <a:xfrm>
            <a:off x="7900416" y="4288536"/>
            <a:ext cx="329184" cy="329184"/>
          </a:xfrm>
          <a:prstGeom prst="ellipse">
            <a:avLst/>
          </a:prstGeom>
          <a:solidFill>
            <a:srgbClr val="0E8074"/>
          </a:solidFill>
          <a:ln/>
        </p:spPr>
      </p:sp>
      <p:pic>
        <p:nvPicPr>
          <p:cNvPr id="64" name="Image 4" descr="preencoded.png">    </p:cNvPr>
          <p:cNvPicPr>
            <a:picLocks noChangeAspect="1"/>
          </p:cNvPicPr>
          <p:nvPr/>
        </p:nvPicPr>
        <p:blipFill>
          <a:blip r:embed="rId5"/>
          <a:stretch>
            <a:fillRect/>
          </a:stretch>
        </p:blipFill>
        <p:spPr>
          <a:xfrm>
            <a:off x="7982712" y="4370832"/>
            <a:ext cx="164592" cy="164592"/>
          </a:xfrm>
          <a:prstGeom prst="rect">
            <a:avLst/>
          </a:prstGeom>
        </p:spPr>
      </p:pic>
      <p:sp>
        <p:nvSpPr>
          <p:cNvPr id="65" name="Text 58"/>
          <p:cNvSpPr/>
          <p:nvPr/>
        </p:nvSpPr>
        <p:spPr>
          <a:xfrm>
            <a:off x="8302752" y="4279392"/>
            <a:ext cx="1353312" cy="256032"/>
          </a:xfrm>
          <a:prstGeom prst="rect">
            <a:avLst/>
          </a:prstGeom>
          <a:noFill/>
          <a:ln/>
        </p:spPr>
        <p:txBody>
          <a:bodyPr wrap="square" lIns="0" tIns="0" rIns="0" bIns="0" rtlCol="0" anchor="ctr"/>
          <a:lstStyle/>
          <a:p>
            <a:pPr indent="0" marL="0">
              <a:buNone/>
            </a:pPr>
            <a:r>
              <a:rPr lang="en-US" sz="1050" b="1" dirty="0">
                <a:solidFill>
                  <a:srgbClr val="0E8074"/>
                </a:solidFill>
                <a:latin typeface="Calibri" pitchFamily="34" charset="0"/>
                <a:ea typeface="Calibri" pitchFamily="34" charset="-122"/>
                <a:cs typeface="Calibri" pitchFamily="34" charset="-120"/>
              </a:rPr>
              <a:t>Local database</a:t>
            </a:r>
            <a:endParaRPr lang="en-US" sz="1050" dirty="0"/>
          </a:p>
        </p:txBody>
      </p:sp>
      <p:sp>
        <p:nvSpPr>
          <p:cNvPr id="66" name="Text 59"/>
          <p:cNvSpPr/>
          <p:nvPr/>
        </p:nvSpPr>
        <p:spPr>
          <a:xfrm>
            <a:off x="7918704" y="4636008"/>
            <a:ext cx="1719072" cy="585216"/>
          </a:xfrm>
          <a:prstGeom prst="rect">
            <a:avLst/>
          </a:prstGeom>
          <a:noFill/>
          <a:ln/>
        </p:spPr>
        <p:txBody>
          <a:bodyPr wrap="square" lIns="0" tIns="0" rIns="0" bIns="0" rtlCol="0" anchor="t"/>
          <a:lstStyle/>
          <a:p>
            <a:pPr indent="0" marL="0">
              <a:buNone/>
            </a:pPr>
            <a:r>
              <a:rPr lang="en-US" sz="840" dirty="0">
                <a:solidFill>
                  <a:srgbClr val="3A4356"/>
                </a:solidFill>
                <a:latin typeface="Calibri" pitchFamily="34" charset="0"/>
                <a:ea typeface="Calibri" pitchFamily="34" charset="-122"/>
                <a:cs typeface="Calibri" pitchFamily="34" charset="-120"/>
              </a:rPr>
              <a:t>Parts, quotes and real actuals — these feed the learning loop back in.</a:t>
            </a:r>
            <a:endParaRPr lang="en-US" sz="840" dirty="0"/>
          </a:p>
        </p:txBody>
      </p:sp>
      <p:sp>
        <p:nvSpPr>
          <p:cNvPr id="67" name="Shape 60"/>
          <p:cNvSpPr/>
          <p:nvPr/>
        </p:nvSpPr>
        <p:spPr>
          <a:xfrm>
            <a:off x="5120640" y="4956048"/>
            <a:ext cx="2286000" cy="868680"/>
          </a:xfrm>
          <a:prstGeom prst="roundRect">
            <a:avLst>
              <a:gd name="adj" fmla="val 9474"/>
            </a:avLst>
          </a:prstGeom>
          <a:solidFill>
            <a:srgbClr val="EAF6EF"/>
          </a:solidFill>
          <a:ln w="17780">
            <a:solidFill>
              <a:srgbClr val="2E8B57"/>
            </a:solidFill>
            <a:prstDash val="solid"/>
          </a:ln>
        </p:spPr>
      </p:sp>
      <p:sp>
        <p:nvSpPr>
          <p:cNvPr id="68" name="Text 61"/>
          <p:cNvSpPr/>
          <p:nvPr/>
        </p:nvSpPr>
        <p:spPr>
          <a:xfrm>
            <a:off x="5266944" y="5074920"/>
            <a:ext cx="1993392" cy="256032"/>
          </a:xfrm>
          <a:prstGeom prst="rect">
            <a:avLst/>
          </a:prstGeom>
          <a:noFill/>
          <a:ln/>
        </p:spPr>
        <p:txBody>
          <a:bodyPr wrap="square" lIns="0" tIns="0" rIns="0" bIns="0" rtlCol="0" anchor="ctr"/>
          <a:lstStyle/>
          <a:p>
            <a:pPr indent="0" marL="0">
              <a:buNone/>
            </a:pPr>
            <a:r>
              <a:rPr lang="en-US" sz="1050" b="1" dirty="0">
                <a:solidFill>
                  <a:srgbClr val="2E8B57"/>
                </a:solidFill>
                <a:latin typeface="Calibri" pitchFamily="34" charset="0"/>
                <a:ea typeface="Calibri" pitchFamily="34" charset="-122"/>
                <a:cs typeface="Calibri" pitchFamily="34" charset="-120"/>
              </a:rPr>
              <a:t>Uncertainty &amp; calibration</a:t>
            </a:r>
            <a:endParaRPr lang="en-US" sz="1050" dirty="0"/>
          </a:p>
        </p:txBody>
      </p:sp>
      <p:sp>
        <p:nvSpPr>
          <p:cNvPr id="69" name="Text 62"/>
          <p:cNvSpPr/>
          <p:nvPr/>
        </p:nvSpPr>
        <p:spPr>
          <a:xfrm>
            <a:off x="5266944" y="5431536"/>
            <a:ext cx="1993392" cy="265176"/>
          </a:xfrm>
          <a:prstGeom prst="rect">
            <a:avLst/>
          </a:prstGeom>
          <a:noFill/>
          <a:ln/>
        </p:spPr>
        <p:txBody>
          <a:bodyPr wrap="square" lIns="0" tIns="0" rIns="0" bIns="0" rtlCol="0" anchor="t"/>
          <a:lstStyle/>
          <a:p>
            <a:pPr indent="0" marL="0">
              <a:buNone/>
            </a:pPr>
            <a:r>
              <a:rPr lang="en-US" sz="840" dirty="0">
                <a:solidFill>
                  <a:srgbClr val="3A4356"/>
                </a:solidFill>
                <a:latin typeface="Calibri" pitchFamily="34" charset="0"/>
                <a:ea typeface="Calibri" pitchFamily="34" charset="-122"/>
                <a:cs typeface="Calibri" pitchFamily="34" charset="-120"/>
              </a:rPr>
              <a:t>Monte-Carlo band, learned from real actuals.</a:t>
            </a:r>
            <a:endParaRPr lang="en-US" sz="840" dirty="0"/>
          </a:p>
        </p:txBody>
      </p:sp>
      <p:sp>
        <p:nvSpPr>
          <p:cNvPr id="70" name="Shape 63"/>
          <p:cNvSpPr/>
          <p:nvPr/>
        </p:nvSpPr>
        <p:spPr>
          <a:xfrm>
            <a:off x="5120640" y="3218688"/>
            <a:ext cx="2286000" cy="1444752"/>
          </a:xfrm>
          <a:prstGeom prst="roundRect">
            <a:avLst>
              <a:gd name="adj" fmla="val 6329"/>
            </a:avLst>
          </a:prstGeom>
          <a:solidFill>
            <a:srgbClr val="0E5A5A"/>
          </a:solidFill>
          <a:ln/>
        </p:spPr>
      </p:sp>
      <p:sp>
        <p:nvSpPr>
          <p:cNvPr id="71" name="Shape 64"/>
          <p:cNvSpPr/>
          <p:nvPr/>
        </p:nvSpPr>
        <p:spPr>
          <a:xfrm>
            <a:off x="6016752" y="3364992"/>
            <a:ext cx="493776" cy="493776"/>
          </a:xfrm>
          <a:prstGeom prst="ellipse">
            <a:avLst/>
          </a:prstGeom>
          <a:solidFill>
            <a:srgbClr val="17A398"/>
          </a:solidFill>
          <a:ln/>
        </p:spPr>
      </p:sp>
      <p:pic>
        <p:nvPicPr>
          <p:cNvPr id="72" name="Image 5" descr="preencoded.png">    </p:cNvPr>
          <p:cNvPicPr>
            <a:picLocks noChangeAspect="1"/>
          </p:cNvPicPr>
          <p:nvPr/>
        </p:nvPicPr>
        <p:blipFill>
          <a:blip r:embed="rId6"/>
          <a:stretch>
            <a:fillRect/>
          </a:stretch>
        </p:blipFill>
        <p:spPr>
          <a:xfrm>
            <a:off x="6144768" y="3493008"/>
            <a:ext cx="237744" cy="237744"/>
          </a:xfrm>
          <a:prstGeom prst="rect">
            <a:avLst/>
          </a:prstGeom>
        </p:spPr>
      </p:pic>
      <p:sp>
        <p:nvSpPr>
          <p:cNvPr id="73" name="Text 65"/>
          <p:cNvSpPr/>
          <p:nvPr/>
        </p:nvSpPr>
        <p:spPr>
          <a:xfrm>
            <a:off x="5230368" y="3931920"/>
            <a:ext cx="2066544"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COST CALCULATION</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ENGINE</a:t>
            </a:r>
            <a:endParaRPr lang="en-US" sz="1200" dirty="0"/>
          </a:p>
        </p:txBody>
      </p:sp>
      <p:sp>
        <p:nvSpPr>
          <p:cNvPr id="74" name="Text 66"/>
          <p:cNvSpPr/>
          <p:nvPr/>
        </p:nvSpPr>
        <p:spPr>
          <a:xfrm>
            <a:off x="5230368" y="4370832"/>
            <a:ext cx="2066544" cy="274320"/>
          </a:xfrm>
          <a:prstGeom prst="rect">
            <a:avLst/>
          </a:prstGeom>
          <a:noFill/>
          <a:ln/>
        </p:spPr>
        <p:txBody>
          <a:bodyPr wrap="square" lIns="0" tIns="0" rIns="0" bIns="0" rtlCol="0" anchor="t"/>
          <a:lstStyle/>
          <a:p>
            <a:pPr algn="ctr" indent="0" marL="0">
              <a:buNone/>
            </a:pPr>
            <a:r>
              <a:rPr lang="en-US" sz="840" dirty="0">
                <a:solidFill>
                  <a:srgbClr val="9FD9CF"/>
                </a:solidFill>
                <a:latin typeface="Calibri" pitchFamily="34" charset="0"/>
                <a:ea typeface="Calibri" pitchFamily="34" charset="-122"/>
                <a:cs typeface="Calibri" pitchFamily="34" charset="-120"/>
              </a:rPr>
              <a:t>Fixed arithmetic. 8 buckets.</a:t>
            </a:r>
            <a:endParaRPr lang="en-US" sz="840" dirty="0"/>
          </a:p>
          <a:p>
            <a:pPr algn="ctr" indent="0" marL="0">
              <a:buNone/>
            </a:pPr>
            <a:r>
              <a:rPr lang="en-US" sz="840" dirty="0">
                <a:solidFill>
                  <a:srgbClr val="9FD9CF"/>
                </a:solidFill>
                <a:latin typeface="Calibri" pitchFamily="34" charset="0"/>
                <a:ea typeface="Calibri" pitchFamily="34" charset="-122"/>
                <a:cs typeface="Calibri" pitchFamily="34" charset="-120"/>
              </a:rPr>
              <a:t>No AI, no judgement.</a:t>
            </a:r>
            <a:endParaRPr lang="en-US" sz="840" dirty="0"/>
          </a:p>
        </p:txBody>
      </p:sp>
      <p:sp>
        <p:nvSpPr>
          <p:cNvPr id="75" name="Shape 67"/>
          <p:cNvSpPr/>
          <p:nvPr/>
        </p:nvSpPr>
        <p:spPr>
          <a:xfrm>
            <a:off x="2468880" y="2944368"/>
            <a:ext cx="320040" cy="0"/>
          </a:xfrm>
          <a:prstGeom prst="line">
            <a:avLst/>
          </a:prstGeom>
          <a:noFill/>
          <a:ln w="22225">
            <a:solidFill>
              <a:srgbClr val="1D6FB8"/>
            </a:solidFill>
            <a:prstDash val="solid"/>
            <a:tailEnd type="triangle"/>
          </a:ln>
        </p:spPr>
      </p:sp>
      <p:sp>
        <p:nvSpPr>
          <p:cNvPr id="76" name="Shape 68"/>
          <p:cNvSpPr/>
          <p:nvPr/>
        </p:nvSpPr>
        <p:spPr>
          <a:xfrm>
            <a:off x="2468880" y="4654296"/>
            <a:ext cx="320040" cy="0"/>
          </a:xfrm>
          <a:prstGeom prst="line">
            <a:avLst/>
          </a:prstGeom>
          <a:noFill/>
          <a:ln w="22225">
            <a:solidFill>
              <a:srgbClr val="1D6FB8"/>
            </a:solidFill>
            <a:prstDash val="solid"/>
            <a:tailEnd type="triangle"/>
          </a:ln>
        </p:spPr>
      </p:sp>
      <p:sp>
        <p:nvSpPr>
          <p:cNvPr id="77" name="Shape 69"/>
          <p:cNvSpPr/>
          <p:nvPr/>
        </p:nvSpPr>
        <p:spPr>
          <a:xfrm>
            <a:off x="4800600" y="3310128"/>
            <a:ext cx="320040" cy="301752"/>
          </a:xfrm>
          <a:prstGeom prst="line">
            <a:avLst/>
          </a:prstGeom>
          <a:noFill/>
          <a:ln w="22225">
            <a:solidFill>
              <a:srgbClr val="B7791F"/>
            </a:solidFill>
            <a:prstDash val="solid"/>
            <a:tailEnd type="triangle"/>
          </a:ln>
        </p:spPr>
      </p:sp>
      <p:sp>
        <p:nvSpPr>
          <p:cNvPr id="78" name="Shape 70"/>
          <p:cNvSpPr/>
          <p:nvPr/>
        </p:nvSpPr>
        <p:spPr>
          <a:xfrm flipV="1">
            <a:off x="4800600" y="4224528"/>
            <a:ext cx="320040" cy="256032"/>
          </a:xfrm>
          <a:prstGeom prst="line">
            <a:avLst/>
          </a:prstGeom>
          <a:noFill/>
          <a:ln w="22225">
            <a:solidFill>
              <a:srgbClr val="B7791F"/>
            </a:solidFill>
            <a:prstDash val="solid"/>
            <a:tailEnd type="triangle"/>
          </a:ln>
        </p:spPr>
      </p:sp>
      <p:sp>
        <p:nvSpPr>
          <p:cNvPr id="79" name="Shape 71"/>
          <p:cNvSpPr/>
          <p:nvPr/>
        </p:nvSpPr>
        <p:spPr>
          <a:xfrm flipH="1">
            <a:off x="7406640" y="3310128"/>
            <a:ext cx="365760" cy="301752"/>
          </a:xfrm>
          <a:prstGeom prst="line">
            <a:avLst/>
          </a:prstGeom>
          <a:noFill/>
          <a:ln w="22225">
            <a:solidFill>
              <a:srgbClr val="0E8074"/>
            </a:solidFill>
            <a:prstDash val="solid"/>
            <a:tailEnd type="triangle"/>
          </a:ln>
        </p:spPr>
      </p:sp>
      <p:sp>
        <p:nvSpPr>
          <p:cNvPr id="80" name="Shape 72"/>
          <p:cNvSpPr/>
          <p:nvPr/>
        </p:nvSpPr>
        <p:spPr>
          <a:xfrm>
            <a:off x="7406640" y="4224528"/>
            <a:ext cx="365760" cy="256032"/>
          </a:xfrm>
          <a:prstGeom prst="line">
            <a:avLst/>
          </a:prstGeom>
          <a:noFill/>
          <a:ln w="22225">
            <a:solidFill>
              <a:srgbClr val="0E8074"/>
            </a:solidFill>
            <a:prstDash val="solid"/>
            <a:tailEnd type="triangle"/>
          </a:ln>
        </p:spPr>
      </p:sp>
      <p:sp>
        <p:nvSpPr>
          <p:cNvPr id="81" name="Shape 73"/>
          <p:cNvSpPr/>
          <p:nvPr/>
        </p:nvSpPr>
        <p:spPr>
          <a:xfrm>
            <a:off x="6263640" y="4663440"/>
            <a:ext cx="0" cy="292608"/>
          </a:xfrm>
          <a:prstGeom prst="line">
            <a:avLst/>
          </a:prstGeom>
          <a:noFill/>
          <a:ln w="22225">
            <a:solidFill>
              <a:srgbClr val="2E8B57"/>
            </a:solidFill>
            <a:prstDash val="solid"/>
            <a:tailEnd type="triangle"/>
          </a:ln>
        </p:spPr>
      </p:sp>
      <p:sp>
        <p:nvSpPr>
          <p:cNvPr id="82" name="Shape 74"/>
          <p:cNvSpPr/>
          <p:nvPr/>
        </p:nvSpPr>
        <p:spPr>
          <a:xfrm>
            <a:off x="7406640" y="3941064"/>
            <a:ext cx="2651760" cy="0"/>
          </a:xfrm>
          <a:prstGeom prst="line">
            <a:avLst/>
          </a:prstGeom>
          <a:noFill/>
          <a:ln w="31750">
            <a:solidFill>
              <a:srgbClr val="2E8B57"/>
            </a:solidFill>
            <a:prstDash val="solid"/>
            <a:tailEnd type="triangle"/>
          </a:ln>
        </p:spPr>
      </p:sp>
      <p:sp>
        <p:nvSpPr>
          <p:cNvPr id="83" name="Text 75"/>
          <p:cNvSpPr/>
          <p:nvPr/>
        </p:nvSpPr>
        <p:spPr>
          <a:xfrm>
            <a:off x="7863840" y="3694176"/>
            <a:ext cx="1737360" cy="219456"/>
          </a:xfrm>
          <a:prstGeom prst="rect">
            <a:avLst/>
          </a:prstGeom>
          <a:noFill/>
          <a:ln/>
        </p:spPr>
        <p:txBody>
          <a:bodyPr wrap="square" lIns="0" tIns="0" rIns="0" bIns="0" rtlCol="0" anchor="ctr"/>
          <a:lstStyle/>
          <a:p>
            <a:pPr algn="ctr" indent="0" marL="0">
              <a:buNone/>
            </a:pPr>
            <a:r>
              <a:rPr lang="en-US" sz="820" b="1" i="1" dirty="0">
                <a:solidFill>
                  <a:srgbClr val="2E8B57"/>
                </a:solidFill>
                <a:latin typeface="Calibri" pitchFamily="34" charset="0"/>
                <a:ea typeface="Calibri" pitchFamily="34" charset="-122"/>
                <a:cs typeface="Calibri" pitchFamily="34" charset="-120"/>
              </a:rPr>
              <a:t>the answer</a:t>
            </a:r>
            <a:endParaRPr lang="en-US" sz="820" dirty="0"/>
          </a:p>
        </p:txBody>
      </p:sp>
      <p:sp>
        <p:nvSpPr>
          <p:cNvPr id="84" name="Text 76"/>
          <p:cNvSpPr/>
          <p:nvPr/>
        </p:nvSpPr>
        <p:spPr>
          <a:xfrm>
            <a:off x="457200" y="6053328"/>
            <a:ext cx="11274552" cy="43891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Read it in one line:  </a:t>
            </a:r>
            <a:pPr indent="0" marL="0">
              <a:buNone/>
            </a:pPr>
            <a:r>
              <a:rPr lang="en-US" sz="1050" dirty="0">
                <a:solidFill>
                  <a:srgbClr val="3A4356"/>
                </a:solidFill>
                <a:latin typeface="Calibri" pitchFamily="34" charset="0"/>
                <a:ea typeface="Calibri" pitchFamily="34" charset="-122"/>
                <a:cs typeface="Calibri" pitchFamily="34" charset="-120"/>
              </a:rPr>
              <a:t>the kernel measures, the AI names, the guardrails check, the engine calculates, a person approves. </a:t>
            </a:r>
            <a:pPr indent="0" marL="0">
              <a:buNone/>
            </a:pPr>
            <a:r>
              <a:rPr lang="en-US" sz="1050" b="1" dirty="0">
                <a:solidFill>
                  <a:srgbClr val="16325C"/>
                </a:solidFill>
                <a:latin typeface="Calibri" pitchFamily="34" charset="0"/>
                <a:ea typeface="Calibri" pitchFamily="34" charset="-122"/>
                <a:cs typeface="Calibri" pitchFamily="34" charset="-120"/>
              </a:rPr>
              <a:t>The AI can reach none of the money — not the rate library, not the arithmetic — </a:t>
            </a:r>
            <a:pPr indent="0" marL="0">
              <a:buNone/>
            </a:pPr>
            <a:r>
              <a:rPr lang="en-US" sz="1050" dirty="0">
                <a:solidFill>
                  <a:srgbClr val="3A4356"/>
                </a:solidFill>
                <a:latin typeface="Calibri" pitchFamily="34" charset="0"/>
                <a:ea typeface="Calibri" pitchFamily="34" charset="-122"/>
                <a:cs typeface="Calibri" pitchFamily="34" charset="-120"/>
              </a:rPr>
              <a:t>and the only thing that ever leaves your network is a description of a shape.</a:t>
            </a:r>
            <a:endParaRPr lang="en-US" sz="1050" dirty="0"/>
          </a:p>
        </p:txBody>
      </p:sp>
      <p:sp>
        <p:nvSpPr>
          <p:cNvPr id="85" name="Text 7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86" name="Text 7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It Is Worth — Manual vs Automated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same should-cost, done both ways</a:t>
            </a:r>
            <a:endParaRPr lang="en-US" sz="1200" dirty="0"/>
          </a:p>
        </p:txBody>
      </p:sp>
      <p:sp>
        <p:nvSpPr>
          <p:cNvPr id="5" name="Shape 3"/>
          <p:cNvSpPr/>
          <p:nvPr/>
        </p:nvSpPr>
        <p:spPr>
          <a:xfrm>
            <a:off x="457200" y="1115568"/>
            <a:ext cx="5623560" cy="3127248"/>
          </a:xfrm>
          <a:prstGeom prst="roundRect">
            <a:avLst>
              <a:gd name="adj" fmla="val 2924"/>
            </a:avLst>
          </a:prstGeom>
          <a:solidFill>
            <a:srgbClr val="FFFFFF"/>
          </a:solidFill>
          <a:ln w="12700">
            <a:solidFill>
              <a:srgbClr val="DCE3EE"/>
            </a:solidFill>
            <a:prstDash val="solid"/>
          </a:ln>
        </p:spPr>
      </p:sp>
      <p:sp>
        <p:nvSpPr>
          <p:cNvPr id="6" name="Text 4"/>
          <p:cNvSpPr/>
          <p:nvPr/>
        </p:nvSpPr>
        <p:spPr>
          <a:xfrm>
            <a:off x="685800" y="1216152"/>
            <a:ext cx="5120640" cy="219456"/>
          </a:xfrm>
          <a:prstGeom prst="rect">
            <a:avLst/>
          </a:prstGeom>
          <a:noFill/>
          <a:ln/>
        </p:spPr>
        <p:txBody>
          <a:bodyPr wrap="square" lIns="0" tIns="0" rIns="0" bIns="0" rtlCol="0" anchor="ctr"/>
          <a:lstStyle/>
          <a:p>
            <a:pPr indent="0" marL="0">
              <a:buNone/>
            </a:pPr>
            <a:r>
              <a:rPr lang="en-US" sz="1000" b="1" spc="60" kern="0" dirty="0">
                <a:solidFill>
                  <a:srgbClr val="6B7280"/>
                </a:solidFill>
                <a:latin typeface="Calibri" pitchFamily="34" charset="0"/>
                <a:ea typeface="Calibri" pitchFamily="34" charset="-122"/>
                <a:cs typeface="Calibri" pitchFamily="34" charset="-120"/>
              </a:rPr>
              <a:t>TODAY — CAD → CAPEE, BY HAND</a:t>
            </a:r>
            <a:endParaRPr lang="en-US" sz="1000" dirty="0"/>
          </a:p>
        </p:txBody>
      </p:sp>
      <p:sp>
        <p:nvSpPr>
          <p:cNvPr id="7" name="Shape 5"/>
          <p:cNvSpPr/>
          <p:nvPr/>
        </p:nvSpPr>
        <p:spPr>
          <a:xfrm>
            <a:off x="621792" y="1499616"/>
            <a:ext cx="5349240" cy="310896"/>
          </a:xfrm>
          <a:prstGeom prst="rect">
            <a:avLst/>
          </a:prstGeom>
          <a:solidFill>
            <a:srgbClr val="F4F7FB"/>
          </a:solidFill>
          <a:ln/>
        </p:spPr>
      </p:sp>
      <p:sp>
        <p:nvSpPr>
          <p:cNvPr id="8" name="Text 6"/>
          <p:cNvSpPr/>
          <p:nvPr/>
        </p:nvSpPr>
        <p:spPr>
          <a:xfrm>
            <a:off x="713232" y="1517904"/>
            <a:ext cx="3840480" cy="292608"/>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Open the CAD, measure, read the drawing</a:t>
            </a:r>
            <a:endParaRPr lang="en-US" sz="1000" dirty="0"/>
          </a:p>
        </p:txBody>
      </p:sp>
      <p:sp>
        <p:nvSpPr>
          <p:cNvPr id="9" name="Text 7"/>
          <p:cNvSpPr/>
          <p:nvPr/>
        </p:nvSpPr>
        <p:spPr>
          <a:xfrm>
            <a:off x="4572000" y="1517904"/>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45–90 min</a:t>
            </a:r>
            <a:endParaRPr lang="en-US" sz="1000" dirty="0"/>
          </a:p>
        </p:txBody>
      </p:sp>
      <p:sp>
        <p:nvSpPr>
          <p:cNvPr id="10" name="Text 8"/>
          <p:cNvSpPr/>
          <p:nvPr/>
        </p:nvSpPr>
        <p:spPr>
          <a:xfrm>
            <a:off x="713232" y="1847088"/>
            <a:ext cx="3840480" cy="292608"/>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Choose the material grade, look up a price</a:t>
            </a:r>
            <a:endParaRPr lang="en-US" sz="1000" dirty="0"/>
          </a:p>
        </p:txBody>
      </p:sp>
      <p:sp>
        <p:nvSpPr>
          <p:cNvPr id="11" name="Text 9"/>
          <p:cNvSpPr/>
          <p:nvPr/>
        </p:nvSpPr>
        <p:spPr>
          <a:xfrm>
            <a:off x="4572000" y="1847088"/>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20–30 min</a:t>
            </a:r>
            <a:endParaRPr lang="en-US" sz="1000" dirty="0"/>
          </a:p>
        </p:txBody>
      </p:sp>
      <p:sp>
        <p:nvSpPr>
          <p:cNvPr id="12" name="Shape 10"/>
          <p:cNvSpPr/>
          <p:nvPr/>
        </p:nvSpPr>
        <p:spPr>
          <a:xfrm>
            <a:off x="621792" y="2157984"/>
            <a:ext cx="5349240" cy="310896"/>
          </a:xfrm>
          <a:prstGeom prst="rect">
            <a:avLst/>
          </a:prstGeom>
          <a:solidFill>
            <a:srgbClr val="F4F7FB"/>
          </a:solidFill>
          <a:ln/>
        </p:spPr>
      </p:sp>
      <p:sp>
        <p:nvSpPr>
          <p:cNvPr id="13" name="Text 11"/>
          <p:cNvSpPr/>
          <p:nvPr/>
        </p:nvSpPr>
        <p:spPr>
          <a:xfrm>
            <a:off x="713232" y="2176272"/>
            <a:ext cx="3840480" cy="292608"/>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Choose the process route and the machine</a:t>
            </a:r>
            <a:endParaRPr lang="en-US" sz="1000" dirty="0"/>
          </a:p>
        </p:txBody>
      </p:sp>
      <p:sp>
        <p:nvSpPr>
          <p:cNvPr id="14" name="Text 12"/>
          <p:cNvSpPr/>
          <p:nvPr/>
        </p:nvSpPr>
        <p:spPr>
          <a:xfrm>
            <a:off x="4572000" y="2176272"/>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30–60 min</a:t>
            </a:r>
            <a:endParaRPr lang="en-US" sz="1000" dirty="0"/>
          </a:p>
        </p:txBody>
      </p:sp>
      <p:sp>
        <p:nvSpPr>
          <p:cNvPr id="15" name="Text 13"/>
          <p:cNvSpPr/>
          <p:nvPr/>
        </p:nvSpPr>
        <p:spPr>
          <a:xfrm>
            <a:off x="713232" y="2505456"/>
            <a:ext cx="3840480" cy="292608"/>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Build the cycle time, operation by operation</a:t>
            </a:r>
            <a:endParaRPr lang="en-US" sz="1000" dirty="0"/>
          </a:p>
        </p:txBody>
      </p:sp>
      <p:sp>
        <p:nvSpPr>
          <p:cNvPr id="16" name="Text 14"/>
          <p:cNvSpPr/>
          <p:nvPr/>
        </p:nvSpPr>
        <p:spPr>
          <a:xfrm>
            <a:off x="4572000" y="2505456"/>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60–120 min</a:t>
            </a:r>
            <a:endParaRPr lang="en-US" sz="1000" dirty="0"/>
          </a:p>
        </p:txBody>
      </p:sp>
      <p:sp>
        <p:nvSpPr>
          <p:cNvPr id="17" name="Shape 15"/>
          <p:cNvSpPr/>
          <p:nvPr/>
        </p:nvSpPr>
        <p:spPr>
          <a:xfrm>
            <a:off x="621792" y="2816352"/>
            <a:ext cx="5349240" cy="310896"/>
          </a:xfrm>
          <a:prstGeom prst="rect">
            <a:avLst/>
          </a:prstGeom>
          <a:solidFill>
            <a:srgbClr val="F4F7FB"/>
          </a:solidFill>
          <a:ln/>
        </p:spPr>
      </p:sp>
      <p:sp>
        <p:nvSpPr>
          <p:cNvPr id="18" name="Text 16"/>
          <p:cNvSpPr/>
          <p:nvPr/>
        </p:nvSpPr>
        <p:spPr>
          <a:xfrm>
            <a:off x="713232" y="2834640"/>
            <a:ext cx="3840480" cy="292608"/>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Key it all into CAPEE, correct the typos</a:t>
            </a:r>
            <a:endParaRPr lang="en-US" sz="1000" dirty="0"/>
          </a:p>
        </p:txBody>
      </p:sp>
      <p:sp>
        <p:nvSpPr>
          <p:cNvPr id="19" name="Text 17"/>
          <p:cNvSpPr/>
          <p:nvPr/>
        </p:nvSpPr>
        <p:spPr>
          <a:xfrm>
            <a:off x="457200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45–60 min</a:t>
            </a:r>
            <a:endParaRPr lang="en-US" sz="1000" dirty="0"/>
          </a:p>
        </p:txBody>
      </p:sp>
      <p:sp>
        <p:nvSpPr>
          <p:cNvPr id="20" name="Text 18"/>
          <p:cNvSpPr/>
          <p:nvPr/>
        </p:nvSpPr>
        <p:spPr>
          <a:xfrm>
            <a:off x="713232" y="3163824"/>
            <a:ext cx="3840480" cy="292608"/>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Sanity-check and iterate with an engineer</a:t>
            </a:r>
            <a:endParaRPr lang="en-US" sz="1000" dirty="0"/>
          </a:p>
        </p:txBody>
      </p:sp>
      <p:sp>
        <p:nvSpPr>
          <p:cNvPr id="21" name="Text 19"/>
          <p:cNvSpPr/>
          <p:nvPr/>
        </p:nvSpPr>
        <p:spPr>
          <a:xfrm>
            <a:off x="4572000" y="3163824"/>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60–90 min</a:t>
            </a:r>
            <a:endParaRPr lang="en-US" sz="1000" dirty="0"/>
          </a:p>
        </p:txBody>
      </p:sp>
      <p:sp>
        <p:nvSpPr>
          <p:cNvPr id="22" name="Shape 20"/>
          <p:cNvSpPr/>
          <p:nvPr/>
        </p:nvSpPr>
        <p:spPr>
          <a:xfrm>
            <a:off x="713232" y="3547872"/>
            <a:ext cx="5166360" cy="0"/>
          </a:xfrm>
          <a:prstGeom prst="line">
            <a:avLst/>
          </a:prstGeom>
          <a:noFill/>
          <a:ln w="12700">
            <a:solidFill>
              <a:srgbClr val="DCE3EE"/>
            </a:solidFill>
            <a:prstDash val="solid"/>
          </a:ln>
        </p:spPr>
      </p:sp>
      <p:sp>
        <p:nvSpPr>
          <p:cNvPr id="23" name="Text 21"/>
          <p:cNvSpPr/>
          <p:nvPr/>
        </p:nvSpPr>
        <p:spPr>
          <a:xfrm>
            <a:off x="713232" y="3621024"/>
            <a:ext cx="3840480" cy="274320"/>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One die-cast housing</a:t>
            </a:r>
            <a:endParaRPr lang="en-US" sz="1100" dirty="0"/>
          </a:p>
        </p:txBody>
      </p:sp>
      <p:sp>
        <p:nvSpPr>
          <p:cNvPr id="24" name="Text 22"/>
          <p:cNvSpPr/>
          <p:nvPr/>
        </p:nvSpPr>
        <p:spPr>
          <a:xfrm>
            <a:off x="4572000" y="3621024"/>
            <a:ext cx="1325880" cy="274320"/>
          </a:xfrm>
          <a:prstGeom prst="rect">
            <a:avLst/>
          </a:prstGeom>
          <a:noFill/>
          <a:ln/>
        </p:spPr>
        <p:txBody>
          <a:bodyPr wrap="square" lIns="0" tIns="0" rIns="0" bIns="0" rtlCol="0" anchor="ctr"/>
          <a:lstStyle/>
          <a:p>
            <a:pPr algn="r" indent="0" marL="0">
              <a:buNone/>
            </a:pPr>
            <a:r>
              <a:rPr lang="en-US" sz="1200" b="1" dirty="0">
                <a:solidFill>
                  <a:srgbClr val="B03A2E"/>
                </a:solidFill>
                <a:latin typeface="Calibri" pitchFamily="34" charset="0"/>
                <a:ea typeface="Calibri" pitchFamily="34" charset="-122"/>
                <a:cs typeface="Calibri" pitchFamily="34" charset="-120"/>
              </a:rPr>
              <a:t>≈ 6 hours</a:t>
            </a:r>
            <a:endParaRPr lang="en-US" sz="1200" dirty="0"/>
          </a:p>
        </p:txBody>
      </p:sp>
      <p:sp>
        <p:nvSpPr>
          <p:cNvPr id="25" name="Text 23"/>
          <p:cNvSpPr/>
          <p:nvPr/>
        </p:nvSpPr>
        <p:spPr>
          <a:xfrm>
            <a:off x="713232" y="3913632"/>
            <a:ext cx="5120640" cy="237744"/>
          </a:xfrm>
          <a:prstGeom prst="rect">
            <a:avLst/>
          </a:prstGeom>
          <a:noFill/>
          <a:ln/>
        </p:spPr>
        <p:txBody>
          <a:bodyPr wrap="square" lIns="0" tIns="0" rIns="0" bIns="0" rtlCol="0" anchor="ctr"/>
          <a:lstStyle/>
          <a:p>
            <a:pPr indent="0" marL="0">
              <a:buNone/>
            </a:pPr>
            <a:r>
              <a:rPr lang="en-US" sz="940" i="1" dirty="0">
                <a:solidFill>
                  <a:srgbClr val="6B7280"/>
                </a:solidFill>
                <a:latin typeface="Calibri" pitchFamily="34" charset="0"/>
                <a:ea typeface="Calibri" pitchFamily="34" charset="-122"/>
                <a:cs typeface="Calibri" pitchFamily="34" charset="-120"/>
              </a:rPr>
              <a:t>…and a different engineer gets a different answer.</a:t>
            </a:r>
            <a:endParaRPr lang="en-US" sz="940" dirty="0"/>
          </a:p>
        </p:txBody>
      </p:sp>
      <p:sp>
        <p:nvSpPr>
          <p:cNvPr id="26" name="Shape 24"/>
          <p:cNvSpPr/>
          <p:nvPr/>
        </p:nvSpPr>
        <p:spPr>
          <a:xfrm>
            <a:off x="6291072" y="1115568"/>
            <a:ext cx="5440680" cy="3127248"/>
          </a:xfrm>
          <a:prstGeom prst="roundRect">
            <a:avLst>
              <a:gd name="adj" fmla="val 2924"/>
            </a:avLst>
          </a:prstGeom>
          <a:solidFill>
            <a:srgbClr val="EAF6EF"/>
          </a:solidFill>
          <a:ln w="19050">
            <a:solidFill>
              <a:srgbClr val="2E8B57"/>
            </a:solidFill>
            <a:prstDash val="solid"/>
          </a:ln>
        </p:spPr>
      </p:sp>
      <p:sp>
        <p:nvSpPr>
          <p:cNvPr id="27" name="Text 25"/>
          <p:cNvSpPr/>
          <p:nvPr/>
        </p:nvSpPr>
        <p:spPr>
          <a:xfrm>
            <a:off x="6519672" y="1216152"/>
            <a:ext cx="4937760" cy="219456"/>
          </a:xfrm>
          <a:prstGeom prst="rect">
            <a:avLst/>
          </a:prstGeom>
          <a:noFill/>
          <a:ln/>
        </p:spPr>
        <p:txBody>
          <a:bodyPr wrap="square" lIns="0" tIns="0" rIns="0" bIns="0" rtlCol="0" anchor="ctr"/>
          <a:lstStyle/>
          <a:p>
            <a:pPr indent="0" marL="0">
              <a:buNone/>
            </a:pPr>
            <a:r>
              <a:rPr lang="en-US" sz="1000" b="1" spc="60" kern="0" dirty="0">
                <a:solidFill>
                  <a:srgbClr val="2E8B57"/>
                </a:solidFill>
                <a:latin typeface="Calibri" pitchFamily="34" charset="0"/>
                <a:ea typeface="Calibri" pitchFamily="34" charset="-122"/>
                <a:cs typeface="Calibri" pitchFamily="34" charset="-120"/>
              </a:rPr>
              <a:t>WITH COSTVISION</a:t>
            </a:r>
            <a:endParaRPr lang="en-US" sz="1000" dirty="0"/>
          </a:p>
        </p:txBody>
      </p:sp>
      <p:sp>
        <p:nvSpPr>
          <p:cNvPr id="28" name="Shape 26"/>
          <p:cNvSpPr/>
          <p:nvPr/>
        </p:nvSpPr>
        <p:spPr>
          <a:xfrm>
            <a:off x="6455664" y="1499616"/>
            <a:ext cx="5166360" cy="310896"/>
          </a:xfrm>
          <a:prstGeom prst="rect">
            <a:avLst/>
          </a:prstGeom>
          <a:solidFill>
            <a:srgbClr val="FFFFFF"/>
          </a:solidFill>
          <a:ln/>
        </p:spPr>
      </p:sp>
      <p:sp>
        <p:nvSpPr>
          <p:cNvPr id="29" name="Text 27"/>
          <p:cNvSpPr/>
          <p:nvPr/>
        </p:nvSpPr>
        <p:spPr>
          <a:xfrm>
            <a:off x="6547104" y="1517904"/>
            <a:ext cx="3749040" cy="292608"/>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Upload the CAD file</a:t>
            </a:r>
            <a:endParaRPr lang="en-US" sz="1000" dirty="0"/>
          </a:p>
        </p:txBody>
      </p:sp>
      <p:sp>
        <p:nvSpPr>
          <p:cNvPr id="30" name="Text 28"/>
          <p:cNvSpPr/>
          <p:nvPr/>
        </p:nvSpPr>
        <p:spPr>
          <a:xfrm>
            <a:off x="10332720" y="1517904"/>
            <a:ext cx="118872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 min</a:t>
            </a:r>
            <a:endParaRPr lang="en-US" sz="1000" dirty="0"/>
          </a:p>
        </p:txBody>
      </p:sp>
      <p:sp>
        <p:nvSpPr>
          <p:cNvPr id="31" name="Text 29"/>
          <p:cNvSpPr/>
          <p:nvPr/>
        </p:nvSpPr>
        <p:spPr>
          <a:xfrm>
            <a:off x="6547104" y="1847088"/>
            <a:ext cx="3749040" cy="292608"/>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Measure · classify · guard · calculate</a:t>
            </a:r>
            <a:endParaRPr lang="en-US" sz="1000" dirty="0"/>
          </a:p>
        </p:txBody>
      </p:sp>
      <p:sp>
        <p:nvSpPr>
          <p:cNvPr id="32" name="Text 30"/>
          <p:cNvSpPr/>
          <p:nvPr/>
        </p:nvSpPr>
        <p:spPr>
          <a:xfrm>
            <a:off x="10332720" y="1847088"/>
            <a:ext cx="118872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 2 min</a:t>
            </a:r>
            <a:endParaRPr lang="en-US" sz="1000" dirty="0"/>
          </a:p>
        </p:txBody>
      </p:sp>
      <p:sp>
        <p:nvSpPr>
          <p:cNvPr id="33" name="Text 31"/>
          <p:cNvSpPr/>
          <p:nvPr/>
        </p:nvSpPr>
        <p:spPr>
          <a:xfrm>
            <a:off x="6547104" y="2176272"/>
            <a:ext cx="3749040" cy="292608"/>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 all of it, unattended</a:t>
            </a:r>
            <a:endParaRPr lang="en-US" sz="1000" dirty="0"/>
          </a:p>
        </p:txBody>
      </p:sp>
      <p:sp>
        <p:nvSpPr>
          <p:cNvPr id="34" name="Text 32"/>
          <p:cNvSpPr/>
          <p:nvPr/>
        </p:nvSpPr>
        <p:spPr>
          <a:xfrm>
            <a:off x="6547104" y="2505456"/>
            <a:ext cx="3749040" cy="292608"/>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Engineer reviews every AI call and confirms</a:t>
            </a:r>
            <a:endParaRPr lang="en-US" sz="1000" dirty="0"/>
          </a:p>
        </p:txBody>
      </p:sp>
      <p:sp>
        <p:nvSpPr>
          <p:cNvPr id="35" name="Text 33"/>
          <p:cNvSpPr/>
          <p:nvPr/>
        </p:nvSpPr>
        <p:spPr>
          <a:xfrm>
            <a:off x="10332720" y="2505456"/>
            <a:ext cx="118872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15 min</a:t>
            </a:r>
            <a:endParaRPr lang="en-US" sz="1000" dirty="0"/>
          </a:p>
        </p:txBody>
      </p:sp>
      <p:sp>
        <p:nvSpPr>
          <p:cNvPr id="36" name="Shape 34"/>
          <p:cNvSpPr/>
          <p:nvPr/>
        </p:nvSpPr>
        <p:spPr>
          <a:xfrm>
            <a:off x="6455664" y="2816352"/>
            <a:ext cx="5166360" cy="310896"/>
          </a:xfrm>
          <a:prstGeom prst="rect">
            <a:avLst/>
          </a:prstGeom>
          <a:solidFill>
            <a:srgbClr val="FFFFFF"/>
          </a:solidFill>
          <a:ln/>
        </p:spPr>
      </p:sp>
      <p:sp>
        <p:nvSpPr>
          <p:cNvPr id="37" name="Text 35"/>
          <p:cNvSpPr/>
          <p:nvPr/>
        </p:nvSpPr>
        <p:spPr>
          <a:xfrm>
            <a:off x="6547104" y="2834640"/>
            <a:ext cx="3749040" cy="292608"/>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Set volume and region, check the band</a:t>
            </a:r>
            <a:endParaRPr lang="en-US" sz="1000" dirty="0"/>
          </a:p>
        </p:txBody>
      </p:sp>
      <p:sp>
        <p:nvSpPr>
          <p:cNvPr id="38" name="Text 36"/>
          <p:cNvSpPr/>
          <p:nvPr/>
        </p:nvSpPr>
        <p:spPr>
          <a:xfrm>
            <a:off x="10332720" y="2834640"/>
            <a:ext cx="118872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7 min</a:t>
            </a:r>
            <a:endParaRPr lang="en-US" sz="1000" dirty="0"/>
          </a:p>
        </p:txBody>
      </p:sp>
      <p:sp>
        <p:nvSpPr>
          <p:cNvPr id="39" name="Text 37"/>
          <p:cNvSpPr/>
          <p:nvPr/>
        </p:nvSpPr>
        <p:spPr>
          <a:xfrm>
            <a:off x="6547104" y="3163824"/>
            <a:ext cx="3749040" cy="292608"/>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Export the report</a:t>
            </a:r>
            <a:endParaRPr lang="en-US" sz="1000" dirty="0"/>
          </a:p>
        </p:txBody>
      </p:sp>
      <p:sp>
        <p:nvSpPr>
          <p:cNvPr id="40" name="Text 38"/>
          <p:cNvSpPr/>
          <p:nvPr/>
        </p:nvSpPr>
        <p:spPr>
          <a:xfrm>
            <a:off x="10332720" y="3163824"/>
            <a:ext cx="118872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5 min</a:t>
            </a:r>
            <a:endParaRPr lang="en-US" sz="1000" dirty="0"/>
          </a:p>
        </p:txBody>
      </p:sp>
      <p:sp>
        <p:nvSpPr>
          <p:cNvPr id="41" name="Shape 39"/>
          <p:cNvSpPr/>
          <p:nvPr/>
        </p:nvSpPr>
        <p:spPr>
          <a:xfrm>
            <a:off x="6547104" y="3547872"/>
            <a:ext cx="4983480" cy="0"/>
          </a:xfrm>
          <a:prstGeom prst="line">
            <a:avLst/>
          </a:prstGeom>
          <a:noFill/>
          <a:ln w="12700">
            <a:solidFill>
              <a:srgbClr val="2E8B57"/>
            </a:solidFill>
            <a:prstDash val="solid"/>
          </a:ln>
        </p:spPr>
      </p:sp>
      <p:sp>
        <p:nvSpPr>
          <p:cNvPr id="42" name="Text 40"/>
          <p:cNvSpPr/>
          <p:nvPr/>
        </p:nvSpPr>
        <p:spPr>
          <a:xfrm>
            <a:off x="6547104" y="3621024"/>
            <a:ext cx="3749040" cy="274320"/>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The same die-cast housing</a:t>
            </a:r>
            <a:endParaRPr lang="en-US" sz="1100" dirty="0"/>
          </a:p>
        </p:txBody>
      </p:sp>
      <p:sp>
        <p:nvSpPr>
          <p:cNvPr id="43" name="Text 41"/>
          <p:cNvSpPr/>
          <p:nvPr/>
        </p:nvSpPr>
        <p:spPr>
          <a:xfrm>
            <a:off x="10332720" y="3621024"/>
            <a:ext cx="1188720" cy="274320"/>
          </a:xfrm>
          <a:prstGeom prst="rect">
            <a:avLst/>
          </a:prstGeom>
          <a:noFill/>
          <a:ln/>
        </p:spPr>
        <p:txBody>
          <a:bodyPr wrap="square" lIns="0" tIns="0" rIns="0" bIns="0" rtlCol="0" anchor="ctr"/>
          <a:lstStyle/>
          <a:p>
            <a:pPr algn="r" indent="0" marL="0">
              <a:buNone/>
            </a:pPr>
            <a:r>
              <a:rPr lang="en-US" sz="1200" b="1" dirty="0">
                <a:solidFill>
                  <a:srgbClr val="2E8B57"/>
                </a:solidFill>
                <a:latin typeface="Calibri" pitchFamily="34" charset="0"/>
                <a:ea typeface="Calibri" pitchFamily="34" charset="-122"/>
                <a:cs typeface="Calibri" pitchFamily="34" charset="-120"/>
              </a:rPr>
              <a:t>≈ 30 min</a:t>
            </a:r>
            <a:endParaRPr lang="en-US" sz="1200" dirty="0"/>
          </a:p>
        </p:txBody>
      </p:sp>
      <p:sp>
        <p:nvSpPr>
          <p:cNvPr id="44" name="Text 42"/>
          <p:cNvSpPr/>
          <p:nvPr/>
        </p:nvSpPr>
        <p:spPr>
          <a:xfrm>
            <a:off x="6547104" y="3913632"/>
            <a:ext cx="4937760" cy="237744"/>
          </a:xfrm>
          <a:prstGeom prst="rect">
            <a:avLst/>
          </a:prstGeom>
          <a:noFill/>
          <a:ln/>
        </p:spPr>
        <p:txBody>
          <a:bodyPr wrap="square" lIns="0" tIns="0" rIns="0" bIns="0" rtlCol="0" anchor="ctr"/>
          <a:lstStyle/>
          <a:p>
            <a:pPr indent="0" marL="0">
              <a:buNone/>
            </a:pPr>
            <a:r>
              <a:rPr lang="en-US" sz="940" i="1" dirty="0">
                <a:solidFill>
                  <a:srgbClr val="2E8B57"/>
                </a:solidFill>
                <a:latin typeface="Calibri" pitchFamily="34" charset="0"/>
                <a:ea typeface="Calibri" pitchFamily="34" charset="-122"/>
                <a:cs typeface="Calibri" pitchFamily="34" charset="-120"/>
              </a:rPr>
              <a:t>…and it is the same answer every time, for everyone.</a:t>
            </a:r>
            <a:endParaRPr lang="en-US" sz="940" dirty="0"/>
          </a:p>
        </p:txBody>
      </p:sp>
      <p:sp>
        <p:nvSpPr>
          <p:cNvPr id="45" name="Shape 43"/>
          <p:cNvSpPr/>
          <p:nvPr/>
        </p:nvSpPr>
        <p:spPr>
          <a:xfrm>
            <a:off x="457200" y="4407408"/>
            <a:ext cx="6858000" cy="1572768"/>
          </a:xfrm>
          <a:prstGeom prst="roundRect">
            <a:avLst>
              <a:gd name="adj" fmla="val 5814"/>
            </a:avLst>
          </a:prstGeom>
          <a:solidFill>
            <a:srgbClr val="FFFFFF"/>
          </a:solidFill>
          <a:ln w="12700">
            <a:solidFill>
              <a:srgbClr val="DCE3EE"/>
            </a:solidFill>
            <a:prstDash val="solid"/>
          </a:ln>
        </p:spPr>
      </p:sp>
      <p:sp>
        <p:nvSpPr>
          <p:cNvPr id="46" name="Text 44"/>
          <p:cNvSpPr/>
          <p:nvPr/>
        </p:nvSpPr>
        <p:spPr>
          <a:xfrm>
            <a:off x="685800" y="4498848"/>
            <a:ext cx="6400800" cy="219456"/>
          </a:xfrm>
          <a:prstGeom prst="rect">
            <a:avLst/>
          </a:prstGeom>
          <a:noFill/>
          <a:ln/>
        </p:spPr>
        <p:txBody>
          <a:bodyPr wrap="square" lIns="0" tIns="0" rIns="0" bIns="0" rtlCol="0" anchor="ctr"/>
          <a:lstStyle/>
          <a:p>
            <a:pPr indent="0" marL="0">
              <a:buNone/>
            </a:pPr>
            <a:r>
              <a:rPr lang="en-US" sz="1000" b="1" spc="50" kern="0" dirty="0">
                <a:solidFill>
                  <a:srgbClr val="16325C"/>
                </a:solidFill>
                <a:latin typeface="Calibri" pitchFamily="34" charset="0"/>
                <a:ea typeface="Calibri" pitchFamily="34" charset="-122"/>
                <a:cs typeface="Calibri" pitchFamily="34" charset="-120"/>
              </a:rPr>
              <a:t>ACROSS THE PART TYPES YOU ACTUALLY BUY</a:t>
            </a:r>
            <a:endParaRPr lang="en-US" sz="1000" dirty="0"/>
          </a:p>
        </p:txBody>
      </p:sp>
      <p:sp>
        <p:nvSpPr>
          <p:cNvPr id="47" name="Text 45"/>
          <p:cNvSpPr/>
          <p:nvPr/>
        </p:nvSpPr>
        <p:spPr>
          <a:xfrm>
            <a:off x="713232" y="4745736"/>
            <a:ext cx="2468880" cy="182880"/>
          </a:xfrm>
          <a:prstGeom prst="rect">
            <a:avLst/>
          </a:prstGeom>
          <a:noFill/>
          <a:ln/>
        </p:spPr>
        <p:txBody>
          <a:bodyPr wrap="square" lIns="0" tIns="0" rIns="0" bIns="0" rtlCol="0" anchor="ctr"/>
          <a:lstStyle/>
          <a:p>
            <a:pPr algn="l" indent="0" marL="0">
              <a:buNone/>
            </a:pPr>
            <a:r>
              <a:rPr lang="en-US" sz="820" b="1" dirty="0">
                <a:solidFill>
                  <a:srgbClr val="6B7280"/>
                </a:solidFill>
                <a:latin typeface="Calibri" pitchFamily="34" charset="0"/>
                <a:ea typeface="Calibri" pitchFamily="34" charset="-122"/>
                <a:cs typeface="Calibri" pitchFamily="34" charset="-120"/>
              </a:rPr>
              <a:t>Part</a:t>
            </a:r>
            <a:endParaRPr lang="en-US" sz="820" dirty="0"/>
          </a:p>
        </p:txBody>
      </p:sp>
      <p:sp>
        <p:nvSpPr>
          <p:cNvPr id="48" name="Text 46"/>
          <p:cNvSpPr/>
          <p:nvPr/>
        </p:nvSpPr>
        <p:spPr>
          <a:xfrm>
            <a:off x="3246120" y="4745736"/>
            <a:ext cx="1463040" cy="182880"/>
          </a:xfrm>
          <a:prstGeom prst="rect">
            <a:avLst/>
          </a:prstGeom>
          <a:noFill/>
          <a:ln/>
        </p:spPr>
        <p:txBody>
          <a:bodyPr wrap="square" lIns="0" tIns="0" rIns="0" bIns="0" rtlCol="0" anchor="ctr"/>
          <a:lstStyle/>
          <a:p>
            <a:pPr algn="r" indent="0" marL="0">
              <a:buNone/>
            </a:pPr>
            <a:r>
              <a:rPr lang="en-US" sz="820" b="1" dirty="0">
                <a:solidFill>
                  <a:srgbClr val="6B7280"/>
                </a:solidFill>
                <a:latin typeface="Calibri" pitchFamily="34" charset="0"/>
                <a:ea typeface="Calibri" pitchFamily="34" charset="-122"/>
                <a:cs typeface="Calibri" pitchFamily="34" charset="-120"/>
              </a:rPr>
              <a:t>By hand</a:t>
            </a:r>
            <a:endParaRPr lang="en-US" sz="820" dirty="0"/>
          </a:p>
        </p:txBody>
      </p:sp>
      <p:sp>
        <p:nvSpPr>
          <p:cNvPr id="49" name="Text 47"/>
          <p:cNvSpPr/>
          <p:nvPr/>
        </p:nvSpPr>
        <p:spPr>
          <a:xfrm>
            <a:off x="4800600" y="4745736"/>
            <a:ext cx="1280160" cy="182880"/>
          </a:xfrm>
          <a:prstGeom prst="rect">
            <a:avLst/>
          </a:prstGeom>
          <a:noFill/>
          <a:ln/>
        </p:spPr>
        <p:txBody>
          <a:bodyPr wrap="square" lIns="0" tIns="0" rIns="0" bIns="0" rtlCol="0" anchor="ctr"/>
          <a:lstStyle/>
          <a:p>
            <a:pPr algn="r" indent="0" marL="0">
              <a:buNone/>
            </a:pPr>
            <a:r>
              <a:rPr lang="en-US" sz="820" b="1" dirty="0">
                <a:solidFill>
                  <a:srgbClr val="6B7280"/>
                </a:solidFill>
                <a:latin typeface="Calibri" pitchFamily="34" charset="0"/>
                <a:ea typeface="Calibri" pitchFamily="34" charset="-122"/>
                <a:cs typeface="Calibri" pitchFamily="34" charset="-120"/>
              </a:rPr>
              <a:t>CostVision</a:t>
            </a:r>
            <a:endParaRPr lang="en-US" sz="820" dirty="0"/>
          </a:p>
        </p:txBody>
      </p:sp>
      <p:sp>
        <p:nvSpPr>
          <p:cNvPr id="50" name="Text 48"/>
          <p:cNvSpPr/>
          <p:nvPr/>
        </p:nvSpPr>
        <p:spPr>
          <a:xfrm>
            <a:off x="6172200" y="4745736"/>
            <a:ext cx="1005840" cy="182880"/>
          </a:xfrm>
          <a:prstGeom prst="rect">
            <a:avLst/>
          </a:prstGeom>
          <a:noFill/>
          <a:ln/>
        </p:spPr>
        <p:txBody>
          <a:bodyPr wrap="square" lIns="0" tIns="0" rIns="0" bIns="0" rtlCol="0" anchor="ctr"/>
          <a:lstStyle/>
          <a:p>
            <a:pPr algn="r" indent="0" marL="0">
              <a:buNone/>
            </a:pPr>
            <a:r>
              <a:rPr lang="en-US" sz="820" b="1" dirty="0">
                <a:solidFill>
                  <a:srgbClr val="6B7280"/>
                </a:solidFill>
                <a:latin typeface="Calibri" pitchFamily="34" charset="0"/>
                <a:ea typeface="Calibri" pitchFamily="34" charset="-122"/>
                <a:cs typeface="Calibri" pitchFamily="34" charset="-120"/>
              </a:rPr>
              <a:t>Faster by</a:t>
            </a:r>
            <a:endParaRPr lang="en-US" sz="820" dirty="0"/>
          </a:p>
        </p:txBody>
      </p:sp>
      <p:sp>
        <p:nvSpPr>
          <p:cNvPr id="51" name="Shape 49"/>
          <p:cNvSpPr/>
          <p:nvPr/>
        </p:nvSpPr>
        <p:spPr>
          <a:xfrm>
            <a:off x="621792" y="4928616"/>
            <a:ext cx="6583680" cy="228600"/>
          </a:xfrm>
          <a:prstGeom prst="rect">
            <a:avLst/>
          </a:prstGeom>
          <a:solidFill>
            <a:srgbClr val="F4F7FB"/>
          </a:solidFill>
          <a:ln/>
        </p:spPr>
      </p:sp>
      <p:sp>
        <p:nvSpPr>
          <p:cNvPr id="52" name="Text 50"/>
          <p:cNvSpPr/>
          <p:nvPr/>
        </p:nvSpPr>
        <p:spPr>
          <a:xfrm>
            <a:off x="713232" y="4946904"/>
            <a:ext cx="2468880" cy="21031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Machined bracket</a:t>
            </a:r>
            <a:endParaRPr lang="en-US" sz="920" dirty="0"/>
          </a:p>
        </p:txBody>
      </p:sp>
      <p:sp>
        <p:nvSpPr>
          <p:cNvPr id="53" name="Text 51"/>
          <p:cNvSpPr/>
          <p:nvPr/>
        </p:nvSpPr>
        <p:spPr>
          <a:xfrm>
            <a:off x="3246120" y="4946904"/>
            <a:ext cx="1463040" cy="21031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2–3 h</a:t>
            </a:r>
            <a:endParaRPr lang="en-US" sz="920" dirty="0"/>
          </a:p>
        </p:txBody>
      </p:sp>
      <p:sp>
        <p:nvSpPr>
          <p:cNvPr id="54" name="Text 52"/>
          <p:cNvSpPr/>
          <p:nvPr/>
        </p:nvSpPr>
        <p:spPr>
          <a:xfrm>
            <a:off x="4800600" y="4946904"/>
            <a:ext cx="1280160" cy="21031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15 min</a:t>
            </a:r>
            <a:endParaRPr lang="en-US" sz="920" dirty="0"/>
          </a:p>
        </p:txBody>
      </p:sp>
      <p:sp>
        <p:nvSpPr>
          <p:cNvPr id="55" name="Text 53"/>
          <p:cNvSpPr/>
          <p:nvPr/>
        </p:nvSpPr>
        <p:spPr>
          <a:xfrm>
            <a:off x="6172200" y="4946904"/>
            <a:ext cx="1005840" cy="210312"/>
          </a:xfrm>
          <a:prstGeom prst="rect">
            <a:avLst/>
          </a:prstGeom>
          <a:noFill/>
          <a:ln/>
        </p:spPr>
        <p:txBody>
          <a:bodyPr wrap="square" lIns="0" tIns="0" rIns="0" bIns="0" rtlCol="0" anchor="ctr"/>
          <a:lstStyle/>
          <a:p>
            <a:pPr algn="r" indent="0" marL="0">
              <a:buNone/>
            </a:pPr>
            <a:r>
              <a:rPr lang="en-US" sz="920" b="1" dirty="0">
                <a:solidFill>
                  <a:srgbClr val="2E8B57"/>
                </a:solidFill>
                <a:latin typeface="Calibri" pitchFamily="34" charset="0"/>
                <a:ea typeface="Calibri" pitchFamily="34" charset="-122"/>
                <a:cs typeface="Calibri" pitchFamily="34" charset="-120"/>
              </a:rPr>
              <a:t>≈ 10×</a:t>
            </a:r>
            <a:endParaRPr lang="en-US" sz="920" dirty="0"/>
          </a:p>
        </p:txBody>
      </p:sp>
      <p:sp>
        <p:nvSpPr>
          <p:cNvPr id="56" name="Text 54"/>
          <p:cNvSpPr/>
          <p:nvPr/>
        </p:nvSpPr>
        <p:spPr>
          <a:xfrm>
            <a:off x="713232" y="5193792"/>
            <a:ext cx="2468880" cy="21031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Die-cast housing</a:t>
            </a:r>
            <a:endParaRPr lang="en-US" sz="920" dirty="0"/>
          </a:p>
        </p:txBody>
      </p:sp>
      <p:sp>
        <p:nvSpPr>
          <p:cNvPr id="57" name="Text 55"/>
          <p:cNvSpPr/>
          <p:nvPr/>
        </p:nvSpPr>
        <p:spPr>
          <a:xfrm>
            <a:off x="3246120" y="5193792"/>
            <a:ext cx="1463040" cy="21031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5–7 h</a:t>
            </a:r>
            <a:endParaRPr lang="en-US" sz="920" dirty="0"/>
          </a:p>
        </p:txBody>
      </p:sp>
      <p:sp>
        <p:nvSpPr>
          <p:cNvPr id="58" name="Text 56"/>
          <p:cNvSpPr/>
          <p:nvPr/>
        </p:nvSpPr>
        <p:spPr>
          <a:xfrm>
            <a:off x="4800600" y="5193792"/>
            <a:ext cx="1280160" cy="21031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30 min</a:t>
            </a:r>
            <a:endParaRPr lang="en-US" sz="920" dirty="0"/>
          </a:p>
        </p:txBody>
      </p:sp>
      <p:sp>
        <p:nvSpPr>
          <p:cNvPr id="59" name="Text 57"/>
          <p:cNvSpPr/>
          <p:nvPr/>
        </p:nvSpPr>
        <p:spPr>
          <a:xfrm>
            <a:off x="6172200" y="5193792"/>
            <a:ext cx="1005840" cy="210312"/>
          </a:xfrm>
          <a:prstGeom prst="rect">
            <a:avLst/>
          </a:prstGeom>
          <a:noFill/>
          <a:ln/>
        </p:spPr>
        <p:txBody>
          <a:bodyPr wrap="square" lIns="0" tIns="0" rIns="0" bIns="0" rtlCol="0" anchor="ctr"/>
          <a:lstStyle/>
          <a:p>
            <a:pPr algn="r" indent="0" marL="0">
              <a:buNone/>
            </a:pPr>
            <a:r>
              <a:rPr lang="en-US" sz="920" b="1" dirty="0">
                <a:solidFill>
                  <a:srgbClr val="2E8B57"/>
                </a:solidFill>
                <a:latin typeface="Calibri" pitchFamily="34" charset="0"/>
                <a:ea typeface="Calibri" pitchFamily="34" charset="-122"/>
                <a:cs typeface="Calibri" pitchFamily="34" charset="-120"/>
              </a:rPr>
              <a:t>≈ 12×</a:t>
            </a:r>
            <a:endParaRPr lang="en-US" sz="920" dirty="0"/>
          </a:p>
        </p:txBody>
      </p:sp>
      <p:sp>
        <p:nvSpPr>
          <p:cNvPr id="60" name="Shape 58"/>
          <p:cNvSpPr/>
          <p:nvPr/>
        </p:nvSpPr>
        <p:spPr>
          <a:xfrm>
            <a:off x="621792" y="5422392"/>
            <a:ext cx="6583680" cy="228600"/>
          </a:xfrm>
          <a:prstGeom prst="rect">
            <a:avLst/>
          </a:prstGeom>
          <a:solidFill>
            <a:srgbClr val="F4F7FB"/>
          </a:solidFill>
          <a:ln/>
        </p:spPr>
      </p:sp>
      <p:sp>
        <p:nvSpPr>
          <p:cNvPr id="61" name="Text 59"/>
          <p:cNvSpPr/>
          <p:nvPr/>
        </p:nvSpPr>
        <p:spPr>
          <a:xfrm>
            <a:off x="713232" y="5440680"/>
            <a:ext cx="2468880" cy="21031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Moulded fascia + paint</a:t>
            </a:r>
            <a:endParaRPr lang="en-US" sz="920" dirty="0"/>
          </a:p>
        </p:txBody>
      </p:sp>
      <p:sp>
        <p:nvSpPr>
          <p:cNvPr id="62" name="Text 60"/>
          <p:cNvSpPr/>
          <p:nvPr/>
        </p:nvSpPr>
        <p:spPr>
          <a:xfrm>
            <a:off x="3246120" y="5440680"/>
            <a:ext cx="1463040" cy="21031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7–10 h</a:t>
            </a:r>
            <a:endParaRPr lang="en-US" sz="920" dirty="0"/>
          </a:p>
        </p:txBody>
      </p:sp>
      <p:sp>
        <p:nvSpPr>
          <p:cNvPr id="63" name="Text 61"/>
          <p:cNvSpPr/>
          <p:nvPr/>
        </p:nvSpPr>
        <p:spPr>
          <a:xfrm>
            <a:off x="4800600" y="5440680"/>
            <a:ext cx="1280160" cy="21031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40 min</a:t>
            </a:r>
            <a:endParaRPr lang="en-US" sz="920" dirty="0"/>
          </a:p>
        </p:txBody>
      </p:sp>
      <p:sp>
        <p:nvSpPr>
          <p:cNvPr id="64" name="Text 62"/>
          <p:cNvSpPr/>
          <p:nvPr/>
        </p:nvSpPr>
        <p:spPr>
          <a:xfrm>
            <a:off x="6172200" y="5440680"/>
            <a:ext cx="1005840" cy="210312"/>
          </a:xfrm>
          <a:prstGeom prst="rect">
            <a:avLst/>
          </a:prstGeom>
          <a:noFill/>
          <a:ln/>
        </p:spPr>
        <p:txBody>
          <a:bodyPr wrap="square" lIns="0" tIns="0" rIns="0" bIns="0" rtlCol="0" anchor="ctr"/>
          <a:lstStyle/>
          <a:p>
            <a:pPr algn="r" indent="0" marL="0">
              <a:buNone/>
            </a:pPr>
            <a:r>
              <a:rPr lang="en-US" sz="920" b="1" dirty="0">
                <a:solidFill>
                  <a:srgbClr val="2E8B57"/>
                </a:solidFill>
                <a:latin typeface="Calibri" pitchFamily="34" charset="0"/>
                <a:ea typeface="Calibri" pitchFamily="34" charset="-122"/>
                <a:cs typeface="Calibri" pitchFamily="34" charset="-120"/>
              </a:rPr>
              <a:t>≈ 13×</a:t>
            </a:r>
            <a:endParaRPr lang="en-US" sz="920" dirty="0"/>
          </a:p>
        </p:txBody>
      </p:sp>
      <p:sp>
        <p:nvSpPr>
          <p:cNvPr id="65" name="Text 63"/>
          <p:cNvSpPr/>
          <p:nvPr/>
        </p:nvSpPr>
        <p:spPr>
          <a:xfrm>
            <a:off x="713232" y="5687568"/>
            <a:ext cx="2468880" cy="21031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PCB / PCBA from a photo</a:t>
            </a:r>
            <a:endParaRPr lang="en-US" sz="920" dirty="0"/>
          </a:p>
        </p:txBody>
      </p:sp>
      <p:sp>
        <p:nvSpPr>
          <p:cNvPr id="66" name="Text 64"/>
          <p:cNvSpPr/>
          <p:nvPr/>
        </p:nvSpPr>
        <p:spPr>
          <a:xfrm>
            <a:off x="3246120" y="5687568"/>
            <a:ext cx="1463040" cy="21031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2–4 days</a:t>
            </a:r>
            <a:endParaRPr lang="en-US" sz="920" dirty="0"/>
          </a:p>
        </p:txBody>
      </p:sp>
      <p:sp>
        <p:nvSpPr>
          <p:cNvPr id="67" name="Text 65"/>
          <p:cNvSpPr/>
          <p:nvPr/>
        </p:nvSpPr>
        <p:spPr>
          <a:xfrm>
            <a:off x="4800600" y="5687568"/>
            <a:ext cx="1280160" cy="21031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45 min</a:t>
            </a:r>
            <a:endParaRPr lang="en-US" sz="920" dirty="0"/>
          </a:p>
        </p:txBody>
      </p:sp>
      <p:sp>
        <p:nvSpPr>
          <p:cNvPr id="68" name="Text 66"/>
          <p:cNvSpPr/>
          <p:nvPr/>
        </p:nvSpPr>
        <p:spPr>
          <a:xfrm>
            <a:off x="6172200" y="5687568"/>
            <a:ext cx="1005840" cy="210312"/>
          </a:xfrm>
          <a:prstGeom prst="rect">
            <a:avLst/>
          </a:prstGeom>
          <a:noFill/>
          <a:ln/>
        </p:spPr>
        <p:txBody>
          <a:bodyPr wrap="square" lIns="0" tIns="0" rIns="0" bIns="0" rtlCol="0" anchor="ctr"/>
          <a:lstStyle/>
          <a:p>
            <a:pPr algn="r" indent="0" marL="0">
              <a:buNone/>
            </a:pPr>
            <a:r>
              <a:rPr lang="en-US" sz="920" b="1" dirty="0">
                <a:solidFill>
                  <a:srgbClr val="2E8B57"/>
                </a:solidFill>
                <a:latin typeface="Calibri" pitchFamily="34" charset="0"/>
                <a:ea typeface="Calibri" pitchFamily="34" charset="-122"/>
                <a:cs typeface="Calibri" pitchFamily="34" charset="-120"/>
              </a:rPr>
              <a:t>≈ 25×</a:t>
            </a:r>
            <a:endParaRPr lang="en-US" sz="920" dirty="0"/>
          </a:p>
        </p:txBody>
      </p:sp>
      <p:sp>
        <p:nvSpPr>
          <p:cNvPr id="69" name="Shape 67"/>
          <p:cNvSpPr/>
          <p:nvPr/>
        </p:nvSpPr>
        <p:spPr>
          <a:xfrm>
            <a:off x="7543800" y="4407408"/>
            <a:ext cx="4187952" cy="1572768"/>
          </a:xfrm>
          <a:prstGeom prst="roundRect">
            <a:avLst>
              <a:gd name="adj" fmla="val 5814"/>
            </a:avLst>
          </a:prstGeom>
          <a:solidFill>
            <a:srgbClr val="16325C"/>
          </a:solidFill>
          <a:ln/>
        </p:spPr>
      </p:sp>
      <p:sp>
        <p:nvSpPr>
          <p:cNvPr id="70" name="Text 68"/>
          <p:cNvSpPr/>
          <p:nvPr/>
        </p:nvSpPr>
        <p:spPr>
          <a:xfrm>
            <a:off x="7772400" y="4498848"/>
            <a:ext cx="3749040" cy="219456"/>
          </a:xfrm>
          <a:prstGeom prst="rect">
            <a:avLst/>
          </a:prstGeom>
          <a:noFill/>
          <a:ln/>
        </p:spPr>
        <p:txBody>
          <a:bodyPr wrap="square" lIns="0" tIns="0" rIns="0" bIns="0" rtlCol="0" anchor="ctr"/>
          <a:lstStyle/>
          <a:p>
            <a:pPr indent="0" marL="0">
              <a:buNone/>
            </a:pPr>
            <a:r>
              <a:rPr lang="en-US" sz="950" b="1" spc="50" kern="0" dirty="0">
                <a:solidFill>
                  <a:srgbClr val="9FB6E0"/>
                </a:solidFill>
                <a:latin typeface="Calibri" pitchFamily="34" charset="0"/>
                <a:ea typeface="Calibri" pitchFamily="34" charset="-122"/>
                <a:cs typeface="Calibri" pitchFamily="34" charset="-120"/>
              </a:rPr>
              <a:t>WHAT THAT BUYS THE PROGRAMME</a:t>
            </a:r>
            <a:endParaRPr lang="en-US" sz="950" dirty="0"/>
          </a:p>
        </p:txBody>
      </p:sp>
      <p:sp>
        <p:nvSpPr>
          <p:cNvPr id="71" name="Text 69"/>
          <p:cNvSpPr/>
          <p:nvPr/>
        </p:nvSpPr>
        <p:spPr>
          <a:xfrm>
            <a:off x="7772400" y="4791456"/>
            <a:ext cx="1280160" cy="310896"/>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8–10×</a:t>
            </a:r>
            <a:endParaRPr lang="en-US" sz="1200" dirty="0"/>
          </a:p>
        </p:txBody>
      </p:sp>
      <p:sp>
        <p:nvSpPr>
          <p:cNvPr id="72" name="Text 70"/>
          <p:cNvSpPr/>
          <p:nvPr/>
        </p:nvSpPr>
        <p:spPr>
          <a:xfrm>
            <a:off x="9098280" y="4791456"/>
            <a:ext cx="2468880" cy="310896"/>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more parts costed by the same team</a:t>
            </a:r>
            <a:endParaRPr lang="en-US" sz="900" dirty="0"/>
          </a:p>
        </p:txBody>
      </p:sp>
      <p:sp>
        <p:nvSpPr>
          <p:cNvPr id="73" name="Text 71"/>
          <p:cNvSpPr/>
          <p:nvPr/>
        </p:nvSpPr>
        <p:spPr>
          <a:xfrm>
            <a:off x="7772400" y="5157216"/>
            <a:ext cx="1280160" cy="310896"/>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Same answer</a:t>
            </a:r>
            <a:endParaRPr lang="en-US" sz="1200" dirty="0"/>
          </a:p>
        </p:txBody>
      </p:sp>
      <p:sp>
        <p:nvSpPr>
          <p:cNvPr id="74" name="Text 72"/>
          <p:cNvSpPr/>
          <p:nvPr/>
        </p:nvSpPr>
        <p:spPr>
          <a:xfrm>
            <a:off x="9098280" y="5157216"/>
            <a:ext cx="2468880" cy="310896"/>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twice — impossible by hand</a:t>
            </a:r>
            <a:endParaRPr lang="en-US" sz="900" dirty="0"/>
          </a:p>
        </p:txBody>
      </p:sp>
      <p:sp>
        <p:nvSpPr>
          <p:cNvPr id="75" name="Text 73"/>
          <p:cNvSpPr/>
          <p:nvPr/>
        </p:nvSpPr>
        <p:spPr>
          <a:xfrm>
            <a:off x="7772400" y="5522976"/>
            <a:ext cx="1280160" cy="310896"/>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During design</a:t>
            </a:r>
            <a:endParaRPr lang="en-US" sz="1200" dirty="0"/>
          </a:p>
        </p:txBody>
      </p:sp>
      <p:sp>
        <p:nvSpPr>
          <p:cNvPr id="76" name="Text 74"/>
          <p:cNvSpPr/>
          <p:nvPr/>
        </p:nvSpPr>
        <p:spPr>
          <a:xfrm>
            <a:off x="9098280" y="5522976"/>
            <a:ext cx="2468880" cy="310896"/>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not after the quote lands</a:t>
            </a:r>
            <a:endParaRPr lang="en-US" sz="900" dirty="0"/>
          </a:p>
        </p:txBody>
      </p:sp>
      <p:sp>
        <p:nvSpPr>
          <p:cNvPr id="77" name="Text 75"/>
          <p:cNvSpPr/>
          <p:nvPr/>
        </p:nvSpPr>
        <p:spPr>
          <a:xfrm>
            <a:off x="457200" y="6089904"/>
            <a:ext cx="11274552"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Timings are planning assumptions for a moderately complex part, not measured results. Replace them with your own after a 20-part pilot — the tool logs its own run times.</a:t>
            </a:r>
            <a:endParaRPr lang="en-US" sz="900" dirty="0"/>
          </a:p>
        </p:txBody>
      </p:sp>
      <p:sp>
        <p:nvSpPr>
          <p:cNvPr id="78" name="Text 7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79" name="Text 7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0E8074"/>
                </a:solidFill>
                <a:latin typeface="Calibri" pitchFamily="34" charset="0"/>
                <a:ea typeface="Calibri" pitchFamily="34" charset="-122"/>
                <a:cs typeface="Calibri" pitchFamily="34" charset="-120"/>
              </a:rPr>
              <a:t>SECTION TWO</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 Die-Cast Aluminium Housing</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One real part, followed through all twelve stages</a:t>
            </a:r>
            <a:endParaRPr lang="en-US" sz="1500" dirty="0"/>
          </a:p>
        </p:txBody>
      </p:sp>
      <p:sp>
        <p:nvSpPr>
          <p:cNvPr id="8" name="Shape 6"/>
          <p:cNvSpPr/>
          <p:nvPr/>
        </p:nvSpPr>
        <p:spPr>
          <a:xfrm>
            <a:off x="786384" y="3730752"/>
            <a:ext cx="100584" cy="100584"/>
          </a:xfrm>
          <a:prstGeom prst="ellipse">
            <a:avLst/>
          </a:prstGeom>
          <a:solidFill>
            <a:srgbClr val="0E8074"/>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What the geometry kernel measures, and what the AI is allowed to say</a:t>
            </a:r>
            <a:endParaRPr lang="en-US" sz="1200" dirty="0"/>
          </a:p>
        </p:txBody>
      </p:sp>
      <p:sp>
        <p:nvSpPr>
          <p:cNvPr id="10" name="Shape 8"/>
          <p:cNvSpPr/>
          <p:nvPr/>
        </p:nvSpPr>
        <p:spPr>
          <a:xfrm>
            <a:off x="786384" y="4059936"/>
            <a:ext cx="100584" cy="100584"/>
          </a:xfrm>
          <a:prstGeom prst="ellipse">
            <a:avLst/>
          </a:prstGeom>
          <a:solidFill>
            <a:srgbClr val="0E8074"/>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Four automatic guards, and the autocorrect that fires when they disagree</a:t>
            </a:r>
            <a:endParaRPr lang="en-US" sz="1200" dirty="0"/>
          </a:p>
        </p:txBody>
      </p:sp>
      <p:sp>
        <p:nvSpPr>
          <p:cNvPr id="12" name="Shape 10"/>
          <p:cNvSpPr/>
          <p:nvPr/>
        </p:nvSpPr>
        <p:spPr>
          <a:xfrm>
            <a:off x="786384" y="4389120"/>
            <a:ext cx="100584" cy="100584"/>
          </a:xfrm>
          <a:prstGeom prst="ellipse">
            <a:avLst/>
          </a:prstGeom>
          <a:solidFill>
            <a:srgbClr val="0E8074"/>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press chosen by physics; every cutting minute derived from a feature</a:t>
            </a:r>
            <a:endParaRPr lang="en-US" sz="1200" dirty="0"/>
          </a:p>
        </p:txBody>
      </p:sp>
      <p:sp>
        <p:nvSpPr>
          <p:cNvPr id="14" name="Shape 12"/>
          <p:cNvSpPr/>
          <p:nvPr/>
        </p:nvSpPr>
        <p:spPr>
          <a:xfrm>
            <a:off x="786384" y="4718304"/>
            <a:ext cx="100584" cy="100584"/>
          </a:xfrm>
          <a:prstGeom prst="ellipse">
            <a:avLst/>
          </a:prstGeom>
          <a:solidFill>
            <a:srgbClr val="0E8074"/>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Eight buckets, twenty countries, an honest range — and a person signing it off</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22</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real component, followed from CAD file to defensible price</a:t>
            </a:r>
            <a:endParaRPr lang="en-US" sz="1200" dirty="0"/>
          </a:p>
        </p:txBody>
      </p:sp>
      <p:pic>
        <p:nvPicPr>
          <p:cNvPr id="5" name="Image 0" descr="assets/workflow-deck/part-housing.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Die-cast aluminium housing</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B7280"/>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Finished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2.8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Poured weight</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4.83 kg</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 3.0 mm</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1,650 cm²</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Precision bores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 × Ø40</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Tapped holes</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 M8</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Machined faces</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Every one came out of the 3D model — nobody typed them.</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and the Journey It Takes</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housing, twelve stages, about two minutes of computer time</a:t>
            </a:r>
            <a:endParaRPr lang="en-US" sz="1200" dirty="0"/>
          </a:p>
        </p:txBody>
      </p:sp>
      <p:sp>
        <p:nvSpPr>
          <p:cNvPr id="4" name="Shape 2"/>
          <p:cNvSpPr/>
          <p:nvPr/>
        </p:nvSpPr>
        <p:spPr>
          <a:xfrm>
            <a:off x="457200" y="1170432"/>
            <a:ext cx="11274552" cy="1051560"/>
          </a:xfrm>
          <a:prstGeom prst="roundRect">
            <a:avLst>
              <a:gd name="adj" fmla="val 8696"/>
            </a:avLst>
          </a:prstGeom>
          <a:solidFill>
            <a:srgbClr val="FFFFFF"/>
          </a:solidFill>
          <a:ln w="12700">
            <a:solidFill>
              <a:srgbClr val="DCE3EE"/>
            </a:solidFill>
            <a:prstDash val="solid"/>
          </a:ln>
        </p:spPr>
      </p:sp>
      <p:sp>
        <p:nvSpPr>
          <p:cNvPr id="5" name="Shape 3"/>
          <p:cNvSpPr/>
          <p:nvPr/>
        </p:nvSpPr>
        <p:spPr>
          <a:xfrm>
            <a:off x="658368" y="1371600"/>
            <a:ext cx="640080" cy="640080"/>
          </a:xfrm>
          <a:prstGeom prst="ellipse">
            <a:avLst/>
          </a:prstGeom>
          <a:solidFill>
            <a:srgbClr val="16325C"/>
          </a:solidFill>
          <a:ln/>
        </p:spPr>
      </p:sp>
      <p:pic>
        <p:nvPicPr>
          <p:cNvPr id="6" name="Image 0" descr="preencoded.png">    </p:cNvPr>
          <p:cNvPicPr>
            <a:picLocks noChangeAspect="1"/>
          </p:cNvPicPr>
          <p:nvPr/>
        </p:nvPicPr>
        <p:blipFill>
          <a:blip r:embed="rId1"/>
          <a:stretch>
            <a:fillRect/>
          </a:stretch>
        </p:blipFill>
        <p:spPr>
          <a:xfrm>
            <a:off x="822960" y="1536192"/>
            <a:ext cx="310896" cy="310896"/>
          </a:xfrm>
          <a:prstGeom prst="rect">
            <a:avLst/>
          </a:prstGeom>
        </p:spPr>
      </p:pic>
      <p:sp>
        <p:nvSpPr>
          <p:cNvPr id="7" name="Text 4"/>
          <p:cNvSpPr/>
          <p:nvPr/>
        </p:nvSpPr>
        <p:spPr>
          <a:xfrm>
            <a:off x="1463040" y="1298448"/>
            <a:ext cx="10058400" cy="310896"/>
          </a:xfrm>
          <a:prstGeom prst="rect">
            <a:avLst/>
          </a:prstGeom>
          <a:noFill/>
          <a:ln/>
        </p:spPr>
        <p:txBody>
          <a:bodyPr wrap="square" lIns="0" tIns="0" rIns="0" bIns="0" rtlCol="0" anchor="ctr"/>
          <a:lstStyle/>
          <a:p>
            <a:pPr indent="0" marL="0">
              <a:buNone/>
            </a:pPr>
            <a:r>
              <a:rPr lang="en-US" sz="1600" b="1" dirty="0">
                <a:solidFill>
                  <a:srgbClr val="16325C"/>
                </a:solidFill>
                <a:latin typeface="Calibri" pitchFamily="34" charset="0"/>
                <a:ea typeface="Calibri" pitchFamily="34" charset="-122"/>
                <a:cs typeface="Calibri" pitchFamily="34" charset="-120"/>
              </a:rPr>
              <a:t>Die-cast aluminium housing — cast in a steel mould, then machine-finished</a:t>
            </a:r>
            <a:endParaRPr lang="en-US" sz="1600" dirty="0"/>
          </a:p>
        </p:txBody>
      </p:sp>
      <p:sp>
        <p:nvSpPr>
          <p:cNvPr id="8" name="Shape 5"/>
          <p:cNvSpPr/>
          <p:nvPr/>
        </p:nvSpPr>
        <p:spPr>
          <a:xfrm>
            <a:off x="1463040" y="1691640"/>
            <a:ext cx="1371600" cy="292608"/>
          </a:xfrm>
          <a:prstGeom prst="roundRect">
            <a:avLst>
              <a:gd name="adj" fmla="val 50000"/>
            </a:avLst>
          </a:prstGeom>
          <a:solidFill>
            <a:srgbClr val="E8F1FA"/>
          </a:solidFill>
          <a:ln w="9525">
            <a:solidFill>
              <a:srgbClr val="DCE3EE"/>
            </a:solidFill>
            <a:prstDash val="solid"/>
          </a:ln>
        </p:spPr>
      </p:sp>
      <p:sp>
        <p:nvSpPr>
          <p:cNvPr id="9" name="Text 6"/>
          <p:cNvSpPr/>
          <p:nvPr/>
        </p:nvSpPr>
        <p:spPr>
          <a:xfrm>
            <a:off x="146304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2.8 kg finished</a:t>
            </a:r>
            <a:endParaRPr lang="en-US" sz="850" dirty="0"/>
          </a:p>
        </p:txBody>
      </p:sp>
      <p:sp>
        <p:nvSpPr>
          <p:cNvPr id="10" name="Shape 7"/>
          <p:cNvSpPr/>
          <p:nvPr/>
        </p:nvSpPr>
        <p:spPr>
          <a:xfrm>
            <a:off x="2907792" y="1691640"/>
            <a:ext cx="1371600" cy="292608"/>
          </a:xfrm>
          <a:prstGeom prst="roundRect">
            <a:avLst>
              <a:gd name="adj" fmla="val 50000"/>
            </a:avLst>
          </a:prstGeom>
          <a:solidFill>
            <a:srgbClr val="E8F1FA"/>
          </a:solidFill>
          <a:ln w="9525">
            <a:solidFill>
              <a:srgbClr val="DCE3EE"/>
            </a:solidFill>
            <a:prstDash val="solid"/>
          </a:ln>
        </p:spPr>
      </p:sp>
      <p:sp>
        <p:nvSpPr>
          <p:cNvPr id="11" name="Text 8"/>
          <p:cNvSpPr/>
          <p:nvPr/>
        </p:nvSpPr>
        <p:spPr>
          <a:xfrm>
            <a:off x="290779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~3 mm walls</a:t>
            </a:r>
            <a:endParaRPr lang="en-US" sz="850" dirty="0"/>
          </a:p>
        </p:txBody>
      </p:sp>
      <p:sp>
        <p:nvSpPr>
          <p:cNvPr id="12" name="Shape 9"/>
          <p:cNvSpPr/>
          <p:nvPr/>
        </p:nvSpPr>
        <p:spPr>
          <a:xfrm>
            <a:off x="4352544" y="1691640"/>
            <a:ext cx="1371600" cy="292608"/>
          </a:xfrm>
          <a:prstGeom prst="roundRect">
            <a:avLst>
              <a:gd name="adj" fmla="val 50000"/>
            </a:avLst>
          </a:prstGeom>
          <a:solidFill>
            <a:srgbClr val="E8F1FA"/>
          </a:solidFill>
          <a:ln w="9525">
            <a:solidFill>
              <a:srgbClr val="DCE3EE"/>
            </a:solidFill>
            <a:prstDash val="solid"/>
          </a:ln>
        </p:spPr>
      </p:sp>
      <p:sp>
        <p:nvSpPr>
          <p:cNvPr id="13" name="Text 10"/>
          <p:cNvSpPr/>
          <p:nvPr/>
        </p:nvSpPr>
        <p:spPr>
          <a:xfrm>
            <a:off x="4352544"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precision bores</a:t>
            </a:r>
            <a:endParaRPr lang="en-US" sz="850" dirty="0"/>
          </a:p>
        </p:txBody>
      </p:sp>
      <p:sp>
        <p:nvSpPr>
          <p:cNvPr id="14" name="Shape 11"/>
          <p:cNvSpPr/>
          <p:nvPr/>
        </p:nvSpPr>
        <p:spPr>
          <a:xfrm>
            <a:off x="5797296" y="1691640"/>
            <a:ext cx="1371600" cy="292608"/>
          </a:xfrm>
          <a:prstGeom prst="roundRect">
            <a:avLst>
              <a:gd name="adj" fmla="val 50000"/>
            </a:avLst>
          </a:prstGeom>
          <a:solidFill>
            <a:srgbClr val="E8F1FA"/>
          </a:solidFill>
          <a:ln w="9525">
            <a:solidFill>
              <a:srgbClr val="DCE3EE"/>
            </a:solidFill>
            <a:prstDash val="solid"/>
          </a:ln>
        </p:spPr>
      </p:sp>
      <p:sp>
        <p:nvSpPr>
          <p:cNvPr id="15" name="Text 12"/>
          <p:cNvSpPr/>
          <p:nvPr/>
        </p:nvSpPr>
        <p:spPr>
          <a:xfrm>
            <a:off x="5797296"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16 holes to thread</a:t>
            </a:r>
            <a:endParaRPr lang="en-US" sz="850" dirty="0"/>
          </a:p>
        </p:txBody>
      </p:sp>
      <p:sp>
        <p:nvSpPr>
          <p:cNvPr id="16" name="Shape 13"/>
          <p:cNvSpPr/>
          <p:nvPr/>
        </p:nvSpPr>
        <p:spPr>
          <a:xfrm>
            <a:off x="7242048" y="1691640"/>
            <a:ext cx="1371600" cy="292608"/>
          </a:xfrm>
          <a:prstGeom prst="roundRect">
            <a:avLst>
              <a:gd name="adj" fmla="val 50000"/>
            </a:avLst>
          </a:prstGeom>
          <a:solidFill>
            <a:srgbClr val="E8F1FA"/>
          </a:solidFill>
          <a:ln w="9525">
            <a:solidFill>
              <a:srgbClr val="DCE3EE"/>
            </a:solidFill>
            <a:prstDash val="solid"/>
          </a:ln>
        </p:spPr>
      </p:sp>
      <p:sp>
        <p:nvSpPr>
          <p:cNvPr id="17" name="Text 14"/>
          <p:cNvSpPr/>
          <p:nvPr/>
        </p:nvSpPr>
        <p:spPr>
          <a:xfrm>
            <a:off x="7242048"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machined faces</a:t>
            </a:r>
            <a:endParaRPr lang="en-US" sz="850" dirty="0"/>
          </a:p>
        </p:txBody>
      </p:sp>
      <p:sp>
        <p:nvSpPr>
          <p:cNvPr id="18" name="Shape 15"/>
          <p:cNvSpPr/>
          <p:nvPr/>
        </p:nvSpPr>
        <p:spPr>
          <a:xfrm>
            <a:off x="8686800" y="1691640"/>
            <a:ext cx="1371600" cy="292608"/>
          </a:xfrm>
          <a:prstGeom prst="roundRect">
            <a:avLst>
              <a:gd name="adj" fmla="val 50000"/>
            </a:avLst>
          </a:prstGeom>
          <a:solidFill>
            <a:srgbClr val="E8F1FA"/>
          </a:solidFill>
          <a:ln w="9525">
            <a:solidFill>
              <a:srgbClr val="DCE3EE"/>
            </a:solidFill>
            <a:prstDash val="solid"/>
          </a:ln>
        </p:spPr>
      </p:sp>
      <p:sp>
        <p:nvSpPr>
          <p:cNvPr id="19" name="Text 16"/>
          <p:cNvSpPr/>
          <p:nvPr/>
        </p:nvSpPr>
        <p:spPr>
          <a:xfrm>
            <a:off x="868680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60,000 a year</a:t>
            </a:r>
            <a:endParaRPr lang="en-US" sz="850" dirty="0"/>
          </a:p>
        </p:txBody>
      </p:sp>
      <p:sp>
        <p:nvSpPr>
          <p:cNvPr id="20" name="Shape 17"/>
          <p:cNvSpPr/>
          <p:nvPr/>
        </p:nvSpPr>
        <p:spPr>
          <a:xfrm>
            <a:off x="10131552" y="1691640"/>
            <a:ext cx="1371600" cy="292608"/>
          </a:xfrm>
          <a:prstGeom prst="roundRect">
            <a:avLst>
              <a:gd name="adj" fmla="val 50000"/>
            </a:avLst>
          </a:prstGeom>
          <a:solidFill>
            <a:srgbClr val="E8F1FA"/>
          </a:solidFill>
          <a:ln w="9525">
            <a:solidFill>
              <a:srgbClr val="DCE3EE"/>
            </a:solidFill>
            <a:prstDash val="solid"/>
          </a:ln>
        </p:spPr>
      </p:sp>
      <p:sp>
        <p:nvSpPr>
          <p:cNvPr id="21" name="Text 18"/>
          <p:cNvSpPr/>
          <p:nvPr/>
        </p:nvSpPr>
        <p:spPr>
          <a:xfrm>
            <a:off x="1013155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Made in China</a:t>
            </a:r>
            <a:endParaRPr lang="en-US" sz="850" dirty="0"/>
          </a:p>
        </p:txBody>
      </p:sp>
      <p:sp>
        <p:nvSpPr>
          <p:cNvPr id="22" name="Shape 19"/>
          <p:cNvSpPr/>
          <p:nvPr/>
        </p:nvSpPr>
        <p:spPr>
          <a:xfrm>
            <a:off x="457200" y="2395728"/>
            <a:ext cx="2157984" cy="2377440"/>
          </a:xfrm>
          <a:prstGeom prst="roundRect">
            <a:avLst>
              <a:gd name="adj" fmla="val 3814"/>
            </a:avLst>
          </a:prstGeom>
          <a:solidFill>
            <a:srgbClr val="E8F1FA"/>
          </a:solidFill>
          <a:ln w="15875">
            <a:solidFill>
              <a:srgbClr val="1D6FB8"/>
            </a:solidFill>
            <a:prstDash val="solid"/>
          </a:ln>
        </p:spPr>
      </p:sp>
      <p:sp>
        <p:nvSpPr>
          <p:cNvPr id="23" name="Shape 20"/>
          <p:cNvSpPr/>
          <p:nvPr/>
        </p:nvSpPr>
        <p:spPr>
          <a:xfrm>
            <a:off x="457200" y="2395728"/>
            <a:ext cx="2157984" cy="384048"/>
          </a:xfrm>
          <a:prstGeom prst="rect">
            <a:avLst/>
          </a:prstGeom>
          <a:solidFill>
            <a:srgbClr val="1D6FB8"/>
          </a:solidFill>
          <a:ln/>
        </p:spPr>
      </p:sp>
      <p:sp>
        <p:nvSpPr>
          <p:cNvPr id="24" name="Text 21"/>
          <p:cNvSpPr/>
          <p:nvPr/>
        </p:nvSpPr>
        <p:spPr>
          <a:xfrm>
            <a:off x="457200"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MEASURE</a:t>
            </a:r>
            <a:endParaRPr lang="en-US" sz="1050" dirty="0"/>
          </a:p>
        </p:txBody>
      </p:sp>
      <p:sp>
        <p:nvSpPr>
          <p:cNvPr id="25" name="Text 22"/>
          <p:cNvSpPr/>
          <p:nvPr/>
        </p:nvSpPr>
        <p:spPr>
          <a:xfrm>
            <a:off x="457200" y="2834640"/>
            <a:ext cx="2157984"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6" name="Text 23"/>
          <p:cNvSpPr/>
          <p:nvPr/>
        </p:nvSpPr>
        <p:spPr>
          <a:xfrm>
            <a:off x="585216"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 · Upload the file</a:t>
            </a:r>
            <a:endParaRPr lang="en-US" sz="930" dirty="0"/>
          </a:p>
        </p:txBody>
      </p:sp>
      <p:sp>
        <p:nvSpPr>
          <p:cNvPr id="27" name="Text 24"/>
          <p:cNvSpPr/>
          <p:nvPr/>
        </p:nvSpPr>
        <p:spPr>
          <a:xfrm>
            <a:off x="585216"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2 · Measure the geometry</a:t>
            </a:r>
            <a:endParaRPr lang="en-US" sz="930" dirty="0"/>
          </a:p>
        </p:txBody>
      </p:sp>
      <p:sp>
        <p:nvSpPr>
          <p:cNvPr id="28" name="Text 25"/>
          <p:cNvSpPr/>
          <p:nvPr/>
        </p:nvSpPr>
        <p:spPr>
          <a:xfrm>
            <a:off x="585216"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3 · Sense-check the shape</a:t>
            </a:r>
            <a:endParaRPr lang="en-US" sz="930" dirty="0"/>
          </a:p>
        </p:txBody>
      </p:sp>
      <p:sp>
        <p:nvSpPr>
          <p:cNvPr id="29" name="Text 26"/>
          <p:cNvSpPr/>
          <p:nvPr/>
        </p:nvSpPr>
        <p:spPr>
          <a:xfrm>
            <a:off x="585216" y="4389120"/>
            <a:ext cx="1901952" cy="292608"/>
          </a:xfrm>
          <a:prstGeom prst="rect">
            <a:avLst/>
          </a:prstGeom>
          <a:noFill/>
          <a:ln/>
        </p:spPr>
        <p:txBody>
          <a:bodyPr wrap="square" lIns="0" tIns="0" rIns="0" bIns="0" rtlCol="0" anchor="ctr"/>
          <a:lstStyle/>
          <a:p>
            <a:pPr algn="ctr" indent="0" marL="0">
              <a:buNone/>
            </a:pPr>
            <a:r>
              <a:rPr lang="en-US" sz="900" b="1" i="1" dirty="0">
                <a:solidFill>
                  <a:srgbClr val="1D6FB8"/>
                </a:solidFill>
                <a:latin typeface="Calibri" pitchFamily="34" charset="0"/>
                <a:ea typeface="Calibri" pitchFamily="34" charset="-122"/>
                <a:cs typeface="Calibri" pitchFamily="34" charset="-120"/>
              </a:rPr>
              <a:t>Facts, not opinions</a:t>
            </a:r>
            <a:endParaRPr lang="en-US" sz="900" dirty="0"/>
          </a:p>
        </p:txBody>
      </p:sp>
      <p:sp>
        <p:nvSpPr>
          <p:cNvPr id="30" name="Shape 27"/>
          <p:cNvSpPr/>
          <p:nvPr/>
        </p:nvSpPr>
        <p:spPr>
          <a:xfrm>
            <a:off x="2715768" y="2395728"/>
            <a:ext cx="2157984" cy="2377440"/>
          </a:xfrm>
          <a:prstGeom prst="roundRect">
            <a:avLst>
              <a:gd name="adj" fmla="val 3814"/>
            </a:avLst>
          </a:prstGeom>
          <a:solidFill>
            <a:srgbClr val="F1EBF8"/>
          </a:solidFill>
          <a:ln w="15875">
            <a:solidFill>
              <a:srgbClr val="6B3FA0"/>
            </a:solidFill>
            <a:prstDash val="solid"/>
          </a:ln>
        </p:spPr>
      </p:sp>
      <p:sp>
        <p:nvSpPr>
          <p:cNvPr id="31" name="Shape 28"/>
          <p:cNvSpPr/>
          <p:nvPr/>
        </p:nvSpPr>
        <p:spPr>
          <a:xfrm>
            <a:off x="2715768" y="2395728"/>
            <a:ext cx="2157984" cy="384048"/>
          </a:xfrm>
          <a:prstGeom prst="rect">
            <a:avLst/>
          </a:prstGeom>
          <a:solidFill>
            <a:srgbClr val="6B3FA0"/>
          </a:solidFill>
          <a:ln/>
        </p:spPr>
      </p:sp>
      <p:sp>
        <p:nvSpPr>
          <p:cNvPr id="32" name="Text 29"/>
          <p:cNvSpPr/>
          <p:nvPr/>
        </p:nvSpPr>
        <p:spPr>
          <a:xfrm>
            <a:off x="2715768"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AI READS</a:t>
            </a:r>
            <a:endParaRPr lang="en-US" sz="1050" dirty="0"/>
          </a:p>
        </p:txBody>
      </p:sp>
      <p:sp>
        <p:nvSpPr>
          <p:cNvPr id="33" name="Text 30"/>
          <p:cNvSpPr/>
          <p:nvPr/>
        </p:nvSpPr>
        <p:spPr>
          <a:xfrm>
            <a:off x="2715768" y="2834640"/>
            <a:ext cx="2157984"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a:t>
            </a:r>
            <a:endParaRPr lang="en-US" sz="850" dirty="0"/>
          </a:p>
        </p:txBody>
      </p:sp>
      <p:sp>
        <p:nvSpPr>
          <p:cNvPr id="34" name="Text 31"/>
          <p:cNvSpPr/>
          <p:nvPr/>
        </p:nvSpPr>
        <p:spPr>
          <a:xfrm>
            <a:off x="2843784"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4 · Recognise the recipe</a:t>
            </a:r>
            <a:endParaRPr lang="en-US" sz="930" dirty="0"/>
          </a:p>
        </p:txBody>
      </p:sp>
      <p:sp>
        <p:nvSpPr>
          <p:cNvPr id="35" name="Text 32"/>
          <p:cNvSpPr/>
          <p:nvPr/>
        </p:nvSpPr>
        <p:spPr>
          <a:xfrm>
            <a:off x="2843784"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alloy · process · finish</a:t>
            </a:r>
            <a:endParaRPr lang="en-US" sz="930" dirty="0"/>
          </a:p>
        </p:txBody>
      </p:sp>
      <p:sp>
        <p:nvSpPr>
          <p:cNvPr id="36" name="Text 33"/>
          <p:cNvSpPr/>
          <p:nvPr/>
        </p:nvSpPr>
        <p:spPr>
          <a:xfrm>
            <a:off x="2843784"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with a confidence score</a:t>
            </a:r>
            <a:endParaRPr lang="en-US" sz="930" dirty="0"/>
          </a:p>
        </p:txBody>
      </p:sp>
      <p:sp>
        <p:nvSpPr>
          <p:cNvPr id="37" name="Text 34"/>
          <p:cNvSpPr/>
          <p:nvPr/>
        </p:nvSpPr>
        <p:spPr>
          <a:xfrm>
            <a:off x="2843784" y="4389120"/>
            <a:ext cx="1901952" cy="292608"/>
          </a:xfrm>
          <a:prstGeom prst="rect">
            <a:avLst/>
          </a:prstGeom>
          <a:noFill/>
          <a:ln/>
        </p:spPr>
        <p:txBody>
          <a:bodyPr wrap="square" lIns="0" tIns="0" rIns="0" bIns="0" rtlCol="0" anchor="ctr"/>
          <a:lstStyle/>
          <a:p>
            <a:pPr algn="ctr" indent="0" marL="0">
              <a:buNone/>
            </a:pPr>
            <a:r>
              <a:rPr lang="en-US" sz="900" b="1" i="1" dirty="0">
                <a:solidFill>
                  <a:srgbClr val="6B3FA0"/>
                </a:solidFill>
                <a:latin typeface="Calibri" pitchFamily="34" charset="0"/>
                <a:ea typeface="Calibri" pitchFamily="34" charset="-122"/>
                <a:cs typeface="Calibri" pitchFamily="34" charset="-120"/>
              </a:rPr>
              <a:t>Words only — no prices</a:t>
            </a:r>
            <a:endParaRPr lang="en-US" sz="900" dirty="0"/>
          </a:p>
        </p:txBody>
      </p:sp>
      <p:sp>
        <p:nvSpPr>
          <p:cNvPr id="38" name="Shape 35"/>
          <p:cNvSpPr/>
          <p:nvPr/>
        </p:nvSpPr>
        <p:spPr>
          <a:xfrm>
            <a:off x="4974336" y="2395728"/>
            <a:ext cx="2157984" cy="2377440"/>
          </a:xfrm>
          <a:prstGeom prst="roundRect">
            <a:avLst>
              <a:gd name="adj" fmla="val 3814"/>
            </a:avLst>
          </a:prstGeom>
          <a:solidFill>
            <a:srgbClr val="FCF3E3"/>
          </a:solidFill>
          <a:ln w="15875">
            <a:solidFill>
              <a:srgbClr val="B7791F"/>
            </a:solidFill>
            <a:prstDash val="solid"/>
          </a:ln>
        </p:spPr>
      </p:sp>
      <p:sp>
        <p:nvSpPr>
          <p:cNvPr id="39" name="Shape 36"/>
          <p:cNvSpPr/>
          <p:nvPr/>
        </p:nvSpPr>
        <p:spPr>
          <a:xfrm>
            <a:off x="4974336" y="2395728"/>
            <a:ext cx="2157984" cy="384048"/>
          </a:xfrm>
          <a:prstGeom prst="rect">
            <a:avLst/>
          </a:prstGeom>
          <a:solidFill>
            <a:srgbClr val="B7791F"/>
          </a:solidFill>
          <a:ln/>
        </p:spPr>
      </p:sp>
      <p:sp>
        <p:nvSpPr>
          <p:cNvPr id="40" name="Text 37"/>
          <p:cNvSpPr/>
          <p:nvPr/>
        </p:nvSpPr>
        <p:spPr>
          <a:xfrm>
            <a:off x="4974336"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SAFETY CHECKS</a:t>
            </a:r>
            <a:endParaRPr lang="en-US" sz="1050" dirty="0"/>
          </a:p>
        </p:txBody>
      </p:sp>
      <p:sp>
        <p:nvSpPr>
          <p:cNvPr id="41" name="Text 38"/>
          <p:cNvSpPr/>
          <p:nvPr/>
        </p:nvSpPr>
        <p:spPr>
          <a:xfrm>
            <a:off x="4974336" y="2834640"/>
            <a:ext cx="2157984" cy="201168"/>
          </a:xfrm>
          <a:prstGeom prst="rect">
            <a:avLst/>
          </a:prstGeom>
          <a:noFill/>
          <a:ln/>
        </p:spPr>
        <p:txBody>
          <a:bodyPr wrap="square" lIns="0" tIns="0" rIns="0" bIns="0" rtlCol="0" anchor="ctr"/>
          <a:lstStyle/>
          <a:p>
            <a:pPr algn="ctr" indent="0" marL="0">
              <a:buNone/>
            </a:pPr>
            <a:r>
              <a:rPr lang="en-US" sz="850" i="1" dirty="0">
                <a:solidFill>
                  <a:srgbClr val="B7791F"/>
                </a:solidFill>
                <a:latin typeface="Calibri" pitchFamily="34" charset="0"/>
                <a:ea typeface="Calibri" pitchFamily="34" charset="-122"/>
                <a:cs typeface="Calibri" pitchFamily="34" charset="-120"/>
              </a:rPr>
              <a:t>owner: Engine</a:t>
            </a:r>
            <a:endParaRPr lang="en-US" sz="850" dirty="0"/>
          </a:p>
        </p:txBody>
      </p:sp>
      <p:sp>
        <p:nvSpPr>
          <p:cNvPr id="42" name="Text 39"/>
          <p:cNvSpPr/>
          <p:nvPr/>
        </p:nvSpPr>
        <p:spPr>
          <a:xfrm>
            <a:off x="5102352"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5 · Four automatic guards</a:t>
            </a:r>
            <a:endParaRPr lang="en-US" sz="930" dirty="0"/>
          </a:p>
        </p:txBody>
      </p:sp>
      <p:sp>
        <p:nvSpPr>
          <p:cNvPr id="43" name="Text 40"/>
          <p:cNvSpPr/>
          <p:nvPr/>
        </p:nvSpPr>
        <p:spPr>
          <a:xfrm>
            <a:off x="5102352"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6 · Autocorrect wrong calls</a:t>
            </a:r>
            <a:endParaRPr lang="en-US" sz="930" dirty="0"/>
          </a:p>
        </p:txBody>
      </p:sp>
      <p:sp>
        <p:nvSpPr>
          <p:cNvPr id="44" name="Text 41"/>
          <p:cNvSpPr/>
          <p:nvPr/>
        </p:nvSpPr>
        <p:spPr>
          <a:xfrm>
            <a:off x="5102352"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before any money is counted</a:t>
            </a:r>
            <a:endParaRPr lang="en-US" sz="930" dirty="0"/>
          </a:p>
        </p:txBody>
      </p:sp>
      <p:sp>
        <p:nvSpPr>
          <p:cNvPr id="45" name="Text 42"/>
          <p:cNvSpPr/>
          <p:nvPr/>
        </p:nvSpPr>
        <p:spPr>
          <a:xfrm>
            <a:off x="5102352" y="4389120"/>
            <a:ext cx="1901952" cy="292608"/>
          </a:xfrm>
          <a:prstGeom prst="rect">
            <a:avLst/>
          </a:prstGeom>
          <a:noFill/>
          <a:ln/>
        </p:spPr>
        <p:txBody>
          <a:bodyPr wrap="square" lIns="0" tIns="0" rIns="0" bIns="0" rtlCol="0" anchor="ctr"/>
          <a:lstStyle/>
          <a:p>
            <a:pPr algn="ctr" indent="0" marL="0">
              <a:buNone/>
            </a:pPr>
            <a:r>
              <a:rPr lang="en-US" sz="900" b="1" i="1" dirty="0">
                <a:solidFill>
                  <a:srgbClr val="B7791F"/>
                </a:solidFill>
                <a:latin typeface="Calibri" pitchFamily="34" charset="0"/>
                <a:ea typeface="Calibri" pitchFamily="34" charset="-122"/>
                <a:cs typeface="Calibri" pitchFamily="34" charset="-120"/>
              </a:rPr>
              <a:t>Measurements always win</a:t>
            </a:r>
            <a:endParaRPr lang="en-US" sz="900" dirty="0"/>
          </a:p>
        </p:txBody>
      </p:sp>
      <p:sp>
        <p:nvSpPr>
          <p:cNvPr id="46" name="Shape 43"/>
          <p:cNvSpPr/>
          <p:nvPr/>
        </p:nvSpPr>
        <p:spPr>
          <a:xfrm>
            <a:off x="7232904" y="2395728"/>
            <a:ext cx="2157984" cy="2377440"/>
          </a:xfrm>
          <a:prstGeom prst="roundRect">
            <a:avLst>
              <a:gd name="adj" fmla="val 3814"/>
            </a:avLst>
          </a:prstGeom>
          <a:solidFill>
            <a:srgbClr val="E6F4F1"/>
          </a:solidFill>
          <a:ln w="15875">
            <a:solidFill>
              <a:srgbClr val="0E8074"/>
            </a:solidFill>
            <a:prstDash val="solid"/>
          </a:ln>
        </p:spPr>
      </p:sp>
      <p:sp>
        <p:nvSpPr>
          <p:cNvPr id="47" name="Shape 44"/>
          <p:cNvSpPr/>
          <p:nvPr/>
        </p:nvSpPr>
        <p:spPr>
          <a:xfrm>
            <a:off x="7232904" y="2395728"/>
            <a:ext cx="2157984" cy="384048"/>
          </a:xfrm>
          <a:prstGeom prst="rect">
            <a:avLst/>
          </a:prstGeom>
          <a:solidFill>
            <a:srgbClr val="0E8074"/>
          </a:solidFill>
          <a:ln/>
        </p:spPr>
      </p:sp>
      <p:sp>
        <p:nvSpPr>
          <p:cNvPr id="48" name="Text 45"/>
          <p:cNvSpPr/>
          <p:nvPr/>
        </p:nvSpPr>
        <p:spPr>
          <a:xfrm>
            <a:off x="7232904"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CALCULATE</a:t>
            </a:r>
            <a:endParaRPr lang="en-US" sz="1050" dirty="0"/>
          </a:p>
        </p:txBody>
      </p:sp>
      <p:sp>
        <p:nvSpPr>
          <p:cNvPr id="49" name="Text 46"/>
          <p:cNvSpPr/>
          <p:nvPr/>
        </p:nvSpPr>
        <p:spPr>
          <a:xfrm>
            <a:off x="7232904" y="2834640"/>
            <a:ext cx="2157984" cy="201168"/>
          </a:xfrm>
          <a:prstGeom prst="rect">
            <a:avLst/>
          </a:prstGeom>
          <a:noFill/>
          <a:ln/>
        </p:spPr>
        <p:txBody>
          <a:bodyPr wrap="square" lIns="0" tIns="0" rIns="0" bIns="0" rtlCol="0" anchor="ctr"/>
          <a:lstStyle/>
          <a:p>
            <a:pPr algn="ctr" indent="0" marL="0">
              <a:buNone/>
            </a:pPr>
            <a:r>
              <a:rPr lang="en-US" sz="850" i="1" dirty="0">
                <a:solidFill>
                  <a:srgbClr val="0E8074"/>
                </a:solidFill>
                <a:latin typeface="Calibri" pitchFamily="34" charset="0"/>
                <a:ea typeface="Calibri" pitchFamily="34" charset="-122"/>
                <a:cs typeface="Calibri" pitchFamily="34" charset="-120"/>
              </a:rPr>
              <a:t>owner: Engine</a:t>
            </a:r>
            <a:endParaRPr lang="en-US" sz="850" dirty="0"/>
          </a:p>
        </p:txBody>
      </p:sp>
      <p:sp>
        <p:nvSpPr>
          <p:cNvPr id="50" name="Text 47"/>
          <p:cNvSpPr/>
          <p:nvPr/>
        </p:nvSpPr>
        <p:spPr>
          <a:xfrm>
            <a:off x="7360920"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7 · Pick machines &amp; cycles</a:t>
            </a:r>
            <a:endParaRPr lang="en-US" sz="930" dirty="0"/>
          </a:p>
        </p:txBody>
      </p:sp>
      <p:sp>
        <p:nvSpPr>
          <p:cNvPr id="51" name="Text 48"/>
          <p:cNvSpPr/>
          <p:nvPr/>
        </p:nvSpPr>
        <p:spPr>
          <a:xfrm>
            <a:off x="7360920"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8 · Cost every operation</a:t>
            </a:r>
            <a:endParaRPr lang="en-US" sz="930" dirty="0"/>
          </a:p>
        </p:txBody>
      </p:sp>
      <p:sp>
        <p:nvSpPr>
          <p:cNvPr id="52" name="Text 49"/>
          <p:cNvSpPr/>
          <p:nvPr/>
        </p:nvSpPr>
        <p:spPr>
          <a:xfrm>
            <a:off x="7360920"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9-10 · Build &amp; regionalise</a:t>
            </a:r>
            <a:endParaRPr lang="en-US" sz="930" dirty="0"/>
          </a:p>
        </p:txBody>
      </p:sp>
      <p:sp>
        <p:nvSpPr>
          <p:cNvPr id="53" name="Text 50"/>
          <p:cNvSpPr/>
          <p:nvPr/>
        </p:nvSpPr>
        <p:spPr>
          <a:xfrm>
            <a:off x="7360920" y="4389120"/>
            <a:ext cx="1901952" cy="292608"/>
          </a:xfrm>
          <a:prstGeom prst="rect">
            <a:avLst/>
          </a:prstGeom>
          <a:noFill/>
          <a:ln/>
        </p:spPr>
        <p:txBody>
          <a:bodyPr wrap="square" lIns="0" tIns="0" rIns="0" bIns="0" rtlCol="0" anchor="ctr"/>
          <a:lstStyle/>
          <a:p>
            <a:pPr algn="ctr" indent="0" marL="0">
              <a:buNone/>
            </a:pPr>
            <a:r>
              <a:rPr lang="en-US" sz="900" b="1" i="1" dirty="0">
                <a:solidFill>
                  <a:srgbClr val="0E8074"/>
                </a:solidFill>
                <a:latin typeface="Calibri" pitchFamily="34" charset="0"/>
                <a:ea typeface="Calibri" pitchFamily="34" charset="-122"/>
                <a:cs typeface="Calibri" pitchFamily="34" charset="-120"/>
              </a:rPr>
              <a:t>Fixed formulas</a:t>
            </a:r>
            <a:endParaRPr lang="en-US" sz="900" dirty="0"/>
          </a:p>
        </p:txBody>
      </p:sp>
      <p:sp>
        <p:nvSpPr>
          <p:cNvPr id="54" name="Shape 51"/>
          <p:cNvSpPr/>
          <p:nvPr/>
        </p:nvSpPr>
        <p:spPr>
          <a:xfrm>
            <a:off x="9491472" y="2395728"/>
            <a:ext cx="2157984" cy="2377440"/>
          </a:xfrm>
          <a:prstGeom prst="roundRect">
            <a:avLst>
              <a:gd name="adj" fmla="val 3814"/>
            </a:avLst>
          </a:prstGeom>
          <a:solidFill>
            <a:srgbClr val="EAF6EF"/>
          </a:solidFill>
          <a:ln w="15875">
            <a:solidFill>
              <a:srgbClr val="2E8B57"/>
            </a:solidFill>
            <a:prstDash val="solid"/>
          </a:ln>
        </p:spPr>
      </p:sp>
      <p:sp>
        <p:nvSpPr>
          <p:cNvPr id="55" name="Shape 52"/>
          <p:cNvSpPr/>
          <p:nvPr/>
        </p:nvSpPr>
        <p:spPr>
          <a:xfrm>
            <a:off x="9491472" y="2395728"/>
            <a:ext cx="2157984" cy="384048"/>
          </a:xfrm>
          <a:prstGeom prst="rect">
            <a:avLst/>
          </a:prstGeom>
          <a:solidFill>
            <a:srgbClr val="2E8B57"/>
          </a:solidFill>
          <a:ln/>
        </p:spPr>
      </p:sp>
      <p:sp>
        <p:nvSpPr>
          <p:cNvPr id="56" name="Text 53"/>
          <p:cNvSpPr/>
          <p:nvPr/>
        </p:nvSpPr>
        <p:spPr>
          <a:xfrm>
            <a:off x="9491472"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CHECK &amp; USE</a:t>
            </a:r>
            <a:endParaRPr lang="en-US" sz="1050" dirty="0"/>
          </a:p>
        </p:txBody>
      </p:sp>
      <p:sp>
        <p:nvSpPr>
          <p:cNvPr id="57" name="Text 54"/>
          <p:cNvSpPr/>
          <p:nvPr/>
        </p:nvSpPr>
        <p:spPr>
          <a:xfrm>
            <a:off x="9491472" y="2834640"/>
            <a:ext cx="2157984" cy="201168"/>
          </a:xfrm>
          <a:prstGeom prst="rect">
            <a:avLst/>
          </a:prstGeom>
          <a:noFill/>
          <a:ln/>
        </p:spPr>
        <p:txBody>
          <a:bodyPr wrap="square" lIns="0" tIns="0" rIns="0" bIns="0" rtlCol="0" anchor="ctr"/>
          <a:lstStyle/>
          <a:p>
            <a:pPr algn="ctr" indent="0" marL="0">
              <a:buNone/>
            </a:pPr>
            <a:r>
              <a:rPr lang="en-US" sz="850" i="1" dirty="0">
                <a:solidFill>
                  <a:srgbClr val="2E8B57"/>
                </a:solidFill>
                <a:latin typeface="Calibri" pitchFamily="34" charset="0"/>
                <a:ea typeface="Calibri" pitchFamily="34" charset="-122"/>
                <a:cs typeface="Calibri" pitchFamily="34" charset="-120"/>
              </a:rPr>
              <a:t>owner: Engineer</a:t>
            </a:r>
            <a:endParaRPr lang="en-US" sz="850" dirty="0"/>
          </a:p>
        </p:txBody>
      </p:sp>
      <p:sp>
        <p:nvSpPr>
          <p:cNvPr id="58" name="Text 55"/>
          <p:cNvSpPr/>
          <p:nvPr/>
        </p:nvSpPr>
        <p:spPr>
          <a:xfrm>
            <a:off x="9619488"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11 · Confidence band</a:t>
            </a:r>
            <a:endParaRPr lang="en-US" sz="930" dirty="0"/>
          </a:p>
        </p:txBody>
      </p:sp>
      <p:sp>
        <p:nvSpPr>
          <p:cNvPr id="59" name="Text 56"/>
          <p:cNvSpPr/>
          <p:nvPr/>
        </p:nvSpPr>
        <p:spPr>
          <a:xfrm>
            <a:off x="9619488"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12 · Report &amp; approval</a:t>
            </a:r>
            <a:endParaRPr lang="en-US" sz="930" dirty="0"/>
          </a:p>
        </p:txBody>
      </p:sp>
      <p:sp>
        <p:nvSpPr>
          <p:cNvPr id="60" name="Text 57"/>
          <p:cNvSpPr/>
          <p:nvPr/>
        </p:nvSpPr>
        <p:spPr>
          <a:xfrm>
            <a:off x="9619488" y="4389120"/>
            <a:ext cx="1901952" cy="292608"/>
          </a:xfrm>
          <a:prstGeom prst="rect">
            <a:avLst/>
          </a:prstGeom>
          <a:noFill/>
          <a:ln/>
        </p:spPr>
        <p:txBody>
          <a:bodyPr wrap="square" lIns="0" tIns="0" rIns="0" bIns="0" rtlCol="0" anchor="ctr"/>
          <a:lstStyle/>
          <a:p>
            <a:pPr algn="ctr" indent="0" marL="0">
              <a:buNone/>
            </a:pPr>
            <a:r>
              <a:rPr lang="en-US" sz="900" b="1" i="1" dirty="0">
                <a:solidFill>
                  <a:srgbClr val="2E8B57"/>
                </a:solidFill>
                <a:latin typeface="Calibri" pitchFamily="34" charset="0"/>
                <a:ea typeface="Calibri" pitchFamily="34" charset="-122"/>
                <a:cs typeface="Calibri" pitchFamily="34" charset="-120"/>
              </a:rPr>
              <a:t>A person signs it off</a:t>
            </a:r>
            <a:endParaRPr lang="en-US" sz="900" dirty="0"/>
          </a:p>
        </p:txBody>
      </p:sp>
      <p:sp>
        <p:nvSpPr>
          <p:cNvPr id="61" name="Shape 58"/>
          <p:cNvSpPr/>
          <p:nvPr/>
        </p:nvSpPr>
        <p:spPr>
          <a:xfrm>
            <a:off x="457200" y="4983480"/>
            <a:ext cx="11274552" cy="1051560"/>
          </a:xfrm>
          <a:prstGeom prst="roundRect">
            <a:avLst>
              <a:gd name="adj" fmla="val 8696"/>
            </a:avLst>
          </a:prstGeom>
          <a:solidFill>
            <a:srgbClr val="FFFFFF"/>
          </a:solidFill>
          <a:ln w="12700">
            <a:solidFill>
              <a:srgbClr val="DCE3EE"/>
            </a:solidFill>
            <a:prstDash val="solid"/>
          </a:ln>
        </p:spPr>
      </p:sp>
      <p:sp>
        <p:nvSpPr>
          <p:cNvPr id="62" name="Text 59"/>
          <p:cNvSpPr/>
          <p:nvPr/>
        </p:nvSpPr>
        <p:spPr>
          <a:xfrm>
            <a:off x="731520" y="5102352"/>
            <a:ext cx="45720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Notice the proportions</a:t>
            </a:r>
            <a:endParaRPr lang="en-US" sz="1200" dirty="0"/>
          </a:p>
        </p:txBody>
      </p:sp>
      <p:sp>
        <p:nvSpPr>
          <p:cNvPr id="63" name="Text 60"/>
          <p:cNvSpPr/>
          <p:nvPr/>
        </p:nvSpPr>
        <p:spPr>
          <a:xfrm>
            <a:off x="731520" y="5358384"/>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Of the twelve stages, the AI owns exactly one. </a:t>
            </a:r>
            <a:pPr indent="0" marL="0">
              <a:buNone/>
            </a:pPr>
            <a:r>
              <a:rPr lang="en-US" sz="1200" dirty="0">
                <a:solidFill>
                  <a:srgbClr val="3A4356"/>
                </a:solidFill>
                <a:latin typeface="Calibri" pitchFamily="34" charset="0"/>
                <a:ea typeface="Calibri" pitchFamily="34" charset="-122"/>
                <a:cs typeface="Calibri" pitchFamily="34" charset="-120"/>
              </a:rPr>
              <a:t>Three are measurement, two are automatic safety checks, four are arithmetic, and two are human review. That ratio is the design — the AI is the smallest, most bounded part of the tool, not the centre of it.</a:t>
            </a:r>
            <a:endParaRPr lang="en-US" sz="1200" dirty="0"/>
          </a:p>
        </p:txBody>
      </p:sp>
      <p:sp>
        <p:nvSpPr>
          <p:cNvPr id="64" name="Text 6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5" name="Text 6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1–3 · Measuring the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digital ruler, not a guess — and not artificial intelligence</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207008"/>
            <a:ext cx="3200400" cy="2286000"/>
          </a:xfrm>
          <a:prstGeom prst="roundRect">
            <a:avLst>
              <a:gd name="adj" fmla="val 4000"/>
            </a:avLst>
          </a:prstGeom>
          <a:solidFill>
            <a:srgbClr val="FFFFFF"/>
          </a:solidFill>
          <a:ln w="12700">
            <a:solidFill>
              <a:srgbClr val="DCE3EE"/>
            </a:solidFill>
            <a:prstDash val="solid"/>
          </a:ln>
        </p:spPr>
      </p:sp>
      <p:sp>
        <p:nvSpPr>
          <p:cNvPr id="8" name="Shape 6"/>
          <p:cNvSpPr/>
          <p:nvPr/>
        </p:nvSpPr>
        <p:spPr>
          <a:xfrm>
            <a:off x="685800" y="1389888"/>
            <a:ext cx="457200" cy="457200"/>
          </a:xfrm>
          <a:prstGeom prst="ellipse">
            <a:avLst/>
          </a:prstGeom>
          <a:solidFill>
            <a:srgbClr val="1D6FB8"/>
          </a:solidFill>
          <a:ln/>
        </p:spPr>
      </p:sp>
      <p:pic>
        <p:nvPicPr>
          <p:cNvPr id="9" name="Image 0" descr="preencoded.png">    </p:cNvPr>
          <p:cNvPicPr>
            <a:picLocks noChangeAspect="1"/>
          </p:cNvPicPr>
          <p:nvPr/>
        </p:nvPicPr>
        <p:blipFill>
          <a:blip r:embed="rId1"/>
          <a:stretch>
            <a:fillRect/>
          </a:stretch>
        </p:blipFill>
        <p:spPr>
          <a:xfrm>
            <a:off x="795528" y="1499616"/>
            <a:ext cx="237744" cy="237744"/>
          </a:xfrm>
          <a:prstGeom prst="rect">
            <a:avLst/>
          </a:prstGeom>
        </p:spPr>
      </p:pic>
      <p:sp>
        <p:nvSpPr>
          <p:cNvPr id="10" name="Text 7"/>
          <p:cNvSpPr/>
          <p:nvPr/>
        </p:nvSpPr>
        <p:spPr>
          <a:xfrm>
            <a:off x="1280160" y="1417320"/>
            <a:ext cx="219456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1 · The engineer uploads</a:t>
            </a:r>
            <a:endParaRPr lang="en-US" sz="1250" dirty="0"/>
          </a:p>
        </p:txBody>
      </p:sp>
      <p:sp>
        <p:nvSpPr>
          <p:cNvPr id="11" name="Text 8"/>
          <p:cNvSpPr/>
          <p:nvPr/>
        </p:nvSpPr>
        <p:spPr>
          <a:xfrm>
            <a:off x="685800" y="1920240"/>
            <a:ext cx="2743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3D CAD file — plus the two facts a drawing can never contain:</a:t>
            </a:r>
            <a:endParaRPr lang="en-US" sz="1050" dirty="0"/>
          </a:p>
        </p:txBody>
      </p:sp>
      <p:sp>
        <p:nvSpPr>
          <p:cNvPr id="12" name="Text 9"/>
          <p:cNvSpPr/>
          <p:nvPr/>
        </p:nvSpPr>
        <p:spPr>
          <a:xfrm>
            <a:off x="777240" y="2450592"/>
            <a:ext cx="2743200" cy="54864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 How many per year — 60,000</a:t>
            </a:r>
            <a:endParaRPr lang="en-US" sz="1100" dirty="0"/>
          </a:p>
          <a:p>
            <a:pPr indent="0" marL="0">
              <a:buNone/>
            </a:pPr>
            <a:r>
              <a:rPr lang="en-US" sz="1100" b="1" dirty="0">
                <a:solidFill>
                  <a:srgbClr val="16325C"/>
                </a:solidFill>
                <a:latin typeface="Calibri" pitchFamily="34" charset="0"/>
                <a:ea typeface="Calibri" pitchFamily="34" charset="-122"/>
                <a:cs typeface="Calibri" pitchFamily="34" charset="-120"/>
              </a:rPr>
              <a:t>• Where we plan to make it — China</a:t>
            </a:r>
            <a:endParaRPr lang="en-US" sz="1100" dirty="0"/>
          </a:p>
        </p:txBody>
      </p:sp>
      <p:sp>
        <p:nvSpPr>
          <p:cNvPr id="13" name="Text 10"/>
          <p:cNvSpPr/>
          <p:nvPr/>
        </p:nvSpPr>
        <p:spPr>
          <a:xfrm>
            <a:off x="685800" y="3035808"/>
            <a:ext cx="2743200" cy="365760"/>
          </a:xfrm>
          <a:prstGeom prst="rect">
            <a:avLst/>
          </a:prstGeom>
          <a:noFill/>
          <a:ln/>
        </p:spPr>
        <p:txBody>
          <a:bodyPr wrap="square" lIns="0" tIns="0" rIns="0" bIns="0" rtlCol="0" anchor="t"/>
          <a:lstStyle/>
          <a:p>
            <a:pPr indent="0" marL="0">
              <a:buNone/>
            </a:pPr>
            <a:r>
              <a:rPr lang="en-US" sz="950" i="1" dirty="0">
                <a:solidFill>
                  <a:srgbClr val="6B7280"/>
                </a:solidFill>
                <a:latin typeface="Calibri" pitchFamily="34" charset="0"/>
                <a:ea typeface="Calibri" pitchFamily="34" charset="-122"/>
                <a:cs typeface="Calibri" pitchFamily="34" charset="-120"/>
              </a:rPr>
              <a:t>These drive tooling spread and labour rates.</a:t>
            </a:r>
            <a:endParaRPr lang="en-US" sz="950" dirty="0"/>
          </a:p>
        </p:txBody>
      </p:sp>
      <p:sp>
        <p:nvSpPr>
          <p:cNvPr id="14" name="Shape 11"/>
          <p:cNvSpPr/>
          <p:nvPr/>
        </p:nvSpPr>
        <p:spPr>
          <a:xfrm>
            <a:off x="3840480" y="1207008"/>
            <a:ext cx="4572000" cy="2286000"/>
          </a:xfrm>
          <a:prstGeom prst="roundRect">
            <a:avLst>
              <a:gd name="adj" fmla="val 4000"/>
            </a:avLst>
          </a:prstGeom>
          <a:solidFill>
            <a:srgbClr val="FFFFFF"/>
          </a:solidFill>
          <a:ln w="12700">
            <a:solidFill>
              <a:srgbClr val="DCE3EE"/>
            </a:solidFill>
            <a:prstDash val="solid"/>
          </a:ln>
        </p:spPr>
      </p:sp>
      <p:sp>
        <p:nvSpPr>
          <p:cNvPr id="15" name="Shape 12"/>
          <p:cNvSpPr/>
          <p:nvPr/>
        </p:nvSpPr>
        <p:spPr>
          <a:xfrm>
            <a:off x="4069080" y="1389888"/>
            <a:ext cx="457200" cy="457200"/>
          </a:xfrm>
          <a:prstGeom prst="ellipse">
            <a:avLst/>
          </a:prstGeom>
          <a:solidFill>
            <a:srgbClr val="1D6FB8"/>
          </a:solidFill>
          <a:ln/>
        </p:spPr>
      </p:sp>
      <p:pic>
        <p:nvPicPr>
          <p:cNvPr id="16" name="Image 1" descr="preencoded.png">    </p:cNvPr>
          <p:cNvPicPr>
            <a:picLocks noChangeAspect="1"/>
          </p:cNvPicPr>
          <p:nvPr/>
        </p:nvPicPr>
        <p:blipFill>
          <a:blip r:embed="rId2"/>
          <a:stretch>
            <a:fillRect/>
          </a:stretch>
        </p:blipFill>
        <p:spPr>
          <a:xfrm>
            <a:off x="4178808" y="1499616"/>
            <a:ext cx="237744" cy="237744"/>
          </a:xfrm>
          <a:prstGeom prst="rect">
            <a:avLst/>
          </a:prstGeom>
        </p:spPr>
      </p:pic>
      <p:sp>
        <p:nvSpPr>
          <p:cNvPr id="17" name="Text 13"/>
          <p:cNvSpPr/>
          <p:nvPr/>
        </p:nvSpPr>
        <p:spPr>
          <a:xfrm>
            <a:off x="4663440" y="1417320"/>
            <a:ext cx="347472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2 · The kernel measures it</a:t>
            </a:r>
            <a:endParaRPr lang="en-US" sz="1250" dirty="0"/>
          </a:p>
        </p:txBody>
      </p:sp>
      <p:sp>
        <p:nvSpPr>
          <p:cNvPr id="18" name="Text 14"/>
          <p:cNvSpPr/>
          <p:nvPr/>
        </p:nvSpPr>
        <p:spPr>
          <a:xfrm>
            <a:off x="4069080" y="1883664"/>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Solid volume (exact)</a:t>
            </a:r>
            <a:endParaRPr lang="en-US" sz="1100" dirty="0"/>
          </a:p>
        </p:txBody>
      </p:sp>
      <p:sp>
        <p:nvSpPr>
          <p:cNvPr id="19" name="Text 15"/>
          <p:cNvSpPr/>
          <p:nvPr/>
        </p:nvSpPr>
        <p:spPr>
          <a:xfrm>
            <a:off x="6949440" y="1883664"/>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1,037 cm³</a:t>
            </a:r>
            <a:endParaRPr lang="en-US" sz="1150" dirty="0"/>
          </a:p>
        </p:txBody>
      </p:sp>
      <p:sp>
        <p:nvSpPr>
          <p:cNvPr id="20" name="Text 16"/>
          <p:cNvSpPr/>
          <p:nvPr/>
        </p:nvSpPr>
        <p:spPr>
          <a:xfrm>
            <a:off x="4069080" y="2185416"/>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Weight if aluminium</a:t>
            </a:r>
            <a:endParaRPr lang="en-US" sz="1100" dirty="0"/>
          </a:p>
        </p:txBody>
      </p:sp>
      <p:sp>
        <p:nvSpPr>
          <p:cNvPr id="21" name="Text 17"/>
          <p:cNvSpPr/>
          <p:nvPr/>
        </p:nvSpPr>
        <p:spPr>
          <a:xfrm>
            <a:off x="6949440" y="2185416"/>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2.80 kg</a:t>
            </a:r>
            <a:endParaRPr lang="en-US" sz="1150" dirty="0"/>
          </a:p>
        </p:txBody>
      </p:sp>
      <p:sp>
        <p:nvSpPr>
          <p:cNvPr id="22" name="Text 18"/>
          <p:cNvSpPr/>
          <p:nvPr/>
        </p:nvSpPr>
        <p:spPr>
          <a:xfrm>
            <a:off x="4069080" y="2487168"/>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Wall thickness</a:t>
            </a:r>
            <a:endParaRPr lang="en-US" sz="1100" dirty="0"/>
          </a:p>
        </p:txBody>
      </p:sp>
      <p:sp>
        <p:nvSpPr>
          <p:cNvPr id="23" name="Text 19"/>
          <p:cNvSpPr/>
          <p:nvPr/>
        </p:nvSpPr>
        <p:spPr>
          <a:xfrm>
            <a:off x="6949440" y="2487168"/>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 3 mm</a:t>
            </a:r>
            <a:endParaRPr lang="en-US" sz="1150" dirty="0"/>
          </a:p>
        </p:txBody>
      </p:sp>
      <p:sp>
        <p:nvSpPr>
          <p:cNvPr id="24" name="Text 20"/>
          <p:cNvSpPr/>
          <p:nvPr/>
        </p:nvSpPr>
        <p:spPr>
          <a:xfrm>
            <a:off x="4069080" y="2788920"/>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Precision bores / holes</a:t>
            </a:r>
            <a:endParaRPr lang="en-US" sz="1100" dirty="0"/>
          </a:p>
        </p:txBody>
      </p:sp>
      <p:sp>
        <p:nvSpPr>
          <p:cNvPr id="25" name="Text 21"/>
          <p:cNvSpPr/>
          <p:nvPr/>
        </p:nvSpPr>
        <p:spPr>
          <a:xfrm>
            <a:off x="6949440" y="2788920"/>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 / 16</a:t>
            </a:r>
            <a:endParaRPr lang="en-US" sz="1150" dirty="0"/>
          </a:p>
        </p:txBody>
      </p:sp>
      <p:sp>
        <p:nvSpPr>
          <p:cNvPr id="26" name="Text 22"/>
          <p:cNvSpPr/>
          <p:nvPr/>
        </p:nvSpPr>
        <p:spPr>
          <a:xfrm>
            <a:off x="4069080" y="3090672"/>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Faces to machine flat</a:t>
            </a:r>
            <a:endParaRPr lang="en-US" sz="1100" dirty="0"/>
          </a:p>
        </p:txBody>
      </p:sp>
      <p:sp>
        <p:nvSpPr>
          <p:cNvPr id="27" name="Text 23"/>
          <p:cNvSpPr/>
          <p:nvPr/>
        </p:nvSpPr>
        <p:spPr>
          <a:xfrm>
            <a:off x="6949440" y="3090672"/>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a:t>
            </a:r>
            <a:endParaRPr lang="en-US" sz="1150" dirty="0"/>
          </a:p>
        </p:txBody>
      </p:sp>
      <p:sp>
        <p:nvSpPr>
          <p:cNvPr id="28" name="Shape 24"/>
          <p:cNvSpPr/>
          <p:nvPr/>
        </p:nvSpPr>
        <p:spPr>
          <a:xfrm>
            <a:off x="8595360" y="1207008"/>
            <a:ext cx="3136392" cy="2286000"/>
          </a:xfrm>
          <a:prstGeom prst="roundRect">
            <a:avLst>
              <a:gd name="adj" fmla="val 4000"/>
            </a:avLst>
          </a:prstGeom>
          <a:solidFill>
            <a:srgbClr val="E8F1FA"/>
          </a:solidFill>
          <a:ln w="15875">
            <a:solidFill>
              <a:srgbClr val="1D6FB8"/>
            </a:solidFill>
            <a:prstDash val="solid"/>
          </a:ln>
        </p:spPr>
      </p:sp>
      <p:sp>
        <p:nvSpPr>
          <p:cNvPr id="29" name="Text 25"/>
          <p:cNvSpPr/>
          <p:nvPr/>
        </p:nvSpPr>
        <p:spPr>
          <a:xfrm>
            <a:off x="8823960" y="1371600"/>
            <a:ext cx="2743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WHY THIS MATTERS</a:t>
            </a:r>
            <a:endParaRPr lang="en-US" sz="1050" dirty="0"/>
          </a:p>
        </p:txBody>
      </p:sp>
      <p:sp>
        <p:nvSpPr>
          <p:cNvPr id="30" name="Text 26"/>
          <p:cNvSpPr/>
          <p:nvPr/>
        </p:nvSpPr>
        <p:spPr>
          <a:xfrm>
            <a:off x="8823960" y="1691640"/>
            <a:ext cx="2743200" cy="173736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Nobody typed these numbers.</a:t>
            </a: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Nobody estimated them.</a:t>
            </a:r>
            <a:endParaRPr lang="en-US" sz="1050" dirty="0"/>
          </a:p>
          <a:p>
            <a:pPr indent="0" marL="0">
              <a:buNone/>
            </a:pP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Note the kernel measures VOLUME. It cannot know the weight until something names the material — so it publishes a weight for every candidate density and waits.</a:t>
            </a:r>
            <a:endParaRPr lang="en-US" sz="1050" dirty="0"/>
          </a:p>
        </p:txBody>
      </p:sp>
      <p:sp>
        <p:nvSpPr>
          <p:cNvPr id="31" name="Shape 27"/>
          <p:cNvSpPr/>
          <p:nvPr/>
        </p:nvSpPr>
        <p:spPr>
          <a:xfrm>
            <a:off x="457200" y="3703320"/>
            <a:ext cx="11274552" cy="1371600"/>
          </a:xfrm>
          <a:prstGeom prst="roundRect">
            <a:avLst>
              <a:gd name="adj" fmla="val 6667"/>
            </a:avLst>
          </a:prstGeom>
          <a:solidFill>
            <a:srgbClr val="FFFFFF"/>
          </a:solidFill>
          <a:ln w="12700">
            <a:solidFill>
              <a:srgbClr val="DCE3EE"/>
            </a:solidFill>
            <a:prstDash val="solid"/>
          </a:ln>
        </p:spPr>
      </p:sp>
      <p:sp>
        <p:nvSpPr>
          <p:cNvPr id="32" name="Shape 28"/>
          <p:cNvSpPr/>
          <p:nvPr/>
        </p:nvSpPr>
        <p:spPr>
          <a:xfrm>
            <a:off x="685800" y="3913632"/>
            <a:ext cx="457200" cy="457200"/>
          </a:xfrm>
          <a:prstGeom prst="ellipse">
            <a:avLst/>
          </a:prstGeom>
          <a:solidFill>
            <a:srgbClr val="1D6FB8"/>
          </a:solidFill>
          <a:ln/>
        </p:spPr>
      </p:sp>
      <p:pic>
        <p:nvPicPr>
          <p:cNvPr id="33" name="Image 2" descr="preencoded.png">    </p:cNvPr>
          <p:cNvPicPr>
            <a:picLocks noChangeAspect="1"/>
          </p:cNvPicPr>
          <p:nvPr/>
        </p:nvPicPr>
        <p:blipFill>
          <a:blip r:embed="rId3"/>
          <a:stretch>
            <a:fillRect/>
          </a:stretch>
        </p:blipFill>
        <p:spPr>
          <a:xfrm>
            <a:off x="795528" y="4023360"/>
            <a:ext cx="237744" cy="237744"/>
          </a:xfrm>
          <a:prstGeom prst="rect">
            <a:avLst/>
          </a:prstGeom>
        </p:spPr>
      </p:pic>
      <p:sp>
        <p:nvSpPr>
          <p:cNvPr id="34" name="Text 29"/>
          <p:cNvSpPr/>
          <p:nvPr/>
        </p:nvSpPr>
        <p:spPr>
          <a:xfrm>
            <a:off x="1280160" y="3931920"/>
            <a:ext cx="1005840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3 · The shape sense-check — a small step that protects the whole price</a:t>
            </a:r>
            <a:endParaRPr lang="en-US" sz="1250" dirty="0"/>
          </a:p>
        </p:txBody>
      </p:sp>
      <p:sp>
        <p:nvSpPr>
          <p:cNvPr id="35" name="Text 30"/>
          <p:cNvSpPr/>
          <p:nvPr/>
        </p:nvSpPr>
        <p:spPr>
          <a:xfrm>
            <a:off x="1280160" y="4261104"/>
            <a:ext cx="10241280" cy="73152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tool asks one question: is this hollow, or solid?  </a:t>
            </a:r>
            <a:pPr indent="0" marL="0">
              <a:buNone/>
            </a:pPr>
            <a:r>
              <a:rPr lang="en-US" sz="1150" dirty="0">
                <a:solidFill>
                  <a:srgbClr val="3A4356"/>
                </a:solidFill>
                <a:latin typeface="Calibri" pitchFamily="34" charset="0"/>
                <a:ea typeface="Calibri" pitchFamily="34" charset="-122"/>
                <a:cs typeface="Calibri" pitchFamily="34" charset="-120"/>
              </a:rPr>
              <a:t>Three-millimetre walls around an enclosed space mean a HOLLOW CASTING — so the cutting machines only tidy up surfaces. If the tool wrongly thought it was a solid block, it would price carving the whole shape out of metal, and the answer would be roughly double. One check, enormous consequence.</a:t>
            </a:r>
            <a:endParaRPr lang="en-US" sz="1150" dirty="0"/>
          </a:p>
        </p:txBody>
      </p:sp>
      <p:sp>
        <p:nvSpPr>
          <p:cNvPr id="36" name="Shape 31"/>
          <p:cNvSpPr/>
          <p:nvPr/>
        </p:nvSpPr>
        <p:spPr>
          <a:xfrm>
            <a:off x="457200" y="5230368"/>
            <a:ext cx="11274552" cy="822960"/>
          </a:xfrm>
          <a:prstGeom prst="roundRect">
            <a:avLst>
              <a:gd name="adj" fmla="val 11111"/>
            </a:avLst>
          </a:prstGeom>
          <a:solidFill>
            <a:srgbClr val="F1EBF8"/>
          </a:solidFill>
          <a:ln w="12700">
            <a:solidFill>
              <a:srgbClr val="6B3FA0"/>
            </a:solidFill>
            <a:prstDash val="solid"/>
          </a:ln>
        </p:spPr>
      </p:sp>
      <p:sp>
        <p:nvSpPr>
          <p:cNvPr id="37" name="Text 32"/>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Where is the AI so far?  Nowhere. </a:t>
            </a:r>
            <a:pPr indent="0" marL="0">
              <a:buNone/>
            </a:pPr>
            <a:r>
              <a:rPr lang="en-US" sz="1200" dirty="0">
                <a:solidFill>
                  <a:srgbClr val="3A4356"/>
                </a:solidFill>
                <a:latin typeface="Calibri" pitchFamily="34" charset="0"/>
                <a:ea typeface="Calibri" pitchFamily="34" charset="-122"/>
                <a:cs typeface="Calibri" pitchFamily="34" charset="-120"/>
              </a:rPr>
              <a:t>Everything on this slide happened before the AI was involved at all. That ordering is intentional: the measurements exist first, so that when the AI does speak, there is already an independent set of facts to check it against.</a:t>
            </a:r>
            <a:endParaRPr lang="en-US" sz="1200" dirty="0"/>
          </a:p>
        </p:txBody>
      </p:sp>
      <p:sp>
        <p:nvSpPr>
          <p:cNvPr id="38" name="Text 3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9" name="Text 3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Is the "Geometry Kernel"?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measuring instrument — and the honest answer on what it is built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188720"/>
            <a:ext cx="5577840" cy="2377440"/>
          </a:xfrm>
          <a:prstGeom prst="roundRect">
            <a:avLst>
              <a:gd name="adj" fmla="val 3846"/>
            </a:avLst>
          </a:prstGeom>
          <a:solidFill>
            <a:srgbClr val="FFFFFF"/>
          </a:solidFill>
          <a:ln w="12700">
            <a:solidFill>
              <a:srgbClr val="DCE3EE"/>
            </a:solidFill>
            <a:prstDash val="solid"/>
          </a:ln>
        </p:spPr>
      </p:sp>
      <p:sp>
        <p:nvSpPr>
          <p:cNvPr id="8" name="Text 6"/>
          <p:cNvSpPr/>
          <p:nvPr/>
        </p:nvSpPr>
        <p:spPr>
          <a:xfrm>
            <a:off x="685800" y="1316736"/>
            <a:ext cx="5029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WHAT IT IS</a:t>
            </a:r>
            <a:endParaRPr lang="en-US" sz="1050" dirty="0"/>
          </a:p>
        </p:txBody>
      </p:sp>
      <p:sp>
        <p:nvSpPr>
          <p:cNvPr id="9" name="Text 7"/>
          <p:cNvSpPr/>
          <p:nvPr/>
        </p:nvSpPr>
        <p:spPr>
          <a:xfrm>
            <a:off x="685800" y="1609344"/>
            <a:ext cx="5120640" cy="91440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The same class of engine that sits underneath CATIA, SolidWorks and NX. </a:t>
            </a:r>
            <a:pPr indent="0" marL="0">
              <a:buNone/>
            </a:pPr>
            <a:r>
              <a:rPr lang="en-US" sz="1100" dirty="0">
                <a:solidFill>
                  <a:srgbClr val="3A4356"/>
                </a:solidFill>
                <a:latin typeface="Calibri" pitchFamily="34" charset="0"/>
                <a:ea typeface="Calibri" pitchFamily="34" charset="-122"/>
                <a:cs typeface="Calibri" pitchFamily="34" charset="-120"/>
              </a:rPr>
              <a:t>It reads the real CAD geometry — the mathematical surfaces, not a picture of them — so a cylinder is genuinely a cylinder with a radius and an axis, not a mesh of triangles that looks round.</a:t>
            </a:r>
            <a:endParaRPr lang="en-US" sz="1100" dirty="0"/>
          </a:p>
        </p:txBody>
      </p:sp>
      <p:sp>
        <p:nvSpPr>
          <p:cNvPr id="10" name="Text 8"/>
          <p:cNvSpPr/>
          <p:nvPr/>
        </p:nvSpPr>
        <p:spPr>
          <a:xfrm>
            <a:off x="685800" y="2578608"/>
            <a:ext cx="5120640" cy="310896"/>
          </a:xfrm>
          <a:prstGeom prst="rect">
            <a:avLst/>
          </a:prstGeom>
          <a:noFill/>
          <a:ln/>
        </p:spPr>
        <p:txBody>
          <a:bodyPr wrap="square" lIns="0" tIns="0" rIns="0" bIns="0" rtlCol="0" anchor="t"/>
          <a:lstStyle/>
          <a:p>
            <a:pPr indent="0" marL="0">
              <a:buNone/>
            </a:pPr>
            <a:r>
              <a:rPr lang="en-US" sz="1100" b="1" dirty="0">
                <a:solidFill>
                  <a:srgbClr val="1D6FB8"/>
                </a:solidFill>
                <a:latin typeface="Calibri" pitchFamily="34" charset="0"/>
                <a:ea typeface="Calibri" pitchFamily="34" charset="-122"/>
                <a:cs typeface="Calibri" pitchFamily="34" charset="-120"/>
              </a:rPr>
              <a:t>CostVision uses Open CASCADE (OCCT), driven from Python through CadQuery.</a:t>
            </a:r>
            <a:endParaRPr lang="en-US" sz="1100" dirty="0"/>
          </a:p>
        </p:txBody>
      </p:sp>
      <p:sp>
        <p:nvSpPr>
          <p:cNvPr id="11" name="Text 9"/>
          <p:cNvSpPr/>
          <p:nvPr/>
        </p:nvSpPr>
        <p:spPr>
          <a:xfrm>
            <a:off x="685800" y="2926080"/>
            <a:ext cx="5120640" cy="502920"/>
          </a:xfrm>
          <a:prstGeom prst="rect">
            <a:avLst/>
          </a:prstGeom>
          <a:noFill/>
          <a:ln/>
        </p:spPr>
        <p:txBody>
          <a:bodyPr wrap="square" lIns="0" tIns="0" rIns="0" bIns="0" rtlCol="0" anchor="t"/>
          <a:lstStyle/>
          <a:p>
            <a:pPr indent="0" marL="0">
              <a:buNone/>
            </a:pPr>
            <a:r>
              <a:rPr lang="en-US" sz="1000" i="1" dirty="0">
                <a:solidFill>
                  <a:srgbClr val="6B7280"/>
                </a:solidFill>
                <a:latin typeface="Calibri" pitchFamily="34" charset="0"/>
                <a:ea typeface="Calibri" pitchFamily="34" charset="-122"/>
                <a:cs typeface="Calibri" pitchFamily="34" charset="-120"/>
              </a:rPr>
              <a:t>Reads STEP and IGES — the neutral formats every OEM and supplier already exchanges. STL meshes take a separate, simpler path.</a:t>
            </a:r>
            <a:endParaRPr lang="en-US" sz="1000" dirty="0"/>
          </a:p>
        </p:txBody>
      </p:sp>
      <p:sp>
        <p:nvSpPr>
          <p:cNvPr id="12" name="Shape 10"/>
          <p:cNvSpPr/>
          <p:nvPr/>
        </p:nvSpPr>
        <p:spPr>
          <a:xfrm>
            <a:off x="6263640" y="1188720"/>
            <a:ext cx="5468112" cy="2377440"/>
          </a:xfrm>
          <a:prstGeom prst="roundRect">
            <a:avLst>
              <a:gd name="adj" fmla="val 3846"/>
            </a:avLst>
          </a:prstGeom>
          <a:solidFill>
            <a:srgbClr val="E8F1FA"/>
          </a:solidFill>
          <a:ln w="15875">
            <a:solidFill>
              <a:srgbClr val="1D6FB8"/>
            </a:solidFill>
            <a:prstDash val="solid"/>
          </a:ln>
        </p:spPr>
      </p:sp>
      <p:sp>
        <p:nvSpPr>
          <p:cNvPr id="13" name="Text 11"/>
          <p:cNvSpPr/>
          <p:nvPr/>
        </p:nvSpPr>
        <p:spPr>
          <a:xfrm>
            <a:off x="6492240" y="1316736"/>
            <a:ext cx="5029200" cy="237744"/>
          </a:xfrm>
          <a:prstGeom prst="rect">
            <a:avLst/>
          </a:prstGeom>
          <a:noFill/>
          <a:ln/>
        </p:spPr>
        <p:txBody>
          <a:bodyPr wrap="square" lIns="0" tIns="0" rIns="0" bIns="0" rtlCol="0" anchor="ctr"/>
          <a:lstStyle/>
          <a:p>
            <a:pPr indent="0" marL="0">
              <a:buNone/>
            </a:pPr>
            <a:r>
              <a:rPr lang="en-US" sz="1050" b="1" spc="60" kern="0" dirty="0">
                <a:solidFill>
                  <a:srgbClr val="1D6FB8"/>
                </a:solidFill>
                <a:latin typeface="Calibri" pitchFamily="34" charset="0"/>
                <a:ea typeface="Calibri" pitchFamily="34" charset="-122"/>
                <a:cs typeface="Calibri" pitchFamily="34" charset="-120"/>
              </a:rPr>
              <a:t>IS IT OPEN SOURCE?  YES — AND THAT MATTERS</a:t>
            </a:r>
            <a:endParaRPr lang="en-US" sz="1050" dirty="0"/>
          </a:p>
        </p:txBody>
      </p:sp>
      <p:sp>
        <p:nvSpPr>
          <p:cNvPr id="14" name="Text 12"/>
          <p:cNvSpPr/>
          <p:nvPr/>
        </p:nvSpPr>
        <p:spPr>
          <a:xfrm>
            <a:off x="6492240" y="1682496"/>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Open CASCADE (OCCT)</a:t>
            </a:r>
            <a:endParaRPr lang="en-US" sz="1050" dirty="0"/>
          </a:p>
        </p:txBody>
      </p:sp>
      <p:sp>
        <p:nvSpPr>
          <p:cNvPr id="15" name="Text 13"/>
          <p:cNvSpPr/>
          <p:nvPr/>
        </p:nvSpPr>
        <p:spPr>
          <a:xfrm>
            <a:off x="8778240" y="1682496"/>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LGPL v2.1 + exception</a:t>
            </a:r>
            <a:endParaRPr lang="en-US" sz="1000" dirty="0"/>
          </a:p>
        </p:txBody>
      </p:sp>
      <p:sp>
        <p:nvSpPr>
          <p:cNvPr id="16" name="Text 14"/>
          <p:cNvSpPr/>
          <p:nvPr/>
        </p:nvSpPr>
        <p:spPr>
          <a:xfrm>
            <a:off x="10469880" y="1682496"/>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kernel itself</a:t>
            </a:r>
            <a:endParaRPr lang="en-US" sz="900" dirty="0"/>
          </a:p>
        </p:txBody>
      </p:sp>
      <p:sp>
        <p:nvSpPr>
          <p:cNvPr id="17" name="Text 15"/>
          <p:cNvSpPr/>
          <p:nvPr/>
        </p:nvSpPr>
        <p:spPr>
          <a:xfrm>
            <a:off x="6492240" y="2066544"/>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CadQuery + OCP</a:t>
            </a:r>
            <a:endParaRPr lang="en-US" sz="1050" dirty="0"/>
          </a:p>
        </p:txBody>
      </p:sp>
      <p:sp>
        <p:nvSpPr>
          <p:cNvPr id="18" name="Text 16"/>
          <p:cNvSpPr/>
          <p:nvPr/>
        </p:nvSpPr>
        <p:spPr>
          <a:xfrm>
            <a:off x="8778240" y="2066544"/>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Apache 2.0</a:t>
            </a:r>
            <a:endParaRPr lang="en-US" sz="1000" dirty="0"/>
          </a:p>
        </p:txBody>
      </p:sp>
      <p:sp>
        <p:nvSpPr>
          <p:cNvPr id="19" name="Text 17"/>
          <p:cNvSpPr/>
          <p:nvPr/>
        </p:nvSpPr>
        <p:spPr>
          <a:xfrm>
            <a:off x="10469880" y="2066544"/>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Python driver</a:t>
            </a:r>
            <a:endParaRPr lang="en-US" sz="900" dirty="0"/>
          </a:p>
        </p:txBody>
      </p:sp>
      <p:sp>
        <p:nvSpPr>
          <p:cNvPr id="20" name="Text 18"/>
          <p:cNvSpPr/>
          <p:nvPr/>
        </p:nvSpPr>
        <p:spPr>
          <a:xfrm>
            <a:off x="6492240" y="2450592"/>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three.js</a:t>
            </a:r>
            <a:endParaRPr lang="en-US" sz="1050" dirty="0"/>
          </a:p>
        </p:txBody>
      </p:sp>
      <p:sp>
        <p:nvSpPr>
          <p:cNvPr id="21" name="Text 19"/>
          <p:cNvSpPr/>
          <p:nvPr/>
        </p:nvSpPr>
        <p:spPr>
          <a:xfrm>
            <a:off x="8778240" y="2450592"/>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MIT</a:t>
            </a:r>
            <a:endParaRPr lang="en-US" sz="1000" dirty="0"/>
          </a:p>
        </p:txBody>
      </p:sp>
      <p:sp>
        <p:nvSpPr>
          <p:cNvPr id="22" name="Text 20"/>
          <p:cNvSpPr/>
          <p:nvPr/>
        </p:nvSpPr>
        <p:spPr>
          <a:xfrm>
            <a:off x="10469880" y="2450592"/>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on-screen 3D viewer</a:t>
            </a:r>
            <a:endParaRPr lang="en-US" sz="900" dirty="0"/>
          </a:p>
        </p:txBody>
      </p:sp>
      <p:sp>
        <p:nvSpPr>
          <p:cNvPr id="23" name="Text 21"/>
          <p:cNvSpPr/>
          <p:nvPr/>
        </p:nvSpPr>
        <p:spPr>
          <a:xfrm>
            <a:off x="6492240" y="2880360"/>
            <a:ext cx="5029200" cy="59436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No per-seat CAD licence, no vendor lock-in, and no third party ever sees the model. </a:t>
            </a:r>
            <a:pPr indent="0" marL="0">
              <a:buNone/>
            </a:pPr>
            <a:r>
              <a:rPr lang="en-US" sz="1050" dirty="0">
                <a:solidFill>
                  <a:srgbClr val="3A4356"/>
                </a:solidFill>
                <a:latin typeface="Calibri" pitchFamily="34" charset="0"/>
                <a:ea typeface="Calibri" pitchFamily="34" charset="-122"/>
                <a:cs typeface="Calibri" pitchFamily="34" charset="-120"/>
              </a:rPr>
              <a:t>The kernel runs as a local process on our own server — the CAD file is measured where it sits.</a:t>
            </a:r>
            <a:endParaRPr lang="en-US" sz="1050" dirty="0"/>
          </a:p>
        </p:txBody>
      </p:sp>
      <p:sp>
        <p:nvSpPr>
          <p:cNvPr id="24" name="Shape 22"/>
          <p:cNvSpPr/>
          <p:nvPr/>
        </p:nvSpPr>
        <p:spPr>
          <a:xfrm>
            <a:off x="457200" y="3767328"/>
            <a:ext cx="11274552" cy="1481328"/>
          </a:xfrm>
          <a:prstGeom prst="roundRect">
            <a:avLst>
              <a:gd name="adj" fmla="val 6173"/>
            </a:avLst>
          </a:prstGeom>
          <a:solidFill>
            <a:srgbClr val="FFFFFF"/>
          </a:solidFill>
          <a:ln w="12700">
            <a:solidFill>
              <a:srgbClr val="DCE3EE"/>
            </a:solidFill>
            <a:prstDash val="solid"/>
          </a:ln>
        </p:spPr>
      </p:sp>
      <p:sp>
        <p:nvSpPr>
          <p:cNvPr id="25" name="Text 23"/>
          <p:cNvSpPr/>
          <p:nvPr/>
        </p:nvSpPr>
        <p:spPr>
          <a:xfrm>
            <a:off x="731520" y="3877056"/>
            <a:ext cx="100584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HOW IT ACTUALLY MEASURES — four things, no estimation anywhere</a:t>
            </a:r>
            <a:endParaRPr lang="en-US" sz="1200" dirty="0"/>
          </a:p>
        </p:txBody>
      </p:sp>
      <p:sp>
        <p:nvSpPr>
          <p:cNvPr id="26" name="Text 24"/>
          <p:cNvSpPr/>
          <p:nvPr/>
        </p:nvSpPr>
        <p:spPr>
          <a:xfrm>
            <a:off x="73152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Volume &amp; mass</a:t>
            </a:r>
            <a:endParaRPr lang="en-US" sz="1050" dirty="0"/>
          </a:p>
        </p:txBody>
      </p:sp>
      <p:sp>
        <p:nvSpPr>
          <p:cNvPr id="27" name="Text 25"/>
          <p:cNvSpPr/>
          <p:nvPr/>
        </p:nvSpPr>
        <p:spPr>
          <a:xfrm>
            <a:off x="73152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Integrates the solid exactly, then publishes a weight for every candidate density — aluminium, steel, plastic, iron, copper, titanium.</a:t>
            </a:r>
            <a:endParaRPr lang="en-US" sz="900" dirty="0"/>
          </a:p>
        </p:txBody>
      </p:sp>
      <p:sp>
        <p:nvSpPr>
          <p:cNvPr id="28" name="Text 26"/>
          <p:cNvSpPr/>
          <p:nvPr/>
        </p:nvSpPr>
        <p:spPr>
          <a:xfrm>
            <a:off x="352044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Holes &amp; bosses</a:t>
            </a:r>
            <a:endParaRPr lang="en-US" sz="1050" dirty="0"/>
          </a:p>
        </p:txBody>
      </p:sp>
      <p:sp>
        <p:nvSpPr>
          <p:cNvPr id="29" name="Text 27"/>
          <p:cNvSpPr/>
          <p:nvPr/>
        </p:nvSpPr>
        <p:spPr>
          <a:xfrm>
            <a:off x="352044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Walks every cylindrical face: diameter from the exact radius, depth from the surface parameter span, through-vs-blind by comparing depth to the bounding box.</a:t>
            </a:r>
            <a:endParaRPr lang="en-US" sz="900" dirty="0"/>
          </a:p>
        </p:txBody>
      </p:sp>
      <p:sp>
        <p:nvSpPr>
          <p:cNvPr id="30" name="Text 28"/>
          <p:cNvSpPr/>
          <p:nvPr/>
        </p:nvSpPr>
        <p:spPr>
          <a:xfrm>
            <a:off x="630936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Wall thickness</a:t>
            </a:r>
            <a:endParaRPr lang="en-US" sz="1050" dirty="0"/>
          </a:p>
        </p:txBody>
      </p:sp>
      <p:sp>
        <p:nvSpPr>
          <p:cNvPr id="31" name="Text 29"/>
          <p:cNvSpPr/>
          <p:nvPr/>
        </p:nvSpPr>
        <p:spPr>
          <a:xfrm>
            <a:off x="630936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Ray-casts inside the solid to find how thick each wall really is — this is what tells casting from machining.</a:t>
            </a:r>
            <a:endParaRPr lang="en-US" sz="900" dirty="0"/>
          </a:p>
        </p:txBody>
      </p:sp>
      <p:sp>
        <p:nvSpPr>
          <p:cNvPr id="32" name="Text 30"/>
          <p:cNvSpPr/>
          <p:nvPr/>
        </p:nvSpPr>
        <p:spPr>
          <a:xfrm>
            <a:off x="909828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Faces &amp; pockets</a:t>
            </a:r>
            <a:endParaRPr lang="en-US" sz="1050" dirty="0"/>
          </a:p>
        </p:txBody>
      </p:sp>
      <p:sp>
        <p:nvSpPr>
          <p:cNvPr id="33" name="Text 31"/>
          <p:cNvSpPr/>
          <p:nvPr/>
        </p:nvSpPr>
        <p:spPr>
          <a:xfrm>
            <a:off x="909828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Classifies every face by surface type, so flats to be milled are counted, not guessed.</a:t>
            </a:r>
            <a:endParaRPr lang="en-US" sz="900" dirty="0"/>
          </a:p>
        </p:txBody>
      </p:sp>
      <p:sp>
        <p:nvSpPr>
          <p:cNvPr id="34" name="Shape 32"/>
          <p:cNvSpPr/>
          <p:nvPr/>
        </p:nvSpPr>
        <p:spPr>
          <a:xfrm>
            <a:off x="457200" y="5413248"/>
            <a:ext cx="11274552" cy="868680"/>
          </a:xfrm>
          <a:prstGeom prst="roundRect">
            <a:avLst>
              <a:gd name="adj" fmla="val 10526"/>
            </a:avLst>
          </a:prstGeom>
          <a:solidFill>
            <a:srgbClr val="E8F1FA"/>
          </a:solidFill>
          <a:ln w="12700">
            <a:solidFill>
              <a:srgbClr val="1D6FB8"/>
            </a:solidFill>
            <a:prstDash val="solid"/>
          </a:ln>
        </p:spPr>
      </p:sp>
      <p:sp>
        <p:nvSpPr>
          <p:cNvPr id="35" name="Text 33"/>
          <p:cNvSpPr/>
          <p:nvPr/>
        </p:nvSpPr>
        <p:spPr>
          <a:xfrm>
            <a:off x="731520" y="5522976"/>
            <a:ext cx="10744200" cy="68580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honest limitation: </a:t>
            </a:r>
            <a:pPr indent="0" marL="0">
              <a:buNone/>
            </a:pPr>
            <a:r>
              <a:rPr lang="en-US" sz="1150" dirty="0">
                <a:solidFill>
                  <a:srgbClr val="3A4356"/>
                </a:solidFill>
                <a:latin typeface="Calibri" pitchFamily="34" charset="0"/>
                <a:ea typeface="Calibri" pitchFamily="34" charset="-122"/>
                <a:cs typeface="Calibri" pitchFamily="34" charset="-120"/>
              </a:rPr>
              <a:t>the kernel is exact about what IS in the model, and silent about what is not. It cannot read a tolerance, a surface finish or a material callout unless the CAD file carries it — those still come from the drawing or from our engineer. It measures; it does not interpret.</a:t>
            </a:r>
            <a:endParaRPr lang="en-US" sz="11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4 · The AI Reads the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one stage the AI owns — and the hard limits on it</a:t>
            </a:r>
            <a:endParaRPr lang="en-US" sz="1200" dirty="0"/>
          </a:p>
        </p:txBody>
      </p:sp>
      <p:sp>
        <p:nvSpPr>
          <p:cNvPr id="5" name="Shape 3"/>
          <p:cNvSpPr/>
          <p:nvPr/>
        </p:nvSpPr>
        <p:spPr>
          <a:xfrm>
            <a:off x="9418320" y="676656"/>
            <a:ext cx="2286000" cy="310896"/>
          </a:xfrm>
          <a:prstGeom prst="roundRect">
            <a:avLst>
              <a:gd name="adj" fmla="val 50000"/>
            </a:avLst>
          </a:prstGeom>
          <a:solidFill>
            <a:srgbClr val="F1EBF8"/>
          </a:solidFill>
          <a:ln w="12700">
            <a:solidFill>
              <a:srgbClr val="6B3FA0"/>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6B3FA0"/>
                </a:solidFill>
                <a:latin typeface="Calibri" pitchFamily="34" charset="0"/>
                <a:ea typeface="Calibri" pitchFamily="34" charset="-122"/>
                <a:cs typeface="Calibri" pitchFamily="34" charset="-120"/>
              </a:rPr>
              <a:t>OWNER: THE AI</a:t>
            </a:r>
            <a:endParaRPr lang="en-US" sz="950" dirty="0"/>
          </a:p>
        </p:txBody>
      </p:sp>
      <p:sp>
        <p:nvSpPr>
          <p:cNvPr id="7" name="Shape 5"/>
          <p:cNvSpPr/>
          <p:nvPr/>
        </p:nvSpPr>
        <p:spPr>
          <a:xfrm>
            <a:off x="457200" y="1188720"/>
            <a:ext cx="5486400" cy="2514600"/>
          </a:xfrm>
          <a:prstGeom prst="roundRect">
            <a:avLst>
              <a:gd name="adj" fmla="val 3636"/>
            </a:avLst>
          </a:prstGeom>
          <a:solidFill>
            <a:srgbClr val="F1EBF8"/>
          </a:solidFill>
          <a:ln w="15875">
            <a:solidFill>
              <a:srgbClr val="6B3FA0"/>
            </a:solidFill>
            <a:prstDash val="solid"/>
          </a:ln>
        </p:spPr>
      </p:sp>
      <p:sp>
        <p:nvSpPr>
          <p:cNvPr id="8" name="Text 6"/>
          <p:cNvSpPr/>
          <p:nvPr/>
        </p:nvSpPr>
        <p:spPr>
          <a:xfrm>
            <a:off x="685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THE AI IS GIVEN</a:t>
            </a:r>
            <a:endParaRPr lang="en-US" sz="1050" dirty="0"/>
          </a:p>
        </p:txBody>
      </p:sp>
      <p:sp>
        <p:nvSpPr>
          <p:cNvPr id="9" name="Text 7"/>
          <p:cNvSpPr/>
          <p:nvPr/>
        </p:nvSpPr>
        <p:spPr>
          <a:xfrm>
            <a:off x="685800" y="1609344"/>
            <a:ext cx="5029200" cy="640080"/>
          </a:xfrm>
          <a:prstGeom prst="rect">
            <a:avLst/>
          </a:prstGeom>
          <a:noFill/>
          <a:ln/>
        </p:spPr>
        <p:txBody>
          <a:bodyPr wrap="square" lIns="0" tIns="0" rIns="0" bIns="0" rtlCol="0" anchor="t"/>
          <a:lstStyle/>
          <a:p>
            <a:pPr indent="0" marL="0">
              <a:buNone/>
            </a:pPr>
            <a:r>
              <a:rPr lang="en-US" sz="1100" dirty="0">
                <a:solidFill>
                  <a:srgbClr val="3A4356"/>
                </a:solidFill>
                <a:latin typeface="Calibri" pitchFamily="34" charset="0"/>
                <a:ea typeface="Calibri" pitchFamily="34" charset="-122"/>
                <a:cs typeface="Calibri" pitchFamily="34" charset="-120"/>
              </a:rPr>
              <a:t>Only the measurements from the previous slide — plus the part name and the shape signature. It never sees a price list, and it never sees the rate library.</a:t>
            </a:r>
            <a:endParaRPr lang="en-US" sz="1100" dirty="0"/>
          </a:p>
        </p:txBody>
      </p:sp>
      <p:sp>
        <p:nvSpPr>
          <p:cNvPr id="10" name="Text 8"/>
          <p:cNvSpPr/>
          <p:nvPr/>
        </p:nvSpPr>
        <p:spPr>
          <a:xfrm>
            <a:off x="685800" y="2267712"/>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IT SAYS BACK</a:t>
            </a:r>
            <a:endParaRPr lang="en-US" sz="1050" dirty="0"/>
          </a:p>
        </p:txBody>
      </p:sp>
      <p:sp>
        <p:nvSpPr>
          <p:cNvPr id="11" name="Text 9"/>
          <p:cNvSpPr/>
          <p:nvPr/>
        </p:nvSpPr>
        <p:spPr>
          <a:xfrm>
            <a:off x="777240" y="256032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Material family</a:t>
            </a:r>
            <a:endParaRPr lang="en-US" sz="1000" dirty="0"/>
          </a:p>
        </p:txBody>
      </p:sp>
      <p:sp>
        <p:nvSpPr>
          <p:cNvPr id="12" name="Text 10"/>
          <p:cNvSpPr/>
          <p:nvPr/>
        </p:nvSpPr>
        <p:spPr>
          <a:xfrm>
            <a:off x="2468880" y="256032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Aluminium die-casting alloy</a:t>
            </a:r>
            <a:endParaRPr lang="en-US" sz="1050" dirty="0"/>
          </a:p>
        </p:txBody>
      </p:sp>
      <p:sp>
        <p:nvSpPr>
          <p:cNvPr id="13" name="Text 11"/>
          <p:cNvSpPr/>
          <p:nvPr/>
        </p:nvSpPr>
        <p:spPr>
          <a:xfrm>
            <a:off x="777240" y="283464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How it is made</a:t>
            </a:r>
            <a:endParaRPr lang="en-US" sz="1000" dirty="0"/>
          </a:p>
        </p:txBody>
      </p:sp>
      <p:sp>
        <p:nvSpPr>
          <p:cNvPr id="14" name="Text 12"/>
          <p:cNvSpPr/>
          <p:nvPr/>
        </p:nvSpPr>
        <p:spPr>
          <a:xfrm>
            <a:off x="2468880" y="283464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High-pressure die cast</a:t>
            </a:r>
            <a:endParaRPr lang="en-US" sz="1050" dirty="0"/>
          </a:p>
        </p:txBody>
      </p:sp>
      <p:sp>
        <p:nvSpPr>
          <p:cNvPr id="15" name="Text 13"/>
          <p:cNvSpPr/>
          <p:nvPr/>
        </p:nvSpPr>
        <p:spPr>
          <a:xfrm>
            <a:off x="777240" y="310896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Then what</a:t>
            </a:r>
            <a:endParaRPr lang="en-US" sz="1000" dirty="0"/>
          </a:p>
        </p:txBody>
      </p:sp>
      <p:sp>
        <p:nvSpPr>
          <p:cNvPr id="16" name="Text 14"/>
          <p:cNvSpPr/>
          <p:nvPr/>
        </p:nvSpPr>
        <p:spPr>
          <a:xfrm>
            <a:off x="2468880" y="310896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Machine-finished on a cutting machine</a:t>
            </a:r>
            <a:endParaRPr lang="en-US" sz="1050" dirty="0"/>
          </a:p>
        </p:txBody>
      </p:sp>
      <p:sp>
        <p:nvSpPr>
          <p:cNvPr id="17" name="Text 15"/>
          <p:cNvSpPr/>
          <p:nvPr/>
        </p:nvSpPr>
        <p:spPr>
          <a:xfrm>
            <a:off x="777240" y="338328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How sure it is</a:t>
            </a:r>
            <a:endParaRPr lang="en-US" sz="1000" dirty="0"/>
          </a:p>
        </p:txBody>
      </p:sp>
      <p:sp>
        <p:nvSpPr>
          <p:cNvPr id="18" name="Text 16"/>
          <p:cNvSpPr/>
          <p:nvPr/>
        </p:nvSpPr>
        <p:spPr>
          <a:xfrm>
            <a:off x="2468880" y="338328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84% confident</a:t>
            </a:r>
            <a:endParaRPr lang="en-US" sz="1050" dirty="0"/>
          </a:p>
        </p:txBody>
      </p:sp>
      <p:sp>
        <p:nvSpPr>
          <p:cNvPr id="19" name="Shape 17"/>
          <p:cNvSpPr/>
          <p:nvPr/>
        </p:nvSpPr>
        <p:spPr>
          <a:xfrm>
            <a:off x="6172200" y="1188720"/>
            <a:ext cx="5559552" cy="2514600"/>
          </a:xfrm>
          <a:prstGeom prst="roundRect">
            <a:avLst>
              <a:gd name="adj" fmla="val 3636"/>
            </a:avLst>
          </a:prstGeom>
          <a:solidFill>
            <a:srgbClr val="FFFFFF"/>
          </a:solidFill>
          <a:ln w="19050">
            <a:solidFill>
              <a:srgbClr val="B03A2E"/>
            </a:solidFill>
            <a:prstDash val="solid"/>
          </a:ln>
        </p:spPr>
      </p:sp>
      <p:sp>
        <p:nvSpPr>
          <p:cNvPr id="20" name="Text 18"/>
          <p:cNvSpPr/>
          <p:nvPr/>
        </p:nvSpPr>
        <p:spPr>
          <a:xfrm>
            <a:off x="6400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B03A2E"/>
                </a:solidFill>
                <a:latin typeface="Calibri" pitchFamily="34" charset="0"/>
                <a:ea typeface="Calibri" pitchFamily="34" charset="-122"/>
                <a:cs typeface="Calibri" pitchFamily="34" charset="-120"/>
              </a:rPr>
              <a:t>WHAT THE AI CANNOT DO</a:t>
            </a:r>
            <a:endParaRPr lang="en-US" sz="1050" dirty="0"/>
          </a:p>
        </p:txBody>
      </p:sp>
      <p:pic>
        <p:nvPicPr>
          <p:cNvPr id="21" name="Image 0" descr="preencoded.png">    </p:cNvPr>
          <p:cNvPicPr>
            <a:picLocks noChangeAspect="1"/>
          </p:cNvPicPr>
          <p:nvPr/>
        </p:nvPicPr>
        <p:blipFill>
          <a:blip r:embed="rId1"/>
          <a:stretch>
            <a:fillRect/>
          </a:stretch>
        </p:blipFill>
        <p:spPr>
          <a:xfrm>
            <a:off x="6400800" y="1691640"/>
            <a:ext cx="155448" cy="155448"/>
          </a:xfrm>
          <a:prstGeom prst="rect">
            <a:avLst/>
          </a:prstGeom>
        </p:spPr>
      </p:pic>
      <p:sp>
        <p:nvSpPr>
          <p:cNvPr id="22" name="Text 19"/>
          <p:cNvSpPr/>
          <p:nvPr/>
        </p:nvSpPr>
        <p:spPr>
          <a:xfrm>
            <a:off x="6675120" y="162763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Set a price, or any part of a price</a:t>
            </a:r>
            <a:endParaRPr lang="en-US" sz="1150" dirty="0"/>
          </a:p>
        </p:txBody>
      </p:sp>
      <p:pic>
        <p:nvPicPr>
          <p:cNvPr id="23" name="Image 1" descr="preencoded.png">    </p:cNvPr>
          <p:cNvPicPr>
            <a:picLocks noChangeAspect="1"/>
          </p:cNvPicPr>
          <p:nvPr/>
        </p:nvPicPr>
        <p:blipFill>
          <a:blip r:embed="rId2"/>
          <a:stretch>
            <a:fillRect/>
          </a:stretch>
        </p:blipFill>
        <p:spPr>
          <a:xfrm>
            <a:off x="6400800" y="2057400"/>
            <a:ext cx="155448" cy="155448"/>
          </a:xfrm>
          <a:prstGeom prst="rect">
            <a:avLst/>
          </a:prstGeom>
        </p:spPr>
      </p:pic>
      <p:sp>
        <p:nvSpPr>
          <p:cNvPr id="24" name="Text 20"/>
          <p:cNvSpPr/>
          <p:nvPr/>
        </p:nvSpPr>
        <p:spPr>
          <a:xfrm>
            <a:off x="6675120" y="199339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Change a measured dimension or weight</a:t>
            </a:r>
            <a:endParaRPr lang="en-US" sz="1150" dirty="0"/>
          </a:p>
        </p:txBody>
      </p:sp>
      <p:pic>
        <p:nvPicPr>
          <p:cNvPr id="25" name="Image 2" descr="preencoded.png">    </p:cNvPr>
          <p:cNvPicPr>
            <a:picLocks noChangeAspect="1"/>
          </p:cNvPicPr>
          <p:nvPr/>
        </p:nvPicPr>
        <p:blipFill>
          <a:blip r:embed="rId3"/>
          <a:stretch>
            <a:fillRect/>
          </a:stretch>
        </p:blipFill>
        <p:spPr>
          <a:xfrm>
            <a:off x="6400800" y="2423160"/>
            <a:ext cx="155448" cy="155448"/>
          </a:xfrm>
          <a:prstGeom prst="rect">
            <a:avLst/>
          </a:prstGeom>
        </p:spPr>
      </p:pic>
      <p:sp>
        <p:nvSpPr>
          <p:cNvPr id="26" name="Text 21"/>
          <p:cNvSpPr/>
          <p:nvPr/>
        </p:nvSpPr>
        <p:spPr>
          <a:xfrm>
            <a:off x="6675120" y="235915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Choose the machine or the cycle time</a:t>
            </a:r>
            <a:endParaRPr lang="en-US" sz="1150" dirty="0"/>
          </a:p>
        </p:txBody>
      </p:sp>
      <p:pic>
        <p:nvPicPr>
          <p:cNvPr id="27" name="Image 3" descr="preencoded.png">    </p:cNvPr>
          <p:cNvPicPr>
            <a:picLocks noChangeAspect="1"/>
          </p:cNvPicPr>
          <p:nvPr/>
        </p:nvPicPr>
        <p:blipFill>
          <a:blip r:embed="rId4"/>
          <a:stretch>
            <a:fillRect/>
          </a:stretch>
        </p:blipFill>
        <p:spPr>
          <a:xfrm>
            <a:off x="6400800" y="2788920"/>
            <a:ext cx="155448" cy="155448"/>
          </a:xfrm>
          <a:prstGeom prst="rect">
            <a:avLst/>
          </a:prstGeom>
        </p:spPr>
      </p:pic>
      <p:sp>
        <p:nvSpPr>
          <p:cNvPr id="28" name="Text 22"/>
          <p:cNvSpPr/>
          <p:nvPr/>
        </p:nvSpPr>
        <p:spPr>
          <a:xfrm>
            <a:off x="6675120" y="272491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Touch the rate library</a:t>
            </a:r>
            <a:endParaRPr lang="en-US" sz="1150" dirty="0"/>
          </a:p>
        </p:txBody>
      </p:sp>
      <p:pic>
        <p:nvPicPr>
          <p:cNvPr id="29" name="Image 4" descr="preencoded.png">    </p:cNvPr>
          <p:cNvPicPr>
            <a:picLocks noChangeAspect="1"/>
          </p:cNvPicPr>
          <p:nvPr/>
        </p:nvPicPr>
        <p:blipFill>
          <a:blip r:embed="rId5"/>
          <a:stretch>
            <a:fillRect/>
          </a:stretch>
        </p:blipFill>
        <p:spPr>
          <a:xfrm>
            <a:off x="6400800" y="3154680"/>
            <a:ext cx="155448" cy="155448"/>
          </a:xfrm>
          <a:prstGeom prst="rect">
            <a:avLst/>
          </a:prstGeom>
        </p:spPr>
      </p:pic>
      <p:sp>
        <p:nvSpPr>
          <p:cNvPr id="30" name="Text 23"/>
          <p:cNvSpPr/>
          <p:nvPr/>
        </p:nvSpPr>
        <p:spPr>
          <a:xfrm>
            <a:off x="6675120" y="309067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Override a safety check</a:t>
            </a:r>
            <a:endParaRPr lang="en-US" sz="1150" dirty="0"/>
          </a:p>
        </p:txBody>
      </p:sp>
      <p:sp>
        <p:nvSpPr>
          <p:cNvPr id="31" name="Shape 24"/>
          <p:cNvSpPr/>
          <p:nvPr/>
        </p:nvSpPr>
        <p:spPr>
          <a:xfrm>
            <a:off x="457200" y="3913632"/>
            <a:ext cx="11274552" cy="1143000"/>
          </a:xfrm>
          <a:prstGeom prst="roundRect">
            <a:avLst>
              <a:gd name="adj" fmla="val 8000"/>
            </a:avLst>
          </a:prstGeom>
          <a:solidFill>
            <a:srgbClr val="FFFFFF"/>
          </a:solidFill>
          <a:ln w="12700">
            <a:solidFill>
              <a:srgbClr val="DCE3EE"/>
            </a:solidFill>
            <a:prstDash val="solid"/>
          </a:ln>
        </p:spPr>
      </p:sp>
      <p:sp>
        <p:nvSpPr>
          <p:cNvPr id="32" name="Text 25"/>
          <p:cNvSpPr/>
          <p:nvPr/>
        </p:nvSpPr>
        <p:spPr>
          <a:xfrm>
            <a:off x="731520" y="4041648"/>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confidence score is not decoration — it changes what happens next</a:t>
            </a:r>
            <a:endParaRPr lang="en-US" sz="1250" dirty="0"/>
          </a:p>
        </p:txBody>
      </p:sp>
      <p:sp>
        <p:nvSpPr>
          <p:cNvPr id="33" name="Text 26"/>
          <p:cNvSpPr/>
          <p:nvPr/>
        </p:nvSpPr>
        <p:spPr>
          <a:xfrm>
            <a:off x="731520" y="4343400"/>
            <a:ext cx="10744200" cy="65836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At 84% the tool proceeds but flags the call for review. Below 50% a hard rule fires — "material suggestion is only N% confident, add a part photo or confirm the material manually" — and it stays on the result until a person clears it. </a:t>
            </a:r>
            <a:pPr indent="0" marL="0">
              <a:buNone/>
            </a:pPr>
            <a:r>
              <a:rPr lang="en-US" sz="1150" b="1" dirty="0">
                <a:solidFill>
                  <a:srgbClr val="16325C"/>
                </a:solidFill>
                <a:latin typeface="Calibri" pitchFamily="34" charset="0"/>
                <a:ea typeface="Calibri" pitchFamily="34" charset="-122"/>
                <a:cs typeface="Calibri" pitchFamily="34" charset="-120"/>
              </a:rPr>
              <a:t>A confident-sounding wrong answer is the most dangerous thing an AI can produce — so uncertainty is made visible rather than smoothed over.</a:t>
            </a:r>
            <a:endParaRPr lang="en-US" sz="1150" dirty="0"/>
          </a:p>
        </p:txBody>
      </p:sp>
      <p:sp>
        <p:nvSpPr>
          <p:cNvPr id="34" name="Shape 27"/>
          <p:cNvSpPr/>
          <p:nvPr/>
        </p:nvSpPr>
        <p:spPr>
          <a:xfrm>
            <a:off x="457200" y="5212080"/>
            <a:ext cx="11274552" cy="822960"/>
          </a:xfrm>
          <a:prstGeom prst="roundRect">
            <a:avLst>
              <a:gd name="adj" fmla="val 11111"/>
            </a:avLst>
          </a:prstGeom>
          <a:solidFill>
            <a:srgbClr val="EAF6EF"/>
          </a:solidFill>
          <a:ln w="12700">
            <a:solidFill>
              <a:srgbClr val="2E8B57"/>
            </a:solidFill>
            <a:prstDash val="solid"/>
          </a:ln>
        </p:spPr>
      </p:sp>
      <p:sp>
        <p:nvSpPr>
          <p:cNvPr id="35" name="Text 28"/>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In plain terms: </a:t>
            </a:r>
            <a:pPr indent="0" marL="0">
              <a:buNone/>
            </a:pPr>
            <a:r>
              <a:rPr lang="en-US" sz="1200" dirty="0">
                <a:solidFill>
                  <a:srgbClr val="3A4356"/>
                </a:solidFill>
                <a:latin typeface="Calibri" pitchFamily="34" charset="0"/>
                <a:ea typeface="Calibri" pitchFamily="34" charset="-122"/>
                <a:cs typeface="Calibri" pitchFamily="34" charset="-120"/>
              </a:rPr>
              <a:t>the AI does the job an experienced engineer does in the first ten seconds of picking up a part — "ah, that's a die-cast housing, that'll be machined after". It saves setup time. It does not do the costing, and it cannot.</a:t>
            </a:r>
            <a:endParaRPr lang="en-US" sz="1200" dirty="0"/>
          </a:p>
        </p:txBody>
      </p:sp>
      <p:sp>
        <p:nvSpPr>
          <p:cNvPr id="36" name="Text 2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5–6 · The Safety Checks — and Autocorrect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checks ran on this part before a single pound was calculated</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B7791F"/>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1417320"/>
          </a:xfrm>
          <a:prstGeom prst="roundRect">
            <a:avLst>
              <a:gd name="adj" fmla="val 5806"/>
            </a:avLst>
          </a:prstGeom>
          <a:solidFill>
            <a:srgbClr val="FFFFFF"/>
          </a:solidFill>
          <a:ln w="12700">
            <a:solidFill>
              <a:srgbClr val="DCE3EE"/>
            </a:solidFill>
            <a:prstDash val="solid"/>
          </a:ln>
        </p:spPr>
      </p:sp>
      <p:sp>
        <p:nvSpPr>
          <p:cNvPr id="8" name="Text 6"/>
          <p:cNvSpPr/>
          <p:nvPr/>
        </p:nvSpPr>
        <p:spPr>
          <a:xfrm>
            <a:off x="658368" y="1271016"/>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1 · Buy the metal you actually pour</a:t>
            </a:r>
            <a:endParaRPr lang="en-US" sz="1200" dirty="0"/>
          </a:p>
        </p:txBody>
      </p:sp>
      <p:sp>
        <p:nvSpPr>
          <p:cNvPr id="9" name="Text 7"/>
          <p:cNvSpPr/>
          <p:nvPr/>
        </p:nvSpPr>
        <p:spPr>
          <a:xfrm>
            <a:off x="658368"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buy 2.8 kg — the part weight.</a:t>
            </a:r>
            <a:endParaRPr lang="en-US" sz="980" dirty="0"/>
          </a:p>
        </p:txBody>
      </p:sp>
      <p:sp>
        <p:nvSpPr>
          <p:cNvPr id="10" name="Text 8"/>
          <p:cNvSpPr/>
          <p:nvPr/>
        </p:nvSpPr>
        <p:spPr>
          <a:xfrm>
            <a:off x="658368" y="1783080"/>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Corrected to 4.83 kg. To sell a 2.8 kg casting the supplier pours 4.83 kg; the rest runs down the feed channels and is recycled at scrap value.</a:t>
            </a:r>
            <a:endParaRPr lang="en-US" sz="980" dirty="0"/>
          </a:p>
        </p:txBody>
      </p:sp>
      <p:sp>
        <p:nvSpPr>
          <p:cNvPr id="11" name="Text 9"/>
          <p:cNvSpPr/>
          <p:nvPr/>
        </p:nvSpPr>
        <p:spPr>
          <a:xfrm>
            <a:off x="658368" y="2313432"/>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The single most common casting cost error.</a:t>
            </a:r>
            <a:endParaRPr lang="en-US" sz="900" dirty="0"/>
          </a:p>
        </p:txBody>
      </p:sp>
      <p:sp>
        <p:nvSpPr>
          <p:cNvPr id="12" name="Shape 10"/>
          <p:cNvSpPr/>
          <p:nvPr/>
        </p:nvSpPr>
        <p:spPr>
          <a:xfrm>
            <a:off x="6245352" y="1188720"/>
            <a:ext cx="5486400" cy="1417320"/>
          </a:xfrm>
          <a:prstGeom prst="roundRect">
            <a:avLst>
              <a:gd name="adj" fmla="val 5806"/>
            </a:avLst>
          </a:prstGeom>
          <a:solidFill>
            <a:srgbClr val="FFFFFF"/>
          </a:solidFill>
          <a:ln w="12700">
            <a:solidFill>
              <a:srgbClr val="DCE3EE"/>
            </a:solidFill>
            <a:prstDash val="solid"/>
          </a:ln>
        </p:spPr>
      </p:sp>
      <p:sp>
        <p:nvSpPr>
          <p:cNvPr id="13" name="Text 11"/>
          <p:cNvSpPr/>
          <p:nvPr/>
        </p:nvSpPr>
        <p:spPr>
          <a:xfrm>
            <a:off x="6446520" y="1271016"/>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2 · Machining is finishing, not carving</a:t>
            </a:r>
            <a:endParaRPr lang="en-US" sz="1200" dirty="0"/>
          </a:p>
        </p:txBody>
      </p:sp>
      <p:sp>
        <p:nvSpPr>
          <p:cNvPr id="14" name="Text 12"/>
          <p:cNvSpPr/>
          <p:nvPr/>
        </p:nvSpPr>
        <p:spPr>
          <a:xfrm>
            <a:off x="6446520"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machine the shape out of metal.</a:t>
            </a:r>
            <a:endParaRPr lang="en-US" sz="980" dirty="0"/>
          </a:p>
        </p:txBody>
      </p:sp>
      <p:sp>
        <p:nvSpPr>
          <p:cNvPr id="15" name="Text 13"/>
          <p:cNvSpPr/>
          <p:nvPr/>
        </p:nvSpPr>
        <p:spPr>
          <a:xfrm>
            <a:off x="6446520" y="1783080"/>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Capped to a finish envelope: 0.10 hr setup + 0.07 hr/kg. For 2.8 kg that is a 0.30 hr ceiling; this part's 0.27 hr of cutting sits just inside it.</a:t>
            </a:r>
            <a:endParaRPr lang="en-US" sz="980" dirty="0"/>
          </a:p>
        </p:txBody>
      </p:sp>
      <p:sp>
        <p:nvSpPr>
          <p:cNvPr id="16" name="Text 14"/>
          <p:cNvSpPr/>
          <p:nvPr/>
        </p:nvSpPr>
        <p:spPr>
          <a:xfrm>
            <a:off x="6446520" y="2313432"/>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Prevents roughly doubling the cost.</a:t>
            </a:r>
            <a:endParaRPr lang="en-US" sz="900" dirty="0"/>
          </a:p>
        </p:txBody>
      </p:sp>
      <p:sp>
        <p:nvSpPr>
          <p:cNvPr id="17" name="Shape 15"/>
          <p:cNvSpPr/>
          <p:nvPr/>
        </p:nvSpPr>
        <p:spPr>
          <a:xfrm>
            <a:off x="457200" y="2761488"/>
            <a:ext cx="5486400" cy="1417320"/>
          </a:xfrm>
          <a:prstGeom prst="roundRect">
            <a:avLst>
              <a:gd name="adj" fmla="val 5806"/>
            </a:avLst>
          </a:prstGeom>
          <a:solidFill>
            <a:srgbClr val="FFFFFF"/>
          </a:solidFill>
          <a:ln w="12700">
            <a:solidFill>
              <a:srgbClr val="DCE3EE"/>
            </a:solidFill>
            <a:prstDash val="solid"/>
          </a:ln>
        </p:spPr>
      </p:sp>
      <p:sp>
        <p:nvSpPr>
          <p:cNvPr id="18" name="Text 16"/>
          <p:cNvSpPr/>
          <p:nvPr/>
        </p:nvSpPr>
        <p:spPr>
          <a:xfrm>
            <a:off x="658368" y="2843784"/>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3 · Use a real die-casting alloy</a:t>
            </a:r>
            <a:endParaRPr lang="en-US" sz="1200" dirty="0"/>
          </a:p>
        </p:txBody>
      </p:sp>
      <p:sp>
        <p:nvSpPr>
          <p:cNvPr id="19" name="Text 17"/>
          <p:cNvSpPr/>
          <p:nvPr/>
        </p:nvSpPr>
        <p:spPr>
          <a:xfrm>
            <a:off x="658368"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a generic or wrought aluminium grade.</a:t>
            </a:r>
            <a:endParaRPr lang="en-US" sz="980" dirty="0"/>
          </a:p>
        </p:txBody>
      </p:sp>
      <p:sp>
        <p:nvSpPr>
          <p:cNvPr id="20" name="Text 18"/>
          <p:cNvSpPr/>
          <p:nvPr/>
        </p:nvSpPr>
        <p:spPr>
          <a:xfrm>
            <a:off x="658368" y="3355848"/>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Redirected to a genuine die-casting alloy. A machined face can tempt the model toward "machined from solid billet" — the guard keeps casting as the primary process.</a:t>
            </a:r>
            <a:endParaRPr lang="en-US" sz="980" dirty="0"/>
          </a:p>
        </p:txBody>
      </p:sp>
      <p:sp>
        <p:nvSpPr>
          <p:cNvPr id="21" name="Text 19"/>
          <p:cNvSpPr/>
          <p:nvPr/>
        </p:nvSpPr>
        <p:spPr>
          <a:xfrm>
            <a:off x="658368" y="3886200"/>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Wrong alloy = wrong price per kilo.</a:t>
            </a:r>
            <a:endParaRPr lang="en-US" sz="900" dirty="0"/>
          </a:p>
        </p:txBody>
      </p:sp>
      <p:sp>
        <p:nvSpPr>
          <p:cNvPr id="22" name="Shape 20"/>
          <p:cNvSpPr/>
          <p:nvPr/>
        </p:nvSpPr>
        <p:spPr>
          <a:xfrm>
            <a:off x="6245352" y="2761488"/>
            <a:ext cx="5486400" cy="1417320"/>
          </a:xfrm>
          <a:prstGeom prst="roundRect">
            <a:avLst>
              <a:gd name="adj" fmla="val 5806"/>
            </a:avLst>
          </a:prstGeom>
          <a:solidFill>
            <a:srgbClr val="FFFFFF"/>
          </a:solidFill>
          <a:ln w="12700">
            <a:solidFill>
              <a:srgbClr val="DCE3EE"/>
            </a:solidFill>
            <a:prstDash val="solid"/>
          </a:ln>
        </p:spPr>
      </p:sp>
      <p:sp>
        <p:nvSpPr>
          <p:cNvPr id="23" name="Text 21"/>
          <p:cNvSpPr/>
          <p:nvPr/>
        </p:nvSpPr>
        <p:spPr>
          <a:xfrm>
            <a:off x="6446520" y="2843784"/>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4 · Size the machine to the part</a:t>
            </a:r>
            <a:endParaRPr lang="en-US" sz="1200" dirty="0"/>
          </a:p>
        </p:txBody>
      </p:sp>
      <p:sp>
        <p:nvSpPr>
          <p:cNvPr id="24" name="Text 22"/>
          <p:cNvSpPr/>
          <p:nvPr/>
        </p:nvSpPr>
        <p:spPr>
          <a:xfrm>
            <a:off x="6446520"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use a default press.</a:t>
            </a:r>
            <a:endParaRPr lang="en-US" sz="980" dirty="0"/>
          </a:p>
        </p:txBody>
      </p:sp>
      <p:sp>
        <p:nvSpPr>
          <p:cNvPr id="25" name="Text 23"/>
          <p:cNvSpPr/>
          <p:nvPr/>
        </p:nvSpPr>
        <p:spPr>
          <a:xfrm>
            <a:off x="6446520" y="3355848"/>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Sized to 1,600 t off the ladder 160 / 500 / 800 / 1,600 / 6,100 / 9,000 t — the smallest press that clamps the part, at £137.55/hr.</a:t>
            </a:r>
            <a:endParaRPr lang="en-US" sz="980" dirty="0"/>
          </a:p>
        </p:txBody>
      </p:sp>
      <p:sp>
        <p:nvSpPr>
          <p:cNvPr id="26" name="Text 24"/>
          <p:cNvSpPr/>
          <p:nvPr/>
        </p:nvSpPr>
        <p:spPr>
          <a:xfrm>
            <a:off x="6446520" y="3886200"/>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Explained in full on the next slide.</a:t>
            </a:r>
            <a:endParaRPr lang="en-US" sz="900" dirty="0"/>
          </a:p>
        </p:txBody>
      </p:sp>
      <p:sp>
        <p:nvSpPr>
          <p:cNvPr id="27" name="Shape 25"/>
          <p:cNvSpPr/>
          <p:nvPr/>
        </p:nvSpPr>
        <p:spPr>
          <a:xfrm>
            <a:off x="457200" y="4407408"/>
            <a:ext cx="11274552" cy="960120"/>
          </a:xfrm>
          <a:prstGeom prst="roundRect">
            <a:avLst>
              <a:gd name="adj" fmla="val 9524"/>
            </a:avLst>
          </a:prstGeom>
          <a:solidFill>
            <a:srgbClr val="FCF3E3"/>
          </a:solidFill>
          <a:ln w="15875">
            <a:solidFill>
              <a:srgbClr val="B7791F"/>
            </a:solidFill>
            <a:prstDash val="solid"/>
          </a:ln>
        </p:spPr>
      </p:sp>
      <p:pic>
        <p:nvPicPr>
          <p:cNvPr id="28" name="Image 0" descr="preencoded.png">    </p:cNvPr>
          <p:cNvPicPr>
            <a:picLocks noChangeAspect="1"/>
          </p:cNvPicPr>
          <p:nvPr/>
        </p:nvPicPr>
        <p:blipFill>
          <a:blip r:embed="rId1"/>
          <a:stretch>
            <a:fillRect/>
          </a:stretch>
        </p:blipFill>
        <p:spPr>
          <a:xfrm>
            <a:off x="713232" y="4654296"/>
            <a:ext cx="274320" cy="274320"/>
          </a:xfrm>
          <a:prstGeom prst="rect">
            <a:avLst/>
          </a:prstGeom>
        </p:spPr>
      </p:pic>
      <p:sp>
        <p:nvSpPr>
          <p:cNvPr id="29" name="Text 26"/>
          <p:cNvSpPr/>
          <p:nvPr/>
        </p:nvSpPr>
        <p:spPr>
          <a:xfrm>
            <a:off x="1097280" y="4526280"/>
            <a:ext cx="10424160" cy="77724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This is the autocorrect. </a:t>
            </a:r>
            <a:pPr indent="0" marL="0">
              <a:buNone/>
            </a:pPr>
            <a:r>
              <a:rPr lang="en-US" sz="1200" dirty="0">
                <a:solidFill>
                  <a:srgbClr val="3A4356"/>
                </a:solidFill>
                <a:latin typeface="Calibri" pitchFamily="34" charset="0"/>
                <a:ea typeface="Calibri" pitchFamily="34" charset="-122"/>
                <a:cs typeface="Calibri" pitchFamily="34" charset="-120"/>
              </a:rPr>
              <a:t>When the AI and the measurements disagree, </a:t>
            </a:r>
            <a:pPr indent="0" marL="0">
              <a:buNone/>
            </a:pPr>
            <a:r>
              <a:rPr lang="en-US" sz="1200" b="1" dirty="0">
                <a:solidFill>
                  <a:srgbClr val="16325C"/>
                </a:solidFill>
                <a:latin typeface="Calibri" pitchFamily="34" charset="0"/>
                <a:ea typeface="Calibri" pitchFamily="34" charset="-122"/>
                <a:cs typeface="Calibri" pitchFamily="34" charset="-120"/>
              </a:rPr>
              <a:t>the measurements win — automatically, every time. </a:t>
            </a:r>
            <a:pPr indent="0" marL="0">
              <a:buNone/>
            </a:pPr>
            <a:r>
              <a:rPr lang="en-US" sz="1200" dirty="0">
                <a:solidFill>
                  <a:srgbClr val="3A4356"/>
                </a:solidFill>
                <a:latin typeface="Calibri" pitchFamily="34" charset="0"/>
                <a:ea typeface="Calibri" pitchFamily="34" charset="-122"/>
                <a:cs typeface="Calibri" pitchFamily="34" charset="-120"/>
              </a:rPr>
              <a:t>The tool corrects the input, records what it changed and why, and shows the engineer. It never proceeds silently.</a:t>
            </a:r>
            <a:endParaRPr lang="en-US" sz="1200" dirty="0"/>
          </a:p>
        </p:txBody>
      </p:sp>
      <p:sp>
        <p:nvSpPr>
          <p:cNvPr id="30" name="Shape 27"/>
          <p:cNvSpPr/>
          <p:nvPr/>
        </p:nvSpPr>
        <p:spPr>
          <a:xfrm>
            <a:off x="457200" y="5504688"/>
            <a:ext cx="11274552" cy="777240"/>
          </a:xfrm>
          <a:prstGeom prst="roundRect">
            <a:avLst>
              <a:gd name="adj" fmla="val 11765"/>
            </a:avLst>
          </a:prstGeom>
          <a:solidFill>
            <a:srgbClr val="FFFFFF"/>
          </a:solidFill>
          <a:ln w="12700">
            <a:solidFill>
              <a:srgbClr val="DCE3EE"/>
            </a:solidFill>
            <a:prstDash val="solid"/>
          </a:ln>
        </p:spPr>
      </p:sp>
      <p:sp>
        <p:nvSpPr>
          <p:cNvPr id="31" name="Text 28"/>
          <p:cNvSpPr/>
          <p:nvPr/>
        </p:nvSpPr>
        <p:spPr>
          <a:xfrm>
            <a:off x="731520" y="5614416"/>
            <a:ext cx="10744200" cy="59436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Why four checks and not one?  </a:t>
            </a:r>
            <a:pPr indent="0" marL="0">
              <a:buNone/>
            </a:pPr>
            <a:r>
              <a:rPr lang="en-US" sz="1150" dirty="0">
                <a:solidFill>
                  <a:srgbClr val="3A4356"/>
                </a:solidFill>
                <a:latin typeface="Calibri" pitchFamily="34" charset="0"/>
                <a:ea typeface="Calibri" pitchFamily="34" charset="-122"/>
                <a:cs typeface="Calibri" pitchFamily="34" charset="-120"/>
              </a:rPr>
              <a:t>Because a cast-and-machined part has four distinct ways of going wrong. Each guard is written for one specific, known failure — they are not a generic "sanity check", they are four separate lessons from real costing mistakes.</a:t>
            </a:r>
            <a:endParaRPr lang="en-US" sz="1150" dirty="0"/>
          </a:p>
        </p:txBody>
      </p:sp>
      <p:sp>
        <p:nvSpPr>
          <p:cNvPr id="32" name="Text 2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3" name="Text 3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7 · Choosing the Process and the Machine</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Why high-pressure die casting, and why a 1,600-tonne press</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2286000"/>
          </a:xfrm>
          <a:prstGeom prst="roundRect">
            <a:avLst>
              <a:gd name="adj" fmla="val 4000"/>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A · Why this process, not another</a:t>
            </a:r>
            <a:endParaRPr lang="en-US" sz="1300" dirty="0"/>
          </a:p>
        </p:txBody>
      </p:sp>
      <p:sp>
        <p:nvSpPr>
          <p:cNvPr id="9" name="Text 7"/>
          <p:cNvSpPr/>
          <p:nvPr/>
        </p:nvSpPr>
        <p:spPr>
          <a:xfrm>
            <a:off x="685800" y="1609344"/>
            <a:ext cx="502920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The engine tests the measured shape against what each process can physically do:</a:t>
            </a:r>
            <a:endParaRPr lang="en-US" sz="1050" dirty="0"/>
          </a:p>
        </p:txBody>
      </p:sp>
      <p:sp>
        <p:nvSpPr>
          <p:cNvPr id="10" name="Shape 8"/>
          <p:cNvSpPr/>
          <p:nvPr/>
        </p:nvSpPr>
        <p:spPr>
          <a:xfrm>
            <a:off x="685800" y="1975104"/>
            <a:ext cx="658368" cy="274320"/>
          </a:xfrm>
          <a:prstGeom prst="roundRect">
            <a:avLst>
              <a:gd name="adj" fmla="val 50000"/>
            </a:avLst>
          </a:prstGeom>
          <a:solidFill>
            <a:srgbClr val="EAF6EF"/>
          </a:solidFill>
          <a:ln w="9525">
            <a:solidFill>
              <a:srgbClr val="2E8B57"/>
            </a:solidFill>
            <a:prstDash val="solid"/>
          </a:ln>
        </p:spPr>
      </p:sp>
      <p:sp>
        <p:nvSpPr>
          <p:cNvPr id="11" name="Text 9"/>
          <p:cNvSpPr/>
          <p:nvPr/>
        </p:nvSpPr>
        <p:spPr>
          <a:xfrm>
            <a:off x="685800" y="1975104"/>
            <a:ext cx="658368" cy="274320"/>
          </a:xfrm>
          <a:prstGeom prst="rect">
            <a:avLst/>
          </a:prstGeom>
          <a:noFill/>
          <a:ln/>
        </p:spPr>
        <p:txBody>
          <a:bodyPr wrap="square" lIns="0" tIns="0" rIns="0" bIns="0" rtlCol="0" anchor="ctr"/>
          <a:lstStyle/>
          <a:p>
            <a:pPr algn="ctr" indent="0" marL="0">
              <a:buNone/>
            </a:pPr>
            <a:r>
              <a:rPr lang="en-US" sz="680" b="1" dirty="0">
                <a:solidFill>
                  <a:srgbClr val="2E8B57"/>
                </a:solidFill>
                <a:latin typeface="Calibri" pitchFamily="34" charset="0"/>
                <a:ea typeface="Calibri" pitchFamily="34" charset="-122"/>
                <a:cs typeface="Calibri" pitchFamily="34" charset="-120"/>
              </a:rPr>
              <a:t>CHOSEN</a:t>
            </a:r>
            <a:endParaRPr lang="en-US" sz="680" dirty="0"/>
          </a:p>
        </p:txBody>
      </p:sp>
      <p:sp>
        <p:nvSpPr>
          <p:cNvPr id="12" name="Text 10"/>
          <p:cNvSpPr/>
          <p:nvPr/>
        </p:nvSpPr>
        <p:spPr>
          <a:xfrm>
            <a:off x="1444752" y="1975104"/>
            <a:ext cx="2103120" cy="27432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High-pressure die casting</a:t>
            </a:r>
            <a:endParaRPr lang="en-US" sz="1000" dirty="0"/>
          </a:p>
        </p:txBody>
      </p:sp>
      <p:sp>
        <p:nvSpPr>
          <p:cNvPr id="13" name="Text 11"/>
          <p:cNvSpPr/>
          <p:nvPr/>
        </p:nvSpPr>
        <p:spPr>
          <a:xfrm>
            <a:off x="3566160" y="197510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thin walls + hollow + 60k/yr</a:t>
            </a:r>
            <a:endParaRPr lang="en-US" sz="880" dirty="0"/>
          </a:p>
        </p:txBody>
      </p:sp>
      <p:sp>
        <p:nvSpPr>
          <p:cNvPr id="14" name="Shape 12"/>
          <p:cNvSpPr/>
          <p:nvPr/>
        </p:nvSpPr>
        <p:spPr>
          <a:xfrm>
            <a:off x="685800" y="2340864"/>
            <a:ext cx="658368" cy="274320"/>
          </a:xfrm>
          <a:prstGeom prst="roundRect">
            <a:avLst>
              <a:gd name="adj" fmla="val 50000"/>
            </a:avLst>
          </a:prstGeom>
          <a:solidFill>
            <a:srgbClr val="F4F7FB"/>
          </a:solidFill>
          <a:ln w="9525">
            <a:solidFill>
              <a:srgbClr val="DCE3EE"/>
            </a:solidFill>
            <a:prstDash val="solid"/>
          </a:ln>
        </p:spPr>
      </p:sp>
      <p:sp>
        <p:nvSpPr>
          <p:cNvPr id="15" name="Text 13"/>
          <p:cNvSpPr/>
          <p:nvPr/>
        </p:nvSpPr>
        <p:spPr>
          <a:xfrm>
            <a:off x="685800" y="234086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16" name="Text 14"/>
          <p:cNvSpPr/>
          <p:nvPr/>
        </p:nvSpPr>
        <p:spPr>
          <a:xfrm>
            <a:off x="1444752" y="234086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Sand casting</a:t>
            </a:r>
            <a:endParaRPr lang="en-US" sz="1000" dirty="0"/>
          </a:p>
        </p:txBody>
      </p:sp>
      <p:sp>
        <p:nvSpPr>
          <p:cNvPr id="17" name="Text 15"/>
          <p:cNvSpPr/>
          <p:nvPr/>
        </p:nvSpPr>
        <p:spPr>
          <a:xfrm>
            <a:off x="3566160" y="234086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slow and rough for 3 mm walls at this volume</a:t>
            </a:r>
            <a:endParaRPr lang="en-US" sz="880" dirty="0"/>
          </a:p>
        </p:txBody>
      </p:sp>
      <p:sp>
        <p:nvSpPr>
          <p:cNvPr id="18" name="Shape 16"/>
          <p:cNvSpPr/>
          <p:nvPr/>
        </p:nvSpPr>
        <p:spPr>
          <a:xfrm>
            <a:off x="685800" y="2706624"/>
            <a:ext cx="658368" cy="274320"/>
          </a:xfrm>
          <a:prstGeom prst="roundRect">
            <a:avLst>
              <a:gd name="adj" fmla="val 50000"/>
            </a:avLst>
          </a:prstGeom>
          <a:solidFill>
            <a:srgbClr val="F4F7FB"/>
          </a:solidFill>
          <a:ln w="9525">
            <a:solidFill>
              <a:srgbClr val="DCE3EE"/>
            </a:solidFill>
            <a:prstDash val="solid"/>
          </a:ln>
        </p:spPr>
      </p:sp>
      <p:sp>
        <p:nvSpPr>
          <p:cNvPr id="19" name="Text 17"/>
          <p:cNvSpPr/>
          <p:nvPr/>
        </p:nvSpPr>
        <p:spPr>
          <a:xfrm>
            <a:off x="685800" y="270662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20" name="Text 18"/>
          <p:cNvSpPr/>
          <p:nvPr/>
        </p:nvSpPr>
        <p:spPr>
          <a:xfrm>
            <a:off x="1444752" y="270662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Machined from solid billet</a:t>
            </a:r>
            <a:endParaRPr lang="en-US" sz="1000" dirty="0"/>
          </a:p>
        </p:txBody>
      </p:sp>
      <p:sp>
        <p:nvSpPr>
          <p:cNvPr id="21" name="Text 19"/>
          <p:cNvSpPr/>
          <p:nvPr/>
        </p:nvSpPr>
        <p:spPr>
          <a:xfrm>
            <a:off x="3566160" y="270662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would cut away ~80% of the metal — absurd cost</a:t>
            </a:r>
            <a:endParaRPr lang="en-US" sz="880" dirty="0"/>
          </a:p>
        </p:txBody>
      </p:sp>
      <p:sp>
        <p:nvSpPr>
          <p:cNvPr id="22" name="Shape 20"/>
          <p:cNvSpPr/>
          <p:nvPr/>
        </p:nvSpPr>
        <p:spPr>
          <a:xfrm>
            <a:off x="685800" y="3072384"/>
            <a:ext cx="658368" cy="274320"/>
          </a:xfrm>
          <a:prstGeom prst="roundRect">
            <a:avLst>
              <a:gd name="adj" fmla="val 50000"/>
            </a:avLst>
          </a:prstGeom>
          <a:solidFill>
            <a:srgbClr val="F4F7FB"/>
          </a:solidFill>
          <a:ln w="9525">
            <a:solidFill>
              <a:srgbClr val="DCE3EE"/>
            </a:solidFill>
            <a:prstDash val="solid"/>
          </a:ln>
        </p:spPr>
      </p:sp>
      <p:sp>
        <p:nvSpPr>
          <p:cNvPr id="23" name="Text 21"/>
          <p:cNvSpPr/>
          <p:nvPr/>
        </p:nvSpPr>
        <p:spPr>
          <a:xfrm>
            <a:off x="685800" y="307238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24" name="Text 22"/>
          <p:cNvSpPr/>
          <p:nvPr/>
        </p:nvSpPr>
        <p:spPr>
          <a:xfrm>
            <a:off x="1444752" y="307238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Gravity die casting</a:t>
            </a:r>
            <a:endParaRPr lang="en-US" sz="1000" dirty="0"/>
          </a:p>
        </p:txBody>
      </p:sp>
      <p:sp>
        <p:nvSpPr>
          <p:cNvPr id="25" name="Text 23"/>
          <p:cNvSpPr/>
          <p:nvPr/>
        </p:nvSpPr>
        <p:spPr>
          <a:xfrm>
            <a:off x="3566160" y="307238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cannot reliably fill 3 mm walls</a:t>
            </a:r>
            <a:endParaRPr lang="en-US" sz="880" dirty="0"/>
          </a:p>
        </p:txBody>
      </p:sp>
      <p:sp>
        <p:nvSpPr>
          <p:cNvPr id="26" name="Shape 24"/>
          <p:cNvSpPr/>
          <p:nvPr/>
        </p:nvSpPr>
        <p:spPr>
          <a:xfrm>
            <a:off x="6172200" y="1188720"/>
            <a:ext cx="5559552" cy="2286000"/>
          </a:xfrm>
          <a:prstGeom prst="roundRect">
            <a:avLst>
              <a:gd name="adj" fmla="val 4000"/>
            </a:avLst>
          </a:prstGeom>
          <a:solidFill>
            <a:srgbClr val="E6F4F1"/>
          </a:solidFill>
          <a:ln w="15875">
            <a:solidFill>
              <a:srgbClr val="0E8074"/>
            </a:solidFill>
            <a:prstDash val="solid"/>
          </a:ln>
        </p:spPr>
      </p:sp>
      <p:sp>
        <p:nvSpPr>
          <p:cNvPr id="27" name="Text 25"/>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B · Why a 1,600-tonne press</a:t>
            </a:r>
            <a:endParaRPr lang="en-US" sz="1300" dirty="0"/>
          </a:p>
        </p:txBody>
      </p:sp>
      <p:sp>
        <p:nvSpPr>
          <p:cNvPr id="28" name="Text 26"/>
          <p:cNvSpPr/>
          <p:nvPr/>
        </p:nvSpPr>
        <p:spPr>
          <a:xfrm>
            <a:off x="6400800" y="1609344"/>
            <a:ext cx="5120640" cy="45720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Molten metal is injected under pressure and tries to force the mould open. The press must clamp it shut.</a:t>
            </a:r>
            <a:endParaRPr lang="en-US" sz="1050" dirty="0"/>
          </a:p>
        </p:txBody>
      </p:sp>
      <p:sp>
        <p:nvSpPr>
          <p:cNvPr id="29" name="Text 27"/>
          <p:cNvSpPr/>
          <p:nvPr/>
        </p:nvSpPr>
        <p:spPr>
          <a:xfrm>
            <a:off x="6446520" y="2121408"/>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Measured shadow area of the part</a:t>
            </a:r>
            <a:endParaRPr lang="en-US" sz="1000" dirty="0"/>
          </a:p>
        </p:txBody>
      </p:sp>
      <p:sp>
        <p:nvSpPr>
          <p:cNvPr id="30" name="Text 28"/>
          <p:cNvSpPr/>
          <p:nvPr/>
        </p:nvSpPr>
        <p:spPr>
          <a:xfrm>
            <a:off x="10241280" y="2121408"/>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from the CAD</a:t>
            </a:r>
            <a:endParaRPr lang="en-US" sz="950" dirty="0"/>
          </a:p>
        </p:txBody>
      </p:sp>
      <p:sp>
        <p:nvSpPr>
          <p:cNvPr id="31" name="Text 29"/>
          <p:cNvSpPr/>
          <p:nvPr/>
        </p:nvSpPr>
        <p:spPr>
          <a:xfrm>
            <a:off x="6446520" y="2423160"/>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pressure inside the mould</a:t>
            </a:r>
            <a:endParaRPr lang="en-US" sz="1000" dirty="0"/>
          </a:p>
        </p:txBody>
      </p:sp>
      <p:sp>
        <p:nvSpPr>
          <p:cNvPr id="32" name="Text 30"/>
          <p:cNvSpPr/>
          <p:nvPr/>
        </p:nvSpPr>
        <p:spPr>
          <a:xfrm>
            <a:off x="10241280" y="2423160"/>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physics constant</a:t>
            </a:r>
            <a:endParaRPr lang="en-US" sz="950" dirty="0"/>
          </a:p>
        </p:txBody>
      </p:sp>
      <p:sp>
        <p:nvSpPr>
          <p:cNvPr id="33" name="Text 31"/>
          <p:cNvSpPr/>
          <p:nvPr/>
        </p:nvSpPr>
        <p:spPr>
          <a:xfrm>
            <a:off x="6446520" y="2724912"/>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force trying to open the mould</a:t>
            </a:r>
            <a:endParaRPr lang="en-US" sz="1000" dirty="0"/>
          </a:p>
        </p:txBody>
      </p:sp>
      <p:sp>
        <p:nvSpPr>
          <p:cNvPr id="34" name="Text 32"/>
          <p:cNvSpPr/>
          <p:nvPr/>
        </p:nvSpPr>
        <p:spPr>
          <a:xfrm>
            <a:off x="10241280" y="2724912"/>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calculated</a:t>
            </a:r>
            <a:endParaRPr lang="en-US" sz="950" dirty="0"/>
          </a:p>
        </p:txBody>
      </p:sp>
      <p:sp>
        <p:nvSpPr>
          <p:cNvPr id="35" name="Text 33"/>
          <p:cNvSpPr/>
          <p:nvPr/>
        </p:nvSpPr>
        <p:spPr>
          <a:xfrm>
            <a:off x="6446520" y="3026664"/>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safety margin → pick the smallest press that clamps it</a:t>
            </a:r>
            <a:endParaRPr lang="en-US" sz="1000" dirty="0"/>
          </a:p>
        </p:txBody>
      </p:sp>
      <p:sp>
        <p:nvSpPr>
          <p:cNvPr id="36" name="Text 34"/>
          <p:cNvSpPr/>
          <p:nvPr/>
        </p:nvSpPr>
        <p:spPr>
          <a:xfrm>
            <a:off x="10241280" y="3026664"/>
            <a:ext cx="1325880" cy="274320"/>
          </a:xfrm>
          <a:prstGeom prst="rect">
            <a:avLst/>
          </a:prstGeom>
          <a:noFill/>
          <a:ln/>
        </p:spPr>
        <p:txBody>
          <a:bodyPr wrap="square" lIns="0" tIns="0" rIns="0" bIns="0" rtlCol="0" anchor="ctr"/>
          <a:lstStyle/>
          <a:p>
            <a:pPr algn="r" indent="0" marL="0">
              <a:buNone/>
            </a:pPr>
            <a:r>
              <a:rPr lang="en-US" sz="950" b="1" dirty="0">
                <a:solidFill>
                  <a:srgbClr val="16325C"/>
                </a:solidFill>
                <a:latin typeface="Calibri" pitchFamily="34" charset="0"/>
                <a:ea typeface="Calibri" pitchFamily="34" charset="-122"/>
                <a:cs typeface="Calibri" pitchFamily="34" charset="-120"/>
              </a:rPr>
              <a:t>1,600 t</a:t>
            </a:r>
            <a:endParaRPr lang="en-US" sz="950" dirty="0"/>
          </a:p>
        </p:txBody>
      </p:sp>
      <p:sp>
        <p:nvSpPr>
          <p:cNvPr id="37" name="Shape 35"/>
          <p:cNvSpPr/>
          <p:nvPr/>
        </p:nvSpPr>
        <p:spPr>
          <a:xfrm>
            <a:off x="457200" y="3675888"/>
            <a:ext cx="11274552" cy="1234440"/>
          </a:xfrm>
          <a:prstGeom prst="roundRect">
            <a:avLst>
              <a:gd name="adj" fmla="val 7407"/>
            </a:avLst>
          </a:prstGeom>
          <a:solidFill>
            <a:srgbClr val="FFFFFF"/>
          </a:solidFill>
          <a:ln w="12700">
            <a:solidFill>
              <a:srgbClr val="DCE3EE"/>
            </a:solidFill>
            <a:prstDash val="solid"/>
          </a:ln>
        </p:spPr>
      </p:sp>
      <p:sp>
        <p:nvSpPr>
          <p:cNvPr id="38" name="Text 36"/>
          <p:cNvSpPr/>
          <p:nvPr/>
        </p:nvSpPr>
        <p:spPr>
          <a:xfrm>
            <a:off x="731520" y="379476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Why the machine choice is a money decision, not a technicality</a:t>
            </a:r>
            <a:endParaRPr lang="en-US" sz="1250" dirty="0"/>
          </a:p>
        </p:txBody>
      </p:sp>
      <p:sp>
        <p:nvSpPr>
          <p:cNvPr id="39" name="Text 37"/>
          <p:cNvSpPr/>
          <p:nvPr/>
        </p:nvSpPr>
        <p:spPr>
          <a:xfrm>
            <a:off x="731520" y="4096512"/>
            <a:ext cx="10744200" cy="74980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machine in the library carries its own hourly rate — a bigger press costs more per hour to own and run. </a:t>
            </a:r>
            <a:pPr indent="0" marL="0">
              <a:buNone/>
            </a:pPr>
            <a:r>
              <a:rPr lang="en-US" sz="1150" b="1" dirty="0">
                <a:solidFill>
                  <a:srgbClr val="16325C"/>
                </a:solidFill>
                <a:latin typeface="Calibri" pitchFamily="34" charset="0"/>
                <a:ea typeface="Calibri" pitchFamily="34" charset="-122"/>
                <a:cs typeface="Calibri" pitchFamily="34" charset="-120"/>
              </a:rPr>
              <a:t>Pick a press that is too big and you overstate the cost; too small and the part physically cannot be made. </a:t>
            </a:r>
            <a:pPr indent="0" marL="0">
              <a:buNone/>
            </a:pPr>
            <a:r>
              <a:rPr lang="en-US" sz="1150" dirty="0">
                <a:solidFill>
                  <a:srgbClr val="3A4356"/>
                </a:solidFill>
                <a:latin typeface="Calibri" pitchFamily="34" charset="0"/>
                <a:ea typeface="Calibri" pitchFamily="34" charset="-122"/>
                <a:cs typeface="Calibri" pitchFamily="34" charset="-120"/>
              </a:rPr>
              <a:t>So the engine sizes the machine from the geometry rather than accepting a default, and it flags the choice for the engineer to confirm.</a:t>
            </a:r>
            <a:endParaRPr lang="en-US" sz="1150" dirty="0"/>
          </a:p>
        </p:txBody>
      </p:sp>
      <p:sp>
        <p:nvSpPr>
          <p:cNvPr id="40" name="Shape 38"/>
          <p:cNvSpPr/>
          <p:nvPr/>
        </p:nvSpPr>
        <p:spPr>
          <a:xfrm>
            <a:off x="457200" y="5102352"/>
            <a:ext cx="11274552" cy="960120"/>
          </a:xfrm>
          <a:prstGeom prst="roundRect">
            <a:avLst>
              <a:gd name="adj" fmla="val 9524"/>
            </a:avLst>
          </a:prstGeom>
          <a:solidFill>
            <a:srgbClr val="F1EBF8"/>
          </a:solidFill>
          <a:ln w="12700">
            <a:solidFill>
              <a:srgbClr val="6B3FA0"/>
            </a:solidFill>
            <a:prstDash val="solid"/>
          </a:ln>
        </p:spPr>
      </p:sp>
      <p:sp>
        <p:nvSpPr>
          <p:cNvPr id="41" name="Text 39"/>
          <p:cNvSpPr/>
          <p:nvPr/>
        </p:nvSpPr>
        <p:spPr>
          <a:xfrm>
            <a:off x="731520" y="5212080"/>
            <a:ext cx="10744200" cy="777240"/>
          </a:xfrm>
          <a:prstGeom prst="rect">
            <a:avLst/>
          </a:prstGeom>
          <a:noFill/>
          <a:ln/>
        </p:spPr>
        <p:txBody>
          <a:bodyPr wrap="square" lIns="0" tIns="0" rIns="0" bIns="0" rtlCol="0" anchor="ctr"/>
          <a:lstStyle/>
          <a:p>
            <a:pPr indent="0" marL="0">
              <a:buNone/>
            </a:pPr>
            <a:r>
              <a:rPr lang="en-US" sz="1150" b="1" dirty="0">
                <a:solidFill>
                  <a:srgbClr val="6B3FA0"/>
                </a:solidFill>
                <a:latin typeface="Calibri" pitchFamily="34" charset="0"/>
                <a:ea typeface="Calibri" pitchFamily="34" charset="-122"/>
                <a:cs typeface="Calibri" pitchFamily="34" charset="-120"/>
              </a:rPr>
              <a:t>Who decided all this?  </a:t>
            </a:r>
            <a:pPr indent="0" marL="0">
              <a:buNone/>
            </a:pPr>
            <a:r>
              <a:rPr lang="en-US" sz="1150" b="1" dirty="0">
                <a:solidFill>
                  <a:srgbClr val="6B3FA0"/>
                </a:solidFill>
                <a:latin typeface="Calibri" pitchFamily="34" charset="0"/>
                <a:ea typeface="Calibri" pitchFamily="34" charset="-122"/>
                <a:cs typeface="Calibri" pitchFamily="34" charset="-120"/>
              </a:rPr>
              <a:t>The AI </a:t>
            </a:r>
            <a:pPr indent="0" marL="0">
              <a:buNone/>
            </a:pPr>
            <a:r>
              <a:rPr lang="en-US" sz="1150" dirty="0">
                <a:solidFill>
                  <a:srgbClr val="3A4356"/>
                </a:solidFill>
                <a:latin typeface="Calibri" pitchFamily="34" charset="0"/>
                <a:ea typeface="Calibri" pitchFamily="34" charset="-122"/>
                <a:cs typeface="Calibri" pitchFamily="34" charset="-120"/>
              </a:rPr>
              <a:t>suggested "die casting". </a:t>
            </a:r>
            <a:pPr indent="0" marL="0">
              <a:buNone/>
            </a:pPr>
            <a:r>
              <a:rPr lang="en-US" sz="1150" b="1" dirty="0">
                <a:solidFill>
                  <a:srgbClr val="0E8074"/>
                </a:solidFill>
                <a:latin typeface="Calibri" pitchFamily="34" charset="0"/>
                <a:ea typeface="Calibri" pitchFamily="34" charset="-122"/>
                <a:cs typeface="Calibri" pitchFamily="34" charset="-120"/>
              </a:rPr>
              <a:t>The engine </a:t>
            </a:r>
            <a:pPr indent="0" marL="0">
              <a:buNone/>
            </a:pPr>
            <a:r>
              <a:rPr lang="en-US" sz="1150" dirty="0">
                <a:solidFill>
                  <a:srgbClr val="3A4356"/>
                </a:solidFill>
                <a:latin typeface="Calibri" pitchFamily="34" charset="0"/>
                <a:ea typeface="Calibri" pitchFamily="34" charset="-122"/>
                <a:cs typeface="Calibri" pitchFamily="34" charset="-120"/>
              </a:rPr>
              <a:t>then tested that suggestion against the measured geometry, rejected the alternatives on physical grounds, and sized the press by calculation. </a:t>
            </a:r>
            <a:pPr indent="0" marL="0">
              <a:buNone/>
            </a:pPr>
            <a:r>
              <a:rPr lang="en-US" sz="1150" b="1" dirty="0">
                <a:solidFill>
                  <a:srgbClr val="16325C"/>
                </a:solidFill>
                <a:latin typeface="Calibri" pitchFamily="34" charset="0"/>
                <a:ea typeface="Calibri" pitchFamily="34" charset="-122"/>
                <a:cs typeface="Calibri" pitchFamily="34" charset="-120"/>
              </a:rPr>
              <a:t>The AI proposed; the engine disposed. </a:t>
            </a:r>
            <a:pPr indent="0" marL="0">
              <a:buNone/>
            </a:pPr>
            <a:r>
              <a:rPr lang="en-US" sz="1150" dirty="0">
                <a:solidFill>
                  <a:srgbClr val="3A4356"/>
                </a:solidFill>
                <a:latin typeface="Calibri" pitchFamily="34" charset="0"/>
                <a:ea typeface="Calibri" pitchFamily="34" charset="-122"/>
                <a:cs typeface="Calibri" pitchFamily="34" charset="-120"/>
              </a:rPr>
              <a:t>If the AI had said "sand casting", the 3 mm walls would have overruled it.</a:t>
            </a:r>
            <a:endParaRPr lang="en-US" sz="1150" dirty="0"/>
          </a:p>
        </p:txBody>
      </p:sp>
      <p:sp>
        <p:nvSpPr>
          <p:cNvPr id="42" name="Text 4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3" name="Text 4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7–8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housing — how the press is chosen and where the cutting minutes come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E8074"/>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1,650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for aluminium HPDC</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70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die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1,178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1.2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E8074"/>
                </a:solidFill>
                <a:latin typeface="Calibri" pitchFamily="34" charset="0"/>
                <a:ea typeface="Calibri" pitchFamily="34" charset="-122"/>
                <a:cs typeface="Calibri" pitchFamily="34" charset="-120"/>
              </a:rPr>
              <a:t>1,413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B7280"/>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160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£18.66/hr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£52.47/hr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£79.12/hr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E8074"/>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1,600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£137.55/hr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E8074"/>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Area from the model, pressure a material property, ladder and rates from the library.</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CUTTING MINUTES COME FROM</a:t>
            </a:r>
            <a:endParaRPr lang="en-US" sz="1050" dirty="0"/>
          </a:p>
        </p:txBody>
      </p:sp>
      <p:sp>
        <p:nvSpPr>
          <p:cNvPr id="34" name="Text 32"/>
          <p:cNvSpPr/>
          <p:nvPr/>
        </p:nvSpPr>
        <p:spPr>
          <a:xfrm>
            <a:off x="6428232" y="1572768"/>
            <a:ext cx="5074920" cy="274320"/>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Every feature the kernel measured gets its own time, from a published shop formula:</a:t>
            </a:r>
            <a:endParaRPr lang="en-US" sz="960" dirty="0"/>
          </a:p>
        </p:txBody>
      </p:sp>
      <p:sp>
        <p:nvSpPr>
          <p:cNvPr id="35" name="Text 33"/>
          <p:cNvSpPr/>
          <p:nvPr/>
        </p:nvSpPr>
        <p:spPr>
          <a:xfrm>
            <a:off x="6428232" y="1883664"/>
            <a:ext cx="182880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Feature (measured)</a:t>
            </a:r>
            <a:endParaRPr lang="en-US" sz="840" dirty="0"/>
          </a:p>
        </p:txBody>
      </p:sp>
      <p:sp>
        <p:nvSpPr>
          <p:cNvPr id="36" name="Text 34"/>
          <p:cNvSpPr/>
          <p:nvPr/>
        </p:nvSpPr>
        <p:spPr>
          <a:xfrm>
            <a:off x="8275320" y="1883664"/>
            <a:ext cx="178308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Formula</a:t>
            </a:r>
            <a:endParaRPr lang="en-US" sz="840" dirty="0"/>
          </a:p>
        </p:txBody>
      </p:sp>
      <p:sp>
        <p:nvSpPr>
          <p:cNvPr id="37" name="Text 35"/>
          <p:cNvSpPr/>
          <p:nvPr/>
        </p:nvSpPr>
        <p:spPr>
          <a:xfrm>
            <a:off x="10104120" y="1883664"/>
            <a:ext cx="77724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Each</a:t>
            </a:r>
            <a:endParaRPr lang="en-US" sz="840" dirty="0"/>
          </a:p>
        </p:txBody>
      </p:sp>
      <p:sp>
        <p:nvSpPr>
          <p:cNvPr id="38" name="Text 36"/>
          <p:cNvSpPr/>
          <p:nvPr/>
        </p:nvSpPr>
        <p:spPr>
          <a:xfrm>
            <a:off x="10927080" y="1883664"/>
            <a:ext cx="64008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Total</a:t>
            </a:r>
            <a:endParaRPr lang="en-US" sz="840" dirty="0"/>
          </a:p>
        </p:txBody>
      </p:sp>
      <p:sp>
        <p:nvSpPr>
          <p:cNvPr id="39" name="Shape 37"/>
          <p:cNvSpPr/>
          <p:nvPr/>
        </p:nvSpPr>
        <p:spPr>
          <a:xfrm>
            <a:off x="6355080" y="2084832"/>
            <a:ext cx="5230368" cy="292608"/>
          </a:xfrm>
          <a:prstGeom prst="rect">
            <a:avLst/>
          </a:prstGeom>
          <a:solidFill>
            <a:srgbClr val="F4F7FB"/>
          </a:solidFill>
          <a:ln/>
        </p:spPr>
      </p:sp>
      <p:sp>
        <p:nvSpPr>
          <p:cNvPr id="40" name="Text 38"/>
          <p:cNvSpPr/>
          <p:nvPr/>
        </p:nvSpPr>
        <p:spPr>
          <a:xfrm>
            <a:off x="6428232" y="2103120"/>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faces, 180×120 mm</a:t>
            </a:r>
            <a:endParaRPr lang="en-US" sz="880" dirty="0"/>
          </a:p>
        </p:txBody>
      </p:sp>
      <p:sp>
        <p:nvSpPr>
          <p:cNvPr id="41" name="Text 39"/>
          <p:cNvSpPr/>
          <p:nvPr/>
        </p:nvSpPr>
        <p:spPr>
          <a:xfrm>
            <a:off x="8275320" y="2103120"/>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0.20 + area/8000</a:t>
            </a:r>
            <a:endParaRPr lang="en-US" sz="880" dirty="0"/>
          </a:p>
        </p:txBody>
      </p:sp>
      <p:sp>
        <p:nvSpPr>
          <p:cNvPr id="42" name="Text 40"/>
          <p:cNvSpPr/>
          <p:nvPr/>
        </p:nvSpPr>
        <p:spPr>
          <a:xfrm>
            <a:off x="10104120" y="2103120"/>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3.77 min</a:t>
            </a:r>
            <a:endParaRPr lang="en-US" sz="880" dirty="0"/>
          </a:p>
        </p:txBody>
      </p:sp>
      <p:sp>
        <p:nvSpPr>
          <p:cNvPr id="43" name="Text 41"/>
          <p:cNvSpPr/>
          <p:nvPr/>
        </p:nvSpPr>
        <p:spPr>
          <a:xfrm>
            <a:off x="10927080" y="2103120"/>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7.54</a:t>
            </a:r>
            <a:endParaRPr lang="en-US" sz="880" dirty="0"/>
          </a:p>
        </p:txBody>
      </p:sp>
      <p:sp>
        <p:nvSpPr>
          <p:cNvPr id="44" name="Text 42"/>
          <p:cNvSpPr/>
          <p:nvPr/>
        </p:nvSpPr>
        <p:spPr>
          <a:xfrm>
            <a:off x="6428232" y="2414016"/>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bores, Ø40 × 45 mm</a:t>
            </a:r>
            <a:endParaRPr lang="en-US" sz="880" dirty="0"/>
          </a:p>
        </p:txBody>
      </p:sp>
      <p:sp>
        <p:nvSpPr>
          <p:cNvPr id="45" name="Text 43"/>
          <p:cNvSpPr/>
          <p:nvPr/>
        </p:nvSpPr>
        <p:spPr>
          <a:xfrm>
            <a:off x="8275320" y="2414016"/>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0.50 + 45×0.050</a:t>
            </a:r>
            <a:endParaRPr lang="en-US" sz="880" dirty="0"/>
          </a:p>
        </p:txBody>
      </p:sp>
      <p:sp>
        <p:nvSpPr>
          <p:cNvPr id="46" name="Text 44"/>
          <p:cNvSpPr/>
          <p:nvPr/>
        </p:nvSpPr>
        <p:spPr>
          <a:xfrm>
            <a:off x="10104120" y="2414016"/>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3.58 min</a:t>
            </a:r>
            <a:endParaRPr lang="en-US" sz="880" dirty="0"/>
          </a:p>
        </p:txBody>
      </p:sp>
      <p:sp>
        <p:nvSpPr>
          <p:cNvPr id="47" name="Text 45"/>
          <p:cNvSpPr/>
          <p:nvPr/>
        </p:nvSpPr>
        <p:spPr>
          <a:xfrm>
            <a:off x="10927080" y="2414016"/>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7.15</a:t>
            </a:r>
            <a:endParaRPr lang="en-US" sz="880" dirty="0"/>
          </a:p>
        </p:txBody>
      </p:sp>
      <p:sp>
        <p:nvSpPr>
          <p:cNvPr id="48" name="Shape 46"/>
          <p:cNvSpPr/>
          <p:nvPr/>
        </p:nvSpPr>
        <p:spPr>
          <a:xfrm>
            <a:off x="6355080" y="2706624"/>
            <a:ext cx="5230368" cy="292608"/>
          </a:xfrm>
          <a:prstGeom prst="rect">
            <a:avLst/>
          </a:prstGeom>
          <a:solidFill>
            <a:srgbClr val="F4F7FB"/>
          </a:solidFill>
          <a:ln/>
        </p:spPr>
      </p:sp>
      <p:sp>
        <p:nvSpPr>
          <p:cNvPr id="49" name="Text 47"/>
          <p:cNvSpPr/>
          <p:nvPr/>
        </p:nvSpPr>
        <p:spPr>
          <a:xfrm>
            <a:off x="6428232" y="2724912"/>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16 holes, Ø8 × 20 blind</a:t>
            </a:r>
            <a:endParaRPr lang="en-US" sz="880" dirty="0"/>
          </a:p>
        </p:txBody>
      </p:sp>
      <p:sp>
        <p:nvSpPr>
          <p:cNvPr id="50" name="Text 48"/>
          <p:cNvSpPr/>
          <p:nvPr/>
        </p:nvSpPr>
        <p:spPr>
          <a:xfrm>
            <a:off x="8275320" y="2724912"/>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0.15 + 20×0.020 +0.10</a:t>
            </a:r>
            <a:endParaRPr lang="en-US" sz="880" dirty="0"/>
          </a:p>
        </p:txBody>
      </p:sp>
      <p:sp>
        <p:nvSpPr>
          <p:cNvPr id="51" name="Text 49"/>
          <p:cNvSpPr/>
          <p:nvPr/>
        </p:nvSpPr>
        <p:spPr>
          <a:xfrm>
            <a:off x="10104120" y="2724912"/>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0.85 min</a:t>
            </a:r>
            <a:endParaRPr lang="en-US" sz="880" dirty="0"/>
          </a:p>
        </p:txBody>
      </p:sp>
      <p:sp>
        <p:nvSpPr>
          <p:cNvPr id="52" name="Text 50"/>
          <p:cNvSpPr/>
          <p:nvPr/>
        </p:nvSpPr>
        <p:spPr>
          <a:xfrm>
            <a:off x="10927080" y="2724912"/>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13.52</a:t>
            </a:r>
            <a:endParaRPr lang="en-US" sz="880" dirty="0"/>
          </a:p>
        </p:txBody>
      </p:sp>
      <p:sp>
        <p:nvSpPr>
          <p:cNvPr id="53" name="Shape 51"/>
          <p:cNvSpPr/>
          <p:nvPr/>
        </p:nvSpPr>
        <p:spPr>
          <a:xfrm>
            <a:off x="6428232" y="3072384"/>
            <a:ext cx="5120640" cy="0"/>
          </a:xfrm>
          <a:prstGeom prst="line">
            <a:avLst/>
          </a:prstGeom>
          <a:noFill/>
          <a:ln w="12700">
            <a:solidFill>
              <a:srgbClr val="DCE3EE"/>
            </a:solidFill>
            <a:prstDash val="solid"/>
          </a:ln>
        </p:spPr>
      </p:sp>
      <p:sp>
        <p:nvSpPr>
          <p:cNvPr id="54" name="Text 52"/>
          <p:cNvSpPr/>
          <p:nvPr/>
        </p:nvSpPr>
        <p:spPr>
          <a:xfrm>
            <a:off x="6428232" y="3145536"/>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Bottom-up from the geometry  (×1.3 for reamed tolerance)</a:t>
            </a:r>
            <a:endParaRPr lang="en-US" sz="920" dirty="0"/>
          </a:p>
        </p:txBody>
      </p:sp>
      <p:sp>
        <p:nvSpPr>
          <p:cNvPr id="55" name="Text 53"/>
          <p:cNvSpPr/>
          <p:nvPr/>
        </p:nvSpPr>
        <p:spPr>
          <a:xfrm>
            <a:off x="10241280" y="3145536"/>
            <a:ext cx="1325880" cy="256032"/>
          </a:xfrm>
          <a:prstGeom prst="rect">
            <a:avLst/>
          </a:prstGeom>
          <a:noFill/>
          <a:ln/>
        </p:spPr>
        <p:txBody>
          <a:bodyPr wrap="square" lIns="0" tIns="0" rIns="0" bIns="0" rtlCol="0" anchor="ctr"/>
          <a:lstStyle/>
          <a:p>
            <a:pPr algn="r" indent="0" marL="0">
              <a:buNone/>
            </a:pPr>
            <a:r>
              <a:rPr lang="en-US" sz="960" b="1" dirty="0">
                <a:solidFill>
                  <a:srgbClr val="3A4356"/>
                </a:solidFill>
                <a:latin typeface="Calibri" pitchFamily="34" charset="0"/>
                <a:ea typeface="Calibri" pitchFamily="34" charset="-122"/>
                <a:cs typeface="Calibri" pitchFamily="34" charset="-120"/>
              </a:rPr>
              <a:t>28.21 min</a:t>
            </a:r>
            <a:endParaRPr lang="en-US" sz="960" dirty="0"/>
          </a:p>
        </p:txBody>
      </p:sp>
      <p:sp>
        <p:nvSpPr>
          <p:cNvPr id="56" name="Text 54"/>
          <p:cNvSpPr/>
          <p:nvPr/>
        </p:nvSpPr>
        <p:spPr>
          <a:xfrm>
            <a:off x="6428232" y="3429000"/>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Near-net ceiling: 0.10 hr + 0.07 × 2.8 kg</a:t>
            </a:r>
            <a:endParaRPr lang="en-US" sz="920" dirty="0"/>
          </a:p>
        </p:txBody>
      </p:sp>
      <p:sp>
        <p:nvSpPr>
          <p:cNvPr id="57" name="Text 55"/>
          <p:cNvSpPr/>
          <p:nvPr/>
        </p:nvSpPr>
        <p:spPr>
          <a:xfrm>
            <a:off x="10241280" y="3429000"/>
            <a:ext cx="1325880" cy="256032"/>
          </a:xfrm>
          <a:prstGeom prst="rect">
            <a:avLst/>
          </a:prstGeom>
          <a:noFill/>
          <a:ln/>
        </p:spPr>
        <p:txBody>
          <a:bodyPr wrap="square" lIns="0" tIns="0" rIns="0" bIns="0" rtlCol="0" anchor="ctr"/>
          <a:lstStyle/>
          <a:p>
            <a:pPr algn="r" indent="0" marL="0">
              <a:buNone/>
            </a:pPr>
            <a:r>
              <a:rPr lang="en-US" sz="960" b="1" dirty="0">
                <a:solidFill>
                  <a:srgbClr val="B7791F"/>
                </a:solidFill>
                <a:latin typeface="Calibri" pitchFamily="34" charset="0"/>
                <a:ea typeface="Calibri" pitchFamily="34" charset="-122"/>
                <a:cs typeface="Calibri" pitchFamily="34" charset="-120"/>
              </a:rPr>
              <a:t>17.76 min</a:t>
            </a:r>
            <a:endParaRPr lang="en-US" sz="960" dirty="0"/>
          </a:p>
        </p:txBody>
      </p:sp>
      <p:sp>
        <p:nvSpPr>
          <p:cNvPr id="58" name="Text 56"/>
          <p:cNvSpPr/>
          <p:nvPr/>
        </p:nvSpPr>
        <p:spPr>
          <a:xfrm>
            <a:off x="6428232" y="3712464"/>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 the guard CAPS the bottom-up estimate</a:t>
            </a:r>
            <a:endParaRPr lang="en-US" sz="920" dirty="0"/>
          </a:p>
        </p:txBody>
      </p:sp>
      <p:sp>
        <p:nvSpPr>
          <p:cNvPr id="59" name="Text 57"/>
          <p:cNvSpPr/>
          <p:nvPr/>
        </p:nvSpPr>
        <p:spPr>
          <a:xfrm>
            <a:off x="10241280" y="3712464"/>
            <a:ext cx="1325880" cy="256032"/>
          </a:xfrm>
          <a:prstGeom prst="rect">
            <a:avLst/>
          </a:prstGeom>
          <a:noFill/>
          <a:ln/>
        </p:spPr>
        <p:txBody>
          <a:bodyPr wrap="square" lIns="0" tIns="0" rIns="0" bIns="0" rtlCol="0" anchor="ctr"/>
          <a:lstStyle/>
          <a:p>
            <a:pPr algn="r" indent="0" marL="0">
              <a:buNone/>
            </a:pPr>
            <a:r>
              <a:rPr lang="en-US" sz="960" b="1" dirty="0">
                <a:solidFill>
                  <a:srgbClr val="B7791F"/>
                </a:solidFill>
                <a:latin typeface="Calibri" pitchFamily="34" charset="0"/>
                <a:ea typeface="Calibri" pitchFamily="34" charset="-122"/>
                <a:cs typeface="Calibri" pitchFamily="34" charset="-120"/>
              </a:rPr>
              <a:t>capped</a:t>
            </a:r>
            <a:endParaRPr lang="en-US" sz="960" dirty="0"/>
          </a:p>
        </p:txBody>
      </p:sp>
      <p:sp>
        <p:nvSpPr>
          <p:cNvPr id="60" name="Text 58"/>
          <p:cNvSpPr/>
          <p:nvPr/>
        </p:nvSpPr>
        <p:spPr>
          <a:xfrm>
            <a:off x="6428232" y="3995928"/>
            <a:ext cx="3749040" cy="256032"/>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Costed from the supplier routing — inside both</a:t>
            </a:r>
            <a:endParaRPr lang="en-US" sz="920" dirty="0"/>
          </a:p>
        </p:txBody>
      </p:sp>
      <p:sp>
        <p:nvSpPr>
          <p:cNvPr id="61" name="Text 59"/>
          <p:cNvSpPr/>
          <p:nvPr/>
        </p:nvSpPr>
        <p:spPr>
          <a:xfrm>
            <a:off x="10241280" y="3995928"/>
            <a:ext cx="1325880" cy="256032"/>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15.90 min</a:t>
            </a:r>
            <a:endParaRPr lang="en-US" sz="960" dirty="0"/>
          </a:p>
        </p:txBody>
      </p:sp>
      <p:sp>
        <p:nvSpPr>
          <p:cNvPr id="62" name="Shape 60"/>
          <p:cNvSpPr/>
          <p:nvPr/>
        </p:nvSpPr>
        <p:spPr>
          <a:xfrm>
            <a:off x="457200" y="4617720"/>
            <a:ext cx="11274552" cy="1371600"/>
          </a:xfrm>
          <a:prstGeom prst="roundRect">
            <a:avLst>
              <a:gd name="adj" fmla="val 6667"/>
            </a:avLst>
          </a:prstGeom>
          <a:solidFill>
            <a:srgbClr val="FCF3E3"/>
          </a:solidFill>
          <a:ln w="15875">
            <a:solidFill>
              <a:srgbClr val="B7791F"/>
            </a:solidFill>
            <a:prstDash val="solid"/>
          </a:ln>
        </p:spPr>
      </p:sp>
      <p:sp>
        <p:nvSpPr>
          <p:cNvPr id="63" name="Text 61"/>
          <p:cNvSpPr/>
          <p:nvPr/>
        </p:nvSpPr>
        <p:spPr>
          <a:xfrm>
            <a:off x="731520" y="4727448"/>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Three independent numbers, and they bound each other</a:t>
            </a:r>
            <a:endParaRPr lang="en-US" sz="1250" dirty="0"/>
          </a:p>
        </p:txBody>
      </p:sp>
      <p:sp>
        <p:nvSpPr>
          <p:cNvPr id="64" name="Text 62"/>
          <p:cNvSpPr/>
          <p:nvPr/>
        </p:nvSpPr>
        <p:spPr>
          <a:xfrm>
            <a:off x="731520" y="5020056"/>
            <a:ext cx="10744200" cy="84124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The geometry proposes 28 minutes. The near-net guard says a 2.8 kg casting physically cannot need more than 17.8 minutes of finishing, so it caps the proposal. The supplier routing we costed says 15.9 minutes — inside both. </a:t>
            </a:r>
            <a:pPr indent="0" marL="0">
              <a:buNone/>
            </a:pPr>
            <a:r>
              <a:rPr lang="en-US" sz="1150" b="1" dirty="0">
                <a:solidFill>
                  <a:srgbClr val="16325C"/>
                </a:solidFill>
                <a:latin typeface="Calibri" pitchFamily="34" charset="0"/>
                <a:ea typeface="Calibri" pitchFamily="34" charset="-122"/>
                <a:cs typeface="Calibri" pitchFamily="34" charset="-120"/>
              </a:rPr>
              <a:t>When those three disagree badly, that is the signal: either the part is not really near-net, or the routing is wrong, or the quote is padded. Here they agree, so the number stands.</a:t>
            </a:r>
            <a:endParaRPr lang="en-US" sz="1150" dirty="0"/>
          </a:p>
        </p:txBody>
      </p:sp>
      <p:sp>
        <p:nvSpPr>
          <p:cNvPr id="65" name="Text 6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6" name="Text 6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8 · Cycle Times — Every Operation, Timed and Priced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Machine rate x charged time. Check any row on this slide with a calculator.</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7955280" cy="3200400"/>
          </a:xfrm>
          <a:prstGeom prst="roundRect">
            <a:avLst>
              <a:gd name="adj" fmla="val 2857"/>
            </a:avLst>
          </a:prstGeom>
          <a:solidFill>
            <a:srgbClr val="FFFFFF"/>
          </a:solidFill>
          <a:ln w="12700">
            <a:solidFill>
              <a:srgbClr val="DCE3EE"/>
            </a:solidFill>
            <a:prstDash val="solid"/>
          </a:ln>
        </p:spPr>
      </p:sp>
      <p:sp>
        <p:nvSpPr>
          <p:cNvPr id="8" name="Text 6"/>
          <p:cNvSpPr/>
          <p:nvPr/>
        </p:nvSpPr>
        <p:spPr>
          <a:xfrm>
            <a:off x="685800" y="1261872"/>
            <a:ext cx="731520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MAKING ONE HOUSING AT UK RATES — engine output, line by line</a:t>
            </a:r>
            <a:endParaRPr lang="en-US" sz="1150" dirty="0"/>
          </a:p>
        </p:txBody>
      </p:sp>
      <p:sp>
        <p:nvSpPr>
          <p:cNvPr id="9" name="Text 7"/>
          <p:cNvSpPr/>
          <p:nvPr/>
        </p:nvSpPr>
        <p:spPr>
          <a:xfrm>
            <a:off x="685800" y="1554480"/>
            <a:ext cx="1874520" cy="201168"/>
          </a:xfrm>
          <a:prstGeom prst="rect">
            <a:avLst/>
          </a:prstGeom>
          <a:noFill/>
          <a:ln/>
        </p:spPr>
        <p:txBody>
          <a:bodyPr wrap="square" lIns="0" tIns="0" rIns="0" bIns="0" rtlCol="0" anchor="ctr"/>
          <a:lstStyle/>
          <a:p>
            <a:pPr algn="l" indent="0" marL="0">
              <a:buNone/>
            </a:pPr>
            <a:r>
              <a:rPr lang="en-US" sz="850" b="1" dirty="0">
                <a:solidFill>
                  <a:srgbClr val="6B7280"/>
                </a:solidFill>
                <a:latin typeface="Calibri" pitchFamily="34" charset="0"/>
                <a:ea typeface="Calibri" pitchFamily="34" charset="-122"/>
                <a:cs typeface="Calibri" pitchFamily="34" charset="-120"/>
              </a:rPr>
              <a:t>Operation</a:t>
            </a:r>
            <a:endParaRPr lang="en-US" sz="850" dirty="0"/>
          </a:p>
        </p:txBody>
      </p:sp>
      <p:sp>
        <p:nvSpPr>
          <p:cNvPr id="10" name="Text 8"/>
          <p:cNvSpPr/>
          <p:nvPr/>
        </p:nvSpPr>
        <p:spPr>
          <a:xfrm>
            <a:off x="2606040" y="1554480"/>
            <a:ext cx="1325880" cy="201168"/>
          </a:xfrm>
          <a:prstGeom prst="rect">
            <a:avLst/>
          </a:prstGeom>
          <a:noFill/>
          <a:ln/>
        </p:spPr>
        <p:txBody>
          <a:bodyPr wrap="square" lIns="0" tIns="0" rIns="0" bIns="0" rtlCol="0" anchor="ctr"/>
          <a:lstStyle/>
          <a:p>
            <a:pPr algn="l" indent="0" marL="0">
              <a:buNone/>
            </a:pPr>
            <a:r>
              <a:rPr lang="en-US" sz="850" b="1" dirty="0">
                <a:solidFill>
                  <a:srgbClr val="6B7280"/>
                </a:solidFill>
                <a:latin typeface="Calibri" pitchFamily="34" charset="0"/>
                <a:ea typeface="Calibri" pitchFamily="34" charset="-122"/>
                <a:cs typeface="Calibri" pitchFamily="34" charset="-120"/>
              </a:rPr>
              <a:t>Machine</a:t>
            </a:r>
            <a:endParaRPr lang="en-US" sz="850" dirty="0"/>
          </a:p>
        </p:txBody>
      </p:sp>
      <p:sp>
        <p:nvSpPr>
          <p:cNvPr id="11" name="Text 9"/>
          <p:cNvSpPr/>
          <p:nvPr/>
        </p:nvSpPr>
        <p:spPr>
          <a:xfrm>
            <a:off x="3977640" y="1554480"/>
            <a:ext cx="68580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£/hr</a:t>
            </a:r>
            <a:endParaRPr lang="en-US" sz="850" dirty="0"/>
          </a:p>
        </p:txBody>
      </p:sp>
      <p:sp>
        <p:nvSpPr>
          <p:cNvPr id="12" name="Text 10"/>
          <p:cNvSpPr/>
          <p:nvPr/>
        </p:nvSpPr>
        <p:spPr>
          <a:xfrm>
            <a:off x="4709160" y="1554480"/>
            <a:ext cx="7315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Cycle</a:t>
            </a:r>
            <a:endParaRPr lang="en-US" sz="850" dirty="0"/>
          </a:p>
        </p:txBody>
      </p:sp>
      <p:sp>
        <p:nvSpPr>
          <p:cNvPr id="13" name="Text 11"/>
          <p:cNvSpPr/>
          <p:nvPr/>
        </p:nvSpPr>
        <p:spPr>
          <a:xfrm>
            <a:off x="5486400" y="1554480"/>
            <a:ext cx="7315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 OEE</a:t>
            </a:r>
            <a:endParaRPr lang="en-US" sz="850" dirty="0"/>
          </a:p>
        </p:txBody>
      </p:sp>
      <p:sp>
        <p:nvSpPr>
          <p:cNvPr id="14" name="Text 12"/>
          <p:cNvSpPr/>
          <p:nvPr/>
        </p:nvSpPr>
        <p:spPr>
          <a:xfrm>
            <a:off x="6263640" y="1554480"/>
            <a:ext cx="749808"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Machine</a:t>
            </a:r>
            <a:endParaRPr lang="en-US" sz="850" dirty="0"/>
          </a:p>
        </p:txBody>
      </p:sp>
      <p:sp>
        <p:nvSpPr>
          <p:cNvPr id="15" name="Text 13"/>
          <p:cNvSpPr/>
          <p:nvPr/>
        </p:nvSpPr>
        <p:spPr>
          <a:xfrm>
            <a:off x="7059168" y="1554480"/>
            <a:ext cx="530352"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Labour</a:t>
            </a:r>
            <a:endParaRPr lang="en-US" sz="850" dirty="0"/>
          </a:p>
        </p:txBody>
      </p:sp>
      <p:sp>
        <p:nvSpPr>
          <p:cNvPr id="16" name="Text 14"/>
          <p:cNvSpPr/>
          <p:nvPr/>
        </p:nvSpPr>
        <p:spPr>
          <a:xfrm>
            <a:off x="7635240" y="1554480"/>
            <a:ext cx="658368"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Cost</a:t>
            </a:r>
            <a:endParaRPr lang="en-US" sz="850" dirty="0"/>
          </a:p>
        </p:txBody>
      </p:sp>
      <p:sp>
        <p:nvSpPr>
          <p:cNvPr id="17" name="Shape 15"/>
          <p:cNvSpPr/>
          <p:nvPr/>
        </p:nvSpPr>
        <p:spPr>
          <a:xfrm>
            <a:off x="621792" y="1773936"/>
            <a:ext cx="7644384" cy="292608"/>
          </a:xfrm>
          <a:prstGeom prst="rect">
            <a:avLst/>
          </a:prstGeom>
          <a:solidFill>
            <a:srgbClr val="F4F7FB"/>
          </a:solidFill>
          <a:ln/>
        </p:spPr>
      </p:sp>
      <p:sp>
        <p:nvSpPr>
          <p:cNvPr id="18" name="Text 16"/>
          <p:cNvSpPr/>
          <p:nvPr/>
        </p:nvSpPr>
        <p:spPr>
          <a:xfrm>
            <a:off x="685800" y="179222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Casting shot (55 s)</a:t>
            </a:r>
            <a:endParaRPr lang="en-US" sz="920" dirty="0"/>
          </a:p>
        </p:txBody>
      </p:sp>
      <p:sp>
        <p:nvSpPr>
          <p:cNvPr id="19" name="Text 17"/>
          <p:cNvSpPr/>
          <p:nvPr/>
        </p:nvSpPr>
        <p:spPr>
          <a:xfrm>
            <a:off x="2606040" y="179222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HPDC 1,600 t</a:t>
            </a:r>
            <a:endParaRPr lang="en-US" sz="920" dirty="0"/>
          </a:p>
        </p:txBody>
      </p:sp>
      <p:sp>
        <p:nvSpPr>
          <p:cNvPr id="20" name="Text 18"/>
          <p:cNvSpPr/>
          <p:nvPr/>
        </p:nvSpPr>
        <p:spPr>
          <a:xfrm>
            <a:off x="3977640" y="179222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137.55</a:t>
            </a:r>
            <a:endParaRPr lang="en-US" sz="920" dirty="0"/>
          </a:p>
        </p:txBody>
      </p:sp>
      <p:sp>
        <p:nvSpPr>
          <p:cNvPr id="21" name="Text 19"/>
          <p:cNvSpPr/>
          <p:nvPr/>
        </p:nvSpPr>
        <p:spPr>
          <a:xfrm>
            <a:off x="470916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0.0156</a:t>
            </a:r>
            <a:endParaRPr lang="en-US" sz="920" dirty="0"/>
          </a:p>
        </p:txBody>
      </p:sp>
      <p:sp>
        <p:nvSpPr>
          <p:cNvPr id="22" name="Text 20"/>
          <p:cNvSpPr/>
          <p:nvPr/>
        </p:nvSpPr>
        <p:spPr>
          <a:xfrm>
            <a:off x="548640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0.0183</a:t>
            </a:r>
            <a:endParaRPr lang="en-US" sz="920" dirty="0"/>
          </a:p>
        </p:txBody>
      </p:sp>
      <p:sp>
        <p:nvSpPr>
          <p:cNvPr id="23" name="Text 21"/>
          <p:cNvSpPr/>
          <p:nvPr/>
        </p:nvSpPr>
        <p:spPr>
          <a:xfrm>
            <a:off x="6263640" y="179222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2.52</a:t>
            </a:r>
            <a:endParaRPr lang="en-US" sz="920" dirty="0"/>
          </a:p>
        </p:txBody>
      </p:sp>
      <p:sp>
        <p:nvSpPr>
          <p:cNvPr id="24" name="Text 22"/>
          <p:cNvSpPr/>
          <p:nvPr/>
        </p:nvSpPr>
        <p:spPr>
          <a:xfrm>
            <a:off x="7059168" y="179222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0.16</a:t>
            </a:r>
            <a:endParaRPr lang="en-US" sz="920" dirty="0"/>
          </a:p>
        </p:txBody>
      </p:sp>
      <p:sp>
        <p:nvSpPr>
          <p:cNvPr id="25" name="Text 23"/>
          <p:cNvSpPr/>
          <p:nvPr/>
        </p:nvSpPr>
        <p:spPr>
          <a:xfrm>
            <a:off x="7635240" y="179222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£2.68</a:t>
            </a:r>
            <a:endParaRPr lang="en-US" sz="920" dirty="0"/>
          </a:p>
        </p:txBody>
      </p:sp>
      <p:sp>
        <p:nvSpPr>
          <p:cNvPr id="26" name="Text 24"/>
          <p:cNvSpPr/>
          <p:nvPr/>
        </p:nvSpPr>
        <p:spPr>
          <a:xfrm>
            <a:off x="685800" y="2098548"/>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Setup, amortised</a:t>
            </a:r>
            <a:endParaRPr lang="en-US" sz="920" dirty="0"/>
          </a:p>
        </p:txBody>
      </p:sp>
      <p:sp>
        <p:nvSpPr>
          <p:cNvPr id="27" name="Text 25"/>
          <p:cNvSpPr/>
          <p:nvPr/>
        </p:nvSpPr>
        <p:spPr>
          <a:xfrm>
            <a:off x="2606040" y="2098548"/>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28" name="Text 26"/>
          <p:cNvSpPr/>
          <p:nvPr/>
        </p:nvSpPr>
        <p:spPr>
          <a:xfrm>
            <a:off x="3977640" y="2098548"/>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29" name="Text 27"/>
          <p:cNvSpPr/>
          <p:nvPr/>
        </p:nvSpPr>
        <p:spPr>
          <a:xfrm>
            <a:off x="470916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0" name="Text 28"/>
          <p:cNvSpPr/>
          <p:nvPr/>
        </p:nvSpPr>
        <p:spPr>
          <a:xfrm>
            <a:off x="548640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1" name="Text 29"/>
          <p:cNvSpPr/>
          <p:nvPr/>
        </p:nvSpPr>
        <p:spPr>
          <a:xfrm>
            <a:off x="6263640" y="2098548"/>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0.26</a:t>
            </a:r>
            <a:endParaRPr lang="en-US" sz="920" dirty="0"/>
          </a:p>
        </p:txBody>
      </p:sp>
      <p:sp>
        <p:nvSpPr>
          <p:cNvPr id="32" name="Text 30"/>
          <p:cNvSpPr/>
          <p:nvPr/>
        </p:nvSpPr>
        <p:spPr>
          <a:xfrm>
            <a:off x="7059168" y="2098548"/>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a:t>
            </a:r>
            <a:endParaRPr lang="en-US" sz="920" dirty="0"/>
          </a:p>
        </p:txBody>
      </p:sp>
      <p:sp>
        <p:nvSpPr>
          <p:cNvPr id="33" name="Text 31"/>
          <p:cNvSpPr/>
          <p:nvPr/>
        </p:nvSpPr>
        <p:spPr>
          <a:xfrm>
            <a:off x="7635240" y="2098548"/>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£0.33</a:t>
            </a:r>
            <a:endParaRPr lang="en-US" sz="920" dirty="0"/>
          </a:p>
        </p:txBody>
      </p:sp>
      <p:sp>
        <p:nvSpPr>
          <p:cNvPr id="34" name="Shape 32"/>
          <p:cNvSpPr/>
          <p:nvPr/>
        </p:nvSpPr>
        <p:spPr>
          <a:xfrm>
            <a:off x="621792" y="2386584"/>
            <a:ext cx="7644384" cy="292608"/>
          </a:xfrm>
          <a:prstGeom prst="rect">
            <a:avLst/>
          </a:prstGeom>
          <a:solidFill>
            <a:srgbClr val="F4F7FB"/>
          </a:solidFill>
          <a:ln/>
        </p:spPr>
      </p:sp>
      <p:sp>
        <p:nvSpPr>
          <p:cNvPr id="35" name="Text 33"/>
          <p:cNvSpPr/>
          <p:nvPr/>
        </p:nvSpPr>
        <p:spPr>
          <a:xfrm>
            <a:off x="685800" y="2404872"/>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Mill 2 faces flat</a:t>
            </a:r>
            <a:endParaRPr lang="en-US" sz="920" dirty="0"/>
          </a:p>
        </p:txBody>
      </p:sp>
      <p:sp>
        <p:nvSpPr>
          <p:cNvPr id="36" name="Text 34"/>
          <p:cNvSpPr/>
          <p:nvPr/>
        </p:nvSpPr>
        <p:spPr>
          <a:xfrm>
            <a:off x="2606040" y="2404872"/>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37" name="Text 35"/>
          <p:cNvSpPr/>
          <p:nvPr/>
        </p:nvSpPr>
        <p:spPr>
          <a:xfrm>
            <a:off x="3977640" y="2404872"/>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38" name="Text 36"/>
          <p:cNvSpPr/>
          <p:nvPr/>
        </p:nvSpPr>
        <p:spPr>
          <a:xfrm>
            <a:off x="470916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0.1100</a:t>
            </a:r>
            <a:endParaRPr lang="en-US" sz="920" dirty="0"/>
          </a:p>
        </p:txBody>
      </p:sp>
      <p:sp>
        <p:nvSpPr>
          <p:cNvPr id="39" name="Text 37"/>
          <p:cNvSpPr/>
          <p:nvPr/>
        </p:nvSpPr>
        <p:spPr>
          <a:xfrm>
            <a:off x="548640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0.1294</a:t>
            </a:r>
            <a:endParaRPr lang="en-US" sz="920" dirty="0"/>
          </a:p>
        </p:txBody>
      </p:sp>
      <p:sp>
        <p:nvSpPr>
          <p:cNvPr id="40" name="Text 38"/>
          <p:cNvSpPr/>
          <p:nvPr/>
        </p:nvSpPr>
        <p:spPr>
          <a:xfrm>
            <a:off x="6263640" y="2404872"/>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11.00</a:t>
            </a:r>
            <a:endParaRPr lang="en-US" sz="920" dirty="0"/>
          </a:p>
        </p:txBody>
      </p:sp>
      <p:sp>
        <p:nvSpPr>
          <p:cNvPr id="41" name="Text 39"/>
          <p:cNvSpPr/>
          <p:nvPr/>
        </p:nvSpPr>
        <p:spPr>
          <a:xfrm>
            <a:off x="7059168" y="2404872"/>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1.59</a:t>
            </a:r>
            <a:endParaRPr lang="en-US" sz="920" dirty="0"/>
          </a:p>
        </p:txBody>
      </p:sp>
      <p:sp>
        <p:nvSpPr>
          <p:cNvPr id="42" name="Text 40"/>
          <p:cNvSpPr/>
          <p:nvPr/>
        </p:nvSpPr>
        <p:spPr>
          <a:xfrm>
            <a:off x="7635240" y="2404872"/>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£12.59</a:t>
            </a:r>
            <a:endParaRPr lang="en-US" sz="920" dirty="0"/>
          </a:p>
        </p:txBody>
      </p:sp>
      <p:sp>
        <p:nvSpPr>
          <p:cNvPr id="43" name="Text 41"/>
          <p:cNvSpPr/>
          <p:nvPr/>
        </p:nvSpPr>
        <p:spPr>
          <a:xfrm>
            <a:off x="685800" y="2711196"/>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Bore + ream 2 bores</a:t>
            </a:r>
            <a:endParaRPr lang="en-US" sz="920" dirty="0"/>
          </a:p>
        </p:txBody>
      </p:sp>
      <p:sp>
        <p:nvSpPr>
          <p:cNvPr id="44" name="Text 42"/>
          <p:cNvSpPr/>
          <p:nvPr/>
        </p:nvSpPr>
        <p:spPr>
          <a:xfrm>
            <a:off x="2606040" y="2711196"/>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45" name="Text 43"/>
          <p:cNvSpPr/>
          <p:nvPr/>
        </p:nvSpPr>
        <p:spPr>
          <a:xfrm>
            <a:off x="3977640" y="2711196"/>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46" name="Text 44"/>
          <p:cNvSpPr/>
          <p:nvPr/>
        </p:nvSpPr>
        <p:spPr>
          <a:xfrm>
            <a:off x="470916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0.0850</a:t>
            </a:r>
            <a:endParaRPr lang="en-US" sz="920" dirty="0"/>
          </a:p>
        </p:txBody>
      </p:sp>
      <p:sp>
        <p:nvSpPr>
          <p:cNvPr id="47" name="Text 45"/>
          <p:cNvSpPr/>
          <p:nvPr/>
        </p:nvSpPr>
        <p:spPr>
          <a:xfrm>
            <a:off x="548640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0.1000</a:t>
            </a:r>
            <a:endParaRPr lang="en-US" sz="920" dirty="0"/>
          </a:p>
        </p:txBody>
      </p:sp>
      <p:sp>
        <p:nvSpPr>
          <p:cNvPr id="48" name="Text 46"/>
          <p:cNvSpPr/>
          <p:nvPr/>
        </p:nvSpPr>
        <p:spPr>
          <a:xfrm>
            <a:off x="6263640" y="2711196"/>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a:t>
            </a:r>
            <a:endParaRPr lang="en-US" sz="920" dirty="0"/>
          </a:p>
        </p:txBody>
      </p:sp>
      <p:sp>
        <p:nvSpPr>
          <p:cNvPr id="49" name="Text 47"/>
          <p:cNvSpPr/>
          <p:nvPr/>
        </p:nvSpPr>
        <p:spPr>
          <a:xfrm>
            <a:off x="7059168" y="2711196"/>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1.23</a:t>
            </a:r>
            <a:endParaRPr lang="en-US" sz="920" dirty="0"/>
          </a:p>
        </p:txBody>
      </p:sp>
      <p:sp>
        <p:nvSpPr>
          <p:cNvPr id="50" name="Text 48"/>
          <p:cNvSpPr/>
          <p:nvPr/>
        </p:nvSpPr>
        <p:spPr>
          <a:xfrm>
            <a:off x="7635240" y="2711196"/>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£9.73</a:t>
            </a:r>
            <a:endParaRPr lang="en-US" sz="920" dirty="0"/>
          </a:p>
        </p:txBody>
      </p:sp>
      <p:sp>
        <p:nvSpPr>
          <p:cNvPr id="51" name="Shape 49"/>
          <p:cNvSpPr/>
          <p:nvPr/>
        </p:nvSpPr>
        <p:spPr>
          <a:xfrm>
            <a:off x="621792" y="2999232"/>
            <a:ext cx="7644384" cy="292608"/>
          </a:xfrm>
          <a:prstGeom prst="rect">
            <a:avLst/>
          </a:prstGeom>
          <a:solidFill>
            <a:srgbClr val="F4F7FB"/>
          </a:solidFill>
          <a:ln/>
        </p:spPr>
      </p:sp>
      <p:sp>
        <p:nvSpPr>
          <p:cNvPr id="52" name="Text 50"/>
          <p:cNvSpPr/>
          <p:nvPr/>
        </p:nvSpPr>
        <p:spPr>
          <a:xfrm>
            <a:off x="685800" y="3017520"/>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Drill + tap 16 holes</a:t>
            </a:r>
            <a:endParaRPr lang="en-US" sz="920" dirty="0"/>
          </a:p>
        </p:txBody>
      </p:sp>
      <p:sp>
        <p:nvSpPr>
          <p:cNvPr id="53" name="Text 51"/>
          <p:cNvSpPr/>
          <p:nvPr/>
        </p:nvSpPr>
        <p:spPr>
          <a:xfrm>
            <a:off x="2606040" y="3017520"/>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CNC drill/tap</a:t>
            </a:r>
            <a:endParaRPr lang="en-US" sz="920" dirty="0"/>
          </a:p>
        </p:txBody>
      </p:sp>
      <p:sp>
        <p:nvSpPr>
          <p:cNvPr id="54" name="Text 52"/>
          <p:cNvSpPr/>
          <p:nvPr/>
        </p:nvSpPr>
        <p:spPr>
          <a:xfrm>
            <a:off x="3977640" y="3017520"/>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30.00</a:t>
            </a:r>
            <a:endParaRPr lang="en-US" sz="920" dirty="0"/>
          </a:p>
        </p:txBody>
      </p:sp>
      <p:sp>
        <p:nvSpPr>
          <p:cNvPr id="55" name="Text 53"/>
          <p:cNvSpPr/>
          <p:nvPr/>
        </p:nvSpPr>
        <p:spPr>
          <a:xfrm>
            <a:off x="470916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0.0700</a:t>
            </a:r>
            <a:endParaRPr lang="en-US" sz="920" dirty="0"/>
          </a:p>
        </p:txBody>
      </p:sp>
      <p:sp>
        <p:nvSpPr>
          <p:cNvPr id="56" name="Text 54"/>
          <p:cNvSpPr/>
          <p:nvPr/>
        </p:nvSpPr>
        <p:spPr>
          <a:xfrm>
            <a:off x="548640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0.0824</a:t>
            </a:r>
            <a:endParaRPr lang="en-US" sz="920" dirty="0"/>
          </a:p>
        </p:txBody>
      </p:sp>
      <p:sp>
        <p:nvSpPr>
          <p:cNvPr id="57" name="Text 55"/>
          <p:cNvSpPr/>
          <p:nvPr/>
        </p:nvSpPr>
        <p:spPr>
          <a:xfrm>
            <a:off x="6263640" y="3017520"/>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2.47</a:t>
            </a:r>
            <a:endParaRPr lang="en-US" sz="920" dirty="0"/>
          </a:p>
        </p:txBody>
      </p:sp>
      <p:sp>
        <p:nvSpPr>
          <p:cNvPr id="58" name="Text 56"/>
          <p:cNvSpPr/>
          <p:nvPr/>
        </p:nvSpPr>
        <p:spPr>
          <a:xfrm>
            <a:off x="7059168" y="3017520"/>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0.77</a:t>
            </a:r>
            <a:endParaRPr lang="en-US" sz="920" dirty="0"/>
          </a:p>
        </p:txBody>
      </p:sp>
      <p:sp>
        <p:nvSpPr>
          <p:cNvPr id="59" name="Text 57"/>
          <p:cNvSpPr/>
          <p:nvPr/>
        </p:nvSpPr>
        <p:spPr>
          <a:xfrm>
            <a:off x="7635240" y="3017520"/>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£3.24</a:t>
            </a:r>
            <a:endParaRPr lang="en-US" sz="920" dirty="0"/>
          </a:p>
        </p:txBody>
      </p:sp>
      <p:sp>
        <p:nvSpPr>
          <p:cNvPr id="60" name="Text 58"/>
          <p:cNvSpPr/>
          <p:nvPr/>
        </p:nvSpPr>
        <p:spPr>
          <a:xfrm>
            <a:off x="685800" y="332384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Leak test, deburr, wash</a:t>
            </a:r>
            <a:endParaRPr lang="en-US" sz="920" dirty="0"/>
          </a:p>
        </p:txBody>
      </p:sp>
      <p:sp>
        <p:nvSpPr>
          <p:cNvPr id="61" name="Text 59"/>
          <p:cNvSpPr/>
          <p:nvPr/>
        </p:nvSpPr>
        <p:spPr>
          <a:xfrm>
            <a:off x="2606040" y="332384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Finish cell</a:t>
            </a:r>
            <a:endParaRPr lang="en-US" sz="920" dirty="0"/>
          </a:p>
        </p:txBody>
      </p:sp>
      <p:sp>
        <p:nvSpPr>
          <p:cNvPr id="62" name="Text 60"/>
          <p:cNvSpPr/>
          <p:nvPr/>
        </p:nvSpPr>
        <p:spPr>
          <a:xfrm>
            <a:off x="3977640" y="332384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55.00</a:t>
            </a:r>
            <a:endParaRPr lang="en-US" sz="920" dirty="0"/>
          </a:p>
        </p:txBody>
      </p:sp>
      <p:sp>
        <p:nvSpPr>
          <p:cNvPr id="63" name="Text 61"/>
          <p:cNvSpPr/>
          <p:nvPr/>
        </p:nvSpPr>
        <p:spPr>
          <a:xfrm>
            <a:off x="470916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0.0500</a:t>
            </a:r>
            <a:endParaRPr lang="en-US" sz="920" dirty="0"/>
          </a:p>
        </p:txBody>
      </p:sp>
      <p:sp>
        <p:nvSpPr>
          <p:cNvPr id="64" name="Text 62"/>
          <p:cNvSpPr/>
          <p:nvPr/>
        </p:nvSpPr>
        <p:spPr>
          <a:xfrm>
            <a:off x="548640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0.0588</a:t>
            </a:r>
            <a:endParaRPr lang="en-US" sz="920" dirty="0"/>
          </a:p>
        </p:txBody>
      </p:sp>
      <p:sp>
        <p:nvSpPr>
          <p:cNvPr id="65" name="Text 63"/>
          <p:cNvSpPr/>
          <p:nvPr/>
        </p:nvSpPr>
        <p:spPr>
          <a:xfrm>
            <a:off x="6263640" y="332384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3.24</a:t>
            </a:r>
            <a:endParaRPr lang="en-US" sz="920" dirty="0"/>
          </a:p>
        </p:txBody>
      </p:sp>
      <p:sp>
        <p:nvSpPr>
          <p:cNvPr id="66" name="Text 64"/>
          <p:cNvSpPr/>
          <p:nvPr/>
        </p:nvSpPr>
        <p:spPr>
          <a:xfrm>
            <a:off x="7059168" y="332384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0.76</a:t>
            </a:r>
            <a:endParaRPr lang="en-US" sz="920" dirty="0"/>
          </a:p>
        </p:txBody>
      </p:sp>
      <p:sp>
        <p:nvSpPr>
          <p:cNvPr id="67" name="Text 65"/>
          <p:cNvSpPr/>
          <p:nvPr/>
        </p:nvSpPr>
        <p:spPr>
          <a:xfrm>
            <a:off x="7635240" y="332384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£4.00</a:t>
            </a:r>
            <a:endParaRPr lang="en-US" sz="920" dirty="0"/>
          </a:p>
        </p:txBody>
      </p:sp>
      <p:sp>
        <p:nvSpPr>
          <p:cNvPr id="68" name="Shape 66"/>
          <p:cNvSpPr/>
          <p:nvPr/>
        </p:nvSpPr>
        <p:spPr>
          <a:xfrm>
            <a:off x="685800" y="3657600"/>
            <a:ext cx="7589520" cy="0"/>
          </a:xfrm>
          <a:prstGeom prst="line">
            <a:avLst/>
          </a:prstGeom>
          <a:noFill/>
          <a:ln w="12700">
            <a:solidFill>
              <a:srgbClr val="DCE3EE"/>
            </a:solidFill>
            <a:prstDash val="solid"/>
          </a:ln>
        </p:spPr>
      </p:sp>
      <p:sp>
        <p:nvSpPr>
          <p:cNvPr id="69" name="Text 67"/>
          <p:cNvSpPr/>
          <p:nvPr/>
        </p:nvSpPr>
        <p:spPr>
          <a:xfrm>
            <a:off x="685800" y="3721608"/>
            <a:ext cx="365760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 + labour, one housing</a:t>
            </a:r>
            <a:endParaRPr lang="en-US" sz="1050" dirty="0"/>
          </a:p>
        </p:txBody>
      </p:sp>
      <p:sp>
        <p:nvSpPr>
          <p:cNvPr id="70" name="Text 68"/>
          <p:cNvSpPr/>
          <p:nvPr/>
        </p:nvSpPr>
        <p:spPr>
          <a:xfrm>
            <a:off x="5486400" y="3721608"/>
            <a:ext cx="731520"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0.3919</a:t>
            </a:r>
            <a:endParaRPr lang="en-US" sz="1050" dirty="0"/>
          </a:p>
        </p:txBody>
      </p:sp>
      <p:sp>
        <p:nvSpPr>
          <p:cNvPr id="71" name="Text 69"/>
          <p:cNvSpPr/>
          <p:nvPr/>
        </p:nvSpPr>
        <p:spPr>
          <a:xfrm>
            <a:off x="6263640" y="3721608"/>
            <a:ext cx="74980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27.99</a:t>
            </a:r>
            <a:endParaRPr lang="en-US" sz="1050" dirty="0"/>
          </a:p>
        </p:txBody>
      </p:sp>
      <p:sp>
        <p:nvSpPr>
          <p:cNvPr id="72" name="Text 70"/>
          <p:cNvSpPr/>
          <p:nvPr/>
        </p:nvSpPr>
        <p:spPr>
          <a:xfrm>
            <a:off x="7059168" y="3721608"/>
            <a:ext cx="530352"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4.59</a:t>
            </a:r>
            <a:endParaRPr lang="en-US" sz="1050" dirty="0"/>
          </a:p>
        </p:txBody>
      </p:sp>
      <p:sp>
        <p:nvSpPr>
          <p:cNvPr id="73" name="Text 71"/>
          <p:cNvSpPr/>
          <p:nvPr/>
        </p:nvSpPr>
        <p:spPr>
          <a:xfrm>
            <a:off x="7635240" y="3721608"/>
            <a:ext cx="65836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£32.57</a:t>
            </a:r>
            <a:endParaRPr lang="en-US" sz="1050" dirty="0"/>
          </a:p>
        </p:txBody>
      </p:sp>
      <p:sp>
        <p:nvSpPr>
          <p:cNvPr id="74" name="Text 72"/>
          <p:cNvSpPr/>
          <p:nvPr/>
        </p:nvSpPr>
        <p:spPr>
          <a:xfrm>
            <a:off x="685800" y="4023360"/>
            <a:ext cx="7589520" cy="274320"/>
          </a:xfrm>
          <a:prstGeom prst="rect">
            <a:avLst/>
          </a:prstGeom>
          <a:noFill/>
          <a:ln/>
        </p:spPr>
        <p:txBody>
          <a:bodyPr wrap="square" lIns="0" tIns="0" rIns="0" bIns="0" rtlCol="0" anchor="ctr"/>
          <a:lstStyle/>
          <a:p>
            <a:pPr indent="0" marL="0">
              <a:buNone/>
            </a:pPr>
            <a:r>
              <a:rPr lang="en-US" sz="920" i="1" dirty="0">
                <a:solidFill>
                  <a:srgbClr val="6B7280"/>
                </a:solidFill>
                <a:latin typeface="Calibri" pitchFamily="34" charset="0"/>
                <a:ea typeface="Calibri" pitchFamily="34" charset="-122"/>
                <a:cs typeface="Calibri" pitchFamily="34" charset="-120"/>
              </a:rPr>
              <a:t>Machine £ = £/hr x charged time.  Labour £ = charged time x 0.5 operators x their grade rate.  Nothing else is added here.</a:t>
            </a:r>
            <a:endParaRPr lang="en-US" sz="920" dirty="0"/>
          </a:p>
        </p:txBody>
      </p:sp>
      <p:sp>
        <p:nvSpPr>
          <p:cNvPr id="75" name="Shape 73"/>
          <p:cNvSpPr/>
          <p:nvPr/>
        </p:nvSpPr>
        <p:spPr>
          <a:xfrm>
            <a:off x="8641080" y="1170432"/>
            <a:ext cx="3090672" cy="3200400"/>
          </a:xfrm>
          <a:prstGeom prst="roundRect">
            <a:avLst>
              <a:gd name="adj" fmla="val 2959"/>
            </a:avLst>
          </a:prstGeom>
          <a:solidFill>
            <a:srgbClr val="E6F4F1"/>
          </a:solidFill>
          <a:ln w="15875">
            <a:solidFill>
              <a:srgbClr val="0E8074"/>
            </a:solidFill>
            <a:prstDash val="solid"/>
          </a:ln>
        </p:spPr>
      </p:sp>
      <p:sp>
        <p:nvSpPr>
          <p:cNvPr id="76" name="Text 74"/>
          <p:cNvSpPr/>
          <p:nvPr/>
        </p:nvSpPr>
        <p:spPr>
          <a:xfrm>
            <a:off x="8851392" y="1280160"/>
            <a:ext cx="2743200" cy="237744"/>
          </a:xfrm>
          <a:prstGeom prst="rect">
            <a:avLst/>
          </a:prstGeom>
          <a:noFill/>
          <a:ln/>
        </p:spPr>
        <p:txBody>
          <a:bodyPr wrap="square" lIns="0" tIns="0" rIns="0" bIns="0" rtlCol="0" anchor="ctr"/>
          <a:lstStyle/>
          <a:p>
            <a:pPr indent="0" marL="0">
              <a:buNone/>
            </a:pPr>
            <a:r>
              <a:rPr lang="en-US" sz="1000" b="1" spc="80" kern="0" dirty="0">
                <a:solidFill>
                  <a:srgbClr val="0E8074"/>
                </a:solidFill>
                <a:latin typeface="Calibri" pitchFamily="34" charset="0"/>
                <a:ea typeface="Calibri" pitchFamily="34" charset="-122"/>
                <a:cs typeface="Calibri" pitchFamily="34" charset="-120"/>
              </a:rPr>
              <a:t>HOW A CYCLE TIME IS BUILT</a:t>
            </a:r>
            <a:endParaRPr lang="en-US" sz="1000" dirty="0"/>
          </a:p>
        </p:txBody>
      </p:sp>
      <p:sp>
        <p:nvSpPr>
          <p:cNvPr id="77" name="Text 75"/>
          <p:cNvSpPr/>
          <p:nvPr/>
        </p:nvSpPr>
        <p:spPr>
          <a:xfrm>
            <a:off x="8851392" y="1609344"/>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Casting</a:t>
            </a:r>
            <a:endParaRPr lang="en-US" sz="1050" dirty="0"/>
          </a:p>
        </p:txBody>
      </p:sp>
      <p:sp>
        <p:nvSpPr>
          <p:cNvPr id="78" name="Text 76"/>
          <p:cNvSpPr/>
          <p:nvPr/>
        </p:nvSpPr>
        <p:spPr>
          <a:xfrm>
            <a:off x="8851392" y="1828800"/>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fill + hold under pressure + cool until solid + open and eject = 55 seconds</a:t>
            </a:r>
            <a:endParaRPr lang="en-US" sz="930" dirty="0"/>
          </a:p>
        </p:txBody>
      </p:sp>
      <p:sp>
        <p:nvSpPr>
          <p:cNvPr id="79" name="Text 77"/>
          <p:cNvSpPr/>
          <p:nvPr/>
        </p:nvSpPr>
        <p:spPr>
          <a:xfrm>
            <a:off x="8851392" y="2505456"/>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Machining</a:t>
            </a:r>
            <a:endParaRPr lang="en-US" sz="1050" dirty="0"/>
          </a:p>
        </p:txBody>
      </p:sp>
      <p:sp>
        <p:nvSpPr>
          <p:cNvPr id="80" name="Text 78"/>
          <p:cNvSpPr/>
          <p:nvPr/>
        </p:nvSpPr>
        <p:spPr>
          <a:xfrm>
            <a:off x="8851392" y="2724912"/>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metal to remove / how fast the cutter removes it, + tool changes, + moving between features, + load and unload</a:t>
            </a:r>
            <a:endParaRPr lang="en-US" sz="930" dirty="0"/>
          </a:p>
        </p:txBody>
      </p:sp>
      <p:sp>
        <p:nvSpPr>
          <p:cNvPr id="81" name="Text 79"/>
          <p:cNvSpPr/>
          <p:nvPr/>
        </p:nvSpPr>
        <p:spPr>
          <a:xfrm>
            <a:off x="8851392" y="3401568"/>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 OEE column</a:t>
            </a:r>
            <a:endParaRPr lang="en-US" sz="1050" dirty="0"/>
          </a:p>
        </p:txBody>
      </p:sp>
      <p:sp>
        <p:nvSpPr>
          <p:cNvPr id="82" name="Text 80"/>
          <p:cNvSpPr/>
          <p:nvPr/>
        </p:nvSpPr>
        <p:spPr>
          <a:xfrm>
            <a:off x="8851392" y="3621024"/>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a machine is never 100% available. At 85% OEE, 0.110 hr of cutting occupies 0.1294 hr of machine. We cost the real world.</a:t>
            </a:r>
            <a:endParaRPr lang="en-US" sz="930" dirty="0"/>
          </a:p>
        </p:txBody>
      </p:sp>
      <p:sp>
        <p:nvSpPr>
          <p:cNvPr id="83" name="Shape 81"/>
          <p:cNvSpPr/>
          <p:nvPr/>
        </p:nvSpPr>
        <p:spPr>
          <a:xfrm>
            <a:off x="457200" y="4572000"/>
            <a:ext cx="11274552" cy="1691640"/>
          </a:xfrm>
          <a:prstGeom prst="roundRect">
            <a:avLst>
              <a:gd name="adj" fmla="val 5405"/>
            </a:avLst>
          </a:prstGeom>
          <a:solidFill>
            <a:srgbClr val="FFFFFF"/>
          </a:solidFill>
          <a:ln w="19050">
            <a:solidFill>
              <a:srgbClr val="2E8B57"/>
            </a:solidFill>
            <a:prstDash val="solid"/>
          </a:ln>
        </p:spPr>
      </p:sp>
      <p:sp>
        <p:nvSpPr>
          <p:cNvPr id="84" name="Text 82"/>
          <p:cNvSpPr/>
          <p:nvPr/>
        </p:nvSpPr>
        <p:spPr>
          <a:xfrm>
            <a:off x="731520" y="4681728"/>
            <a:ext cx="7315200" cy="27432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THE SURPRISE — and why this changes a negotiation</a:t>
            </a:r>
            <a:endParaRPr lang="en-US" sz="1250" dirty="0"/>
          </a:p>
        </p:txBody>
      </p:sp>
      <p:graphicFrame>
        <p:nvGraphicFramePr>
          <p:cNvPr id="85" name="Chart 0" descr=""/>
          <p:cNvGraphicFramePr/>
          <p:nvPr/>
        </p:nvGraphicFramePr>
        <p:xfrm>
          <a:off x="594360" y="4956048"/>
          <a:ext cx="5943600" cy="1188720"/>
        </p:xfrm>
        <a:graphic xmlns:a="http://schemas.openxmlformats.org/drawingml/2006/main">
          <a:graphicData uri="http://schemas.openxmlformats.org/drawingml/2006/chart">
            <c:chart xmlns:c="http://schemas.openxmlformats.org/drawingml/2006/chart" r:id="rId1"/>
          </a:graphicData>
        </a:graphic>
      </p:graphicFrame>
      <p:sp>
        <p:nvSpPr>
          <p:cNvPr id="86" name="Text 83"/>
          <p:cNvSpPr/>
          <p:nvPr/>
        </p:nvSpPr>
        <p:spPr>
          <a:xfrm>
            <a:off x="6766560" y="4974336"/>
            <a:ext cx="4754880" cy="1170432"/>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famous casting shot is £2.68 — 8% of the making cost. Cutting metal is £25.89 (79%); add test, deburr and wash and everything after the shot is £29.89, or 92%.
</a:t>
            </a:r>
            <a:pPr indent="0" marL="0">
              <a:buNone/>
            </a:pPr>
            <a:r>
              <a:rPr lang="en-US" sz="1050" b="1" dirty="0">
                <a:solidFill>
                  <a:srgbClr val="16325C"/>
                </a:solidFill>
                <a:latin typeface="Calibri" pitchFamily="34" charset="0"/>
                <a:ea typeface="Calibri" pitchFamily="34" charset="-122"/>
                <a:cs typeface="Calibri" pitchFamily="34" charset="-120"/>
              </a:rPr>
              <a:t>So arguing about the aluminium price is arguing about the wrong thing. </a:t>
            </a:r>
            <a:pPr indent="0" marL="0">
              <a:buNone/>
            </a:pPr>
            <a:r>
              <a:rPr lang="en-US" sz="1050" dirty="0">
                <a:solidFill>
                  <a:srgbClr val="3A4356"/>
                </a:solidFill>
                <a:latin typeface="Calibri" pitchFamily="34" charset="0"/>
                <a:ea typeface="Calibri" pitchFamily="34" charset="-122"/>
                <a:cs typeface="Calibri" pitchFamily="34" charset="-120"/>
              </a:rPr>
              <a:t>The money is in cycle time — which makes fixturing and tool paths the productive conversation.</a:t>
            </a:r>
            <a:endParaRPr lang="en-US" sz="1050" dirty="0"/>
          </a:p>
        </p:txBody>
      </p:sp>
      <p:sp>
        <p:nvSpPr>
          <p:cNvPr id="87" name="Text 8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88" name="Text 8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9–10 · Building the Cost, Country by Country</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Eight buckets, always the same eight — then recalculated on each country’s rates</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6400800" cy="3291840"/>
          </a:xfrm>
          <a:prstGeom prst="roundRect">
            <a:avLst>
              <a:gd name="adj" fmla="val 2778"/>
            </a:avLst>
          </a:prstGeom>
          <a:solidFill>
            <a:srgbClr val="FFFFFF"/>
          </a:solidFill>
          <a:ln w="12700">
            <a:solidFill>
              <a:srgbClr val="DCE3EE"/>
            </a:solidFill>
            <a:prstDash val="solid"/>
          </a:ln>
        </p:spPr>
      </p:sp>
      <p:sp>
        <p:nvSpPr>
          <p:cNvPr id="8" name="Text 6"/>
          <p:cNvSpPr/>
          <p:nvPr/>
        </p:nvSpPr>
        <p:spPr>
          <a:xfrm>
            <a:off x="685800" y="1280160"/>
            <a:ext cx="585216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EIGHT BUCKETS — this housing, made in China</a:t>
            </a:r>
            <a:endParaRPr lang="en-US" sz="1150" dirty="0"/>
          </a:p>
        </p:txBody>
      </p:sp>
      <p:sp>
        <p:nvSpPr>
          <p:cNvPr id="9" name="Text 7"/>
          <p:cNvSpPr/>
          <p:nvPr/>
        </p:nvSpPr>
        <p:spPr>
          <a:xfrm>
            <a:off x="685800" y="4114800"/>
            <a:ext cx="5943600" cy="274320"/>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Material = at poured weight · Process = casting shot + all machining · Tooling = the die, per part</a:t>
            </a:r>
            <a:endParaRPr lang="en-US" sz="860" dirty="0"/>
          </a:p>
        </p:txBody>
      </p:sp>
      <p:graphicFrame>
        <p:nvGraphicFramePr>
          <p:cNvPr id="10" name="Chart 0" descr=""/>
          <p:cNvGraphicFramePr/>
          <p:nvPr/>
        </p:nvGraphicFramePr>
        <p:xfrm>
          <a:off x="566928" y="1517904"/>
          <a:ext cx="6172200" cy="2578608"/>
        </p:xfrm>
        <a:graphic xmlns:a="http://schemas.openxmlformats.org/drawingml/2006/main">
          <a:graphicData uri="http://schemas.openxmlformats.org/drawingml/2006/chart">
            <c:chart xmlns:c="http://schemas.openxmlformats.org/drawingml/2006/chart" r:id="rId1"/>
          </a:graphicData>
        </a:graphic>
      </p:graphicFrame>
      <p:sp>
        <p:nvSpPr>
          <p:cNvPr id="11" name="Shape 8"/>
          <p:cNvSpPr/>
          <p:nvPr/>
        </p:nvSpPr>
        <p:spPr>
          <a:xfrm>
            <a:off x="7086600" y="1170432"/>
            <a:ext cx="4645152" cy="1600200"/>
          </a:xfrm>
          <a:prstGeom prst="roundRect">
            <a:avLst>
              <a:gd name="adj" fmla="val 5714"/>
            </a:avLst>
          </a:prstGeom>
          <a:solidFill>
            <a:srgbClr val="0E5A5A"/>
          </a:solidFill>
          <a:ln/>
        </p:spPr>
      </p:sp>
      <p:sp>
        <p:nvSpPr>
          <p:cNvPr id="12" name="Text 9"/>
          <p:cNvSpPr/>
          <p:nvPr/>
        </p:nvSpPr>
        <p:spPr>
          <a:xfrm>
            <a:off x="7315200" y="1298448"/>
            <a:ext cx="4206240" cy="237744"/>
          </a:xfrm>
          <a:prstGeom prst="rect">
            <a:avLst/>
          </a:prstGeom>
          <a:noFill/>
          <a:ln/>
        </p:spPr>
        <p:txBody>
          <a:bodyPr wrap="square" lIns="0" tIns="0" rIns="0" bIns="0" rtlCol="0" anchor="ctr"/>
          <a:lstStyle/>
          <a:p>
            <a:pPr indent="0" marL="0">
              <a:buNone/>
            </a:pPr>
            <a:r>
              <a:rPr lang="en-US" sz="1000" b="1" spc="100" kern="0" dirty="0">
                <a:solidFill>
                  <a:srgbClr val="9FD9CF"/>
                </a:solidFill>
                <a:latin typeface="Calibri" pitchFamily="34" charset="0"/>
                <a:ea typeface="Calibri" pitchFamily="34" charset="-122"/>
                <a:cs typeface="Calibri" pitchFamily="34" charset="-120"/>
              </a:rPr>
              <a:t>SHOULD-COST — MADE IN CHINA</a:t>
            </a:r>
            <a:endParaRPr lang="en-US" sz="1000" dirty="0"/>
          </a:p>
        </p:txBody>
      </p:sp>
      <p:sp>
        <p:nvSpPr>
          <p:cNvPr id="13" name="Text 10"/>
          <p:cNvSpPr/>
          <p:nvPr/>
        </p:nvSpPr>
        <p:spPr>
          <a:xfrm>
            <a:off x="7315200" y="1554480"/>
            <a:ext cx="4206240" cy="6858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£38.55</a:t>
            </a:r>
            <a:endParaRPr lang="en-US" sz="4400" dirty="0"/>
          </a:p>
        </p:txBody>
      </p:sp>
      <p:sp>
        <p:nvSpPr>
          <p:cNvPr id="14" name="Text 11"/>
          <p:cNvSpPr/>
          <p:nvPr/>
        </p:nvSpPr>
        <p:spPr>
          <a:xfrm>
            <a:off x="7315200" y="2286000"/>
            <a:ext cx="4206240" cy="256032"/>
          </a:xfrm>
          <a:prstGeom prst="rect">
            <a:avLst/>
          </a:prstGeom>
          <a:noFill/>
          <a:ln/>
        </p:spPr>
        <p:txBody>
          <a:bodyPr wrap="square" lIns="0" tIns="0" rIns="0" bIns="0" rtlCol="0" anchor="ctr"/>
          <a:lstStyle/>
          <a:p>
            <a:pPr indent="0" marL="0">
              <a:buNone/>
            </a:pPr>
            <a:r>
              <a:rPr lang="en-US" sz="1100" dirty="0">
                <a:solidFill>
                  <a:srgbClr val="CDEDE7"/>
                </a:solidFill>
                <a:latin typeface="Calibri" pitchFamily="34" charset="0"/>
                <a:ea typeface="Calibri" pitchFamily="34" charset="-122"/>
                <a:cs typeface="Calibri" pitchFamily="34" charset="-120"/>
              </a:rPr>
              <a:t>per part, at 60,000 a year</a:t>
            </a:r>
            <a:endParaRPr lang="en-US" sz="1100" dirty="0"/>
          </a:p>
        </p:txBody>
      </p:sp>
      <p:sp>
        <p:nvSpPr>
          <p:cNvPr id="15" name="Shape 12"/>
          <p:cNvSpPr/>
          <p:nvPr/>
        </p:nvSpPr>
        <p:spPr>
          <a:xfrm>
            <a:off x="7086600" y="2926080"/>
            <a:ext cx="4645152" cy="1536192"/>
          </a:xfrm>
          <a:prstGeom prst="roundRect">
            <a:avLst>
              <a:gd name="adj" fmla="val 5952"/>
            </a:avLst>
          </a:prstGeom>
          <a:solidFill>
            <a:srgbClr val="FFFFFF"/>
          </a:solidFill>
          <a:ln w="12700">
            <a:solidFill>
              <a:srgbClr val="DCE3EE"/>
            </a:solidFill>
            <a:prstDash val="solid"/>
          </a:ln>
        </p:spPr>
      </p:sp>
      <p:sp>
        <p:nvSpPr>
          <p:cNvPr id="16" name="Text 13"/>
          <p:cNvSpPr/>
          <p:nvPr/>
        </p:nvSpPr>
        <p:spPr>
          <a:xfrm>
            <a:off x="7315200" y="3035808"/>
            <a:ext cx="4206240" cy="237744"/>
          </a:xfrm>
          <a:prstGeom prst="rect">
            <a:avLst/>
          </a:prstGeom>
          <a:noFill/>
          <a:ln/>
        </p:spPr>
        <p:txBody>
          <a:bodyPr wrap="square" lIns="0" tIns="0" rIns="0" bIns="0" rtlCol="0" anchor="ctr"/>
          <a:lstStyle/>
          <a:p>
            <a:pPr indent="0" marL="0">
              <a:buNone/>
            </a:pPr>
            <a:r>
              <a:rPr lang="en-US" sz="1000" b="1" spc="80" kern="0" dirty="0">
                <a:solidFill>
                  <a:srgbClr val="16325C"/>
                </a:solidFill>
                <a:latin typeface="Calibri" pitchFamily="34" charset="0"/>
                <a:ea typeface="Calibri" pitchFamily="34" charset="-122"/>
                <a:cs typeface="Calibri" pitchFamily="34" charset="-120"/>
              </a:rPr>
              <a:t>THE SAME PART, PRICED ELSEWHERE</a:t>
            </a:r>
            <a:endParaRPr lang="en-US" sz="1000" dirty="0"/>
          </a:p>
        </p:txBody>
      </p:sp>
      <p:sp>
        <p:nvSpPr>
          <p:cNvPr id="17" name="Text 14"/>
          <p:cNvSpPr/>
          <p:nvPr/>
        </p:nvSpPr>
        <p:spPr>
          <a:xfrm>
            <a:off x="7360920" y="3273552"/>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India</a:t>
            </a:r>
            <a:endParaRPr lang="en-US" sz="1050" dirty="0"/>
          </a:p>
        </p:txBody>
      </p:sp>
      <p:sp>
        <p:nvSpPr>
          <p:cNvPr id="18" name="Text 15"/>
          <p:cNvSpPr/>
          <p:nvPr/>
        </p:nvSpPr>
        <p:spPr>
          <a:xfrm>
            <a:off x="9326880" y="3273552"/>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£37.17</a:t>
            </a:r>
            <a:endParaRPr lang="en-US" sz="1150" dirty="0"/>
          </a:p>
        </p:txBody>
      </p:sp>
      <p:sp>
        <p:nvSpPr>
          <p:cNvPr id="19" name="Text 16"/>
          <p:cNvSpPr/>
          <p:nvPr/>
        </p:nvSpPr>
        <p:spPr>
          <a:xfrm>
            <a:off x="7360920" y="3511296"/>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China</a:t>
            </a:r>
            <a:endParaRPr lang="en-US" sz="1050" dirty="0"/>
          </a:p>
        </p:txBody>
      </p:sp>
      <p:sp>
        <p:nvSpPr>
          <p:cNvPr id="20" name="Text 17"/>
          <p:cNvSpPr/>
          <p:nvPr/>
        </p:nvSpPr>
        <p:spPr>
          <a:xfrm>
            <a:off x="9326880" y="3511296"/>
            <a:ext cx="2103120" cy="246888"/>
          </a:xfrm>
          <a:prstGeom prst="rect">
            <a:avLst/>
          </a:prstGeom>
          <a:noFill/>
          <a:ln/>
        </p:spPr>
        <p:txBody>
          <a:bodyPr wrap="square" lIns="0" tIns="0" rIns="0" bIns="0" rtlCol="0" anchor="ctr"/>
          <a:lstStyle/>
          <a:p>
            <a:pPr algn="r" indent="0" marL="0">
              <a:buNone/>
            </a:pPr>
            <a:r>
              <a:rPr lang="en-US" sz="1150" b="1" dirty="0">
                <a:solidFill>
                  <a:srgbClr val="0E8074"/>
                </a:solidFill>
                <a:latin typeface="Calibri" pitchFamily="34" charset="0"/>
                <a:ea typeface="Calibri" pitchFamily="34" charset="-122"/>
                <a:cs typeface="Calibri" pitchFamily="34" charset="-120"/>
              </a:rPr>
              <a:t>£38.55</a:t>
            </a:r>
            <a:endParaRPr lang="en-US" sz="1150" dirty="0"/>
          </a:p>
        </p:txBody>
      </p:sp>
      <p:sp>
        <p:nvSpPr>
          <p:cNvPr id="21" name="Text 18"/>
          <p:cNvSpPr/>
          <p:nvPr/>
        </p:nvSpPr>
        <p:spPr>
          <a:xfrm>
            <a:off x="7360920" y="3749040"/>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Mexico</a:t>
            </a:r>
            <a:endParaRPr lang="en-US" sz="1050" dirty="0"/>
          </a:p>
        </p:txBody>
      </p:sp>
      <p:sp>
        <p:nvSpPr>
          <p:cNvPr id="22" name="Text 19"/>
          <p:cNvSpPr/>
          <p:nvPr/>
        </p:nvSpPr>
        <p:spPr>
          <a:xfrm>
            <a:off x="9326880" y="3749040"/>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£40.44</a:t>
            </a:r>
            <a:endParaRPr lang="en-US" sz="1150" dirty="0"/>
          </a:p>
        </p:txBody>
      </p:sp>
      <p:sp>
        <p:nvSpPr>
          <p:cNvPr id="23" name="Text 20"/>
          <p:cNvSpPr/>
          <p:nvPr/>
        </p:nvSpPr>
        <p:spPr>
          <a:xfrm>
            <a:off x="7360920" y="3986784"/>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United Kingdom</a:t>
            </a:r>
            <a:endParaRPr lang="en-US" sz="1050" dirty="0"/>
          </a:p>
        </p:txBody>
      </p:sp>
      <p:sp>
        <p:nvSpPr>
          <p:cNvPr id="24" name="Text 21"/>
          <p:cNvSpPr/>
          <p:nvPr/>
        </p:nvSpPr>
        <p:spPr>
          <a:xfrm>
            <a:off x="9326880" y="3986784"/>
            <a:ext cx="2103120" cy="246888"/>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£59.60</a:t>
            </a:r>
            <a:endParaRPr lang="en-US" sz="1150" dirty="0"/>
          </a:p>
        </p:txBody>
      </p:sp>
      <p:sp>
        <p:nvSpPr>
          <p:cNvPr id="25" name="Text 22"/>
          <p:cNvSpPr/>
          <p:nvPr/>
        </p:nvSpPr>
        <p:spPr>
          <a:xfrm>
            <a:off x="7315200" y="4206240"/>
            <a:ext cx="4251960" cy="274320"/>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Metal barely moves: £12.18 CN vs £12.56 UK. Rates do.</a:t>
            </a:r>
            <a:endParaRPr lang="en-US" sz="820" dirty="0"/>
          </a:p>
        </p:txBody>
      </p:sp>
      <p:sp>
        <p:nvSpPr>
          <p:cNvPr id="26" name="Shape 23"/>
          <p:cNvSpPr/>
          <p:nvPr/>
        </p:nvSpPr>
        <p:spPr>
          <a:xfrm>
            <a:off x="457200" y="4645152"/>
            <a:ext cx="11274552" cy="1627632"/>
          </a:xfrm>
          <a:prstGeom prst="roundRect">
            <a:avLst>
              <a:gd name="adj" fmla="val 5618"/>
            </a:avLst>
          </a:prstGeom>
          <a:solidFill>
            <a:srgbClr val="FFFFFF"/>
          </a:solidFill>
          <a:ln w="12700">
            <a:solidFill>
              <a:srgbClr val="DCE3EE"/>
            </a:solidFill>
            <a:prstDash val="solid"/>
          </a:ln>
        </p:spPr>
      </p:sp>
      <p:sp>
        <p:nvSpPr>
          <p:cNvPr id="27" name="Text 24"/>
          <p:cNvSpPr/>
          <p:nvPr/>
        </p:nvSpPr>
        <p:spPr>
          <a:xfrm>
            <a:off x="731520" y="475488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Two rules the engine applies to every single part, without exception</a:t>
            </a:r>
            <a:endParaRPr lang="en-US" sz="1250" dirty="0"/>
          </a:p>
        </p:txBody>
      </p:sp>
      <p:sp>
        <p:nvSpPr>
          <p:cNvPr id="28" name="Text 25"/>
          <p:cNvSpPr/>
          <p:nvPr/>
        </p:nvSpPr>
        <p:spPr>
          <a:xfrm>
            <a:off x="731520" y="5047488"/>
            <a:ext cx="10744200" cy="1143000"/>
          </a:xfrm>
          <a:prstGeom prst="rect">
            <a:avLst/>
          </a:prstGeom>
          <a:noFill/>
          <a:ln/>
        </p:spPr>
        <p:txBody>
          <a:bodyPr wrap="square" lIns="0" tIns="0" rIns="0" bIns="0" rtlCol="0" anchor="t"/>
          <a:lstStyle/>
          <a:p>
            <a:pPr indent="0" marL="0">
              <a:buNone/>
            </a:pPr>
            <a:r>
              <a:rPr lang="en-US" sz="1150" b="1" dirty="0">
                <a:solidFill>
                  <a:srgbClr val="0E8074"/>
                </a:solidFill>
                <a:latin typeface="Calibri" pitchFamily="34" charset="0"/>
                <a:ea typeface="Calibri" pitchFamily="34" charset="-122"/>
                <a:cs typeface="Calibri" pitchFamily="34" charset="-120"/>
              </a:rPr>
              <a:t>1.  Always the same eight buckets. </a:t>
            </a:r>
            <a:pPr indent="0" marL="0">
              <a:buNone/>
            </a:pPr>
            <a:r>
              <a:rPr lang="en-US" sz="1150" dirty="0">
                <a:solidFill>
                  <a:srgbClr val="3A4356"/>
                </a:solidFill>
                <a:latin typeface="Calibri" pitchFamily="34" charset="0"/>
                <a:ea typeface="Calibri" pitchFamily="34" charset="-122"/>
                <a:cs typeface="Calibri" pitchFamily="34" charset="-120"/>
              </a:rPr>
              <a:t>A stamped bracket, a moulded housing and this casting are all built the same way, so any two parts can be compared honestly. Overhead is applied once, on the factory cost. Margin is applied once, on the subtotal. Never twice.
</a:t>
            </a:r>
            <a:pPr indent="0" marL="0">
              <a:buNone/>
            </a:pPr>
            <a:r>
              <a:rPr lang="en-US" sz="1150" b="1" dirty="0">
                <a:solidFill>
                  <a:srgbClr val="0E8074"/>
                </a:solidFill>
                <a:latin typeface="Calibri" pitchFamily="34" charset="0"/>
                <a:ea typeface="Calibri" pitchFamily="34" charset="-122"/>
                <a:cs typeface="Calibri" pitchFamily="34" charset="-120"/>
              </a:rPr>
              <a:t>2.  Every figure traces back to a driver. </a:t>
            </a:r>
            <a:pPr indent="0" marL="0">
              <a:buNone/>
            </a:pPr>
            <a:r>
              <a:rPr lang="en-US" sz="1150" dirty="0">
                <a:solidFill>
                  <a:srgbClr val="3A4356"/>
                </a:solidFill>
                <a:latin typeface="Calibri" pitchFamily="34" charset="0"/>
                <a:ea typeface="Calibri" pitchFamily="34" charset="-122"/>
                <a:cs typeface="Calibri" pitchFamily="34" charset="-120"/>
              </a:rPr>
              <a:t>Material = measured weight x a published metal price. Process = calculated time x a machine rate. Change any input and you can point at exactly why the answer moved — there is no black box in the money.</a:t>
            </a:r>
            <a:endParaRPr lang="en-US" sz="1150" dirty="0"/>
          </a:p>
        </p:txBody>
      </p:sp>
      <p:sp>
        <p:nvSpPr>
          <p:cNvPr id="29" name="Text 2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0" name="Text 2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Honesty, Then a Human Decides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tool tells you how confident it is — and never signs its own work</a:t>
            </a:r>
            <a:endParaRPr lang="en-US" sz="1200" dirty="0"/>
          </a:p>
        </p:txBody>
      </p:sp>
      <p:sp>
        <p:nvSpPr>
          <p:cNvPr id="5" name="Shape 3"/>
          <p:cNvSpPr/>
          <p:nvPr/>
        </p:nvSpPr>
        <p:spPr>
          <a:xfrm>
            <a:off x="9418320" y="676656"/>
            <a:ext cx="2286000" cy="310896"/>
          </a:xfrm>
          <a:prstGeom prst="roundRect">
            <a:avLst>
              <a:gd name="adj" fmla="val 50000"/>
            </a:avLst>
          </a:prstGeom>
          <a:solidFill>
            <a:srgbClr val="EAF6EF"/>
          </a:solidFill>
          <a:ln w="12700">
            <a:solidFill>
              <a:srgbClr val="2E8B57"/>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2E8B57"/>
                </a:solidFill>
                <a:latin typeface="Calibri" pitchFamily="34" charset="0"/>
                <a:ea typeface="Calibri" pitchFamily="34" charset="-122"/>
                <a:cs typeface="Calibri" pitchFamily="34" charset="-120"/>
              </a:rPr>
              <a:t>OWNER: THE ENGINEER</a:t>
            </a:r>
            <a:endParaRPr lang="en-US" sz="950" dirty="0"/>
          </a:p>
        </p:txBody>
      </p:sp>
      <p:sp>
        <p:nvSpPr>
          <p:cNvPr id="7" name="Shape 5"/>
          <p:cNvSpPr/>
          <p:nvPr/>
        </p:nvSpPr>
        <p:spPr>
          <a:xfrm>
            <a:off x="457200" y="1188720"/>
            <a:ext cx="5486400" cy="2148840"/>
          </a:xfrm>
          <a:prstGeom prst="roundRect">
            <a:avLst>
              <a:gd name="adj" fmla="val 4255"/>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11 · A range, not false precision</a:t>
            </a:r>
            <a:endParaRPr lang="en-US" sz="1300" dirty="0"/>
          </a:p>
        </p:txBody>
      </p:sp>
      <p:sp>
        <p:nvSpPr>
          <p:cNvPr id="9" name="Text 7"/>
          <p:cNvSpPr/>
          <p:nvPr/>
        </p:nvSpPr>
        <p:spPr>
          <a:xfrm>
            <a:off x="685800" y="1627632"/>
            <a:ext cx="5029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4,000 simulated runs, varying the inputs the tool is least sure about. Tooling is varied most; overhead and margin are policy, so they follow.</a:t>
            </a:r>
            <a:endParaRPr lang="en-US" sz="1050" dirty="0"/>
          </a:p>
        </p:txBody>
      </p:sp>
      <p:sp>
        <p:nvSpPr>
          <p:cNvPr id="10" name="Shape 8"/>
          <p:cNvSpPr/>
          <p:nvPr/>
        </p:nvSpPr>
        <p:spPr>
          <a:xfrm>
            <a:off x="685800" y="2249424"/>
            <a:ext cx="5029200" cy="310896"/>
          </a:xfrm>
          <a:prstGeom prst="roundRect">
            <a:avLst>
              <a:gd name="adj" fmla="val 50000"/>
            </a:avLst>
          </a:prstGeom>
          <a:solidFill>
            <a:srgbClr val="DCE3EE"/>
          </a:solidFill>
          <a:ln/>
        </p:spPr>
      </p:sp>
      <p:sp>
        <p:nvSpPr>
          <p:cNvPr id="11" name="Shape 9"/>
          <p:cNvSpPr/>
          <p:nvPr/>
        </p:nvSpPr>
        <p:spPr>
          <a:xfrm>
            <a:off x="1671066" y="2249424"/>
            <a:ext cx="2987802" cy="310896"/>
          </a:xfrm>
          <a:prstGeom prst="roundRect">
            <a:avLst>
              <a:gd name="adj" fmla="val 50000"/>
            </a:avLst>
          </a:prstGeom>
          <a:solidFill>
            <a:srgbClr val="0E8074"/>
          </a:solidFill>
          <a:ln/>
        </p:spPr>
      </p:sp>
      <p:sp>
        <p:nvSpPr>
          <p:cNvPr id="12" name="Shape 10"/>
          <p:cNvSpPr/>
          <p:nvPr/>
        </p:nvSpPr>
        <p:spPr>
          <a:xfrm>
            <a:off x="3071927" y="2176272"/>
            <a:ext cx="51206" cy="457200"/>
          </a:xfrm>
          <a:prstGeom prst="rect">
            <a:avLst/>
          </a:prstGeom>
          <a:solidFill>
            <a:srgbClr val="16325C"/>
          </a:solidFill>
          <a:ln/>
        </p:spPr>
      </p:sp>
      <p:sp>
        <p:nvSpPr>
          <p:cNvPr id="13" name="Text 11"/>
          <p:cNvSpPr/>
          <p:nvPr/>
        </p:nvSpPr>
        <p:spPr>
          <a:xfrm>
            <a:off x="1168146" y="2651760"/>
            <a:ext cx="1005840"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P10  £32.31</a:t>
            </a:r>
            <a:endParaRPr lang="en-US" sz="900" dirty="0"/>
          </a:p>
        </p:txBody>
      </p:sp>
      <p:sp>
        <p:nvSpPr>
          <p:cNvPr id="14" name="Text 12"/>
          <p:cNvSpPr/>
          <p:nvPr/>
        </p:nvSpPr>
        <p:spPr>
          <a:xfrm>
            <a:off x="2548890" y="2651760"/>
            <a:ext cx="1097280" cy="219456"/>
          </a:xfrm>
          <a:prstGeom prst="rect">
            <a:avLst/>
          </a:prstGeom>
          <a:noFill/>
          <a:ln/>
        </p:spPr>
        <p:txBody>
          <a:bodyPr wrap="square" lIns="0" tIns="0" rIns="0" bIns="0" rtlCol="0" anchor="ctr"/>
          <a:lstStyle/>
          <a:p>
            <a:pPr algn="ctr" indent="0" marL="0">
              <a:buNone/>
            </a:pPr>
            <a:r>
              <a:rPr lang="en-US" sz="1050" b="1" dirty="0">
                <a:solidFill>
                  <a:srgbClr val="16325C"/>
                </a:solidFill>
                <a:latin typeface="Calibri" pitchFamily="34" charset="0"/>
                <a:ea typeface="Calibri" pitchFamily="34" charset="-122"/>
                <a:cs typeface="Calibri" pitchFamily="34" charset="-120"/>
              </a:rPr>
              <a:t>£38.55</a:t>
            </a:r>
            <a:endParaRPr lang="en-US" sz="1050" dirty="0"/>
          </a:p>
        </p:txBody>
      </p:sp>
      <p:sp>
        <p:nvSpPr>
          <p:cNvPr id="15" name="Text 13"/>
          <p:cNvSpPr/>
          <p:nvPr/>
        </p:nvSpPr>
        <p:spPr>
          <a:xfrm>
            <a:off x="4155948" y="2651760"/>
            <a:ext cx="1005840"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P90  £45.38</a:t>
            </a:r>
            <a:endParaRPr lang="en-US" sz="900" dirty="0"/>
          </a:p>
        </p:txBody>
      </p:sp>
      <p:sp>
        <p:nvSpPr>
          <p:cNvPr id="16" name="Text 14"/>
          <p:cNvSpPr/>
          <p:nvPr/>
        </p:nvSpPr>
        <p:spPr>
          <a:xfrm>
            <a:off x="685800" y="2926080"/>
            <a:ext cx="5029200" cy="384048"/>
          </a:xfrm>
          <a:prstGeom prst="rect">
            <a:avLst/>
          </a:prstGeom>
          <a:noFill/>
          <a:ln/>
        </p:spPr>
        <p:txBody>
          <a:bodyPr wrap="square" lIns="0" tIns="0" rIns="0" bIns="0" rtlCol="0" anchor="t"/>
          <a:lstStyle/>
          <a:p>
            <a:pPr indent="0" marL="0">
              <a:buNone/>
            </a:pPr>
            <a:r>
              <a:rPr lang="en-US" sz="960" i="1" dirty="0">
                <a:solidFill>
                  <a:srgbClr val="6B7280"/>
                </a:solidFill>
                <a:latin typeface="Calibri" pitchFamily="34" charset="0"/>
                <a:ea typeface="Calibri" pitchFamily="34" charset="-122"/>
                <a:cs typeface="Calibri" pitchFamily="34" charset="-120"/>
              </a:rPr>
              <a:t>±17% on this part. The band widens when the tool is less certain — a machining-heavy casting carries more cycle-time risk than a simple pressing.</a:t>
            </a:r>
            <a:endParaRPr lang="en-US" sz="960" dirty="0"/>
          </a:p>
        </p:txBody>
      </p:sp>
      <p:sp>
        <p:nvSpPr>
          <p:cNvPr id="17" name="Shape 15"/>
          <p:cNvSpPr/>
          <p:nvPr/>
        </p:nvSpPr>
        <p:spPr>
          <a:xfrm>
            <a:off x="6172200" y="1188720"/>
            <a:ext cx="5559552" cy="2148840"/>
          </a:xfrm>
          <a:prstGeom prst="roundRect">
            <a:avLst>
              <a:gd name="adj" fmla="val 4255"/>
            </a:avLst>
          </a:prstGeom>
          <a:solidFill>
            <a:srgbClr val="EAF6EF"/>
          </a:solidFill>
          <a:ln w="15875">
            <a:solidFill>
              <a:srgbClr val="2E8B57"/>
            </a:solidFill>
            <a:prstDash val="solid"/>
          </a:ln>
        </p:spPr>
      </p:sp>
      <p:sp>
        <p:nvSpPr>
          <p:cNvPr id="18" name="Text 16"/>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12 · What the engineer actually gets</a:t>
            </a:r>
            <a:endParaRPr lang="en-US" sz="1300" dirty="0"/>
          </a:p>
        </p:txBody>
      </p:sp>
      <p:pic>
        <p:nvPicPr>
          <p:cNvPr id="19" name="Image 0" descr="preencoded.png">    </p:cNvPr>
          <p:cNvPicPr>
            <a:picLocks noChangeAspect="1"/>
          </p:cNvPicPr>
          <p:nvPr/>
        </p:nvPicPr>
        <p:blipFill>
          <a:blip r:embed="rId1"/>
          <a:stretch>
            <a:fillRect/>
          </a:stretch>
        </p:blipFill>
        <p:spPr>
          <a:xfrm>
            <a:off x="6446520" y="1700784"/>
            <a:ext cx="146304" cy="146304"/>
          </a:xfrm>
          <a:prstGeom prst="rect">
            <a:avLst/>
          </a:prstGeom>
        </p:spPr>
      </p:pic>
      <p:sp>
        <p:nvSpPr>
          <p:cNvPr id="20" name="Text 17"/>
          <p:cNvSpPr/>
          <p:nvPr/>
        </p:nvSpPr>
        <p:spPr>
          <a:xfrm>
            <a:off x="6693408" y="1636776"/>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8-bucket breakdown, with every figure traceable</a:t>
            </a:r>
            <a:endParaRPr lang="en-US" sz="1080" dirty="0"/>
          </a:p>
        </p:txBody>
      </p:sp>
      <p:pic>
        <p:nvPicPr>
          <p:cNvPr id="21" name="Image 1" descr="preencoded.png">    </p:cNvPr>
          <p:cNvPicPr>
            <a:picLocks noChangeAspect="1"/>
          </p:cNvPicPr>
          <p:nvPr/>
        </p:nvPicPr>
        <p:blipFill>
          <a:blip r:embed="rId2"/>
          <a:stretch>
            <a:fillRect/>
          </a:stretch>
        </p:blipFill>
        <p:spPr>
          <a:xfrm>
            <a:off x="6446520" y="2011680"/>
            <a:ext cx="146304" cy="146304"/>
          </a:xfrm>
          <a:prstGeom prst="rect">
            <a:avLst/>
          </a:prstGeom>
        </p:spPr>
      </p:pic>
      <p:sp>
        <p:nvSpPr>
          <p:cNvPr id="22" name="Text 18"/>
          <p:cNvSpPr/>
          <p:nvPr/>
        </p:nvSpPr>
        <p:spPr>
          <a:xfrm>
            <a:off x="6693408" y="1947672"/>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operation list — what takes the time and why</a:t>
            </a:r>
            <a:endParaRPr lang="en-US" sz="1080" dirty="0"/>
          </a:p>
        </p:txBody>
      </p:sp>
      <p:pic>
        <p:nvPicPr>
          <p:cNvPr id="23" name="Image 2" descr="preencoded.png">    </p:cNvPr>
          <p:cNvPicPr>
            <a:picLocks noChangeAspect="1"/>
          </p:cNvPicPr>
          <p:nvPr/>
        </p:nvPicPr>
        <p:blipFill>
          <a:blip r:embed="rId3"/>
          <a:stretch>
            <a:fillRect/>
          </a:stretch>
        </p:blipFill>
        <p:spPr>
          <a:xfrm>
            <a:off x="6446520" y="2322576"/>
            <a:ext cx="146304" cy="146304"/>
          </a:xfrm>
          <a:prstGeom prst="rect">
            <a:avLst/>
          </a:prstGeom>
        </p:spPr>
      </p:pic>
      <p:sp>
        <p:nvSpPr>
          <p:cNvPr id="24" name="Text 19"/>
          <p:cNvSpPr/>
          <p:nvPr/>
        </p:nvSpPr>
        <p:spPr>
          <a:xfrm>
            <a:off x="6693408" y="2258568"/>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AI call made, flagged for confirmation</a:t>
            </a:r>
            <a:endParaRPr lang="en-US" sz="1080" dirty="0"/>
          </a:p>
        </p:txBody>
      </p:sp>
      <p:pic>
        <p:nvPicPr>
          <p:cNvPr id="25" name="Image 3" descr="preencoded.png">    </p:cNvPr>
          <p:cNvPicPr>
            <a:picLocks noChangeAspect="1"/>
          </p:cNvPicPr>
          <p:nvPr/>
        </p:nvPicPr>
        <p:blipFill>
          <a:blip r:embed="rId4"/>
          <a:stretch>
            <a:fillRect/>
          </a:stretch>
        </p:blipFill>
        <p:spPr>
          <a:xfrm>
            <a:off x="6446520" y="2633472"/>
            <a:ext cx="146304" cy="146304"/>
          </a:xfrm>
          <a:prstGeom prst="rect">
            <a:avLst/>
          </a:prstGeom>
        </p:spPr>
      </p:pic>
      <p:sp>
        <p:nvSpPr>
          <p:cNvPr id="26" name="Text 20"/>
          <p:cNvSpPr/>
          <p:nvPr/>
        </p:nvSpPr>
        <p:spPr>
          <a:xfrm>
            <a:off x="6693408" y="2569464"/>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autocorrection, with what changed and why</a:t>
            </a:r>
            <a:endParaRPr lang="en-US" sz="1080" dirty="0"/>
          </a:p>
        </p:txBody>
      </p:sp>
      <p:pic>
        <p:nvPicPr>
          <p:cNvPr id="27" name="Image 4" descr="preencoded.png">    </p:cNvPr>
          <p:cNvPicPr>
            <a:picLocks noChangeAspect="1"/>
          </p:cNvPicPr>
          <p:nvPr/>
        </p:nvPicPr>
        <p:blipFill>
          <a:blip r:embed="rId5"/>
          <a:stretch>
            <a:fillRect/>
          </a:stretch>
        </p:blipFill>
        <p:spPr>
          <a:xfrm>
            <a:off x="6446520" y="2944368"/>
            <a:ext cx="146304" cy="146304"/>
          </a:xfrm>
          <a:prstGeom prst="rect">
            <a:avLst/>
          </a:prstGeom>
        </p:spPr>
      </p:pic>
      <p:sp>
        <p:nvSpPr>
          <p:cNvPr id="28" name="Text 21"/>
          <p:cNvSpPr/>
          <p:nvPr/>
        </p:nvSpPr>
        <p:spPr>
          <a:xfrm>
            <a:off x="6693408" y="2880360"/>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Country comparison, and an exportable report</a:t>
            </a:r>
            <a:endParaRPr lang="en-US" sz="1080" dirty="0"/>
          </a:p>
        </p:txBody>
      </p:sp>
      <p:sp>
        <p:nvSpPr>
          <p:cNvPr id="29" name="Shape 22"/>
          <p:cNvSpPr/>
          <p:nvPr/>
        </p:nvSpPr>
        <p:spPr>
          <a:xfrm>
            <a:off x="457200" y="3547872"/>
            <a:ext cx="11274552" cy="1280160"/>
          </a:xfrm>
          <a:prstGeom prst="roundRect">
            <a:avLst>
              <a:gd name="adj" fmla="val 7143"/>
            </a:avLst>
          </a:prstGeom>
          <a:solidFill>
            <a:srgbClr val="FFFFFF"/>
          </a:solidFill>
          <a:ln w="19050">
            <a:solidFill>
              <a:srgbClr val="2E8B57"/>
            </a:solidFill>
            <a:prstDash val="solid"/>
          </a:ln>
        </p:spPr>
      </p:sp>
      <p:sp>
        <p:nvSpPr>
          <p:cNvPr id="30" name="Shape 23"/>
          <p:cNvSpPr/>
          <p:nvPr/>
        </p:nvSpPr>
        <p:spPr>
          <a:xfrm>
            <a:off x="713232" y="3858768"/>
            <a:ext cx="548640" cy="548640"/>
          </a:xfrm>
          <a:prstGeom prst="ellipse">
            <a:avLst/>
          </a:prstGeom>
          <a:solidFill>
            <a:srgbClr val="2E8B57"/>
          </a:solidFill>
          <a:ln/>
        </p:spPr>
      </p:sp>
      <p:pic>
        <p:nvPicPr>
          <p:cNvPr id="31" name="Image 5" descr="preencoded.png">    </p:cNvPr>
          <p:cNvPicPr>
            <a:picLocks noChangeAspect="1"/>
          </p:cNvPicPr>
          <p:nvPr/>
        </p:nvPicPr>
        <p:blipFill>
          <a:blip r:embed="rId6"/>
          <a:stretch>
            <a:fillRect/>
          </a:stretch>
        </p:blipFill>
        <p:spPr>
          <a:xfrm>
            <a:off x="859536" y="4005072"/>
            <a:ext cx="256032" cy="256032"/>
          </a:xfrm>
          <a:prstGeom prst="rect">
            <a:avLst/>
          </a:prstGeom>
        </p:spPr>
      </p:pic>
      <p:sp>
        <p:nvSpPr>
          <p:cNvPr id="32" name="Text 24"/>
          <p:cNvSpPr/>
          <p:nvPr/>
        </p:nvSpPr>
        <p:spPr>
          <a:xfrm>
            <a:off x="1463040" y="3657600"/>
            <a:ext cx="100584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Nothing leaves the tool unapproved</a:t>
            </a:r>
            <a:endParaRPr lang="en-US" sz="1300" dirty="0"/>
          </a:p>
        </p:txBody>
      </p:sp>
      <p:sp>
        <p:nvSpPr>
          <p:cNvPr id="33" name="Text 25"/>
          <p:cNvSpPr/>
          <p:nvPr/>
        </p:nvSpPr>
        <p:spPr>
          <a:xfrm>
            <a:off x="1463040" y="3968496"/>
            <a:ext cx="10058400" cy="777240"/>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AI suggestion arrives as an editable pre-fill — highlighted, never silently applied. </a:t>
            </a:r>
            <a:pPr indent="0" marL="0">
              <a:buNone/>
            </a:pPr>
            <a:r>
              <a:rPr lang="en-US" sz="1150" b="1" dirty="0">
                <a:solidFill>
                  <a:srgbClr val="16325C"/>
                </a:solidFill>
                <a:latin typeface="Calibri" pitchFamily="34" charset="0"/>
                <a:ea typeface="Calibri" pitchFamily="34" charset="-122"/>
                <a:cs typeface="Calibri" pitchFamily="34" charset="-120"/>
              </a:rPr>
              <a:t>Our engineer can change the material, the process, the machine, the cycle time or the rates, and the whole cost recalculates instantly. </a:t>
            </a:r>
            <a:pPr indent="0" marL="0">
              <a:buNone/>
            </a:pPr>
            <a:r>
              <a:rPr lang="en-US" sz="1150" dirty="0">
                <a:solidFill>
                  <a:srgbClr val="3A4356"/>
                </a:solidFill>
                <a:latin typeface="Calibri" pitchFamily="34" charset="0"/>
                <a:ea typeface="Calibri" pitchFamily="34" charset="-122"/>
                <a:cs typeface="Calibri" pitchFamily="34" charset="-120"/>
              </a:rPr>
              <a:t>The tool proposes. The engineer disposes. That is the last line of defence, and it is a person.</a:t>
            </a:r>
            <a:endParaRPr lang="en-US" sz="1150" dirty="0"/>
          </a:p>
        </p:txBody>
      </p:sp>
      <p:sp>
        <p:nvSpPr>
          <p:cNvPr id="34" name="Shape 26"/>
          <p:cNvSpPr/>
          <p:nvPr/>
        </p:nvSpPr>
        <p:spPr>
          <a:xfrm>
            <a:off x="457200" y="5010912"/>
            <a:ext cx="11274552" cy="1261872"/>
          </a:xfrm>
          <a:prstGeom prst="roundRect">
            <a:avLst>
              <a:gd name="adj" fmla="val 7246"/>
            </a:avLst>
          </a:prstGeom>
          <a:solidFill>
            <a:srgbClr val="16325C"/>
          </a:solidFill>
          <a:ln/>
        </p:spPr>
      </p:sp>
      <p:sp>
        <p:nvSpPr>
          <p:cNvPr id="35" name="Text 27"/>
          <p:cNvSpPr/>
          <p:nvPr/>
        </p:nvSpPr>
        <p:spPr>
          <a:xfrm>
            <a:off x="777240" y="5120640"/>
            <a:ext cx="10652760" cy="1051560"/>
          </a:xfrm>
          <a:prstGeom prst="rect">
            <a:avLst/>
          </a:prstGeom>
          <a:noFill/>
          <a:ln/>
        </p:spPr>
        <p:txBody>
          <a:bodyPr wrap="square" lIns="0" tIns="0" rIns="0" bIns="0" rtlCol="0" anchor="ctr"/>
          <a:lstStyle/>
          <a:p>
            <a:pPr indent="0" marL="0">
              <a:buNone/>
            </a:pPr>
            <a:r>
              <a:rPr lang="en-US" sz="1300" b="1" dirty="0">
                <a:solidFill>
                  <a:srgbClr val="9FB6E0"/>
                </a:solidFill>
                <a:latin typeface="Calibri" pitchFamily="34" charset="0"/>
                <a:ea typeface="Calibri" pitchFamily="34" charset="-122"/>
                <a:cs typeface="Calibri" pitchFamily="34" charset="-120"/>
              </a:rPr>
              <a:t>And if a supplier quotes £52 for this part?  </a:t>
            </a:r>
            <a:pPr indent="0" marL="0">
              <a:buNone/>
            </a:pPr>
            <a:r>
              <a:rPr lang="en-US" sz="1300" dirty="0">
                <a:solidFill>
                  <a:srgbClr val="FFFFFF"/>
                </a:solidFill>
                <a:latin typeface="Calibri" pitchFamily="34" charset="0"/>
                <a:ea typeface="Calibri" pitchFamily="34" charset="-122"/>
                <a:cs typeface="Calibri" pitchFamily="34" charset="-120"/>
              </a:rPr>
              <a:t>That is above the P90. Our buyer no longer has to feel it is high — they can see it, line by line, and ask the right question:  </a:t>
            </a:r>
            <a:pPr indent="0" marL="0">
              <a:buNone/>
            </a:pPr>
            <a:r>
              <a:rPr lang="en-US" sz="1300" b="1" i="1" dirty="0">
                <a:solidFill>
                  <a:srgbClr val="FFFFFF"/>
                </a:solidFill>
                <a:latin typeface="Calibri" pitchFamily="34" charset="0"/>
                <a:ea typeface="Calibri" pitchFamily="34" charset="-122"/>
                <a:cs typeface="Calibri" pitchFamily="34" charset="-120"/>
              </a:rPr>
              <a:t>"your machining time looks about 30% above what this geometry needs — walk me through your fixturing."</a:t>
            </a:r>
            <a:endParaRPr lang="en-US" sz="1300" dirty="0"/>
          </a:p>
        </p:txBody>
      </p:sp>
      <p:sp>
        <p:nvSpPr>
          <p:cNvPr id="36" name="Text 2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2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Where Every Number Comes From</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hallucination question, answered precisely</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B7791F"/>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77840" cy="2651760"/>
          </a:xfrm>
          <a:prstGeom prst="roundRect">
            <a:avLst>
              <a:gd name="adj" fmla="val 3448"/>
            </a:avLst>
          </a:prstGeom>
          <a:solidFill>
            <a:srgbClr val="FFFFFF"/>
          </a:solidFill>
          <a:ln w="12700">
            <a:solidFill>
              <a:srgbClr val="DCE3EE"/>
            </a:solidFill>
            <a:prstDash val="solid"/>
          </a:ln>
        </p:spPr>
      </p:sp>
      <p:sp>
        <p:nvSpPr>
          <p:cNvPr id="8" name="Text 6"/>
          <p:cNvSpPr/>
          <p:nvPr/>
        </p:nvSpPr>
        <p:spPr>
          <a:xfrm>
            <a:off x="685800" y="1298448"/>
            <a:ext cx="5120640" cy="237744"/>
          </a:xfrm>
          <a:prstGeom prst="rect">
            <a:avLst/>
          </a:prstGeom>
          <a:noFill/>
          <a:ln/>
        </p:spPr>
        <p:txBody>
          <a:bodyPr wrap="square" lIns="0" tIns="0" rIns="0" bIns="0" rtlCol="0" anchor="ctr"/>
          <a:lstStyle/>
          <a:p>
            <a:pPr indent="0" marL="0">
              <a:buNone/>
            </a:pPr>
            <a:r>
              <a:rPr lang="en-US" sz="1050" b="1" spc="60" kern="0" dirty="0">
                <a:solidFill>
                  <a:srgbClr val="16325C"/>
                </a:solidFill>
                <a:latin typeface="Calibri" pitchFamily="34" charset="0"/>
                <a:ea typeface="Calibri" pitchFamily="34" charset="-122"/>
                <a:cs typeface="Calibri" pitchFamily="34" charset="-120"/>
              </a:rPr>
              <a:t>EVERY BUCKET, AND WHAT IT IS MADE OF</a:t>
            </a:r>
            <a:endParaRPr lang="en-US" sz="1050" dirty="0"/>
          </a:p>
        </p:txBody>
      </p:sp>
      <p:sp>
        <p:nvSpPr>
          <p:cNvPr id="9" name="Text 7"/>
          <p:cNvSpPr/>
          <p:nvPr/>
        </p:nvSpPr>
        <p:spPr>
          <a:xfrm>
            <a:off x="713232" y="1609344"/>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Material</a:t>
            </a:r>
            <a:endParaRPr lang="en-US" sz="1000" dirty="0"/>
          </a:p>
        </p:txBody>
      </p:sp>
      <p:sp>
        <p:nvSpPr>
          <p:cNvPr id="10" name="Text 8"/>
          <p:cNvSpPr/>
          <p:nvPr/>
        </p:nvSpPr>
        <p:spPr>
          <a:xfrm>
            <a:off x="2542032" y="160934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measured volume x density x published £/kg</a:t>
            </a:r>
            <a:endParaRPr lang="en-US" sz="960" dirty="0"/>
          </a:p>
        </p:txBody>
      </p:sp>
      <p:sp>
        <p:nvSpPr>
          <p:cNvPr id="11" name="Text 9"/>
          <p:cNvSpPr/>
          <p:nvPr/>
        </p:nvSpPr>
        <p:spPr>
          <a:xfrm>
            <a:off x="713232" y="1901952"/>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Process</a:t>
            </a:r>
            <a:endParaRPr lang="en-US" sz="1000" dirty="0"/>
          </a:p>
        </p:txBody>
      </p:sp>
      <p:sp>
        <p:nvSpPr>
          <p:cNvPr id="12" name="Text 10"/>
          <p:cNvSpPr/>
          <p:nvPr/>
        </p:nvSpPr>
        <p:spPr>
          <a:xfrm>
            <a:off x="2542032" y="1901952"/>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cycle time / OEE x machine £/hr</a:t>
            </a:r>
            <a:endParaRPr lang="en-US" sz="960" dirty="0"/>
          </a:p>
        </p:txBody>
      </p:sp>
      <p:sp>
        <p:nvSpPr>
          <p:cNvPr id="13" name="Text 11"/>
          <p:cNvSpPr/>
          <p:nvPr/>
        </p:nvSpPr>
        <p:spPr>
          <a:xfrm>
            <a:off x="713232" y="2194560"/>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Labour</a:t>
            </a:r>
            <a:endParaRPr lang="en-US" sz="1000" dirty="0"/>
          </a:p>
        </p:txBody>
      </p:sp>
      <p:sp>
        <p:nvSpPr>
          <p:cNvPr id="14" name="Text 12"/>
          <p:cNvSpPr/>
          <p:nvPr/>
        </p:nvSpPr>
        <p:spPr>
          <a:xfrm>
            <a:off x="2542032" y="2194560"/>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same time x manning x wage-grade £/hr</a:t>
            </a:r>
            <a:endParaRPr lang="en-US" sz="960" dirty="0"/>
          </a:p>
        </p:txBody>
      </p:sp>
      <p:sp>
        <p:nvSpPr>
          <p:cNvPr id="15" name="Text 13"/>
          <p:cNvSpPr/>
          <p:nvPr/>
        </p:nvSpPr>
        <p:spPr>
          <a:xfrm>
            <a:off x="713232" y="2487168"/>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Tooling</a:t>
            </a:r>
            <a:endParaRPr lang="en-US" sz="1000" dirty="0"/>
          </a:p>
        </p:txBody>
      </p:sp>
      <p:sp>
        <p:nvSpPr>
          <p:cNvPr id="16" name="Text 14"/>
          <p:cNvSpPr/>
          <p:nvPr/>
        </p:nvSpPr>
        <p:spPr>
          <a:xfrm>
            <a:off x="2542032" y="2487168"/>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die cost / parts over its life</a:t>
            </a:r>
            <a:endParaRPr lang="en-US" sz="960" dirty="0"/>
          </a:p>
        </p:txBody>
      </p:sp>
      <p:sp>
        <p:nvSpPr>
          <p:cNvPr id="17" name="Text 15"/>
          <p:cNvSpPr/>
          <p:nvPr/>
        </p:nvSpPr>
        <p:spPr>
          <a:xfrm>
            <a:off x="713232" y="2779776"/>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Packaging, Logistics</a:t>
            </a:r>
            <a:endParaRPr lang="en-US" sz="1000" dirty="0"/>
          </a:p>
        </p:txBody>
      </p:sp>
      <p:sp>
        <p:nvSpPr>
          <p:cNvPr id="18" name="Text 16"/>
          <p:cNvSpPr/>
          <p:nvPr/>
        </p:nvSpPr>
        <p:spPr>
          <a:xfrm>
            <a:off x="2542032" y="2779776"/>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directly by the engineer</a:t>
            </a:r>
            <a:endParaRPr lang="en-US" sz="960" dirty="0"/>
          </a:p>
        </p:txBody>
      </p:sp>
      <p:sp>
        <p:nvSpPr>
          <p:cNvPr id="19" name="Text 17"/>
          <p:cNvSpPr/>
          <p:nvPr/>
        </p:nvSpPr>
        <p:spPr>
          <a:xfrm>
            <a:off x="713232" y="3072384"/>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Overhead, Margin</a:t>
            </a:r>
            <a:endParaRPr lang="en-US" sz="1000" dirty="0"/>
          </a:p>
        </p:txBody>
      </p:sp>
      <p:sp>
        <p:nvSpPr>
          <p:cNvPr id="20" name="Text 18"/>
          <p:cNvSpPr/>
          <p:nvPr/>
        </p:nvSpPr>
        <p:spPr>
          <a:xfrm>
            <a:off x="2542032" y="307238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 % of the figures above — applied once</a:t>
            </a:r>
            <a:endParaRPr lang="en-US" sz="960" dirty="0"/>
          </a:p>
        </p:txBody>
      </p:sp>
      <p:sp>
        <p:nvSpPr>
          <p:cNvPr id="21" name="Text 19"/>
          <p:cNvSpPr/>
          <p:nvPr/>
        </p:nvSpPr>
        <p:spPr>
          <a:xfrm>
            <a:off x="713232" y="3438144"/>
            <a:ext cx="512064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Not one of those six lines contains an AI-generated number.</a:t>
            </a:r>
            <a:endParaRPr lang="en-US" sz="1050" dirty="0"/>
          </a:p>
        </p:txBody>
      </p:sp>
      <p:sp>
        <p:nvSpPr>
          <p:cNvPr id="22" name="Shape 20"/>
          <p:cNvSpPr/>
          <p:nvPr/>
        </p:nvSpPr>
        <p:spPr>
          <a:xfrm>
            <a:off x="6263640" y="1188720"/>
            <a:ext cx="5468112" cy="2651760"/>
          </a:xfrm>
          <a:prstGeom prst="roundRect">
            <a:avLst>
              <a:gd name="adj" fmla="val 3448"/>
            </a:avLst>
          </a:prstGeom>
          <a:solidFill>
            <a:srgbClr val="FCF3E3"/>
          </a:solidFill>
          <a:ln w="15875">
            <a:solidFill>
              <a:srgbClr val="B7791F"/>
            </a:solidFill>
            <a:prstDash val="solid"/>
          </a:ln>
        </p:spPr>
      </p:sp>
      <p:sp>
        <p:nvSpPr>
          <p:cNvPr id="23" name="Text 21"/>
          <p:cNvSpPr/>
          <p:nvPr/>
        </p:nvSpPr>
        <p:spPr>
          <a:xfrm>
            <a:off x="6492240" y="1298448"/>
            <a:ext cx="5029200" cy="237744"/>
          </a:xfrm>
          <a:prstGeom prst="rect">
            <a:avLst/>
          </a:prstGeom>
          <a:noFill/>
          <a:ln/>
        </p:spPr>
        <p:txBody>
          <a:bodyPr wrap="square" lIns="0" tIns="0" rIns="0" bIns="0" rtlCol="0" anchor="ctr"/>
          <a:lstStyle/>
          <a:p>
            <a:pPr indent="0" marL="0">
              <a:buNone/>
            </a:pPr>
            <a:r>
              <a:rPr lang="en-US" sz="1050" b="1" spc="60" kern="0" dirty="0">
                <a:solidFill>
                  <a:srgbClr val="B7791F"/>
                </a:solidFill>
                <a:latin typeface="Calibri" pitchFamily="34" charset="0"/>
                <a:ea typeface="Calibri" pitchFamily="34" charset="-122"/>
                <a:cs typeface="Calibri" pitchFamily="34" charset="-120"/>
              </a:rPr>
              <a:t>THE CHECKS THAT RUN ON EVERY ESTIMATE</a:t>
            </a:r>
            <a:endParaRPr lang="en-US" sz="1050" dirty="0"/>
          </a:p>
        </p:txBody>
      </p:sp>
      <p:sp>
        <p:nvSpPr>
          <p:cNvPr id="24" name="Text 22"/>
          <p:cNvSpPr/>
          <p:nvPr/>
        </p:nvSpPr>
        <p:spPr>
          <a:xfrm>
            <a:off x="6510528" y="160934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AI volume vs measured volume — &gt;25% apart warns, &gt;50% errors</a:t>
            </a:r>
            <a:endParaRPr lang="en-US" sz="960" dirty="0"/>
          </a:p>
        </p:txBody>
      </p:sp>
      <p:sp>
        <p:nvSpPr>
          <p:cNvPr id="25" name="Text 23"/>
          <p:cNvSpPr/>
          <p:nvPr/>
        </p:nvSpPr>
        <p:spPr>
          <a:xfrm>
            <a:off x="6510528" y="1901952"/>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Weight must equal volume x density to within 20%</a:t>
            </a:r>
            <a:endParaRPr lang="en-US" sz="960" dirty="0"/>
          </a:p>
        </p:txBody>
      </p:sp>
      <p:sp>
        <p:nvSpPr>
          <p:cNvPr id="26" name="Text 24"/>
          <p:cNvSpPr/>
          <p:nvPr/>
        </p:nvSpPr>
        <p:spPr>
          <a:xfrm>
            <a:off x="6510528" y="2194560"/>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Material confidence under 50% — asks for a photo or confirmation</a:t>
            </a:r>
            <a:endParaRPr lang="en-US" sz="960" dirty="0"/>
          </a:p>
        </p:txBody>
      </p:sp>
      <p:sp>
        <p:nvSpPr>
          <p:cNvPr id="27" name="Text 25"/>
          <p:cNvSpPr/>
          <p:nvPr/>
        </p:nvSpPr>
        <p:spPr>
          <a:xfrm>
            <a:off x="6510528" y="2487168"/>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Any cycle time outside 1.8 seconds to 24 hours is rejected</a:t>
            </a:r>
            <a:endParaRPr lang="en-US" sz="960" dirty="0"/>
          </a:p>
        </p:txBody>
      </p:sp>
      <p:sp>
        <p:nvSpPr>
          <p:cNvPr id="28" name="Text 26"/>
          <p:cNvSpPr/>
          <p:nvPr/>
        </p:nvSpPr>
        <p:spPr>
          <a:xfrm>
            <a:off x="6510528" y="2779776"/>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Near-net machining capped to 0.10 hr + 0.07 hr/kg</a:t>
            </a:r>
            <a:endParaRPr lang="en-US" sz="960" dirty="0"/>
          </a:p>
        </p:txBody>
      </p:sp>
      <p:sp>
        <p:nvSpPr>
          <p:cNvPr id="29" name="Text 27"/>
          <p:cNvSpPr/>
          <p:nvPr/>
        </p:nvSpPr>
        <p:spPr>
          <a:xfrm>
            <a:off x="6510528" y="307238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Machine must be big enough for the part, or it is flagged</a:t>
            </a:r>
            <a:endParaRPr lang="en-US" sz="960" dirty="0"/>
          </a:p>
        </p:txBody>
      </p:sp>
      <p:sp>
        <p:nvSpPr>
          <p:cNvPr id="30" name="Text 28"/>
          <p:cNvSpPr/>
          <p:nvPr/>
        </p:nvSpPr>
        <p:spPr>
          <a:xfrm>
            <a:off x="6510528" y="3438144"/>
            <a:ext cx="502920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Each one is code, not a prompt — code cannot be talked out of a rule.</a:t>
            </a:r>
            <a:endParaRPr lang="en-US" sz="1050" dirty="0"/>
          </a:p>
        </p:txBody>
      </p:sp>
      <p:sp>
        <p:nvSpPr>
          <p:cNvPr id="31" name="Shape 29"/>
          <p:cNvSpPr/>
          <p:nvPr/>
        </p:nvSpPr>
        <p:spPr>
          <a:xfrm>
            <a:off x="457200" y="3977640"/>
            <a:ext cx="11274552" cy="1143000"/>
          </a:xfrm>
          <a:prstGeom prst="roundRect">
            <a:avLst>
              <a:gd name="adj" fmla="val 8000"/>
            </a:avLst>
          </a:prstGeom>
          <a:solidFill>
            <a:srgbClr val="FFFFFF"/>
          </a:solidFill>
          <a:ln w="19050">
            <a:solidFill>
              <a:srgbClr val="2E8B57"/>
            </a:solidFill>
            <a:prstDash val="solid"/>
          </a:ln>
        </p:spPr>
      </p:sp>
      <p:sp>
        <p:nvSpPr>
          <p:cNvPr id="32" name="Text 30"/>
          <p:cNvSpPr/>
          <p:nvPr/>
        </p:nvSpPr>
        <p:spPr>
          <a:xfrm>
            <a:off x="731520" y="4087368"/>
            <a:ext cx="10058400" cy="27432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The claim we make — and the claim we do not</a:t>
            </a:r>
            <a:endParaRPr lang="en-US" sz="1250" dirty="0"/>
          </a:p>
        </p:txBody>
      </p:sp>
      <p:sp>
        <p:nvSpPr>
          <p:cNvPr id="33" name="Text 31"/>
          <p:cNvSpPr/>
          <p:nvPr/>
        </p:nvSpPr>
        <p:spPr>
          <a:xfrm>
            <a:off x="731520" y="4379976"/>
            <a:ext cx="10744200" cy="676656"/>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We do say: no AI-invented number ever becomes money. </a:t>
            </a:r>
            <a:pPr indent="0" marL="0">
              <a:buNone/>
            </a:pPr>
            <a:r>
              <a:rPr lang="en-US" sz="1150" dirty="0">
                <a:solidFill>
                  <a:srgbClr val="3A4356"/>
                </a:solidFill>
                <a:latin typeface="Calibri" pitchFamily="34" charset="0"/>
                <a:ea typeface="Calibri" pitchFamily="34" charset="-122"/>
                <a:cs typeface="Calibri" pitchFamily="34" charset="-120"/>
              </a:rPr>
              <a:t>The AI hands over words — "aluminium die-casting alloy", "high-pressure die cast" — and the engine takes it from there.  </a:t>
            </a:r>
            <a:pPr indent="0" marL="0">
              <a:buNone/>
            </a:pPr>
            <a:r>
              <a:rPr lang="en-US" sz="1150" b="1" dirty="0">
                <a:solidFill>
                  <a:srgbClr val="B03A2E"/>
                </a:solidFill>
                <a:latin typeface="Calibri" pitchFamily="34" charset="0"/>
                <a:ea typeface="Calibri" pitchFamily="34" charset="-122"/>
                <a:cs typeface="Calibri" pitchFamily="34" charset="-120"/>
              </a:rPr>
              <a:t>We do not say the AI is never wrong. </a:t>
            </a:r>
            <a:pPr indent="0" marL="0">
              <a:buNone/>
            </a:pPr>
            <a:r>
              <a:rPr lang="en-US" sz="1150" dirty="0">
                <a:solidFill>
                  <a:srgbClr val="3A4356"/>
                </a:solidFill>
                <a:latin typeface="Calibri" pitchFamily="34" charset="0"/>
                <a:ea typeface="Calibri" pitchFamily="34" charset="-122"/>
                <a:cs typeface="Calibri" pitchFamily="34" charset="-120"/>
              </a:rPr>
              <a:t>It can misread a part. That is exactly why it carries a confidence score, why the checks above run automatically, and why a person signs the result.</a:t>
            </a:r>
            <a:endParaRPr lang="en-US" sz="1150" dirty="0"/>
          </a:p>
        </p:txBody>
      </p:sp>
      <p:sp>
        <p:nvSpPr>
          <p:cNvPr id="34" name="Shape 32"/>
          <p:cNvSpPr/>
          <p:nvPr/>
        </p:nvSpPr>
        <p:spPr>
          <a:xfrm>
            <a:off x="457200" y="5257800"/>
            <a:ext cx="11274552" cy="960120"/>
          </a:xfrm>
          <a:prstGeom prst="roundRect">
            <a:avLst>
              <a:gd name="adj" fmla="val 9524"/>
            </a:avLst>
          </a:prstGeom>
          <a:solidFill>
            <a:srgbClr val="E6F4F1"/>
          </a:solidFill>
          <a:ln w="12700">
            <a:solidFill>
              <a:srgbClr val="0E8074"/>
            </a:solidFill>
            <a:prstDash val="solid"/>
          </a:ln>
        </p:spPr>
      </p:sp>
      <p:sp>
        <p:nvSpPr>
          <p:cNvPr id="35" name="Text 33"/>
          <p:cNvSpPr/>
          <p:nvPr/>
        </p:nvSpPr>
        <p:spPr>
          <a:xfrm>
            <a:off x="731520" y="5367528"/>
            <a:ext cx="10744200" cy="777240"/>
          </a:xfrm>
          <a:prstGeom prst="rect">
            <a:avLst/>
          </a:prstGeom>
          <a:noFill/>
          <a:ln/>
        </p:spPr>
        <p:txBody>
          <a:bodyPr wrap="square" lIns="0" tIns="0" rIns="0" bIns="0" rtlCol="0" anchor="ctr"/>
          <a:lstStyle/>
          <a:p>
            <a:pPr indent="0" marL="0">
              <a:buNone/>
            </a:pPr>
            <a:r>
              <a:rPr lang="en-US" sz="1200" b="1" dirty="0">
                <a:solidFill>
                  <a:srgbClr val="0E8074"/>
                </a:solidFill>
                <a:latin typeface="Calibri" pitchFamily="34" charset="0"/>
                <a:ea typeface="Calibri" pitchFamily="34" charset="-122"/>
                <a:cs typeface="Calibri" pitchFamily="34" charset="-120"/>
              </a:rPr>
              <a:t>Reproducibility test: </a:t>
            </a:r>
            <a:pPr indent="0" marL="0">
              <a:buNone/>
            </a:pPr>
            <a:r>
              <a:rPr lang="en-US" sz="1200" dirty="0">
                <a:solidFill>
                  <a:srgbClr val="3A4356"/>
                </a:solidFill>
                <a:latin typeface="Calibri" pitchFamily="34" charset="0"/>
                <a:ea typeface="Calibri" pitchFamily="34" charset="-122"/>
                <a:cs typeface="Calibri" pitchFamily="34" charset="-120"/>
              </a:rPr>
              <a:t>run the same file with the same inputs a hundred times and you get £38.55 a hundred times. The arithmetic is fixed code, so the answer cannot drift between runs, between engineers, or between one supplier meeting and the next.</a:t>
            </a:r>
            <a:endParaRPr lang="en-US" sz="120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Whole Thing on One Page</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Who does what — the answer to the question you asked me</a:t>
            </a:r>
            <a:endParaRPr lang="en-US" sz="1200" dirty="0"/>
          </a:p>
        </p:txBody>
      </p:sp>
      <p:sp>
        <p:nvSpPr>
          <p:cNvPr id="4" name="Shape 2"/>
          <p:cNvSpPr/>
          <p:nvPr/>
        </p:nvSpPr>
        <p:spPr>
          <a:xfrm>
            <a:off x="457200" y="1207008"/>
            <a:ext cx="2157984" cy="3246120"/>
          </a:xfrm>
          <a:prstGeom prst="roundRect">
            <a:avLst>
              <a:gd name="adj" fmla="val 3814"/>
            </a:avLst>
          </a:prstGeom>
          <a:solidFill>
            <a:srgbClr val="E8F1FA"/>
          </a:solidFill>
          <a:ln w="15875">
            <a:solidFill>
              <a:srgbClr val="1D6FB8"/>
            </a:solidFill>
            <a:prstDash val="solid"/>
          </a:ln>
        </p:spPr>
      </p:sp>
      <p:sp>
        <p:nvSpPr>
          <p:cNvPr id="5" name="Shape 3"/>
          <p:cNvSpPr/>
          <p:nvPr/>
        </p:nvSpPr>
        <p:spPr>
          <a:xfrm>
            <a:off x="457200" y="1207008"/>
            <a:ext cx="2157984" cy="402336"/>
          </a:xfrm>
          <a:prstGeom prst="rect">
            <a:avLst/>
          </a:prstGeom>
          <a:solidFill>
            <a:srgbClr val="1D6FB8"/>
          </a:solidFill>
          <a:ln/>
        </p:spPr>
      </p:sp>
      <p:sp>
        <p:nvSpPr>
          <p:cNvPr id="6" name="Text 4"/>
          <p:cNvSpPr/>
          <p:nvPr/>
        </p:nvSpPr>
        <p:spPr>
          <a:xfrm>
            <a:off x="457200"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RULER</a:t>
            </a:r>
            <a:endParaRPr lang="en-US" sz="1100" dirty="0"/>
          </a:p>
        </p:txBody>
      </p:sp>
      <p:sp>
        <p:nvSpPr>
          <p:cNvPr id="7" name="Text 5"/>
          <p:cNvSpPr/>
          <p:nvPr/>
        </p:nvSpPr>
        <p:spPr>
          <a:xfrm>
            <a:off x="548640" y="1682496"/>
            <a:ext cx="1975104" cy="256032"/>
          </a:xfrm>
          <a:prstGeom prst="rect">
            <a:avLst/>
          </a:prstGeom>
          <a:noFill/>
          <a:ln/>
        </p:spPr>
        <p:txBody>
          <a:bodyPr wrap="square" lIns="0" tIns="0" rIns="0" bIns="0" rtlCol="0" anchor="ctr"/>
          <a:lstStyle/>
          <a:p>
            <a:pPr algn="ctr" indent="0" marL="0">
              <a:buNone/>
            </a:pPr>
            <a:r>
              <a:rPr lang="en-US" sz="1000" b="1" i="1" dirty="0">
                <a:solidFill>
                  <a:srgbClr val="1D6FB8"/>
                </a:solidFill>
                <a:latin typeface="Calibri" pitchFamily="34" charset="0"/>
                <a:ea typeface="Calibri" pitchFamily="34" charset="-122"/>
                <a:cs typeface="Calibri" pitchFamily="34" charset="-120"/>
              </a:rPr>
              <a:t>Measures the CAD file</a:t>
            </a:r>
            <a:endParaRPr lang="en-US" sz="1000" dirty="0"/>
          </a:p>
        </p:txBody>
      </p:sp>
      <p:sp>
        <p:nvSpPr>
          <p:cNvPr id="8" name="Text 6"/>
          <p:cNvSpPr/>
          <p:nvPr/>
        </p:nvSpPr>
        <p:spPr>
          <a:xfrm>
            <a:off x="585216"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Volume, weight, walls</a:t>
            </a:r>
            <a:endParaRPr lang="en-US" sz="950" dirty="0"/>
          </a:p>
        </p:txBody>
      </p:sp>
      <p:sp>
        <p:nvSpPr>
          <p:cNvPr id="9" name="Text 7"/>
          <p:cNvSpPr/>
          <p:nvPr/>
        </p:nvSpPr>
        <p:spPr>
          <a:xfrm>
            <a:off x="585216"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Bores, holes, faces</a:t>
            </a:r>
            <a:endParaRPr lang="en-US" sz="950" dirty="0"/>
          </a:p>
        </p:txBody>
      </p:sp>
      <p:sp>
        <p:nvSpPr>
          <p:cNvPr id="10" name="Text 8"/>
          <p:cNvSpPr/>
          <p:nvPr/>
        </p:nvSpPr>
        <p:spPr>
          <a:xfrm>
            <a:off x="585216"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Hollow-vs-solid check</a:t>
            </a:r>
            <a:endParaRPr lang="en-US" sz="950" dirty="0"/>
          </a:p>
        </p:txBody>
      </p:sp>
      <p:sp>
        <p:nvSpPr>
          <p:cNvPr id="11" name="Shape 9"/>
          <p:cNvSpPr/>
          <p:nvPr/>
        </p:nvSpPr>
        <p:spPr>
          <a:xfrm>
            <a:off x="566928" y="3950208"/>
            <a:ext cx="1938528" cy="402336"/>
          </a:xfrm>
          <a:prstGeom prst="roundRect">
            <a:avLst>
              <a:gd name="adj" fmla="val 18182"/>
            </a:avLst>
          </a:prstGeom>
          <a:solidFill>
            <a:srgbClr val="FFFFFF"/>
          </a:solidFill>
          <a:ln w="9525">
            <a:solidFill>
              <a:srgbClr val="1D6FB8"/>
            </a:solidFill>
            <a:prstDash val="solid"/>
          </a:ln>
        </p:spPr>
      </p:sp>
      <p:sp>
        <p:nvSpPr>
          <p:cNvPr id="12" name="Text 10"/>
          <p:cNvSpPr/>
          <p:nvPr/>
        </p:nvSpPr>
        <p:spPr>
          <a:xfrm>
            <a:off x="585216" y="3950208"/>
            <a:ext cx="1901952" cy="402336"/>
          </a:xfrm>
          <a:prstGeom prst="rect">
            <a:avLst/>
          </a:prstGeom>
          <a:noFill/>
          <a:ln/>
        </p:spPr>
        <p:txBody>
          <a:bodyPr wrap="square" lIns="0" tIns="0" rIns="0" bIns="0" rtlCol="0" anchor="ctr"/>
          <a:lstStyle/>
          <a:p>
            <a:pPr algn="ctr" indent="0" marL="0">
              <a:buNone/>
            </a:pPr>
            <a:r>
              <a:rPr lang="en-US" sz="880" b="1" dirty="0">
                <a:solidFill>
                  <a:srgbClr val="1D6FB8"/>
                </a:solidFill>
                <a:latin typeface="Calibri" pitchFamily="34" charset="0"/>
                <a:ea typeface="Calibri" pitchFamily="34" charset="-122"/>
                <a:cs typeface="Calibri" pitchFamily="34" charset="-120"/>
              </a:rPr>
              <a:t>Same answer every time</a:t>
            </a:r>
            <a:endParaRPr lang="en-US" sz="880" dirty="0"/>
          </a:p>
        </p:txBody>
      </p:sp>
      <p:sp>
        <p:nvSpPr>
          <p:cNvPr id="13" name="Shape 11"/>
          <p:cNvSpPr/>
          <p:nvPr/>
        </p:nvSpPr>
        <p:spPr>
          <a:xfrm>
            <a:off x="2715768" y="1207008"/>
            <a:ext cx="2157984" cy="3246120"/>
          </a:xfrm>
          <a:prstGeom prst="roundRect">
            <a:avLst>
              <a:gd name="adj" fmla="val 3814"/>
            </a:avLst>
          </a:prstGeom>
          <a:solidFill>
            <a:srgbClr val="F1EBF8"/>
          </a:solidFill>
          <a:ln w="15875">
            <a:solidFill>
              <a:srgbClr val="6B3FA0"/>
            </a:solidFill>
            <a:prstDash val="solid"/>
          </a:ln>
        </p:spPr>
      </p:sp>
      <p:sp>
        <p:nvSpPr>
          <p:cNvPr id="14" name="Shape 12"/>
          <p:cNvSpPr/>
          <p:nvPr/>
        </p:nvSpPr>
        <p:spPr>
          <a:xfrm>
            <a:off x="2715768" y="1207008"/>
            <a:ext cx="2157984" cy="402336"/>
          </a:xfrm>
          <a:prstGeom prst="rect">
            <a:avLst/>
          </a:prstGeom>
          <a:solidFill>
            <a:srgbClr val="6B3FA0"/>
          </a:solidFill>
          <a:ln/>
        </p:spPr>
      </p:sp>
      <p:sp>
        <p:nvSpPr>
          <p:cNvPr id="15" name="Text 13"/>
          <p:cNvSpPr/>
          <p:nvPr/>
        </p:nvSpPr>
        <p:spPr>
          <a:xfrm>
            <a:off x="2715768"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AI</a:t>
            </a:r>
            <a:endParaRPr lang="en-US" sz="1100" dirty="0"/>
          </a:p>
        </p:txBody>
      </p:sp>
      <p:sp>
        <p:nvSpPr>
          <p:cNvPr id="16" name="Text 14"/>
          <p:cNvSpPr/>
          <p:nvPr/>
        </p:nvSpPr>
        <p:spPr>
          <a:xfrm>
            <a:off x="2807208" y="1682496"/>
            <a:ext cx="1975104" cy="256032"/>
          </a:xfrm>
          <a:prstGeom prst="rect">
            <a:avLst/>
          </a:prstGeom>
          <a:noFill/>
          <a:ln/>
        </p:spPr>
        <p:txBody>
          <a:bodyPr wrap="square" lIns="0" tIns="0" rIns="0" bIns="0" rtlCol="0" anchor="ctr"/>
          <a:lstStyle/>
          <a:p>
            <a:pPr algn="ctr" indent="0" marL="0">
              <a:buNone/>
            </a:pPr>
            <a:r>
              <a:rPr lang="en-US" sz="1000" b="1" i="1" dirty="0">
                <a:solidFill>
                  <a:srgbClr val="6B3FA0"/>
                </a:solidFill>
                <a:latin typeface="Calibri" pitchFamily="34" charset="0"/>
                <a:ea typeface="Calibri" pitchFamily="34" charset="-122"/>
                <a:cs typeface="Calibri" pitchFamily="34" charset="-120"/>
              </a:rPr>
              <a:t>Reads and names it</a:t>
            </a:r>
            <a:endParaRPr lang="en-US" sz="1000" dirty="0"/>
          </a:p>
        </p:txBody>
      </p:sp>
      <p:sp>
        <p:nvSpPr>
          <p:cNvPr id="17" name="Text 15"/>
          <p:cNvSpPr/>
          <p:nvPr/>
        </p:nvSpPr>
        <p:spPr>
          <a:xfrm>
            <a:off x="2843784"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Alloy family</a:t>
            </a:r>
            <a:endParaRPr lang="en-US" sz="950" dirty="0"/>
          </a:p>
        </p:txBody>
      </p:sp>
      <p:sp>
        <p:nvSpPr>
          <p:cNvPr id="18" name="Text 16"/>
          <p:cNvSpPr/>
          <p:nvPr/>
        </p:nvSpPr>
        <p:spPr>
          <a:xfrm>
            <a:off x="2843784"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Process route</a:t>
            </a:r>
            <a:endParaRPr lang="en-US" sz="950" dirty="0"/>
          </a:p>
        </p:txBody>
      </p:sp>
      <p:sp>
        <p:nvSpPr>
          <p:cNvPr id="19" name="Text 17"/>
          <p:cNvSpPr/>
          <p:nvPr/>
        </p:nvSpPr>
        <p:spPr>
          <a:xfrm>
            <a:off x="2843784"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Confidence score</a:t>
            </a:r>
            <a:endParaRPr lang="en-US" sz="950" dirty="0"/>
          </a:p>
        </p:txBody>
      </p:sp>
      <p:sp>
        <p:nvSpPr>
          <p:cNvPr id="20" name="Shape 18"/>
          <p:cNvSpPr/>
          <p:nvPr/>
        </p:nvSpPr>
        <p:spPr>
          <a:xfrm>
            <a:off x="2825496" y="3950208"/>
            <a:ext cx="1938528" cy="402336"/>
          </a:xfrm>
          <a:prstGeom prst="roundRect">
            <a:avLst>
              <a:gd name="adj" fmla="val 18182"/>
            </a:avLst>
          </a:prstGeom>
          <a:solidFill>
            <a:srgbClr val="FFFFFF"/>
          </a:solidFill>
          <a:ln w="9525">
            <a:solidFill>
              <a:srgbClr val="6B3FA0"/>
            </a:solidFill>
            <a:prstDash val="solid"/>
          </a:ln>
        </p:spPr>
      </p:sp>
      <p:sp>
        <p:nvSpPr>
          <p:cNvPr id="21" name="Text 19"/>
          <p:cNvSpPr/>
          <p:nvPr/>
        </p:nvSpPr>
        <p:spPr>
          <a:xfrm>
            <a:off x="2843784" y="3950208"/>
            <a:ext cx="1901952" cy="402336"/>
          </a:xfrm>
          <a:prstGeom prst="rect">
            <a:avLst/>
          </a:prstGeom>
          <a:noFill/>
          <a:ln/>
        </p:spPr>
        <p:txBody>
          <a:bodyPr wrap="square" lIns="0" tIns="0" rIns="0" bIns="0" rtlCol="0" anchor="ctr"/>
          <a:lstStyle/>
          <a:p>
            <a:pPr algn="ctr" indent="0" marL="0">
              <a:buNone/>
            </a:pPr>
            <a:r>
              <a:rPr lang="en-US" sz="880" b="1" dirty="0">
                <a:solidFill>
                  <a:srgbClr val="6B3FA0"/>
                </a:solidFill>
                <a:latin typeface="Calibri" pitchFamily="34" charset="0"/>
                <a:ea typeface="Calibri" pitchFamily="34" charset="-122"/>
                <a:cs typeface="Calibri" pitchFamily="34" charset="-120"/>
              </a:rPr>
              <a:t>Words only. Never money.</a:t>
            </a:r>
            <a:endParaRPr lang="en-US" sz="880" dirty="0"/>
          </a:p>
        </p:txBody>
      </p:sp>
      <p:sp>
        <p:nvSpPr>
          <p:cNvPr id="22" name="Shape 20"/>
          <p:cNvSpPr/>
          <p:nvPr/>
        </p:nvSpPr>
        <p:spPr>
          <a:xfrm>
            <a:off x="4974336" y="1207008"/>
            <a:ext cx="2157984" cy="3246120"/>
          </a:xfrm>
          <a:prstGeom prst="roundRect">
            <a:avLst>
              <a:gd name="adj" fmla="val 3814"/>
            </a:avLst>
          </a:prstGeom>
          <a:solidFill>
            <a:srgbClr val="FCF3E3"/>
          </a:solidFill>
          <a:ln w="15875">
            <a:solidFill>
              <a:srgbClr val="B7791F"/>
            </a:solidFill>
            <a:prstDash val="solid"/>
          </a:ln>
        </p:spPr>
      </p:sp>
      <p:sp>
        <p:nvSpPr>
          <p:cNvPr id="23" name="Shape 21"/>
          <p:cNvSpPr/>
          <p:nvPr/>
        </p:nvSpPr>
        <p:spPr>
          <a:xfrm>
            <a:off x="4974336" y="1207008"/>
            <a:ext cx="2157984" cy="402336"/>
          </a:xfrm>
          <a:prstGeom prst="rect">
            <a:avLst/>
          </a:prstGeom>
          <a:solidFill>
            <a:srgbClr val="B7791F"/>
          </a:solidFill>
          <a:ln/>
        </p:spPr>
      </p:sp>
      <p:sp>
        <p:nvSpPr>
          <p:cNvPr id="24" name="Text 22"/>
          <p:cNvSpPr/>
          <p:nvPr/>
        </p:nvSpPr>
        <p:spPr>
          <a:xfrm>
            <a:off x="4974336"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GUARDS</a:t>
            </a:r>
            <a:endParaRPr lang="en-US" sz="1100" dirty="0"/>
          </a:p>
        </p:txBody>
      </p:sp>
      <p:sp>
        <p:nvSpPr>
          <p:cNvPr id="25" name="Text 23"/>
          <p:cNvSpPr/>
          <p:nvPr/>
        </p:nvSpPr>
        <p:spPr>
          <a:xfrm>
            <a:off x="5065776" y="1682496"/>
            <a:ext cx="1975104" cy="256032"/>
          </a:xfrm>
          <a:prstGeom prst="rect">
            <a:avLst/>
          </a:prstGeom>
          <a:noFill/>
          <a:ln/>
        </p:spPr>
        <p:txBody>
          <a:bodyPr wrap="square" lIns="0" tIns="0" rIns="0" bIns="0" rtlCol="0" anchor="ctr"/>
          <a:lstStyle/>
          <a:p>
            <a:pPr algn="ctr" indent="0" marL="0">
              <a:buNone/>
            </a:pPr>
            <a:r>
              <a:rPr lang="en-US" sz="1000" b="1" i="1" dirty="0">
                <a:solidFill>
                  <a:srgbClr val="B7791F"/>
                </a:solidFill>
                <a:latin typeface="Calibri" pitchFamily="34" charset="0"/>
                <a:ea typeface="Calibri" pitchFamily="34" charset="-122"/>
                <a:cs typeface="Calibri" pitchFamily="34" charset="-120"/>
              </a:rPr>
              <a:t>Check and autocorrect</a:t>
            </a:r>
            <a:endParaRPr lang="en-US" sz="1000" dirty="0"/>
          </a:p>
        </p:txBody>
      </p:sp>
      <p:sp>
        <p:nvSpPr>
          <p:cNvPr id="26" name="Text 24"/>
          <p:cNvSpPr/>
          <p:nvPr/>
        </p:nvSpPr>
        <p:spPr>
          <a:xfrm>
            <a:off x="5102352"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Pour weight, not part weight</a:t>
            </a:r>
            <a:endParaRPr lang="en-US" sz="950" dirty="0"/>
          </a:p>
        </p:txBody>
      </p:sp>
      <p:sp>
        <p:nvSpPr>
          <p:cNvPr id="27" name="Text 25"/>
          <p:cNvSpPr/>
          <p:nvPr/>
        </p:nvSpPr>
        <p:spPr>
          <a:xfrm>
            <a:off x="5102352"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Machining = finishing</a:t>
            </a:r>
            <a:endParaRPr lang="en-US" sz="950" dirty="0"/>
          </a:p>
        </p:txBody>
      </p:sp>
      <p:sp>
        <p:nvSpPr>
          <p:cNvPr id="28" name="Text 26"/>
          <p:cNvSpPr/>
          <p:nvPr/>
        </p:nvSpPr>
        <p:spPr>
          <a:xfrm>
            <a:off x="5102352"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Right alloy, right press</a:t>
            </a:r>
            <a:endParaRPr lang="en-US" sz="950" dirty="0"/>
          </a:p>
        </p:txBody>
      </p:sp>
      <p:sp>
        <p:nvSpPr>
          <p:cNvPr id="29" name="Shape 27"/>
          <p:cNvSpPr/>
          <p:nvPr/>
        </p:nvSpPr>
        <p:spPr>
          <a:xfrm>
            <a:off x="5084064" y="3950208"/>
            <a:ext cx="1938528" cy="402336"/>
          </a:xfrm>
          <a:prstGeom prst="roundRect">
            <a:avLst>
              <a:gd name="adj" fmla="val 18182"/>
            </a:avLst>
          </a:prstGeom>
          <a:solidFill>
            <a:srgbClr val="FFFFFF"/>
          </a:solidFill>
          <a:ln w="9525">
            <a:solidFill>
              <a:srgbClr val="B7791F"/>
            </a:solidFill>
            <a:prstDash val="solid"/>
          </a:ln>
        </p:spPr>
      </p:sp>
      <p:sp>
        <p:nvSpPr>
          <p:cNvPr id="30" name="Text 28"/>
          <p:cNvSpPr/>
          <p:nvPr/>
        </p:nvSpPr>
        <p:spPr>
          <a:xfrm>
            <a:off x="5102352" y="3950208"/>
            <a:ext cx="1901952" cy="402336"/>
          </a:xfrm>
          <a:prstGeom prst="rect">
            <a:avLst/>
          </a:prstGeom>
          <a:noFill/>
          <a:ln/>
        </p:spPr>
        <p:txBody>
          <a:bodyPr wrap="square" lIns="0" tIns="0" rIns="0" bIns="0" rtlCol="0" anchor="ctr"/>
          <a:lstStyle/>
          <a:p>
            <a:pPr algn="ctr" indent="0" marL="0">
              <a:buNone/>
            </a:pPr>
            <a:r>
              <a:rPr lang="en-US" sz="880" b="1" dirty="0">
                <a:solidFill>
                  <a:srgbClr val="B7791F"/>
                </a:solidFill>
                <a:latin typeface="Calibri" pitchFamily="34" charset="0"/>
                <a:ea typeface="Calibri" pitchFamily="34" charset="-122"/>
                <a:cs typeface="Calibri" pitchFamily="34" charset="-120"/>
              </a:rPr>
              <a:t>Measurements always win</a:t>
            </a:r>
            <a:endParaRPr lang="en-US" sz="880" dirty="0"/>
          </a:p>
        </p:txBody>
      </p:sp>
      <p:sp>
        <p:nvSpPr>
          <p:cNvPr id="31" name="Shape 29"/>
          <p:cNvSpPr/>
          <p:nvPr/>
        </p:nvSpPr>
        <p:spPr>
          <a:xfrm>
            <a:off x="7232904" y="1207008"/>
            <a:ext cx="2157984" cy="3246120"/>
          </a:xfrm>
          <a:prstGeom prst="roundRect">
            <a:avLst>
              <a:gd name="adj" fmla="val 3814"/>
            </a:avLst>
          </a:prstGeom>
          <a:solidFill>
            <a:srgbClr val="E6F4F1"/>
          </a:solidFill>
          <a:ln w="15875">
            <a:solidFill>
              <a:srgbClr val="0E8074"/>
            </a:solidFill>
            <a:prstDash val="solid"/>
          </a:ln>
        </p:spPr>
      </p:sp>
      <p:sp>
        <p:nvSpPr>
          <p:cNvPr id="32" name="Shape 30"/>
          <p:cNvSpPr/>
          <p:nvPr/>
        </p:nvSpPr>
        <p:spPr>
          <a:xfrm>
            <a:off x="7232904" y="1207008"/>
            <a:ext cx="2157984" cy="402336"/>
          </a:xfrm>
          <a:prstGeom prst="rect">
            <a:avLst/>
          </a:prstGeom>
          <a:solidFill>
            <a:srgbClr val="0E8074"/>
          </a:solidFill>
          <a:ln/>
        </p:spPr>
      </p:sp>
      <p:sp>
        <p:nvSpPr>
          <p:cNvPr id="33" name="Text 31"/>
          <p:cNvSpPr/>
          <p:nvPr/>
        </p:nvSpPr>
        <p:spPr>
          <a:xfrm>
            <a:off x="7232904"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a:t>
            </a:r>
            <a:endParaRPr lang="en-US" sz="1100" dirty="0"/>
          </a:p>
        </p:txBody>
      </p:sp>
      <p:sp>
        <p:nvSpPr>
          <p:cNvPr id="34" name="Text 32"/>
          <p:cNvSpPr/>
          <p:nvPr/>
        </p:nvSpPr>
        <p:spPr>
          <a:xfrm>
            <a:off x="7324344" y="1682496"/>
            <a:ext cx="1975104" cy="256032"/>
          </a:xfrm>
          <a:prstGeom prst="rect">
            <a:avLst/>
          </a:prstGeom>
          <a:noFill/>
          <a:ln/>
        </p:spPr>
        <p:txBody>
          <a:bodyPr wrap="square" lIns="0" tIns="0" rIns="0" bIns="0" rtlCol="0" anchor="ctr"/>
          <a:lstStyle/>
          <a:p>
            <a:pPr algn="ctr" indent="0" marL="0">
              <a:buNone/>
            </a:pPr>
            <a:r>
              <a:rPr lang="en-US" sz="1000" b="1" i="1" dirty="0">
                <a:solidFill>
                  <a:srgbClr val="0E8074"/>
                </a:solidFill>
                <a:latin typeface="Calibri" pitchFamily="34" charset="0"/>
                <a:ea typeface="Calibri" pitchFamily="34" charset="-122"/>
                <a:cs typeface="Calibri" pitchFamily="34" charset="-120"/>
              </a:rPr>
              <a:t>Does every calculation</a:t>
            </a:r>
            <a:endParaRPr lang="en-US" sz="1000" dirty="0"/>
          </a:p>
        </p:txBody>
      </p:sp>
      <p:sp>
        <p:nvSpPr>
          <p:cNvPr id="35" name="Text 33"/>
          <p:cNvSpPr/>
          <p:nvPr/>
        </p:nvSpPr>
        <p:spPr>
          <a:xfrm>
            <a:off x="7360920"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Sizes the machine</a:t>
            </a:r>
            <a:endParaRPr lang="en-US" sz="950" dirty="0"/>
          </a:p>
        </p:txBody>
      </p:sp>
      <p:sp>
        <p:nvSpPr>
          <p:cNvPr id="36" name="Text 34"/>
          <p:cNvSpPr/>
          <p:nvPr/>
        </p:nvSpPr>
        <p:spPr>
          <a:xfrm>
            <a:off x="7360920"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Builds each cycle time</a:t>
            </a:r>
            <a:endParaRPr lang="en-US" sz="950" dirty="0"/>
          </a:p>
        </p:txBody>
      </p:sp>
      <p:sp>
        <p:nvSpPr>
          <p:cNvPr id="37" name="Text 35"/>
          <p:cNvSpPr/>
          <p:nvPr/>
        </p:nvSpPr>
        <p:spPr>
          <a:xfrm>
            <a:off x="7360920"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8 buckets, 20 countries</a:t>
            </a:r>
            <a:endParaRPr lang="en-US" sz="950" dirty="0"/>
          </a:p>
        </p:txBody>
      </p:sp>
      <p:sp>
        <p:nvSpPr>
          <p:cNvPr id="38" name="Shape 36"/>
          <p:cNvSpPr/>
          <p:nvPr/>
        </p:nvSpPr>
        <p:spPr>
          <a:xfrm>
            <a:off x="7342632" y="3950208"/>
            <a:ext cx="1938528" cy="402336"/>
          </a:xfrm>
          <a:prstGeom prst="roundRect">
            <a:avLst>
              <a:gd name="adj" fmla="val 18182"/>
            </a:avLst>
          </a:prstGeom>
          <a:solidFill>
            <a:srgbClr val="FFFFFF"/>
          </a:solidFill>
          <a:ln w="9525">
            <a:solidFill>
              <a:srgbClr val="0E8074"/>
            </a:solidFill>
            <a:prstDash val="solid"/>
          </a:ln>
        </p:spPr>
      </p:sp>
      <p:sp>
        <p:nvSpPr>
          <p:cNvPr id="39" name="Text 37"/>
          <p:cNvSpPr/>
          <p:nvPr/>
        </p:nvSpPr>
        <p:spPr>
          <a:xfrm>
            <a:off x="7360920" y="3950208"/>
            <a:ext cx="1901952" cy="402336"/>
          </a:xfrm>
          <a:prstGeom prst="rect">
            <a:avLst/>
          </a:prstGeom>
          <a:noFill/>
          <a:ln/>
        </p:spPr>
        <p:txBody>
          <a:bodyPr wrap="square" lIns="0" tIns="0" rIns="0" bIns="0" rtlCol="0" anchor="ctr"/>
          <a:lstStyle/>
          <a:p>
            <a:pPr algn="ctr" indent="0" marL="0">
              <a:buNone/>
            </a:pPr>
            <a:r>
              <a:rPr lang="en-US" sz="880" b="1" dirty="0">
                <a:solidFill>
                  <a:srgbClr val="0E8074"/>
                </a:solidFill>
                <a:latin typeface="Calibri" pitchFamily="34" charset="0"/>
                <a:ea typeface="Calibri" pitchFamily="34" charset="-122"/>
                <a:cs typeface="Calibri" pitchFamily="34" charset="-120"/>
              </a:rPr>
              <a:t>Fixed formulas, traceable</a:t>
            </a:r>
            <a:endParaRPr lang="en-US" sz="880" dirty="0"/>
          </a:p>
        </p:txBody>
      </p:sp>
      <p:sp>
        <p:nvSpPr>
          <p:cNvPr id="40" name="Shape 38"/>
          <p:cNvSpPr/>
          <p:nvPr/>
        </p:nvSpPr>
        <p:spPr>
          <a:xfrm>
            <a:off x="9491472" y="1207008"/>
            <a:ext cx="2157984" cy="3246120"/>
          </a:xfrm>
          <a:prstGeom prst="roundRect">
            <a:avLst>
              <a:gd name="adj" fmla="val 3814"/>
            </a:avLst>
          </a:prstGeom>
          <a:solidFill>
            <a:srgbClr val="EAF6EF"/>
          </a:solidFill>
          <a:ln w="15875">
            <a:solidFill>
              <a:srgbClr val="2E8B57"/>
            </a:solidFill>
            <a:prstDash val="solid"/>
          </a:ln>
        </p:spPr>
      </p:sp>
      <p:sp>
        <p:nvSpPr>
          <p:cNvPr id="41" name="Shape 39"/>
          <p:cNvSpPr/>
          <p:nvPr/>
        </p:nvSpPr>
        <p:spPr>
          <a:xfrm>
            <a:off x="9491472" y="1207008"/>
            <a:ext cx="2157984" cy="402336"/>
          </a:xfrm>
          <a:prstGeom prst="rect">
            <a:avLst/>
          </a:prstGeom>
          <a:solidFill>
            <a:srgbClr val="2E8B57"/>
          </a:solidFill>
          <a:ln/>
        </p:spPr>
      </p:sp>
      <p:sp>
        <p:nvSpPr>
          <p:cNvPr id="42" name="Text 40"/>
          <p:cNvSpPr/>
          <p:nvPr/>
        </p:nvSpPr>
        <p:spPr>
          <a:xfrm>
            <a:off x="9491472"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ENGINEER</a:t>
            </a:r>
            <a:endParaRPr lang="en-US" sz="1100" dirty="0"/>
          </a:p>
        </p:txBody>
      </p:sp>
      <p:sp>
        <p:nvSpPr>
          <p:cNvPr id="43" name="Text 41"/>
          <p:cNvSpPr/>
          <p:nvPr/>
        </p:nvSpPr>
        <p:spPr>
          <a:xfrm>
            <a:off x="9582912" y="1682496"/>
            <a:ext cx="1975104" cy="256032"/>
          </a:xfrm>
          <a:prstGeom prst="rect">
            <a:avLst/>
          </a:prstGeom>
          <a:noFill/>
          <a:ln/>
        </p:spPr>
        <p:txBody>
          <a:bodyPr wrap="square" lIns="0" tIns="0" rIns="0" bIns="0" rtlCol="0" anchor="ctr"/>
          <a:lstStyle/>
          <a:p>
            <a:pPr algn="ctr" indent="0" marL="0">
              <a:buNone/>
            </a:pPr>
            <a:r>
              <a:rPr lang="en-US" sz="1000" b="1" i="1" dirty="0">
                <a:solidFill>
                  <a:srgbClr val="2E8B57"/>
                </a:solidFill>
                <a:latin typeface="Calibri" pitchFamily="34" charset="0"/>
                <a:ea typeface="Calibri" pitchFamily="34" charset="-122"/>
                <a:cs typeface="Calibri" pitchFamily="34" charset="-120"/>
              </a:rPr>
              <a:t>Reviews and approves</a:t>
            </a:r>
            <a:endParaRPr lang="en-US" sz="1000" dirty="0"/>
          </a:p>
        </p:txBody>
      </p:sp>
      <p:sp>
        <p:nvSpPr>
          <p:cNvPr id="44" name="Text 42"/>
          <p:cNvSpPr/>
          <p:nvPr/>
        </p:nvSpPr>
        <p:spPr>
          <a:xfrm>
            <a:off x="9619488"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Sets volume and region</a:t>
            </a:r>
            <a:endParaRPr lang="en-US" sz="950" dirty="0"/>
          </a:p>
        </p:txBody>
      </p:sp>
      <p:sp>
        <p:nvSpPr>
          <p:cNvPr id="45" name="Text 43"/>
          <p:cNvSpPr/>
          <p:nvPr/>
        </p:nvSpPr>
        <p:spPr>
          <a:xfrm>
            <a:off x="9619488"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Confirms every AI call</a:t>
            </a:r>
            <a:endParaRPr lang="en-US" sz="950" dirty="0"/>
          </a:p>
        </p:txBody>
      </p:sp>
      <p:sp>
        <p:nvSpPr>
          <p:cNvPr id="46" name="Text 44"/>
          <p:cNvSpPr/>
          <p:nvPr/>
        </p:nvSpPr>
        <p:spPr>
          <a:xfrm>
            <a:off x="9619488"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Signs off the number</a:t>
            </a:r>
            <a:endParaRPr lang="en-US" sz="950" dirty="0"/>
          </a:p>
        </p:txBody>
      </p:sp>
      <p:sp>
        <p:nvSpPr>
          <p:cNvPr id="47" name="Shape 45"/>
          <p:cNvSpPr/>
          <p:nvPr/>
        </p:nvSpPr>
        <p:spPr>
          <a:xfrm>
            <a:off x="9601200" y="3950208"/>
            <a:ext cx="1938528" cy="402336"/>
          </a:xfrm>
          <a:prstGeom prst="roundRect">
            <a:avLst>
              <a:gd name="adj" fmla="val 18182"/>
            </a:avLst>
          </a:prstGeom>
          <a:solidFill>
            <a:srgbClr val="FFFFFF"/>
          </a:solidFill>
          <a:ln w="9525">
            <a:solidFill>
              <a:srgbClr val="2E8B57"/>
            </a:solidFill>
            <a:prstDash val="solid"/>
          </a:ln>
        </p:spPr>
      </p:sp>
      <p:sp>
        <p:nvSpPr>
          <p:cNvPr id="48" name="Text 46"/>
          <p:cNvSpPr/>
          <p:nvPr/>
        </p:nvSpPr>
        <p:spPr>
          <a:xfrm>
            <a:off x="9619488" y="3950208"/>
            <a:ext cx="1901952" cy="402336"/>
          </a:xfrm>
          <a:prstGeom prst="rect">
            <a:avLst/>
          </a:prstGeom>
          <a:noFill/>
          <a:ln/>
        </p:spPr>
        <p:txBody>
          <a:bodyPr wrap="square" lIns="0" tIns="0" rIns="0" bIns="0" rtlCol="0" anchor="ctr"/>
          <a:lstStyle/>
          <a:p>
            <a:pPr algn="ctr" indent="0" marL="0">
              <a:buNone/>
            </a:pPr>
            <a:r>
              <a:rPr lang="en-US" sz="880" b="1" dirty="0">
                <a:solidFill>
                  <a:srgbClr val="2E8B57"/>
                </a:solidFill>
                <a:latin typeface="Calibri" pitchFamily="34" charset="0"/>
                <a:ea typeface="Calibri" pitchFamily="34" charset="-122"/>
                <a:cs typeface="Calibri" pitchFamily="34" charset="-120"/>
              </a:rPr>
              <a:t>The final decision</a:t>
            </a:r>
            <a:endParaRPr lang="en-US" sz="880" dirty="0"/>
          </a:p>
        </p:txBody>
      </p:sp>
      <p:sp>
        <p:nvSpPr>
          <p:cNvPr id="49" name="Shape 47"/>
          <p:cNvSpPr/>
          <p:nvPr/>
        </p:nvSpPr>
        <p:spPr>
          <a:xfrm>
            <a:off x="457200" y="4663440"/>
            <a:ext cx="11274552" cy="777240"/>
          </a:xfrm>
          <a:prstGeom prst="roundRect">
            <a:avLst>
              <a:gd name="adj" fmla="val 11765"/>
            </a:avLst>
          </a:prstGeom>
          <a:solidFill>
            <a:srgbClr val="16325C"/>
          </a:solidFill>
          <a:ln/>
        </p:spPr>
      </p:sp>
      <p:sp>
        <p:nvSpPr>
          <p:cNvPr id="50" name="Text 48"/>
          <p:cNvSpPr/>
          <p:nvPr/>
        </p:nvSpPr>
        <p:spPr>
          <a:xfrm>
            <a:off x="457200" y="4663440"/>
            <a:ext cx="11274552" cy="77724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The AI reads the part.   The engine does every calculation.   A person approves the answer.</a:t>
            </a:r>
            <a:endParaRPr lang="en-US" sz="1900" dirty="0"/>
          </a:p>
        </p:txBody>
      </p:sp>
      <p:sp>
        <p:nvSpPr>
          <p:cNvPr id="51" name="Shape 49"/>
          <p:cNvSpPr/>
          <p:nvPr/>
        </p:nvSpPr>
        <p:spPr>
          <a:xfrm>
            <a:off x="457200" y="5577840"/>
            <a:ext cx="11274552" cy="713232"/>
          </a:xfrm>
          <a:prstGeom prst="roundRect">
            <a:avLst>
              <a:gd name="adj" fmla="val 12821"/>
            </a:avLst>
          </a:prstGeom>
          <a:solidFill>
            <a:srgbClr val="FFFFFF"/>
          </a:solidFill>
          <a:ln w="12700">
            <a:solidFill>
              <a:srgbClr val="DCE3EE"/>
            </a:solidFill>
            <a:prstDash val="solid"/>
          </a:ln>
        </p:spPr>
      </p:sp>
      <p:sp>
        <p:nvSpPr>
          <p:cNvPr id="52" name="Text 50"/>
          <p:cNvSpPr/>
          <p:nvPr/>
        </p:nvSpPr>
        <p:spPr>
          <a:xfrm>
            <a:off x="731520" y="5669280"/>
            <a:ext cx="10744200" cy="54864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Result on this part:  </a:t>
            </a:r>
            <a:pPr indent="0" marL="0">
              <a:buNone/>
            </a:pPr>
            <a:r>
              <a:rPr lang="en-US" sz="1250" dirty="0">
                <a:solidFill>
                  <a:srgbClr val="3A4356"/>
                </a:solidFill>
                <a:latin typeface="Calibri" pitchFamily="34" charset="0"/>
                <a:ea typeface="Calibri" pitchFamily="34" charset="-122"/>
                <a:cs typeface="Calibri" pitchFamily="34" charset="-120"/>
              </a:rPr>
              <a:t>a defensible £38.55, with a £32–£45 confidence band, built in about two minutes — and every penny of it traceable to a measurement or a published rate.</a:t>
            </a:r>
            <a:endParaRPr lang="en-US" sz="1250" dirty="0"/>
          </a:p>
        </p:txBody>
      </p:sp>
      <p:sp>
        <p:nvSpPr>
          <p:cNvPr id="53" name="Text 5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4" name="Text 5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6B3FA0"/>
                </a:solidFill>
                <a:latin typeface="Calibri" pitchFamily="34" charset="0"/>
                <a:ea typeface="Calibri" pitchFamily="34" charset="-122"/>
                <a:cs typeface="Calibri" pitchFamily="34" charset="-120"/>
              </a:rPr>
              <a:t>SECTION THREE</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An Injection-Moulded Bumper Fascia</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The same method, a part that could hardly be more different</a:t>
            </a:r>
            <a:endParaRPr lang="en-US" sz="1500" dirty="0"/>
          </a:p>
        </p:txBody>
      </p:sp>
      <p:sp>
        <p:nvSpPr>
          <p:cNvPr id="8" name="Shape 6"/>
          <p:cNvSpPr/>
          <p:nvPr/>
        </p:nvSpPr>
        <p:spPr>
          <a:xfrm>
            <a:off x="786384" y="3730752"/>
            <a:ext cx="100584" cy="100584"/>
          </a:xfrm>
          <a:prstGeom prst="ellipse">
            <a:avLst/>
          </a:prstGeom>
          <a:solidFill>
            <a:srgbClr val="6B3FA0"/>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Same kernel, same AI, same rate library, same eight buckets</a:t>
            </a:r>
            <a:endParaRPr lang="en-US" sz="1200" dirty="0"/>
          </a:p>
        </p:txBody>
      </p:sp>
      <p:sp>
        <p:nvSpPr>
          <p:cNvPr id="10" name="Shape 8"/>
          <p:cNvSpPr/>
          <p:nvPr/>
        </p:nvSpPr>
        <p:spPr>
          <a:xfrm>
            <a:off x="786384" y="4059936"/>
            <a:ext cx="100584" cy="100584"/>
          </a:xfrm>
          <a:prstGeom prst="ellipse">
            <a:avLst/>
          </a:prstGeom>
          <a:solidFill>
            <a:srgbClr val="6B3FA0"/>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Cooling calculated from wall thickness — and what half a millimetre is worth</a:t>
            </a:r>
            <a:endParaRPr lang="en-US" sz="1200" dirty="0"/>
          </a:p>
        </p:txBody>
      </p:sp>
      <p:sp>
        <p:nvSpPr>
          <p:cNvPr id="12" name="Shape 10"/>
          <p:cNvSpPr/>
          <p:nvPr/>
        </p:nvSpPr>
        <p:spPr>
          <a:xfrm>
            <a:off x="786384" y="4389120"/>
            <a:ext cx="100584" cy="100584"/>
          </a:xfrm>
          <a:prstGeom prst="ellipse">
            <a:avLst/>
          </a:prstGeom>
          <a:solidFill>
            <a:srgbClr val="6B3FA0"/>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paint line, costed from film thickness rather than a percentage uplift</a:t>
            </a:r>
            <a:endParaRPr lang="en-US" sz="1200" dirty="0"/>
          </a:p>
        </p:txBody>
      </p:sp>
      <p:sp>
        <p:nvSpPr>
          <p:cNvPr id="14" name="Shape 12"/>
          <p:cNvSpPr/>
          <p:nvPr/>
        </p:nvSpPr>
        <p:spPr>
          <a:xfrm>
            <a:off x="786384" y="4718304"/>
            <a:ext cx="100584" cy="100584"/>
          </a:xfrm>
          <a:prstGeom prst="ellipse">
            <a:avLst/>
          </a:prstGeom>
          <a:solidFill>
            <a:srgbClr val="6B3FA0"/>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Two findings that nobody in the room would have predicted</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18</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Part Two · The Same Method on a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Front bumper fascia — injection moulded, followed end to end</a:t>
            </a:r>
            <a:endParaRPr lang="en-US" sz="1200" dirty="0"/>
          </a:p>
        </p:txBody>
      </p:sp>
      <p:sp>
        <p:nvSpPr>
          <p:cNvPr id="5" name="Shape 3"/>
          <p:cNvSpPr/>
          <p:nvPr/>
        </p:nvSpPr>
        <p:spPr>
          <a:xfrm>
            <a:off x="457200" y="1170432"/>
            <a:ext cx="11274552" cy="1115568"/>
          </a:xfrm>
          <a:prstGeom prst="roundRect">
            <a:avLst>
              <a:gd name="adj" fmla="val 8197"/>
            </a:avLst>
          </a:prstGeom>
          <a:solidFill>
            <a:srgbClr val="FFFFFF"/>
          </a:solidFill>
          <a:ln w="12700">
            <a:solidFill>
              <a:srgbClr val="DCE3EE"/>
            </a:solidFill>
            <a:prstDash val="solid"/>
          </a:ln>
        </p:spPr>
      </p:sp>
      <p:sp>
        <p:nvSpPr>
          <p:cNvPr id="6" name="Shape 4"/>
          <p:cNvSpPr/>
          <p:nvPr/>
        </p:nvSpPr>
        <p:spPr>
          <a:xfrm>
            <a:off x="685800" y="1371600"/>
            <a:ext cx="658368" cy="658368"/>
          </a:xfrm>
          <a:prstGeom prst="ellipse">
            <a:avLst/>
          </a:prstGeom>
          <a:solidFill>
            <a:srgbClr val="16325C"/>
          </a:solidFill>
          <a:ln/>
        </p:spPr>
      </p:sp>
      <p:pic>
        <p:nvPicPr>
          <p:cNvPr id="7" name="Image 0" descr="preencoded.png">    </p:cNvPr>
          <p:cNvPicPr>
            <a:picLocks noChangeAspect="1"/>
          </p:cNvPicPr>
          <p:nvPr/>
        </p:nvPicPr>
        <p:blipFill>
          <a:blip r:embed="rId1"/>
          <a:stretch>
            <a:fillRect/>
          </a:stretch>
        </p:blipFill>
        <p:spPr>
          <a:xfrm>
            <a:off x="868680" y="1554480"/>
            <a:ext cx="292608" cy="292608"/>
          </a:xfrm>
          <a:prstGeom prst="rect">
            <a:avLst/>
          </a:prstGeom>
        </p:spPr>
      </p:pic>
      <p:sp>
        <p:nvSpPr>
          <p:cNvPr id="8" name="Text 5"/>
          <p:cNvSpPr/>
          <p:nvPr/>
        </p:nvSpPr>
        <p:spPr>
          <a:xfrm>
            <a:off x="1536192" y="1298448"/>
            <a:ext cx="10058400" cy="310896"/>
          </a:xfrm>
          <a:prstGeom prst="rect">
            <a:avLst/>
          </a:prstGeom>
          <a:noFill/>
          <a:ln/>
        </p:spPr>
        <p:txBody>
          <a:bodyPr wrap="square" lIns="0" tIns="0" rIns="0" bIns="0" rtlCol="0" anchor="ctr"/>
          <a:lstStyle/>
          <a:p>
            <a:pPr indent="0" marL="0">
              <a:buNone/>
            </a:pPr>
            <a:r>
              <a:rPr lang="en-US" sz="1500" b="1" dirty="0">
                <a:solidFill>
                  <a:srgbClr val="16325C"/>
                </a:solidFill>
                <a:latin typeface="Calibri" pitchFamily="34" charset="0"/>
                <a:ea typeface="Calibri" pitchFamily="34" charset="-122"/>
                <a:cs typeface="Calibri" pitchFamily="34" charset="-120"/>
              </a:rPr>
              <a:t>Front bumper fascia — talc-filled polypropylene, moulded in one shot, then painted</a:t>
            </a:r>
            <a:endParaRPr lang="en-US" sz="1500" dirty="0"/>
          </a:p>
        </p:txBody>
      </p:sp>
      <p:sp>
        <p:nvSpPr>
          <p:cNvPr id="9" name="Shape 6"/>
          <p:cNvSpPr/>
          <p:nvPr/>
        </p:nvSpPr>
        <p:spPr>
          <a:xfrm>
            <a:off x="1536192" y="1700784"/>
            <a:ext cx="1353312" cy="329184"/>
          </a:xfrm>
          <a:prstGeom prst="roundRect">
            <a:avLst>
              <a:gd name="adj" fmla="val 47222"/>
            </a:avLst>
          </a:prstGeom>
          <a:solidFill>
            <a:srgbClr val="F1EBF8"/>
          </a:solidFill>
          <a:ln/>
        </p:spPr>
      </p:sp>
      <p:sp>
        <p:nvSpPr>
          <p:cNvPr id="10" name="Text 7"/>
          <p:cNvSpPr/>
          <p:nvPr/>
        </p:nvSpPr>
        <p:spPr>
          <a:xfrm>
            <a:off x="153619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4.2 kg</a:t>
            </a:r>
            <a:endParaRPr lang="en-US" sz="900" dirty="0"/>
          </a:p>
        </p:txBody>
      </p:sp>
      <p:sp>
        <p:nvSpPr>
          <p:cNvPr id="11" name="Shape 8"/>
          <p:cNvSpPr/>
          <p:nvPr/>
        </p:nvSpPr>
        <p:spPr>
          <a:xfrm>
            <a:off x="2980944" y="1700784"/>
            <a:ext cx="1353312" cy="329184"/>
          </a:xfrm>
          <a:prstGeom prst="roundRect">
            <a:avLst>
              <a:gd name="adj" fmla="val 47222"/>
            </a:avLst>
          </a:prstGeom>
          <a:solidFill>
            <a:srgbClr val="F1EBF8"/>
          </a:solidFill>
          <a:ln/>
        </p:spPr>
      </p:sp>
      <p:sp>
        <p:nvSpPr>
          <p:cNvPr id="12" name="Text 9"/>
          <p:cNvSpPr/>
          <p:nvPr/>
        </p:nvSpPr>
        <p:spPr>
          <a:xfrm>
            <a:off x="298094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3.0 mm walls</a:t>
            </a:r>
            <a:endParaRPr lang="en-US" sz="900" dirty="0"/>
          </a:p>
        </p:txBody>
      </p:sp>
      <p:sp>
        <p:nvSpPr>
          <p:cNvPr id="13" name="Shape 10"/>
          <p:cNvSpPr/>
          <p:nvPr/>
        </p:nvSpPr>
        <p:spPr>
          <a:xfrm>
            <a:off x="4425696" y="1700784"/>
            <a:ext cx="1353312" cy="329184"/>
          </a:xfrm>
          <a:prstGeom prst="roundRect">
            <a:avLst>
              <a:gd name="adj" fmla="val 47222"/>
            </a:avLst>
          </a:prstGeom>
          <a:solidFill>
            <a:srgbClr val="F1EBF8"/>
          </a:solidFill>
          <a:ln/>
        </p:spPr>
      </p:sp>
      <p:sp>
        <p:nvSpPr>
          <p:cNvPr id="14" name="Text 11"/>
          <p:cNvSpPr/>
          <p:nvPr/>
        </p:nvSpPr>
        <p:spPr>
          <a:xfrm>
            <a:off x="4425696"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1,800 × 550 mm</a:t>
            </a:r>
            <a:endParaRPr lang="en-US" sz="900" dirty="0"/>
          </a:p>
        </p:txBody>
      </p:sp>
      <p:sp>
        <p:nvSpPr>
          <p:cNvPr id="15" name="Shape 12"/>
          <p:cNvSpPr/>
          <p:nvPr/>
        </p:nvSpPr>
        <p:spPr>
          <a:xfrm>
            <a:off x="5870448" y="1700784"/>
            <a:ext cx="1353312" cy="329184"/>
          </a:xfrm>
          <a:prstGeom prst="roundRect">
            <a:avLst>
              <a:gd name="adj" fmla="val 47222"/>
            </a:avLst>
          </a:prstGeom>
          <a:solidFill>
            <a:srgbClr val="F1EBF8"/>
          </a:solidFill>
          <a:ln/>
        </p:spPr>
      </p:sp>
      <p:sp>
        <p:nvSpPr>
          <p:cNvPr id="16" name="Text 13"/>
          <p:cNvSpPr/>
          <p:nvPr/>
        </p:nvSpPr>
        <p:spPr>
          <a:xfrm>
            <a:off x="5870448"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 undercut slides</a:t>
            </a:r>
            <a:endParaRPr lang="en-US" sz="900" dirty="0"/>
          </a:p>
        </p:txBody>
      </p:sp>
      <p:sp>
        <p:nvSpPr>
          <p:cNvPr id="17" name="Shape 14"/>
          <p:cNvSpPr/>
          <p:nvPr/>
        </p:nvSpPr>
        <p:spPr>
          <a:xfrm>
            <a:off x="7315200" y="1700784"/>
            <a:ext cx="1353312" cy="329184"/>
          </a:xfrm>
          <a:prstGeom prst="roundRect">
            <a:avLst>
              <a:gd name="adj" fmla="val 47222"/>
            </a:avLst>
          </a:prstGeom>
          <a:solidFill>
            <a:srgbClr val="F1EBF8"/>
          </a:solidFill>
          <a:ln/>
        </p:spPr>
      </p:sp>
      <p:sp>
        <p:nvSpPr>
          <p:cNvPr id="18" name="Text 15"/>
          <p:cNvSpPr/>
          <p:nvPr/>
        </p:nvSpPr>
        <p:spPr>
          <a:xfrm>
            <a:off x="7315200"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Class-A painted</a:t>
            </a:r>
            <a:endParaRPr lang="en-US" sz="900" dirty="0"/>
          </a:p>
        </p:txBody>
      </p:sp>
      <p:sp>
        <p:nvSpPr>
          <p:cNvPr id="19" name="Shape 16"/>
          <p:cNvSpPr/>
          <p:nvPr/>
        </p:nvSpPr>
        <p:spPr>
          <a:xfrm>
            <a:off x="8759952" y="1700784"/>
            <a:ext cx="1353312" cy="329184"/>
          </a:xfrm>
          <a:prstGeom prst="roundRect">
            <a:avLst>
              <a:gd name="adj" fmla="val 47222"/>
            </a:avLst>
          </a:prstGeom>
          <a:solidFill>
            <a:srgbClr val="F1EBF8"/>
          </a:solidFill>
          <a:ln/>
        </p:spPr>
      </p:sp>
      <p:sp>
        <p:nvSpPr>
          <p:cNvPr id="20" name="Text 17"/>
          <p:cNvSpPr/>
          <p:nvPr/>
        </p:nvSpPr>
        <p:spPr>
          <a:xfrm>
            <a:off x="875995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60,000 a year</a:t>
            </a:r>
            <a:endParaRPr lang="en-US" sz="900" dirty="0"/>
          </a:p>
        </p:txBody>
      </p:sp>
      <p:sp>
        <p:nvSpPr>
          <p:cNvPr id="21" name="Shape 18"/>
          <p:cNvSpPr/>
          <p:nvPr/>
        </p:nvSpPr>
        <p:spPr>
          <a:xfrm>
            <a:off x="10204704" y="1700784"/>
            <a:ext cx="1353312" cy="329184"/>
          </a:xfrm>
          <a:prstGeom prst="roundRect">
            <a:avLst>
              <a:gd name="adj" fmla="val 47222"/>
            </a:avLst>
          </a:prstGeom>
          <a:solidFill>
            <a:srgbClr val="F1EBF8"/>
          </a:solidFill>
          <a:ln/>
        </p:spPr>
      </p:sp>
      <p:sp>
        <p:nvSpPr>
          <p:cNvPr id="22" name="Text 19"/>
          <p:cNvSpPr/>
          <p:nvPr/>
        </p:nvSpPr>
        <p:spPr>
          <a:xfrm>
            <a:off x="1020470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Made in China</a:t>
            </a:r>
            <a:endParaRPr lang="en-US" sz="900" dirty="0"/>
          </a:p>
        </p:txBody>
      </p:sp>
      <p:sp>
        <p:nvSpPr>
          <p:cNvPr id="23" name="Shape 20"/>
          <p:cNvSpPr/>
          <p:nvPr/>
        </p:nvSpPr>
        <p:spPr>
          <a:xfrm>
            <a:off x="457200" y="2487168"/>
            <a:ext cx="2130552" cy="2084832"/>
          </a:xfrm>
          <a:prstGeom prst="roundRect">
            <a:avLst>
              <a:gd name="adj" fmla="val 3947"/>
            </a:avLst>
          </a:prstGeom>
          <a:solidFill>
            <a:srgbClr val="E8F1FA"/>
          </a:solidFill>
          <a:ln w="15875">
            <a:solidFill>
              <a:srgbClr val="1D6FB8"/>
            </a:solidFill>
            <a:prstDash val="solid"/>
          </a:ln>
        </p:spPr>
      </p:sp>
      <p:sp>
        <p:nvSpPr>
          <p:cNvPr id="24" name="Shape 21"/>
          <p:cNvSpPr/>
          <p:nvPr/>
        </p:nvSpPr>
        <p:spPr>
          <a:xfrm>
            <a:off x="457200" y="2487168"/>
            <a:ext cx="2130552" cy="365760"/>
          </a:xfrm>
          <a:prstGeom prst="rect">
            <a:avLst/>
          </a:prstGeom>
          <a:solidFill>
            <a:srgbClr val="1D6FB8"/>
          </a:solidFill>
          <a:ln/>
        </p:spPr>
      </p:sp>
      <p:sp>
        <p:nvSpPr>
          <p:cNvPr id="25" name="Text 22"/>
          <p:cNvSpPr/>
          <p:nvPr/>
        </p:nvSpPr>
        <p:spPr>
          <a:xfrm>
            <a:off x="457200"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MEASURE</a:t>
            </a:r>
            <a:endParaRPr lang="en-US" sz="1000" dirty="0"/>
          </a:p>
        </p:txBody>
      </p:sp>
      <p:sp>
        <p:nvSpPr>
          <p:cNvPr id="26" name="Text 23"/>
          <p:cNvSpPr/>
          <p:nvPr/>
        </p:nvSpPr>
        <p:spPr>
          <a:xfrm>
            <a:off x="457200" y="2898648"/>
            <a:ext cx="2130552"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7" name="Text 24"/>
          <p:cNvSpPr/>
          <p:nvPr/>
        </p:nvSpPr>
        <p:spPr>
          <a:xfrm>
            <a:off x="585216"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 · Upload the file</a:t>
            </a:r>
            <a:endParaRPr lang="en-US" sz="920" dirty="0"/>
          </a:p>
        </p:txBody>
      </p:sp>
      <p:sp>
        <p:nvSpPr>
          <p:cNvPr id="28" name="Text 25"/>
          <p:cNvSpPr/>
          <p:nvPr/>
        </p:nvSpPr>
        <p:spPr>
          <a:xfrm>
            <a:off x="585216"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2 · Measure the geometry</a:t>
            </a:r>
            <a:endParaRPr lang="en-US" sz="920" dirty="0"/>
          </a:p>
        </p:txBody>
      </p:sp>
      <p:sp>
        <p:nvSpPr>
          <p:cNvPr id="29" name="Text 26"/>
          <p:cNvSpPr/>
          <p:nvPr/>
        </p:nvSpPr>
        <p:spPr>
          <a:xfrm>
            <a:off x="585216"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3 · Draft &amp; undercut check</a:t>
            </a:r>
            <a:endParaRPr lang="en-US" sz="920" dirty="0"/>
          </a:p>
        </p:txBody>
      </p:sp>
      <p:sp>
        <p:nvSpPr>
          <p:cNvPr id="30" name="Text 27"/>
          <p:cNvSpPr/>
          <p:nvPr/>
        </p:nvSpPr>
        <p:spPr>
          <a:xfrm>
            <a:off x="566928" y="4206240"/>
            <a:ext cx="1911096" cy="274320"/>
          </a:xfrm>
          <a:prstGeom prst="rect">
            <a:avLst/>
          </a:prstGeom>
          <a:noFill/>
          <a:ln/>
        </p:spPr>
        <p:txBody>
          <a:bodyPr wrap="square" lIns="0" tIns="0" rIns="0" bIns="0" rtlCol="0" anchor="ctr"/>
          <a:lstStyle/>
          <a:p>
            <a:pPr algn="ctr" indent="0" marL="0">
              <a:buNone/>
            </a:pPr>
            <a:r>
              <a:rPr lang="en-US" sz="860" b="1" i="1" dirty="0">
                <a:solidFill>
                  <a:srgbClr val="1D6FB8"/>
                </a:solidFill>
                <a:latin typeface="Calibri" pitchFamily="34" charset="0"/>
                <a:ea typeface="Calibri" pitchFamily="34" charset="-122"/>
                <a:cs typeface="Calibri" pitchFamily="34" charset="-120"/>
              </a:rPr>
              <a:t>Same kernel, same facts</a:t>
            </a:r>
            <a:endParaRPr lang="en-US" sz="860" dirty="0"/>
          </a:p>
        </p:txBody>
      </p:sp>
      <p:sp>
        <p:nvSpPr>
          <p:cNvPr id="31" name="Shape 28"/>
          <p:cNvSpPr/>
          <p:nvPr/>
        </p:nvSpPr>
        <p:spPr>
          <a:xfrm>
            <a:off x="2734056" y="2487168"/>
            <a:ext cx="2130552" cy="2084832"/>
          </a:xfrm>
          <a:prstGeom prst="roundRect">
            <a:avLst>
              <a:gd name="adj" fmla="val 3947"/>
            </a:avLst>
          </a:prstGeom>
          <a:solidFill>
            <a:srgbClr val="F1EBF8"/>
          </a:solidFill>
          <a:ln w="15875">
            <a:solidFill>
              <a:srgbClr val="6B3FA0"/>
            </a:solidFill>
            <a:prstDash val="solid"/>
          </a:ln>
        </p:spPr>
      </p:sp>
      <p:sp>
        <p:nvSpPr>
          <p:cNvPr id="32" name="Shape 29"/>
          <p:cNvSpPr/>
          <p:nvPr/>
        </p:nvSpPr>
        <p:spPr>
          <a:xfrm>
            <a:off x="2734056" y="2487168"/>
            <a:ext cx="2130552" cy="365760"/>
          </a:xfrm>
          <a:prstGeom prst="rect">
            <a:avLst/>
          </a:prstGeom>
          <a:solidFill>
            <a:srgbClr val="6B3FA0"/>
          </a:solidFill>
          <a:ln/>
        </p:spPr>
      </p:sp>
      <p:sp>
        <p:nvSpPr>
          <p:cNvPr id="33" name="Text 30"/>
          <p:cNvSpPr/>
          <p:nvPr/>
        </p:nvSpPr>
        <p:spPr>
          <a:xfrm>
            <a:off x="2734056"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AI READS</a:t>
            </a:r>
            <a:endParaRPr lang="en-US" sz="1000" dirty="0"/>
          </a:p>
        </p:txBody>
      </p:sp>
      <p:sp>
        <p:nvSpPr>
          <p:cNvPr id="34" name="Text 31"/>
          <p:cNvSpPr/>
          <p:nvPr/>
        </p:nvSpPr>
        <p:spPr>
          <a:xfrm>
            <a:off x="2734056" y="2898648"/>
            <a:ext cx="2130552"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a:t>
            </a:r>
            <a:endParaRPr lang="en-US" sz="850" dirty="0"/>
          </a:p>
        </p:txBody>
      </p:sp>
      <p:sp>
        <p:nvSpPr>
          <p:cNvPr id="35" name="Text 32"/>
          <p:cNvSpPr/>
          <p:nvPr/>
        </p:nvSpPr>
        <p:spPr>
          <a:xfrm>
            <a:off x="2862072"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4 · Recognise the recipe</a:t>
            </a:r>
            <a:endParaRPr lang="en-US" sz="920" dirty="0"/>
          </a:p>
        </p:txBody>
      </p:sp>
      <p:sp>
        <p:nvSpPr>
          <p:cNvPr id="36" name="Text 33"/>
          <p:cNvSpPr/>
          <p:nvPr/>
        </p:nvSpPr>
        <p:spPr>
          <a:xfrm>
            <a:off x="2862072"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resin · process · finish</a:t>
            </a:r>
            <a:endParaRPr lang="en-US" sz="920" dirty="0"/>
          </a:p>
        </p:txBody>
      </p:sp>
      <p:sp>
        <p:nvSpPr>
          <p:cNvPr id="37" name="Text 34"/>
          <p:cNvSpPr/>
          <p:nvPr/>
        </p:nvSpPr>
        <p:spPr>
          <a:xfrm>
            <a:off x="2862072"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with a confidence score</a:t>
            </a:r>
            <a:endParaRPr lang="en-US" sz="920" dirty="0"/>
          </a:p>
        </p:txBody>
      </p:sp>
      <p:sp>
        <p:nvSpPr>
          <p:cNvPr id="38" name="Text 35"/>
          <p:cNvSpPr/>
          <p:nvPr/>
        </p:nvSpPr>
        <p:spPr>
          <a:xfrm>
            <a:off x="2843784" y="4206240"/>
            <a:ext cx="1911096" cy="274320"/>
          </a:xfrm>
          <a:prstGeom prst="rect">
            <a:avLst/>
          </a:prstGeom>
          <a:noFill/>
          <a:ln/>
        </p:spPr>
        <p:txBody>
          <a:bodyPr wrap="square" lIns="0" tIns="0" rIns="0" bIns="0" rtlCol="0" anchor="ctr"/>
          <a:lstStyle/>
          <a:p>
            <a:pPr algn="ctr" indent="0" marL="0">
              <a:buNone/>
            </a:pPr>
            <a:r>
              <a:rPr lang="en-US" sz="860" b="1" i="1" dirty="0">
                <a:solidFill>
                  <a:srgbClr val="6B3FA0"/>
                </a:solidFill>
                <a:latin typeface="Calibri" pitchFamily="34" charset="0"/>
                <a:ea typeface="Calibri" pitchFamily="34" charset="-122"/>
                <a:cs typeface="Calibri" pitchFamily="34" charset="-120"/>
              </a:rPr>
              <a:t>Words only — no prices</a:t>
            </a:r>
            <a:endParaRPr lang="en-US" sz="860" dirty="0"/>
          </a:p>
        </p:txBody>
      </p:sp>
      <p:sp>
        <p:nvSpPr>
          <p:cNvPr id="39" name="Shape 36"/>
          <p:cNvSpPr/>
          <p:nvPr/>
        </p:nvSpPr>
        <p:spPr>
          <a:xfrm>
            <a:off x="5010912" y="2487168"/>
            <a:ext cx="2130552" cy="2084832"/>
          </a:xfrm>
          <a:prstGeom prst="roundRect">
            <a:avLst>
              <a:gd name="adj" fmla="val 3947"/>
            </a:avLst>
          </a:prstGeom>
          <a:solidFill>
            <a:srgbClr val="FCF3E3"/>
          </a:solidFill>
          <a:ln w="15875">
            <a:solidFill>
              <a:srgbClr val="B7791F"/>
            </a:solidFill>
            <a:prstDash val="solid"/>
          </a:ln>
        </p:spPr>
      </p:sp>
      <p:sp>
        <p:nvSpPr>
          <p:cNvPr id="40" name="Shape 37"/>
          <p:cNvSpPr/>
          <p:nvPr/>
        </p:nvSpPr>
        <p:spPr>
          <a:xfrm>
            <a:off x="5010912" y="2487168"/>
            <a:ext cx="2130552" cy="365760"/>
          </a:xfrm>
          <a:prstGeom prst="rect">
            <a:avLst/>
          </a:prstGeom>
          <a:solidFill>
            <a:srgbClr val="B7791F"/>
          </a:solidFill>
          <a:ln/>
        </p:spPr>
      </p:sp>
      <p:sp>
        <p:nvSpPr>
          <p:cNvPr id="41" name="Text 38"/>
          <p:cNvSpPr/>
          <p:nvPr/>
        </p:nvSpPr>
        <p:spPr>
          <a:xfrm>
            <a:off x="5010912"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SAFETY CHECKS</a:t>
            </a:r>
            <a:endParaRPr lang="en-US" sz="1000" dirty="0"/>
          </a:p>
        </p:txBody>
      </p:sp>
      <p:sp>
        <p:nvSpPr>
          <p:cNvPr id="42" name="Text 39"/>
          <p:cNvSpPr/>
          <p:nvPr/>
        </p:nvSpPr>
        <p:spPr>
          <a:xfrm>
            <a:off x="5010912" y="2898648"/>
            <a:ext cx="2130552" cy="201168"/>
          </a:xfrm>
          <a:prstGeom prst="rect">
            <a:avLst/>
          </a:prstGeom>
          <a:noFill/>
          <a:ln/>
        </p:spPr>
        <p:txBody>
          <a:bodyPr wrap="square" lIns="0" tIns="0" rIns="0" bIns="0" rtlCol="0" anchor="ctr"/>
          <a:lstStyle/>
          <a:p>
            <a:pPr algn="ctr" indent="0" marL="0">
              <a:buNone/>
            </a:pPr>
            <a:r>
              <a:rPr lang="en-US" sz="850" i="1" dirty="0">
                <a:solidFill>
                  <a:srgbClr val="B7791F"/>
                </a:solidFill>
                <a:latin typeface="Calibri" pitchFamily="34" charset="0"/>
                <a:ea typeface="Calibri" pitchFamily="34" charset="-122"/>
                <a:cs typeface="Calibri" pitchFamily="34" charset="-120"/>
              </a:rPr>
              <a:t>owner: Engine</a:t>
            </a:r>
            <a:endParaRPr lang="en-US" sz="850" dirty="0"/>
          </a:p>
        </p:txBody>
      </p:sp>
      <p:sp>
        <p:nvSpPr>
          <p:cNvPr id="43" name="Text 40"/>
          <p:cNvSpPr/>
          <p:nvPr/>
        </p:nvSpPr>
        <p:spPr>
          <a:xfrm>
            <a:off x="5138928"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5 · Four automatic guards</a:t>
            </a:r>
            <a:endParaRPr lang="en-US" sz="920" dirty="0"/>
          </a:p>
        </p:txBody>
      </p:sp>
      <p:sp>
        <p:nvSpPr>
          <p:cNvPr id="44" name="Text 41"/>
          <p:cNvSpPr/>
          <p:nvPr/>
        </p:nvSpPr>
        <p:spPr>
          <a:xfrm>
            <a:off x="5138928"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6 · Autocorrect wrong calls</a:t>
            </a:r>
            <a:endParaRPr lang="en-US" sz="920" dirty="0"/>
          </a:p>
        </p:txBody>
      </p:sp>
      <p:sp>
        <p:nvSpPr>
          <p:cNvPr id="45" name="Text 42"/>
          <p:cNvSpPr/>
          <p:nvPr/>
        </p:nvSpPr>
        <p:spPr>
          <a:xfrm>
            <a:off x="5138928"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before any money is counted</a:t>
            </a:r>
            <a:endParaRPr lang="en-US" sz="920" dirty="0"/>
          </a:p>
        </p:txBody>
      </p:sp>
      <p:sp>
        <p:nvSpPr>
          <p:cNvPr id="46" name="Text 43"/>
          <p:cNvSpPr/>
          <p:nvPr/>
        </p:nvSpPr>
        <p:spPr>
          <a:xfrm>
            <a:off x="5120640" y="4206240"/>
            <a:ext cx="1911096" cy="274320"/>
          </a:xfrm>
          <a:prstGeom prst="rect">
            <a:avLst/>
          </a:prstGeom>
          <a:noFill/>
          <a:ln/>
        </p:spPr>
        <p:txBody>
          <a:bodyPr wrap="square" lIns="0" tIns="0" rIns="0" bIns="0" rtlCol="0" anchor="ctr"/>
          <a:lstStyle/>
          <a:p>
            <a:pPr algn="ctr" indent="0" marL="0">
              <a:buNone/>
            </a:pPr>
            <a:r>
              <a:rPr lang="en-US" sz="860" b="1" i="1" dirty="0">
                <a:solidFill>
                  <a:srgbClr val="B7791F"/>
                </a:solidFill>
                <a:latin typeface="Calibri" pitchFamily="34" charset="0"/>
                <a:ea typeface="Calibri" pitchFamily="34" charset="-122"/>
                <a:cs typeface="Calibri" pitchFamily="34" charset="-120"/>
              </a:rPr>
              <a:t>Measurements always win</a:t>
            </a:r>
            <a:endParaRPr lang="en-US" sz="860" dirty="0"/>
          </a:p>
        </p:txBody>
      </p:sp>
      <p:sp>
        <p:nvSpPr>
          <p:cNvPr id="47" name="Shape 44"/>
          <p:cNvSpPr/>
          <p:nvPr/>
        </p:nvSpPr>
        <p:spPr>
          <a:xfrm>
            <a:off x="7287768" y="2487168"/>
            <a:ext cx="2130552" cy="2084832"/>
          </a:xfrm>
          <a:prstGeom prst="roundRect">
            <a:avLst>
              <a:gd name="adj" fmla="val 3947"/>
            </a:avLst>
          </a:prstGeom>
          <a:solidFill>
            <a:srgbClr val="E6F4F1"/>
          </a:solidFill>
          <a:ln w="15875">
            <a:solidFill>
              <a:srgbClr val="0E8074"/>
            </a:solidFill>
            <a:prstDash val="solid"/>
          </a:ln>
        </p:spPr>
      </p:sp>
      <p:sp>
        <p:nvSpPr>
          <p:cNvPr id="48" name="Shape 45"/>
          <p:cNvSpPr/>
          <p:nvPr/>
        </p:nvSpPr>
        <p:spPr>
          <a:xfrm>
            <a:off x="7287768" y="2487168"/>
            <a:ext cx="2130552" cy="365760"/>
          </a:xfrm>
          <a:prstGeom prst="rect">
            <a:avLst/>
          </a:prstGeom>
          <a:solidFill>
            <a:srgbClr val="0E8074"/>
          </a:solidFill>
          <a:ln/>
        </p:spPr>
      </p:sp>
      <p:sp>
        <p:nvSpPr>
          <p:cNvPr id="49" name="Text 46"/>
          <p:cNvSpPr/>
          <p:nvPr/>
        </p:nvSpPr>
        <p:spPr>
          <a:xfrm>
            <a:off x="7287768"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CALCULATE</a:t>
            </a:r>
            <a:endParaRPr lang="en-US" sz="1000" dirty="0"/>
          </a:p>
        </p:txBody>
      </p:sp>
      <p:sp>
        <p:nvSpPr>
          <p:cNvPr id="50" name="Text 47"/>
          <p:cNvSpPr/>
          <p:nvPr/>
        </p:nvSpPr>
        <p:spPr>
          <a:xfrm>
            <a:off x="7287768" y="2898648"/>
            <a:ext cx="2130552" cy="201168"/>
          </a:xfrm>
          <a:prstGeom prst="rect">
            <a:avLst/>
          </a:prstGeom>
          <a:noFill/>
          <a:ln/>
        </p:spPr>
        <p:txBody>
          <a:bodyPr wrap="square" lIns="0" tIns="0" rIns="0" bIns="0" rtlCol="0" anchor="ctr"/>
          <a:lstStyle/>
          <a:p>
            <a:pPr algn="ctr" indent="0" marL="0">
              <a:buNone/>
            </a:pPr>
            <a:r>
              <a:rPr lang="en-US" sz="850" i="1" dirty="0">
                <a:solidFill>
                  <a:srgbClr val="0E8074"/>
                </a:solidFill>
                <a:latin typeface="Calibri" pitchFamily="34" charset="0"/>
                <a:ea typeface="Calibri" pitchFamily="34" charset="-122"/>
                <a:cs typeface="Calibri" pitchFamily="34" charset="-120"/>
              </a:rPr>
              <a:t>owner: Engine</a:t>
            </a:r>
            <a:endParaRPr lang="en-US" sz="850" dirty="0"/>
          </a:p>
        </p:txBody>
      </p:sp>
      <p:sp>
        <p:nvSpPr>
          <p:cNvPr id="51" name="Text 48"/>
          <p:cNvSpPr/>
          <p:nvPr/>
        </p:nvSpPr>
        <p:spPr>
          <a:xfrm>
            <a:off x="7415784"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7 · Pick press &amp; cycle</a:t>
            </a:r>
            <a:endParaRPr lang="en-US" sz="920" dirty="0"/>
          </a:p>
        </p:txBody>
      </p:sp>
      <p:sp>
        <p:nvSpPr>
          <p:cNvPr id="52" name="Text 49"/>
          <p:cNvSpPr/>
          <p:nvPr/>
        </p:nvSpPr>
        <p:spPr>
          <a:xfrm>
            <a:off x="7415784"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8 · Cost every second</a:t>
            </a:r>
            <a:endParaRPr lang="en-US" sz="920" dirty="0"/>
          </a:p>
        </p:txBody>
      </p:sp>
      <p:sp>
        <p:nvSpPr>
          <p:cNvPr id="53" name="Text 50"/>
          <p:cNvSpPr/>
          <p:nvPr/>
        </p:nvSpPr>
        <p:spPr>
          <a:xfrm>
            <a:off x="7415784"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9-10 · Build &amp; regionalise</a:t>
            </a:r>
            <a:endParaRPr lang="en-US" sz="920" dirty="0"/>
          </a:p>
        </p:txBody>
      </p:sp>
      <p:sp>
        <p:nvSpPr>
          <p:cNvPr id="54" name="Text 51"/>
          <p:cNvSpPr/>
          <p:nvPr/>
        </p:nvSpPr>
        <p:spPr>
          <a:xfrm>
            <a:off x="7397496" y="4206240"/>
            <a:ext cx="1911096" cy="274320"/>
          </a:xfrm>
          <a:prstGeom prst="rect">
            <a:avLst/>
          </a:prstGeom>
          <a:noFill/>
          <a:ln/>
        </p:spPr>
        <p:txBody>
          <a:bodyPr wrap="square" lIns="0" tIns="0" rIns="0" bIns="0" rtlCol="0" anchor="ctr"/>
          <a:lstStyle/>
          <a:p>
            <a:pPr algn="ctr" indent="0" marL="0">
              <a:buNone/>
            </a:pPr>
            <a:r>
              <a:rPr lang="en-US" sz="860" b="1" i="1" dirty="0">
                <a:solidFill>
                  <a:srgbClr val="0E8074"/>
                </a:solidFill>
                <a:latin typeface="Calibri" pitchFamily="34" charset="0"/>
                <a:ea typeface="Calibri" pitchFamily="34" charset="-122"/>
                <a:cs typeface="Calibri" pitchFamily="34" charset="-120"/>
              </a:rPr>
              <a:t>The same eight buckets</a:t>
            </a:r>
            <a:endParaRPr lang="en-US" sz="860" dirty="0"/>
          </a:p>
        </p:txBody>
      </p:sp>
      <p:sp>
        <p:nvSpPr>
          <p:cNvPr id="55" name="Shape 52"/>
          <p:cNvSpPr/>
          <p:nvPr/>
        </p:nvSpPr>
        <p:spPr>
          <a:xfrm>
            <a:off x="9564624" y="2487168"/>
            <a:ext cx="2130552" cy="2084832"/>
          </a:xfrm>
          <a:prstGeom prst="roundRect">
            <a:avLst>
              <a:gd name="adj" fmla="val 3947"/>
            </a:avLst>
          </a:prstGeom>
          <a:solidFill>
            <a:srgbClr val="EAF6EF"/>
          </a:solidFill>
          <a:ln w="15875">
            <a:solidFill>
              <a:srgbClr val="2E8B57"/>
            </a:solidFill>
            <a:prstDash val="solid"/>
          </a:ln>
        </p:spPr>
      </p:sp>
      <p:sp>
        <p:nvSpPr>
          <p:cNvPr id="56" name="Shape 53"/>
          <p:cNvSpPr/>
          <p:nvPr/>
        </p:nvSpPr>
        <p:spPr>
          <a:xfrm>
            <a:off x="9564624" y="2487168"/>
            <a:ext cx="2130552" cy="365760"/>
          </a:xfrm>
          <a:prstGeom prst="rect">
            <a:avLst/>
          </a:prstGeom>
          <a:solidFill>
            <a:srgbClr val="2E8B57"/>
          </a:solidFill>
          <a:ln/>
        </p:spPr>
      </p:sp>
      <p:sp>
        <p:nvSpPr>
          <p:cNvPr id="57" name="Text 54"/>
          <p:cNvSpPr/>
          <p:nvPr/>
        </p:nvSpPr>
        <p:spPr>
          <a:xfrm>
            <a:off x="9564624"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CHECK &amp; USE</a:t>
            </a:r>
            <a:endParaRPr lang="en-US" sz="1000" dirty="0"/>
          </a:p>
        </p:txBody>
      </p:sp>
      <p:sp>
        <p:nvSpPr>
          <p:cNvPr id="58" name="Text 55"/>
          <p:cNvSpPr/>
          <p:nvPr/>
        </p:nvSpPr>
        <p:spPr>
          <a:xfrm>
            <a:off x="9564624" y="2898648"/>
            <a:ext cx="2130552" cy="201168"/>
          </a:xfrm>
          <a:prstGeom prst="rect">
            <a:avLst/>
          </a:prstGeom>
          <a:noFill/>
          <a:ln/>
        </p:spPr>
        <p:txBody>
          <a:bodyPr wrap="square" lIns="0" tIns="0" rIns="0" bIns="0" rtlCol="0" anchor="ctr"/>
          <a:lstStyle/>
          <a:p>
            <a:pPr algn="ctr" indent="0" marL="0">
              <a:buNone/>
            </a:pPr>
            <a:r>
              <a:rPr lang="en-US" sz="850" i="1" dirty="0">
                <a:solidFill>
                  <a:srgbClr val="2E8B57"/>
                </a:solidFill>
                <a:latin typeface="Calibri" pitchFamily="34" charset="0"/>
                <a:ea typeface="Calibri" pitchFamily="34" charset="-122"/>
                <a:cs typeface="Calibri" pitchFamily="34" charset="-120"/>
              </a:rPr>
              <a:t>owner: Engineer</a:t>
            </a:r>
            <a:endParaRPr lang="en-US" sz="850" dirty="0"/>
          </a:p>
        </p:txBody>
      </p:sp>
      <p:sp>
        <p:nvSpPr>
          <p:cNvPr id="59" name="Text 56"/>
          <p:cNvSpPr/>
          <p:nvPr/>
        </p:nvSpPr>
        <p:spPr>
          <a:xfrm>
            <a:off x="9692640"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11 · Confidence band</a:t>
            </a:r>
            <a:endParaRPr lang="en-US" sz="920" dirty="0"/>
          </a:p>
        </p:txBody>
      </p:sp>
      <p:sp>
        <p:nvSpPr>
          <p:cNvPr id="60" name="Text 57"/>
          <p:cNvSpPr/>
          <p:nvPr/>
        </p:nvSpPr>
        <p:spPr>
          <a:xfrm>
            <a:off x="9692640"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12 · Report &amp; approval</a:t>
            </a:r>
            <a:endParaRPr lang="en-US" sz="920" dirty="0"/>
          </a:p>
        </p:txBody>
      </p:sp>
      <p:sp>
        <p:nvSpPr>
          <p:cNvPr id="61" name="Text 58"/>
          <p:cNvSpPr/>
          <p:nvPr/>
        </p:nvSpPr>
        <p:spPr>
          <a:xfrm>
            <a:off x="9674352" y="4206240"/>
            <a:ext cx="1911096" cy="274320"/>
          </a:xfrm>
          <a:prstGeom prst="rect">
            <a:avLst/>
          </a:prstGeom>
          <a:noFill/>
          <a:ln/>
        </p:spPr>
        <p:txBody>
          <a:bodyPr wrap="square" lIns="0" tIns="0" rIns="0" bIns="0" rtlCol="0" anchor="ctr"/>
          <a:lstStyle/>
          <a:p>
            <a:pPr algn="ctr" indent="0" marL="0">
              <a:buNone/>
            </a:pPr>
            <a:r>
              <a:rPr lang="en-US" sz="860" b="1" i="1" dirty="0">
                <a:solidFill>
                  <a:srgbClr val="2E8B57"/>
                </a:solidFill>
                <a:latin typeface="Calibri" pitchFamily="34" charset="0"/>
                <a:ea typeface="Calibri" pitchFamily="34" charset="-122"/>
                <a:cs typeface="Calibri" pitchFamily="34" charset="-120"/>
              </a:rPr>
              <a:t>A person signs it off</a:t>
            </a:r>
            <a:endParaRPr lang="en-US" sz="860" dirty="0"/>
          </a:p>
        </p:txBody>
      </p:sp>
      <p:sp>
        <p:nvSpPr>
          <p:cNvPr id="62" name="Shape 59"/>
          <p:cNvSpPr/>
          <p:nvPr/>
        </p:nvSpPr>
        <p:spPr>
          <a:xfrm>
            <a:off x="457200" y="4773168"/>
            <a:ext cx="11274552" cy="1024128"/>
          </a:xfrm>
          <a:prstGeom prst="roundRect">
            <a:avLst>
              <a:gd name="adj" fmla="val 8929"/>
            </a:avLst>
          </a:prstGeom>
          <a:solidFill>
            <a:srgbClr val="FFFFFF"/>
          </a:solidFill>
          <a:ln w="19050">
            <a:solidFill>
              <a:srgbClr val="6B3FA0"/>
            </a:solidFill>
            <a:prstDash val="solid"/>
          </a:ln>
        </p:spPr>
      </p:sp>
      <p:sp>
        <p:nvSpPr>
          <p:cNvPr id="63" name="Text 60"/>
          <p:cNvSpPr/>
          <p:nvPr/>
        </p:nvSpPr>
        <p:spPr>
          <a:xfrm>
            <a:off x="731520" y="4882896"/>
            <a:ext cx="10058400" cy="274320"/>
          </a:xfrm>
          <a:prstGeom prst="rect">
            <a:avLst/>
          </a:prstGeom>
          <a:noFill/>
          <a:ln/>
        </p:spPr>
        <p:txBody>
          <a:bodyPr wrap="square" lIns="0" tIns="0" rIns="0" bIns="0" rtlCol="0" anchor="ctr"/>
          <a:lstStyle/>
          <a:p>
            <a:pPr indent="0" marL="0">
              <a:buNone/>
            </a:pPr>
            <a:r>
              <a:rPr lang="en-US" sz="1250" b="1" dirty="0">
                <a:solidFill>
                  <a:srgbClr val="6B3FA0"/>
                </a:solidFill>
                <a:latin typeface="Calibri" pitchFamily="34" charset="0"/>
                <a:ea typeface="Calibri" pitchFamily="34" charset="-122"/>
                <a:cs typeface="Calibri" pitchFamily="34" charset="-120"/>
              </a:rPr>
              <a:t>Nothing about the method changes</a:t>
            </a:r>
            <a:endParaRPr lang="en-US" sz="1250" dirty="0"/>
          </a:p>
        </p:txBody>
      </p:sp>
      <p:sp>
        <p:nvSpPr>
          <p:cNvPr id="64" name="Text 61"/>
          <p:cNvSpPr/>
          <p:nvPr/>
        </p:nvSpPr>
        <p:spPr>
          <a:xfrm>
            <a:off x="731520" y="5157216"/>
            <a:ext cx="10744200" cy="56692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Same twelve stages. Same geometry kernel. Same rate library. Same eight buckets. Same person signing it off. </a:t>
            </a:r>
            <a:pPr indent="0" marL="0">
              <a:buNone/>
            </a:pPr>
            <a:r>
              <a:rPr lang="en-US" sz="1150" b="1" dirty="0">
                <a:solidFill>
                  <a:srgbClr val="16325C"/>
                </a:solidFill>
                <a:latin typeface="Calibri" pitchFamily="34" charset="0"/>
                <a:ea typeface="Calibri" pitchFamily="34" charset="-122"/>
                <a:cs typeface="Calibri" pitchFamily="34" charset="-120"/>
              </a:rPr>
              <a:t>What changes is which bucket turns out to hold the money — and on this part the answer is somewhere completely different from the casting.</a:t>
            </a:r>
            <a:endParaRPr lang="en-US" sz="1150" dirty="0"/>
          </a:p>
        </p:txBody>
      </p:sp>
      <p:sp>
        <p:nvSpPr>
          <p:cNvPr id="65"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6"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Second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method, a part that could hardly be more different</a:t>
            </a:r>
            <a:endParaRPr lang="en-US" sz="1200" dirty="0"/>
          </a:p>
        </p:txBody>
      </p:sp>
      <p:pic>
        <p:nvPicPr>
          <p:cNvPr id="5" name="Image 0" descr="assets/workflow-deck/part-bumper.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Front bumper fascia</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B7280"/>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Part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4.2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 mm</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9,900 cm²</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Overall width</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1,800 mm</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Undercut features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 slides</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Painted area</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m²</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Resin</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PP-T20</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Same volume and country as the casting, so the two compare like for like.</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1–4 · Measured First, Then Read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kernel, same order — the facts exist before the AI speaks</a:t>
            </a:r>
            <a:endParaRPr lang="en-US" sz="1200" dirty="0"/>
          </a:p>
        </p:txBody>
      </p:sp>
      <p:sp>
        <p:nvSpPr>
          <p:cNvPr id="5" name="Shape 3"/>
          <p:cNvSpPr/>
          <p:nvPr/>
        </p:nvSpPr>
        <p:spPr>
          <a:xfrm>
            <a:off x="457200" y="1188720"/>
            <a:ext cx="4937760" cy="2651760"/>
          </a:xfrm>
          <a:prstGeom prst="roundRect">
            <a:avLst>
              <a:gd name="adj" fmla="val 3448"/>
            </a:avLst>
          </a:prstGeom>
          <a:solidFill>
            <a:srgbClr val="FFFFFF"/>
          </a:solidFill>
          <a:ln w="12700">
            <a:solidFill>
              <a:srgbClr val="DCE3EE"/>
            </a:solidFill>
            <a:prstDash val="solid"/>
          </a:ln>
        </p:spPr>
      </p:sp>
      <p:sp>
        <p:nvSpPr>
          <p:cNvPr id="6" name="Shape 4"/>
          <p:cNvSpPr/>
          <p:nvPr/>
        </p:nvSpPr>
        <p:spPr>
          <a:xfrm>
            <a:off x="685800" y="1371600"/>
            <a:ext cx="420624" cy="420624"/>
          </a:xfrm>
          <a:prstGeom prst="ellipse">
            <a:avLst/>
          </a:prstGeom>
          <a:solidFill>
            <a:srgbClr val="1D6FB8"/>
          </a:solidFill>
          <a:ln/>
        </p:spPr>
      </p:sp>
      <p:pic>
        <p:nvPicPr>
          <p:cNvPr id="7" name="Image 0" descr="preencoded.png">    </p:cNvPr>
          <p:cNvPicPr>
            <a:picLocks noChangeAspect="1"/>
          </p:cNvPicPr>
          <p:nvPr/>
        </p:nvPicPr>
        <p:blipFill>
          <a:blip r:embed="rId1"/>
          <a:stretch>
            <a:fillRect/>
          </a:stretch>
        </p:blipFill>
        <p:spPr>
          <a:xfrm>
            <a:off x="786384" y="1472184"/>
            <a:ext cx="219456" cy="219456"/>
          </a:xfrm>
          <a:prstGeom prst="rect">
            <a:avLst/>
          </a:prstGeom>
        </p:spPr>
      </p:pic>
      <p:sp>
        <p:nvSpPr>
          <p:cNvPr id="8" name="Text 5"/>
          <p:cNvSpPr/>
          <p:nvPr/>
        </p:nvSpPr>
        <p:spPr>
          <a:xfrm>
            <a:off x="1234440" y="1371600"/>
            <a:ext cx="3931920" cy="420624"/>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What the kernel measures</a:t>
            </a:r>
            <a:endParaRPr lang="en-US" sz="1250" dirty="0"/>
          </a:p>
        </p:txBody>
      </p:sp>
      <p:sp>
        <p:nvSpPr>
          <p:cNvPr id="9" name="Text 6"/>
          <p:cNvSpPr/>
          <p:nvPr/>
        </p:nvSpPr>
        <p:spPr>
          <a:xfrm>
            <a:off x="713232" y="1956816"/>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Solid volume → weight in PP</a:t>
            </a:r>
            <a:endParaRPr lang="en-US" sz="1000" dirty="0"/>
          </a:p>
        </p:txBody>
      </p:sp>
      <p:sp>
        <p:nvSpPr>
          <p:cNvPr id="10" name="Text 7"/>
          <p:cNvSpPr/>
          <p:nvPr/>
        </p:nvSpPr>
        <p:spPr>
          <a:xfrm>
            <a:off x="3977640" y="1956816"/>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4.20 kg</a:t>
            </a:r>
            <a:endParaRPr lang="en-US" sz="1100" dirty="0"/>
          </a:p>
        </p:txBody>
      </p:sp>
      <p:sp>
        <p:nvSpPr>
          <p:cNvPr id="11" name="Text 8"/>
          <p:cNvSpPr/>
          <p:nvPr/>
        </p:nvSpPr>
        <p:spPr>
          <a:xfrm>
            <a:off x="713232" y="2304288"/>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Wall thickness (drives cooling)</a:t>
            </a:r>
            <a:endParaRPr lang="en-US" sz="1000" dirty="0"/>
          </a:p>
        </p:txBody>
      </p:sp>
      <p:sp>
        <p:nvSpPr>
          <p:cNvPr id="12" name="Text 9"/>
          <p:cNvSpPr/>
          <p:nvPr/>
        </p:nvSpPr>
        <p:spPr>
          <a:xfrm>
            <a:off x="3977640" y="2304288"/>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 mm</a:t>
            </a:r>
            <a:endParaRPr lang="en-US" sz="1100" dirty="0"/>
          </a:p>
        </p:txBody>
      </p:sp>
      <p:sp>
        <p:nvSpPr>
          <p:cNvPr id="13" name="Text 10"/>
          <p:cNvSpPr/>
          <p:nvPr/>
        </p:nvSpPr>
        <p:spPr>
          <a:xfrm>
            <a:off x="713232" y="2651760"/>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Projected shadow in the draw direction</a:t>
            </a:r>
            <a:endParaRPr lang="en-US" sz="1000" dirty="0"/>
          </a:p>
        </p:txBody>
      </p:sp>
      <p:sp>
        <p:nvSpPr>
          <p:cNvPr id="14" name="Text 11"/>
          <p:cNvSpPr/>
          <p:nvPr/>
        </p:nvSpPr>
        <p:spPr>
          <a:xfrm>
            <a:off x="3977640" y="2651760"/>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9,900 cm²</a:t>
            </a:r>
            <a:endParaRPr lang="en-US" sz="1100" dirty="0"/>
          </a:p>
        </p:txBody>
      </p:sp>
      <p:sp>
        <p:nvSpPr>
          <p:cNvPr id="15" name="Text 12"/>
          <p:cNvSpPr/>
          <p:nvPr/>
        </p:nvSpPr>
        <p:spPr>
          <a:xfrm>
            <a:off x="713232" y="2999232"/>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Faces facing against the draw</a:t>
            </a:r>
            <a:endParaRPr lang="en-US" sz="1000" dirty="0"/>
          </a:p>
        </p:txBody>
      </p:sp>
      <p:sp>
        <p:nvSpPr>
          <p:cNvPr id="16" name="Text 13"/>
          <p:cNvSpPr/>
          <p:nvPr/>
        </p:nvSpPr>
        <p:spPr>
          <a:xfrm>
            <a:off x="3977640" y="2999232"/>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6 undercuts</a:t>
            </a:r>
            <a:endParaRPr lang="en-US" sz="1100" dirty="0"/>
          </a:p>
        </p:txBody>
      </p:sp>
      <p:sp>
        <p:nvSpPr>
          <p:cNvPr id="17" name="Text 14"/>
          <p:cNvSpPr/>
          <p:nvPr/>
        </p:nvSpPr>
        <p:spPr>
          <a:xfrm>
            <a:off x="713232" y="3346704"/>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Painted surface area</a:t>
            </a:r>
            <a:endParaRPr lang="en-US" sz="1000" dirty="0"/>
          </a:p>
        </p:txBody>
      </p:sp>
      <p:sp>
        <p:nvSpPr>
          <p:cNvPr id="18" name="Text 15"/>
          <p:cNvSpPr/>
          <p:nvPr/>
        </p:nvSpPr>
        <p:spPr>
          <a:xfrm>
            <a:off x="3977640" y="3346704"/>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1.6 m²</a:t>
            </a:r>
            <a:endParaRPr lang="en-US" sz="1100" dirty="0"/>
          </a:p>
        </p:txBody>
      </p:sp>
      <p:sp>
        <p:nvSpPr>
          <p:cNvPr id="19" name="Shape 16"/>
          <p:cNvSpPr/>
          <p:nvPr/>
        </p:nvSpPr>
        <p:spPr>
          <a:xfrm>
            <a:off x="5623560" y="1188720"/>
            <a:ext cx="3063240" cy="2651760"/>
          </a:xfrm>
          <a:prstGeom prst="roundRect">
            <a:avLst>
              <a:gd name="adj" fmla="val 3448"/>
            </a:avLst>
          </a:prstGeom>
          <a:solidFill>
            <a:srgbClr val="F1EBF8"/>
          </a:solidFill>
          <a:ln w="15875">
            <a:solidFill>
              <a:srgbClr val="6B3FA0"/>
            </a:solidFill>
            <a:prstDash val="solid"/>
          </a:ln>
        </p:spPr>
      </p:sp>
      <p:sp>
        <p:nvSpPr>
          <p:cNvPr id="20" name="Text 17"/>
          <p:cNvSpPr/>
          <p:nvPr/>
        </p:nvSpPr>
        <p:spPr>
          <a:xfrm>
            <a:off x="5852160" y="1316736"/>
            <a:ext cx="2743200" cy="237744"/>
          </a:xfrm>
          <a:prstGeom prst="rect">
            <a:avLst/>
          </a:prstGeom>
          <a:noFill/>
          <a:ln/>
        </p:spPr>
        <p:txBody>
          <a:bodyPr wrap="square" lIns="0" tIns="0" rIns="0" bIns="0" rtlCol="0" anchor="ctr"/>
          <a:lstStyle/>
          <a:p>
            <a:pPr indent="0" marL="0">
              <a:buNone/>
            </a:pPr>
            <a:r>
              <a:rPr lang="en-US" sz="1000" b="1" spc="80" kern="0" dirty="0">
                <a:solidFill>
                  <a:srgbClr val="6B3FA0"/>
                </a:solidFill>
                <a:latin typeface="Calibri" pitchFamily="34" charset="0"/>
                <a:ea typeface="Calibri" pitchFamily="34" charset="-122"/>
                <a:cs typeface="Calibri" pitchFamily="34" charset="-120"/>
              </a:rPr>
              <a:t>WHAT THE AI SAYS BACK</a:t>
            </a:r>
            <a:endParaRPr lang="en-US" sz="1000" dirty="0"/>
          </a:p>
        </p:txBody>
      </p:sp>
      <p:sp>
        <p:nvSpPr>
          <p:cNvPr id="21" name="Text 18"/>
          <p:cNvSpPr/>
          <p:nvPr/>
        </p:nvSpPr>
        <p:spPr>
          <a:xfrm>
            <a:off x="5852160" y="1627632"/>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Material family</a:t>
            </a:r>
            <a:endParaRPr lang="en-US" sz="900" dirty="0"/>
          </a:p>
        </p:txBody>
      </p:sp>
      <p:sp>
        <p:nvSpPr>
          <p:cNvPr id="22" name="Text 19"/>
          <p:cNvSpPr/>
          <p:nvPr/>
        </p:nvSpPr>
        <p:spPr>
          <a:xfrm>
            <a:off x="5852160" y="1819656"/>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Talc-filled polypropylene</a:t>
            </a:r>
            <a:endParaRPr lang="en-US" sz="1050" dirty="0"/>
          </a:p>
        </p:txBody>
      </p:sp>
      <p:sp>
        <p:nvSpPr>
          <p:cNvPr id="23" name="Text 20"/>
          <p:cNvSpPr/>
          <p:nvPr/>
        </p:nvSpPr>
        <p:spPr>
          <a:xfrm>
            <a:off x="5852160" y="2103120"/>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How it is made</a:t>
            </a:r>
            <a:endParaRPr lang="en-US" sz="900" dirty="0"/>
          </a:p>
        </p:txBody>
      </p:sp>
      <p:sp>
        <p:nvSpPr>
          <p:cNvPr id="24" name="Text 21"/>
          <p:cNvSpPr/>
          <p:nvPr/>
        </p:nvSpPr>
        <p:spPr>
          <a:xfrm>
            <a:off x="5852160" y="2295144"/>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Injection moulded, one shot</a:t>
            </a:r>
            <a:endParaRPr lang="en-US" sz="1050" dirty="0"/>
          </a:p>
        </p:txBody>
      </p:sp>
      <p:sp>
        <p:nvSpPr>
          <p:cNvPr id="25" name="Text 22"/>
          <p:cNvSpPr/>
          <p:nvPr/>
        </p:nvSpPr>
        <p:spPr>
          <a:xfrm>
            <a:off x="5852160" y="2578608"/>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Then what</a:t>
            </a:r>
            <a:endParaRPr lang="en-US" sz="900" dirty="0"/>
          </a:p>
        </p:txBody>
      </p:sp>
      <p:sp>
        <p:nvSpPr>
          <p:cNvPr id="26" name="Text 23"/>
          <p:cNvSpPr/>
          <p:nvPr/>
        </p:nvSpPr>
        <p:spPr>
          <a:xfrm>
            <a:off x="5852160" y="2770632"/>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Painted, Class-A finish</a:t>
            </a:r>
            <a:endParaRPr lang="en-US" sz="1050" dirty="0"/>
          </a:p>
        </p:txBody>
      </p:sp>
      <p:sp>
        <p:nvSpPr>
          <p:cNvPr id="27" name="Text 24"/>
          <p:cNvSpPr/>
          <p:nvPr/>
        </p:nvSpPr>
        <p:spPr>
          <a:xfrm>
            <a:off x="5852160" y="3054096"/>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How sure it is</a:t>
            </a:r>
            <a:endParaRPr lang="en-US" sz="900" dirty="0"/>
          </a:p>
        </p:txBody>
      </p:sp>
      <p:sp>
        <p:nvSpPr>
          <p:cNvPr id="28" name="Text 25"/>
          <p:cNvSpPr/>
          <p:nvPr/>
        </p:nvSpPr>
        <p:spPr>
          <a:xfrm>
            <a:off x="5852160" y="3246120"/>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0.87 confident</a:t>
            </a:r>
            <a:endParaRPr lang="en-US" sz="1050" dirty="0"/>
          </a:p>
        </p:txBody>
      </p:sp>
      <p:sp>
        <p:nvSpPr>
          <p:cNvPr id="29" name="Text 26"/>
          <p:cNvSpPr/>
          <p:nvPr/>
        </p:nvSpPr>
        <p:spPr>
          <a:xfrm>
            <a:off x="5852160" y="3547872"/>
            <a:ext cx="2651760" cy="237744"/>
          </a:xfrm>
          <a:prstGeom prst="rect">
            <a:avLst/>
          </a:prstGeom>
          <a:noFill/>
          <a:ln/>
        </p:spPr>
        <p:txBody>
          <a:bodyPr wrap="square" lIns="0" tIns="0" rIns="0" bIns="0" rtlCol="0" anchor="ctr"/>
          <a:lstStyle/>
          <a:p>
            <a:pPr indent="0" marL="0">
              <a:buNone/>
            </a:pPr>
            <a:r>
              <a:rPr lang="en-US" sz="950" b="1" i="1" dirty="0">
                <a:solidFill>
                  <a:srgbClr val="6B3FA0"/>
                </a:solidFill>
                <a:latin typeface="Calibri" pitchFamily="34" charset="0"/>
                <a:ea typeface="Calibri" pitchFamily="34" charset="-122"/>
                <a:cs typeface="Calibri" pitchFamily="34" charset="-120"/>
              </a:rPr>
              <a:t>Four words. No numbers.</a:t>
            </a:r>
            <a:endParaRPr lang="en-US" sz="950" dirty="0"/>
          </a:p>
        </p:txBody>
      </p:sp>
      <p:sp>
        <p:nvSpPr>
          <p:cNvPr id="30" name="Shape 27"/>
          <p:cNvSpPr/>
          <p:nvPr/>
        </p:nvSpPr>
        <p:spPr>
          <a:xfrm>
            <a:off x="8915400" y="1188720"/>
            <a:ext cx="2816352" cy="2651760"/>
          </a:xfrm>
          <a:prstGeom prst="roundRect">
            <a:avLst>
              <a:gd name="adj" fmla="val 3448"/>
            </a:avLst>
          </a:prstGeom>
          <a:solidFill>
            <a:srgbClr val="E8F1FA"/>
          </a:solidFill>
          <a:ln w="15875">
            <a:solidFill>
              <a:srgbClr val="1D6FB8"/>
            </a:solidFill>
            <a:prstDash val="solid"/>
          </a:ln>
        </p:spPr>
      </p:sp>
      <p:sp>
        <p:nvSpPr>
          <p:cNvPr id="31" name="Text 28"/>
          <p:cNvSpPr/>
          <p:nvPr/>
        </p:nvSpPr>
        <p:spPr>
          <a:xfrm>
            <a:off x="9144000" y="1316736"/>
            <a:ext cx="2377440" cy="237744"/>
          </a:xfrm>
          <a:prstGeom prst="rect">
            <a:avLst/>
          </a:prstGeom>
          <a:noFill/>
          <a:ln/>
        </p:spPr>
        <p:txBody>
          <a:bodyPr wrap="square" lIns="0" tIns="0" rIns="0" bIns="0" rtlCol="0" anchor="ctr"/>
          <a:lstStyle/>
          <a:p>
            <a:pPr indent="0" marL="0">
              <a:buNone/>
            </a:pPr>
            <a:r>
              <a:rPr lang="en-US" sz="1000" b="1" spc="80" kern="0" dirty="0">
                <a:solidFill>
                  <a:srgbClr val="1D6FB8"/>
                </a:solidFill>
                <a:latin typeface="Calibri" pitchFamily="34" charset="0"/>
                <a:ea typeface="Calibri" pitchFamily="34" charset="-122"/>
                <a:cs typeface="Calibri" pitchFamily="34" charset="-120"/>
              </a:rPr>
              <a:t>THE UNDERCUT COUNT</a:t>
            </a:r>
            <a:endParaRPr lang="en-US" sz="1000" dirty="0"/>
          </a:p>
        </p:txBody>
      </p:sp>
      <p:sp>
        <p:nvSpPr>
          <p:cNvPr id="32" name="Text 29"/>
          <p:cNvSpPr/>
          <p:nvPr/>
        </p:nvSpPr>
        <p:spPr>
          <a:xfrm>
            <a:off x="9144000" y="1645920"/>
            <a:ext cx="2377440" cy="1463040"/>
          </a:xfrm>
          <a:prstGeom prst="rect">
            <a:avLst/>
          </a:prstGeom>
          <a:noFill/>
          <a:ln/>
        </p:spPr>
        <p:txBody>
          <a:bodyPr wrap="square" lIns="0" tIns="0" rIns="0" bIns="0" rtlCol="0" anchor="t"/>
          <a:lstStyle/>
          <a:p>
            <a:pPr indent="0" marL="0">
              <a:buNone/>
            </a:pPr>
            <a:r>
              <a:rPr lang="en-US" sz="1000" dirty="0">
                <a:solidFill>
                  <a:srgbClr val="3A4356"/>
                </a:solidFill>
                <a:latin typeface="Calibri" pitchFamily="34" charset="0"/>
                <a:ea typeface="Calibri" pitchFamily="34" charset="-122"/>
                <a:cs typeface="Calibri" pitchFamily="34" charset="-120"/>
              </a:rPr>
              <a:t>The kernel classifies every face by its angle to the mould-opening direction. </a:t>
            </a:r>
            <a:pPr indent="0" marL="0">
              <a:buNone/>
            </a:pPr>
            <a:r>
              <a:rPr lang="en-US" sz="1000" b="1" dirty="0">
                <a:solidFill>
                  <a:srgbClr val="16325C"/>
                </a:solidFill>
                <a:latin typeface="Calibri" pitchFamily="34" charset="0"/>
                <a:ea typeface="Calibri" pitchFamily="34" charset="-122"/>
                <a:cs typeface="Calibri" pitchFamily="34" charset="-120"/>
              </a:rPr>
              <a:t>Six faces point back against the draw. </a:t>
            </a:r>
            <a:pPr indent="0" marL="0">
              <a:buNone/>
            </a:pPr>
            <a:r>
              <a:rPr lang="en-US" sz="1000" dirty="0">
                <a:solidFill>
                  <a:srgbClr val="3A4356"/>
                </a:solidFill>
                <a:latin typeface="Calibri" pitchFamily="34" charset="0"/>
                <a:ea typeface="Calibri" pitchFamily="34" charset="-122"/>
                <a:cs typeface="Calibri" pitchFamily="34" charset="-120"/>
              </a:rPr>
              <a:t>Each one needs a sliding section in the tool — and each slide is real money in the mould.</a:t>
            </a:r>
            <a:endParaRPr lang="en-US" sz="1000" dirty="0"/>
          </a:p>
        </p:txBody>
      </p:sp>
      <p:sp>
        <p:nvSpPr>
          <p:cNvPr id="33" name="Text 30"/>
          <p:cNvSpPr/>
          <p:nvPr/>
        </p:nvSpPr>
        <p:spPr>
          <a:xfrm>
            <a:off x="9144000" y="3200400"/>
            <a:ext cx="2377440" cy="457200"/>
          </a:xfrm>
          <a:prstGeom prst="rect">
            <a:avLst/>
          </a:prstGeom>
          <a:noFill/>
          <a:ln/>
        </p:spPr>
        <p:txBody>
          <a:bodyPr wrap="square" lIns="0" tIns="0" rIns="0" bIns="0" rtlCol="0" anchor="t"/>
          <a:lstStyle/>
          <a:p>
            <a:pPr indent="0" marL="0">
              <a:buNone/>
            </a:pPr>
            <a:r>
              <a:rPr lang="en-US" sz="950" b="1" i="1" dirty="0">
                <a:solidFill>
                  <a:srgbClr val="1D6FB8"/>
                </a:solidFill>
                <a:latin typeface="Calibri" pitchFamily="34" charset="0"/>
                <a:ea typeface="Calibri" pitchFamily="34" charset="-122"/>
                <a:cs typeface="Calibri" pitchFamily="34" charset="-120"/>
              </a:rPr>
              <a:t>Nobody counted these by eye.</a:t>
            </a:r>
            <a:endParaRPr lang="en-US" sz="950" dirty="0"/>
          </a:p>
        </p:txBody>
      </p:sp>
      <p:sp>
        <p:nvSpPr>
          <p:cNvPr id="34" name="Shape 31"/>
          <p:cNvSpPr/>
          <p:nvPr/>
        </p:nvSpPr>
        <p:spPr>
          <a:xfrm>
            <a:off x="457200" y="4041648"/>
            <a:ext cx="11274552" cy="1051560"/>
          </a:xfrm>
          <a:prstGeom prst="roundRect">
            <a:avLst>
              <a:gd name="adj" fmla="val 8696"/>
            </a:avLst>
          </a:prstGeom>
          <a:solidFill>
            <a:srgbClr val="FFFFFF"/>
          </a:solidFill>
          <a:ln w="12700">
            <a:solidFill>
              <a:srgbClr val="DCE3EE"/>
            </a:solidFill>
            <a:prstDash val="solid"/>
          </a:ln>
        </p:spPr>
      </p:sp>
      <p:sp>
        <p:nvSpPr>
          <p:cNvPr id="35" name="Text 32"/>
          <p:cNvSpPr/>
          <p:nvPr/>
        </p:nvSpPr>
        <p:spPr>
          <a:xfrm>
            <a:off x="731520" y="4151376"/>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one measurement that decides the biggest number on this part</a:t>
            </a:r>
            <a:endParaRPr lang="en-US" sz="1250" dirty="0"/>
          </a:p>
        </p:txBody>
      </p:sp>
      <p:sp>
        <p:nvSpPr>
          <p:cNvPr id="36" name="Text 33"/>
          <p:cNvSpPr/>
          <p:nvPr/>
        </p:nvSpPr>
        <p:spPr>
          <a:xfrm>
            <a:off x="731520" y="4443984"/>
            <a:ext cx="10744200" cy="54864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projected shadow — 9,900 cm². </a:t>
            </a:r>
            <a:pPr indent="0" marL="0">
              <a:buNone/>
            </a:pPr>
            <a:r>
              <a:rPr lang="en-US" sz="1150" dirty="0">
                <a:solidFill>
                  <a:srgbClr val="3A4356"/>
                </a:solidFill>
                <a:latin typeface="Calibri" pitchFamily="34" charset="0"/>
                <a:ea typeface="Calibri" pitchFamily="34" charset="-122"/>
                <a:cs typeface="Calibri" pitchFamily="34" charset="-120"/>
              </a:rPr>
              <a:t>Molten plastic pushing outwards over that area is what tries to force the mould open, so it sets the press size, and the press rate sets the moulding cost. A part this size cannot be moulded on a small machine, however cheap that machine is.</a:t>
            </a:r>
            <a:endParaRPr lang="en-US" sz="1150" dirty="0"/>
          </a:p>
        </p:txBody>
      </p:sp>
      <p:sp>
        <p:nvSpPr>
          <p:cNvPr id="37" name="Shape 34"/>
          <p:cNvSpPr/>
          <p:nvPr/>
        </p:nvSpPr>
        <p:spPr>
          <a:xfrm>
            <a:off x="457200" y="5257800"/>
            <a:ext cx="11274552" cy="777240"/>
          </a:xfrm>
          <a:prstGeom prst="roundRect">
            <a:avLst>
              <a:gd name="adj" fmla="val 11765"/>
            </a:avLst>
          </a:prstGeom>
          <a:solidFill>
            <a:srgbClr val="F1EBF8"/>
          </a:solidFill>
          <a:ln w="12700">
            <a:solidFill>
              <a:srgbClr val="6B3FA0"/>
            </a:solidFill>
            <a:prstDash val="solid"/>
          </a:ln>
        </p:spPr>
      </p:sp>
      <p:sp>
        <p:nvSpPr>
          <p:cNvPr id="38" name="Text 35"/>
          <p:cNvSpPr/>
          <p:nvPr/>
        </p:nvSpPr>
        <p:spPr>
          <a:xfrm>
            <a:off x="731520" y="5358384"/>
            <a:ext cx="10744200" cy="603504"/>
          </a:xfrm>
          <a:prstGeom prst="rect">
            <a:avLst/>
          </a:prstGeom>
          <a:noFill/>
          <a:ln/>
        </p:spPr>
        <p:txBody>
          <a:bodyPr wrap="square" lIns="0" tIns="0" rIns="0" bIns="0" rtlCol="0" anchor="ctr"/>
          <a:lstStyle/>
          <a:p>
            <a:pPr indent="0" marL="0">
              <a:buNone/>
            </a:pPr>
            <a:r>
              <a:rPr lang="en-US" sz="1150" b="1" dirty="0">
                <a:solidFill>
                  <a:srgbClr val="6B3FA0"/>
                </a:solidFill>
                <a:latin typeface="Calibri" pitchFamily="34" charset="0"/>
                <a:ea typeface="Calibri" pitchFamily="34" charset="-122"/>
                <a:cs typeface="Calibri" pitchFamily="34" charset="-120"/>
              </a:rPr>
              <a:t>Identical to the casting: </a:t>
            </a:r>
            <a:pPr indent="0" marL="0">
              <a:buNone/>
            </a:pPr>
            <a:r>
              <a:rPr lang="en-US" sz="1150" dirty="0">
                <a:solidFill>
                  <a:srgbClr val="3A4356"/>
                </a:solidFill>
                <a:latin typeface="Calibri" pitchFamily="34" charset="0"/>
                <a:ea typeface="Calibri" pitchFamily="34" charset="-122"/>
                <a:cs typeface="Calibri" pitchFamily="34" charset="-120"/>
              </a:rPr>
              <a:t>stages 1 to 3 happen before the AI is involved, the AI hands back four words and a confidence score, and it still has no access to a price, a rate or a machine.</a:t>
            </a:r>
            <a:endParaRPr lang="en-US" sz="1150" dirty="0"/>
          </a:p>
        </p:txBody>
      </p:sp>
      <p:sp>
        <p:nvSpPr>
          <p:cNvPr id="39" name="Text 3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40" name="Text 3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 The Guards, and Which Press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moulding-specific checks, then the press sized by physics</a:t>
            </a:r>
            <a:endParaRPr lang="en-US" sz="1200" dirty="0"/>
          </a:p>
        </p:txBody>
      </p:sp>
      <p:sp>
        <p:nvSpPr>
          <p:cNvPr id="5" name="Shape 3"/>
          <p:cNvSpPr/>
          <p:nvPr/>
        </p:nvSpPr>
        <p:spPr>
          <a:xfrm>
            <a:off x="457200" y="1188720"/>
            <a:ext cx="5486400" cy="1170432"/>
          </a:xfrm>
          <a:prstGeom prst="roundRect">
            <a:avLst>
              <a:gd name="adj" fmla="val 7031"/>
            </a:avLst>
          </a:prstGeom>
          <a:solidFill>
            <a:srgbClr val="FFFFFF"/>
          </a:solidFill>
          <a:ln w="12700">
            <a:solidFill>
              <a:srgbClr val="DCE3EE"/>
            </a:solidFill>
            <a:prstDash val="solid"/>
          </a:ln>
        </p:spPr>
      </p:sp>
      <p:sp>
        <p:nvSpPr>
          <p:cNvPr id="6" name="Text 4"/>
          <p:cNvSpPr/>
          <p:nvPr/>
        </p:nvSpPr>
        <p:spPr>
          <a:xfrm>
            <a:off x="658368" y="1280160"/>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1 · Hot runner means no wasted resin</a:t>
            </a:r>
            <a:endParaRPr lang="en-US" sz="1150" dirty="0"/>
          </a:p>
        </p:txBody>
      </p:sp>
      <p:sp>
        <p:nvSpPr>
          <p:cNvPr id="7" name="Text 5"/>
          <p:cNvSpPr/>
          <p:nvPr/>
        </p:nvSpPr>
        <p:spPr>
          <a:xfrm>
            <a:off x="658368"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cold runner would add 0.6–0.9 kg of scrap plastic per shot. This tool has a hot runner, so the shot weight IS the part weight — the guard makes sure we do not charge for plastic nobody buys.</a:t>
            </a:r>
            <a:endParaRPr lang="en-US" sz="960" dirty="0"/>
          </a:p>
        </p:txBody>
      </p:sp>
      <p:sp>
        <p:nvSpPr>
          <p:cNvPr id="8" name="Shape 6"/>
          <p:cNvSpPr/>
          <p:nvPr/>
        </p:nvSpPr>
        <p:spPr>
          <a:xfrm>
            <a:off x="6245352" y="1188720"/>
            <a:ext cx="5486400" cy="1170432"/>
          </a:xfrm>
          <a:prstGeom prst="roundRect">
            <a:avLst>
              <a:gd name="adj" fmla="val 7031"/>
            </a:avLst>
          </a:prstGeom>
          <a:solidFill>
            <a:srgbClr val="FFFFFF"/>
          </a:solidFill>
          <a:ln w="12700">
            <a:solidFill>
              <a:srgbClr val="DCE3EE"/>
            </a:solidFill>
            <a:prstDash val="solid"/>
          </a:ln>
        </p:spPr>
      </p:sp>
      <p:sp>
        <p:nvSpPr>
          <p:cNvPr id="9" name="Text 7"/>
          <p:cNvSpPr/>
          <p:nvPr/>
        </p:nvSpPr>
        <p:spPr>
          <a:xfrm>
            <a:off x="6446520" y="1280160"/>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2 · Cooling is calculated, not guessed</a:t>
            </a:r>
            <a:endParaRPr lang="en-US" sz="1150" dirty="0"/>
          </a:p>
        </p:txBody>
      </p:sp>
      <p:sp>
        <p:nvSpPr>
          <p:cNvPr id="10" name="Text 8"/>
          <p:cNvSpPr/>
          <p:nvPr/>
        </p:nvSpPr>
        <p:spPr>
          <a:xfrm>
            <a:off x="6446520"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Cool time = 3.16 × wall² . At 3.0 mm that is 28.4 seconds — over half the whole cycle. Wall thickness enters SQUARED, so it is the most powerful lever in moulding.</a:t>
            </a:r>
            <a:endParaRPr lang="en-US" sz="960" dirty="0"/>
          </a:p>
        </p:txBody>
      </p:sp>
      <p:sp>
        <p:nvSpPr>
          <p:cNvPr id="11" name="Shape 9"/>
          <p:cNvSpPr/>
          <p:nvPr/>
        </p:nvSpPr>
        <p:spPr>
          <a:xfrm>
            <a:off x="457200" y="2487168"/>
            <a:ext cx="5486400" cy="1170432"/>
          </a:xfrm>
          <a:prstGeom prst="roundRect">
            <a:avLst>
              <a:gd name="adj" fmla="val 7031"/>
            </a:avLst>
          </a:prstGeom>
          <a:solidFill>
            <a:srgbClr val="FFFFFF"/>
          </a:solidFill>
          <a:ln w="12700">
            <a:solidFill>
              <a:srgbClr val="DCE3EE"/>
            </a:solidFill>
            <a:prstDash val="solid"/>
          </a:ln>
        </p:spPr>
      </p:sp>
      <p:sp>
        <p:nvSpPr>
          <p:cNvPr id="12" name="Text 10"/>
          <p:cNvSpPr/>
          <p:nvPr/>
        </p:nvSpPr>
        <p:spPr>
          <a:xfrm>
            <a:off x="658368" y="2578608"/>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3 · Press sized to the projected area</a:t>
            </a:r>
            <a:endParaRPr lang="en-US" sz="1150" dirty="0"/>
          </a:p>
        </p:txBody>
      </p:sp>
      <p:sp>
        <p:nvSpPr>
          <p:cNvPr id="13" name="Text 11"/>
          <p:cNvSpPr/>
          <p:nvPr/>
        </p:nvSpPr>
        <p:spPr>
          <a:xfrm>
            <a:off x="658368"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Not a default machine. 9,900 cm² × 25 MPa × 1.15 safety = 2,902 tonnes of clamp force needed.</a:t>
            </a:r>
            <a:endParaRPr lang="en-US" sz="960" dirty="0"/>
          </a:p>
        </p:txBody>
      </p:sp>
      <p:sp>
        <p:nvSpPr>
          <p:cNvPr id="14" name="Shape 12"/>
          <p:cNvSpPr/>
          <p:nvPr/>
        </p:nvSpPr>
        <p:spPr>
          <a:xfrm>
            <a:off x="6245352" y="2487168"/>
            <a:ext cx="5486400" cy="1170432"/>
          </a:xfrm>
          <a:prstGeom prst="roundRect">
            <a:avLst>
              <a:gd name="adj" fmla="val 7031"/>
            </a:avLst>
          </a:prstGeom>
          <a:solidFill>
            <a:srgbClr val="FFFFFF"/>
          </a:solidFill>
          <a:ln w="12700">
            <a:solidFill>
              <a:srgbClr val="DCE3EE"/>
            </a:solidFill>
            <a:prstDash val="solid"/>
          </a:ln>
        </p:spPr>
      </p:sp>
      <p:sp>
        <p:nvSpPr>
          <p:cNvPr id="15" name="Text 13"/>
          <p:cNvSpPr/>
          <p:nvPr/>
        </p:nvSpPr>
        <p:spPr>
          <a:xfrm>
            <a:off x="6446520" y="2578608"/>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4 · Tool cost is entered, never invented</a:t>
            </a:r>
            <a:endParaRPr lang="en-US" sz="1150" dirty="0"/>
          </a:p>
        </p:txBody>
      </p:sp>
      <p:sp>
        <p:nvSpPr>
          <p:cNvPr id="16" name="Text 14"/>
          <p:cNvSpPr/>
          <p:nvPr/>
        </p:nvSpPr>
        <p:spPr>
          <a:xfrm>
            <a:off x="6446520"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£420k mould is a quotation, not an estimate. The tool takes it as an input, applies the Class-A finish uplift, and shows the arithmetic.</a:t>
            </a:r>
            <a:endParaRPr lang="en-US" sz="960" dirty="0"/>
          </a:p>
        </p:txBody>
      </p:sp>
      <p:sp>
        <p:nvSpPr>
          <p:cNvPr id="17" name="Shape 15"/>
          <p:cNvSpPr/>
          <p:nvPr/>
        </p:nvSpPr>
        <p:spPr>
          <a:xfrm>
            <a:off x="457200" y="3840480"/>
            <a:ext cx="6858000" cy="2148840"/>
          </a:xfrm>
          <a:prstGeom prst="roundRect">
            <a:avLst>
              <a:gd name="adj" fmla="val 4255"/>
            </a:avLst>
          </a:prstGeom>
          <a:solidFill>
            <a:srgbClr val="E6F4F1"/>
          </a:solidFill>
          <a:ln w="15875">
            <a:solidFill>
              <a:srgbClr val="0E8074"/>
            </a:solidFill>
            <a:prstDash val="solid"/>
          </a:ln>
        </p:spPr>
      </p:sp>
      <p:sp>
        <p:nvSpPr>
          <p:cNvPr id="18" name="Text 16"/>
          <p:cNvSpPr/>
          <p:nvPr/>
        </p:nvSpPr>
        <p:spPr>
          <a:xfrm>
            <a:off x="685800" y="3950208"/>
            <a:ext cx="6400800" cy="256032"/>
          </a:xfrm>
          <a:prstGeom prst="rect">
            <a:avLst/>
          </a:prstGeom>
          <a:noFill/>
          <a:ln/>
        </p:spPr>
        <p:txBody>
          <a:bodyPr wrap="square" lIns="0" tIns="0" rIns="0" bIns="0" rtlCol="0" anchor="ctr"/>
          <a:lstStyle/>
          <a:p>
            <a:pPr indent="0" marL="0">
              <a:buNone/>
            </a:pPr>
            <a:r>
              <a:rPr lang="en-US" sz="1050" b="1" spc="40" kern="0" dirty="0">
                <a:solidFill>
                  <a:srgbClr val="0E8074"/>
                </a:solidFill>
                <a:latin typeface="Calibri" pitchFamily="34" charset="0"/>
                <a:ea typeface="Calibri" pitchFamily="34" charset="-122"/>
                <a:cs typeface="Calibri" pitchFamily="34" charset="-120"/>
              </a:rPr>
              <a:t>THE PRESS LADDER — the engine takes the smallest press that clamps the part</a:t>
            </a:r>
            <a:endParaRPr lang="en-US" sz="1050" dirty="0"/>
          </a:p>
        </p:txBody>
      </p:sp>
      <p:sp>
        <p:nvSpPr>
          <p:cNvPr id="19" name="Text 17"/>
          <p:cNvSpPr/>
          <p:nvPr/>
        </p:nvSpPr>
        <p:spPr>
          <a:xfrm>
            <a:off x="822960" y="4315968"/>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800 t</a:t>
            </a:r>
            <a:endParaRPr lang="en-US" sz="1100" dirty="0"/>
          </a:p>
        </p:txBody>
      </p:sp>
      <p:sp>
        <p:nvSpPr>
          <p:cNvPr id="20" name="Text 18"/>
          <p:cNvSpPr/>
          <p:nvPr/>
        </p:nvSpPr>
        <p:spPr>
          <a:xfrm>
            <a:off x="2103120" y="4315968"/>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£78.13/hr</a:t>
            </a:r>
            <a:endParaRPr lang="en-US" sz="1100" dirty="0"/>
          </a:p>
        </p:txBody>
      </p:sp>
      <p:sp>
        <p:nvSpPr>
          <p:cNvPr id="21" name="Text 19"/>
          <p:cNvSpPr/>
          <p:nvPr/>
        </p:nvSpPr>
        <p:spPr>
          <a:xfrm>
            <a:off x="3840480" y="4315968"/>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2" name="Text 20"/>
          <p:cNvSpPr/>
          <p:nvPr/>
        </p:nvSpPr>
        <p:spPr>
          <a:xfrm>
            <a:off x="822960" y="4700016"/>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1,200 t</a:t>
            </a:r>
            <a:endParaRPr lang="en-US" sz="1100" dirty="0"/>
          </a:p>
        </p:txBody>
      </p:sp>
      <p:sp>
        <p:nvSpPr>
          <p:cNvPr id="23" name="Text 21"/>
          <p:cNvSpPr/>
          <p:nvPr/>
        </p:nvSpPr>
        <p:spPr>
          <a:xfrm>
            <a:off x="2103120" y="4700016"/>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£111.70/hr</a:t>
            </a:r>
            <a:endParaRPr lang="en-US" sz="1100" dirty="0"/>
          </a:p>
        </p:txBody>
      </p:sp>
      <p:sp>
        <p:nvSpPr>
          <p:cNvPr id="24" name="Text 22"/>
          <p:cNvSpPr/>
          <p:nvPr/>
        </p:nvSpPr>
        <p:spPr>
          <a:xfrm>
            <a:off x="3840480" y="4700016"/>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5" name="Text 23"/>
          <p:cNvSpPr/>
          <p:nvPr/>
        </p:nvSpPr>
        <p:spPr>
          <a:xfrm>
            <a:off x="822960" y="5084064"/>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2,000 t</a:t>
            </a:r>
            <a:endParaRPr lang="en-US" sz="1100" dirty="0"/>
          </a:p>
        </p:txBody>
      </p:sp>
      <p:sp>
        <p:nvSpPr>
          <p:cNvPr id="26" name="Text 24"/>
          <p:cNvSpPr/>
          <p:nvPr/>
        </p:nvSpPr>
        <p:spPr>
          <a:xfrm>
            <a:off x="2103120" y="5084064"/>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£178.54/hr</a:t>
            </a:r>
            <a:endParaRPr lang="en-US" sz="1100" dirty="0"/>
          </a:p>
        </p:txBody>
      </p:sp>
      <p:sp>
        <p:nvSpPr>
          <p:cNvPr id="27" name="Text 25"/>
          <p:cNvSpPr/>
          <p:nvPr/>
        </p:nvSpPr>
        <p:spPr>
          <a:xfrm>
            <a:off x="3840480" y="5084064"/>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8" name="Shape 26"/>
          <p:cNvSpPr/>
          <p:nvPr/>
        </p:nvSpPr>
        <p:spPr>
          <a:xfrm>
            <a:off x="640080" y="5431536"/>
            <a:ext cx="6492240" cy="365760"/>
          </a:xfrm>
          <a:prstGeom prst="roundRect">
            <a:avLst>
              <a:gd name="adj" fmla="val 15000"/>
            </a:avLst>
          </a:prstGeom>
          <a:solidFill>
            <a:srgbClr val="FFFFFF"/>
          </a:solidFill>
          <a:ln w="15875">
            <a:solidFill>
              <a:srgbClr val="0E8074"/>
            </a:solidFill>
            <a:prstDash val="solid"/>
          </a:ln>
        </p:spPr>
      </p:sp>
      <p:sp>
        <p:nvSpPr>
          <p:cNvPr id="29" name="Text 27"/>
          <p:cNvSpPr/>
          <p:nvPr/>
        </p:nvSpPr>
        <p:spPr>
          <a:xfrm>
            <a:off x="822960" y="5468112"/>
            <a:ext cx="1188720" cy="292608"/>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3,500 t</a:t>
            </a:r>
            <a:endParaRPr lang="en-US" sz="1100" dirty="0"/>
          </a:p>
        </p:txBody>
      </p:sp>
      <p:sp>
        <p:nvSpPr>
          <p:cNvPr id="30" name="Text 28"/>
          <p:cNvSpPr/>
          <p:nvPr/>
        </p:nvSpPr>
        <p:spPr>
          <a:xfrm>
            <a:off x="2103120" y="5468112"/>
            <a:ext cx="1463040" cy="292608"/>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£306.12/hr</a:t>
            </a:r>
            <a:endParaRPr lang="en-US" sz="1100" dirty="0"/>
          </a:p>
        </p:txBody>
      </p:sp>
      <p:sp>
        <p:nvSpPr>
          <p:cNvPr id="31" name="Text 29"/>
          <p:cNvSpPr/>
          <p:nvPr/>
        </p:nvSpPr>
        <p:spPr>
          <a:xfrm>
            <a:off x="3840480" y="5468112"/>
            <a:ext cx="1463040" cy="29260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CHOSEN</a:t>
            </a:r>
            <a:endParaRPr lang="en-US" sz="950" dirty="0"/>
          </a:p>
        </p:txBody>
      </p:sp>
      <p:sp>
        <p:nvSpPr>
          <p:cNvPr id="32" name="Text 30"/>
          <p:cNvSpPr/>
          <p:nvPr/>
        </p:nvSpPr>
        <p:spPr>
          <a:xfrm>
            <a:off x="5212080" y="5468112"/>
            <a:ext cx="1828800" cy="292608"/>
          </a:xfrm>
          <a:prstGeom prst="rect">
            <a:avLst/>
          </a:prstGeom>
          <a:noFill/>
          <a:ln/>
        </p:spPr>
        <p:txBody>
          <a:bodyPr wrap="square" lIns="0" tIns="0" rIns="0" bIns="0" rtlCol="0" anchor="ctr"/>
          <a:lstStyle/>
          <a:p>
            <a:pPr indent="0" marL="0">
              <a:buNone/>
            </a:pPr>
            <a:r>
              <a:rPr lang="en-US" sz="840" i="1" dirty="0">
                <a:solidFill>
                  <a:srgbClr val="0E8074"/>
                </a:solidFill>
                <a:latin typeface="Calibri" pitchFamily="34" charset="0"/>
                <a:ea typeface="Calibri" pitchFamily="34" charset="-122"/>
                <a:cs typeface="Calibri" pitchFamily="34" charset="-120"/>
              </a:rPr>
              <a:t>2,902 t needed → smallest press that covers it</a:t>
            </a:r>
            <a:endParaRPr lang="en-US" sz="840" dirty="0"/>
          </a:p>
        </p:txBody>
      </p:sp>
      <p:sp>
        <p:nvSpPr>
          <p:cNvPr id="33" name="Shape 31"/>
          <p:cNvSpPr/>
          <p:nvPr/>
        </p:nvSpPr>
        <p:spPr>
          <a:xfrm>
            <a:off x="7543800" y="3840480"/>
            <a:ext cx="4187952" cy="2148840"/>
          </a:xfrm>
          <a:prstGeom prst="roundRect">
            <a:avLst>
              <a:gd name="adj" fmla="val 4255"/>
            </a:avLst>
          </a:prstGeom>
          <a:solidFill>
            <a:srgbClr val="FFFFFF"/>
          </a:solidFill>
          <a:ln w="19050">
            <a:solidFill>
              <a:srgbClr val="B03A2E"/>
            </a:solidFill>
            <a:prstDash val="solid"/>
          </a:ln>
        </p:spPr>
      </p:sp>
      <p:sp>
        <p:nvSpPr>
          <p:cNvPr id="34" name="Text 32"/>
          <p:cNvSpPr/>
          <p:nvPr/>
        </p:nvSpPr>
        <p:spPr>
          <a:xfrm>
            <a:off x="7772400" y="3950208"/>
            <a:ext cx="3749040" cy="256032"/>
          </a:xfrm>
          <a:prstGeom prst="rect">
            <a:avLst/>
          </a:prstGeom>
          <a:noFill/>
          <a:ln/>
        </p:spPr>
        <p:txBody>
          <a:bodyPr wrap="square" lIns="0" tIns="0" rIns="0" bIns="0" rtlCol="0" anchor="ctr"/>
          <a:lstStyle/>
          <a:p>
            <a:pPr indent="0" marL="0">
              <a:buNone/>
            </a:pPr>
            <a:r>
              <a:rPr lang="en-US" sz="1000" b="1" spc="40" kern="0" dirty="0">
                <a:solidFill>
                  <a:srgbClr val="B03A2E"/>
                </a:solidFill>
                <a:latin typeface="Calibri" pitchFamily="34" charset="0"/>
                <a:ea typeface="Calibri" pitchFamily="34" charset="-122"/>
                <a:cs typeface="Calibri" pitchFamily="34" charset="-120"/>
              </a:rPr>
              <a:t>WHY THIS ONE CHECK IS WORTH THE TOOL</a:t>
            </a:r>
            <a:endParaRPr lang="en-US" sz="1000" dirty="0"/>
          </a:p>
        </p:txBody>
      </p:sp>
      <p:sp>
        <p:nvSpPr>
          <p:cNvPr id="35" name="Text 33"/>
          <p:cNvSpPr/>
          <p:nvPr/>
        </p:nvSpPr>
        <p:spPr>
          <a:xfrm>
            <a:off x="7772400" y="4279392"/>
            <a:ext cx="3749040" cy="155448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Accept a 2,000 t default and you cost the moulding at £178.54/hr instead of £306.12 — </a:t>
            </a:r>
            <a:pPr indent="0" marL="0">
              <a:buNone/>
            </a:pPr>
            <a:r>
              <a:rPr lang="en-US" sz="1050" b="1" dirty="0">
                <a:solidFill>
                  <a:srgbClr val="B03A2E"/>
                </a:solidFill>
                <a:latin typeface="Calibri" pitchFamily="34" charset="0"/>
                <a:ea typeface="Calibri" pitchFamily="34" charset="-122"/>
                <a:cs typeface="Calibri" pitchFamily="34" charset="-120"/>
              </a:rPr>
              <a:t>42% too cheap.
</a:t>
            </a:r>
            <a:pPr indent="0" marL="0">
              <a:buNone/>
            </a:pPr>
            <a:r>
              <a:rPr lang="en-US" sz="1050" dirty="0">
                <a:solidFill>
                  <a:srgbClr val="3A4356"/>
                </a:solidFill>
                <a:latin typeface="Calibri" pitchFamily="34" charset="0"/>
                <a:ea typeface="Calibri" pitchFamily="34" charset="-122"/>
                <a:cs typeface="Calibri" pitchFamily="34" charset="-120"/>
              </a:rPr>
              <a:t>And the part would never mould: the press could not hold the tool shut, so you would be negotiating hard against a price that is physically impossible to deliver.</a:t>
            </a:r>
            <a:endParaRPr lang="en-US" sz="10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bumper — how the press is chosen and how every second of the cycle is derived</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E8074"/>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9,900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thin-wall PP</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mould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2,524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1.15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E8074"/>
                </a:solidFill>
                <a:latin typeface="Calibri" pitchFamily="34" charset="0"/>
                <a:ea typeface="Calibri" pitchFamily="34" charset="-122"/>
                <a:cs typeface="Calibri" pitchFamily="34" charset="-120"/>
              </a:rPr>
              <a:t>2,902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B7280"/>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£78.13/hr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1,200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£111.70/hr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2,000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£178.54/hr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E8074"/>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3,500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£306.12/hr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E8074"/>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Same physics as the die-casting slide — different commodity, identical rule and code path.</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55 SECONDS COME FROM</a:t>
            </a:r>
            <a:endParaRPr lang="en-US" sz="1050" dirty="0"/>
          </a:p>
        </p:txBody>
      </p:sp>
      <p:sp>
        <p:nvSpPr>
          <p:cNvPr id="34" name="Text 32"/>
          <p:cNvSpPr/>
          <p:nvPr/>
        </p:nvSpPr>
        <p:spPr>
          <a:xfrm>
            <a:off x="6428232" y="162763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Fill the cavity</a:t>
            </a:r>
            <a:endParaRPr lang="en-US" sz="960" dirty="0"/>
          </a:p>
        </p:txBody>
      </p:sp>
      <p:sp>
        <p:nvSpPr>
          <p:cNvPr id="35" name="Text 33"/>
          <p:cNvSpPr/>
          <p:nvPr/>
        </p:nvSpPr>
        <p:spPr>
          <a:xfrm>
            <a:off x="9372600" y="1627632"/>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36" name="Text 34"/>
          <p:cNvSpPr/>
          <p:nvPr/>
        </p:nvSpPr>
        <p:spPr>
          <a:xfrm>
            <a:off x="10652760" y="162763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4.50 s</a:t>
            </a:r>
            <a:endParaRPr lang="en-US" sz="980" dirty="0"/>
          </a:p>
        </p:txBody>
      </p:sp>
      <p:sp>
        <p:nvSpPr>
          <p:cNvPr id="37" name="Text 35"/>
          <p:cNvSpPr/>
          <p:nvPr/>
        </p:nvSpPr>
        <p:spPr>
          <a:xfrm>
            <a:off x="6428232" y="1920240"/>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Pack and hold under pressure</a:t>
            </a:r>
            <a:endParaRPr lang="en-US" sz="960" dirty="0"/>
          </a:p>
        </p:txBody>
      </p:sp>
      <p:sp>
        <p:nvSpPr>
          <p:cNvPr id="38" name="Text 36"/>
          <p:cNvSpPr/>
          <p:nvPr/>
        </p:nvSpPr>
        <p:spPr>
          <a:xfrm>
            <a:off x="9372600" y="1920240"/>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39" name="Text 37"/>
          <p:cNvSpPr/>
          <p:nvPr/>
        </p:nvSpPr>
        <p:spPr>
          <a:xfrm>
            <a:off x="10652760" y="1920240"/>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12.00 s</a:t>
            </a:r>
            <a:endParaRPr lang="en-US" sz="980" dirty="0"/>
          </a:p>
        </p:txBody>
      </p:sp>
      <p:sp>
        <p:nvSpPr>
          <p:cNvPr id="40" name="Shape 38"/>
          <p:cNvSpPr/>
          <p:nvPr/>
        </p:nvSpPr>
        <p:spPr>
          <a:xfrm>
            <a:off x="6355080" y="2185416"/>
            <a:ext cx="5230368" cy="301752"/>
          </a:xfrm>
          <a:prstGeom prst="roundRect">
            <a:avLst>
              <a:gd name="adj" fmla="val 15152"/>
            </a:avLst>
          </a:prstGeom>
          <a:solidFill>
            <a:srgbClr val="E6F4F1"/>
          </a:solidFill>
          <a:ln/>
        </p:spPr>
      </p:sp>
      <p:sp>
        <p:nvSpPr>
          <p:cNvPr id="41" name="Text 39"/>
          <p:cNvSpPr/>
          <p:nvPr/>
        </p:nvSpPr>
        <p:spPr>
          <a:xfrm>
            <a:off x="6428232" y="2212848"/>
            <a:ext cx="2926080" cy="27432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Cool  =  3.16 × wall²  =  3.16 × 3.0²</a:t>
            </a:r>
            <a:endParaRPr lang="en-US" sz="960" dirty="0"/>
          </a:p>
        </p:txBody>
      </p:sp>
      <p:sp>
        <p:nvSpPr>
          <p:cNvPr id="42" name="Text 40"/>
          <p:cNvSpPr/>
          <p:nvPr/>
        </p:nvSpPr>
        <p:spPr>
          <a:xfrm>
            <a:off x="9372600" y="2212848"/>
            <a:ext cx="1234440" cy="274320"/>
          </a:xfrm>
          <a:prstGeom prst="rect">
            <a:avLst/>
          </a:prstGeom>
          <a:noFill/>
          <a:ln/>
        </p:spPr>
        <p:txBody>
          <a:bodyPr wrap="square" lIns="0" tIns="0" rIns="0" bIns="0" rtlCol="0" anchor="ctr"/>
          <a:lstStyle/>
          <a:p>
            <a:pPr algn="r" indent="0" marL="0">
              <a:buNone/>
            </a:pPr>
            <a:r>
              <a:rPr lang="en-US" sz="800" i="1" dirty="0">
                <a:solidFill>
                  <a:srgbClr val="0E8074"/>
                </a:solidFill>
                <a:latin typeface="Calibri" pitchFamily="34" charset="0"/>
                <a:ea typeface="Calibri" pitchFamily="34" charset="-122"/>
                <a:cs typeface="Calibri" pitchFamily="34" charset="-120"/>
              </a:rPr>
              <a:t>CALCULATED</a:t>
            </a:r>
            <a:endParaRPr lang="en-US" sz="800" dirty="0"/>
          </a:p>
        </p:txBody>
      </p:sp>
      <p:sp>
        <p:nvSpPr>
          <p:cNvPr id="43" name="Text 41"/>
          <p:cNvSpPr/>
          <p:nvPr/>
        </p:nvSpPr>
        <p:spPr>
          <a:xfrm>
            <a:off x="10652760" y="2212848"/>
            <a:ext cx="914400" cy="274320"/>
          </a:xfrm>
          <a:prstGeom prst="rect">
            <a:avLst/>
          </a:prstGeom>
          <a:noFill/>
          <a:ln/>
        </p:spPr>
        <p:txBody>
          <a:bodyPr wrap="square" lIns="0" tIns="0" rIns="0" bIns="0" rtlCol="0" anchor="ctr"/>
          <a:lstStyle/>
          <a:p>
            <a:pPr algn="r" indent="0" marL="0">
              <a:buNone/>
            </a:pPr>
            <a:r>
              <a:rPr lang="en-US" sz="980" b="1" dirty="0">
                <a:solidFill>
                  <a:srgbClr val="0E8074"/>
                </a:solidFill>
                <a:latin typeface="Calibri" pitchFamily="34" charset="0"/>
                <a:ea typeface="Calibri" pitchFamily="34" charset="-122"/>
                <a:cs typeface="Calibri" pitchFamily="34" charset="-120"/>
              </a:rPr>
              <a:t>28.44 s</a:t>
            </a:r>
            <a:endParaRPr lang="en-US" sz="980" dirty="0"/>
          </a:p>
        </p:txBody>
      </p:sp>
      <p:sp>
        <p:nvSpPr>
          <p:cNvPr id="44" name="Text 42"/>
          <p:cNvSpPr/>
          <p:nvPr/>
        </p:nvSpPr>
        <p:spPr>
          <a:xfrm>
            <a:off x="6428232" y="2505456"/>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Open, eject, close</a:t>
            </a:r>
            <a:endParaRPr lang="en-US" sz="960" dirty="0"/>
          </a:p>
        </p:txBody>
      </p:sp>
      <p:sp>
        <p:nvSpPr>
          <p:cNvPr id="45" name="Text 43"/>
          <p:cNvSpPr/>
          <p:nvPr/>
        </p:nvSpPr>
        <p:spPr>
          <a:xfrm>
            <a:off x="9372600" y="2505456"/>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46" name="Text 44"/>
          <p:cNvSpPr/>
          <p:nvPr/>
        </p:nvSpPr>
        <p:spPr>
          <a:xfrm>
            <a:off x="10652760" y="2505456"/>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9.00 s</a:t>
            </a:r>
            <a:endParaRPr lang="en-US" sz="980" dirty="0"/>
          </a:p>
        </p:txBody>
      </p:sp>
      <p:sp>
        <p:nvSpPr>
          <p:cNvPr id="47" name="Text 45"/>
          <p:cNvSpPr/>
          <p:nvPr/>
        </p:nvSpPr>
        <p:spPr>
          <a:xfrm>
            <a:off x="6428232" y="2798064"/>
            <a:ext cx="2926080" cy="274320"/>
          </a:xfrm>
          <a:prstGeom prst="rect">
            <a:avLst/>
          </a:prstGeom>
          <a:noFill/>
          <a:ln/>
        </p:spPr>
        <p:txBody>
          <a:bodyPr wrap="square" lIns="0" tIns="0" rIns="0" bIns="0" rtlCol="0" anchor="ctr"/>
          <a:lstStyle/>
          <a:p>
            <a:pPr indent="0" marL="0">
              <a:buNone/>
            </a:pPr>
            <a:r>
              <a:rPr lang="en-US" sz="960" b="1" dirty="0">
                <a:solidFill>
                  <a:srgbClr val="3A4356"/>
                </a:solidFill>
                <a:latin typeface="Calibri" pitchFamily="34" charset="0"/>
                <a:ea typeface="Calibri" pitchFamily="34" charset="-122"/>
                <a:cs typeface="Calibri" pitchFamily="34" charset="-120"/>
              </a:rPr>
              <a:t>Sub-total</a:t>
            </a:r>
            <a:endParaRPr lang="en-US" sz="960" dirty="0"/>
          </a:p>
        </p:txBody>
      </p:sp>
      <p:sp>
        <p:nvSpPr>
          <p:cNvPr id="48" name="Text 46"/>
          <p:cNvSpPr/>
          <p:nvPr/>
        </p:nvSpPr>
        <p:spPr>
          <a:xfrm>
            <a:off x="9372600" y="2798064"/>
            <a:ext cx="1234440" cy="274320"/>
          </a:xfrm>
          <a:prstGeom prst="rect">
            <a:avLst/>
          </a:prstGeom>
          <a:noFill/>
          <a:ln/>
        </p:spPr>
        <p:txBody>
          <a:bodyPr wrap="square" lIns="0" tIns="0" rIns="0" bIns="0" rtlCol="0" anchor="ctr"/>
          <a:lstStyle/>
          <a:p>
            <a:pPr algn="r" indent="0" marL="0">
              <a:buNone/>
            </a:pPr>
            <a:endParaRPr lang="en-US" sz="800" dirty="0"/>
          </a:p>
        </p:txBody>
      </p:sp>
      <p:sp>
        <p:nvSpPr>
          <p:cNvPr id="49" name="Text 47"/>
          <p:cNvSpPr/>
          <p:nvPr/>
        </p:nvSpPr>
        <p:spPr>
          <a:xfrm>
            <a:off x="10652760" y="2798064"/>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53.94 s</a:t>
            </a:r>
            <a:endParaRPr lang="en-US" sz="980" dirty="0"/>
          </a:p>
        </p:txBody>
      </p:sp>
      <p:sp>
        <p:nvSpPr>
          <p:cNvPr id="50" name="Text 48"/>
          <p:cNvSpPr/>
          <p:nvPr/>
        </p:nvSpPr>
        <p:spPr>
          <a:xfrm>
            <a:off x="6428232" y="309067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1.02 reject uplift</a:t>
            </a:r>
            <a:endParaRPr lang="en-US" sz="960" dirty="0"/>
          </a:p>
        </p:txBody>
      </p:sp>
      <p:sp>
        <p:nvSpPr>
          <p:cNvPr id="51" name="Text 49"/>
          <p:cNvSpPr/>
          <p:nvPr/>
        </p:nvSpPr>
        <p:spPr>
          <a:xfrm>
            <a:off x="9372600" y="3090672"/>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engine rule</a:t>
            </a:r>
            <a:endParaRPr lang="en-US" sz="800" dirty="0"/>
          </a:p>
        </p:txBody>
      </p:sp>
      <p:sp>
        <p:nvSpPr>
          <p:cNvPr id="52" name="Text 50"/>
          <p:cNvSpPr/>
          <p:nvPr/>
        </p:nvSpPr>
        <p:spPr>
          <a:xfrm>
            <a:off x="10652760" y="309067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55.02 s</a:t>
            </a:r>
            <a:endParaRPr lang="en-US" sz="980" dirty="0"/>
          </a:p>
        </p:txBody>
      </p:sp>
      <p:sp>
        <p:nvSpPr>
          <p:cNvPr id="53" name="Shape 51"/>
          <p:cNvSpPr/>
          <p:nvPr/>
        </p:nvSpPr>
        <p:spPr>
          <a:xfrm>
            <a:off x="6428232" y="3438144"/>
            <a:ext cx="5120640" cy="0"/>
          </a:xfrm>
          <a:prstGeom prst="line">
            <a:avLst/>
          </a:prstGeom>
          <a:noFill/>
          <a:ln w="12700">
            <a:solidFill>
              <a:srgbClr val="DCE3EE"/>
            </a:solidFill>
            <a:prstDash val="solid"/>
          </a:ln>
        </p:spPr>
      </p:sp>
      <p:sp>
        <p:nvSpPr>
          <p:cNvPr id="54" name="Text 52"/>
          <p:cNvSpPr/>
          <p:nvPr/>
        </p:nvSpPr>
        <p:spPr>
          <a:xfrm>
            <a:off x="6428232" y="3529584"/>
            <a:ext cx="5074920" cy="7772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Cooling is over half the cycle, and it is the one term the engine calculates rather than accepts. </a:t>
            </a:r>
            <a:pPr indent="0" marL="0">
              <a:buNone/>
            </a:pPr>
            <a:r>
              <a:rPr lang="en-US" sz="980" dirty="0">
                <a:solidFill>
                  <a:srgbClr val="3A4356"/>
                </a:solidFill>
                <a:latin typeface="Calibri" pitchFamily="34" charset="0"/>
                <a:ea typeface="Calibri" pitchFamily="34" charset="-122"/>
                <a:cs typeface="Calibri" pitchFamily="34" charset="-120"/>
              </a:rPr>
              <a:t>Wall thickness enters squared, which is why it is the most powerful lever on any moulded part.</a:t>
            </a:r>
            <a:endParaRPr lang="en-US" sz="980" dirty="0"/>
          </a:p>
        </p:txBody>
      </p:sp>
      <p:sp>
        <p:nvSpPr>
          <p:cNvPr id="55" name="Shape 53"/>
          <p:cNvSpPr/>
          <p:nvPr/>
        </p:nvSpPr>
        <p:spPr>
          <a:xfrm>
            <a:off x="457200" y="4590288"/>
            <a:ext cx="11274552" cy="1481328"/>
          </a:xfrm>
          <a:prstGeom prst="roundRect">
            <a:avLst>
              <a:gd name="adj" fmla="val 6173"/>
            </a:avLst>
          </a:prstGeom>
          <a:solidFill>
            <a:srgbClr val="EAF6EF"/>
          </a:solidFill>
          <a:ln w="15875">
            <a:solidFill>
              <a:srgbClr val="2E8B57"/>
            </a:solidFill>
            <a:prstDash val="solid"/>
          </a:ln>
        </p:spPr>
      </p:sp>
      <p:sp>
        <p:nvSpPr>
          <p:cNvPr id="56" name="Text 54"/>
          <p:cNvSpPr/>
          <p:nvPr/>
        </p:nvSpPr>
        <p:spPr>
          <a:xfrm>
            <a:off x="731520" y="4681728"/>
            <a:ext cx="7315200" cy="256032"/>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What that squared term is worth — take 0.5 mm out of the wall</a:t>
            </a:r>
            <a:endParaRPr lang="en-US" sz="1250" dirty="0"/>
          </a:p>
        </p:txBody>
      </p:sp>
      <p:sp>
        <p:nvSpPr>
          <p:cNvPr id="57" name="Text 55"/>
          <p:cNvSpPr/>
          <p:nvPr/>
        </p:nvSpPr>
        <p:spPr>
          <a:xfrm>
            <a:off x="777240" y="4974336"/>
            <a:ext cx="2468880" cy="210312"/>
          </a:xfrm>
          <a:prstGeom prst="rect">
            <a:avLst/>
          </a:prstGeom>
          <a:noFill/>
          <a:ln/>
        </p:spPr>
        <p:txBody>
          <a:bodyPr wrap="square" lIns="0" tIns="0" rIns="0" bIns="0" rtlCol="0" anchor="ctr"/>
          <a:lstStyle/>
          <a:p>
            <a:pPr algn="l" indent="0" marL="0">
              <a:buNone/>
            </a:pPr>
            <a:endParaRPr lang="en-US" sz="840" dirty="0"/>
          </a:p>
        </p:txBody>
      </p:sp>
      <p:sp>
        <p:nvSpPr>
          <p:cNvPr id="58" name="Text 56"/>
          <p:cNvSpPr/>
          <p:nvPr/>
        </p:nvSpPr>
        <p:spPr>
          <a:xfrm>
            <a:off x="329184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3.0 mm wall</a:t>
            </a:r>
            <a:endParaRPr lang="en-US" sz="840" dirty="0"/>
          </a:p>
        </p:txBody>
      </p:sp>
      <p:sp>
        <p:nvSpPr>
          <p:cNvPr id="59" name="Text 57"/>
          <p:cNvSpPr/>
          <p:nvPr/>
        </p:nvSpPr>
        <p:spPr>
          <a:xfrm>
            <a:off x="493776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2.5 mm wall</a:t>
            </a:r>
            <a:endParaRPr lang="en-US" sz="840" dirty="0"/>
          </a:p>
        </p:txBody>
      </p:sp>
      <p:sp>
        <p:nvSpPr>
          <p:cNvPr id="60" name="Text 58"/>
          <p:cNvSpPr/>
          <p:nvPr/>
        </p:nvSpPr>
        <p:spPr>
          <a:xfrm>
            <a:off x="658368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Change</a:t>
            </a:r>
            <a:endParaRPr lang="en-US" sz="840" dirty="0"/>
          </a:p>
        </p:txBody>
      </p:sp>
      <p:sp>
        <p:nvSpPr>
          <p:cNvPr id="61" name="Text 59"/>
          <p:cNvSpPr/>
          <p:nvPr/>
        </p:nvSpPr>
        <p:spPr>
          <a:xfrm>
            <a:off x="777240" y="5184648"/>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Cool time</a:t>
            </a:r>
            <a:endParaRPr lang="en-US" sz="960" dirty="0"/>
          </a:p>
        </p:txBody>
      </p:sp>
      <p:sp>
        <p:nvSpPr>
          <p:cNvPr id="62" name="Text 60"/>
          <p:cNvSpPr/>
          <p:nvPr/>
        </p:nvSpPr>
        <p:spPr>
          <a:xfrm>
            <a:off x="329184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28.44 s</a:t>
            </a:r>
            <a:endParaRPr lang="en-US" sz="960" dirty="0"/>
          </a:p>
        </p:txBody>
      </p:sp>
      <p:sp>
        <p:nvSpPr>
          <p:cNvPr id="63" name="Text 61"/>
          <p:cNvSpPr/>
          <p:nvPr/>
        </p:nvSpPr>
        <p:spPr>
          <a:xfrm>
            <a:off x="493776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19.75 s</a:t>
            </a:r>
            <a:endParaRPr lang="en-US" sz="960" dirty="0"/>
          </a:p>
        </p:txBody>
      </p:sp>
      <p:sp>
        <p:nvSpPr>
          <p:cNvPr id="64" name="Text 62"/>
          <p:cNvSpPr/>
          <p:nvPr/>
        </p:nvSpPr>
        <p:spPr>
          <a:xfrm>
            <a:off x="6583680" y="5184648"/>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−8.69 s</a:t>
            </a:r>
            <a:endParaRPr lang="en-US" sz="960" dirty="0"/>
          </a:p>
        </p:txBody>
      </p:sp>
      <p:sp>
        <p:nvSpPr>
          <p:cNvPr id="65" name="Text 63"/>
          <p:cNvSpPr/>
          <p:nvPr/>
        </p:nvSpPr>
        <p:spPr>
          <a:xfrm>
            <a:off x="777240" y="5394960"/>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Total cycle</a:t>
            </a:r>
            <a:endParaRPr lang="en-US" sz="960" dirty="0"/>
          </a:p>
        </p:txBody>
      </p:sp>
      <p:sp>
        <p:nvSpPr>
          <p:cNvPr id="66" name="Text 64"/>
          <p:cNvSpPr/>
          <p:nvPr/>
        </p:nvSpPr>
        <p:spPr>
          <a:xfrm>
            <a:off x="329184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55.02 s</a:t>
            </a:r>
            <a:endParaRPr lang="en-US" sz="960" dirty="0"/>
          </a:p>
        </p:txBody>
      </p:sp>
      <p:sp>
        <p:nvSpPr>
          <p:cNvPr id="67" name="Text 65"/>
          <p:cNvSpPr/>
          <p:nvPr/>
        </p:nvSpPr>
        <p:spPr>
          <a:xfrm>
            <a:off x="493776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46.17 s</a:t>
            </a:r>
            <a:endParaRPr lang="en-US" sz="960" dirty="0"/>
          </a:p>
        </p:txBody>
      </p:sp>
      <p:sp>
        <p:nvSpPr>
          <p:cNvPr id="68" name="Text 66"/>
          <p:cNvSpPr/>
          <p:nvPr/>
        </p:nvSpPr>
        <p:spPr>
          <a:xfrm>
            <a:off x="6583680" y="5394960"/>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−8.85 s</a:t>
            </a:r>
            <a:endParaRPr lang="en-US" sz="960" dirty="0"/>
          </a:p>
        </p:txBody>
      </p:sp>
      <p:sp>
        <p:nvSpPr>
          <p:cNvPr id="69" name="Text 67"/>
          <p:cNvSpPr/>
          <p:nvPr/>
        </p:nvSpPr>
        <p:spPr>
          <a:xfrm>
            <a:off x="777240" y="5605272"/>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Press cost per part</a:t>
            </a:r>
            <a:endParaRPr lang="en-US" sz="960" dirty="0"/>
          </a:p>
        </p:txBody>
      </p:sp>
      <p:sp>
        <p:nvSpPr>
          <p:cNvPr id="70" name="Text 68"/>
          <p:cNvSpPr/>
          <p:nvPr/>
        </p:nvSpPr>
        <p:spPr>
          <a:xfrm>
            <a:off x="329184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£5.51</a:t>
            </a:r>
            <a:endParaRPr lang="en-US" sz="960" dirty="0"/>
          </a:p>
        </p:txBody>
      </p:sp>
      <p:sp>
        <p:nvSpPr>
          <p:cNvPr id="71" name="Text 69"/>
          <p:cNvSpPr/>
          <p:nvPr/>
        </p:nvSpPr>
        <p:spPr>
          <a:xfrm>
            <a:off x="493776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£4.62</a:t>
            </a:r>
            <a:endParaRPr lang="en-US" sz="960" dirty="0"/>
          </a:p>
        </p:txBody>
      </p:sp>
      <p:sp>
        <p:nvSpPr>
          <p:cNvPr id="72" name="Text 70"/>
          <p:cNvSpPr/>
          <p:nvPr/>
        </p:nvSpPr>
        <p:spPr>
          <a:xfrm>
            <a:off x="6583680" y="5605272"/>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−£0.89</a:t>
            </a:r>
            <a:endParaRPr lang="en-US" sz="960" dirty="0"/>
          </a:p>
        </p:txBody>
      </p:sp>
      <p:sp>
        <p:nvSpPr>
          <p:cNvPr id="73" name="Text 71"/>
          <p:cNvSpPr/>
          <p:nvPr/>
        </p:nvSpPr>
        <p:spPr>
          <a:xfrm>
            <a:off x="777240" y="5815584"/>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Part cost, UK</a:t>
            </a:r>
            <a:endParaRPr lang="en-US" sz="960" dirty="0"/>
          </a:p>
        </p:txBody>
      </p:sp>
      <p:sp>
        <p:nvSpPr>
          <p:cNvPr id="74" name="Text 72"/>
          <p:cNvSpPr/>
          <p:nvPr/>
        </p:nvSpPr>
        <p:spPr>
          <a:xfrm>
            <a:off x="329184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£31.06</a:t>
            </a:r>
            <a:endParaRPr lang="en-US" sz="960" dirty="0"/>
          </a:p>
        </p:txBody>
      </p:sp>
      <p:sp>
        <p:nvSpPr>
          <p:cNvPr id="75" name="Text 73"/>
          <p:cNvSpPr/>
          <p:nvPr/>
        </p:nvSpPr>
        <p:spPr>
          <a:xfrm>
            <a:off x="493776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£29.95</a:t>
            </a:r>
            <a:endParaRPr lang="en-US" sz="960" dirty="0"/>
          </a:p>
        </p:txBody>
      </p:sp>
      <p:sp>
        <p:nvSpPr>
          <p:cNvPr id="76" name="Text 74"/>
          <p:cNvSpPr/>
          <p:nvPr/>
        </p:nvSpPr>
        <p:spPr>
          <a:xfrm>
            <a:off x="6583680" y="5815584"/>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−£1.11</a:t>
            </a:r>
            <a:endParaRPr lang="en-US" sz="960" dirty="0"/>
          </a:p>
        </p:txBody>
      </p:sp>
      <p:sp>
        <p:nvSpPr>
          <p:cNvPr id="77" name="Text 75"/>
          <p:cNvSpPr/>
          <p:nvPr/>
        </p:nvSpPr>
        <p:spPr>
          <a:xfrm>
            <a:off x="8412480" y="4974336"/>
            <a:ext cx="3200400" cy="10058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That is a design conversation, not a purchasing one. </a:t>
            </a:r>
            <a:pPr indent="0" marL="0">
              <a:buNone/>
            </a:pPr>
            <a:r>
              <a:rPr lang="en-US" sz="980" dirty="0">
                <a:solidFill>
                  <a:srgbClr val="3A4356"/>
                </a:solidFill>
                <a:latin typeface="Calibri" pitchFamily="34" charset="0"/>
                <a:ea typeface="Calibri" pitchFamily="34" charset="-122"/>
                <a:cs typeface="Calibri" pitchFamily="34" charset="-120"/>
              </a:rPr>
              <a:t>Half a millimetre of wall is worth more on this part than any price you could argue out of the moulder — and the tool is what lets you put a number on it before the design is frozen.</a:t>
            </a:r>
            <a:endParaRPr lang="en-US" sz="980" dirty="0"/>
          </a:p>
        </p:txBody>
      </p:sp>
      <p:sp>
        <p:nvSpPr>
          <p:cNvPr id="78" name="Text 7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79" name="Text 7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8–10 · 55 Seconds, Then the Eight Buckets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second priced at the press rate, then repriced by country</a:t>
            </a:r>
            <a:endParaRPr lang="en-US" sz="1200" dirty="0"/>
          </a:p>
        </p:txBody>
      </p:sp>
      <p:sp>
        <p:nvSpPr>
          <p:cNvPr id="5" name="Shape 3"/>
          <p:cNvSpPr/>
          <p:nvPr/>
        </p:nvSpPr>
        <p:spPr>
          <a:xfrm>
            <a:off x="457200" y="1188720"/>
            <a:ext cx="5029200" cy="2423160"/>
          </a:xfrm>
          <a:prstGeom prst="roundRect">
            <a:avLst>
              <a:gd name="adj" fmla="val 3774"/>
            </a:avLst>
          </a:prstGeom>
          <a:solidFill>
            <a:srgbClr val="FFFFFF"/>
          </a:solidFill>
          <a:ln w="12700">
            <a:solidFill>
              <a:srgbClr val="DCE3EE"/>
            </a:solidFill>
            <a:prstDash val="solid"/>
          </a:ln>
        </p:spPr>
      </p:sp>
      <p:sp>
        <p:nvSpPr>
          <p:cNvPr id="6" name="Text 4"/>
          <p:cNvSpPr/>
          <p:nvPr/>
        </p:nvSpPr>
        <p:spPr>
          <a:xfrm>
            <a:off x="685800" y="1298448"/>
            <a:ext cx="45720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HOW THE 55-SECOND CYCLE IS BUILT</a:t>
            </a:r>
            <a:endParaRPr lang="en-US" sz="1050" dirty="0"/>
          </a:p>
        </p:txBody>
      </p:sp>
      <p:sp>
        <p:nvSpPr>
          <p:cNvPr id="7" name="Text 5"/>
          <p:cNvSpPr/>
          <p:nvPr/>
        </p:nvSpPr>
        <p:spPr>
          <a:xfrm>
            <a:off x="713232" y="1627632"/>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Fill the cavity</a:t>
            </a:r>
            <a:endParaRPr lang="en-US" sz="1050" dirty="0"/>
          </a:p>
        </p:txBody>
      </p:sp>
      <p:sp>
        <p:nvSpPr>
          <p:cNvPr id="8" name="Text 6"/>
          <p:cNvSpPr/>
          <p:nvPr/>
        </p:nvSpPr>
        <p:spPr>
          <a:xfrm>
            <a:off x="4023360" y="1627632"/>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 s</a:t>
            </a:r>
            <a:endParaRPr lang="en-US" sz="1050" dirty="0"/>
          </a:p>
        </p:txBody>
      </p:sp>
      <p:sp>
        <p:nvSpPr>
          <p:cNvPr id="9" name="Text 7"/>
          <p:cNvSpPr/>
          <p:nvPr/>
        </p:nvSpPr>
        <p:spPr>
          <a:xfrm>
            <a:off x="713232" y="1929384"/>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Pack and hold</a:t>
            </a:r>
            <a:endParaRPr lang="en-US" sz="1050" dirty="0"/>
          </a:p>
        </p:txBody>
      </p:sp>
      <p:sp>
        <p:nvSpPr>
          <p:cNvPr id="10" name="Text 8"/>
          <p:cNvSpPr/>
          <p:nvPr/>
        </p:nvSpPr>
        <p:spPr>
          <a:xfrm>
            <a:off x="4023360" y="1929384"/>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12.0 s</a:t>
            </a:r>
            <a:endParaRPr lang="en-US" sz="1050" dirty="0"/>
          </a:p>
        </p:txBody>
      </p:sp>
      <p:sp>
        <p:nvSpPr>
          <p:cNvPr id="11" name="Text 9"/>
          <p:cNvSpPr/>
          <p:nvPr/>
        </p:nvSpPr>
        <p:spPr>
          <a:xfrm>
            <a:off x="713232" y="2231136"/>
            <a:ext cx="3291840" cy="274320"/>
          </a:xfrm>
          <a:prstGeom prst="rect">
            <a:avLst/>
          </a:prstGeom>
          <a:noFill/>
          <a:ln/>
        </p:spPr>
        <p:txBody>
          <a:bodyPr wrap="square" lIns="0" tIns="0" rIns="0" bIns="0" rtlCol="0" anchor="ctr"/>
          <a:lstStyle/>
          <a:p>
            <a:pPr indent="0" marL="0">
              <a:buNone/>
            </a:pPr>
            <a:r>
              <a:rPr lang="en-US" sz="1050" b="1" dirty="0">
                <a:solidFill>
                  <a:srgbClr val="0E8074"/>
                </a:solidFill>
                <a:latin typeface="Calibri" pitchFamily="34" charset="0"/>
                <a:ea typeface="Calibri" pitchFamily="34" charset="-122"/>
                <a:cs typeface="Calibri" pitchFamily="34" charset="-120"/>
              </a:rPr>
              <a:t>Cool  =  3.16 × 3.0²</a:t>
            </a:r>
            <a:endParaRPr lang="en-US" sz="1050" dirty="0"/>
          </a:p>
        </p:txBody>
      </p:sp>
      <p:sp>
        <p:nvSpPr>
          <p:cNvPr id="12" name="Text 10"/>
          <p:cNvSpPr/>
          <p:nvPr/>
        </p:nvSpPr>
        <p:spPr>
          <a:xfrm>
            <a:off x="4023360" y="2231136"/>
            <a:ext cx="1280160" cy="274320"/>
          </a:xfrm>
          <a:prstGeom prst="rect">
            <a:avLst/>
          </a:prstGeom>
          <a:noFill/>
          <a:ln/>
        </p:spPr>
        <p:txBody>
          <a:bodyPr wrap="square" lIns="0" tIns="0" rIns="0" bIns="0" rtlCol="0" anchor="ctr"/>
          <a:lstStyle/>
          <a:p>
            <a:pPr algn="r" indent="0" marL="0">
              <a:buNone/>
            </a:pPr>
            <a:r>
              <a:rPr lang="en-US" sz="1050" b="1" dirty="0">
                <a:solidFill>
                  <a:srgbClr val="0E8074"/>
                </a:solidFill>
                <a:latin typeface="Calibri" pitchFamily="34" charset="0"/>
                <a:ea typeface="Calibri" pitchFamily="34" charset="-122"/>
                <a:cs typeface="Calibri" pitchFamily="34" charset="-120"/>
              </a:rPr>
              <a:t>28.4 s</a:t>
            </a:r>
            <a:endParaRPr lang="en-US" sz="1050" dirty="0"/>
          </a:p>
        </p:txBody>
      </p:sp>
      <p:sp>
        <p:nvSpPr>
          <p:cNvPr id="13" name="Text 11"/>
          <p:cNvSpPr/>
          <p:nvPr/>
        </p:nvSpPr>
        <p:spPr>
          <a:xfrm>
            <a:off x="713232" y="2532888"/>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Open and eject</a:t>
            </a:r>
            <a:endParaRPr lang="en-US" sz="1050" dirty="0"/>
          </a:p>
        </p:txBody>
      </p:sp>
      <p:sp>
        <p:nvSpPr>
          <p:cNvPr id="14" name="Text 12"/>
          <p:cNvSpPr/>
          <p:nvPr/>
        </p:nvSpPr>
        <p:spPr>
          <a:xfrm>
            <a:off x="4023360" y="2532888"/>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9.0 s</a:t>
            </a:r>
            <a:endParaRPr lang="en-US" sz="1050" dirty="0"/>
          </a:p>
        </p:txBody>
      </p:sp>
      <p:sp>
        <p:nvSpPr>
          <p:cNvPr id="15" name="Text 13"/>
          <p:cNvSpPr/>
          <p:nvPr/>
        </p:nvSpPr>
        <p:spPr>
          <a:xfrm>
            <a:off x="713232" y="2834640"/>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+ 2% reject uplift</a:t>
            </a:r>
            <a:endParaRPr lang="en-US" sz="1050" dirty="0"/>
          </a:p>
        </p:txBody>
      </p:sp>
      <p:sp>
        <p:nvSpPr>
          <p:cNvPr id="16" name="Text 14"/>
          <p:cNvSpPr/>
          <p:nvPr/>
        </p:nvSpPr>
        <p:spPr>
          <a:xfrm>
            <a:off x="4023360" y="2834640"/>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1.1 s</a:t>
            </a:r>
            <a:endParaRPr lang="en-US" sz="1050" dirty="0"/>
          </a:p>
        </p:txBody>
      </p:sp>
      <p:sp>
        <p:nvSpPr>
          <p:cNvPr id="17" name="Shape 15"/>
          <p:cNvSpPr/>
          <p:nvPr/>
        </p:nvSpPr>
        <p:spPr>
          <a:xfrm>
            <a:off x="713232" y="3163824"/>
            <a:ext cx="4590288" cy="0"/>
          </a:xfrm>
          <a:prstGeom prst="line">
            <a:avLst/>
          </a:prstGeom>
          <a:noFill/>
          <a:ln w="12700">
            <a:solidFill>
              <a:srgbClr val="DCE3EE"/>
            </a:solidFill>
            <a:prstDash val="solid"/>
          </a:ln>
        </p:spPr>
      </p:sp>
      <p:sp>
        <p:nvSpPr>
          <p:cNvPr id="18" name="Text 16"/>
          <p:cNvSpPr/>
          <p:nvPr/>
        </p:nvSpPr>
        <p:spPr>
          <a:xfrm>
            <a:off x="713232" y="3218688"/>
            <a:ext cx="3291840" cy="274320"/>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Total cycle</a:t>
            </a:r>
            <a:endParaRPr lang="en-US" sz="1100" dirty="0"/>
          </a:p>
        </p:txBody>
      </p:sp>
      <p:sp>
        <p:nvSpPr>
          <p:cNvPr id="19" name="Text 17"/>
          <p:cNvSpPr/>
          <p:nvPr/>
        </p:nvSpPr>
        <p:spPr>
          <a:xfrm>
            <a:off x="4023360" y="3218688"/>
            <a:ext cx="1280160" cy="274320"/>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55.0 s</a:t>
            </a:r>
            <a:endParaRPr lang="en-US" sz="1100" dirty="0"/>
          </a:p>
        </p:txBody>
      </p:sp>
      <p:sp>
        <p:nvSpPr>
          <p:cNvPr id="20" name="Shape 18"/>
          <p:cNvSpPr/>
          <p:nvPr/>
        </p:nvSpPr>
        <p:spPr>
          <a:xfrm>
            <a:off x="5715000" y="1188720"/>
            <a:ext cx="6016752" cy="2423160"/>
          </a:xfrm>
          <a:prstGeom prst="roundRect">
            <a:avLst>
              <a:gd name="adj" fmla="val 3774"/>
            </a:avLst>
          </a:prstGeom>
          <a:solidFill>
            <a:srgbClr val="E6F4F1"/>
          </a:solidFill>
          <a:ln w="15875">
            <a:solidFill>
              <a:srgbClr val="0E8074"/>
            </a:solidFill>
            <a:prstDash val="solid"/>
          </a:ln>
        </p:spPr>
      </p:sp>
      <p:sp>
        <p:nvSpPr>
          <p:cNvPr id="21" name="Text 19"/>
          <p:cNvSpPr/>
          <p:nvPr/>
        </p:nvSpPr>
        <p:spPr>
          <a:xfrm>
            <a:off x="5943600" y="1298448"/>
            <a:ext cx="548640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AND WHAT THOSE 55 SECONDS COST</a:t>
            </a:r>
            <a:endParaRPr lang="en-US" sz="1050" dirty="0"/>
          </a:p>
        </p:txBody>
      </p:sp>
      <p:sp>
        <p:nvSpPr>
          <p:cNvPr id="22" name="Text 20"/>
          <p:cNvSpPr/>
          <p:nvPr/>
        </p:nvSpPr>
        <p:spPr>
          <a:xfrm>
            <a:off x="5943600" y="1645920"/>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55.0 s ÷ 3600</a:t>
            </a:r>
            <a:endParaRPr lang="en-US" sz="1050" dirty="0"/>
          </a:p>
        </p:txBody>
      </p:sp>
      <p:sp>
        <p:nvSpPr>
          <p:cNvPr id="23" name="Text 21"/>
          <p:cNvSpPr/>
          <p:nvPr/>
        </p:nvSpPr>
        <p:spPr>
          <a:xfrm>
            <a:off x="9189720" y="1645920"/>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0.0153 hr of cycle</a:t>
            </a:r>
            <a:endParaRPr lang="en-US" sz="1050" dirty="0"/>
          </a:p>
        </p:txBody>
      </p:sp>
      <p:sp>
        <p:nvSpPr>
          <p:cNvPr id="24" name="Text 22"/>
          <p:cNvSpPr/>
          <p:nvPr/>
        </p:nvSpPr>
        <p:spPr>
          <a:xfrm>
            <a:off x="5943600" y="1993392"/>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0.85 machine availability</a:t>
            </a:r>
            <a:endParaRPr lang="en-US" sz="1050" dirty="0"/>
          </a:p>
        </p:txBody>
      </p:sp>
      <p:sp>
        <p:nvSpPr>
          <p:cNvPr id="25" name="Text 23"/>
          <p:cNvSpPr/>
          <p:nvPr/>
        </p:nvSpPr>
        <p:spPr>
          <a:xfrm>
            <a:off x="9189720" y="1993392"/>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0.0180 hr charged</a:t>
            </a:r>
            <a:endParaRPr lang="en-US" sz="1050" dirty="0"/>
          </a:p>
        </p:txBody>
      </p:sp>
      <p:sp>
        <p:nvSpPr>
          <p:cNvPr id="26" name="Text 24"/>
          <p:cNvSpPr/>
          <p:nvPr/>
        </p:nvSpPr>
        <p:spPr>
          <a:xfrm>
            <a:off x="5943600" y="2340864"/>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£306.12/hr press rate</a:t>
            </a:r>
            <a:endParaRPr lang="en-US" sz="1050" dirty="0"/>
          </a:p>
        </p:txBody>
      </p:sp>
      <p:sp>
        <p:nvSpPr>
          <p:cNvPr id="27" name="Text 25"/>
          <p:cNvSpPr/>
          <p:nvPr/>
        </p:nvSpPr>
        <p:spPr>
          <a:xfrm>
            <a:off x="9189720" y="2340864"/>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£5.51 machine</a:t>
            </a:r>
            <a:endParaRPr lang="en-US" sz="1050" dirty="0"/>
          </a:p>
        </p:txBody>
      </p:sp>
      <p:sp>
        <p:nvSpPr>
          <p:cNvPr id="28" name="Text 26"/>
          <p:cNvSpPr/>
          <p:nvPr/>
        </p:nvSpPr>
        <p:spPr>
          <a:xfrm>
            <a:off x="5943600" y="2688336"/>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half an operator at £19.80/hr</a:t>
            </a:r>
            <a:endParaRPr lang="en-US" sz="1050" dirty="0"/>
          </a:p>
        </p:txBody>
      </p:sp>
      <p:sp>
        <p:nvSpPr>
          <p:cNvPr id="29" name="Text 27"/>
          <p:cNvSpPr/>
          <p:nvPr/>
        </p:nvSpPr>
        <p:spPr>
          <a:xfrm>
            <a:off x="9189720" y="2688336"/>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£0.17 labour</a:t>
            </a:r>
            <a:endParaRPr lang="en-US" sz="1050" dirty="0"/>
          </a:p>
        </p:txBody>
      </p:sp>
      <p:sp>
        <p:nvSpPr>
          <p:cNvPr id="30" name="Shape 28"/>
          <p:cNvSpPr/>
          <p:nvPr/>
        </p:nvSpPr>
        <p:spPr>
          <a:xfrm>
            <a:off x="5943600" y="3017520"/>
            <a:ext cx="5577840" cy="365760"/>
          </a:xfrm>
          <a:prstGeom prst="roundRect">
            <a:avLst>
              <a:gd name="adj" fmla="val 20000"/>
            </a:avLst>
          </a:prstGeom>
          <a:solidFill>
            <a:srgbClr val="FFFFFF"/>
          </a:solidFill>
          <a:ln w="15875">
            <a:solidFill>
              <a:srgbClr val="0E8074"/>
            </a:solidFill>
            <a:prstDash val="solid"/>
          </a:ln>
        </p:spPr>
      </p:sp>
      <p:sp>
        <p:nvSpPr>
          <p:cNvPr id="31" name="Text 29"/>
          <p:cNvSpPr/>
          <p:nvPr/>
        </p:nvSpPr>
        <p:spPr>
          <a:xfrm>
            <a:off x="5943600" y="3017520"/>
            <a:ext cx="5577840" cy="365760"/>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Moulding one bumper:  £5.67  —  and that is the whole making cost</a:t>
            </a:r>
            <a:endParaRPr lang="en-US" sz="1100" dirty="0"/>
          </a:p>
        </p:txBody>
      </p:sp>
      <p:sp>
        <p:nvSpPr>
          <p:cNvPr id="32" name="Text 30"/>
          <p:cNvSpPr/>
          <p:nvPr/>
        </p:nvSpPr>
        <p:spPr>
          <a:xfrm>
            <a:off x="5943600" y="3410712"/>
            <a:ext cx="5577840" cy="182880"/>
          </a:xfrm>
          <a:prstGeom prst="rect">
            <a:avLst/>
          </a:prstGeom>
          <a:noFill/>
          <a:ln/>
        </p:spPr>
        <p:txBody>
          <a:bodyPr wrap="square" lIns="0" tIns="0" rIns="0" bIns="0" rtlCol="0" anchor="ctr"/>
          <a:lstStyle/>
          <a:p>
            <a:pPr algn="ctr" indent="0" marL="0">
              <a:buNone/>
            </a:pPr>
            <a:r>
              <a:rPr lang="en-US" sz="800" i="1" dirty="0">
                <a:solidFill>
                  <a:srgbClr val="6B7280"/>
                </a:solidFill>
                <a:latin typeface="Calibri" pitchFamily="34" charset="0"/>
                <a:ea typeface="Calibri" pitchFamily="34" charset="-122"/>
                <a:cs typeface="Calibri" pitchFamily="34" charset="-120"/>
              </a:rPr>
              <a:t>£5.5063 + £0.1682 = £5.6745 — the two lines above are rounded to the penny.</a:t>
            </a:r>
            <a:endParaRPr lang="en-US" sz="800" dirty="0"/>
          </a:p>
        </p:txBody>
      </p:sp>
      <p:sp>
        <p:nvSpPr>
          <p:cNvPr id="33" name="Shape 31"/>
          <p:cNvSpPr/>
          <p:nvPr/>
        </p:nvSpPr>
        <p:spPr>
          <a:xfrm>
            <a:off x="457200" y="3794760"/>
            <a:ext cx="6858000" cy="2194560"/>
          </a:xfrm>
          <a:prstGeom prst="roundRect">
            <a:avLst>
              <a:gd name="adj" fmla="val 4167"/>
            </a:avLst>
          </a:prstGeom>
          <a:solidFill>
            <a:srgbClr val="FFFFFF"/>
          </a:solidFill>
          <a:ln w="12700">
            <a:solidFill>
              <a:srgbClr val="DCE3EE"/>
            </a:solidFill>
            <a:prstDash val="solid"/>
          </a:ln>
        </p:spPr>
      </p:sp>
      <p:sp>
        <p:nvSpPr>
          <p:cNvPr id="34" name="Text 32"/>
          <p:cNvSpPr/>
          <p:nvPr/>
        </p:nvSpPr>
        <p:spPr>
          <a:xfrm>
            <a:off x="685800" y="3895344"/>
            <a:ext cx="6309360" cy="237744"/>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THE EIGHT BUCKETS — bumper fascia, made in China</a:t>
            </a:r>
            <a:endParaRPr lang="en-US" sz="1100" dirty="0"/>
          </a:p>
        </p:txBody>
      </p:sp>
      <p:graphicFrame>
        <p:nvGraphicFramePr>
          <p:cNvPr id="35" name="Chart 0" descr=""/>
          <p:cNvGraphicFramePr/>
          <p:nvPr/>
        </p:nvGraphicFramePr>
        <p:xfrm>
          <a:off x="566928" y="4114800"/>
          <a:ext cx="6675120" cy="1783080"/>
        </p:xfrm>
        <a:graphic xmlns:a="http://schemas.openxmlformats.org/drawingml/2006/main">
          <a:graphicData uri="http://schemas.openxmlformats.org/drawingml/2006/chart">
            <c:chart xmlns:c="http://schemas.openxmlformats.org/drawingml/2006/chart" r:id="rId1"/>
          </a:graphicData>
        </a:graphic>
      </p:graphicFrame>
      <p:sp>
        <p:nvSpPr>
          <p:cNvPr id="36" name="Shape 33"/>
          <p:cNvSpPr/>
          <p:nvPr/>
        </p:nvSpPr>
        <p:spPr>
          <a:xfrm>
            <a:off x="7543800" y="3794760"/>
            <a:ext cx="4187952" cy="1024128"/>
          </a:xfrm>
          <a:prstGeom prst="roundRect">
            <a:avLst>
              <a:gd name="adj" fmla="val 8929"/>
            </a:avLst>
          </a:prstGeom>
          <a:solidFill>
            <a:srgbClr val="0E5A5A"/>
          </a:solidFill>
          <a:ln/>
        </p:spPr>
      </p:sp>
      <p:sp>
        <p:nvSpPr>
          <p:cNvPr id="37" name="Text 34"/>
          <p:cNvSpPr/>
          <p:nvPr/>
        </p:nvSpPr>
        <p:spPr>
          <a:xfrm>
            <a:off x="7772400" y="3886200"/>
            <a:ext cx="3749040" cy="219456"/>
          </a:xfrm>
          <a:prstGeom prst="rect">
            <a:avLst/>
          </a:prstGeom>
          <a:noFill/>
          <a:ln/>
        </p:spPr>
        <p:txBody>
          <a:bodyPr wrap="square" lIns="0" tIns="0" rIns="0" bIns="0" rtlCol="0" anchor="ctr"/>
          <a:lstStyle/>
          <a:p>
            <a:pPr indent="0" marL="0">
              <a:buNone/>
            </a:pPr>
            <a:r>
              <a:rPr lang="en-US" sz="900" b="1" spc="80" kern="0" dirty="0">
                <a:solidFill>
                  <a:srgbClr val="9FD9CF"/>
                </a:solidFill>
                <a:latin typeface="Calibri" pitchFamily="34" charset="0"/>
                <a:ea typeface="Calibri" pitchFamily="34" charset="-122"/>
                <a:cs typeface="Calibri" pitchFamily="34" charset="-120"/>
              </a:rPr>
              <a:t>SHOULD-COST — MADE IN CHINA</a:t>
            </a:r>
            <a:endParaRPr lang="en-US" sz="900" dirty="0"/>
          </a:p>
        </p:txBody>
      </p:sp>
      <p:sp>
        <p:nvSpPr>
          <p:cNvPr id="38" name="Text 35"/>
          <p:cNvSpPr/>
          <p:nvPr/>
        </p:nvSpPr>
        <p:spPr>
          <a:xfrm>
            <a:off x="7772400" y="4078224"/>
            <a:ext cx="2103120" cy="54864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£26.08</a:t>
            </a:r>
            <a:endParaRPr lang="en-US" sz="3300" dirty="0"/>
          </a:p>
        </p:txBody>
      </p:sp>
      <p:sp>
        <p:nvSpPr>
          <p:cNvPr id="39" name="Text 36"/>
          <p:cNvSpPr/>
          <p:nvPr/>
        </p:nvSpPr>
        <p:spPr>
          <a:xfrm>
            <a:off x="9921240" y="4114800"/>
            <a:ext cx="1691640" cy="502920"/>
          </a:xfrm>
          <a:prstGeom prst="rect">
            <a:avLst/>
          </a:prstGeom>
          <a:noFill/>
          <a:ln/>
        </p:spPr>
        <p:txBody>
          <a:bodyPr wrap="square" lIns="0" tIns="0" rIns="0" bIns="0" rtlCol="0" anchor="ctr"/>
          <a:lstStyle/>
          <a:p>
            <a:pPr indent="0" marL="0">
              <a:buNone/>
            </a:pPr>
            <a:r>
              <a:rPr lang="en-US" sz="900" dirty="0">
                <a:solidFill>
                  <a:srgbClr val="CDEDE7"/>
                </a:solidFill>
                <a:latin typeface="Calibri" pitchFamily="34" charset="0"/>
                <a:ea typeface="Calibri" pitchFamily="34" charset="-122"/>
                <a:cs typeface="Calibri" pitchFamily="34" charset="-120"/>
              </a:rPr>
              <a:t>unpainted, ex-works,</a:t>
            </a:r>
            <a:endParaRPr lang="en-US" sz="900" dirty="0"/>
          </a:p>
          <a:p>
            <a:pPr indent="0" marL="0">
              <a:buNone/>
            </a:pPr>
            <a:r>
              <a:rPr lang="en-US" sz="900" dirty="0">
                <a:solidFill>
                  <a:srgbClr val="CDEDE7"/>
                </a:solidFill>
                <a:latin typeface="Calibri" pitchFamily="34" charset="0"/>
                <a:ea typeface="Calibri" pitchFamily="34" charset="-122"/>
                <a:cs typeface="Calibri" pitchFamily="34" charset="-120"/>
              </a:rPr>
              <a:t>at 60,000 a year</a:t>
            </a:r>
            <a:endParaRPr lang="en-US" sz="900" dirty="0"/>
          </a:p>
        </p:txBody>
      </p:sp>
      <p:sp>
        <p:nvSpPr>
          <p:cNvPr id="40" name="Shape 37"/>
          <p:cNvSpPr/>
          <p:nvPr/>
        </p:nvSpPr>
        <p:spPr>
          <a:xfrm>
            <a:off x="7543800" y="4956048"/>
            <a:ext cx="4187952" cy="1033272"/>
          </a:xfrm>
          <a:prstGeom prst="roundRect">
            <a:avLst>
              <a:gd name="adj" fmla="val 8850"/>
            </a:avLst>
          </a:prstGeom>
          <a:solidFill>
            <a:srgbClr val="FFFFFF"/>
          </a:solidFill>
          <a:ln w="12700">
            <a:solidFill>
              <a:srgbClr val="DCE3EE"/>
            </a:solidFill>
            <a:prstDash val="solid"/>
          </a:ln>
        </p:spPr>
      </p:sp>
      <p:sp>
        <p:nvSpPr>
          <p:cNvPr id="41" name="Text 38"/>
          <p:cNvSpPr/>
          <p:nvPr/>
        </p:nvSpPr>
        <p:spPr>
          <a:xfrm>
            <a:off x="7726680" y="5029200"/>
            <a:ext cx="3840480" cy="219456"/>
          </a:xfrm>
          <a:prstGeom prst="rect">
            <a:avLst/>
          </a:prstGeom>
          <a:noFill/>
          <a:ln/>
        </p:spPr>
        <p:txBody>
          <a:bodyPr wrap="square" lIns="0" tIns="0" rIns="0" bIns="0" rtlCol="0" anchor="ctr"/>
          <a:lstStyle/>
          <a:p>
            <a:pPr indent="0" marL="0">
              <a:buNone/>
            </a:pPr>
            <a:r>
              <a:rPr lang="en-US" sz="900" b="1" spc="60" kern="0" dirty="0">
                <a:solidFill>
                  <a:srgbClr val="16325C"/>
                </a:solidFill>
                <a:latin typeface="Calibri" pitchFamily="34" charset="0"/>
                <a:ea typeface="Calibri" pitchFamily="34" charset="-122"/>
                <a:cs typeface="Calibri" pitchFamily="34" charset="-120"/>
              </a:rPr>
              <a:t>THE SAME PART, PRICED ELSEWHERE</a:t>
            </a:r>
            <a:endParaRPr lang="en-US" sz="900" dirty="0"/>
          </a:p>
        </p:txBody>
      </p:sp>
      <p:sp>
        <p:nvSpPr>
          <p:cNvPr id="42" name="Text 39"/>
          <p:cNvSpPr/>
          <p:nvPr/>
        </p:nvSpPr>
        <p:spPr>
          <a:xfrm>
            <a:off x="7726680"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China</a:t>
            </a:r>
            <a:endParaRPr lang="en-US" sz="900" dirty="0"/>
          </a:p>
        </p:txBody>
      </p:sp>
      <p:sp>
        <p:nvSpPr>
          <p:cNvPr id="43" name="Text 40"/>
          <p:cNvSpPr/>
          <p:nvPr/>
        </p:nvSpPr>
        <p:spPr>
          <a:xfrm>
            <a:off x="7726680" y="5449824"/>
            <a:ext cx="914400" cy="237744"/>
          </a:xfrm>
          <a:prstGeom prst="rect">
            <a:avLst/>
          </a:prstGeom>
          <a:noFill/>
          <a:ln/>
        </p:spPr>
        <p:txBody>
          <a:bodyPr wrap="square" lIns="0" tIns="0" rIns="0" bIns="0" rtlCol="0" anchor="ctr"/>
          <a:lstStyle/>
          <a:p>
            <a:pPr algn="ctr" indent="0" marL="0">
              <a:buNone/>
            </a:pPr>
            <a:r>
              <a:rPr lang="en-US" sz="1100" b="1" dirty="0">
                <a:solidFill>
                  <a:srgbClr val="0E8074"/>
                </a:solidFill>
                <a:latin typeface="Calibri" pitchFamily="34" charset="0"/>
                <a:ea typeface="Calibri" pitchFamily="34" charset="-122"/>
                <a:cs typeface="Calibri" pitchFamily="34" charset="-120"/>
              </a:rPr>
              <a:t>£26.08</a:t>
            </a:r>
            <a:endParaRPr lang="en-US" sz="1100" dirty="0"/>
          </a:p>
        </p:txBody>
      </p:sp>
      <p:sp>
        <p:nvSpPr>
          <p:cNvPr id="44" name="Text 41"/>
          <p:cNvSpPr/>
          <p:nvPr/>
        </p:nvSpPr>
        <p:spPr>
          <a:xfrm>
            <a:off x="8695944"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India</a:t>
            </a:r>
            <a:endParaRPr lang="en-US" sz="900" dirty="0"/>
          </a:p>
        </p:txBody>
      </p:sp>
      <p:sp>
        <p:nvSpPr>
          <p:cNvPr id="45" name="Text 42"/>
          <p:cNvSpPr/>
          <p:nvPr/>
        </p:nvSpPr>
        <p:spPr>
          <a:xfrm>
            <a:off x="8695944"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£26.13</a:t>
            </a:r>
            <a:endParaRPr lang="en-US" sz="1100" dirty="0"/>
          </a:p>
        </p:txBody>
      </p:sp>
      <p:sp>
        <p:nvSpPr>
          <p:cNvPr id="46" name="Text 43"/>
          <p:cNvSpPr/>
          <p:nvPr/>
        </p:nvSpPr>
        <p:spPr>
          <a:xfrm>
            <a:off x="9665208"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Mexico</a:t>
            </a:r>
            <a:endParaRPr lang="en-US" sz="900" dirty="0"/>
          </a:p>
        </p:txBody>
      </p:sp>
      <p:sp>
        <p:nvSpPr>
          <p:cNvPr id="47" name="Text 44"/>
          <p:cNvSpPr/>
          <p:nvPr/>
        </p:nvSpPr>
        <p:spPr>
          <a:xfrm>
            <a:off x="9665208"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£27.04</a:t>
            </a:r>
            <a:endParaRPr lang="en-US" sz="1100" dirty="0"/>
          </a:p>
        </p:txBody>
      </p:sp>
      <p:sp>
        <p:nvSpPr>
          <p:cNvPr id="48" name="Text 45"/>
          <p:cNvSpPr/>
          <p:nvPr/>
        </p:nvSpPr>
        <p:spPr>
          <a:xfrm>
            <a:off x="10634472"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UK</a:t>
            </a:r>
            <a:endParaRPr lang="en-US" sz="900" dirty="0"/>
          </a:p>
        </p:txBody>
      </p:sp>
      <p:sp>
        <p:nvSpPr>
          <p:cNvPr id="49" name="Text 46"/>
          <p:cNvSpPr/>
          <p:nvPr/>
        </p:nvSpPr>
        <p:spPr>
          <a:xfrm>
            <a:off x="10634472"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£31.06</a:t>
            </a:r>
            <a:endParaRPr lang="en-US" sz="1100" dirty="0"/>
          </a:p>
        </p:txBody>
      </p:sp>
      <p:sp>
        <p:nvSpPr>
          <p:cNvPr id="50" name="Text 47"/>
          <p:cNvSpPr/>
          <p:nvPr/>
        </p:nvSpPr>
        <p:spPr>
          <a:xfrm>
            <a:off x="7726680" y="5705856"/>
            <a:ext cx="3840480" cy="219456"/>
          </a:xfrm>
          <a:prstGeom prst="rect">
            <a:avLst/>
          </a:prstGeom>
          <a:noFill/>
          <a:ln/>
        </p:spPr>
        <p:txBody>
          <a:bodyPr wrap="square" lIns="0" tIns="0" rIns="0" bIns="0" rtlCol="0" anchor="ctr"/>
          <a:lstStyle/>
          <a:p>
            <a:pPr algn="ctr" indent="0" marL="0">
              <a:buNone/>
            </a:pPr>
            <a:r>
              <a:rPr lang="en-US" sz="840" i="1" dirty="0">
                <a:solidFill>
                  <a:srgbClr val="6B7280"/>
                </a:solidFill>
                <a:latin typeface="Calibri" pitchFamily="34" charset="0"/>
                <a:ea typeface="Calibri" pitchFamily="34" charset="-122"/>
                <a:cs typeface="Calibri" pitchFamily="34" charset="-120"/>
              </a:rPr>
              <a:t>Only 19% between China and the UK — on the casting it was 55%.</a:t>
            </a:r>
            <a:endParaRPr lang="en-US" sz="840" dirty="0"/>
          </a:p>
        </p:txBody>
      </p:sp>
      <p:sp>
        <p:nvSpPr>
          <p:cNvPr id="51" name="Text 4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2" name="Text 4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And Then It Is Painted · The Second Half of a Bumper</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separate line, a separate supplier — and the tool costs it separately</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6949440" cy="3035808"/>
          </a:xfrm>
          <a:prstGeom prst="roundRect">
            <a:avLst>
              <a:gd name="adj" fmla="val 3012"/>
            </a:avLst>
          </a:prstGeom>
          <a:solidFill>
            <a:srgbClr val="FFFFFF"/>
          </a:solidFill>
          <a:ln w="12700">
            <a:solidFill>
              <a:srgbClr val="DCE3EE"/>
            </a:solidFill>
            <a:prstDash val="solid"/>
          </a:ln>
        </p:spPr>
      </p:sp>
      <p:sp>
        <p:nvSpPr>
          <p:cNvPr id="8" name="Text 6"/>
          <p:cNvSpPr/>
          <p:nvPr/>
        </p:nvSpPr>
        <p:spPr>
          <a:xfrm>
            <a:off x="685800" y="1280160"/>
            <a:ext cx="6492240" cy="237744"/>
          </a:xfrm>
          <a:prstGeom prst="rect">
            <a:avLst/>
          </a:prstGeom>
          <a:noFill/>
          <a:ln/>
        </p:spPr>
        <p:txBody>
          <a:bodyPr wrap="square" lIns="0" tIns="0" rIns="0" bIns="0" rtlCol="0" anchor="ctr"/>
          <a:lstStyle/>
          <a:p>
            <a:pPr indent="0" marL="0">
              <a:buNone/>
            </a:pPr>
            <a:r>
              <a:rPr lang="en-US" sz="1050" b="1" spc="40" kern="0" dirty="0">
                <a:solidFill>
                  <a:srgbClr val="16325C"/>
                </a:solidFill>
                <a:latin typeface="Calibri" pitchFamily="34" charset="0"/>
                <a:ea typeface="Calibri" pitchFamily="34" charset="-122"/>
                <a:cs typeface="Calibri" pitchFamily="34" charset="-120"/>
              </a:rPr>
              <a:t>HOW PAINT IS COSTED — from film thickness, not from a rule of thumb</a:t>
            </a:r>
            <a:endParaRPr lang="en-US" sz="1050" dirty="0"/>
          </a:p>
        </p:txBody>
      </p:sp>
      <p:sp>
        <p:nvSpPr>
          <p:cNvPr id="9" name="Text 7"/>
          <p:cNvSpPr/>
          <p:nvPr/>
        </p:nvSpPr>
        <p:spPr>
          <a:xfrm>
            <a:off x="685800" y="1554480"/>
            <a:ext cx="6492240" cy="237744"/>
          </a:xfrm>
          <a:prstGeom prst="rect">
            <a:avLst/>
          </a:prstGeom>
          <a:noFill/>
          <a:ln/>
        </p:spPr>
        <p:txBody>
          <a:bodyPr wrap="square" lIns="0" tIns="0" rIns="0" bIns="0" rtlCol="0" anchor="ctr"/>
          <a:lstStyle/>
          <a:p>
            <a:pPr indent="0" marL="0">
              <a:buNone/>
            </a:pPr>
            <a:r>
              <a:rPr lang="en-US" sz="1050" b="1" i="1" dirty="0">
                <a:solidFill>
                  <a:srgbClr val="0E8074"/>
                </a:solidFill>
                <a:latin typeface="Calibri" pitchFamily="34" charset="0"/>
                <a:ea typeface="Calibri" pitchFamily="34" charset="-122"/>
                <a:cs typeface="Calibri" pitchFamily="34" charset="-120"/>
              </a:rPr>
              <a:t>wet litres  =  area × dry film thickness  ÷  (solids % × transfer efficiency)</a:t>
            </a:r>
            <a:endParaRPr lang="en-US" sz="1050" dirty="0"/>
          </a:p>
        </p:txBody>
      </p:sp>
      <p:sp>
        <p:nvSpPr>
          <p:cNvPr id="10" name="Text 8"/>
          <p:cNvSpPr/>
          <p:nvPr/>
        </p:nvSpPr>
        <p:spPr>
          <a:xfrm>
            <a:off x="713232" y="1865376"/>
            <a:ext cx="100584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Coat</a:t>
            </a:r>
            <a:endParaRPr lang="en-US" sz="840" dirty="0"/>
          </a:p>
        </p:txBody>
      </p:sp>
      <p:sp>
        <p:nvSpPr>
          <p:cNvPr id="11" name="Text 9"/>
          <p:cNvSpPr/>
          <p:nvPr/>
        </p:nvSpPr>
        <p:spPr>
          <a:xfrm>
            <a:off x="1783080" y="1865376"/>
            <a:ext cx="68580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Film</a:t>
            </a:r>
            <a:endParaRPr lang="en-US" sz="840" dirty="0"/>
          </a:p>
        </p:txBody>
      </p:sp>
      <p:sp>
        <p:nvSpPr>
          <p:cNvPr id="12" name="Text 10"/>
          <p:cNvSpPr/>
          <p:nvPr/>
        </p:nvSpPr>
        <p:spPr>
          <a:xfrm>
            <a:off x="2514600" y="1865376"/>
            <a:ext cx="178308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Solids × transfer</a:t>
            </a:r>
            <a:endParaRPr lang="en-US" sz="840" dirty="0"/>
          </a:p>
        </p:txBody>
      </p:sp>
      <p:sp>
        <p:nvSpPr>
          <p:cNvPr id="13" name="Text 11"/>
          <p:cNvSpPr/>
          <p:nvPr/>
        </p:nvSpPr>
        <p:spPr>
          <a:xfrm>
            <a:off x="4343400" y="1865376"/>
            <a:ext cx="82296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Wet L</a:t>
            </a:r>
            <a:endParaRPr lang="en-US" sz="840" dirty="0"/>
          </a:p>
        </p:txBody>
      </p:sp>
      <p:sp>
        <p:nvSpPr>
          <p:cNvPr id="14" name="Text 12"/>
          <p:cNvSpPr/>
          <p:nvPr/>
        </p:nvSpPr>
        <p:spPr>
          <a:xfrm>
            <a:off x="5257800" y="1865376"/>
            <a:ext cx="82296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£/L</a:t>
            </a:r>
            <a:endParaRPr lang="en-US" sz="840" dirty="0"/>
          </a:p>
        </p:txBody>
      </p:sp>
      <p:sp>
        <p:nvSpPr>
          <p:cNvPr id="15" name="Text 13"/>
          <p:cNvSpPr/>
          <p:nvPr/>
        </p:nvSpPr>
        <p:spPr>
          <a:xfrm>
            <a:off x="6126480" y="1865376"/>
            <a:ext cx="96012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Cost</a:t>
            </a:r>
            <a:endParaRPr lang="en-US" sz="840" dirty="0"/>
          </a:p>
        </p:txBody>
      </p:sp>
      <p:sp>
        <p:nvSpPr>
          <p:cNvPr id="16" name="Shape 14"/>
          <p:cNvSpPr/>
          <p:nvPr/>
        </p:nvSpPr>
        <p:spPr>
          <a:xfrm>
            <a:off x="621792" y="2066544"/>
            <a:ext cx="6620256" cy="274320"/>
          </a:xfrm>
          <a:prstGeom prst="rect">
            <a:avLst/>
          </a:prstGeom>
          <a:solidFill>
            <a:srgbClr val="F4F7FB"/>
          </a:solidFill>
          <a:ln/>
        </p:spPr>
      </p:sp>
      <p:sp>
        <p:nvSpPr>
          <p:cNvPr id="17" name="Text 15"/>
          <p:cNvSpPr/>
          <p:nvPr/>
        </p:nvSpPr>
        <p:spPr>
          <a:xfrm>
            <a:off x="713232" y="2084832"/>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Primer</a:t>
            </a:r>
            <a:endParaRPr lang="en-US" sz="920" dirty="0"/>
          </a:p>
        </p:txBody>
      </p:sp>
      <p:sp>
        <p:nvSpPr>
          <p:cNvPr id="18" name="Text 16"/>
          <p:cNvSpPr/>
          <p:nvPr/>
        </p:nvSpPr>
        <p:spPr>
          <a:xfrm>
            <a:off x="1783080" y="2084832"/>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25 µm</a:t>
            </a:r>
            <a:endParaRPr lang="en-US" sz="920" dirty="0"/>
          </a:p>
        </p:txBody>
      </p:sp>
      <p:sp>
        <p:nvSpPr>
          <p:cNvPr id="19" name="Text 17"/>
          <p:cNvSpPr/>
          <p:nvPr/>
        </p:nvSpPr>
        <p:spPr>
          <a:xfrm>
            <a:off x="2514600" y="2084832"/>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0.45 × 0.65 = 0.293</a:t>
            </a:r>
            <a:endParaRPr lang="en-US" sz="920" dirty="0"/>
          </a:p>
        </p:txBody>
      </p:sp>
      <p:sp>
        <p:nvSpPr>
          <p:cNvPr id="20" name="Text 18"/>
          <p:cNvSpPr/>
          <p:nvPr/>
        </p:nvSpPr>
        <p:spPr>
          <a:xfrm>
            <a:off x="43434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0.137</a:t>
            </a:r>
            <a:endParaRPr lang="en-US" sz="920" dirty="0"/>
          </a:p>
        </p:txBody>
      </p:sp>
      <p:sp>
        <p:nvSpPr>
          <p:cNvPr id="21" name="Text 19"/>
          <p:cNvSpPr/>
          <p:nvPr/>
        </p:nvSpPr>
        <p:spPr>
          <a:xfrm>
            <a:off x="52578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£9.50</a:t>
            </a:r>
            <a:endParaRPr lang="en-US" sz="920" dirty="0"/>
          </a:p>
        </p:txBody>
      </p:sp>
      <p:sp>
        <p:nvSpPr>
          <p:cNvPr id="22" name="Text 20"/>
          <p:cNvSpPr/>
          <p:nvPr/>
        </p:nvSpPr>
        <p:spPr>
          <a:xfrm>
            <a:off x="6126480" y="2084832"/>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£1.30</a:t>
            </a:r>
            <a:endParaRPr lang="en-US" sz="920" dirty="0"/>
          </a:p>
        </p:txBody>
      </p:sp>
      <p:sp>
        <p:nvSpPr>
          <p:cNvPr id="23" name="Text 21"/>
          <p:cNvSpPr/>
          <p:nvPr/>
        </p:nvSpPr>
        <p:spPr>
          <a:xfrm>
            <a:off x="713232" y="2377440"/>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Basecoat</a:t>
            </a:r>
            <a:endParaRPr lang="en-US" sz="920" dirty="0"/>
          </a:p>
        </p:txBody>
      </p:sp>
      <p:sp>
        <p:nvSpPr>
          <p:cNvPr id="24" name="Text 22"/>
          <p:cNvSpPr/>
          <p:nvPr/>
        </p:nvSpPr>
        <p:spPr>
          <a:xfrm>
            <a:off x="1783080" y="2377440"/>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20 µm</a:t>
            </a:r>
            <a:endParaRPr lang="en-US" sz="920" dirty="0"/>
          </a:p>
        </p:txBody>
      </p:sp>
      <p:sp>
        <p:nvSpPr>
          <p:cNvPr id="25" name="Text 23"/>
          <p:cNvSpPr/>
          <p:nvPr/>
        </p:nvSpPr>
        <p:spPr>
          <a:xfrm>
            <a:off x="2514600" y="2377440"/>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0.25 × 0.60 = 0.150</a:t>
            </a:r>
            <a:endParaRPr lang="en-US" sz="920" dirty="0"/>
          </a:p>
        </p:txBody>
      </p:sp>
      <p:sp>
        <p:nvSpPr>
          <p:cNvPr id="26" name="Text 24"/>
          <p:cNvSpPr/>
          <p:nvPr/>
        </p:nvSpPr>
        <p:spPr>
          <a:xfrm>
            <a:off x="43434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0.213</a:t>
            </a:r>
            <a:endParaRPr lang="en-US" sz="920" dirty="0"/>
          </a:p>
        </p:txBody>
      </p:sp>
      <p:sp>
        <p:nvSpPr>
          <p:cNvPr id="27" name="Text 25"/>
          <p:cNvSpPr/>
          <p:nvPr/>
        </p:nvSpPr>
        <p:spPr>
          <a:xfrm>
            <a:off x="52578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£26.00</a:t>
            </a:r>
            <a:endParaRPr lang="en-US" sz="920" dirty="0"/>
          </a:p>
        </p:txBody>
      </p:sp>
      <p:sp>
        <p:nvSpPr>
          <p:cNvPr id="28" name="Text 26"/>
          <p:cNvSpPr/>
          <p:nvPr/>
        </p:nvSpPr>
        <p:spPr>
          <a:xfrm>
            <a:off x="6126480" y="2377440"/>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£5.55</a:t>
            </a:r>
            <a:endParaRPr lang="en-US" sz="920" dirty="0"/>
          </a:p>
        </p:txBody>
      </p:sp>
      <p:sp>
        <p:nvSpPr>
          <p:cNvPr id="29" name="Shape 27"/>
          <p:cNvSpPr/>
          <p:nvPr/>
        </p:nvSpPr>
        <p:spPr>
          <a:xfrm>
            <a:off x="621792" y="2651760"/>
            <a:ext cx="6620256" cy="274320"/>
          </a:xfrm>
          <a:prstGeom prst="rect">
            <a:avLst/>
          </a:prstGeom>
          <a:solidFill>
            <a:srgbClr val="F4F7FB"/>
          </a:solidFill>
          <a:ln/>
        </p:spPr>
      </p:sp>
      <p:sp>
        <p:nvSpPr>
          <p:cNvPr id="30" name="Text 28"/>
          <p:cNvSpPr/>
          <p:nvPr/>
        </p:nvSpPr>
        <p:spPr>
          <a:xfrm>
            <a:off x="713232" y="2670048"/>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Clearcoat</a:t>
            </a:r>
            <a:endParaRPr lang="en-US" sz="920" dirty="0"/>
          </a:p>
        </p:txBody>
      </p:sp>
      <p:sp>
        <p:nvSpPr>
          <p:cNvPr id="31" name="Text 29"/>
          <p:cNvSpPr/>
          <p:nvPr/>
        </p:nvSpPr>
        <p:spPr>
          <a:xfrm>
            <a:off x="1783080" y="2670048"/>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40 µm</a:t>
            </a:r>
            <a:endParaRPr lang="en-US" sz="920" dirty="0"/>
          </a:p>
        </p:txBody>
      </p:sp>
      <p:sp>
        <p:nvSpPr>
          <p:cNvPr id="32" name="Text 30"/>
          <p:cNvSpPr/>
          <p:nvPr/>
        </p:nvSpPr>
        <p:spPr>
          <a:xfrm>
            <a:off x="2514600" y="2670048"/>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0.50 × 0.65 = 0.325</a:t>
            </a:r>
            <a:endParaRPr lang="en-US" sz="920" dirty="0"/>
          </a:p>
        </p:txBody>
      </p:sp>
      <p:sp>
        <p:nvSpPr>
          <p:cNvPr id="33" name="Text 31"/>
          <p:cNvSpPr/>
          <p:nvPr/>
        </p:nvSpPr>
        <p:spPr>
          <a:xfrm>
            <a:off x="43434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0.197</a:t>
            </a:r>
            <a:endParaRPr lang="en-US" sz="920" dirty="0"/>
          </a:p>
        </p:txBody>
      </p:sp>
      <p:sp>
        <p:nvSpPr>
          <p:cNvPr id="34" name="Text 32"/>
          <p:cNvSpPr/>
          <p:nvPr/>
        </p:nvSpPr>
        <p:spPr>
          <a:xfrm>
            <a:off x="52578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£18.00</a:t>
            </a:r>
            <a:endParaRPr lang="en-US" sz="920" dirty="0"/>
          </a:p>
        </p:txBody>
      </p:sp>
      <p:sp>
        <p:nvSpPr>
          <p:cNvPr id="35" name="Text 33"/>
          <p:cNvSpPr/>
          <p:nvPr/>
        </p:nvSpPr>
        <p:spPr>
          <a:xfrm>
            <a:off x="6126480" y="2670048"/>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£3.54</a:t>
            </a:r>
            <a:endParaRPr lang="en-US" sz="920" dirty="0"/>
          </a:p>
        </p:txBody>
      </p:sp>
      <p:sp>
        <p:nvSpPr>
          <p:cNvPr id="36" name="Shape 34"/>
          <p:cNvSpPr/>
          <p:nvPr/>
        </p:nvSpPr>
        <p:spPr>
          <a:xfrm>
            <a:off x="713232" y="2999232"/>
            <a:ext cx="6446520" cy="0"/>
          </a:xfrm>
          <a:prstGeom prst="line">
            <a:avLst/>
          </a:prstGeom>
          <a:noFill/>
          <a:ln w="12700">
            <a:solidFill>
              <a:srgbClr val="DCE3EE"/>
            </a:solidFill>
            <a:prstDash val="solid"/>
          </a:ln>
        </p:spPr>
      </p:sp>
      <p:sp>
        <p:nvSpPr>
          <p:cNvPr id="37" name="Text 35"/>
          <p:cNvSpPr/>
          <p:nvPr/>
        </p:nvSpPr>
        <p:spPr>
          <a:xfrm>
            <a:off x="713232" y="3072384"/>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on 1.6 m² of bumper, + 6% rework</a:t>
            </a:r>
            <a:endParaRPr lang="en-US" sz="940" dirty="0"/>
          </a:p>
        </p:txBody>
      </p:sp>
      <p:sp>
        <p:nvSpPr>
          <p:cNvPr id="38" name="Text 36"/>
          <p:cNvSpPr/>
          <p:nvPr/>
        </p:nvSpPr>
        <p:spPr>
          <a:xfrm>
            <a:off x="5943600" y="3072384"/>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£11.01</a:t>
            </a:r>
            <a:endParaRPr lang="en-US" sz="980" dirty="0"/>
          </a:p>
        </p:txBody>
      </p:sp>
      <p:sp>
        <p:nvSpPr>
          <p:cNvPr id="39" name="Text 37"/>
          <p:cNvSpPr/>
          <p:nvPr/>
        </p:nvSpPr>
        <p:spPr>
          <a:xfrm>
            <a:off x="713232" y="3328416"/>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line, 55 parts/hr ÷ 0.85 OEE × £102.13/hr</a:t>
            </a:r>
            <a:endParaRPr lang="en-US" sz="940" dirty="0"/>
          </a:p>
        </p:txBody>
      </p:sp>
      <p:sp>
        <p:nvSpPr>
          <p:cNvPr id="40" name="Text 38"/>
          <p:cNvSpPr/>
          <p:nvPr/>
        </p:nvSpPr>
        <p:spPr>
          <a:xfrm>
            <a:off x="5943600" y="3328416"/>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£2.32</a:t>
            </a:r>
            <a:endParaRPr lang="en-US" sz="980" dirty="0"/>
          </a:p>
        </p:txBody>
      </p:sp>
      <p:sp>
        <p:nvSpPr>
          <p:cNvPr id="41" name="Text 39"/>
          <p:cNvSpPr/>
          <p:nvPr/>
        </p:nvSpPr>
        <p:spPr>
          <a:xfrm>
            <a:off x="713232" y="3584448"/>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Two operators on the line</a:t>
            </a:r>
            <a:endParaRPr lang="en-US" sz="940" dirty="0"/>
          </a:p>
        </p:txBody>
      </p:sp>
      <p:sp>
        <p:nvSpPr>
          <p:cNvPr id="42" name="Text 40"/>
          <p:cNvSpPr/>
          <p:nvPr/>
        </p:nvSpPr>
        <p:spPr>
          <a:xfrm>
            <a:off x="5943600" y="3584448"/>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£0.85</a:t>
            </a:r>
            <a:endParaRPr lang="en-US" sz="980" dirty="0"/>
          </a:p>
        </p:txBody>
      </p:sp>
      <p:sp>
        <p:nvSpPr>
          <p:cNvPr id="43" name="Text 41"/>
          <p:cNvSpPr/>
          <p:nvPr/>
        </p:nvSpPr>
        <p:spPr>
          <a:xfrm>
            <a:off x="713232" y="3840480"/>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Masking fixtures, £45k ÷ 60,000</a:t>
            </a:r>
            <a:endParaRPr lang="en-US" sz="940" dirty="0"/>
          </a:p>
        </p:txBody>
      </p:sp>
      <p:sp>
        <p:nvSpPr>
          <p:cNvPr id="44" name="Text 42"/>
          <p:cNvSpPr/>
          <p:nvPr/>
        </p:nvSpPr>
        <p:spPr>
          <a:xfrm>
            <a:off x="5943600" y="3840480"/>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£0.75</a:t>
            </a:r>
            <a:endParaRPr lang="en-US" sz="980" dirty="0"/>
          </a:p>
        </p:txBody>
      </p:sp>
      <p:sp>
        <p:nvSpPr>
          <p:cNvPr id="45" name="Shape 43"/>
          <p:cNvSpPr/>
          <p:nvPr/>
        </p:nvSpPr>
        <p:spPr>
          <a:xfrm>
            <a:off x="7635240" y="1188720"/>
            <a:ext cx="4096512" cy="3035808"/>
          </a:xfrm>
          <a:prstGeom prst="roundRect">
            <a:avLst>
              <a:gd name="adj" fmla="val 3012"/>
            </a:avLst>
          </a:prstGeom>
          <a:solidFill>
            <a:srgbClr val="0E5A5A"/>
          </a:solidFill>
          <a:ln/>
        </p:spPr>
      </p:sp>
      <p:sp>
        <p:nvSpPr>
          <p:cNvPr id="46" name="Text 44"/>
          <p:cNvSpPr/>
          <p:nvPr/>
        </p:nvSpPr>
        <p:spPr>
          <a:xfrm>
            <a:off x="7863840" y="1298448"/>
            <a:ext cx="3657600" cy="219456"/>
          </a:xfrm>
          <a:prstGeom prst="rect">
            <a:avLst/>
          </a:prstGeom>
          <a:noFill/>
          <a:ln/>
        </p:spPr>
        <p:txBody>
          <a:bodyPr wrap="square" lIns="0" tIns="0" rIns="0" bIns="0" rtlCol="0" anchor="ctr"/>
          <a:lstStyle/>
          <a:p>
            <a:pPr indent="0" marL="0">
              <a:buNone/>
            </a:pPr>
            <a:r>
              <a:rPr lang="en-US" sz="950" b="1" spc="70" kern="0" dirty="0">
                <a:solidFill>
                  <a:srgbClr val="9FD9CF"/>
                </a:solidFill>
                <a:latin typeface="Calibri" pitchFamily="34" charset="0"/>
                <a:ea typeface="Calibri" pitchFamily="34" charset="-122"/>
                <a:cs typeface="Calibri" pitchFamily="34" charset="-120"/>
              </a:rPr>
              <a:t>THE DELIVERED BUMPER</a:t>
            </a:r>
            <a:endParaRPr lang="en-US" sz="950" dirty="0"/>
          </a:p>
        </p:txBody>
      </p:sp>
      <p:sp>
        <p:nvSpPr>
          <p:cNvPr id="47" name="Text 45"/>
          <p:cNvSpPr/>
          <p:nvPr/>
        </p:nvSpPr>
        <p:spPr>
          <a:xfrm>
            <a:off x="7863840" y="1737360"/>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Moulded, ex-works (China)</a:t>
            </a:r>
            <a:endParaRPr lang="en-US" sz="1000" dirty="0"/>
          </a:p>
        </p:txBody>
      </p:sp>
      <p:sp>
        <p:nvSpPr>
          <p:cNvPr id="48" name="Text 46"/>
          <p:cNvSpPr/>
          <p:nvPr/>
        </p:nvSpPr>
        <p:spPr>
          <a:xfrm>
            <a:off x="10241280" y="1737360"/>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£26.08</a:t>
            </a:r>
            <a:endParaRPr lang="en-US" sz="1100" dirty="0"/>
          </a:p>
        </p:txBody>
      </p:sp>
      <p:sp>
        <p:nvSpPr>
          <p:cNvPr id="49" name="Text 47"/>
          <p:cNvSpPr/>
          <p:nvPr/>
        </p:nvSpPr>
        <p:spPr>
          <a:xfrm>
            <a:off x="7863840" y="2066544"/>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 Paint line (China rates)</a:t>
            </a:r>
            <a:endParaRPr lang="en-US" sz="1000" dirty="0"/>
          </a:p>
        </p:txBody>
      </p:sp>
      <p:sp>
        <p:nvSpPr>
          <p:cNvPr id="50" name="Text 48"/>
          <p:cNvSpPr/>
          <p:nvPr/>
        </p:nvSpPr>
        <p:spPr>
          <a:xfrm>
            <a:off x="10241280" y="2066544"/>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£13.14</a:t>
            </a:r>
            <a:endParaRPr lang="en-US" sz="1100" dirty="0"/>
          </a:p>
        </p:txBody>
      </p:sp>
      <p:sp>
        <p:nvSpPr>
          <p:cNvPr id="51" name="Shape 49"/>
          <p:cNvSpPr/>
          <p:nvPr/>
        </p:nvSpPr>
        <p:spPr>
          <a:xfrm>
            <a:off x="7863840" y="2468880"/>
            <a:ext cx="3657600" cy="0"/>
          </a:xfrm>
          <a:prstGeom prst="line">
            <a:avLst/>
          </a:prstGeom>
          <a:noFill/>
          <a:ln w="12700">
            <a:solidFill>
              <a:srgbClr val="9FD9CF"/>
            </a:solidFill>
            <a:prstDash val="solid"/>
          </a:ln>
        </p:spPr>
      </p:sp>
      <p:sp>
        <p:nvSpPr>
          <p:cNvPr id="52" name="Text 50"/>
          <p:cNvSpPr/>
          <p:nvPr/>
        </p:nvSpPr>
        <p:spPr>
          <a:xfrm>
            <a:off x="7863840" y="2578608"/>
            <a:ext cx="3657600" cy="64008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£39.22</a:t>
            </a:r>
            <a:endParaRPr lang="en-US" sz="3400" dirty="0"/>
          </a:p>
        </p:txBody>
      </p:sp>
      <p:sp>
        <p:nvSpPr>
          <p:cNvPr id="53" name="Text 51"/>
          <p:cNvSpPr/>
          <p:nvPr/>
        </p:nvSpPr>
        <p:spPr>
          <a:xfrm>
            <a:off x="7863840" y="3255264"/>
            <a:ext cx="3657600" cy="237744"/>
          </a:xfrm>
          <a:prstGeom prst="rect">
            <a:avLst/>
          </a:prstGeom>
          <a:noFill/>
          <a:ln/>
        </p:spPr>
        <p:txBody>
          <a:bodyPr wrap="square" lIns="0" tIns="0" rIns="0" bIns="0" rtlCol="0" anchor="ctr"/>
          <a:lstStyle/>
          <a:p>
            <a:pPr algn="ctr" indent="0" marL="0">
              <a:buNone/>
            </a:pPr>
            <a:r>
              <a:rPr lang="en-US" sz="1000" dirty="0">
                <a:solidFill>
                  <a:srgbClr val="CDEDE7"/>
                </a:solidFill>
                <a:latin typeface="Calibri" pitchFamily="34" charset="0"/>
                <a:ea typeface="Calibri" pitchFamily="34" charset="-122"/>
                <a:cs typeface="Calibri" pitchFamily="34" charset="-120"/>
              </a:rPr>
              <a:t>painted, ex-works, per part</a:t>
            </a:r>
            <a:endParaRPr lang="en-US" sz="1000" dirty="0"/>
          </a:p>
        </p:txBody>
      </p:sp>
      <p:sp>
        <p:nvSpPr>
          <p:cNvPr id="54" name="Text 52"/>
          <p:cNvSpPr/>
          <p:nvPr/>
        </p:nvSpPr>
        <p:spPr>
          <a:xfrm>
            <a:off x="7863840" y="3566160"/>
            <a:ext cx="3657600" cy="512064"/>
          </a:xfrm>
          <a:prstGeom prst="rect">
            <a:avLst/>
          </a:prstGeom>
          <a:noFill/>
          <a:ln/>
        </p:spPr>
        <p:txBody>
          <a:bodyPr wrap="square" lIns="0" tIns="0" rIns="0" bIns="0" rtlCol="0" anchor="t"/>
          <a:lstStyle/>
          <a:p>
            <a:pPr algn="ctr" indent="0" marL="0">
              <a:buNone/>
            </a:pPr>
            <a:r>
              <a:rPr lang="en-US" sz="920" i="1" dirty="0">
                <a:solidFill>
                  <a:srgbClr val="9FD9CF"/>
                </a:solidFill>
                <a:latin typeface="Calibri" pitchFamily="34" charset="0"/>
                <a:ea typeface="Calibri" pitchFamily="34" charset="-122"/>
                <a:cs typeface="Calibri" pitchFamily="34" charset="-120"/>
              </a:rPr>
              <a:t>Paint is a third of the delivered cost — and half of THAT is one litre of basecoat.</a:t>
            </a:r>
            <a:endParaRPr lang="en-US" sz="920" dirty="0"/>
          </a:p>
        </p:txBody>
      </p:sp>
      <p:sp>
        <p:nvSpPr>
          <p:cNvPr id="55" name="Shape 53"/>
          <p:cNvSpPr/>
          <p:nvPr/>
        </p:nvSpPr>
        <p:spPr>
          <a:xfrm>
            <a:off x="457200" y="4334256"/>
            <a:ext cx="11274552" cy="1152144"/>
          </a:xfrm>
          <a:prstGeom prst="roundRect">
            <a:avLst>
              <a:gd name="adj" fmla="val 7937"/>
            </a:avLst>
          </a:prstGeom>
          <a:solidFill>
            <a:srgbClr val="FFFFFF"/>
          </a:solidFill>
          <a:ln w="19050">
            <a:solidFill>
              <a:srgbClr val="2E8B57"/>
            </a:solidFill>
            <a:prstDash val="solid"/>
          </a:ln>
        </p:spPr>
      </p:sp>
      <p:sp>
        <p:nvSpPr>
          <p:cNvPr id="56" name="Text 54"/>
          <p:cNvSpPr/>
          <p:nvPr/>
        </p:nvSpPr>
        <p:spPr>
          <a:xfrm>
            <a:off x="731520" y="4434840"/>
            <a:ext cx="10515600" cy="256032"/>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Why this is worth costing separately rather than as a percentage uplift</a:t>
            </a:r>
            <a:endParaRPr lang="en-US" sz="1250" dirty="0"/>
          </a:p>
        </p:txBody>
      </p:sp>
      <p:sp>
        <p:nvSpPr>
          <p:cNvPr id="57" name="Text 55"/>
          <p:cNvSpPr/>
          <p:nvPr/>
        </p:nvSpPr>
        <p:spPr>
          <a:xfrm>
            <a:off x="731520" y="4718304"/>
            <a:ext cx="10744200" cy="694944"/>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Transfer efficiency is the number nobody argues about and everybody should. </a:t>
            </a:r>
            <a:pPr indent="0" marL="0">
              <a:buNone/>
            </a:pPr>
            <a:r>
              <a:rPr lang="en-US" sz="1150" dirty="0">
                <a:solidFill>
                  <a:srgbClr val="3A4356"/>
                </a:solidFill>
                <a:latin typeface="Calibri" pitchFamily="34" charset="0"/>
                <a:ea typeface="Calibri" pitchFamily="34" charset="-122"/>
                <a:cs typeface="Calibri" pitchFamily="34" charset="-120"/>
              </a:rPr>
              <a:t>At 60% transfer, four of every ten pounds of basecoat lands in the booth filters rather than on the car. Move that one line to 70% with better electrostatics and the basecoat drops from £5.55 to £4.76 — on 60,000 parts a year that is £47,000. A percentage uplift on the moulded cost would have hidden that completely.</a:t>
            </a:r>
            <a:endParaRPr lang="en-US" sz="1150" dirty="0"/>
          </a:p>
        </p:txBody>
      </p:sp>
      <p:sp>
        <p:nvSpPr>
          <p:cNvPr id="58" name="Shape 56"/>
          <p:cNvSpPr/>
          <p:nvPr/>
        </p:nvSpPr>
        <p:spPr>
          <a:xfrm>
            <a:off x="457200" y="5596128"/>
            <a:ext cx="11274552" cy="694944"/>
          </a:xfrm>
          <a:prstGeom prst="roundRect">
            <a:avLst>
              <a:gd name="adj" fmla="val 13158"/>
            </a:avLst>
          </a:prstGeom>
          <a:solidFill>
            <a:srgbClr val="FCF3E3"/>
          </a:solidFill>
          <a:ln w="12700">
            <a:solidFill>
              <a:srgbClr val="B7791F"/>
            </a:solidFill>
            <a:prstDash val="solid"/>
          </a:ln>
        </p:spPr>
      </p:sp>
      <p:sp>
        <p:nvSpPr>
          <p:cNvPr id="59" name="Text 57"/>
          <p:cNvSpPr/>
          <p:nvPr/>
        </p:nvSpPr>
        <p:spPr>
          <a:xfrm>
            <a:off x="731520" y="5669280"/>
            <a:ext cx="10744200" cy="548640"/>
          </a:xfrm>
          <a:prstGeom prst="rect">
            <a:avLst/>
          </a:prstGeom>
          <a:noFill/>
          <a:ln/>
        </p:spPr>
        <p:txBody>
          <a:bodyPr wrap="square" lIns="0" tIns="0" rIns="0" bIns="0" rtlCol="0" anchor="ctr"/>
          <a:lstStyle/>
          <a:p>
            <a:pPr indent="0" marL="0">
              <a:buNone/>
            </a:pPr>
            <a:r>
              <a:rPr lang="en-US" sz="1100" b="1" dirty="0">
                <a:solidFill>
                  <a:srgbClr val="B7791F"/>
                </a:solidFill>
                <a:latin typeface="Calibri" pitchFamily="34" charset="0"/>
                <a:ea typeface="Calibri" pitchFamily="34" charset="-122"/>
                <a:cs typeface="Calibri" pitchFamily="34" charset="-120"/>
              </a:rPr>
              <a:t>Honest note:  </a:t>
            </a:r>
            <a:pPr indent="0" marL="0">
              <a:buNone/>
            </a:pPr>
            <a:r>
              <a:rPr lang="en-US" sz="1100" dirty="0">
                <a:solidFill>
                  <a:srgbClr val="3A4356"/>
                </a:solidFill>
                <a:latin typeface="Calibri" pitchFamily="34" charset="0"/>
                <a:ea typeface="Calibri" pitchFamily="34" charset="-122"/>
                <a:cs typeface="Calibri" pitchFamily="34" charset="-120"/>
              </a:rPr>
              <a:t>the paint line is a separate costing in the tool, not a bucket inside the moulding one — because in the real world it is usually a separate supplier with its own overhead and margin. The £39.22 above adds the two ex-works costs; it does not double-count either supplier’s margin.</a:t>
            </a:r>
            <a:endParaRPr lang="en-US" sz="11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Two Findings From the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Neither of these was predictable in advance — the method surfaced both</a:t>
            </a:r>
            <a:endParaRPr lang="en-US" sz="1200" dirty="0"/>
          </a:p>
        </p:txBody>
      </p:sp>
      <p:sp>
        <p:nvSpPr>
          <p:cNvPr id="5" name="Shape 3"/>
          <p:cNvSpPr/>
          <p:nvPr/>
        </p:nvSpPr>
        <p:spPr>
          <a:xfrm>
            <a:off x="457200" y="1188720"/>
            <a:ext cx="5532120" cy="2395728"/>
          </a:xfrm>
          <a:prstGeom prst="roundRect">
            <a:avLst>
              <a:gd name="adj" fmla="val 3817"/>
            </a:avLst>
          </a:prstGeom>
          <a:solidFill>
            <a:srgbClr val="FFFFFF"/>
          </a:solidFill>
          <a:ln w="22225">
            <a:solidFill>
              <a:srgbClr val="0E8074"/>
            </a:solidFill>
            <a:prstDash val="solid"/>
          </a:ln>
        </p:spPr>
      </p:sp>
      <p:sp>
        <p:nvSpPr>
          <p:cNvPr id="6" name="Shape 4"/>
          <p:cNvSpPr/>
          <p:nvPr/>
        </p:nvSpPr>
        <p:spPr>
          <a:xfrm>
            <a:off x="685800" y="1371600"/>
            <a:ext cx="457200" cy="457200"/>
          </a:xfrm>
          <a:prstGeom prst="ellipse">
            <a:avLst/>
          </a:prstGeom>
          <a:solidFill>
            <a:srgbClr val="0E8074"/>
          </a:solidFill>
          <a:ln/>
        </p:spPr>
      </p:sp>
      <p:sp>
        <p:nvSpPr>
          <p:cNvPr id="7" name="Text 5"/>
          <p:cNvSpPr/>
          <p:nvPr/>
        </p:nvSpPr>
        <p:spPr>
          <a:xfrm>
            <a:off x="685800"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8" name="Text 6"/>
          <p:cNvSpPr/>
          <p:nvPr/>
        </p:nvSpPr>
        <p:spPr>
          <a:xfrm>
            <a:off x="1280160" y="1371600"/>
            <a:ext cx="4480560" cy="457200"/>
          </a:xfrm>
          <a:prstGeom prst="rect">
            <a:avLst/>
          </a:prstGeom>
          <a:noFill/>
          <a:ln/>
        </p:spPr>
        <p:txBody>
          <a:bodyPr wrap="square" lIns="0" tIns="0" rIns="0" bIns="0" rtlCol="0" anchor="ctr"/>
          <a:lstStyle/>
          <a:p>
            <a:pPr indent="0" marL="0">
              <a:buNone/>
            </a:pPr>
            <a:r>
              <a:rPr lang="en-US" sz="1500" b="1" dirty="0">
                <a:solidFill>
                  <a:srgbClr val="0E8074"/>
                </a:solidFill>
                <a:latin typeface="Calibri" pitchFamily="34" charset="0"/>
                <a:ea typeface="Calibri" pitchFamily="34" charset="-122"/>
                <a:cs typeface="Calibri" pitchFamily="34" charset="-120"/>
              </a:rPr>
              <a:t>The tool is the product</a:t>
            </a:r>
            <a:endParaRPr lang="en-US" sz="1500" dirty="0"/>
          </a:p>
        </p:txBody>
      </p:sp>
      <p:sp>
        <p:nvSpPr>
          <p:cNvPr id="9" name="Text 7"/>
          <p:cNvSpPr/>
          <p:nvPr/>
        </p:nvSpPr>
        <p:spPr>
          <a:xfrm>
            <a:off x="713232"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Tooling is £11.20 of the £26.08 part — 43%, the biggest single bucket. </a:t>
            </a:r>
            <a:pPr indent="0" marL="0">
              <a:buNone/>
            </a:pPr>
            <a:r>
              <a:rPr lang="en-US" sz="1100" dirty="0">
                <a:solidFill>
                  <a:srgbClr val="3A4356"/>
                </a:solidFill>
                <a:latin typeface="Calibri" pitchFamily="34" charset="0"/>
                <a:ea typeface="Calibri" pitchFamily="34" charset="-122"/>
                <a:cs typeface="Calibri" pitchFamily="34" charset="-120"/>
              </a:rPr>
              <a:t>It is larger than the resin, the press and the labour </a:t>
            </a:r>
            <a:pPr indent="0" marL="0">
              <a:buNone/>
            </a:pPr>
            <a:r>
              <a:rPr lang="en-US" sz="1100" b="1" dirty="0">
                <a:solidFill>
                  <a:srgbClr val="16325C"/>
                </a:solidFill>
                <a:latin typeface="Calibri" pitchFamily="34" charset="0"/>
                <a:ea typeface="Calibri" pitchFamily="34" charset="-122"/>
                <a:cs typeface="Calibri" pitchFamily="34" charset="-120"/>
              </a:rPr>
              <a:t>added together </a:t>
            </a:r>
            <a:pPr indent="0" marL="0">
              <a:buNone/>
            </a:pPr>
            <a:r>
              <a:rPr lang="en-US" sz="1100" dirty="0">
                <a:solidFill>
                  <a:srgbClr val="3A4356"/>
                </a:solidFill>
                <a:latin typeface="Calibri" pitchFamily="34" charset="0"/>
                <a:ea typeface="Calibri" pitchFamily="34" charset="-122"/>
                <a:cs typeface="Calibri" pitchFamily="34" charset="-120"/>
              </a:rPr>
              <a:t>(£4.46 + £2.45 + £0.05 = £6.96).</a:t>
            </a:r>
            <a:endParaRPr lang="en-US" sz="1100" dirty="0"/>
          </a:p>
          <a:p>
            <a:pPr indent="0" marL="0">
              <a:buNone/>
            </a:pPr>
            <a:endParaRPr lang="en-US" sz="1100" dirty="0"/>
          </a:p>
          <a:p>
            <a:pPr indent="0" marL="0">
              <a:buNone/>
            </a:pPr>
            <a:r>
              <a:rPr lang="en-US" sz="1100" dirty="0">
                <a:solidFill>
                  <a:srgbClr val="3A4356"/>
                </a:solidFill>
                <a:latin typeface="Calibri" pitchFamily="34" charset="0"/>
                <a:ea typeface="Calibri" pitchFamily="34" charset="-122"/>
                <a:cs typeface="Calibri" pitchFamily="34" charset="-120"/>
              </a:rPr>
              <a:t>On the casting, tooling was £2.17 — six percent. Same method, same engine, and the money has moved to a completely different bucket.</a:t>
            </a:r>
            <a:endParaRPr lang="en-US" sz="1100" dirty="0"/>
          </a:p>
        </p:txBody>
      </p:sp>
      <p:sp>
        <p:nvSpPr>
          <p:cNvPr id="10" name="Shape 8"/>
          <p:cNvSpPr/>
          <p:nvPr/>
        </p:nvSpPr>
        <p:spPr>
          <a:xfrm>
            <a:off x="6199632" y="1188720"/>
            <a:ext cx="5532120" cy="2395728"/>
          </a:xfrm>
          <a:prstGeom prst="roundRect">
            <a:avLst>
              <a:gd name="adj" fmla="val 3817"/>
            </a:avLst>
          </a:prstGeom>
          <a:solidFill>
            <a:srgbClr val="FFFFFF"/>
          </a:solidFill>
          <a:ln w="22225">
            <a:solidFill>
              <a:srgbClr val="2E8B57"/>
            </a:solidFill>
            <a:prstDash val="solid"/>
          </a:ln>
        </p:spPr>
      </p:sp>
      <p:sp>
        <p:nvSpPr>
          <p:cNvPr id="11" name="Shape 9"/>
          <p:cNvSpPr/>
          <p:nvPr/>
        </p:nvSpPr>
        <p:spPr>
          <a:xfrm>
            <a:off x="6428232" y="1371600"/>
            <a:ext cx="457200" cy="457200"/>
          </a:xfrm>
          <a:prstGeom prst="ellipse">
            <a:avLst/>
          </a:prstGeom>
          <a:solidFill>
            <a:srgbClr val="2E8B57"/>
          </a:solidFill>
          <a:ln/>
        </p:spPr>
      </p:sp>
      <p:sp>
        <p:nvSpPr>
          <p:cNvPr id="12" name="Text 10"/>
          <p:cNvSpPr/>
          <p:nvPr/>
        </p:nvSpPr>
        <p:spPr>
          <a:xfrm>
            <a:off x="6428232"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3" name="Text 11"/>
          <p:cNvSpPr/>
          <p:nvPr/>
        </p:nvSpPr>
        <p:spPr>
          <a:xfrm>
            <a:off x="7022592" y="1371600"/>
            <a:ext cx="4480560" cy="457200"/>
          </a:xfrm>
          <a:prstGeom prst="rect">
            <a:avLst/>
          </a:prstGeom>
          <a:noFill/>
          <a:ln/>
        </p:spPr>
        <p:txBody>
          <a:bodyPr wrap="square" lIns="0" tIns="0" rIns="0" bIns="0" rtlCol="0" anchor="ctr"/>
          <a:lstStyle/>
          <a:p>
            <a:pPr indent="0" marL="0">
              <a:buNone/>
            </a:pPr>
            <a:r>
              <a:rPr lang="en-US" sz="1500" b="1" dirty="0">
                <a:solidFill>
                  <a:srgbClr val="2E8B57"/>
                </a:solidFill>
                <a:latin typeface="Calibri" pitchFamily="34" charset="0"/>
                <a:ea typeface="Calibri" pitchFamily="34" charset="-122"/>
                <a:cs typeface="Calibri" pitchFamily="34" charset="-120"/>
              </a:rPr>
              <a:t>Offshoring barely pays here</a:t>
            </a:r>
            <a:endParaRPr lang="en-US" sz="1500" dirty="0"/>
          </a:p>
        </p:txBody>
      </p:sp>
      <p:sp>
        <p:nvSpPr>
          <p:cNvPr id="14" name="Text 12"/>
          <p:cNvSpPr/>
          <p:nvPr/>
        </p:nvSpPr>
        <p:spPr>
          <a:xfrm>
            <a:off x="6455664"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China £26.08 against a UK £31.06 — a 19% gap. On the casting the same comparison was 55%.
</a:t>
            </a:r>
            <a:pPr indent="0" marL="0">
              <a:buNone/>
            </a:pPr>
            <a:r>
              <a:rPr lang="en-US" sz="1100" dirty="0">
                <a:solidFill>
                  <a:srgbClr val="3A4356"/>
                </a:solidFill>
                <a:latin typeface="Calibri" pitchFamily="34" charset="0"/>
                <a:ea typeface="Calibri" pitchFamily="34" charset="-122"/>
                <a:cs typeface="Calibri" pitchFamily="34" charset="-120"/>
              </a:rPr>
              <a:t>The tool, the packaging and the logistics do not get cheaper by moving the factory, and the resin is a world price. Only press hours and labour move — and this part has barely any labour in it.</a:t>
            </a:r>
            <a:endParaRPr lang="en-US" sz="1100" dirty="0"/>
          </a:p>
        </p:txBody>
      </p:sp>
      <p:sp>
        <p:nvSpPr>
          <p:cNvPr id="15" name="Shape 13"/>
          <p:cNvSpPr/>
          <p:nvPr/>
        </p:nvSpPr>
        <p:spPr>
          <a:xfrm>
            <a:off x="457200" y="3767328"/>
            <a:ext cx="11274552" cy="1298448"/>
          </a:xfrm>
          <a:prstGeom prst="roundRect">
            <a:avLst>
              <a:gd name="adj" fmla="val 7042"/>
            </a:avLst>
          </a:prstGeom>
          <a:solidFill>
            <a:srgbClr val="FFFFFF"/>
          </a:solidFill>
          <a:ln w="12700">
            <a:solidFill>
              <a:srgbClr val="DCE3EE"/>
            </a:solidFill>
            <a:prstDash val="solid"/>
          </a:ln>
        </p:spPr>
      </p:sp>
      <p:sp>
        <p:nvSpPr>
          <p:cNvPr id="16" name="Text 14"/>
          <p:cNvSpPr/>
          <p:nvPr/>
        </p:nvSpPr>
        <p:spPr>
          <a:xfrm>
            <a:off x="731520" y="3877056"/>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What each finding changes on Monday morning</a:t>
            </a:r>
            <a:endParaRPr lang="en-US" sz="1250" dirty="0"/>
          </a:p>
        </p:txBody>
      </p:sp>
      <p:sp>
        <p:nvSpPr>
          <p:cNvPr id="17" name="Text 15"/>
          <p:cNvSpPr/>
          <p:nvPr/>
        </p:nvSpPr>
        <p:spPr>
          <a:xfrm>
            <a:off x="731520" y="4169664"/>
            <a:ext cx="10744200" cy="804672"/>
          </a:xfrm>
          <a:prstGeom prst="rect">
            <a:avLst/>
          </a:prstGeom>
          <a:noFill/>
          <a:ln/>
        </p:spPr>
        <p:txBody>
          <a:bodyPr wrap="square" lIns="0" tIns="0" rIns="0" bIns="0" rtlCol="0" anchor="t"/>
          <a:lstStyle/>
          <a:p>
            <a:pPr indent="0" marL="0">
              <a:buNone/>
            </a:pPr>
            <a:r>
              <a:rPr lang="en-US" sz="1150" b="1" dirty="0">
                <a:solidFill>
                  <a:srgbClr val="0E8074"/>
                </a:solidFill>
                <a:latin typeface="Calibri" pitchFamily="34" charset="0"/>
                <a:ea typeface="Calibri" pitchFamily="34" charset="-122"/>
                <a:cs typeface="Calibri" pitchFamily="34" charset="-120"/>
              </a:rPr>
              <a:t>Finding 1 → </a:t>
            </a:r>
            <a:pPr indent="0" marL="0">
              <a:buNone/>
            </a:pPr>
            <a:r>
              <a:rPr lang="en-US" sz="1150" dirty="0">
                <a:solidFill>
                  <a:srgbClr val="3A4356"/>
                </a:solidFill>
                <a:latin typeface="Calibri" pitchFamily="34" charset="0"/>
                <a:ea typeface="Calibri" pitchFamily="34" charset="-122"/>
                <a:cs typeface="Calibri" pitchFamily="34" charset="-120"/>
              </a:rPr>
              <a:t>stop negotiating the piece price and negotiate the tooling deal: who owns the tool, over how many parts it is amortised, and what happens at end of programme. Over five years instead of one, this part is £15.14 rather than £26.08.
</a:t>
            </a:r>
            <a:pPr indent="0" marL="0">
              <a:buNone/>
            </a:pPr>
            <a:r>
              <a:rPr lang="en-US" sz="1150" b="1" dirty="0">
                <a:solidFill>
                  <a:srgbClr val="2E8B57"/>
                </a:solidFill>
                <a:latin typeface="Calibri" pitchFamily="34" charset="0"/>
                <a:ea typeface="Calibri" pitchFamily="34" charset="-122"/>
                <a:cs typeface="Calibri" pitchFamily="34" charset="-120"/>
              </a:rPr>
              <a:t>Finding 2 → </a:t>
            </a:r>
            <a:pPr indent="0" marL="0">
              <a:buNone/>
            </a:pPr>
            <a:r>
              <a:rPr lang="en-US" sz="1150" dirty="0">
                <a:solidFill>
                  <a:srgbClr val="3A4356"/>
                </a:solidFill>
                <a:latin typeface="Calibri" pitchFamily="34" charset="0"/>
                <a:ea typeface="Calibri" pitchFamily="34" charset="-122"/>
                <a:cs typeface="Calibri" pitchFamily="34" charset="-120"/>
              </a:rPr>
              <a:t>do not move a tooling-heavy part offshore expecting casting-sized savings. Nineteen percent, against freight, lead time, quality risk and tooling transfer cost, may not clear the bar at all.</a:t>
            </a:r>
            <a:endParaRPr lang="en-US" sz="1150" dirty="0"/>
          </a:p>
        </p:txBody>
      </p:sp>
      <p:sp>
        <p:nvSpPr>
          <p:cNvPr id="18" name="Shape 16"/>
          <p:cNvSpPr/>
          <p:nvPr/>
        </p:nvSpPr>
        <p:spPr>
          <a:xfrm>
            <a:off x="457200" y="5212080"/>
            <a:ext cx="11274552" cy="777240"/>
          </a:xfrm>
          <a:prstGeom prst="roundRect">
            <a:avLst>
              <a:gd name="adj" fmla="val 11765"/>
            </a:avLst>
          </a:prstGeom>
          <a:solidFill>
            <a:srgbClr val="16325C"/>
          </a:solidFill>
          <a:ln/>
        </p:spPr>
      </p:sp>
      <p:sp>
        <p:nvSpPr>
          <p:cNvPr id="19" name="Text 17"/>
          <p:cNvSpPr/>
          <p:nvPr/>
        </p:nvSpPr>
        <p:spPr>
          <a:xfrm>
            <a:off x="777240" y="5285232"/>
            <a:ext cx="10652760" cy="640080"/>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Ask yourself honestly:  </a:t>
            </a:r>
            <a:pPr indent="0" marL="0">
              <a:buNone/>
            </a:pPr>
            <a:r>
              <a:rPr lang="en-US" sz="1200" dirty="0">
                <a:solidFill>
                  <a:srgbClr val="FFFFFF"/>
                </a:solidFill>
                <a:latin typeface="Calibri" pitchFamily="34" charset="0"/>
                <a:ea typeface="Calibri" pitchFamily="34" charset="-122"/>
                <a:cs typeface="Calibri" pitchFamily="34" charset="-120"/>
              </a:rPr>
              <a:t>before this run, would anyone have told you the tool was 43% of a bumper, or that offshoring it saves only 19%? That is what the method is for.</a:t>
            </a:r>
            <a:endParaRPr lang="en-US" sz="1200" dirty="0"/>
          </a:p>
        </p:txBody>
      </p:sp>
      <p:sp>
        <p:nvSpPr>
          <p:cNvPr id="20" name="Text 1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1" name="Text 1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The Band, and What the Two Parts Teach</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tool, same method — two completely different answers about where the money is</a:t>
            </a:r>
            <a:endParaRPr lang="en-US" sz="1200" dirty="0"/>
          </a:p>
        </p:txBody>
      </p:sp>
      <p:sp>
        <p:nvSpPr>
          <p:cNvPr id="5" name="Shape 3"/>
          <p:cNvSpPr/>
          <p:nvPr/>
        </p:nvSpPr>
        <p:spPr>
          <a:xfrm>
            <a:off x="457200" y="1188720"/>
            <a:ext cx="5532120" cy="1719072"/>
          </a:xfrm>
          <a:prstGeom prst="roundRect">
            <a:avLst>
              <a:gd name="adj" fmla="val 5319"/>
            </a:avLst>
          </a:prstGeom>
          <a:solidFill>
            <a:srgbClr val="FFFFFF"/>
          </a:solidFill>
          <a:ln w="12700">
            <a:solidFill>
              <a:srgbClr val="DCE3EE"/>
            </a:solidFill>
            <a:prstDash val="solid"/>
          </a:ln>
        </p:spPr>
      </p:sp>
      <p:sp>
        <p:nvSpPr>
          <p:cNvPr id="6" name="Text 4"/>
          <p:cNvSpPr/>
          <p:nvPr/>
        </p:nvSpPr>
        <p:spPr>
          <a:xfrm>
            <a:off x="685800" y="1298448"/>
            <a:ext cx="5029200" cy="256032"/>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11 · The honest range on this part</a:t>
            </a:r>
            <a:endParaRPr lang="en-US" sz="1200" dirty="0"/>
          </a:p>
        </p:txBody>
      </p:sp>
      <p:sp>
        <p:nvSpPr>
          <p:cNvPr id="7" name="Shape 5"/>
          <p:cNvSpPr/>
          <p:nvPr/>
        </p:nvSpPr>
        <p:spPr>
          <a:xfrm>
            <a:off x="713232" y="1700784"/>
            <a:ext cx="5029200" cy="274320"/>
          </a:xfrm>
          <a:prstGeom prst="roundRect">
            <a:avLst>
              <a:gd name="adj" fmla="val 50000"/>
            </a:avLst>
          </a:prstGeom>
          <a:solidFill>
            <a:srgbClr val="DCE3EE"/>
          </a:solidFill>
          <a:ln/>
        </p:spPr>
      </p:sp>
      <p:sp>
        <p:nvSpPr>
          <p:cNvPr id="8" name="Shape 6"/>
          <p:cNvSpPr/>
          <p:nvPr/>
        </p:nvSpPr>
        <p:spPr>
          <a:xfrm>
            <a:off x="1630462" y="1700784"/>
            <a:ext cx="3192345" cy="274320"/>
          </a:xfrm>
          <a:prstGeom prst="roundRect">
            <a:avLst>
              <a:gd name="adj" fmla="val 50000"/>
            </a:avLst>
          </a:prstGeom>
          <a:solidFill>
            <a:srgbClr val="0E8074"/>
          </a:solidFill>
          <a:ln/>
        </p:spPr>
      </p:sp>
      <p:sp>
        <p:nvSpPr>
          <p:cNvPr id="9" name="Shape 7"/>
          <p:cNvSpPr/>
          <p:nvPr/>
        </p:nvSpPr>
        <p:spPr>
          <a:xfrm>
            <a:off x="3103474" y="1636776"/>
            <a:ext cx="47549" cy="402336"/>
          </a:xfrm>
          <a:prstGeom prst="rect">
            <a:avLst/>
          </a:prstGeom>
          <a:solidFill>
            <a:srgbClr val="16325C"/>
          </a:solidFill>
          <a:ln/>
        </p:spPr>
      </p:sp>
      <p:sp>
        <p:nvSpPr>
          <p:cNvPr id="10" name="Text 8"/>
          <p:cNvSpPr/>
          <p:nvPr/>
        </p:nvSpPr>
        <p:spPr>
          <a:xfrm>
            <a:off x="1081822" y="2048256"/>
            <a:ext cx="1097280" cy="201168"/>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P10  £19.83</a:t>
            </a:r>
            <a:endParaRPr lang="en-US" sz="850" dirty="0"/>
          </a:p>
        </p:txBody>
      </p:sp>
      <p:sp>
        <p:nvSpPr>
          <p:cNvPr id="11" name="Text 9"/>
          <p:cNvSpPr/>
          <p:nvPr/>
        </p:nvSpPr>
        <p:spPr>
          <a:xfrm>
            <a:off x="2578608" y="2048256"/>
            <a:ext cx="1097280" cy="201168"/>
          </a:xfrm>
          <a:prstGeom prst="rect">
            <a:avLst/>
          </a:prstGeom>
          <a:noFill/>
          <a:ln/>
        </p:spPr>
        <p:txBody>
          <a:bodyPr wrap="square" lIns="0" tIns="0" rIns="0" bIns="0" rtlCol="0" anchor="ctr"/>
          <a:lstStyle/>
          <a:p>
            <a:pPr algn="ctr" indent="0" marL="0">
              <a:buNone/>
            </a:pPr>
            <a:r>
              <a:rPr lang="en-US" sz="1000" b="1" dirty="0">
                <a:solidFill>
                  <a:srgbClr val="16325C"/>
                </a:solidFill>
                <a:latin typeface="Calibri" pitchFamily="34" charset="0"/>
                <a:ea typeface="Calibri" pitchFamily="34" charset="-122"/>
                <a:cs typeface="Calibri" pitchFamily="34" charset="-120"/>
              </a:rPr>
              <a:t>£26.08</a:t>
            </a:r>
            <a:endParaRPr lang="en-US" sz="1000" dirty="0"/>
          </a:p>
        </p:txBody>
      </p:sp>
      <p:sp>
        <p:nvSpPr>
          <p:cNvPr id="12" name="Text 10"/>
          <p:cNvSpPr/>
          <p:nvPr/>
        </p:nvSpPr>
        <p:spPr>
          <a:xfrm>
            <a:off x="4274167" y="2048256"/>
            <a:ext cx="1097280" cy="201168"/>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P90  £33.16</a:t>
            </a:r>
            <a:endParaRPr lang="en-US" sz="850" dirty="0"/>
          </a:p>
        </p:txBody>
      </p:sp>
      <p:sp>
        <p:nvSpPr>
          <p:cNvPr id="13" name="Text 11"/>
          <p:cNvSpPr/>
          <p:nvPr/>
        </p:nvSpPr>
        <p:spPr>
          <a:xfrm>
            <a:off x="713232" y="2340864"/>
            <a:ext cx="5029200" cy="512064"/>
          </a:xfrm>
          <a:prstGeom prst="rect">
            <a:avLst/>
          </a:prstGeom>
          <a:noFill/>
          <a:ln/>
        </p:spPr>
        <p:txBody>
          <a:bodyPr wrap="square" lIns="0" tIns="0" rIns="0" bIns="0" rtlCol="0" anchor="t"/>
          <a:lstStyle/>
          <a:p>
            <a:pPr indent="0" marL="0">
              <a:buNone/>
            </a:pPr>
            <a:r>
              <a:rPr lang="en-US" sz="940" i="1" dirty="0">
                <a:solidFill>
                  <a:srgbClr val="6B7280"/>
                </a:solidFill>
                <a:latin typeface="Calibri" pitchFamily="34" charset="0"/>
                <a:ea typeface="Calibri" pitchFamily="34" charset="-122"/>
                <a:cs typeface="Calibri" pitchFamily="34" charset="-120"/>
              </a:rPr>
              <a:t>±26% — wider than the casting, because so much of the answer rides on one tooling quotation.</a:t>
            </a:r>
            <a:endParaRPr lang="en-US" sz="940" dirty="0"/>
          </a:p>
        </p:txBody>
      </p:sp>
      <p:sp>
        <p:nvSpPr>
          <p:cNvPr id="14" name="Shape 12"/>
          <p:cNvSpPr/>
          <p:nvPr/>
        </p:nvSpPr>
        <p:spPr>
          <a:xfrm>
            <a:off x="6199632" y="1188720"/>
            <a:ext cx="5532120" cy="1719072"/>
          </a:xfrm>
          <a:prstGeom prst="roundRect">
            <a:avLst>
              <a:gd name="adj" fmla="val 5319"/>
            </a:avLst>
          </a:prstGeom>
          <a:solidFill>
            <a:srgbClr val="EAF6EF"/>
          </a:solidFill>
          <a:ln w="15875">
            <a:solidFill>
              <a:srgbClr val="2E8B57"/>
            </a:solidFill>
            <a:prstDash val="solid"/>
          </a:ln>
        </p:spPr>
      </p:sp>
      <p:sp>
        <p:nvSpPr>
          <p:cNvPr id="15" name="Text 13"/>
          <p:cNvSpPr/>
          <p:nvPr/>
        </p:nvSpPr>
        <p:spPr>
          <a:xfrm>
            <a:off x="6428232" y="1298448"/>
            <a:ext cx="5029200" cy="256032"/>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12 · The lever the engineer actually has</a:t>
            </a:r>
            <a:endParaRPr lang="en-US" sz="1200" dirty="0"/>
          </a:p>
        </p:txBody>
      </p:sp>
      <p:sp>
        <p:nvSpPr>
          <p:cNvPr id="16" name="Text 14"/>
          <p:cNvSpPr/>
          <p:nvPr/>
        </p:nvSpPr>
        <p:spPr>
          <a:xfrm>
            <a:off x="6428232" y="1591056"/>
            <a:ext cx="2286000" cy="201168"/>
          </a:xfrm>
          <a:prstGeom prst="rect">
            <a:avLst/>
          </a:prstGeom>
          <a:noFill/>
          <a:ln/>
        </p:spPr>
        <p:txBody>
          <a:bodyPr wrap="square" lIns="0" tIns="0" rIns="0" bIns="0" rtlCol="0" anchor="ctr"/>
          <a:lstStyle/>
          <a:p>
            <a:pPr indent="0" marL="0">
              <a:buNone/>
            </a:pPr>
            <a:r>
              <a:rPr lang="en-US" sz="850" b="1" dirty="0">
                <a:solidFill>
                  <a:srgbClr val="6B7280"/>
                </a:solidFill>
                <a:latin typeface="Calibri" pitchFamily="34" charset="0"/>
                <a:ea typeface="Calibri" pitchFamily="34" charset="-122"/>
                <a:cs typeface="Calibri" pitchFamily="34" charset="-120"/>
              </a:rPr>
              <a:t>Amortise the tool over</a:t>
            </a:r>
            <a:endParaRPr lang="en-US" sz="850" dirty="0"/>
          </a:p>
        </p:txBody>
      </p:sp>
      <p:sp>
        <p:nvSpPr>
          <p:cNvPr id="17" name="Text 15"/>
          <p:cNvSpPr/>
          <p:nvPr/>
        </p:nvSpPr>
        <p:spPr>
          <a:xfrm>
            <a:off x="8778240" y="1591056"/>
            <a:ext cx="11887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Tooling/part</a:t>
            </a:r>
            <a:endParaRPr lang="en-US" sz="850" dirty="0"/>
          </a:p>
        </p:txBody>
      </p:sp>
      <p:sp>
        <p:nvSpPr>
          <p:cNvPr id="18" name="Text 16"/>
          <p:cNvSpPr/>
          <p:nvPr/>
        </p:nvSpPr>
        <p:spPr>
          <a:xfrm>
            <a:off x="10058400" y="1591056"/>
            <a:ext cx="137160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Part cost</a:t>
            </a:r>
            <a:endParaRPr lang="en-US" sz="850" dirty="0"/>
          </a:p>
        </p:txBody>
      </p:sp>
      <p:sp>
        <p:nvSpPr>
          <p:cNvPr id="19" name="Text 17"/>
          <p:cNvSpPr/>
          <p:nvPr/>
        </p:nvSpPr>
        <p:spPr>
          <a:xfrm>
            <a:off x="6428232" y="1819656"/>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 year — 60,000 parts</a:t>
            </a:r>
            <a:endParaRPr lang="en-US" sz="1000" dirty="0"/>
          </a:p>
        </p:txBody>
      </p:sp>
      <p:sp>
        <p:nvSpPr>
          <p:cNvPr id="20" name="Text 18"/>
          <p:cNvSpPr/>
          <p:nvPr/>
        </p:nvSpPr>
        <p:spPr>
          <a:xfrm>
            <a:off x="8778240" y="1819656"/>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£11.20</a:t>
            </a:r>
            <a:endParaRPr lang="en-US" sz="1000" dirty="0"/>
          </a:p>
        </p:txBody>
      </p:sp>
      <p:sp>
        <p:nvSpPr>
          <p:cNvPr id="21" name="Text 19"/>
          <p:cNvSpPr/>
          <p:nvPr/>
        </p:nvSpPr>
        <p:spPr>
          <a:xfrm>
            <a:off x="10058400" y="1819656"/>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£26.08</a:t>
            </a:r>
            <a:endParaRPr lang="en-US" sz="1050" dirty="0"/>
          </a:p>
        </p:txBody>
      </p:sp>
      <p:sp>
        <p:nvSpPr>
          <p:cNvPr id="22" name="Text 20"/>
          <p:cNvSpPr/>
          <p:nvPr/>
        </p:nvSpPr>
        <p:spPr>
          <a:xfrm>
            <a:off x="6428232" y="2084832"/>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3 years — 180,000</a:t>
            </a:r>
            <a:endParaRPr lang="en-US" sz="1000" dirty="0"/>
          </a:p>
        </p:txBody>
      </p:sp>
      <p:sp>
        <p:nvSpPr>
          <p:cNvPr id="23" name="Text 21"/>
          <p:cNvSpPr/>
          <p:nvPr/>
        </p:nvSpPr>
        <p:spPr>
          <a:xfrm>
            <a:off x="8778240" y="2084832"/>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£3.73</a:t>
            </a:r>
            <a:endParaRPr lang="en-US" sz="1000" dirty="0"/>
          </a:p>
        </p:txBody>
      </p:sp>
      <p:sp>
        <p:nvSpPr>
          <p:cNvPr id="24" name="Text 22"/>
          <p:cNvSpPr/>
          <p:nvPr/>
        </p:nvSpPr>
        <p:spPr>
          <a:xfrm>
            <a:off x="10058400" y="2084832"/>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£16.97</a:t>
            </a:r>
            <a:endParaRPr lang="en-US" sz="1050" dirty="0"/>
          </a:p>
        </p:txBody>
      </p:sp>
      <p:sp>
        <p:nvSpPr>
          <p:cNvPr id="25" name="Text 23"/>
          <p:cNvSpPr/>
          <p:nvPr/>
        </p:nvSpPr>
        <p:spPr>
          <a:xfrm>
            <a:off x="6428232" y="2350008"/>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 years — 300,000</a:t>
            </a:r>
            <a:endParaRPr lang="en-US" sz="1000" dirty="0"/>
          </a:p>
        </p:txBody>
      </p:sp>
      <p:sp>
        <p:nvSpPr>
          <p:cNvPr id="26" name="Text 24"/>
          <p:cNvSpPr/>
          <p:nvPr/>
        </p:nvSpPr>
        <p:spPr>
          <a:xfrm>
            <a:off x="8778240" y="2350008"/>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£2.24</a:t>
            </a:r>
            <a:endParaRPr lang="en-US" sz="1000" dirty="0"/>
          </a:p>
        </p:txBody>
      </p:sp>
      <p:sp>
        <p:nvSpPr>
          <p:cNvPr id="27" name="Text 25"/>
          <p:cNvSpPr/>
          <p:nvPr/>
        </p:nvSpPr>
        <p:spPr>
          <a:xfrm>
            <a:off x="10058400" y="2350008"/>
            <a:ext cx="1371600" cy="237744"/>
          </a:xfrm>
          <a:prstGeom prst="rect">
            <a:avLst/>
          </a:prstGeom>
          <a:noFill/>
          <a:ln/>
        </p:spPr>
        <p:txBody>
          <a:bodyPr wrap="square" lIns="0" tIns="0" rIns="0" bIns="0" rtlCol="0" anchor="ctr"/>
          <a:lstStyle/>
          <a:p>
            <a:pPr algn="r" indent="0" marL="0">
              <a:buNone/>
            </a:pPr>
            <a:r>
              <a:rPr lang="en-US" sz="1050" b="1" dirty="0">
                <a:solidFill>
                  <a:srgbClr val="2E8B57"/>
                </a:solidFill>
                <a:latin typeface="Calibri" pitchFamily="34" charset="0"/>
                <a:ea typeface="Calibri" pitchFamily="34" charset="-122"/>
                <a:cs typeface="Calibri" pitchFamily="34" charset="-120"/>
              </a:rPr>
              <a:t>£15.14</a:t>
            </a:r>
            <a:endParaRPr lang="en-US" sz="1050" dirty="0"/>
          </a:p>
        </p:txBody>
      </p:sp>
      <p:sp>
        <p:nvSpPr>
          <p:cNvPr id="28" name="Text 26"/>
          <p:cNvSpPr/>
          <p:nvPr/>
        </p:nvSpPr>
        <p:spPr>
          <a:xfrm>
            <a:off x="6428232" y="2633472"/>
            <a:ext cx="5029200" cy="237744"/>
          </a:xfrm>
          <a:prstGeom prst="rect">
            <a:avLst/>
          </a:prstGeom>
          <a:noFill/>
          <a:ln/>
        </p:spPr>
        <p:txBody>
          <a:bodyPr wrap="square" lIns="0" tIns="0" rIns="0" bIns="0" rtlCol="0" anchor="ctr"/>
          <a:lstStyle/>
          <a:p>
            <a:pPr indent="0" marL="0">
              <a:buNone/>
            </a:pPr>
            <a:r>
              <a:rPr lang="en-US" sz="900" b="1" i="1" dirty="0">
                <a:solidFill>
                  <a:srgbClr val="2E8B57"/>
                </a:solidFill>
                <a:latin typeface="Calibri" pitchFamily="34" charset="0"/>
                <a:ea typeface="Calibri" pitchFamily="34" charset="-122"/>
                <a:cs typeface="Calibri" pitchFamily="34" charset="-120"/>
              </a:rPr>
              <a:t>Same part, same supplier — a commercial decision worth £10.94.</a:t>
            </a:r>
            <a:endParaRPr lang="en-US" sz="900" dirty="0"/>
          </a:p>
        </p:txBody>
      </p:sp>
      <p:sp>
        <p:nvSpPr>
          <p:cNvPr id="29" name="Shape 27"/>
          <p:cNvSpPr/>
          <p:nvPr/>
        </p:nvSpPr>
        <p:spPr>
          <a:xfrm>
            <a:off x="457200" y="3054096"/>
            <a:ext cx="11274552" cy="2212848"/>
          </a:xfrm>
          <a:prstGeom prst="roundRect">
            <a:avLst>
              <a:gd name="adj" fmla="val 4132"/>
            </a:avLst>
          </a:prstGeom>
          <a:solidFill>
            <a:srgbClr val="FFFFFF"/>
          </a:solidFill>
          <a:ln w="19050">
            <a:solidFill>
              <a:srgbClr val="16325C"/>
            </a:solidFill>
            <a:prstDash val="solid"/>
          </a:ln>
        </p:spPr>
      </p:sp>
      <p:sp>
        <p:nvSpPr>
          <p:cNvPr id="30" name="Text 28"/>
          <p:cNvSpPr/>
          <p:nvPr/>
        </p:nvSpPr>
        <p:spPr>
          <a:xfrm>
            <a:off x="731520" y="3154680"/>
            <a:ext cx="10515600" cy="256032"/>
          </a:xfrm>
          <a:prstGeom prst="rect">
            <a:avLst/>
          </a:prstGeom>
          <a:noFill/>
          <a:ln/>
        </p:spPr>
        <p:txBody>
          <a:bodyPr wrap="square" lIns="0" tIns="0" rIns="0" bIns="0" rtlCol="0" anchor="ctr"/>
          <a:lstStyle/>
          <a:p>
            <a:pPr indent="0" marL="0">
              <a:buNone/>
            </a:pPr>
            <a:r>
              <a:rPr lang="en-US" sz="1200" b="1" spc="30" kern="0" dirty="0">
                <a:solidFill>
                  <a:srgbClr val="16325C"/>
                </a:solidFill>
                <a:latin typeface="Calibri" pitchFamily="34" charset="0"/>
                <a:ea typeface="Calibri" pitchFamily="34" charset="-122"/>
                <a:cs typeface="Calibri" pitchFamily="34" charset="-120"/>
              </a:rPr>
              <a:t>TWO PARTS, ONE METHOD — and the money is in a completely different place</a:t>
            </a:r>
            <a:endParaRPr lang="en-US" sz="1200" dirty="0"/>
          </a:p>
        </p:txBody>
      </p:sp>
      <p:sp>
        <p:nvSpPr>
          <p:cNvPr id="31" name="Text 29"/>
          <p:cNvSpPr/>
          <p:nvPr/>
        </p:nvSpPr>
        <p:spPr>
          <a:xfrm>
            <a:off x="731520" y="3456432"/>
            <a:ext cx="2560320" cy="219456"/>
          </a:xfrm>
          <a:prstGeom prst="rect">
            <a:avLst/>
          </a:prstGeom>
          <a:noFill/>
          <a:ln/>
        </p:spPr>
        <p:txBody>
          <a:bodyPr wrap="square" lIns="0" tIns="0" rIns="0" bIns="0" rtlCol="0" anchor="ctr"/>
          <a:lstStyle/>
          <a:p>
            <a:pPr indent="0" marL="0">
              <a:buNone/>
            </a:pPr>
            <a:endParaRPr lang="en-US" sz="900" dirty="0"/>
          </a:p>
        </p:txBody>
      </p:sp>
      <p:sp>
        <p:nvSpPr>
          <p:cNvPr id="32" name="Text 30"/>
          <p:cNvSpPr/>
          <p:nvPr/>
        </p:nvSpPr>
        <p:spPr>
          <a:xfrm>
            <a:off x="3383280" y="3456432"/>
            <a:ext cx="21031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Die-cast housing</a:t>
            </a:r>
            <a:endParaRPr lang="en-US" sz="900" dirty="0"/>
          </a:p>
        </p:txBody>
      </p:sp>
      <p:sp>
        <p:nvSpPr>
          <p:cNvPr id="33" name="Text 31"/>
          <p:cNvSpPr/>
          <p:nvPr/>
        </p:nvSpPr>
        <p:spPr>
          <a:xfrm>
            <a:off x="5577840" y="3456432"/>
            <a:ext cx="21031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Bumper fascia</a:t>
            </a:r>
            <a:endParaRPr lang="en-US" sz="900" dirty="0"/>
          </a:p>
        </p:txBody>
      </p:sp>
      <p:sp>
        <p:nvSpPr>
          <p:cNvPr id="34" name="Text 32"/>
          <p:cNvSpPr/>
          <p:nvPr/>
        </p:nvSpPr>
        <p:spPr>
          <a:xfrm>
            <a:off x="7772400" y="3456432"/>
            <a:ext cx="39319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What it means</a:t>
            </a:r>
            <a:endParaRPr lang="en-US" sz="900" dirty="0"/>
          </a:p>
        </p:txBody>
      </p:sp>
      <p:sp>
        <p:nvSpPr>
          <p:cNvPr id="35" name="Shape 33"/>
          <p:cNvSpPr/>
          <p:nvPr/>
        </p:nvSpPr>
        <p:spPr>
          <a:xfrm>
            <a:off x="658368" y="3685032"/>
            <a:ext cx="10881360" cy="283464"/>
          </a:xfrm>
          <a:prstGeom prst="rect">
            <a:avLst/>
          </a:prstGeom>
          <a:solidFill>
            <a:srgbClr val="F4F7FB"/>
          </a:solidFill>
          <a:ln/>
        </p:spPr>
      </p:sp>
      <p:sp>
        <p:nvSpPr>
          <p:cNvPr id="36" name="Text 34"/>
          <p:cNvSpPr/>
          <p:nvPr/>
        </p:nvSpPr>
        <p:spPr>
          <a:xfrm>
            <a:off x="731520" y="3703320"/>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Making the part</a:t>
            </a:r>
            <a:endParaRPr lang="en-US" sz="940" dirty="0"/>
          </a:p>
        </p:txBody>
      </p:sp>
      <p:sp>
        <p:nvSpPr>
          <p:cNvPr id="37" name="Text 35"/>
          <p:cNvSpPr/>
          <p:nvPr/>
        </p:nvSpPr>
        <p:spPr>
          <a:xfrm>
            <a:off x="3383280" y="3703320"/>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£32.57</a:t>
            </a:r>
            <a:endParaRPr lang="en-US" sz="940" dirty="0"/>
          </a:p>
        </p:txBody>
      </p:sp>
      <p:sp>
        <p:nvSpPr>
          <p:cNvPr id="38" name="Text 36"/>
          <p:cNvSpPr/>
          <p:nvPr/>
        </p:nvSpPr>
        <p:spPr>
          <a:xfrm>
            <a:off x="5577840" y="3703320"/>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£5.67</a:t>
            </a:r>
            <a:endParaRPr lang="en-US" sz="940" dirty="0"/>
          </a:p>
        </p:txBody>
      </p:sp>
      <p:sp>
        <p:nvSpPr>
          <p:cNvPr id="39" name="Text 37"/>
          <p:cNvSpPr/>
          <p:nvPr/>
        </p:nvSpPr>
        <p:spPr>
          <a:xfrm>
            <a:off x="7772400" y="3703320"/>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One shot beats four machining operations</a:t>
            </a:r>
            <a:endParaRPr lang="en-US" sz="940" dirty="0"/>
          </a:p>
        </p:txBody>
      </p:sp>
      <p:sp>
        <p:nvSpPr>
          <p:cNvPr id="40" name="Text 38"/>
          <p:cNvSpPr/>
          <p:nvPr/>
        </p:nvSpPr>
        <p:spPr>
          <a:xfrm>
            <a:off x="731520" y="4005072"/>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Tooling per part</a:t>
            </a:r>
            <a:endParaRPr lang="en-US" sz="940" dirty="0"/>
          </a:p>
        </p:txBody>
      </p:sp>
      <p:sp>
        <p:nvSpPr>
          <p:cNvPr id="41" name="Text 39"/>
          <p:cNvSpPr/>
          <p:nvPr/>
        </p:nvSpPr>
        <p:spPr>
          <a:xfrm>
            <a:off x="3383280" y="4005072"/>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£2.17</a:t>
            </a:r>
            <a:endParaRPr lang="en-US" sz="940" dirty="0"/>
          </a:p>
        </p:txBody>
      </p:sp>
      <p:sp>
        <p:nvSpPr>
          <p:cNvPr id="42" name="Text 40"/>
          <p:cNvSpPr/>
          <p:nvPr/>
        </p:nvSpPr>
        <p:spPr>
          <a:xfrm>
            <a:off x="5577840" y="4005072"/>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£11.20</a:t>
            </a:r>
            <a:endParaRPr lang="en-US" sz="940" dirty="0"/>
          </a:p>
        </p:txBody>
      </p:sp>
      <p:sp>
        <p:nvSpPr>
          <p:cNvPr id="43" name="Text 41"/>
          <p:cNvSpPr/>
          <p:nvPr/>
        </p:nvSpPr>
        <p:spPr>
          <a:xfrm>
            <a:off x="7772400" y="4005072"/>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mould, not the machine, is the cost</a:t>
            </a:r>
            <a:endParaRPr lang="en-US" sz="940" dirty="0"/>
          </a:p>
        </p:txBody>
      </p:sp>
      <p:sp>
        <p:nvSpPr>
          <p:cNvPr id="44" name="Shape 42"/>
          <p:cNvSpPr/>
          <p:nvPr/>
        </p:nvSpPr>
        <p:spPr>
          <a:xfrm>
            <a:off x="658368" y="4288536"/>
            <a:ext cx="10881360" cy="283464"/>
          </a:xfrm>
          <a:prstGeom prst="rect">
            <a:avLst/>
          </a:prstGeom>
          <a:solidFill>
            <a:srgbClr val="F4F7FB"/>
          </a:solidFill>
          <a:ln/>
        </p:spPr>
      </p:sp>
      <p:sp>
        <p:nvSpPr>
          <p:cNvPr id="45" name="Text 43"/>
          <p:cNvSpPr/>
          <p:nvPr/>
        </p:nvSpPr>
        <p:spPr>
          <a:xfrm>
            <a:off x="731520" y="4306824"/>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Biggest single bucket</a:t>
            </a:r>
            <a:endParaRPr lang="en-US" sz="940" dirty="0"/>
          </a:p>
        </p:txBody>
      </p:sp>
      <p:sp>
        <p:nvSpPr>
          <p:cNvPr id="46" name="Text 44"/>
          <p:cNvSpPr/>
          <p:nvPr/>
        </p:nvSpPr>
        <p:spPr>
          <a:xfrm>
            <a:off x="3383280" y="4306824"/>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Process 37%</a:t>
            </a:r>
            <a:endParaRPr lang="en-US" sz="940" dirty="0"/>
          </a:p>
        </p:txBody>
      </p:sp>
      <p:sp>
        <p:nvSpPr>
          <p:cNvPr id="47" name="Text 45"/>
          <p:cNvSpPr/>
          <p:nvPr/>
        </p:nvSpPr>
        <p:spPr>
          <a:xfrm>
            <a:off x="5577840" y="4306824"/>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Tooling 43%</a:t>
            </a:r>
            <a:endParaRPr lang="en-US" sz="940" dirty="0"/>
          </a:p>
        </p:txBody>
      </p:sp>
      <p:sp>
        <p:nvSpPr>
          <p:cNvPr id="48" name="Text 46"/>
          <p:cNvSpPr/>
          <p:nvPr/>
        </p:nvSpPr>
        <p:spPr>
          <a:xfrm>
            <a:off x="7772400" y="4306824"/>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Different bucket, so a different negotiation</a:t>
            </a:r>
            <a:endParaRPr lang="en-US" sz="940" dirty="0"/>
          </a:p>
        </p:txBody>
      </p:sp>
      <p:sp>
        <p:nvSpPr>
          <p:cNvPr id="49" name="Text 47"/>
          <p:cNvSpPr/>
          <p:nvPr/>
        </p:nvSpPr>
        <p:spPr>
          <a:xfrm>
            <a:off x="731520" y="4608576"/>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China vs UK gap</a:t>
            </a:r>
            <a:endParaRPr lang="en-US" sz="940" dirty="0"/>
          </a:p>
        </p:txBody>
      </p:sp>
      <p:sp>
        <p:nvSpPr>
          <p:cNvPr id="50" name="Text 48"/>
          <p:cNvSpPr/>
          <p:nvPr/>
        </p:nvSpPr>
        <p:spPr>
          <a:xfrm>
            <a:off x="3383280" y="4608576"/>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55%</a:t>
            </a:r>
            <a:endParaRPr lang="en-US" sz="940" dirty="0"/>
          </a:p>
        </p:txBody>
      </p:sp>
      <p:sp>
        <p:nvSpPr>
          <p:cNvPr id="51" name="Text 49"/>
          <p:cNvSpPr/>
          <p:nvPr/>
        </p:nvSpPr>
        <p:spPr>
          <a:xfrm>
            <a:off x="5577840" y="4608576"/>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19%</a:t>
            </a:r>
            <a:endParaRPr lang="en-US" sz="940" dirty="0"/>
          </a:p>
        </p:txBody>
      </p:sp>
      <p:sp>
        <p:nvSpPr>
          <p:cNvPr id="52" name="Text 50"/>
          <p:cNvSpPr/>
          <p:nvPr/>
        </p:nvSpPr>
        <p:spPr>
          <a:xfrm>
            <a:off x="7772400" y="4608576"/>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Offshoring pays far less on a tooling-heavy part</a:t>
            </a:r>
            <a:endParaRPr lang="en-US" sz="940" dirty="0"/>
          </a:p>
        </p:txBody>
      </p:sp>
      <p:sp>
        <p:nvSpPr>
          <p:cNvPr id="53" name="Shape 51"/>
          <p:cNvSpPr/>
          <p:nvPr/>
        </p:nvSpPr>
        <p:spPr>
          <a:xfrm>
            <a:off x="658368" y="4892040"/>
            <a:ext cx="10881360" cy="283464"/>
          </a:xfrm>
          <a:prstGeom prst="rect">
            <a:avLst/>
          </a:prstGeom>
          <a:solidFill>
            <a:srgbClr val="F4F7FB"/>
          </a:solidFill>
          <a:ln/>
        </p:spPr>
      </p:sp>
      <p:sp>
        <p:nvSpPr>
          <p:cNvPr id="54" name="Text 52"/>
          <p:cNvSpPr/>
          <p:nvPr/>
        </p:nvSpPr>
        <p:spPr>
          <a:xfrm>
            <a:off x="731520" y="4910328"/>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Where to push a supplier</a:t>
            </a:r>
            <a:endParaRPr lang="en-US" sz="940" dirty="0"/>
          </a:p>
        </p:txBody>
      </p:sp>
      <p:sp>
        <p:nvSpPr>
          <p:cNvPr id="55" name="Text 53"/>
          <p:cNvSpPr/>
          <p:nvPr/>
        </p:nvSpPr>
        <p:spPr>
          <a:xfrm>
            <a:off x="3383280" y="4910328"/>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Cycle time, fixturing</a:t>
            </a:r>
            <a:endParaRPr lang="en-US" sz="940" dirty="0"/>
          </a:p>
        </p:txBody>
      </p:sp>
      <p:sp>
        <p:nvSpPr>
          <p:cNvPr id="56" name="Text 54"/>
          <p:cNvSpPr/>
          <p:nvPr/>
        </p:nvSpPr>
        <p:spPr>
          <a:xfrm>
            <a:off x="5577840" y="4910328"/>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Programme volume, wall thickness</a:t>
            </a:r>
            <a:endParaRPr lang="en-US" sz="940" dirty="0"/>
          </a:p>
        </p:txBody>
      </p:sp>
      <p:sp>
        <p:nvSpPr>
          <p:cNvPr id="57" name="Text 55"/>
          <p:cNvSpPr/>
          <p:nvPr/>
        </p:nvSpPr>
        <p:spPr>
          <a:xfrm>
            <a:off x="7772400" y="4910328"/>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tool tells you which lever exists</a:t>
            </a:r>
            <a:endParaRPr lang="en-US" sz="940" dirty="0"/>
          </a:p>
        </p:txBody>
      </p:sp>
      <p:sp>
        <p:nvSpPr>
          <p:cNvPr id="58" name="Shape 56"/>
          <p:cNvSpPr/>
          <p:nvPr/>
        </p:nvSpPr>
        <p:spPr>
          <a:xfrm>
            <a:off x="457200" y="5413248"/>
            <a:ext cx="11274552" cy="713232"/>
          </a:xfrm>
          <a:prstGeom prst="roundRect">
            <a:avLst>
              <a:gd name="adj" fmla="val 12821"/>
            </a:avLst>
          </a:prstGeom>
          <a:solidFill>
            <a:srgbClr val="16325C"/>
          </a:solidFill>
          <a:ln/>
        </p:spPr>
      </p:sp>
      <p:sp>
        <p:nvSpPr>
          <p:cNvPr id="59" name="Text 57"/>
          <p:cNvSpPr/>
          <p:nvPr/>
        </p:nvSpPr>
        <p:spPr>
          <a:xfrm>
            <a:off x="777240" y="548640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This is the whole argument for the tool:  </a:t>
            </a:r>
            <a:pPr indent="0" marL="0">
              <a:buNone/>
            </a:pPr>
            <a:r>
              <a:rPr lang="en-US" sz="1200" dirty="0">
                <a:solidFill>
                  <a:srgbClr val="FFFFFF"/>
                </a:solidFill>
                <a:latin typeface="Calibri" pitchFamily="34" charset="0"/>
                <a:ea typeface="Calibri" pitchFamily="34" charset="-122"/>
                <a:cs typeface="Calibri" pitchFamily="34" charset="-120"/>
              </a:rPr>
              <a:t>nobody could have told you in advance that the money was in machining on one part and in tooling on the other. The method finds it. Every time, on any part, without anyone having to already know the answer.</a:t>
            </a:r>
            <a:endParaRPr lang="en-US" sz="12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03A2E"/>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This Tool Cannot Do</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limits, from us rather than from a sceptic in the room</a:t>
            </a:r>
            <a:endParaRPr lang="en-US" sz="1200" dirty="0"/>
          </a:p>
        </p:txBody>
      </p:sp>
      <p:sp>
        <p:nvSpPr>
          <p:cNvPr id="5" name="Shape 3"/>
          <p:cNvSpPr/>
          <p:nvPr/>
        </p:nvSpPr>
        <p:spPr>
          <a:xfrm>
            <a:off x="457200" y="1133856"/>
            <a:ext cx="5486400" cy="1335024"/>
          </a:xfrm>
          <a:prstGeom prst="roundRect">
            <a:avLst>
              <a:gd name="adj" fmla="val 6164"/>
            </a:avLst>
          </a:prstGeom>
          <a:solidFill>
            <a:srgbClr val="FFFFFF"/>
          </a:solidFill>
          <a:ln w="12700">
            <a:solidFill>
              <a:srgbClr val="DCE3EE"/>
            </a:solidFill>
            <a:prstDash val="solid"/>
          </a:ln>
        </p:spPr>
      </p:sp>
      <p:pic>
        <p:nvPicPr>
          <p:cNvPr id="6" name="Image 0" descr="preencoded.png">    </p:cNvPr>
          <p:cNvPicPr>
            <a:picLocks noChangeAspect="1"/>
          </p:cNvPicPr>
          <p:nvPr/>
        </p:nvPicPr>
        <p:blipFill>
          <a:blip r:embed="rId1"/>
          <a:stretch>
            <a:fillRect/>
          </a:stretch>
        </p:blipFill>
        <p:spPr>
          <a:xfrm>
            <a:off x="658368" y="1280160"/>
            <a:ext cx="155448" cy="155448"/>
          </a:xfrm>
          <a:prstGeom prst="rect">
            <a:avLst/>
          </a:prstGeom>
        </p:spPr>
      </p:pic>
      <p:sp>
        <p:nvSpPr>
          <p:cNvPr id="7" name="Text 4"/>
          <p:cNvSpPr/>
          <p:nvPr/>
        </p:nvSpPr>
        <p:spPr>
          <a:xfrm>
            <a:off x="914400"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an assembly from one CAD file</a:t>
            </a:r>
            <a:endParaRPr lang="en-US" sz="1150" dirty="0"/>
          </a:p>
        </p:txBody>
      </p:sp>
      <p:sp>
        <p:nvSpPr>
          <p:cNvPr id="8" name="Text 5"/>
          <p:cNvSpPr/>
          <p:nvPr/>
        </p:nvSpPr>
        <p:spPr>
          <a:xfrm>
            <a:off x="658368"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rolls up an assembly from parts you have already costed. It cannot open one assembly model, work out which parts are in it, how they join, or what the assembly labour is. Multi-part programmes still need a person to define the structure.</a:t>
            </a:r>
            <a:endParaRPr lang="en-US" sz="940" dirty="0"/>
          </a:p>
        </p:txBody>
      </p:sp>
      <p:sp>
        <p:nvSpPr>
          <p:cNvPr id="9" name="Shape 6"/>
          <p:cNvSpPr/>
          <p:nvPr/>
        </p:nvSpPr>
        <p:spPr>
          <a:xfrm>
            <a:off x="6245352" y="1133856"/>
            <a:ext cx="5486400" cy="1335024"/>
          </a:xfrm>
          <a:prstGeom prst="roundRect">
            <a:avLst>
              <a:gd name="adj" fmla="val 6164"/>
            </a:avLst>
          </a:prstGeom>
          <a:solidFill>
            <a:srgbClr val="FFFFFF"/>
          </a:solidFill>
          <a:ln w="12700">
            <a:solidFill>
              <a:srgbClr val="DCE3EE"/>
            </a:solidFill>
            <a:prstDash val="solid"/>
          </a:ln>
        </p:spPr>
      </p:sp>
      <p:pic>
        <p:nvPicPr>
          <p:cNvPr id="10" name="Image 1" descr="preencoded.png">    </p:cNvPr>
          <p:cNvPicPr>
            <a:picLocks noChangeAspect="1"/>
          </p:cNvPicPr>
          <p:nvPr/>
        </p:nvPicPr>
        <p:blipFill>
          <a:blip r:embed="rId2"/>
          <a:stretch>
            <a:fillRect/>
          </a:stretch>
        </p:blipFill>
        <p:spPr>
          <a:xfrm>
            <a:off x="6446520" y="1280160"/>
            <a:ext cx="155448" cy="155448"/>
          </a:xfrm>
          <a:prstGeom prst="rect">
            <a:avLst/>
          </a:prstGeom>
        </p:spPr>
      </p:pic>
      <p:sp>
        <p:nvSpPr>
          <p:cNvPr id="11" name="Text 7"/>
          <p:cNvSpPr/>
          <p:nvPr/>
        </p:nvSpPr>
        <p:spPr>
          <a:xfrm>
            <a:off x="6702552"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Read a tolerance or a surface finish</a:t>
            </a:r>
            <a:endParaRPr lang="en-US" sz="1150" dirty="0"/>
          </a:p>
        </p:txBody>
      </p:sp>
      <p:sp>
        <p:nvSpPr>
          <p:cNvPr id="12" name="Text 8"/>
          <p:cNvSpPr/>
          <p:nvPr/>
        </p:nvSpPr>
        <p:spPr>
          <a:xfrm>
            <a:off x="6446520"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The kernel measures shape, exactly. It cannot see a ±0.02 callout, a Ra value or a material spec unless the CAD file carries the annotation — and most do not. Those still come off the drawing or from our engineer.</a:t>
            </a:r>
            <a:endParaRPr lang="en-US" sz="940" dirty="0"/>
          </a:p>
        </p:txBody>
      </p:sp>
      <p:sp>
        <p:nvSpPr>
          <p:cNvPr id="13" name="Shape 9"/>
          <p:cNvSpPr/>
          <p:nvPr/>
        </p:nvSpPr>
        <p:spPr>
          <a:xfrm>
            <a:off x="457200" y="2615184"/>
            <a:ext cx="5486400" cy="1335024"/>
          </a:xfrm>
          <a:prstGeom prst="roundRect">
            <a:avLst>
              <a:gd name="adj" fmla="val 6164"/>
            </a:avLst>
          </a:prstGeom>
          <a:solidFill>
            <a:srgbClr val="FFFFFF"/>
          </a:solidFill>
          <a:ln w="12700">
            <a:solidFill>
              <a:srgbClr val="DCE3EE"/>
            </a:solidFill>
            <a:prstDash val="solid"/>
          </a:ln>
        </p:spPr>
      </p:sp>
      <p:pic>
        <p:nvPicPr>
          <p:cNvPr id="14" name="Image 2" descr="preencoded.png">    </p:cNvPr>
          <p:cNvPicPr>
            <a:picLocks noChangeAspect="1"/>
          </p:cNvPicPr>
          <p:nvPr/>
        </p:nvPicPr>
        <p:blipFill>
          <a:blip r:embed="rId3"/>
          <a:stretch>
            <a:fillRect/>
          </a:stretch>
        </p:blipFill>
        <p:spPr>
          <a:xfrm>
            <a:off x="658368" y="2761488"/>
            <a:ext cx="155448" cy="155448"/>
          </a:xfrm>
          <a:prstGeom prst="rect">
            <a:avLst/>
          </a:prstGeom>
        </p:spPr>
      </p:pic>
      <p:sp>
        <p:nvSpPr>
          <p:cNvPr id="15" name="Text 10"/>
          <p:cNvSpPr/>
          <p:nvPr/>
        </p:nvSpPr>
        <p:spPr>
          <a:xfrm>
            <a:off x="914400"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Guarantee the AI classified correctly</a:t>
            </a:r>
            <a:endParaRPr lang="en-US" sz="1150" dirty="0"/>
          </a:p>
        </p:txBody>
      </p:sp>
      <p:sp>
        <p:nvSpPr>
          <p:cNvPr id="16" name="Text 11"/>
          <p:cNvSpPr/>
          <p:nvPr/>
        </p:nvSpPr>
        <p:spPr>
          <a:xfrm>
            <a:off x="658368"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can misread an unusual part. That is why it carries a confidence score, why nine checks run automatically, and why a person signs the result. We claim no AI-invented number becomes money — not that the AI is never wrong.</a:t>
            </a:r>
            <a:endParaRPr lang="en-US" sz="940" dirty="0"/>
          </a:p>
        </p:txBody>
      </p:sp>
      <p:sp>
        <p:nvSpPr>
          <p:cNvPr id="17" name="Shape 12"/>
          <p:cNvSpPr/>
          <p:nvPr/>
        </p:nvSpPr>
        <p:spPr>
          <a:xfrm>
            <a:off x="6245352" y="2615184"/>
            <a:ext cx="5486400" cy="1335024"/>
          </a:xfrm>
          <a:prstGeom prst="roundRect">
            <a:avLst>
              <a:gd name="adj" fmla="val 6164"/>
            </a:avLst>
          </a:prstGeom>
          <a:solidFill>
            <a:srgbClr val="FFFFFF"/>
          </a:solidFill>
          <a:ln w="12700">
            <a:solidFill>
              <a:srgbClr val="DCE3EE"/>
            </a:solidFill>
            <a:prstDash val="solid"/>
          </a:ln>
        </p:spPr>
      </p:sp>
      <p:pic>
        <p:nvPicPr>
          <p:cNvPr id="18" name="Image 3" descr="preencoded.png">    </p:cNvPr>
          <p:cNvPicPr>
            <a:picLocks noChangeAspect="1"/>
          </p:cNvPicPr>
          <p:nvPr/>
        </p:nvPicPr>
        <p:blipFill>
          <a:blip r:embed="rId4"/>
          <a:stretch>
            <a:fillRect/>
          </a:stretch>
        </p:blipFill>
        <p:spPr>
          <a:xfrm>
            <a:off x="6446520" y="2761488"/>
            <a:ext cx="155448" cy="155448"/>
          </a:xfrm>
          <a:prstGeom prst="rect">
            <a:avLst/>
          </a:prstGeom>
        </p:spPr>
      </p:pic>
      <p:sp>
        <p:nvSpPr>
          <p:cNvPr id="19" name="Text 13"/>
          <p:cNvSpPr/>
          <p:nvPr/>
        </p:nvSpPr>
        <p:spPr>
          <a:xfrm>
            <a:off x="6702552"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Replace a quotation</a:t>
            </a:r>
            <a:endParaRPr lang="en-US" sz="1150" dirty="0"/>
          </a:p>
        </p:txBody>
      </p:sp>
      <p:sp>
        <p:nvSpPr>
          <p:cNvPr id="20" name="Text 14"/>
          <p:cNvSpPr/>
          <p:nvPr/>
        </p:nvSpPr>
        <p:spPr>
          <a:xfrm>
            <a:off x="6446520"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This is a should-cost: what the part ought to cost on stated assumptions. It is a negotiating instrument and a design-feedback loop, not a price, and not a substitute for an RFQ.</a:t>
            </a:r>
            <a:endParaRPr lang="en-US" sz="940" dirty="0"/>
          </a:p>
        </p:txBody>
      </p:sp>
      <p:sp>
        <p:nvSpPr>
          <p:cNvPr id="21" name="Shape 15"/>
          <p:cNvSpPr/>
          <p:nvPr/>
        </p:nvSpPr>
        <p:spPr>
          <a:xfrm>
            <a:off x="457200" y="4096512"/>
            <a:ext cx="5486400" cy="1335024"/>
          </a:xfrm>
          <a:prstGeom prst="roundRect">
            <a:avLst>
              <a:gd name="adj" fmla="val 6164"/>
            </a:avLst>
          </a:prstGeom>
          <a:solidFill>
            <a:srgbClr val="FFFFFF"/>
          </a:solidFill>
          <a:ln w="12700">
            <a:solidFill>
              <a:srgbClr val="DCE3EE"/>
            </a:solidFill>
            <a:prstDash val="solid"/>
          </a:ln>
        </p:spPr>
      </p:sp>
      <p:pic>
        <p:nvPicPr>
          <p:cNvPr id="22" name="Image 4" descr="preencoded.png">    </p:cNvPr>
          <p:cNvPicPr>
            <a:picLocks noChangeAspect="1"/>
          </p:cNvPicPr>
          <p:nvPr/>
        </p:nvPicPr>
        <p:blipFill>
          <a:blip r:embed="rId5"/>
          <a:stretch>
            <a:fillRect/>
          </a:stretch>
        </p:blipFill>
        <p:spPr>
          <a:xfrm>
            <a:off x="658368" y="4242816"/>
            <a:ext cx="155448" cy="155448"/>
          </a:xfrm>
          <a:prstGeom prst="rect">
            <a:avLst/>
          </a:prstGeom>
        </p:spPr>
      </p:pic>
      <p:sp>
        <p:nvSpPr>
          <p:cNvPr id="23" name="Text 16"/>
          <p:cNvSpPr/>
          <p:nvPr/>
        </p:nvSpPr>
        <p:spPr>
          <a:xfrm>
            <a:off x="914400"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Keep duty and tariff data fresh by itself</a:t>
            </a:r>
            <a:endParaRPr lang="en-US" sz="1150" dirty="0"/>
          </a:p>
        </p:txBody>
      </p:sp>
      <p:sp>
        <p:nvSpPr>
          <p:cNvPr id="24" name="Text 17"/>
          <p:cNvSpPr/>
          <p:nvPr/>
        </p:nvSpPr>
        <p:spPr>
          <a:xfrm>
            <a:off x="658368"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Rates decay. The engine blocks any rate that is unverified or older than 90 days rather than quietly using it — but somebody has to run the refresh against the official tariff service.</a:t>
            </a:r>
            <a:endParaRPr lang="en-US" sz="940" dirty="0"/>
          </a:p>
        </p:txBody>
      </p:sp>
      <p:sp>
        <p:nvSpPr>
          <p:cNvPr id="25" name="Shape 18"/>
          <p:cNvSpPr/>
          <p:nvPr/>
        </p:nvSpPr>
        <p:spPr>
          <a:xfrm>
            <a:off x="6245352" y="4096512"/>
            <a:ext cx="5486400" cy="1335024"/>
          </a:xfrm>
          <a:prstGeom prst="roundRect">
            <a:avLst>
              <a:gd name="adj" fmla="val 6164"/>
            </a:avLst>
          </a:prstGeom>
          <a:solidFill>
            <a:srgbClr val="FFFFFF"/>
          </a:solidFill>
          <a:ln w="12700">
            <a:solidFill>
              <a:srgbClr val="DCE3EE"/>
            </a:solidFill>
            <a:prstDash val="solid"/>
          </a:ln>
        </p:spPr>
      </p:sp>
      <p:pic>
        <p:nvPicPr>
          <p:cNvPr id="26" name="Image 5" descr="preencoded.png">    </p:cNvPr>
          <p:cNvPicPr>
            <a:picLocks noChangeAspect="1"/>
          </p:cNvPicPr>
          <p:nvPr/>
        </p:nvPicPr>
        <p:blipFill>
          <a:blip r:embed="rId6"/>
          <a:stretch>
            <a:fillRect/>
          </a:stretch>
        </p:blipFill>
        <p:spPr>
          <a:xfrm>
            <a:off x="6446520" y="4242816"/>
            <a:ext cx="155448" cy="155448"/>
          </a:xfrm>
          <a:prstGeom prst="rect">
            <a:avLst/>
          </a:prstGeom>
        </p:spPr>
      </p:pic>
      <p:sp>
        <p:nvSpPr>
          <p:cNvPr id="27" name="Text 19"/>
          <p:cNvSpPr/>
          <p:nvPr/>
        </p:nvSpPr>
        <p:spPr>
          <a:xfrm>
            <a:off x="6702552"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 process it has never met</a:t>
            </a:r>
            <a:endParaRPr lang="en-US" sz="1150" dirty="0"/>
          </a:p>
        </p:txBody>
      </p:sp>
      <p:sp>
        <p:nvSpPr>
          <p:cNvPr id="28" name="Text 20"/>
          <p:cNvSpPr/>
          <p:nvPr/>
        </p:nvSpPr>
        <p:spPr>
          <a:xfrm>
            <a:off x="6446520"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Twenty commodities are modelled. A genuinely novel process needs a new module — days of work, not minutes, and it needs a process engineer to specify it.</a:t>
            </a:r>
            <a:endParaRPr lang="en-US" sz="940" dirty="0"/>
          </a:p>
        </p:txBody>
      </p:sp>
      <p:sp>
        <p:nvSpPr>
          <p:cNvPr id="29" name="Shape 21"/>
          <p:cNvSpPr/>
          <p:nvPr/>
        </p:nvSpPr>
        <p:spPr>
          <a:xfrm>
            <a:off x="457200" y="5596128"/>
            <a:ext cx="11274552" cy="713232"/>
          </a:xfrm>
          <a:prstGeom prst="roundRect">
            <a:avLst>
              <a:gd name="adj" fmla="val 12821"/>
            </a:avLst>
          </a:prstGeom>
          <a:solidFill>
            <a:srgbClr val="16325C"/>
          </a:solidFill>
          <a:ln/>
        </p:spPr>
      </p:sp>
      <p:sp>
        <p:nvSpPr>
          <p:cNvPr id="30" name="Text 22"/>
          <p:cNvSpPr/>
          <p:nvPr/>
        </p:nvSpPr>
        <p:spPr>
          <a:xfrm>
            <a:off x="777240" y="566928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Why show you this:  </a:t>
            </a:r>
            <a:pPr indent="0" marL="0">
              <a:buNone/>
            </a:pPr>
            <a:r>
              <a:rPr lang="en-US" sz="1200" dirty="0">
                <a:solidFill>
                  <a:srgbClr val="FFFFFF"/>
                </a:solidFill>
                <a:latin typeface="Calibri" pitchFamily="34" charset="0"/>
                <a:ea typeface="Calibri" pitchFamily="34" charset="-122"/>
                <a:cs typeface="Calibri" pitchFamily="34" charset="-120"/>
              </a:rPr>
              <a:t>a tool that claims no limits is a tool nobody should trust with a supplier negotiation. Every one of these six is either on the roadmap, or is a job we have deliberately left with a person.</a:t>
            </a:r>
            <a:endParaRPr lang="en-US" sz="1200" dirty="0"/>
          </a:p>
        </p:txBody>
      </p:sp>
      <p:sp>
        <p:nvSpPr>
          <p:cNvPr id="31" name="Text 2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2" name="Text 2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29</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2026-08-03T10:15:48Z</dcterms:created>
  <dcterms:modified xsi:type="dcterms:W3CDTF">2026-08-03T10:15:48Z</dcterms:modified>
</cp:coreProperties>
</file>