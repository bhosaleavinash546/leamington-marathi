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4.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6.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(midpoint)</c:v>
                </c:pt>
              </c:strCache>
            </c:strRef>
          </c:tx>
          <c:spPr>
            <a:solidFill>
              <a:srgbClr val="0E8074"/>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Sheet1!$B$2:$B$8</c:f>
              <c:numCache>
                <c:formatCode>General</c:formatCode>
                <c:ptCount val="7"/>
                <c:pt idx="0">
                  <c:v>12.5</c:v>
                </c:pt>
                <c:pt idx="1">
                  <c:v>12.5</c:v>
                </c:pt>
                <c:pt idx="2">
                  <c:v>12.5</c:v>
                </c:pt>
                <c:pt idx="3">
                  <c:v>12.5</c:v>
                </c:pt>
                <c:pt idx="4">
                  <c:v>12.5</c:v>
                </c:pt>
                <c:pt idx="5">
                  <c:v>12.5</c:v>
                </c:pt>
                <c:pt idx="6">
                  <c:v>10</c:v>
                </c:pt>
              </c:numCache>
            </c:numRef>
          </c:val>
        </c:ser>
        <c:ser>
          <c:idx val="1"/>
          <c:order val="1"/>
          <c:tx>
            <c:strRef>
              <c:f>Sheet1!$C$1</c:f>
              <c:strCache>
                <c:ptCount val="1"/>
                <c:pt idx="0">
                  <c:v>CAPEE by hand (midpoint)</c:v>
                </c:pt>
              </c:strCache>
            </c:strRef>
          </c:tx>
          <c:spPr>
            <a:solidFill>
              <a:srgbClr val="B7791F"/>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Sheet1!$C$2:$C$8</c:f>
              <c:numCache>
                <c:formatCode>General</c:formatCode>
                <c:ptCount val="7"/>
                <c:pt idx="0">
                  <c:v>270</c:v>
                </c:pt>
                <c:pt idx="1">
                  <c:v>210</c:v>
                </c:pt>
                <c:pt idx="2">
                  <c:v>210</c:v>
                </c:pt>
                <c:pt idx="3">
                  <c:v>210</c:v>
                </c:pt>
                <c:pt idx="4">
                  <c:v>150</c:v>
                </c:pt>
                <c:pt idx="5">
                  <c:v>210</c:v>
                </c:pt>
                <c:pt idx="6">
                  <c:v>300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18 commodities</a:t>
            </a:r>
          </a:p>
        </c:rich>
      </c:tx>
      <c:layout/>
      <c:overlay val="0"/>
    </c:title>
    <c:autoTitleDeleted val="0"/>
    <c:plotArea>
      <c:layout/>
      <c:doughnutChart>
        <c:varyColors val="1"/>
        <c:ser>
          <c:idx val="0"/>
          <c:order val="0"/>
          <c:tx>
            <c:strRef>
              <c:f>Sheet1!$B$1</c:f>
              <c:strCache>
                <c:ptCount val="1"/>
                <c:pt idx="0">
                  <c:v>Commodity coverage</c:v>
                </c:pt>
              </c:strCache>
            </c:strRef>
          </c:tx>
          <c:spPr>
            <a:solidFill>
              <a:schemeClr val="accent1"/>
            </a:solidFill>
            <a:ln w="9525" cap="flat">
              <a:solidFill>
                <a:srgbClr val="F9F9F9"/>
              </a:solidFill>
              <a:prstDash val="solid"/>
              <a:round/>
            </a:ln>
            <a:effectLst/>
          </c:spPr>
          <c:dPt>
            <c:idx val="0"/>
            <c:bubble3D val="0"/>
            <c:spPr>
              <a:solidFill>
                <a:srgbClr val="0E8074"/>
              </a:solidFill>
              <a:effectLst/>
            </c:spPr>
          </c:dPt>
          <c:dPt>
            <c:idx val="1"/>
            <c:bubble3D val="0"/>
            <c:spPr>
              <a:solidFill>
                <a:srgbClr val="B7791F"/>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Deterministic rules (12)</c:v>
                </c:pt>
                <c:pt idx="1">
                  <c:v>AI-assisted (6)</c:v>
                </c:pt>
              </c:strCache>
            </c:strRef>
          </c:cat>
          <c:val>
            <c:numRef>
              <c:f>Sheet1!$B$2:$B$3</c:f>
              <c:numCache>
                <c:ptCount val="2"/>
                <c:pt idx="0">
                  <c:v>12</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8 parts costed, 8 of 8 succeeded</a:t>
            </a:r>
          </a:p>
        </c:rich>
      </c:tx>
      <c:layout/>
      <c:overlay val="0"/>
    </c:title>
    <c:autoTitleDeleted val="0"/>
    <c:plotArea>
      <c:layout/>
      <c:doughnutChart>
        <c:varyColors val="1"/>
        <c:ser>
          <c:idx val="0"/>
          <c:order val="0"/>
          <c:tx>
            <c:strRef>
              <c:f>Sheet1!$B$1</c:f>
              <c:strCache>
                <c:ptCount val="1"/>
                <c:pt idx="0">
                  <c:v>Verification</c:v>
                </c:pt>
              </c:strCache>
            </c:strRef>
          </c:tx>
          <c:spPr>
            <a:solidFill>
              <a:schemeClr val="accent1"/>
            </a:solidFill>
            <a:ln w="9525" cap="flat">
              <a:solidFill>
                <a:srgbClr val="F9F9F9"/>
              </a:solidFill>
              <a:prstDash val="solid"/>
              <a:round/>
            </a:ln>
            <a:effectLst/>
          </c:spPr>
          <c:dPt>
            <c:idx val="0"/>
            <c:bubble3D val="0"/>
            <c:spPr>
              <a:solidFill>
                <a:srgbClr val="2E8B57"/>
              </a:solidFill>
              <a:effectLst/>
            </c:spPr>
          </c:dPt>
          <c:dPt>
            <c:idx val="1"/>
            <c:bubble3D val="0"/>
            <c:spPr>
              <a:solidFill>
                <a:srgbClr val="B7791F"/>
              </a:solidFill>
              <a:effectLst/>
            </c:spPr>
          </c:dPt>
          <c:dPt>
            <c:idx val="2"/>
            <c:bubble3D val="0"/>
            <c:spPr>
              <a:solidFill>
                <a:srgbClr val="DCE3EE"/>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Inside manual band (3)</c:v>
                </c:pt>
                <c:pt idx="1">
                  <c:v>Within ±32% (3)</c:v>
                </c:pt>
                <c:pt idx="2">
                  <c:v>No manual yet (2)</c:v>
                </c:pt>
              </c:strCache>
            </c:strRef>
          </c:cat>
          <c:val>
            <c:numRef>
              <c:f>Sheet1!$B$2:$B$4</c:f>
              <c:numCache>
                <c:ptCount val="3"/>
                <c:pt idx="0">
                  <c:v>3</c:v>
                </c:pt>
                <c:pt idx="1">
                  <c:v>3</c:v>
                </c:pt>
                <c:pt idx="2">
                  <c:v>2</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E8074"/>
              </a:solidFill>
              <a:effectLst/>
            </c:spPr>
          </c:dPt>
          <c:dPt>
            <c:idx val="1"/>
            <c:invertIfNegative val="0"/>
            <c:bubble3D val="0"/>
            <c:spPr>
              <a:solidFill>
                <a:srgbClr val="6B7280"/>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AI reads the part, the costing engine does every calculation, and a person approves the answer.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two slides: how the whole thing connects, and what it is worth measured against doing the same job by hand. About eight minutes. Section two is the first worked example — a die-cast aluminium housing, followed through all twelve stages from CAD file to defensible price, including the calculation shown in full so you can check it. Sixteen slides, about twenty-two minutes, and it is the heart of the pack. Section three does the same thing on a completely different part, an injection-moulded bumper fascia, plus paint, plus two findings that I genuinely did not predict. Eleven slides, about eighteen minutes. Section four is five minutes on what the tool cannot do. And the strip along the bottom is there because I have been in enough of these meetings. If the hour collapses to ten minutes, take slide three, the two business-case slides, slide twenty-two, slide thirty-two and slide thirty-four.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the whole thing on one picture — and one important update since the last session: the tool is now deterministic by default. Start in the middle-left. The blue box measures the part — OCCT, real geometry, never guessed. Below it the indigo box is new: the rules engine. Twelve commodities of explicit engineering rules that derive every cost input straight from the measurement — cycle times, tooling, press size, yield. Where geometry genuinely cannot know something — what the part is made of, whether it is safety-critical, how many a year — the tool does not guess. It stops and asks the engineer, that is the green box, and the costing is blocked until a person answers. That combination is what changed: the purple box at the top, the AI, is now OPTIONAL. Three modes on the form: Rules only, which is the default and makes no outbound call at all; Compare, which runs both and shows you exactly where they disagree, field by field; and AI-led, the old behaviour, kept for comparison. When the AI does run, its words come down through the amber guardrails — nine sanity checks, and its numbers are overwritten wherever the rules can derive the value, its machining time capped by what the stock could physically give up. On the right, unchanged: the rate library is still the only source of money in the tool, the local database holds our parts and real actuals for calibration, the engine is still fixed eight-bucket arithmetic with no judgement in it, and the uncertainty layer turns the number into an honest range. The one line: the kernel measures, the rules derive, the engineer answers, the guardrails check, the engine calculates. The AI is a second opinion — useful, optional, and unable to reach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starts with time, because time is the thing nobody disputes. The left side shows what the CostVision minutes actually contain — upload, automatic measurement and derivation, then the engineer answers the two to five questions geometry cannot answer, reviews the band and approves. Ten to fifteen minutes end to end for a CAD part, and I want to be precise: that is not unattended time, that is an engineer at the screen owning the answer. The table is the same should-cost by commodity. One row is a confirmed baseline — casting plus machining, four to five hours in CAPEE, measured by us. The other CAPEE figures are team-reported working numbers and the slide says so; I would rather show you an honest label than a precise-looking guess. The chart makes the point the table makes: the green bars are barely visible against the amber ones. And the box at the bottom is the real argument — this is capacity, not headcount. At these times one engineer reviews fifteen to twenty-five should-costs a day instead of preparing one or two. The hours we save do not disappear, they move into negotiation preparation, which is where the money actually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evidence, coverage, and what it costs to run. Four headline figures, all measured. Sixteen to thirty times faster on the baseline we confirmed ourselves. Zero marginal cost per estimate in the default mode — there is no AI call, no per-seat metering on the costing path, it is arithmetic on our own server. Twenty manufacturing regions priced on every single run. And every line of every estimate prints its own derivation — that is what makes it usable in a supplier meeting. The table is the accuracy evidence: six real parts with independent manual bottom-up costs. Three inside the manual band. Three within about thirty percent, every one of them an over-estimate — the miss direction you can live with, because an over-estimate is a negotiating position and an under-estimate is a signed mistake. Fleet error fifteen percent, against twenty-eight for the AI path on the same parts. The two donuts: twelve of eighteen commodities run fully deterministic today, and of the eight parts we costed, all eight produced a number — the AI path managed five of eight before we hardened it. And the amber strip is deliberate, because this deck goes up, and the fastest way to lose the room is to overclaim: it does not read drawings yet, it asks rather than guesses on material, and six parts is six parts — we widen the validation set before any of these figures goes into a commitment. Everything on this slide can be regenerated from the tool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AI reads.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through its official bindings, called OCP. Worth being precise: the measurement code calls OCP directly, so there is one fewer library sitting between your CAD file and the number.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The OCP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AI. This is the one stage out of twelve that it owns, so let us be precise about it. What is it given? Only the measurements from the previous slide, plus the part name. It does not see a price list. It does not see our rate library. It cannot see what the answer ought to be. What does it say back? Four things. The material family — an aluminium die-casting alloy. How it is made — high-pressure die casting, meaning molten aluminium injected into a steel mould under very high pressure. What happens next — machine finishing. And how sure it is: eighty-four percent. Now the red box, which is the answer to "but what if the AI gets it wrong". The AI cannot set a price or any part of a price. It cannot change a measured dimension or the weight. It cannot choose the machine or the cycle time. It cannot touch the rate library. And it cannot override a safety check. Those are not rules we ask it to follow — it has no access to any of those things. One more thing on the confidence score, because it does real work. At eighty-four percent the tool proceeds but flags the call for review. There is a hard rule in the code: if the material confidence falls below fifty percent, a warning fires that says the suggestion is a coin toss and asks for a part photo or a manual confirmation, and that warning stays attached to the result until a person clears it. A confident-sounding wrong answer is the most dangerous thing an AI can give you, so we make the uncertainty visible rather than hiding it. In plain terms: the AI does what an experienced engineer does in the first ten seconds of picking up a part. It saves setup time. It does not do the costing, and it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First, the process. The AI suggested die casting, but the engine does not simply accept that.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is rejected because you would cut away about eighty percent of the metal — absurd on cost. Gravity die casting is rejected because it cannot reliably fill walls that thin. Second, and this is check four from the previous slide — the press. When you inject molten aluminium at high pressure it tries to force the two halves of the mould apart. The press has to clamp it shut. So the engine takes the shadow area of the part, which it measured from the CAD, multiplies it by the pressure inside the mould, and gets the force trying to open the tool. Add a safety margin, and pick the smallest press in the library that can hold it. That comes out at sixteen hundred tonnes. Why does this matter commercially? Because every machine carries its own hourly rate. A bigger press costs more per hour to own and to run. Choose too big a machine and you overstate the cost — you go into a negotiation asking for the wrong number. Choose too small and the part physically cannot be made. So the engine sizes it by calculation rather than defaulting, and it flags the choice for our engineer to confirm. And in the purple box, the summary of who did what. The AI proposed. The engine disposed. If the AI had said sand casting, the three millimetre walls would have overruled it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plus-or-minus comes from, so here is the mechanism, exactly as the code does it. Step one: every cost line already carries a confidence grade from its provenance — measured geometry and library rates are High, derived values Medium, assumptions Low. Step two: those grades become spreads — five, twelve and twenty-two percent at one sigma — with per-bucket reality on top: tooling estimates get one-point-eight times the spread because tooling is genuinely the least certain thing we estimate, packaging and logistics get less because they are contracted, and overhead and margin are never perturbed at all because they are policy percentages — they are recomputed inside every trial exactly as the real engine composes them. Step three: four thousand trials. Each one multiplies every base bucket by a lognormal factor — always positive, mean one — and rebuilds the stack. Step four: sort the four thousand totals and read off the tenth, fiftieth and ninetieth percentiles. That is the band on the result card. Three properties worth stating. It is seeded, so the same part gives the same band every time — it is reproducible and it is unit-tested. It is calibrated: once we have enough real actuals in a segment, a conformal layer replaces the prior with a band that provably covers the target share of real outcomes — that is a statistical guarantee, and until we have the data the tool says it is on the prior. And it is honest by construction: assumptions widen the band automatically, so a part costed on guesses cannot pretend to precision. The one line: the band is the same arithmetic run four thousand times with each input exactly as uncertain as its provenance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twelve to fifteen of every report — DFM, DFA, cost optimisation and the roadmap — come from one deterministic rule engine, and I want to show exactly how, because the honest answer to "is this AI opinion?" is no. Step one: the engine runs AFTER the costing and reads the finished result — the eight buckets and the same measured inputs the estimate used. It critiques the numbers that were actually costed. Step two: around thirty-seven fixed thresholds fire — material utilisation below sixty percent is critical, below seventy-two major; OEE below seventy critical; every bucket compared to its commodity benchmark band. Each hit carries a severity, a saving percentage and a recommendation, all constants in code. Step three: ten per-process advisor modules add the geometry findings — heavy sections that will draw porosity, sharp corners that start hot tears, missing draft, near-net opportunities — read from the measured solid, not guessed. Step four: the score is arithmetic — start at ten, minus two per critical, one per major, half per minor — and the roadmap is a filter of the same actions by risk and timeframe. Two properties to underline. The saving headline is root-sum-square of the top three issues capped at forty percent — we deliberately do not add up every opportunity, because stacked savings never materialise additively. And the AI cannot touch any of it: in AI mode it may add commentary to the analysis panel, but no score, severity or saving in this report comes from a model. Source: src slash engine slash dfm-dfa dot ts plus the ten advisor modules — one function, feeding both the screen and the PDF, so the two can never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buyer challenged us with exactly the right question: the tool costed a five-machine routing and then recommended consolidating it with multi-axis machining — why did it not just pick the right machine in the first place? So now it does, and I want to show the mechanism. Step one: before any pound is booked, the routing optimiser prices the feasible alternatives — the split routing on cheap three-axis stations with a fixturing per approach direction, the single-setup five-axis consolidation, the turning-led route when the part is round — including batch setup amortisation and the per-part handling every extra fixturing costs. Cheapest capable routing wins. Step two: the losers are printed in the derivation trace next to the chosen machine, so the process line comes with its own defence. Step three: the suggestion layer reads the same arithmetic — it no longer critiques the tool’s own choices, it flips to "routing verified optimal" when the lever is already taken, and every finding is tagged with who owns the lever. And step four is my favourite, because it is the honest one: on the very report that prompted the question, the old advice said multi-axis consolidation, eleven percent, long term. The optimiser ranked it and consolidation loses on that part. The new suggestion is a quick-win re-quote: the same machining content on the cheapest capable machines is six pounds ninety-five cheaper per part — twenty percent of the machining spend — and the report says out loud that consolidation was ranked and does not win. Three rules of engagement: the AI never picks the machine, an engineer’s explicit choice is respected with the delta surfaced beside it, and if there is no verifiable delta there is no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reads those measurements and names what the part is — words only, never money. The guards check the AI against the measurements and autocorrect it where they disagree, and the measurements always win. The engine does every calculation — sizes the machine, builds the cycle times, fills the eight buckets, reprices across twenty countries — with fixed, traceable formulas. And our engineer sets the commercial context, confirms every AI call, and signs off the number. The line in the middle is the whole tool in one sentence. The AI reads the part. The engine does every calculation. A person approves the answer.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twenty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The AI then does its one job and hands back four words: talc-filled polypropylene, injection moulded in one shot, painted to a Class-A finish, eighty-seven percent confident. Four words and a score. No numbers. It still cannot see a price list, a rate or a machine.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cooling is the biggest single number in a moulding cycle and the one everybody used to guess. Here is exactly how the tool calculates it now — from first principles, and I can defend every symbol. Step one, the law: a moulded wall cooling between two mould faces is textbook transient heat conduction, and the exact solution says cooling time equals wall squared, divided by pi squared times the thermal diffusivity, times the log of a temperature ratio — how far the melt has to fall against how much margin there is at ejection. The wall enters squared because heat has to diffuse out through half the thickness. That is physics, not a fitted curve. Step two: each of nineteen resin families carries its real processing temperatures. Polypropylene — this bumper — melts in at two hundred and thirty, the mould runs at forty, the part ejects safely at eighty-five. Step three is the honest part: the diffusivity is not taken from a textbook, it is calibrated once so that at those reference temperatures the formula reproduces the curated industry factor exactly — for PP, three point one six seconds per millimetre squared. That calibration deliberately absorbs what the ideal equation ignores, like the latent heat a crystallising polymer gives up and the imperfect contact between plastic and steel. So adopting the physics did not move a single estimate — it changed the provenance from “a constant we assert” to “a law you can check”. Step four: it is evaluated at the ninety-fifth percentile wall, because the part ejects when its thickest section is stiff, and the result is clamped to within a factor of two of the curated value so a bad temperature input cannot run away with the cost. And the payoff is on the right: because it is a formula, it answers questions a constant never could. Chill the mould to twenty degrees and cooling drops four and a half seconds a shot, priced by the law. Thin the wall half a millimetre and nine seconds come out, one pound eleven a part. Those are the two conversations this slide is built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Twenty commodities are modelled.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5-1.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slideLayout" Target="../slideLayouts/slideLayout1.xml"/><Relationship Id="rId8"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AI reads the part.  The costing engine does every calculation.  A person approves the answer.</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the whole thing connects, and what it is worth against costing by hand</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3–5</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8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E8B57"/>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E8074"/>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derive, guard, calculate, approve — including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6–22</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23–33</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 34</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E8B57"/>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 3 (how it connects) · slides 4–5 (the business case) · slide 22 (the housing on one page) · slide 32 (the two findings) · slide 34 (the limits). Everything in between is the evidence for those five.</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Rules derive every cost input; the engineer answers what geometry cannot know; the AI is optional.</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B7791F"/>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E8074"/>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E8B57"/>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2331720" y="932688"/>
            <a:ext cx="4754880" cy="905256"/>
          </a:xfrm>
          <a:prstGeom prst="roundRect">
            <a:avLst>
              <a:gd name="adj" fmla="val 9091"/>
            </a:avLst>
          </a:prstGeom>
          <a:solidFill>
            <a:srgbClr val="F1EBF8"/>
          </a:solidFill>
          <a:ln w="19050">
            <a:solidFill>
              <a:srgbClr val="6B3FA0"/>
            </a:solidFill>
            <a:prstDash val="dash"/>
          </a:ln>
        </p:spPr>
      </p:sp>
      <p:sp>
        <p:nvSpPr>
          <p:cNvPr id="19" name="Shape 17"/>
          <p:cNvSpPr/>
          <p:nvPr/>
        </p:nvSpPr>
        <p:spPr>
          <a:xfrm>
            <a:off x="2468880" y="1170432"/>
            <a:ext cx="402336" cy="402336"/>
          </a:xfrm>
          <a:prstGeom prst="ellipse">
            <a:avLst/>
          </a:prstGeom>
          <a:solidFill>
            <a:srgbClr val="6B3FA0"/>
          </a:solidFill>
          <a:ln/>
        </p:spPr>
      </p:sp>
      <p:pic>
        <p:nvPicPr>
          <p:cNvPr id="20"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1" name="Text 18"/>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off by default, the only outbound call</a:t>
            </a:r>
            <a:endParaRPr lang="en-US" sz="800" dirty="0"/>
          </a:p>
        </p:txBody>
      </p:sp>
      <p:sp>
        <p:nvSpPr>
          <p:cNvPr id="22" name="Text 19"/>
          <p:cNvSpPr/>
          <p:nvPr/>
        </p:nvSpPr>
        <p:spPr>
          <a:xfrm>
            <a:off x="2999232" y="1179576"/>
            <a:ext cx="3977640" cy="402336"/>
          </a:xfrm>
          <a:prstGeom prst="rect">
            <a:avLst/>
          </a:prstGeom>
          <a:noFill/>
          <a:ln/>
        </p:spPr>
        <p:txBody>
          <a:bodyPr wrap="square" lIns="0" tIns="0" rIns="0" bIns="0" rtlCol="0" anchor="t"/>
          <a:lstStyle/>
          <a:p>
            <a:pPr indent="0" marL="0">
              <a:buNone/>
            </a:pPr>
            <a:r>
              <a:rPr lang="en-US" sz="870" dirty="0">
                <a:solidFill>
                  <a:srgbClr val="3A4356"/>
                </a:solidFill>
                <a:latin typeface="Calibri" pitchFamily="34" charset="0"/>
                <a:ea typeface="Calibri" pitchFamily="34" charset="-122"/>
                <a:cs typeface="Calibri" pitchFamily="34" charset="-120"/>
              </a:rPr>
              <a:t>Three modes: </a:t>
            </a:r>
            <a:pPr indent="0" marL="0">
              <a:buNone/>
            </a:pPr>
            <a:r>
              <a:rPr lang="en-US" sz="87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870" dirty="0">
                <a:solidFill>
                  <a:srgbClr val="3A4356"/>
                </a:solidFill>
                <a:latin typeface="Calibri" pitchFamily="34" charset="0"/>
                <a:ea typeface="Calibri" pitchFamily="34" charset="-122"/>
                <a:cs typeface="Calibri" pitchFamily="34" charset="-120"/>
              </a:rPr>
              <a:t>Classification only — geometry out, words back. No prices, no rates, no drawings.</a:t>
            </a:r>
            <a:endParaRPr lang="en-US" sz="870" dirty="0"/>
          </a:p>
        </p:txBody>
      </p:sp>
      <p:sp>
        <p:nvSpPr>
          <p:cNvPr id="23" name="Text 20"/>
          <p:cNvSpPr/>
          <p:nvPr/>
        </p:nvSpPr>
        <p:spPr>
          <a:xfrm>
            <a:off x="2999232" y="1609344"/>
            <a:ext cx="3977640" cy="182880"/>
          </a:xfrm>
          <a:prstGeom prst="rect">
            <a:avLst/>
          </a:prstGeom>
          <a:noFill/>
          <a:ln/>
        </p:spPr>
        <p:txBody>
          <a:bodyPr wrap="square" lIns="0" tIns="0" rIns="0" bIns="0" rtlCol="0" anchor="ctr"/>
          <a:lstStyle/>
          <a:p>
            <a:pPr indent="0" marL="0">
              <a:buNone/>
            </a:pPr>
            <a:r>
              <a:rPr lang="en-US" sz="800" i="1" dirty="0">
                <a:solidFill>
                  <a:srgbClr val="6B3FA0"/>
                </a:solidFill>
                <a:latin typeface="Calibri" pitchFamily="34" charset="0"/>
                <a:ea typeface="Calibri" pitchFamily="34" charset="-122"/>
                <a:cs typeface="Calibri" pitchFamily="34" charset="-120"/>
              </a:rPr>
              <a:t>Routable to a private endpoint · AIR_GAPPED=1 refuses the call — costing still works</a:t>
            </a:r>
            <a:endParaRPr lang="en-US" sz="800" dirty="0"/>
          </a:p>
        </p:txBody>
      </p:sp>
      <p:sp>
        <p:nvSpPr>
          <p:cNvPr id="24" name="Shape 21"/>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5" name="Text 22"/>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6" name="Text 23"/>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27" name="Shape 24"/>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28" name="Shape 25"/>
          <p:cNvSpPr/>
          <p:nvPr/>
        </p:nvSpPr>
        <p:spPr>
          <a:xfrm>
            <a:off x="685800" y="1874520"/>
            <a:ext cx="3200400" cy="256032"/>
          </a:xfrm>
          <a:prstGeom prst="roundRect">
            <a:avLst>
              <a:gd name="adj" fmla="val 50000"/>
            </a:avLst>
          </a:prstGeom>
          <a:solidFill>
            <a:srgbClr val="0E8074"/>
          </a:solidFill>
          <a:ln/>
        </p:spPr>
      </p:sp>
      <p:sp>
        <p:nvSpPr>
          <p:cNvPr id="29" name="Text 26"/>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30" name="Shape 27"/>
          <p:cNvSpPr/>
          <p:nvPr/>
        </p:nvSpPr>
        <p:spPr>
          <a:xfrm>
            <a:off x="3794760" y="1837944"/>
            <a:ext cx="0" cy="612648"/>
          </a:xfrm>
          <a:prstGeom prst="line">
            <a:avLst/>
          </a:prstGeom>
          <a:noFill/>
          <a:ln w="19050">
            <a:solidFill>
              <a:srgbClr val="6B3FA0"/>
            </a:solidFill>
            <a:prstDash val="dash"/>
            <a:headEnd type="triangle"/>
            <a:tailEnd type="triangle"/>
          </a:ln>
        </p:spPr>
      </p:sp>
      <p:sp>
        <p:nvSpPr>
          <p:cNvPr id="31" name="Text 28"/>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2" name="Shape 29"/>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3" name="Text 30"/>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4" name="Shape 31"/>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5" name="Text 32"/>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a:t>
            </a:r>
            <a:endParaRPr lang="en-US" sz="860" dirty="0"/>
          </a:p>
        </p:txBody>
      </p:sp>
      <p:sp>
        <p:nvSpPr>
          <p:cNvPr id="36" name="Shape 33"/>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37" name="Text 34"/>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Plain description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or an RFQ sheet</a:t>
            </a:r>
            <a:endParaRPr lang="en-US" sz="860" dirty="0"/>
          </a:p>
        </p:txBody>
      </p:sp>
      <p:sp>
        <p:nvSpPr>
          <p:cNvPr id="38" name="Shape 35"/>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39" name="Text 36"/>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0" name="Text 37"/>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41" name="Shape 38"/>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43" name="Shape 40"/>
          <p:cNvSpPr/>
          <p:nvPr/>
        </p:nvSpPr>
        <p:spPr>
          <a:xfrm>
            <a:off x="10104120" y="3236976"/>
            <a:ext cx="1645920" cy="621792"/>
          </a:xfrm>
          <a:prstGeom prst="roundRect">
            <a:avLst>
              <a:gd name="adj" fmla="val 10294"/>
            </a:avLst>
          </a:prstGeom>
          <a:solidFill>
            <a:srgbClr val="FFFFFF"/>
          </a:solidFill>
          <a:ln w="12700">
            <a:solidFill>
              <a:srgbClr val="DCE3EE"/>
            </a:solidFill>
            <a:prstDash val="solid"/>
          </a:ln>
        </p:spPr>
      </p:sp>
      <p:sp>
        <p:nvSpPr>
          <p:cNvPr id="44" name="Text 41"/>
          <p:cNvSpPr/>
          <p:nvPr/>
        </p:nvSpPr>
        <p:spPr>
          <a:xfrm>
            <a:off x="10222992" y="323697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45" name="Shape 42"/>
          <p:cNvSpPr/>
          <p:nvPr/>
        </p:nvSpPr>
        <p:spPr>
          <a:xfrm>
            <a:off x="10104120" y="3968496"/>
            <a:ext cx="1645920" cy="621792"/>
          </a:xfrm>
          <a:prstGeom prst="roundRect">
            <a:avLst>
              <a:gd name="adj" fmla="val 10294"/>
            </a:avLst>
          </a:prstGeom>
          <a:solidFill>
            <a:srgbClr val="FFFFFF"/>
          </a:solidFill>
          <a:ln w="12700">
            <a:solidFill>
              <a:srgbClr val="DCE3EE"/>
            </a:solidFill>
            <a:prstDash val="solid"/>
          </a:ln>
        </p:spPr>
      </p:sp>
      <p:sp>
        <p:nvSpPr>
          <p:cNvPr id="46" name="Text 43"/>
          <p:cNvSpPr/>
          <p:nvPr/>
        </p:nvSpPr>
        <p:spPr>
          <a:xfrm>
            <a:off x="10222992" y="396849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47" name="Shape 44"/>
          <p:cNvSpPr/>
          <p:nvPr/>
        </p:nvSpPr>
        <p:spPr>
          <a:xfrm>
            <a:off x="10104120" y="4700016"/>
            <a:ext cx="1645920" cy="621792"/>
          </a:xfrm>
          <a:prstGeom prst="roundRect">
            <a:avLst>
              <a:gd name="adj" fmla="val 10294"/>
            </a:avLst>
          </a:prstGeom>
          <a:solidFill>
            <a:srgbClr val="FFFFFF"/>
          </a:solidFill>
          <a:ln w="12700">
            <a:solidFill>
              <a:srgbClr val="DCE3EE"/>
            </a:solidFill>
            <a:prstDash val="solid"/>
          </a:ln>
        </p:spPr>
      </p:sp>
      <p:sp>
        <p:nvSpPr>
          <p:cNvPr id="48" name="Text 45"/>
          <p:cNvSpPr/>
          <p:nvPr/>
        </p:nvSpPr>
        <p:spPr>
          <a:xfrm>
            <a:off x="10222992" y="470001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49" name="Shape 46"/>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50" name="Shape 47"/>
          <p:cNvSpPr/>
          <p:nvPr/>
        </p:nvSpPr>
        <p:spPr>
          <a:xfrm>
            <a:off x="2734056" y="2560320"/>
            <a:ext cx="310896" cy="310896"/>
          </a:xfrm>
          <a:prstGeom prst="ellipse">
            <a:avLst/>
          </a:prstGeom>
          <a:solidFill>
            <a:srgbClr val="1D6FB8"/>
          </a:solidFill>
          <a:ln/>
        </p:spPr>
      </p:sp>
      <p:pic>
        <p:nvPicPr>
          <p:cNvPr id="51"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52" name="Text 48"/>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53" name="Text 49"/>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54" name="Shape 50"/>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55" name="Shape 51"/>
          <p:cNvSpPr/>
          <p:nvPr/>
        </p:nvSpPr>
        <p:spPr>
          <a:xfrm>
            <a:off x="2734056" y="3822192"/>
            <a:ext cx="310896" cy="310896"/>
          </a:xfrm>
          <a:prstGeom prst="ellipse">
            <a:avLst/>
          </a:prstGeom>
          <a:solidFill>
            <a:srgbClr val="4F46E5"/>
          </a:solidFill>
          <a:ln/>
        </p:spPr>
      </p:sp>
      <p:pic>
        <p:nvPicPr>
          <p:cNvPr id="56"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57" name="Text 52"/>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engine</a:t>
            </a:r>
            <a:endParaRPr lang="en-US" sz="1000" dirty="0"/>
          </a:p>
        </p:txBody>
      </p:sp>
      <p:sp>
        <p:nvSpPr>
          <p:cNvPr id="58" name="Text 53"/>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12 commodities. Derives every cost input from the measurement — cycle, tooling, press, yield.</a:t>
            </a:r>
            <a:endParaRPr lang="en-US" sz="820" dirty="0"/>
          </a:p>
        </p:txBody>
      </p:sp>
      <p:sp>
        <p:nvSpPr>
          <p:cNvPr id="59" name="Shape 54"/>
          <p:cNvSpPr/>
          <p:nvPr/>
        </p:nvSpPr>
        <p:spPr>
          <a:xfrm>
            <a:off x="2606040" y="4974336"/>
            <a:ext cx="1920240" cy="932688"/>
          </a:xfrm>
          <a:prstGeom prst="roundRect">
            <a:avLst>
              <a:gd name="adj" fmla="val 8824"/>
            </a:avLst>
          </a:prstGeom>
          <a:solidFill>
            <a:srgbClr val="EAF6EF"/>
          </a:solidFill>
          <a:ln w="17780">
            <a:solidFill>
              <a:srgbClr val="2E8B57"/>
            </a:solidFill>
            <a:prstDash val="solid"/>
          </a:ln>
        </p:spPr>
      </p:sp>
      <p:sp>
        <p:nvSpPr>
          <p:cNvPr id="60" name="Shape 55"/>
          <p:cNvSpPr/>
          <p:nvPr/>
        </p:nvSpPr>
        <p:spPr>
          <a:xfrm>
            <a:off x="2734056" y="5084064"/>
            <a:ext cx="310896" cy="310896"/>
          </a:xfrm>
          <a:prstGeom prst="ellipse">
            <a:avLst/>
          </a:prstGeom>
          <a:solidFill>
            <a:srgbClr val="2E8B57"/>
          </a:solidFill>
          <a:ln/>
        </p:spPr>
      </p:sp>
      <p:pic>
        <p:nvPicPr>
          <p:cNvPr id="61"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62" name="Text 56"/>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engineer</a:t>
            </a:r>
            <a:endParaRPr lang="en-US" sz="1000" dirty="0"/>
          </a:p>
        </p:txBody>
      </p:sp>
      <p:sp>
        <p:nvSpPr>
          <p:cNvPr id="63" name="Text 57"/>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64" name="Shape 58"/>
          <p:cNvSpPr/>
          <p:nvPr/>
        </p:nvSpPr>
        <p:spPr>
          <a:xfrm>
            <a:off x="4892040" y="2450592"/>
            <a:ext cx="1965960" cy="1115568"/>
          </a:xfrm>
          <a:prstGeom prst="roundRect">
            <a:avLst>
              <a:gd name="adj" fmla="val 7377"/>
            </a:avLst>
          </a:prstGeom>
          <a:solidFill>
            <a:srgbClr val="FCF3E3"/>
          </a:solidFill>
          <a:ln w="17780">
            <a:solidFill>
              <a:srgbClr val="B7791F"/>
            </a:solidFill>
            <a:prstDash val="solid"/>
          </a:ln>
        </p:spPr>
      </p:sp>
      <p:sp>
        <p:nvSpPr>
          <p:cNvPr id="65" name="Shape 59"/>
          <p:cNvSpPr/>
          <p:nvPr/>
        </p:nvSpPr>
        <p:spPr>
          <a:xfrm>
            <a:off x="5020056" y="2560320"/>
            <a:ext cx="310896" cy="310896"/>
          </a:xfrm>
          <a:prstGeom prst="ellipse">
            <a:avLst/>
          </a:prstGeom>
          <a:solidFill>
            <a:srgbClr val="B7791F"/>
          </a:solidFill>
          <a:ln/>
        </p:spPr>
      </p:sp>
      <p:pic>
        <p:nvPicPr>
          <p:cNvPr id="66"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67" name="Text 60"/>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B7791F"/>
                </a:solidFill>
                <a:latin typeface="Calibri" pitchFamily="34" charset="0"/>
                <a:ea typeface="Calibri" pitchFamily="34" charset="-122"/>
                <a:cs typeface="Calibri" pitchFamily="34" charset="-120"/>
              </a:rPr>
              <a:t>Guardrails</a:t>
            </a:r>
            <a:endParaRPr lang="en-US" sz="1000" dirty="0"/>
          </a:p>
        </p:txBody>
      </p:sp>
      <p:sp>
        <p:nvSpPr>
          <p:cNvPr id="68" name="Text 61"/>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9 sanity checks + physics caps. Measurements beat the AI; AI cycle claims are capped.</a:t>
            </a:r>
            <a:endParaRPr lang="en-US" sz="820" dirty="0"/>
          </a:p>
        </p:txBody>
      </p:sp>
      <p:sp>
        <p:nvSpPr>
          <p:cNvPr id="69" name="Shape 62"/>
          <p:cNvSpPr/>
          <p:nvPr/>
        </p:nvSpPr>
        <p:spPr>
          <a:xfrm>
            <a:off x="7772400" y="2450592"/>
            <a:ext cx="1920240" cy="1115568"/>
          </a:xfrm>
          <a:prstGeom prst="roundRect">
            <a:avLst>
              <a:gd name="adj" fmla="val 7377"/>
            </a:avLst>
          </a:prstGeom>
          <a:solidFill>
            <a:srgbClr val="E6F4F1"/>
          </a:solidFill>
          <a:ln w="17780">
            <a:solidFill>
              <a:srgbClr val="0E8074"/>
            </a:solidFill>
            <a:prstDash val="solid"/>
          </a:ln>
        </p:spPr>
      </p:sp>
      <p:sp>
        <p:nvSpPr>
          <p:cNvPr id="70" name="Shape 63"/>
          <p:cNvSpPr/>
          <p:nvPr/>
        </p:nvSpPr>
        <p:spPr>
          <a:xfrm>
            <a:off x="7900416" y="2560320"/>
            <a:ext cx="310896" cy="310896"/>
          </a:xfrm>
          <a:prstGeom prst="ellipse">
            <a:avLst/>
          </a:prstGeom>
          <a:solidFill>
            <a:srgbClr val="0E8074"/>
          </a:solidFill>
          <a:ln/>
        </p:spPr>
      </p:sp>
      <p:pic>
        <p:nvPicPr>
          <p:cNvPr id="71"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72" name="Text 64"/>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Rate library</a:t>
            </a:r>
            <a:endParaRPr lang="en-US" sz="1000" dirty="0"/>
          </a:p>
        </p:txBody>
      </p:sp>
      <p:sp>
        <p:nvSpPr>
          <p:cNvPr id="73" name="Text 65"/>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74" name="Shape 66"/>
          <p:cNvSpPr/>
          <p:nvPr/>
        </p:nvSpPr>
        <p:spPr>
          <a:xfrm>
            <a:off x="7772400" y="3712464"/>
            <a:ext cx="1920240" cy="1115568"/>
          </a:xfrm>
          <a:prstGeom prst="roundRect">
            <a:avLst>
              <a:gd name="adj" fmla="val 7377"/>
            </a:avLst>
          </a:prstGeom>
          <a:solidFill>
            <a:srgbClr val="E6F4F1"/>
          </a:solidFill>
          <a:ln w="17780">
            <a:solidFill>
              <a:srgbClr val="0E8074"/>
            </a:solidFill>
            <a:prstDash val="solid"/>
          </a:ln>
        </p:spPr>
      </p:sp>
      <p:sp>
        <p:nvSpPr>
          <p:cNvPr id="75" name="Shape 67"/>
          <p:cNvSpPr/>
          <p:nvPr/>
        </p:nvSpPr>
        <p:spPr>
          <a:xfrm>
            <a:off x="7900416" y="3822192"/>
            <a:ext cx="310896" cy="310896"/>
          </a:xfrm>
          <a:prstGeom prst="ellipse">
            <a:avLst/>
          </a:prstGeom>
          <a:solidFill>
            <a:srgbClr val="0E8074"/>
          </a:solidFill>
          <a:ln/>
        </p:spPr>
      </p:sp>
      <p:pic>
        <p:nvPicPr>
          <p:cNvPr id="76"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77" name="Text 68"/>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Local database</a:t>
            </a:r>
            <a:endParaRPr lang="en-US" sz="1000" dirty="0"/>
          </a:p>
        </p:txBody>
      </p:sp>
      <p:sp>
        <p:nvSpPr>
          <p:cNvPr id="78" name="Text 69"/>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79" name="Shape 70"/>
          <p:cNvSpPr/>
          <p:nvPr/>
        </p:nvSpPr>
        <p:spPr>
          <a:xfrm>
            <a:off x="7772400" y="4974336"/>
            <a:ext cx="1920240" cy="932688"/>
          </a:xfrm>
          <a:prstGeom prst="roundRect">
            <a:avLst>
              <a:gd name="adj" fmla="val 8824"/>
            </a:avLst>
          </a:prstGeom>
          <a:solidFill>
            <a:srgbClr val="EAF6EF"/>
          </a:solidFill>
          <a:ln w="17780">
            <a:solidFill>
              <a:srgbClr val="2E8B57"/>
            </a:solidFill>
            <a:prstDash val="solid"/>
          </a:ln>
        </p:spPr>
      </p:sp>
      <p:sp>
        <p:nvSpPr>
          <p:cNvPr id="80" name="Text 71"/>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Uncertainty</a:t>
            </a:r>
            <a:endParaRPr lang="en-US" sz="1000" dirty="0"/>
          </a:p>
        </p:txBody>
      </p:sp>
      <p:sp>
        <p:nvSpPr>
          <p:cNvPr id="81" name="Text 72"/>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conformal-calibrated from actuals.</a:t>
            </a:r>
            <a:endParaRPr lang="en-US" sz="820" dirty="0"/>
          </a:p>
        </p:txBody>
      </p:sp>
      <p:sp>
        <p:nvSpPr>
          <p:cNvPr id="82" name="Shape 73"/>
          <p:cNvSpPr/>
          <p:nvPr/>
        </p:nvSpPr>
        <p:spPr>
          <a:xfrm>
            <a:off x="4892040" y="3712464"/>
            <a:ext cx="1965960" cy="1444752"/>
          </a:xfrm>
          <a:prstGeom prst="roundRect">
            <a:avLst>
              <a:gd name="adj" fmla="val 6329"/>
            </a:avLst>
          </a:prstGeom>
          <a:solidFill>
            <a:srgbClr val="0E5A5A"/>
          </a:solidFill>
          <a:ln/>
        </p:spPr>
      </p:sp>
      <p:sp>
        <p:nvSpPr>
          <p:cNvPr id="83" name="Shape 74"/>
          <p:cNvSpPr/>
          <p:nvPr/>
        </p:nvSpPr>
        <p:spPr>
          <a:xfrm>
            <a:off x="5632704" y="3840480"/>
            <a:ext cx="457200" cy="457200"/>
          </a:xfrm>
          <a:prstGeom prst="ellipse">
            <a:avLst/>
          </a:prstGeom>
          <a:solidFill>
            <a:srgbClr val="17A398"/>
          </a:solidFill>
          <a:ln/>
        </p:spPr>
      </p:sp>
      <p:pic>
        <p:nvPicPr>
          <p:cNvPr id="84"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85" name="Text 75"/>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86" name="Text 76"/>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87" name="Shape 77"/>
          <p:cNvSpPr/>
          <p:nvPr/>
        </p:nvSpPr>
        <p:spPr>
          <a:xfrm>
            <a:off x="2423160" y="3008376"/>
            <a:ext cx="182880" cy="0"/>
          </a:xfrm>
          <a:prstGeom prst="line">
            <a:avLst/>
          </a:prstGeom>
          <a:noFill/>
          <a:ln w="22225">
            <a:solidFill>
              <a:srgbClr val="1D6FB8"/>
            </a:solidFill>
            <a:prstDash val="solid"/>
            <a:tailEnd type="triangle"/>
          </a:ln>
        </p:spPr>
      </p:sp>
      <p:sp>
        <p:nvSpPr>
          <p:cNvPr id="88" name="Shape 78"/>
          <p:cNvSpPr/>
          <p:nvPr/>
        </p:nvSpPr>
        <p:spPr>
          <a:xfrm>
            <a:off x="2423160" y="5385816"/>
            <a:ext cx="182880" cy="0"/>
          </a:xfrm>
          <a:prstGeom prst="line">
            <a:avLst/>
          </a:prstGeom>
          <a:noFill/>
          <a:ln w="22225">
            <a:solidFill>
              <a:srgbClr val="1D6FB8"/>
            </a:solidFill>
            <a:prstDash val="solid"/>
            <a:tailEnd type="triangle"/>
          </a:ln>
        </p:spPr>
      </p:sp>
      <p:sp>
        <p:nvSpPr>
          <p:cNvPr id="89" name="Shape 79"/>
          <p:cNvSpPr/>
          <p:nvPr/>
        </p:nvSpPr>
        <p:spPr>
          <a:xfrm>
            <a:off x="3566160" y="3566160"/>
            <a:ext cx="0" cy="146304"/>
          </a:xfrm>
          <a:prstGeom prst="line">
            <a:avLst/>
          </a:prstGeom>
          <a:noFill/>
          <a:ln w="22225">
            <a:solidFill>
              <a:srgbClr val="1D6FB8"/>
            </a:solidFill>
            <a:prstDash val="solid"/>
            <a:tailEnd type="triangle"/>
          </a:ln>
        </p:spPr>
      </p:sp>
      <p:sp>
        <p:nvSpPr>
          <p:cNvPr id="90" name="Shape 80"/>
          <p:cNvSpPr/>
          <p:nvPr/>
        </p:nvSpPr>
        <p:spPr>
          <a:xfrm flipV="1">
            <a:off x="3566160" y="4828032"/>
            <a:ext cx="0" cy="146304"/>
          </a:xfrm>
          <a:prstGeom prst="line">
            <a:avLst/>
          </a:prstGeom>
          <a:noFill/>
          <a:ln w="22225">
            <a:solidFill>
              <a:srgbClr val="2E8B57"/>
            </a:solidFill>
            <a:prstDash val="solid"/>
            <a:tailEnd type="triangle"/>
          </a:ln>
        </p:spPr>
      </p:sp>
      <p:sp>
        <p:nvSpPr>
          <p:cNvPr id="91" name="Shape 81"/>
          <p:cNvSpPr/>
          <p:nvPr/>
        </p:nvSpPr>
        <p:spPr>
          <a:xfrm flipH="1">
            <a:off x="4526280" y="3008376"/>
            <a:ext cx="365760" cy="283464"/>
          </a:xfrm>
          <a:prstGeom prst="line">
            <a:avLst/>
          </a:prstGeom>
          <a:noFill/>
          <a:ln w="17780">
            <a:solidFill>
              <a:srgbClr val="B7791F"/>
            </a:solidFill>
            <a:prstDash val="solid"/>
            <a:tailEnd type="triangle"/>
          </a:ln>
        </p:spPr>
      </p:sp>
      <p:sp>
        <p:nvSpPr>
          <p:cNvPr id="92" name="Shape 82"/>
          <p:cNvSpPr/>
          <p:nvPr/>
        </p:nvSpPr>
        <p:spPr>
          <a:xfrm>
            <a:off x="4526280" y="4270248"/>
            <a:ext cx="365760" cy="0"/>
          </a:xfrm>
          <a:prstGeom prst="line">
            <a:avLst/>
          </a:prstGeom>
          <a:noFill/>
          <a:ln w="22225">
            <a:solidFill>
              <a:srgbClr val="4F46E5"/>
            </a:solidFill>
            <a:prstDash val="solid"/>
            <a:tailEnd type="triangle"/>
          </a:ln>
        </p:spPr>
      </p:sp>
      <p:sp>
        <p:nvSpPr>
          <p:cNvPr id="93" name="Shape 83"/>
          <p:cNvSpPr/>
          <p:nvPr/>
        </p:nvSpPr>
        <p:spPr>
          <a:xfrm flipH="1">
            <a:off x="7223760" y="3008376"/>
            <a:ext cx="548640" cy="0"/>
          </a:xfrm>
          <a:prstGeom prst="line">
            <a:avLst/>
          </a:prstGeom>
          <a:noFill/>
          <a:ln w="22225">
            <a:solidFill>
              <a:srgbClr val="0E8074"/>
            </a:solidFill>
            <a:prstDash val="solid"/>
            <a:tailEnd type="triangle"/>
          </a:ln>
        </p:spPr>
      </p:sp>
      <p:sp>
        <p:nvSpPr>
          <p:cNvPr id="94" name="Shape 84"/>
          <p:cNvSpPr/>
          <p:nvPr/>
        </p:nvSpPr>
        <p:spPr>
          <a:xfrm flipH="1">
            <a:off x="6858000" y="3008376"/>
            <a:ext cx="365760" cy="923544"/>
          </a:xfrm>
          <a:prstGeom prst="line">
            <a:avLst/>
          </a:prstGeom>
          <a:noFill/>
          <a:ln w="22225">
            <a:solidFill>
              <a:srgbClr val="0E8074"/>
            </a:solidFill>
            <a:prstDash val="solid"/>
            <a:tailEnd type="triangle"/>
          </a:ln>
        </p:spPr>
      </p:sp>
      <p:sp>
        <p:nvSpPr>
          <p:cNvPr id="95" name="Shape 85"/>
          <p:cNvSpPr/>
          <p:nvPr/>
        </p:nvSpPr>
        <p:spPr>
          <a:xfrm flipH="1">
            <a:off x="6858000" y="4270248"/>
            <a:ext cx="914400" cy="0"/>
          </a:xfrm>
          <a:prstGeom prst="line">
            <a:avLst/>
          </a:prstGeom>
          <a:noFill/>
          <a:ln w="22225">
            <a:solidFill>
              <a:srgbClr val="0E8074"/>
            </a:solidFill>
            <a:prstDash val="solid"/>
            <a:tailEnd type="triangle"/>
          </a:ln>
        </p:spPr>
      </p:sp>
      <p:sp>
        <p:nvSpPr>
          <p:cNvPr id="96" name="Shape 86"/>
          <p:cNvSpPr/>
          <p:nvPr/>
        </p:nvSpPr>
        <p:spPr>
          <a:xfrm>
            <a:off x="6858000" y="4846320"/>
            <a:ext cx="914400" cy="502920"/>
          </a:xfrm>
          <a:prstGeom prst="line">
            <a:avLst/>
          </a:prstGeom>
          <a:noFill/>
          <a:ln w="22225">
            <a:solidFill>
              <a:srgbClr val="2E8B57"/>
            </a:solidFill>
            <a:prstDash val="solid"/>
            <a:tailEnd type="triangle"/>
          </a:ln>
        </p:spPr>
      </p:sp>
      <p:sp>
        <p:nvSpPr>
          <p:cNvPr id="97" name="Shape 87"/>
          <p:cNvSpPr/>
          <p:nvPr/>
        </p:nvSpPr>
        <p:spPr>
          <a:xfrm>
            <a:off x="9692640" y="5440680"/>
            <a:ext cx="411480" cy="0"/>
          </a:xfrm>
          <a:prstGeom prst="line">
            <a:avLst/>
          </a:prstGeom>
          <a:noFill/>
          <a:ln w="22225">
            <a:solidFill>
              <a:srgbClr val="2E8B57"/>
            </a:solidFill>
            <a:prstDash val="solid"/>
            <a:tailEnd type="triangle"/>
          </a:ln>
        </p:spPr>
      </p:sp>
      <p:sp>
        <p:nvSpPr>
          <p:cNvPr id="98" name="Shape 88"/>
          <p:cNvSpPr/>
          <p:nvPr/>
        </p:nvSpPr>
        <p:spPr>
          <a:xfrm>
            <a:off x="9692640" y="3008376"/>
            <a:ext cx="411480" cy="0"/>
          </a:xfrm>
          <a:prstGeom prst="line">
            <a:avLst/>
          </a:prstGeom>
          <a:noFill/>
          <a:ln w="22225">
            <a:solidFill>
              <a:srgbClr val="2E8B57"/>
            </a:solidFill>
            <a:prstDash val="solid"/>
            <a:tailEnd type="triangle"/>
          </a:ln>
        </p:spPr>
      </p:sp>
      <p:sp>
        <p:nvSpPr>
          <p:cNvPr id="99" name="Shape 89"/>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100" name="Text 90"/>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E8B57"/>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the kernel measures, the rules derive, the engineer answers, the guardrails check, the engine calculates — and the AI is an optional second opinion that can reach none of the money.</a:t>
            </a:r>
            <a:endParaRPr lang="en-US" sz="1050" dirty="0"/>
          </a:p>
        </p:txBody>
      </p:sp>
      <p:sp>
        <p:nvSpPr>
          <p:cNvPr id="101" name="Text 9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02" name="Text 9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Minutes, Not Hours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should-cost, by commodity: CostVision measured against the CAPEE-by-hand baseline</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WHAT THE COSTVISION MINUTES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E8074"/>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E8074"/>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E8074"/>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2–5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material · duty</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E8074"/>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band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87168"/>
            <a:ext cx="5394960" cy="457200"/>
          </a:xfrm>
          <a:prstGeom prst="rect">
            <a:avLst/>
          </a:prstGeom>
          <a:noFill/>
          <a:ln/>
        </p:spPr>
        <p:txBody>
          <a:bodyPr wrap="square" lIns="0" tIns="0" rIns="0" bIns="0" rtlCol="0" anchor="t"/>
          <a:lstStyle/>
          <a:p>
            <a:pPr indent="0" marL="0">
              <a:buNone/>
            </a:pPr>
            <a:r>
              <a:rPr lang="en-US" sz="1200" b="1" dirty="0">
                <a:solidFill>
                  <a:srgbClr val="0E8074"/>
                </a:solidFill>
                <a:latin typeface="Calibri" pitchFamily="34" charset="0"/>
                <a:ea typeface="Calibri" pitchFamily="34" charset="-122"/>
                <a:cs typeface="Calibri" pitchFamily="34" charset="-120"/>
              </a:rPr>
              <a:t>End to end: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throughout. The tool computes; the engineer answers and approves.</a:t>
            </a:r>
            <a:endParaRPr lang="en-US" sz="1200" dirty="0"/>
          </a:p>
        </p:txBody>
      </p:sp>
      <p:sp>
        <p:nvSpPr>
          <p:cNvPr id="30" name="Text 21"/>
          <p:cNvSpPr/>
          <p:nvPr/>
        </p:nvSpPr>
        <p:spPr>
          <a:xfrm>
            <a:off x="457200" y="2798064"/>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E8B57"/>
                </a:solidFill>
                <a:latin typeface="Calibri" pitchFamily="34" charset="0"/>
                <a:ea typeface="Calibri" pitchFamily="34" charset="-122"/>
                <a:cs typeface="Calibri" pitchFamily="34" charset="-120"/>
              </a:rPr>
              <a:t>✓ 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PCB — from a photo</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 10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4–6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457200" y="5417820"/>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18)</a:t>
            </a:r>
            <a:endParaRPr lang="en-US" sz="840" dirty="0"/>
          </a:p>
        </p:txBody>
      </p:sp>
      <p:sp>
        <p:nvSpPr>
          <p:cNvPr id="64" name="Text 55"/>
          <p:cNvSpPr/>
          <p:nvPr/>
        </p:nvSpPr>
        <p:spPr>
          <a:xfrm>
            <a:off x="2743200" y="5417820"/>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15–30 min</a:t>
            </a:r>
            <a:endParaRPr lang="en-US" sz="840" dirty="0"/>
          </a:p>
        </p:txBody>
      </p:sp>
      <p:sp>
        <p:nvSpPr>
          <p:cNvPr id="65" name="Text 56"/>
          <p:cNvSpPr/>
          <p:nvPr/>
        </p:nvSpPr>
        <p:spPr>
          <a:xfrm>
            <a:off x="3657600" y="5417820"/>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6" name="Text 57"/>
          <p:cNvSpPr/>
          <p:nvPr/>
        </p:nvSpPr>
        <p:spPr>
          <a:xfrm>
            <a:off x="4754880" y="5417820"/>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7" name="Text 58"/>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MINUTES PER ESTIMATE</a:t>
            </a:r>
            <a:endParaRPr lang="en-US" sz="850" dirty="0"/>
          </a:p>
        </p:txBody>
      </p:sp>
      <p:graphicFrame>
        <p:nvGraphicFramePr>
          <p:cNvPr id="68"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9" name="Text 59"/>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B7280"/>
                </a:solidFill>
                <a:latin typeface="Calibri" pitchFamily="34" charset="0"/>
                <a:ea typeface="Calibri" pitchFamily="34" charset="-122"/>
                <a:cs typeface="Calibri" pitchFamily="34" charset="-120"/>
              </a:rPr>
              <a:t>16–30× faster on the confirmed baseline. CAPEE midpoints marked "team-reported" are working figures — confirm with the costing team before circulating beyond this room.</a:t>
            </a:r>
            <a:endParaRPr lang="en-US" sz="860" dirty="0"/>
          </a:p>
        </p:txBody>
      </p:sp>
      <p:sp>
        <p:nvSpPr>
          <p:cNvPr id="70" name="Shape 60"/>
          <p:cNvSpPr/>
          <p:nvPr/>
        </p:nvSpPr>
        <p:spPr>
          <a:xfrm>
            <a:off x="457200" y="5806440"/>
            <a:ext cx="5394960" cy="566928"/>
          </a:xfrm>
          <a:prstGeom prst="roundRect">
            <a:avLst>
              <a:gd name="adj" fmla="val 12903"/>
            </a:avLst>
          </a:prstGeom>
          <a:solidFill>
            <a:srgbClr val="EAF6EF"/>
          </a:solidFill>
          <a:ln w="12700">
            <a:solidFill>
              <a:srgbClr val="2E8B57"/>
            </a:solidFill>
            <a:prstDash val="solid"/>
          </a:ln>
        </p:spPr>
      </p:sp>
      <p:sp>
        <p:nvSpPr>
          <p:cNvPr id="71" name="Text 61"/>
          <p:cNvSpPr/>
          <p:nvPr/>
        </p:nvSpPr>
        <p:spPr>
          <a:xfrm>
            <a:off x="621792" y="5806440"/>
            <a:ext cx="5120640" cy="566928"/>
          </a:xfrm>
          <a:prstGeom prst="rect">
            <a:avLst/>
          </a:prstGeom>
          <a:noFill/>
          <a:ln/>
        </p:spPr>
        <p:txBody>
          <a:bodyPr wrap="square" lIns="0" tIns="0" rIns="0" bIns="0" rtlCol="0" anchor="ctr"/>
          <a:lstStyle/>
          <a:p>
            <a:pPr indent="0" marL="0">
              <a:buNone/>
            </a:pPr>
            <a:r>
              <a:rPr lang="en-US" sz="930" b="1" dirty="0">
                <a:solidFill>
                  <a:srgbClr val="2E8B57"/>
                </a:solidFill>
                <a:latin typeface="Calibri" pitchFamily="34" charset="0"/>
                <a:ea typeface="Calibri" pitchFamily="34" charset="-122"/>
                <a:cs typeface="Calibri" pitchFamily="34" charset="-120"/>
              </a:rPr>
              <a:t>Capacity, not headcount:  </a:t>
            </a:r>
            <a:pPr indent="0" marL="0">
              <a:buNone/>
            </a:pPr>
            <a:r>
              <a:rPr lang="en-US" sz="930" dirty="0">
                <a:solidFill>
                  <a:srgbClr val="3A4356"/>
                </a:solidFill>
                <a:latin typeface="Calibri" pitchFamily="34" charset="0"/>
                <a:ea typeface="Calibri" pitchFamily="34" charset="-122"/>
                <a:cs typeface="Calibri" pitchFamily="34" charset="-120"/>
              </a:rPr>
              <a:t>at these times one engineer reviews 15–25 should-costs a day instead of preparing 1–2 — the saved hours go into negotiation, not data entry.</a:t>
            </a:r>
            <a:endParaRPr lang="en-US" sz="930" dirty="0"/>
          </a:p>
        </p:txBody>
      </p:sp>
      <p:sp>
        <p:nvSpPr>
          <p:cNvPr id="72"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3"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figure on this slide is measured from the tool — nothing is projected</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E8074"/>
                </a:solidFill>
                <a:latin typeface="Cambria" pitchFamily="34" charset="0"/>
                <a:ea typeface="Cambria" pitchFamily="34" charset="-122"/>
                <a:cs typeface="Cambria" pitchFamily="34" charset="-120"/>
              </a:rPr>
              <a:t>16–30×</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faster than the confirmed</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CAPEE baseline</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E8B57"/>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in Rules mode — no AI call</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100%</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of cost lines carry their</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ACCURACY — 6 REAL PARTS vs INDEPENDENT MANUAL SHOULD-COSTS (China · 100k/yr)</a:t>
            </a:r>
            <a:endParaRPr lang="en-US" sz="850" dirty="0"/>
          </a:p>
        </p:txBody>
      </p:sp>
      <p:sp>
        <p:nvSpPr>
          <p:cNvPr id="18" name="Text 16"/>
          <p:cNvSpPr/>
          <p:nvPr/>
        </p:nvSpPr>
        <p:spPr>
          <a:xfrm>
            <a:off x="457200" y="2578608"/>
            <a:ext cx="233172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Part</a:t>
            </a:r>
            <a:endParaRPr lang="en-US" sz="820" dirty="0"/>
          </a:p>
        </p:txBody>
      </p:sp>
      <p:sp>
        <p:nvSpPr>
          <p:cNvPr id="19" name="Text 17"/>
          <p:cNvSpPr/>
          <p:nvPr/>
        </p:nvSpPr>
        <p:spPr>
          <a:xfrm>
            <a:off x="2788920" y="2578608"/>
            <a:ext cx="96012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Manual</a:t>
            </a:r>
            <a:endParaRPr lang="en-US" sz="820" dirty="0"/>
          </a:p>
        </p:txBody>
      </p:sp>
      <p:sp>
        <p:nvSpPr>
          <p:cNvPr id="20" name="Text 18"/>
          <p:cNvSpPr/>
          <p:nvPr/>
        </p:nvSpPr>
        <p:spPr>
          <a:xfrm>
            <a:off x="3749040" y="2578608"/>
            <a:ext cx="9144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CostVision</a:t>
            </a:r>
            <a:endParaRPr lang="en-US" sz="820" dirty="0"/>
          </a:p>
        </p:txBody>
      </p:sp>
      <p:sp>
        <p:nvSpPr>
          <p:cNvPr id="21" name="Text 19"/>
          <p:cNvSpPr/>
          <p:nvPr/>
        </p:nvSpPr>
        <p:spPr>
          <a:xfrm>
            <a:off x="4663440" y="2578608"/>
            <a:ext cx="6858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Error</a:t>
            </a:r>
            <a:endParaRPr lang="en-US" sz="820" dirty="0"/>
          </a:p>
        </p:txBody>
      </p:sp>
      <p:sp>
        <p:nvSpPr>
          <p:cNvPr id="22" name="Text 20"/>
          <p:cNvSpPr/>
          <p:nvPr/>
        </p:nvSpPr>
        <p:spPr>
          <a:xfrm>
            <a:off x="457200" y="2798064"/>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Fuel tank (blow-moulded)</a:t>
            </a:r>
            <a:endParaRPr lang="en-US" sz="830" dirty="0"/>
          </a:p>
        </p:txBody>
      </p:sp>
      <p:sp>
        <p:nvSpPr>
          <p:cNvPr id="23" name="Text 21"/>
          <p:cNvSpPr/>
          <p:nvPr/>
        </p:nvSpPr>
        <p:spPr>
          <a:xfrm>
            <a:off x="2788920" y="2798064"/>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£20–30</a:t>
            </a:r>
            <a:endParaRPr lang="en-US" sz="830" dirty="0"/>
          </a:p>
        </p:txBody>
      </p:sp>
      <p:sp>
        <p:nvSpPr>
          <p:cNvPr id="24" name="Text 22"/>
          <p:cNvSpPr/>
          <p:nvPr/>
        </p:nvSpPr>
        <p:spPr>
          <a:xfrm>
            <a:off x="3749040" y="2798064"/>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£25.82</a:t>
            </a:r>
            <a:endParaRPr lang="en-US" sz="830" dirty="0"/>
          </a:p>
        </p:txBody>
      </p:sp>
      <p:sp>
        <p:nvSpPr>
          <p:cNvPr id="25" name="Text 23"/>
          <p:cNvSpPr/>
          <p:nvPr/>
        </p:nvSpPr>
        <p:spPr>
          <a:xfrm>
            <a:off x="4663440" y="2798064"/>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26" name="Text 24"/>
          <p:cNvSpPr/>
          <p:nvPr/>
        </p:nvSpPr>
        <p:spPr>
          <a:xfrm>
            <a:off x="457200" y="3086100"/>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Front bumper (inj. moulded)</a:t>
            </a:r>
            <a:endParaRPr lang="en-US" sz="830" dirty="0"/>
          </a:p>
        </p:txBody>
      </p:sp>
      <p:sp>
        <p:nvSpPr>
          <p:cNvPr id="27" name="Text 25"/>
          <p:cNvSpPr/>
          <p:nvPr/>
        </p:nvSpPr>
        <p:spPr>
          <a:xfrm>
            <a:off x="2788920" y="3086100"/>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£8–9</a:t>
            </a:r>
            <a:endParaRPr lang="en-US" sz="830" dirty="0"/>
          </a:p>
        </p:txBody>
      </p:sp>
      <p:sp>
        <p:nvSpPr>
          <p:cNvPr id="28" name="Text 26"/>
          <p:cNvSpPr/>
          <p:nvPr/>
        </p:nvSpPr>
        <p:spPr>
          <a:xfrm>
            <a:off x="3749040" y="3086100"/>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£8.28</a:t>
            </a:r>
            <a:endParaRPr lang="en-US" sz="830" dirty="0"/>
          </a:p>
        </p:txBody>
      </p:sp>
      <p:sp>
        <p:nvSpPr>
          <p:cNvPr id="29" name="Text 27"/>
          <p:cNvSpPr/>
          <p:nvPr/>
        </p:nvSpPr>
        <p:spPr>
          <a:xfrm>
            <a:off x="4663440" y="3086100"/>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30" name="Text 28"/>
          <p:cNvSpPr/>
          <p:nvPr/>
        </p:nvSpPr>
        <p:spPr>
          <a:xfrm>
            <a:off x="457200" y="3374136"/>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Seat cross-member (pressed)</a:t>
            </a:r>
            <a:endParaRPr lang="en-US" sz="830" dirty="0"/>
          </a:p>
        </p:txBody>
      </p:sp>
      <p:sp>
        <p:nvSpPr>
          <p:cNvPr id="31" name="Text 29"/>
          <p:cNvSpPr/>
          <p:nvPr/>
        </p:nvSpPr>
        <p:spPr>
          <a:xfrm>
            <a:off x="2788920" y="3374136"/>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£1.20–1.60</a:t>
            </a:r>
            <a:endParaRPr lang="en-US" sz="830" dirty="0"/>
          </a:p>
        </p:txBody>
      </p:sp>
      <p:sp>
        <p:nvSpPr>
          <p:cNvPr id="32" name="Text 30"/>
          <p:cNvSpPr/>
          <p:nvPr/>
        </p:nvSpPr>
        <p:spPr>
          <a:xfrm>
            <a:off x="3749040" y="3374136"/>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£1.33</a:t>
            </a:r>
            <a:endParaRPr lang="en-US" sz="830" dirty="0"/>
          </a:p>
        </p:txBody>
      </p:sp>
      <p:sp>
        <p:nvSpPr>
          <p:cNvPr id="33" name="Text 31"/>
          <p:cNvSpPr/>
          <p:nvPr/>
        </p:nvSpPr>
        <p:spPr>
          <a:xfrm>
            <a:off x="4663440" y="3374136"/>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−5%</a:t>
            </a:r>
            <a:endParaRPr lang="en-US" sz="830" dirty="0"/>
          </a:p>
        </p:txBody>
      </p:sp>
      <p:sp>
        <p:nvSpPr>
          <p:cNvPr id="34" name="Text 32"/>
          <p:cNvSpPr/>
          <p:nvPr/>
        </p:nvSpPr>
        <p:spPr>
          <a:xfrm>
            <a:off x="457200" y="3662172"/>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Steering knuckle (cast+mach)</a:t>
            </a:r>
            <a:endParaRPr lang="en-US" sz="830" dirty="0"/>
          </a:p>
        </p:txBody>
      </p:sp>
      <p:sp>
        <p:nvSpPr>
          <p:cNvPr id="35" name="Text 33"/>
          <p:cNvSpPr/>
          <p:nvPr/>
        </p:nvSpPr>
        <p:spPr>
          <a:xfrm>
            <a:off x="2788920" y="3662172"/>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£16–18</a:t>
            </a:r>
            <a:endParaRPr lang="en-US" sz="830" dirty="0"/>
          </a:p>
        </p:txBody>
      </p:sp>
      <p:sp>
        <p:nvSpPr>
          <p:cNvPr id="36" name="Text 34"/>
          <p:cNvSpPr/>
          <p:nvPr/>
        </p:nvSpPr>
        <p:spPr>
          <a:xfrm>
            <a:off x="3749040" y="3662172"/>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£14.05</a:t>
            </a:r>
            <a:endParaRPr lang="en-US" sz="830" dirty="0"/>
          </a:p>
        </p:txBody>
      </p:sp>
      <p:sp>
        <p:nvSpPr>
          <p:cNvPr id="37" name="Text 35"/>
          <p:cNvSpPr/>
          <p:nvPr/>
        </p:nvSpPr>
        <p:spPr>
          <a:xfrm>
            <a:off x="4663440" y="3662172"/>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−17%</a:t>
            </a:r>
            <a:endParaRPr lang="en-US" sz="830" dirty="0"/>
          </a:p>
        </p:txBody>
      </p:sp>
      <p:sp>
        <p:nvSpPr>
          <p:cNvPr id="38" name="Text 36"/>
          <p:cNvSpPr/>
          <p:nvPr/>
        </p:nvSpPr>
        <p:spPr>
          <a:xfrm>
            <a:off x="457200" y="3950208"/>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Stub axle (forged+mach)</a:t>
            </a:r>
            <a:endParaRPr lang="en-US" sz="830" dirty="0"/>
          </a:p>
        </p:txBody>
      </p:sp>
      <p:sp>
        <p:nvSpPr>
          <p:cNvPr id="39" name="Text 37"/>
          <p:cNvSpPr/>
          <p:nvPr/>
        </p:nvSpPr>
        <p:spPr>
          <a:xfrm>
            <a:off x="2788920" y="3950208"/>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£30</a:t>
            </a:r>
            <a:endParaRPr lang="en-US" sz="830" dirty="0"/>
          </a:p>
        </p:txBody>
      </p:sp>
      <p:sp>
        <p:nvSpPr>
          <p:cNvPr id="40" name="Text 38"/>
          <p:cNvSpPr/>
          <p:nvPr/>
        </p:nvSpPr>
        <p:spPr>
          <a:xfrm>
            <a:off x="3749040" y="3950208"/>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£38.98</a:t>
            </a:r>
            <a:endParaRPr lang="en-US" sz="830" dirty="0"/>
          </a:p>
        </p:txBody>
      </p:sp>
      <p:sp>
        <p:nvSpPr>
          <p:cNvPr id="41" name="Text 39"/>
          <p:cNvSpPr/>
          <p:nvPr/>
        </p:nvSpPr>
        <p:spPr>
          <a:xfrm>
            <a:off x="4663440" y="3950208"/>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+30%</a:t>
            </a:r>
            <a:endParaRPr lang="en-US" sz="830" dirty="0"/>
          </a:p>
        </p:txBody>
      </p:sp>
      <p:sp>
        <p:nvSpPr>
          <p:cNvPr id="42" name="Text 40"/>
          <p:cNvSpPr/>
          <p:nvPr/>
        </p:nvSpPr>
        <p:spPr>
          <a:xfrm>
            <a:off x="457200" y="4238244"/>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Servo horn (CNC, 3 g)</a:t>
            </a:r>
            <a:endParaRPr lang="en-US" sz="830" dirty="0"/>
          </a:p>
        </p:txBody>
      </p:sp>
      <p:sp>
        <p:nvSpPr>
          <p:cNvPr id="43" name="Text 41"/>
          <p:cNvSpPr/>
          <p:nvPr/>
        </p:nvSpPr>
        <p:spPr>
          <a:xfrm>
            <a:off x="2788920" y="4238244"/>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£2.20</a:t>
            </a:r>
            <a:endParaRPr lang="en-US" sz="830" dirty="0"/>
          </a:p>
        </p:txBody>
      </p:sp>
      <p:sp>
        <p:nvSpPr>
          <p:cNvPr id="44" name="Text 42"/>
          <p:cNvSpPr/>
          <p:nvPr/>
        </p:nvSpPr>
        <p:spPr>
          <a:xfrm>
            <a:off x="3749040" y="4238244"/>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£2.91</a:t>
            </a:r>
            <a:endParaRPr lang="en-US" sz="830" dirty="0"/>
          </a:p>
        </p:txBody>
      </p:sp>
      <p:sp>
        <p:nvSpPr>
          <p:cNvPr id="45" name="Text 43"/>
          <p:cNvSpPr/>
          <p:nvPr/>
        </p:nvSpPr>
        <p:spPr>
          <a:xfrm>
            <a:off x="4663440" y="4238244"/>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+32%</a:t>
            </a:r>
            <a:endParaRPr lang="en-US" sz="830" dirty="0"/>
          </a:p>
        </p:txBody>
      </p:sp>
      <p:sp>
        <p:nvSpPr>
          <p:cNvPr id="46" name="Text 44"/>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Fleet error 15% vs the AI path’s 28% on the same parts. </a:t>
            </a:r>
            <a:pPr indent="0" marL="0">
              <a:buNone/>
            </a:pPr>
            <a:r>
              <a:rPr lang="en-US" sz="900" dirty="0">
                <a:solidFill>
                  <a:srgbClr val="3A4356"/>
                </a:solidFill>
                <a:latin typeface="Calibri" pitchFamily="34" charset="0"/>
                <a:ea typeface="Calibri" pitchFamily="34" charset="-122"/>
                <a:cs typeface="Calibri" pitchFamily="34" charset="-120"/>
              </a:rPr>
              <a:t>Every miss is visible and every over-estimate errs on the negotiating side — no silent under-quote. Validated on these 6 parts; validation on unseen parts is the next step and is said so out loud.</a:t>
            </a:r>
            <a:endParaRPr lang="en-US" sz="900" dirty="0"/>
          </a:p>
        </p:txBody>
      </p:sp>
      <p:graphicFrame>
        <p:nvGraphicFramePr>
          <p:cNvPr id="47"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9006840" y="2432304"/>
          <a:ext cx="2834640" cy="2286000"/>
        </p:xfrm>
        <a:graphic xmlns:a="http://schemas.openxmlformats.org/drawingml/2006/main">
          <a:graphicData uri="http://schemas.openxmlformats.org/drawingml/2006/chart">
            <c:chart xmlns:c="http://schemas.openxmlformats.org/drawingml/2006/chart" r:id="rId2"/>
          </a:graphicData>
        </a:graphic>
      </p:graphicFrame>
      <p:sp>
        <p:nvSpPr>
          <p:cNvPr id="49" name="Shape 45"/>
          <p:cNvSpPr/>
          <p:nvPr/>
        </p:nvSpPr>
        <p:spPr>
          <a:xfrm>
            <a:off x="457200" y="5440680"/>
            <a:ext cx="11274552" cy="932688"/>
          </a:xfrm>
          <a:prstGeom prst="roundRect">
            <a:avLst>
              <a:gd name="adj" fmla="val 8824"/>
            </a:avLst>
          </a:prstGeom>
          <a:solidFill>
            <a:srgbClr val="FCF3E3"/>
          </a:solidFill>
          <a:ln w="12700">
            <a:solidFill>
              <a:srgbClr val="B7791F"/>
            </a:solidFill>
            <a:prstDash val="solid"/>
          </a:ln>
        </p:spPr>
      </p:sp>
      <p:pic>
        <p:nvPicPr>
          <p:cNvPr id="50" name="Image 0" descr="preencoded.png">    </p:cNvPr>
          <p:cNvPicPr>
            <a:picLocks noChangeAspect="1"/>
          </p:cNvPicPr>
          <p:nvPr/>
        </p:nvPicPr>
        <p:blipFill>
          <a:blip r:embed="rId3"/>
          <a:stretch>
            <a:fillRect/>
          </a:stretch>
        </p:blipFill>
        <p:spPr>
          <a:xfrm>
            <a:off x="621792" y="5596128"/>
            <a:ext cx="237744" cy="237744"/>
          </a:xfrm>
          <a:prstGeom prst="rect">
            <a:avLst/>
          </a:prstGeom>
        </p:spPr>
      </p:pic>
      <p:sp>
        <p:nvSpPr>
          <p:cNvPr id="51" name="Text 46"/>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yet; it stops and asks the engineer for the material rather than guessing; accuracy is verified on 6 parts and the validation set is being widened before any accuracy figure goes into a supplier commitment. Every number above is reproducible from the tool today — the evidence pack (per-part derivations, all three benchmark rounds) accompanies this deck.</a:t>
            </a:r>
            <a:endParaRPr lang="en-US" sz="900" dirty="0"/>
          </a:p>
        </p:txBody>
      </p:sp>
      <p:sp>
        <p:nvSpPr>
          <p:cNvPr id="52" name="Text 4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3" name="Text 4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E8074"/>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E8074"/>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E8074"/>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E8074"/>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E8074"/>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Recognise the recipe</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with a confidence score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B7791F"/>
            </a:solidFill>
            <a:prstDash val="solid"/>
          </a:ln>
        </p:spPr>
      </p:sp>
      <p:sp>
        <p:nvSpPr>
          <p:cNvPr id="39" name="Shape 36"/>
          <p:cNvSpPr/>
          <p:nvPr/>
        </p:nvSpPr>
        <p:spPr>
          <a:xfrm>
            <a:off x="4974336" y="2395728"/>
            <a:ext cx="2157984" cy="384048"/>
          </a:xfrm>
          <a:prstGeom prst="rect">
            <a:avLst/>
          </a:prstGeom>
          <a:solidFill>
            <a:srgbClr val="B7791F"/>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B7791F"/>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E8074"/>
            </a:solidFill>
            <a:prstDash val="solid"/>
          </a:ln>
        </p:spPr>
      </p:sp>
      <p:sp>
        <p:nvSpPr>
          <p:cNvPr id="47" name="Shape 44"/>
          <p:cNvSpPr/>
          <p:nvPr/>
        </p:nvSpPr>
        <p:spPr>
          <a:xfrm>
            <a:off x="7232904" y="2395728"/>
            <a:ext cx="2157984" cy="384048"/>
          </a:xfrm>
          <a:prstGeom prst="rect">
            <a:avLst/>
          </a:prstGeom>
          <a:solidFill>
            <a:srgbClr val="0E8074"/>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E8074"/>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E8B57"/>
            </a:solidFill>
            <a:prstDash val="solid"/>
          </a:ln>
        </p:spPr>
      </p:sp>
      <p:sp>
        <p:nvSpPr>
          <p:cNvPr id="55" name="Shape 52"/>
          <p:cNvSpPr/>
          <p:nvPr/>
        </p:nvSpPr>
        <p:spPr>
          <a:xfrm>
            <a:off x="9491472" y="2395728"/>
            <a:ext cx="2157984" cy="384048"/>
          </a:xfrm>
          <a:prstGeom prst="rect">
            <a:avLst/>
          </a:prstGeom>
          <a:solidFill>
            <a:srgbClr val="2E8B57"/>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E8B57"/>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B7280"/>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one stage the AI owns — and the hard limits on it</a:t>
            </a:r>
            <a:endParaRPr lang="en-US" sz="1200" dirty="0"/>
          </a:p>
        </p:txBody>
      </p:sp>
      <p:sp>
        <p:nvSpPr>
          <p:cNvPr id="5" name="Shape 3"/>
          <p:cNvSpPr/>
          <p:nvPr/>
        </p:nvSpPr>
        <p:spPr>
          <a:xfrm>
            <a:off x="94183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THE AI</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Only the measurements from the previous slide — plus the part name and the shape signature. It never sees a price list, and it never sees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514600"/>
          </a:xfrm>
          <a:prstGeom prst="roundRect">
            <a:avLst>
              <a:gd name="adj" fmla="val 3636"/>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sp>
        <p:nvSpPr>
          <p:cNvPr id="31" name="Shape 24"/>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2" name="Text 25"/>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3" name="Text 26"/>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4" name="Shape 27"/>
          <p:cNvSpPr/>
          <p:nvPr/>
        </p:nvSpPr>
        <p:spPr>
          <a:xfrm>
            <a:off x="457200" y="5212080"/>
            <a:ext cx="11274552" cy="822960"/>
          </a:xfrm>
          <a:prstGeom prst="roundRect">
            <a:avLst>
              <a:gd name="adj" fmla="val 11111"/>
            </a:avLst>
          </a:prstGeom>
          <a:solidFill>
            <a:srgbClr val="EAF6EF"/>
          </a:solidFill>
          <a:ln w="12700">
            <a:solidFill>
              <a:srgbClr val="2E8B57"/>
            </a:solidFill>
            <a:prstDash val="solid"/>
          </a:ln>
        </p:spPr>
      </p:sp>
      <p:sp>
        <p:nvSpPr>
          <p:cNvPr id="35" name="Text 28"/>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and it cannot.</a:t>
            </a:r>
            <a:endParaRPr lang="en-US" sz="1200" dirty="0"/>
          </a:p>
        </p:txBody>
      </p:sp>
      <p:sp>
        <p:nvSpPr>
          <p:cNvPr id="36"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B7791F"/>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high-pressure die casting, and why a 1,600-tonne press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E8B57"/>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680" b="1" dirty="0">
                <a:solidFill>
                  <a:srgbClr val="2E8B57"/>
                </a:solidFill>
                <a:latin typeface="Calibri" pitchFamily="34" charset="0"/>
                <a:ea typeface="Calibri" pitchFamily="34" charset="-122"/>
                <a:cs typeface="Calibri" pitchFamily="34" charset="-120"/>
              </a:rPr>
              <a:t>CHOSEN</a:t>
            </a:r>
            <a:endParaRPr lang="en-US" sz="68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E8074"/>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and it flags the choice for the engineer to confirm.</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Who decided all this?  </a:t>
            </a:r>
            <a:pPr indent="0" marL="0">
              <a:buNone/>
            </a:pPr>
            <a:r>
              <a:rPr lang="en-US" sz="1150" b="1" dirty="0">
                <a:solidFill>
                  <a:srgbClr val="6B3FA0"/>
                </a:solidFill>
                <a:latin typeface="Calibri" pitchFamily="34" charset="0"/>
                <a:ea typeface="Calibri" pitchFamily="34" charset="-122"/>
                <a:cs typeface="Calibri" pitchFamily="34" charset="-120"/>
              </a:rPr>
              <a:t>The AI </a:t>
            </a:r>
            <a:pPr indent="0" marL="0">
              <a:buNone/>
            </a:pPr>
            <a:r>
              <a:rPr lang="en-US" sz="1150" dirty="0">
                <a:solidFill>
                  <a:srgbClr val="3A4356"/>
                </a:solidFill>
                <a:latin typeface="Calibri" pitchFamily="34" charset="0"/>
                <a:ea typeface="Calibri" pitchFamily="34" charset="-122"/>
                <a:cs typeface="Calibri" pitchFamily="34" charset="-120"/>
              </a:rPr>
              <a:t>suggested "die casting". </a:t>
            </a:r>
            <a:pPr indent="0" marL="0">
              <a:buNone/>
            </a:pPr>
            <a:r>
              <a:rPr lang="en-US" sz="1150" b="1" dirty="0">
                <a:solidFill>
                  <a:srgbClr val="0E8074"/>
                </a:solidFill>
                <a:latin typeface="Calibri" pitchFamily="34" charset="0"/>
                <a:ea typeface="Calibri" pitchFamily="34" charset="-122"/>
                <a:cs typeface="Calibri" pitchFamily="34" charset="-120"/>
              </a:rPr>
              <a:t>The engine </a:t>
            </a:r>
            <a:pPr indent="0" marL="0">
              <a:buNone/>
            </a:pPr>
            <a:r>
              <a:rPr lang="en-US" sz="1150" dirty="0">
                <a:solidFill>
                  <a:srgbClr val="3A4356"/>
                </a:solidFill>
                <a:latin typeface="Calibri" pitchFamily="34" charset="0"/>
                <a:ea typeface="Calibri" pitchFamily="34" charset="-122"/>
                <a:cs typeface="Calibri" pitchFamily="34" charset="-120"/>
              </a:rPr>
              <a:t>then tested that suggestion against the measured geometry, rejected the alternatives on physical grounds, and sized the press by calculation. </a:t>
            </a:r>
            <a:pPr indent="0" marL="0">
              <a:buNone/>
            </a:pPr>
            <a:r>
              <a:rPr lang="en-US" sz="1150" b="1" dirty="0">
                <a:solidFill>
                  <a:srgbClr val="16325C"/>
                </a:solidFill>
                <a:latin typeface="Calibri" pitchFamily="34" charset="0"/>
                <a:ea typeface="Calibri" pitchFamily="34" charset="-122"/>
                <a:cs typeface="Calibri" pitchFamily="34" charset="-120"/>
              </a:rPr>
              <a:t>The AI proposed; the engine disposed. </a:t>
            </a:r>
            <a:pPr indent="0" marL="0">
              <a:buNone/>
            </a:pPr>
            <a:r>
              <a:rPr lang="en-US" sz="1150" dirty="0">
                <a:solidFill>
                  <a:srgbClr val="3A4356"/>
                </a:solidFill>
                <a:latin typeface="Calibri" pitchFamily="34" charset="0"/>
                <a:ea typeface="Calibri" pitchFamily="34" charset="-122"/>
                <a:cs typeface="Calibri" pitchFamily="34" charset="-120"/>
              </a:rPr>
              <a:t>If the AI had said "sand casting", the 3 mm walls would have overruled it.</a:t>
            </a:r>
            <a:endParaRPr lang="en-US" sz="115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B7791F"/>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B7280"/>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E8074"/>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E8074"/>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E8B57"/>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E8074"/>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E8074"/>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E8B57"/>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E8B57"/>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E8074"/>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B7280"/>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E8B57"/>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E8B57"/>
            </a:solidFill>
            <a:prstDash val="solid"/>
          </a:ln>
        </p:spPr>
      </p:sp>
      <p:sp>
        <p:nvSpPr>
          <p:cNvPr id="30" name="Shape 23"/>
          <p:cNvSpPr/>
          <p:nvPr/>
        </p:nvSpPr>
        <p:spPr>
          <a:xfrm>
            <a:off x="713232" y="3858768"/>
            <a:ext cx="548640" cy="548640"/>
          </a:xfrm>
          <a:prstGeom prst="ellipse">
            <a:avLst/>
          </a:prstGeom>
          <a:solidFill>
            <a:srgbClr val="2E8B57"/>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E8B57"/>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E8B57"/>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E8B57"/>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trial multiplies every base bucket — material, process, labour, tooling, packaging, logistics — by a lognormal factor with that spread (always positive, mean 1), then recomposes overhead and margin exactly as the real engine does. 4,000 slightly different worlds,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E8B57"/>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E8074"/>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B7280"/>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E8074"/>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E8B57"/>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Calibrated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Once enough real quotes or invoices exist for a segment, a conformal calibration layer replaces the prior — the band then provably covers the target share of actual outcomes. Until then, the Monte-Carlo prior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B7791F"/>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E8B57"/>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“£26 ± 18%”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DFM / DFA Report — Rules, Not Opinions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How §12–§15 of the report are made, end to end — and who is allowed to write them</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0E8074"/>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costing finishes first</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The DFM/DFA engine reads the FINISHED result: the 8-bucket breakdown plus the same measured inputs the estimate used — material utilisation, OEE, operation list, tooling amortisation. It critiques the exact numbers that were costed, not a separate copy.</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0E8074"/>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~37 threshold rules fire</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Fixed engineering thresholds, each with severity, saving % and a recommendation: material utilisation below 60% is critical and below 72% major; OEE below 70% critical, below 80% major; each cost bucket compared to its commodity benchmark band; operation and setup counts checked.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0E8074"/>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10 process advisors add geometry findings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Per-process DFM read from the measured solid (casting, forging, sheet metal, moulding families…): heavy sections that solidify last → shrink porosity at the hot spot; sharp re-entrant corners → hot-tear initiation; missing draft; wall-ratio breaches; excess machining stock → near-net opportunity.</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0E8074"/>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Score and roadmap by arithmetic</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Every part starts at 10/10: minus 2 per critical, 1 per major, 0.5 per minor. The DFA score runs the same way on assembly rules. Actions become the roadmap: low-risk quick wins vs long-term changes — a filter over the same list, nothing new invented.</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WHERE IT COMES FROM</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Text 25"/>
          <p:cNvSpPr/>
          <p:nvPr/>
        </p:nvSpPr>
        <p:spPr>
          <a:xfrm>
            <a:off x="7452360" y="1426464"/>
            <a:ext cx="4114800" cy="219456"/>
          </a:xfrm>
          <a:prstGeom prst="rect">
            <a:avLst/>
          </a:prstGeom>
          <a:noFill/>
          <a:ln/>
        </p:spPr>
        <p:txBody>
          <a:bodyPr wrap="square" lIns="0" tIns="0" rIns="0" bIns="0" rtlCol="0" anchor="ctr"/>
          <a:lstStyle/>
          <a:p>
            <a:pPr indent="0" marL="0">
              <a:buNone/>
            </a:pPr>
            <a:r>
              <a:rPr lang="en-US" sz="1050" b="1" dirty="0">
                <a:solidFill>
                  <a:srgbClr val="16325C"/>
                </a:solidFill>
                <a:latin typeface="Courier New" pitchFamily="34" charset="0"/>
                <a:ea typeface="Courier New" pitchFamily="34" charset="-122"/>
                <a:cs typeface="Courier New" pitchFamily="34" charset="-120"/>
              </a:rPr>
              <a:t>src/engine/dfm-dfa.ts</a:t>
            </a:r>
            <a:endParaRPr lang="en-US" sz="1050" dirty="0"/>
          </a:p>
        </p:txBody>
      </p:sp>
      <p:sp>
        <p:nvSpPr>
          <p:cNvPr id="28" name="Text 26"/>
          <p:cNvSpPr/>
          <p:nvPr/>
        </p:nvSpPr>
        <p:spPr>
          <a:xfrm>
            <a:off x="7452360" y="1682496"/>
            <a:ext cx="4114800" cy="402336"/>
          </a:xfrm>
          <a:prstGeom prst="rect">
            <a:avLst/>
          </a:prstGeom>
          <a:noFill/>
          <a:ln/>
        </p:spPr>
        <p:txBody>
          <a:bodyPr wrap="square" lIns="0" tIns="0" rIns="0" bIns="0" rtlCol="0" anchor="t"/>
          <a:lstStyle/>
          <a:p>
            <a:pPr indent="0" marL="0">
              <a:buNone/>
            </a:pPr>
            <a:r>
              <a:rPr lang="en-US" sz="840" i="1" dirty="0">
                <a:solidFill>
                  <a:srgbClr val="3A4356"/>
                </a:solidFill>
                <a:latin typeface="Calibri" pitchFamily="34" charset="0"/>
                <a:ea typeface="Calibri" pitchFamily="34" charset="-122"/>
                <a:cs typeface="Calibri" pitchFamily="34" charset="-120"/>
              </a:rPr>
              <a:t>“Rule-based DFM/DFA and Cost Optimisation engine. Deterministic — no AI API required.” — the file’s own header, and the test suite holds it to that.</a:t>
            </a:r>
            <a:endParaRPr lang="en-US" sz="840" dirty="0"/>
          </a:p>
        </p:txBody>
      </p:sp>
      <p:sp>
        <p:nvSpPr>
          <p:cNvPr id="29" name="Text 27"/>
          <p:cNvSpPr/>
          <p:nvPr/>
        </p:nvSpPr>
        <p:spPr>
          <a:xfrm>
            <a:off x="7452360" y="2121408"/>
            <a:ext cx="4114800" cy="201168"/>
          </a:xfrm>
          <a:prstGeom prst="rect">
            <a:avLst/>
          </a:prstGeom>
          <a:noFill/>
          <a:ln/>
        </p:spPr>
        <p:txBody>
          <a:bodyPr wrap="square" lIns="0" tIns="0" rIns="0" bIns="0" rtlCol="0" anchor="ctr"/>
          <a:lstStyle/>
          <a:p>
            <a:pPr indent="0" marL="0">
              <a:buNone/>
            </a:pPr>
            <a:r>
              <a:rPr lang="en-US" sz="950" b="1" dirty="0">
                <a:solidFill>
                  <a:srgbClr val="16325C"/>
                </a:solidFill>
                <a:latin typeface="Courier New" pitchFamily="34" charset="0"/>
                <a:ea typeface="Courier New" pitchFamily="34" charset="-122"/>
                <a:cs typeface="Courier New" pitchFamily="34" charset="-120"/>
              </a:rPr>
              <a:t>+ modules/*-advisor.ts</a:t>
            </a:r>
            <a:endParaRPr lang="en-US" sz="950" dirty="0"/>
          </a:p>
        </p:txBody>
      </p:sp>
      <p:sp>
        <p:nvSpPr>
          <p:cNvPr id="30" name="Text 28"/>
          <p:cNvSpPr/>
          <p:nvPr/>
        </p:nvSpPr>
        <p:spPr>
          <a:xfrm>
            <a:off x="7452360" y="2340864"/>
            <a:ext cx="4160520" cy="621792"/>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Ten per-process advisor modules supply the geometry-driven findings. One function feeds §12–§15 of the PDF AND the on-screen panel — the same object rendered twice, so screen and report can never disagree.</a:t>
            </a:r>
            <a:endParaRPr lang="en-US" sz="840" dirty="0"/>
          </a:p>
        </p:txBody>
      </p:sp>
      <p:sp>
        <p:nvSpPr>
          <p:cNvPr id="31" name="Shape 29"/>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32" name="Shape 30"/>
          <p:cNvSpPr/>
          <p:nvPr/>
        </p:nvSpPr>
        <p:spPr>
          <a:xfrm>
            <a:off x="7397496" y="3264408"/>
            <a:ext cx="310896" cy="310896"/>
          </a:xfrm>
          <a:prstGeom prst="ellipse">
            <a:avLst/>
          </a:prstGeom>
          <a:solidFill>
            <a:srgbClr val="0E8074"/>
          </a:solidFill>
          <a:ln/>
        </p:spPr>
      </p:sp>
      <p:pic>
        <p:nvPicPr>
          <p:cNvPr id="33"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34" name="Text 31"/>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Same part, same report</a:t>
            </a:r>
            <a:endParaRPr lang="en-US" sz="950" dirty="0"/>
          </a:p>
        </p:txBody>
      </p:sp>
      <p:sp>
        <p:nvSpPr>
          <p:cNvPr id="35" name="Text 32"/>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Deterministic and unit-tested: identical inputs produce an identical report, every run. Every threshold is a named constant in code a reviewer can read — not a prompt.</a:t>
            </a:r>
            <a:endParaRPr lang="en-US" sz="800" dirty="0"/>
          </a:p>
        </p:txBody>
      </p:sp>
      <p:sp>
        <p:nvSpPr>
          <p:cNvPr id="36" name="Shape 33"/>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37" name="Shape 34"/>
          <p:cNvSpPr/>
          <p:nvPr/>
        </p:nvSpPr>
        <p:spPr>
          <a:xfrm>
            <a:off x="7397496" y="4169664"/>
            <a:ext cx="310896" cy="310896"/>
          </a:xfrm>
          <a:prstGeom prst="ellipse">
            <a:avLst/>
          </a:prstGeom>
          <a:solidFill>
            <a:srgbClr val="2E8B57"/>
          </a:solidFill>
          <a:ln/>
        </p:spPr>
      </p:sp>
      <p:pic>
        <p:nvPicPr>
          <p:cNvPr id="38"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39" name="Text 35"/>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Honest saving maths</a:t>
            </a:r>
            <a:endParaRPr lang="en-US" sz="950" dirty="0"/>
          </a:p>
        </p:txBody>
      </p:sp>
      <p:sp>
        <p:nvSpPr>
          <p:cNvPr id="40" name="Text 36"/>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headline saving is NOT the sum of every issue — it is the root-sum-square of the top three, capped at 40%. Stacked opportunities are never allowed to promise an impossible discount.</a:t>
            </a:r>
            <a:endParaRPr lang="en-US" sz="800" dirty="0"/>
          </a:p>
        </p:txBody>
      </p:sp>
      <p:sp>
        <p:nvSpPr>
          <p:cNvPr id="41" name="Shape 37"/>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42" name="Shape 38"/>
          <p:cNvSpPr/>
          <p:nvPr/>
        </p:nvSpPr>
        <p:spPr>
          <a:xfrm>
            <a:off x="7397496" y="5074920"/>
            <a:ext cx="310896" cy="310896"/>
          </a:xfrm>
          <a:prstGeom prst="ellipse">
            <a:avLst/>
          </a:prstGeom>
          <a:solidFill>
            <a:srgbClr val="B7791F"/>
          </a:solidFill>
          <a:ln/>
        </p:spPr>
      </p:sp>
      <p:pic>
        <p:nvPicPr>
          <p:cNvPr id="43"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4" name="Text 39"/>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The AI cannot touch it</a:t>
            </a:r>
            <a:endParaRPr lang="en-US" sz="950" dirty="0"/>
          </a:p>
        </p:txBody>
      </p:sp>
      <p:sp>
        <p:nvSpPr>
          <p:cNvPr id="45" name="Text 40"/>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In optional AI mode the model may add advisory commentary to the CAD analysis panel — display-only. It writes no score, no severity, no saving and no recommendation in this report.</a:t>
            </a:r>
            <a:endParaRPr lang="en-US" sz="800" dirty="0"/>
          </a:p>
        </p:txBody>
      </p:sp>
      <p:sp>
        <p:nvSpPr>
          <p:cNvPr id="46" name="Shape 41"/>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7" name="Text 42"/>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same measured geometry and the same costed numbers are pushed through fixed engineering thresholds — the DFM/DFA report is arithmetic you can audit, not opinion you have to trust.</a:t>
            </a:r>
            <a:endParaRPr lang="en-US" sz="1000" dirty="0"/>
          </a:p>
        </p:txBody>
      </p:sp>
      <p:sp>
        <p:nvSpPr>
          <p:cNvPr id="48"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9"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4F46E5"/>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Machine Is a Cost Decision — Not a Default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routing optimiser picks the cheapest capable machine, and every suggestion follows the same arithmetic</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4F46E5"/>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 the routings in pounds</a:t>
            </a:r>
            <a:endParaRPr lang="en-US" sz="1050" dirty="0"/>
          </a:p>
        </p:txBody>
      </p:sp>
      <p:sp>
        <p:nvSpPr>
          <p:cNvPr id="9" name="Text 7"/>
          <p:cNvSpPr/>
          <p:nvPr/>
        </p:nvSpPr>
        <p:spPr>
          <a:xfrm>
            <a:off x="1097280" y="1408176"/>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Before a single pound is booked, the feasible routings are priced under the same conventions the cost charges: split across cheap 3-axis stations (one fixturing per approach direction plus the drill press) vs a single-setup 5-axis consolidation vs turning-led — batch setup amortisation AND per-part handling at every fixturing included.</a:t>
            </a:r>
            <a:endParaRPr lang="en-US" sz="82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4F46E5"/>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losers print in the trace</a:t>
            </a:r>
            <a:endParaRPr lang="en-US" sz="1050" dirty="0"/>
          </a:p>
        </p:txBody>
      </p:sp>
      <p:sp>
        <p:nvSpPr>
          <p:cNvPr id="14" name="Text 12"/>
          <p:cNvSpPr/>
          <p:nvPr/>
        </p:nvSpPr>
        <p:spPr>
          <a:xfrm>
            <a:off x="1097280" y="2578608"/>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chosen machine carries the full comparison as its basis: "split-3axis £12.91 vs consolidated-5axis £21.11 → split-3axis, £8.20/part cheaper". A buyer can defend the process line with the table, and the AI cannot pick a machine on any path — the rules overwrite it everywhere.</a:t>
            </a:r>
            <a:endParaRPr lang="en-US" sz="82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4F46E5"/>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Suggestions read the same arithmetic</a:t>
            </a:r>
            <a:endParaRPr lang="en-US" sz="1050" dirty="0"/>
          </a:p>
        </p:txBody>
      </p:sp>
      <p:sp>
        <p:nvSpPr>
          <p:cNvPr id="19" name="Text 17"/>
          <p:cNvSpPr/>
          <p:nvPr/>
        </p:nvSpPr>
        <p:spPr>
          <a:xfrm>
            <a:off x="1097280" y="3749040"/>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report used to advise "consolidate with multi-axis machining" against routings the tool itself had chosen. Now the advice is station-aware: it fires only on a genuinely split routing, flips to "routing verified optimal — quote it as evidence" when the lever is already taken, and every finding carries a lever tag: design · supplier · sourcing · assumption · verified.</a:t>
            </a:r>
            <a:endParaRPr lang="en-US" sz="82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4F46E5"/>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Re-quote suggestion — a real case</a:t>
            </a:r>
            <a:endParaRPr lang="en-US" sz="1050" dirty="0"/>
          </a:p>
        </p:txBody>
      </p:sp>
      <p:sp>
        <p:nvSpPr>
          <p:cNvPr id="24" name="Text 22"/>
          <p:cNvSpPr/>
          <p:nvPr/>
        </p:nvSpPr>
        <p:spPr>
          <a:xfrm>
            <a:off x="1097280" y="4919472"/>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On the stub-axle routing, the old §14 claimed "multi-axis consolidation, 11% saving". The optimiser ranked it: consolidation LOSES on that part. The new action: "Re-quote machining on the cost-optimal routing — £28.58 as costed vs £21.63 optimal, a £6.95/part (20%) machine-mix saving" — a Quick Win negotiation, not a capex project.</a:t>
            </a:r>
            <a:endParaRPr lang="en-US" sz="82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4F46E5"/>
                </a:solidFill>
                <a:latin typeface="Calibri" pitchFamily="34" charset="0"/>
                <a:ea typeface="Calibri" pitchFamily="34" charset="-122"/>
                <a:cs typeface="Calibri" pitchFamily="34" charset="-120"/>
              </a:rPr>
              <a:t>BEFORE vs AFTER — THE STUB-AXLE REPORT</a:t>
            </a:r>
            <a:endParaRPr lang="en-US" sz="850" dirty="0"/>
          </a:p>
        </p:txBody>
      </p:sp>
      <p:sp>
        <p:nvSpPr>
          <p:cNvPr id="26" name="Shape 24"/>
          <p:cNvSpPr/>
          <p:nvPr/>
        </p:nvSpPr>
        <p:spPr>
          <a:xfrm>
            <a:off x="7269480" y="1298448"/>
            <a:ext cx="4462272" cy="841248"/>
          </a:xfrm>
          <a:prstGeom prst="roundRect">
            <a:avLst>
              <a:gd name="adj" fmla="val 9783"/>
            </a:avLst>
          </a:prstGeom>
          <a:solidFill>
            <a:srgbClr val="FDF2F2"/>
          </a:solidFill>
          <a:ln w="12700">
            <a:solidFill>
              <a:srgbClr val="B03A2E"/>
            </a:solidFill>
            <a:prstDash val="solid"/>
          </a:ln>
        </p:spPr>
      </p:sp>
      <p:sp>
        <p:nvSpPr>
          <p:cNvPr id="27" name="Text 25"/>
          <p:cNvSpPr/>
          <p:nvPr/>
        </p:nvSpPr>
        <p:spPr>
          <a:xfrm>
            <a:off x="7434072" y="1389888"/>
            <a:ext cx="4114800" cy="182880"/>
          </a:xfrm>
          <a:prstGeom prst="rect">
            <a:avLst/>
          </a:prstGeom>
          <a:noFill/>
          <a:ln/>
        </p:spPr>
        <p:txBody>
          <a:bodyPr wrap="square" lIns="0" tIns="0" rIns="0" bIns="0" rtlCol="0" anchor="ctr"/>
          <a:lstStyle/>
          <a:p>
            <a:pPr indent="0" marL="0">
              <a:buNone/>
            </a:pPr>
            <a:r>
              <a:rPr lang="en-US" sz="850" b="1" dirty="0">
                <a:solidFill>
                  <a:srgbClr val="B03A2E"/>
                </a:solidFill>
                <a:latin typeface="Calibri" pitchFamily="34" charset="0"/>
                <a:ea typeface="Calibri" pitchFamily="34" charset="-122"/>
                <a:cs typeface="Calibri" pitchFamily="34" charset="-120"/>
              </a:rPr>
              <a:t>BEFORE — generic claim</a:t>
            </a:r>
            <a:endParaRPr lang="en-US" sz="850" dirty="0"/>
          </a:p>
        </p:txBody>
      </p:sp>
      <p:sp>
        <p:nvSpPr>
          <p:cNvPr id="28" name="Text 26"/>
          <p:cNvSpPr/>
          <p:nvPr/>
        </p:nvSpPr>
        <p:spPr>
          <a:xfrm>
            <a:off x="7434072" y="1591056"/>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"Multi-Axis Machining to Consolidate Operations — 11% saving · Long Term." Fired on operation count alone; on this part the arithmetic says consolidation loses money.</a:t>
            </a:r>
            <a:endParaRPr lang="en-US" sz="820" dirty="0"/>
          </a:p>
        </p:txBody>
      </p:sp>
      <p:sp>
        <p:nvSpPr>
          <p:cNvPr id="29" name="Shape 27"/>
          <p:cNvSpPr/>
          <p:nvPr/>
        </p:nvSpPr>
        <p:spPr>
          <a:xfrm>
            <a:off x="7269480" y="2231136"/>
            <a:ext cx="4462272" cy="841248"/>
          </a:xfrm>
          <a:prstGeom prst="roundRect">
            <a:avLst>
              <a:gd name="adj" fmla="val 9783"/>
            </a:avLst>
          </a:prstGeom>
          <a:solidFill>
            <a:srgbClr val="EAF6EF"/>
          </a:solidFill>
          <a:ln w="12700">
            <a:solidFill>
              <a:srgbClr val="2E8B57"/>
            </a:solidFill>
            <a:prstDash val="solid"/>
          </a:ln>
        </p:spPr>
      </p:sp>
      <p:sp>
        <p:nvSpPr>
          <p:cNvPr id="30" name="Text 28"/>
          <p:cNvSpPr/>
          <p:nvPr/>
        </p:nvSpPr>
        <p:spPr>
          <a:xfrm>
            <a:off x="7434072" y="2322576"/>
            <a:ext cx="4114800" cy="182880"/>
          </a:xfrm>
          <a:prstGeom prst="rect">
            <a:avLst/>
          </a:prstGeom>
          <a:noFill/>
          <a:ln/>
        </p:spPr>
        <p:txBody>
          <a:bodyPr wrap="square" lIns="0" tIns="0" rIns="0" bIns="0" rtlCol="0" anchor="ctr"/>
          <a:lstStyle/>
          <a:p>
            <a:pPr indent="0" marL="0">
              <a:buNone/>
            </a:pPr>
            <a:r>
              <a:rPr lang="en-US" sz="850" b="1" dirty="0">
                <a:solidFill>
                  <a:srgbClr val="2E8B57"/>
                </a:solidFill>
                <a:latin typeface="Calibri" pitchFamily="34" charset="0"/>
                <a:ea typeface="Calibri" pitchFamily="34" charset="-122"/>
                <a:cs typeface="Calibri" pitchFamily="34" charset="-120"/>
              </a:rPr>
              <a:t>AFTER — the optimiser’s delta</a:t>
            </a:r>
            <a:endParaRPr lang="en-US" sz="850" dirty="0"/>
          </a:p>
        </p:txBody>
      </p:sp>
      <p:sp>
        <p:nvSpPr>
          <p:cNvPr id="31" name="Text 29"/>
          <p:cNvSpPr/>
          <p:nvPr/>
        </p:nvSpPr>
        <p:spPr>
          <a:xfrm>
            <a:off x="7434072" y="2523744"/>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"Re-quote machining on the cost-optimal routing: £6.95/part (20% of the machining spend) · Quick Win. 5-axis consolidation was ranked and does NOT win on this part."</a:t>
            </a:r>
            <a:endParaRPr lang="en-US" sz="820" dirty="0"/>
          </a:p>
        </p:txBody>
      </p:sp>
      <p:sp>
        <p:nvSpPr>
          <p:cNvPr id="32" name="Shape 30"/>
          <p:cNvSpPr/>
          <p:nvPr/>
        </p:nvSpPr>
        <p:spPr>
          <a:xfrm>
            <a:off x="7269480" y="3200400"/>
            <a:ext cx="4462272" cy="804672"/>
          </a:xfrm>
          <a:prstGeom prst="roundRect">
            <a:avLst>
              <a:gd name="adj" fmla="val 10227"/>
            </a:avLst>
          </a:prstGeom>
          <a:solidFill>
            <a:srgbClr val="FFFFFF"/>
          </a:solidFill>
          <a:ln w="12700">
            <a:solidFill>
              <a:srgbClr val="DCE3EE"/>
            </a:solidFill>
            <a:prstDash val="solid"/>
          </a:ln>
        </p:spPr>
      </p:sp>
      <p:sp>
        <p:nvSpPr>
          <p:cNvPr id="33" name="Shape 31"/>
          <p:cNvSpPr/>
          <p:nvPr/>
        </p:nvSpPr>
        <p:spPr>
          <a:xfrm>
            <a:off x="7397496" y="3300984"/>
            <a:ext cx="310896" cy="310896"/>
          </a:xfrm>
          <a:prstGeom prst="ellipse">
            <a:avLst/>
          </a:prstGeom>
          <a:solidFill>
            <a:srgbClr val="4F46E5"/>
          </a:solidFill>
          <a:ln/>
        </p:spPr>
      </p:sp>
      <p:pic>
        <p:nvPicPr>
          <p:cNvPr id="34" name="Image 0" descr="preencoded.png">    </p:cNvPr>
          <p:cNvPicPr>
            <a:picLocks noChangeAspect="1"/>
          </p:cNvPicPr>
          <p:nvPr/>
        </p:nvPicPr>
        <p:blipFill>
          <a:blip r:embed="rId1"/>
          <a:stretch>
            <a:fillRect/>
          </a:stretch>
        </p:blipFill>
        <p:spPr>
          <a:xfrm>
            <a:off x="7470648" y="3374136"/>
            <a:ext cx="164592" cy="164592"/>
          </a:xfrm>
          <a:prstGeom prst="rect">
            <a:avLst/>
          </a:prstGeom>
        </p:spPr>
      </p:pic>
      <p:sp>
        <p:nvSpPr>
          <p:cNvPr id="35" name="Text 32"/>
          <p:cNvSpPr/>
          <p:nvPr/>
        </p:nvSpPr>
        <p:spPr>
          <a:xfrm>
            <a:off x="7790688" y="3282696"/>
            <a:ext cx="3840480" cy="201168"/>
          </a:xfrm>
          <a:prstGeom prst="rect">
            <a:avLst/>
          </a:prstGeom>
          <a:noFill/>
          <a:ln/>
        </p:spPr>
        <p:txBody>
          <a:bodyPr wrap="square" lIns="0" tIns="0" rIns="0" bIns="0" rtlCol="0" anchor="ctr"/>
          <a:lstStyle/>
          <a:p>
            <a:pPr indent="0" marL="0">
              <a:buNone/>
            </a:pPr>
            <a:r>
              <a:rPr lang="en-US" sz="950" b="1" dirty="0">
                <a:solidFill>
                  <a:srgbClr val="4F46E5"/>
                </a:solidFill>
                <a:latin typeface="Calibri" pitchFamily="34" charset="0"/>
                <a:ea typeface="Calibri" pitchFamily="34" charset="-122"/>
                <a:cs typeface="Calibri" pitchFamily="34" charset="-120"/>
              </a:rPr>
              <a:t>AI never picks the machine</a:t>
            </a:r>
            <a:endParaRPr lang="en-US" sz="950" dirty="0"/>
          </a:p>
        </p:txBody>
      </p:sp>
      <p:sp>
        <p:nvSpPr>
          <p:cNvPr id="36" name="Text 33"/>
          <p:cNvSpPr/>
          <p:nvPr/>
        </p:nvSpPr>
        <p:spPr>
          <a:xfrm>
            <a:off x="7790688" y="349300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model may name machines; the rules overwrite them with the cost-ranked choice on every path. What it said is kept for the comparison panel.</a:t>
            </a:r>
            <a:endParaRPr lang="en-US" sz="800" dirty="0"/>
          </a:p>
        </p:txBody>
      </p:sp>
      <p:sp>
        <p:nvSpPr>
          <p:cNvPr id="37" name="Shape 34"/>
          <p:cNvSpPr/>
          <p:nvPr/>
        </p:nvSpPr>
        <p:spPr>
          <a:xfrm>
            <a:off x="7269480" y="4087368"/>
            <a:ext cx="4462272" cy="804672"/>
          </a:xfrm>
          <a:prstGeom prst="roundRect">
            <a:avLst>
              <a:gd name="adj" fmla="val 10227"/>
            </a:avLst>
          </a:prstGeom>
          <a:solidFill>
            <a:srgbClr val="FFFFFF"/>
          </a:solidFill>
          <a:ln w="12700">
            <a:solidFill>
              <a:srgbClr val="DCE3EE"/>
            </a:solidFill>
            <a:prstDash val="solid"/>
          </a:ln>
        </p:spPr>
      </p:sp>
      <p:sp>
        <p:nvSpPr>
          <p:cNvPr id="38" name="Shape 35"/>
          <p:cNvSpPr/>
          <p:nvPr/>
        </p:nvSpPr>
        <p:spPr>
          <a:xfrm>
            <a:off x="7397496" y="4187952"/>
            <a:ext cx="310896" cy="310896"/>
          </a:xfrm>
          <a:prstGeom prst="ellipse">
            <a:avLst/>
          </a:prstGeom>
          <a:solidFill>
            <a:srgbClr val="0E8074"/>
          </a:solidFill>
          <a:ln/>
        </p:spPr>
      </p:sp>
      <p:pic>
        <p:nvPicPr>
          <p:cNvPr id="39" name="Image 1" descr="preencoded.png">    </p:cNvPr>
          <p:cNvPicPr>
            <a:picLocks noChangeAspect="1"/>
          </p:cNvPicPr>
          <p:nvPr/>
        </p:nvPicPr>
        <p:blipFill>
          <a:blip r:embed="rId2"/>
          <a:stretch>
            <a:fillRect/>
          </a:stretch>
        </p:blipFill>
        <p:spPr>
          <a:xfrm>
            <a:off x="7470648" y="4261104"/>
            <a:ext cx="164592" cy="164592"/>
          </a:xfrm>
          <a:prstGeom prst="rect">
            <a:avLst/>
          </a:prstGeom>
        </p:spPr>
      </p:pic>
      <p:sp>
        <p:nvSpPr>
          <p:cNvPr id="40" name="Text 36"/>
          <p:cNvSpPr/>
          <p:nvPr/>
        </p:nvSpPr>
        <p:spPr>
          <a:xfrm>
            <a:off x="7790688" y="4169664"/>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Engineer choice is respected</a:t>
            </a:r>
            <a:endParaRPr lang="en-US" sz="950" dirty="0"/>
          </a:p>
        </p:txBody>
      </p:sp>
      <p:sp>
        <p:nvSpPr>
          <p:cNvPr id="41" name="Text 37"/>
          <p:cNvSpPr/>
          <p:nvPr/>
        </p:nvSpPr>
        <p:spPr>
          <a:xfrm>
            <a:off x="7790688" y="43799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 machine an engineer picked by hand is never overridden — the cheaper capable routing is surfaced as a supplier lever with its £/part delta instead.</a:t>
            </a:r>
            <a:endParaRPr lang="en-US" sz="800" dirty="0"/>
          </a:p>
        </p:txBody>
      </p:sp>
      <p:sp>
        <p:nvSpPr>
          <p:cNvPr id="42" name="Shape 38"/>
          <p:cNvSpPr/>
          <p:nvPr/>
        </p:nvSpPr>
        <p:spPr>
          <a:xfrm>
            <a:off x="7269480" y="4974336"/>
            <a:ext cx="4462272" cy="804672"/>
          </a:xfrm>
          <a:prstGeom prst="roundRect">
            <a:avLst>
              <a:gd name="adj" fmla="val 10227"/>
            </a:avLst>
          </a:prstGeom>
          <a:solidFill>
            <a:srgbClr val="FFFFFF"/>
          </a:solidFill>
          <a:ln w="12700">
            <a:solidFill>
              <a:srgbClr val="DCE3EE"/>
            </a:solidFill>
            <a:prstDash val="solid"/>
          </a:ln>
        </p:spPr>
      </p:sp>
      <p:sp>
        <p:nvSpPr>
          <p:cNvPr id="43" name="Shape 39"/>
          <p:cNvSpPr/>
          <p:nvPr/>
        </p:nvSpPr>
        <p:spPr>
          <a:xfrm>
            <a:off x="7397496" y="5074920"/>
            <a:ext cx="310896" cy="310896"/>
          </a:xfrm>
          <a:prstGeom prst="ellipse">
            <a:avLst/>
          </a:prstGeom>
          <a:solidFill>
            <a:srgbClr val="2E8B57"/>
          </a:solidFill>
          <a:ln/>
        </p:spPr>
      </p:sp>
      <p:pic>
        <p:nvPicPr>
          <p:cNvPr id="44"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5" name="Text 40"/>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No verifiable delta, no claim</a:t>
            </a:r>
            <a:endParaRPr lang="en-US" sz="950" dirty="0"/>
          </a:p>
        </p:txBody>
      </p:sp>
      <p:sp>
        <p:nvSpPr>
          <p:cNvPr id="46" name="Text 41"/>
          <p:cNvSpPr/>
          <p:nvPr/>
        </p:nvSpPr>
        <p:spPr>
          <a:xfrm>
            <a:off x="7790688" y="5266944"/>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Below 2% of the machining spend, pennies, or an unknown machine: the suggestion stays silent. Every claimed saving is arithmetic the reader can check.</a:t>
            </a:r>
            <a:endParaRPr lang="en-US" sz="800" dirty="0"/>
          </a:p>
        </p:txBody>
      </p:sp>
      <p:sp>
        <p:nvSpPr>
          <p:cNvPr id="47" name="Shape 42"/>
          <p:cNvSpPr/>
          <p:nvPr/>
        </p:nvSpPr>
        <p:spPr>
          <a:xfrm>
            <a:off x="457200" y="5870448"/>
            <a:ext cx="11274552" cy="502920"/>
          </a:xfrm>
          <a:prstGeom prst="roundRect">
            <a:avLst>
              <a:gd name="adj" fmla="val 14545"/>
            </a:avLst>
          </a:prstGeom>
          <a:solidFill>
            <a:srgbClr val="EEF2FF"/>
          </a:solidFill>
          <a:ln w="12700">
            <a:solidFill>
              <a:srgbClr val="4F46E5"/>
            </a:solidFill>
            <a:prstDash val="solid"/>
          </a:ln>
        </p:spPr>
      </p:sp>
      <p:sp>
        <p:nvSpPr>
          <p:cNvPr id="48" name="Text 43"/>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should-cost models the most efficient plausible supplier — so the tool takes the optimal machine itself, and its suggestions are reserved for levers only you can pull, each one priced by the same arithmetic that built the estimate.</a:t>
            </a:r>
            <a:endParaRPr lang="en-US" sz="1000" dirty="0"/>
          </a:p>
        </p:txBody>
      </p:sp>
      <p:sp>
        <p:nvSpPr>
          <p:cNvPr id="49" name="Text 4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0" name="Text 4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B7791F"/>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B7791F"/>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E8B57"/>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E8074"/>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E8074"/>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Reads and names it</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B7791F"/>
            </a:solidFill>
            <a:prstDash val="solid"/>
          </a:ln>
        </p:spPr>
      </p:sp>
      <p:sp>
        <p:nvSpPr>
          <p:cNvPr id="23" name="Shape 21"/>
          <p:cNvSpPr/>
          <p:nvPr/>
        </p:nvSpPr>
        <p:spPr>
          <a:xfrm>
            <a:off x="4974336" y="1207008"/>
            <a:ext cx="2157984" cy="402336"/>
          </a:xfrm>
          <a:prstGeom prst="rect">
            <a:avLst/>
          </a:prstGeom>
          <a:solidFill>
            <a:srgbClr val="B7791F"/>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B7791F"/>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B7791F"/>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E8074"/>
            </a:solidFill>
            <a:prstDash val="solid"/>
          </a:ln>
        </p:spPr>
      </p:sp>
      <p:sp>
        <p:nvSpPr>
          <p:cNvPr id="32" name="Shape 30"/>
          <p:cNvSpPr/>
          <p:nvPr/>
        </p:nvSpPr>
        <p:spPr>
          <a:xfrm>
            <a:off x="7232904" y="1207008"/>
            <a:ext cx="2157984" cy="402336"/>
          </a:xfrm>
          <a:prstGeom prst="rect">
            <a:avLst/>
          </a:prstGeom>
          <a:solidFill>
            <a:srgbClr val="0E8074"/>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E8074"/>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E8074"/>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E8B57"/>
            </a:solidFill>
            <a:prstDash val="solid"/>
          </a:ln>
        </p:spPr>
      </p:sp>
      <p:sp>
        <p:nvSpPr>
          <p:cNvPr id="41" name="Shape 39"/>
          <p:cNvSpPr/>
          <p:nvPr/>
        </p:nvSpPr>
        <p:spPr>
          <a:xfrm>
            <a:off x="9491472" y="1207008"/>
            <a:ext cx="2157984" cy="402336"/>
          </a:xfrm>
          <a:prstGeom prst="rect">
            <a:avLst/>
          </a:prstGeom>
          <a:solidFill>
            <a:srgbClr val="2E8B57"/>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E8B57"/>
                </a:solidFill>
                <a:latin typeface="Calibri" pitchFamily="34" charset="0"/>
                <a:ea typeface="Calibri" pitchFamily="34" charset="-122"/>
                <a:cs typeface="Calibri" pitchFamily="34" charset="-120"/>
              </a:rPr>
              <a:t>Reviews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Confirms every AI call</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E8B57"/>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AI reads the part.   The engine does every calculation.   A person approves the answer.</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Recognise the recipe</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with a confidence score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B7791F"/>
            </a:solidFill>
            <a:prstDash val="solid"/>
          </a:ln>
        </p:spPr>
      </p:sp>
      <p:sp>
        <p:nvSpPr>
          <p:cNvPr id="40" name="Shape 37"/>
          <p:cNvSpPr/>
          <p:nvPr/>
        </p:nvSpPr>
        <p:spPr>
          <a:xfrm>
            <a:off x="5010912" y="2487168"/>
            <a:ext cx="2130552" cy="365760"/>
          </a:xfrm>
          <a:prstGeom prst="rect">
            <a:avLst/>
          </a:prstGeom>
          <a:solidFill>
            <a:srgbClr val="B7791F"/>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B7791F"/>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E8074"/>
            </a:solidFill>
            <a:prstDash val="solid"/>
          </a:ln>
        </p:spPr>
      </p:sp>
      <p:sp>
        <p:nvSpPr>
          <p:cNvPr id="48" name="Shape 45"/>
          <p:cNvSpPr/>
          <p:nvPr/>
        </p:nvSpPr>
        <p:spPr>
          <a:xfrm>
            <a:off x="7287768" y="2487168"/>
            <a:ext cx="2130552" cy="365760"/>
          </a:xfrm>
          <a:prstGeom prst="rect">
            <a:avLst/>
          </a:prstGeom>
          <a:solidFill>
            <a:srgbClr val="0E8074"/>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E8074"/>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E8B57"/>
            </a:solidFill>
            <a:prstDash val="solid"/>
          </a:ln>
        </p:spPr>
      </p:sp>
      <p:sp>
        <p:nvSpPr>
          <p:cNvPr id="56" name="Shape 53"/>
          <p:cNvSpPr/>
          <p:nvPr/>
        </p:nvSpPr>
        <p:spPr>
          <a:xfrm>
            <a:off x="9564624" y="2487168"/>
            <a:ext cx="2130552" cy="365760"/>
          </a:xfrm>
          <a:prstGeom prst="rect">
            <a:avLst/>
          </a:prstGeom>
          <a:solidFill>
            <a:srgbClr val="2E8B57"/>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E8B57"/>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274320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the AI is involved, the AI hands back four words and a confidence score, and it still has no access to a price, a rate or a machine.</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from Fourier’s transient-conduction law — each resin’s real melt/mould/eject temperatures, diffusivity calibrated to industry data (next slide shows every symbol). For PP: 3.16 s/mm² × (3.0 mm)² = 28.4 s — over half the whole cycle, and the wall enters SQUARED.</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E8074"/>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E8074"/>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E8074"/>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E8074"/>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Cooling Time from First Principles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Fourier slab solution, calibrated to industry data — every input printable, nothing guessed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6B3FA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52144"/>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physical law, not a fitted curve</a:t>
            </a:r>
            <a:endParaRPr lang="en-US" sz="1050" dirty="0"/>
          </a:p>
        </p:txBody>
      </p:sp>
      <p:sp>
        <p:nvSpPr>
          <p:cNvPr id="9" name="Text 7"/>
          <p:cNvSpPr/>
          <p:nvPr/>
        </p:nvSpPr>
        <p:spPr>
          <a:xfrm>
            <a:off x="1097280" y="1380744"/>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a moulded wall between two mould faces is textbook transient conduction, and its exact solution is:  t_cool = wall² ÷ (π²·α) × ln[ (4/π) × (T_melt − T_mould) ÷ (T_eject − T_mould) ].  The wall enters SQUARED because heat must diffuse out through half the thickness — that is why wall is the most powerful lever in moulding.</a:t>
            </a:r>
            <a:endParaRPr lang="en-US" sz="79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6B3FA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22576"/>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resin carries its real temperatures</a:t>
            </a:r>
            <a:endParaRPr lang="en-US" sz="1050" dirty="0"/>
          </a:p>
        </p:txBody>
      </p:sp>
      <p:sp>
        <p:nvSpPr>
          <p:cNvPr id="14" name="Text 12"/>
          <p:cNvSpPr/>
          <p:nvPr/>
        </p:nvSpPr>
        <p:spPr>
          <a:xfrm>
            <a:off x="1097280" y="2551176"/>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19 resin families each carry typical melt / mould / eject temperatures. PP (the bumper): melt 230 °C, mould 40 °C, eject 85 °C → log term ln(1.273 × 190/45) = 1.682. ABS runs 240/60/95; PA6 280/80/125; PC 300/90/130. Change the resin and the physics changes with it.</a:t>
            </a:r>
            <a:endParaRPr lang="en-US" sz="79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6B3FA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493008"/>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Calibrated ONCE against industry cycle data</a:t>
            </a:r>
            <a:endParaRPr lang="en-US" sz="1050" dirty="0"/>
          </a:p>
        </p:txBody>
      </p:sp>
      <p:sp>
        <p:nvSpPr>
          <p:cNvPr id="19" name="Text 17"/>
          <p:cNvSpPr/>
          <p:nvPr/>
        </p:nvSpPr>
        <p:spPr>
          <a:xfrm>
            <a:off x="1097280" y="3721608"/>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effective diffusivity α_eff is derived from the curated industry factor at those reference temperatures — for PP: α_eff = 1.682 ÷ (π² × 3.16) = 0.054 mm²/s. α_eff deliberately absorbs what the ideal slab ignores: latent heat of crystallisation and mould-interface resistance. At reference temperatures the formula reproduces the curated factor EXACTLY — adopting the physics changed provenance, not price.</a:t>
            </a:r>
            <a:endParaRPr lang="en-US" sz="79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6B3FA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63440"/>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governing wall, and a sanity clamp</a:t>
            </a:r>
            <a:endParaRPr lang="en-US" sz="1050" dirty="0"/>
          </a:p>
        </p:txBody>
      </p:sp>
      <p:sp>
        <p:nvSpPr>
          <p:cNvPr id="24" name="Text 22"/>
          <p:cNvSpPr/>
          <p:nvPr/>
        </p:nvSpPr>
        <p:spPr>
          <a:xfrm>
            <a:off x="1097280" y="4892040"/>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is evaluated at the 95th-percentile measured wall (capped at 2× the mean): the part ejects when its THICKEST section is stiff, so the mean systematically under-times ribs and bosses. And the computed factor is clamped to [0.5×, 2×] of the curated value — physics may move the cycle; a pathological temperature pair may not run away with the cost.</a:t>
            </a:r>
            <a:endParaRPr lang="en-US" sz="79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6B3FA0"/>
                </a:solidFill>
                <a:latin typeface="Calibri" pitchFamily="34" charset="0"/>
                <a:ea typeface="Calibri" pitchFamily="34" charset="-122"/>
                <a:cs typeface="Calibri" pitchFamily="34" charset="-120"/>
              </a:rPr>
              <a:t>THE BUMPER, WORKED THROUGH</a:t>
            </a:r>
            <a:endParaRPr lang="en-US" sz="850" dirty="0"/>
          </a:p>
        </p:txBody>
      </p:sp>
      <p:sp>
        <p:nvSpPr>
          <p:cNvPr id="26" name="Shape 24"/>
          <p:cNvSpPr/>
          <p:nvPr/>
        </p:nvSpPr>
        <p:spPr>
          <a:xfrm>
            <a:off x="7269480" y="1298448"/>
            <a:ext cx="4462272" cy="1810512"/>
          </a:xfrm>
          <a:prstGeom prst="roundRect">
            <a:avLst>
              <a:gd name="adj" fmla="val 4545"/>
            </a:avLst>
          </a:prstGeom>
          <a:solidFill>
            <a:srgbClr val="FFFFFF"/>
          </a:solidFill>
          <a:ln w="12700">
            <a:solidFill>
              <a:srgbClr val="DCE3EE"/>
            </a:solidFill>
            <a:prstDash val="solid"/>
          </a:ln>
        </p:spPr>
      </p:sp>
      <p:sp>
        <p:nvSpPr>
          <p:cNvPr id="27" name="Text 25"/>
          <p:cNvSpPr/>
          <p:nvPr/>
        </p:nvSpPr>
        <p:spPr>
          <a:xfrm>
            <a:off x="7452360" y="142646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Resin / temps</a:t>
            </a:r>
            <a:endParaRPr lang="en-US" sz="860" dirty="0"/>
          </a:p>
        </p:txBody>
      </p:sp>
      <p:sp>
        <p:nvSpPr>
          <p:cNvPr id="28" name="Text 26"/>
          <p:cNvSpPr/>
          <p:nvPr/>
        </p:nvSpPr>
        <p:spPr>
          <a:xfrm>
            <a:off x="9098280" y="142646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PP · melt 230 °C · mould 40 °C · eject 85 °C</a:t>
            </a:r>
            <a:endParaRPr lang="en-US" sz="800" dirty="0"/>
          </a:p>
        </p:txBody>
      </p:sp>
      <p:sp>
        <p:nvSpPr>
          <p:cNvPr id="29" name="Text 27"/>
          <p:cNvSpPr/>
          <p:nvPr/>
        </p:nvSpPr>
        <p:spPr>
          <a:xfrm>
            <a:off x="7452360" y="174650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Log term</a:t>
            </a:r>
            <a:endParaRPr lang="en-US" sz="860" dirty="0"/>
          </a:p>
        </p:txBody>
      </p:sp>
      <p:sp>
        <p:nvSpPr>
          <p:cNvPr id="30" name="Text 28"/>
          <p:cNvSpPr/>
          <p:nvPr/>
        </p:nvSpPr>
        <p:spPr>
          <a:xfrm>
            <a:off x="9098280" y="174650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ln(1.273 × 190 ÷ 45) = 1.682</a:t>
            </a:r>
            <a:endParaRPr lang="en-US" sz="800" dirty="0"/>
          </a:p>
        </p:txBody>
      </p:sp>
      <p:sp>
        <p:nvSpPr>
          <p:cNvPr id="31" name="Text 29"/>
          <p:cNvSpPr/>
          <p:nvPr/>
        </p:nvSpPr>
        <p:spPr>
          <a:xfrm>
            <a:off x="7452360" y="206654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α_eff (calibrated)</a:t>
            </a:r>
            <a:endParaRPr lang="en-US" sz="860" dirty="0"/>
          </a:p>
        </p:txBody>
      </p:sp>
      <p:sp>
        <p:nvSpPr>
          <p:cNvPr id="32" name="Text 30"/>
          <p:cNvSpPr/>
          <p:nvPr/>
        </p:nvSpPr>
        <p:spPr>
          <a:xfrm>
            <a:off x="9098280" y="206654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3.16) = 0.054 mm²/s</a:t>
            </a:r>
            <a:endParaRPr lang="en-US" sz="800" dirty="0"/>
          </a:p>
        </p:txBody>
      </p:sp>
      <p:sp>
        <p:nvSpPr>
          <p:cNvPr id="33" name="Text 31"/>
          <p:cNvSpPr/>
          <p:nvPr/>
        </p:nvSpPr>
        <p:spPr>
          <a:xfrm>
            <a:off x="7452360" y="238658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Factor</a:t>
            </a:r>
            <a:endParaRPr lang="en-US" sz="860" dirty="0"/>
          </a:p>
        </p:txBody>
      </p:sp>
      <p:sp>
        <p:nvSpPr>
          <p:cNvPr id="34" name="Text 32"/>
          <p:cNvSpPr/>
          <p:nvPr/>
        </p:nvSpPr>
        <p:spPr>
          <a:xfrm>
            <a:off x="9098280" y="238658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0.054) = 3.16 s/mm²</a:t>
            </a:r>
            <a:endParaRPr lang="en-US" sz="800" dirty="0"/>
          </a:p>
        </p:txBody>
      </p:sp>
      <p:sp>
        <p:nvSpPr>
          <p:cNvPr id="35" name="Text 33"/>
          <p:cNvSpPr/>
          <p:nvPr/>
        </p:nvSpPr>
        <p:spPr>
          <a:xfrm>
            <a:off x="7452360" y="270662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Cooling</a:t>
            </a:r>
            <a:endParaRPr lang="en-US" sz="860" dirty="0"/>
          </a:p>
        </p:txBody>
      </p:sp>
      <p:sp>
        <p:nvSpPr>
          <p:cNvPr id="36" name="Text 34"/>
          <p:cNvSpPr/>
          <p:nvPr/>
        </p:nvSpPr>
        <p:spPr>
          <a:xfrm>
            <a:off x="9098280" y="270662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3.16 × (3.0 mm)² = 28.4 s — over half the 55 s cycle</a:t>
            </a:r>
            <a:endParaRPr lang="en-US" sz="800" dirty="0"/>
          </a:p>
        </p:txBody>
      </p:sp>
      <p:sp>
        <p:nvSpPr>
          <p:cNvPr id="37" name="Shape 35"/>
          <p:cNvSpPr/>
          <p:nvPr/>
        </p:nvSpPr>
        <p:spPr>
          <a:xfrm>
            <a:off x="7269480" y="3218688"/>
            <a:ext cx="4462272" cy="804672"/>
          </a:xfrm>
          <a:prstGeom prst="roundRect">
            <a:avLst>
              <a:gd name="adj" fmla="val 10227"/>
            </a:avLst>
          </a:prstGeom>
          <a:solidFill>
            <a:srgbClr val="FFFFFF"/>
          </a:solidFill>
          <a:ln w="12700">
            <a:solidFill>
              <a:srgbClr val="DCE3EE"/>
            </a:solidFill>
            <a:prstDash val="solid"/>
          </a:ln>
        </p:spPr>
      </p:sp>
      <p:sp>
        <p:nvSpPr>
          <p:cNvPr id="38" name="Shape 36"/>
          <p:cNvSpPr/>
          <p:nvPr/>
        </p:nvSpPr>
        <p:spPr>
          <a:xfrm>
            <a:off x="7397496" y="3319272"/>
            <a:ext cx="310896" cy="310896"/>
          </a:xfrm>
          <a:prstGeom prst="ellipse">
            <a:avLst/>
          </a:prstGeom>
          <a:solidFill>
            <a:srgbClr val="2E8B57"/>
          </a:solidFill>
          <a:ln/>
        </p:spPr>
      </p:sp>
      <p:pic>
        <p:nvPicPr>
          <p:cNvPr id="39" name="Image 0" descr="preencoded.png">    </p:cNvPr>
          <p:cNvPicPr>
            <a:picLocks noChangeAspect="1"/>
          </p:cNvPicPr>
          <p:nvPr/>
        </p:nvPicPr>
        <p:blipFill>
          <a:blip r:embed="rId1"/>
          <a:stretch>
            <a:fillRect/>
          </a:stretch>
        </p:blipFill>
        <p:spPr>
          <a:xfrm>
            <a:off x="7470648" y="3392424"/>
            <a:ext cx="164592" cy="164592"/>
          </a:xfrm>
          <a:prstGeom prst="rect">
            <a:avLst/>
          </a:prstGeom>
        </p:spPr>
      </p:pic>
      <p:sp>
        <p:nvSpPr>
          <p:cNvPr id="40" name="Text 37"/>
          <p:cNvSpPr/>
          <p:nvPr/>
        </p:nvSpPr>
        <p:spPr>
          <a:xfrm>
            <a:off x="7790688" y="3291840"/>
            <a:ext cx="388620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Same price, honest provenance</a:t>
            </a:r>
            <a:endParaRPr lang="en-US" sz="950" dirty="0"/>
          </a:p>
        </p:txBody>
      </p:sp>
      <p:sp>
        <p:nvSpPr>
          <p:cNvPr id="41" name="Text 38"/>
          <p:cNvSpPr/>
          <p:nvPr/>
        </p:nvSpPr>
        <p:spPr>
          <a:xfrm>
            <a:off x="7790688" y="3502152"/>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At reference temperatures the closed form reproduces the curated industry factor exactly, so adopting the physics moved NO estimate. What changed: the trace now shows α_eff, all three temperatures and the log term instead of one bare constant.</a:t>
            </a:r>
            <a:endParaRPr lang="en-US" sz="770" dirty="0"/>
          </a:p>
        </p:txBody>
      </p:sp>
      <p:sp>
        <p:nvSpPr>
          <p:cNvPr id="42" name="Shape 39"/>
          <p:cNvSpPr/>
          <p:nvPr/>
        </p:nvSpPr>
        <p:spPr>
          <a:xfrm>
            <a:off x="7269480" y="4105656"/>
            <a:ext cx="4462272" cy="804672"/>
          </a:xfrm>
          <a:prstGeom prst="roundRect">
            <a:avLst>
              <a:gd name="adj" fmla="val 10227"/>
            </a:avLst>
          </a:prstGeom>
          <a:solidFill>
            <a:srgbClr val="FFFFFF"/>
          </a:solidFill>
          <a:ln w="12700">
            <a:solidFill>
              <a:srgbClr val="DCE3EE"/>
            </a:solidFill>
            <a:prstDash val="solid"/>
          </a:ln>
        </p:spPr>
      </p:sp>
      <p:sp>
        <p:nvSpPr>
          <p:cNvPr id="43" name="Shape 40"/>
          <p:cNvSpPr/>
          <p:nvPr/>
        </p:nvSpPr>
        <p:spPr>
          <a:xfrm>
            <a:off x="7397496" y="4206240"/>
            <a:ext cx="310896" cy="310896"/>
          </a:xfrm>
          <a:prstGeom prst="ellipse">
            <a:avLst/>
          </a:prstGeom>
          <a:solidFill>
            <a:srgbClr val="6B3FA0"/>
          </a:solidFill>
          <a:ln/>
        </p:spPr>
      </p:sp>
      <p:pic>
        <p:nvPicPr>
          <p:cNvPr id="44" name="Image 1" descr="preencoded.png">    </p:cNvPr>
          <p:cNvPicPr>
            <a:picLocks noChangeAspect="1"/>
          </p:cNvPicPr>
          <p:nvPr/>
        </p:nvPicPr>
        <p:blipFill>
          <a:blip r:embed="rId2"/>
          <a:stretch>
            <a:fillRect/>
          </a:stretch>
        </p:blipFill>
        <p:spPr>
          <a:xfrm>
            <a:off x="7470648" y="4279392"/>
            <a:ext cx="164592" cy="164592"/>
          </a:xfrm>
          <a:prstGeom prst="rect">
            <a:avLst/>
          </a:prstGeom>
        </p:spPr>
      </p:pic>
      <p:sp>
        <p:nvSpPr>
          <p:cNvPr id="45" name="Text 41"/>
          <p:cNvSpPr/>
          <p:nvPr/>
        </p:nvSpPr>
        <p:spPr>
          <a:xfrm>
            <a:off x="7790688" y="4178808"/>
            <a:ext cx="3886200" cy="201168"/>
          </a:xfrm>
          <a:prstGeom prst="rect">
            <a:avLst/>
          </a:prstGeom>
          <a:noFill/>
          <a:ln/>
        </p:spPr>
        <p:txBody>
          <a:bodyPr wrap="square" lIns="0" tIns="0" rIns="0" bIns="0" rtlCol="0" anchor="ctr"/>
          <a:lstStyle/>
          <a:p>
            <a:pPr indent="0" marL="0">
              <a:buNone/>
            </a:pPr>
            <a:r>
              <a:rPr lang="en-US" sz="950" b="1" dirty="0">
                <a:solidFill>
                  <a:srgbClr val="6B3FA0"/>
                </a:solidFill>
                <a:latin typeface="Calibri" pitchFamily="34" charset="0"/>
                <a:ea typeface="Calibri" pitchFamily="34" charset="-122"/>
                <a:cs typeface="Calibri" pitchFamily="34" charset="-120"/>
              </a:rPr>
              <a:t>A lever a constant could never price</a:t>
            </a:r>
            <a:endParaRPr lang="en-US" sz="950" dirty="0"/>
          </a:p>
        </p:txBody>
      </p:sp>
      <p:sp>
        <p:nvSpPr>
          <p:cNvPr id="46" name="Text 42"/>
          <p:cNvSpPr/>
          <p:nvPr/>
        </p:nvSpPr>
        <p:spPr>
          <a:xfrm>
            <a:off x="7790688" y="4389120"/>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Run the mould at 20 °C instead of 40 °C and the factor follows the law: ln(1.273 × 210/65) = 1.414 → 2.66 s/mm² → cooling 23.9 s, 4.5 s off every shot. A curated constant cannot answer that question; the formula prices it.</a:t>
            </a:r>
            <a:endParaRPr lang="en-US" sz="770" dirty="0"/>
          </a:p>
        </p:txBody>
      </p:sp>
      <p:sp>
        <p:nvSpPr>
          <p:cNvPr id="47" name="Shape 43"/>
          <p:cNvSpPr/>
          <p:nvPr/>
        </p:nvSpPr>
        <p:spPr>
          <a:xfrm>
            <a:off x="7269480" y="4992624"/>
            <a:ext cx="4462272" cy="804672"/>
          </a:xfrm>
          <a:prstGeom prst="roundRect">
            <a:avLst>
              <a:gd name="adj" fmla="val 10227"/>
            </a:avLst>
          </a:prstGeom>
          <a:solidFill>
            <a:srgbClr val="FFFFFF"/>
          </a:solidFill>
          <a:ln w="12700">
            <a:solidFill>
              <a:srgbClr val="DCE3EE"/>
            </a:solidFill>
            <a:prstDash val="solid"/>
          </a:ln>
        </p:spPr>
      </p:sp>
      <p:sp>
        <p:nvSpPr>
          <p:cNvPr id="48" name="Shape 44"/>
          <p:cNvSpPr/>
          <p:nvPr/>
        </p:nvSpPr>
        <p:spPr>
          <a:xfrm>
            <a:off x="7397496" y="5093208"/>
            <a:ext cx="310896" cy="310896"/>
          </a:xfrm>
          <a:prstGeom prst="ellipse">
            <a:avLst/>
          </a:prstGeom>
          <a:solidFill>
            <a:srgbClr val="0E8074"/>
          </a:solidFill>
          <a:ln/>
        </p:spPr>
      </p:sp>
      <p:pic>
        <p:nvPicPr>
          <p:cNvPr id="49" name="Image 2" descr="preencoded.png">    </p:cNvPr>
          <p:cNvPicPr>
            <a:picLocks noChangeAspect="1"/>
          </p:cNvPicPr>
          <p:nvPr/>
        </p:nvPicPr>
        <p:blipFill>
          <a:blip r:embed="rId3"/>
          <a:stretch>
            <a:fillRect/>
          </a:stretch>
        </p:blipFill>
        <p:spPr>
          <a:xfrm>
            <a:off x="7470648" y="5166360"/>
            <a:ext cx="164592" cy="164592"/>
          </a:xfrm>
          <a:prstGeom prst="rect">
            <a:avLst/>
          </a:prstGeom>
        </p:spPr>
      </p:pic>
      <p:sp>
        <p:nvSpPr>
          <p:cNvPr id="50" name="Text 45"/>
          <p:cNvSpPr/>
          <p:nvPr/>
        </p:nvSpPr>
        <p:spPr>
          <a:xfrm>
            <a:off x="7790688" y="5065776"/>
            <a:ext cx="388620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The design lever, quantified</a:t>
            </a:r>
            <a:endParaRPr lang="en-US" sz="950" dirty="0"/>
          </a:p>
        </p:txBody>
      </p:sp>
      <p:sp>
        <p:nvSpPr>
          <p:cNvPr id="51" name="Text 46"/>
          <p:cNvSpPr/>
          <p:nvPr/>
        </p:nvSpPr>
        <p:spPr>
          <a:xfrm>
            <a:off x="7790688" y="5276088"/>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Wall enters squared: 3.0 mm → 2.5 mm takes cooling from 28.4 s to 19.8 s — nearly 9 s off every shot, £1.11 off the UK part. A design decision, priced before anyone tools anything.</a:t>
            </a:r>
            <a:endParaRPr lang="en-US" sz="770" dirty="0"/>
          </a:p>
        </p:txBody>
      </p:sp>
      <p:sp>
        <p:nvSpPr>
          <p:cNvPr id="52" name="Shape 47"/>
          <p:cNvSpPr/>
          <p:nvPr/>
        </p:nvSpPr>
        <p:spPr>
          <a:xfrm>
            <a:off x="457200" y="5870448"/>
            <a:ext cx="11274552" cy="502920"/>
          </a:xfrm>
          <a:prstGeom prst="roundRect">
            <a:avLst>
              <a:gd name="adj" fmla="val 14545"/>
            </a:avLst>
          </a:prstGeom>
          <a:solidFill>
            <a:srgbClr val="F3EFFA"/>
          </a:solidFill>
          <a:ln w="12700">
            <a:solidFill>
              <a:srgbClr val="6B3FA0"/>
            </a:solidFill>
            <a:prstDash val="solid"/>
          </a:ln>
        </p:spPr>
      </p:sp>
      <p:sp>
        <p:nvSpPr>
          <p:cNvPr id="53" name="Text 48"/>
          <p:cNvSpPr/>
          <p:nvPr/>
        </p:nvSpPr>
        <p:spPr>
          <a:xfrm>
            <a:off x="621792" y="5870448"/>
            <a:ext cx="10972800" cy="502920"/>
          </a:xfrm>
          <a:prstGeom prst="rect">
            <a:avLst/>
          </a:prstGeom>
          <a:noFill/>
          <a:ln/>
        </p:spPr>
        <p:txBody>
          <a:bodyPr wrap="square" lIns="0" tIns="0" rIns="0" bIns="0" rtlCol="0" anchor="ctr"/>
          <a:lstStyle/>
          <a:p>
            <a:pPr indent="0" marL="0">
              <a:buNone/>
            </a:pPr>
            <a:r>
              <a:rPr lang="en-US" sz="960" b="1" dirty="0">
                <a:solidFill>
                  <a:srgbClr val="6B3FA0"/>
                </a:solidFill>
                <a:latin typeface="Calibri" pitchFamily="34" charset="0"/>
                <a:ea typeface="Calibri" pitchFamily="34" charset="-122"/>
                <a:cs typeface="Calibri" pitchFamily="34" charset="-120"/>
              </a:rPr>
              <a:t>Read it in one line:  </a:t>
            </a:r>
            <a:pPr indent="0" marL="0">
              <a:buNone/>
            </a:pPr>
            <a:r>
              <a:rPr lang="en-US" sz="960" dirty="0">
                <a:solidFill>
                  <a:srgbClr val="3A4356"/>
                </a:solidFill>
                <a:latin typeface="Calibri" pitchFamily="34" charset="0"/>
                <a:ea typeface="Calibri" pitchFamily="34" charset="-122"/>
                <a:cs typeface="Calibri" pitchFamily="34" charset="-120"/>
              </a:rPr>
              <a:t>cooling is Fourier’s conduction law with each resin’s real temperatures and a diffusivity calibrated once against industry cycle data — the same number as before at standard conditions, but now every input is on the record and every temperature or wall change is priced by physics.</a:t>
            </a:r>
            <a:endParaRPr lang="en-US" sz="96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E8074"/>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E8074"/>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E8B57"/>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E8074"/>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E8074"/>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E8074"/>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E8074"/>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B7280"/>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E8074"/>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E8B57"/>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B7791F"/>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E8074"/>
            </a:solidFill>
            <a:prstDash val="solid"/>
          </a:ln>
        </p:spPr>
      </p:sp>
      <p:sp>
        <p:nvSpPr>
          <p:cNvPr id="6" name="Shape 4"/>
          <p:cNvSpPr/>
          <p:nvPr/>
        </p:nvSpPr>
        <p:spPr>
          <a:xfrm>
            <a:off x="685800" y="1371600"/>
            <a:ext cx="457200" cy="457200"/>
          </a:xfrm>
          <a:prstGeom prst="ellipse">
            <a:avLst/>
          </a:prstGeom>
          <a:solidFill>
            <a:srgbClr val="0E8074"/>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E8074"/>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E8B57"/>
            </a:solidFill>
            <a:prstDash val="solid"/>
          </a:ln>
        </p:spPr>
      </p:sp>
      <p:sp>
        <p:nvSpPr>
          <p:cNvPr id="11" name="Shape 9"/>
          <p:cNvSpPr/>
          <p:nvPr/>
        </p:nvSpPr>
        <p:spPr>
          <a:xfrm>
            <a:off x="6428232" y="1371600"/>
            <a:ext cx="457200" cy="457200"/>
          </a:xfrm>
          <a:prstGeom prst="ellipse">
            <a:avLst/>
          </a:prstGeom>
          <a:solidFill>
            <a:srgbClr val="2E8B57"/>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E8B57"/>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E8B57"/>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E8074"/>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B7280"/>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E8B57"/>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B7280"/>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E8B57"/>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Twenty commodities are modelled. A genuinely novel process needs a new module — days of work, not minutes, and it needs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34</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2026-08-05T06:21:28Z</dcterms:created>
  <dcterms:modified xsi:type="dcterms:W3CDTF">2026-08-05T06:21:28Z</dcterms:modified>
</cp:coreProperties>
</file>