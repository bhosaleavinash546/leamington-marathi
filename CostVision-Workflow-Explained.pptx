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6.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AI reads the part, the costing engine does every calculation, and a person approves the answer.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four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 three, the three business-case slides, slide twenty-five, slide thirty-five and slide thirty-seven.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thirty-seven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AI reads.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AI. This is the one stage out of twelve that it owns, so let us be precise about it. What is it given? Only the measurements from the previous slide, plus the part name. It does not see a price list. It does not see our rate library. It cannot see what the answer ought to be. What does it say back? Four things. The material family — an aluminium die-casting alloy. How it is made — high-pressure die casting, meaning molten aluminium injected into a steel mould under very high pressure. What happens next — machine finishing. And how sure it is: eighty-four percent. Now the red box, which is the answer to "but what if the AI gets it wrong". The AI cannot set a price or any part of a price. It cannot change a measured dimension or the weight. It cannot choose the machine or the cycle time. It cannot touch the rate library. And it cannot override a safety check. Those are not rules we ask it to follow — it has no access to any of those things. One more thing on the confidence score, because it does real work. At eighty-four percent the tool proceeds but flags the call for review. There is a hard rule in the code: if the material confidence falls below fifty percent, a warning fires that says the suggestion is a coin toss and asks for a part photo or a manual confirmation, and that warning stays attached to the result until a person clears it. A confident-sounding wrong answer is the most dangerous thing an AI can give you, so we make the uncertainty visible rather than hiding it. In plain terms: the AI does what an experienced engineer does in the first ten seconds of picking up a part. It saves setup time. It does not do the costing, and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First, the process. The AI suggested die casting, but the engine does not simply accept that.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is rejected because you would cut away about eighty percent of the metal — absurd on cost. Gravity die casting is rejected because it cannot reliably fill walls that thin. Second, and this is check four from the previous slide — the press. When you inject molten aluminium at high pressure it tries to force the two halves of the mould apart. The press has to clamp it shut. So the engine takes the shadow area of the part, which it measured from the CAD, multiplies it by the pressure inside the mould, and gets the force trying to open the tool. Add a safety margin, and pick the smallest press in the library that can hold it. That comes out at sixteen hundred tonnes. Why does this matter commercially? Because every machine carries its own hourly rate. A bigger press costs more per hour to own and to run. Choose too big a machine and you overstate the cost — you go into a negotiation asking for the wrong number. Choose too small and the part physically cannot be made. So the engine sizes it by calculation rather than defaulting, and it flags the choice for our engineer to confirm. And in the purple box, the summary of who did what. The AI proposed. The engine disposed. If the AI had said sand casting, the three millimetre walls would have overruled it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around thirty-seven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review challenged the tooling numbers against a dedicated tooling cost tool, and the challenge was fair — so the estimators were rebuilt, and this slide shows the result.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what the deep-dive bought: not a different constant, a different KIND of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now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alloy-keyed die life is unchanged — that was already right. And the cross-check matters: on the reference fixture the new build-up moved thirty thousand pounds closer to the kernel’s independent estimate, from sixty-four percent apart to seventeen. The stamping die is the strongest convergence on the slide: die set plus strip-design engineering plus per-station steel and hours split across wire EDM, CNC and bench fitting — and the shop model and the kernel now agree within one and a half percent on the same fixture, corroborated by a real seat-member manual cost.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investment tooling — the gap we used to state out loud — is now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reads those measurements and names what the part is — words only, never money. The guards check the AI against the measurements and autocorrect it where they disagree, and the measurements always win. The engine does every calculation — sizes the machine, builds the cycle times, fills the eight buckets, reprices across twenty countries — with fixed, traceable formulas. And our engineer sets the commercial context, confirms every AI call, and signs off the number. The line in the middle is the whole tool in one sentence. The AI reads the part. The engine does every calculation. A person approves the answer.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The AI then does its one job and hands back four words: talc-filled polypropylene, injection moulded in one shot, painted to a Class-A finish, eighty-seven percent confident. Four words and a score. No numbers. It still cannot see a price list, a rate or a machine.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AI reads the part.  The costing engine does every calculation.  A person approves the answer.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3–6</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7–25</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26–36</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37</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4–6 (the business case) · slide 25 (the housing on one page) · slide 35 (the two findings) · slide 37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79576"/>
            <a:ext cx="3977640" cy="402336"/>
          </a:xfrm>
          <a:prstGeom prst="rect">
            <a:avLst/>
          </a:prstGeom>
          <a:noFill/>
          <a:ln/>
        </p:spPr>
        <p:txBody>
          <a:bodyPr wrap="square" lIns="0" tIns="0" rIns="0" bIns="0" rtlCol="0" anchor="t"/>
          <a:lstStyle/>
          <a:p>
            <a:pPr indent="0" marL="0">
              <a:buNone/>
            </a:pPr>
            <a:r>
              <a:rPr lang="en-US" sz="870" dirty="0">
                <a:solidFill>
                  <a:srgbClr val="3A4356"/>
                </a:solidFill>
                <a:latin typeface="Calibri" pitchFamily="34" charset="0"/>
                <a:ea typeface="Calibri" pitchFamily="34" charset="-122"/>
                <a:cs typeface="Calibri" pitchFamily="34" charset="-120"/>
              </a:rPr>
              <a:t>Three modes: </a:t>
            </a:r>
            <a:pPr indent="0" marL="0">
              <a:buNone/>
            </a:pPr>
            <a:r>
              <a:rPr lang="en-US" sz="87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870" dirty="0">
                <a:solidFill>
                  <a:srgbClr val="3A4356"/>
                </a:solidFill>
                <a:latin typeface="Calibri" pitchFamily="34" charset="0"/>
                <a:ea typeface="Calibri" pitchFamily="34" charset="-122"/>
                <a:cs typeface="Calibri" pitchFamily="34" charset="-120"/>
              </a:rPr>
              <a:t>Classification only — geometry out, words back. It cannot set a price, pick a machine, or write a DFM score or saving.</a:t>
            </a:r>
            <a:endParaRPr lang="en-US" sz="870" dirty="0"/>
          </a:p>
        </p:txBody>
      </p:sp>
      <p:sp>
        <p:nvSpPr>
          <p:cNvPr id="26" name="Text 23"/>
          <p:cNvSpPr/>
          <p:nvPr/>
        </p:nvSpPr>
        <p:spPr>
          <a:xfrm>
            <a:off x="2999232" y="1609344"/>
            <a:ext cx="3977640" cy="182880"/>
          </a:xfrm>
          <a:prstGeom prst="rect">
            <a:avLst/>
          </a:prstGeom>
          <a:noFill/>
          <a:ln/>
        </p:spPr>
        <p:txBody>
          <a:bodyPr wrap="square" lIns="0" tIns="0" rIns="0" bIns="0" rtlCol="0" anchor="ctr"/>
          <a:lstStyle/>
          <a:p>
            <a:pPr indent="0" marL="0">
              <a:buNone/>
            </a:pPr>
            <a:r>
              <a:rPr lang="en-US" sz="800" i="1" dirty="0">
                <a:solidFill>
                  <a:srgbClr val="6B3FA0"/>
                </a:solidFill>
                <a:latin typeface="Calibri" pitchFamily="34" charset="0"/>
                <a:ea typeface="Calibri" pitchFamily="34" charset="-122"/>
                <a:cs typeface="Calibri" pitchFamily="34" charset="-120"/>
              </a:rPr>
              <a:t>Routable to a private endpoint · AIR_GAPPED=1 refuses the call — costing still works</a:t>
            </a:r>
            <a:endParaRPr lang="en-US" sz="80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~37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Recognise the recipe</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with a confidence score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one stage the AI owns — and the hard limits on it</a:t>
            </a:r>
            <a:endParaRPr lang="en-US" sz="1200" dirty="0"/>
          </a:p>
        </p:txBody>
      </p:sp>
      <p:sp>
        <p:nvSpPr>
          <p:cNvPr id="5" name="Shape 3"/>
          <p:cNvSpPr/>
          <p:nvPr/>
        </p:nvSpPr>
        <p:spPr>
          <a:xfrm>
            <a:off x="94183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THE AI</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Only the measurements from the previous slide — plus the part name and the shape signature. It never sees a price list, and it never sees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514600"/>
          </a:xfrm>
          <a:prstGeom prst="roundRect">
            <a:avLst>
              <a:gd name="adj" fmla="val 3636"/>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sp>
        <p:nvSpPr>
          <p:cNvPr id="31" name="Shape 24"/>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2" name="Text 25"/>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3" name="Text 26"/>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4" name="Shape 27"/>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5" name="Text 28"/>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and it cannot.</a:t>
            </a:r>
            <a:endParaRPr lang="en-US" sz="1200" dirty="0"/>
          </a:p>
        </p:txBody>
      </p:sp>
      <p:sp>
        <p:nvSpPr>
          <p:cNvPr id="36"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and why a 1,600-tonne press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and it flags the choice for the engineer to confirm.</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Who decided all this?  </a:t>
            </a:r>
            <a:pPr indent="0" marL="0">
              <a:buNone/>
            </a:pPr>
            <a:r>
              <a:rPr lang="en-US" sz="1150" b="1" dirty="0">
                <a:solidFill>
                  <a:srgbClr val="6B3FA0"/>
                </a:solidFill>
                <a:latin typeface="Calibri" pitchFamily="34" charset="0"/>
                <a:ea typeface="Calibri" pitchFamily="34" charset="-122"/>
                <a:cs typeface="Calibri" pitchFamily="34" charset="-120"/>
              </a:rPr>
              <a:t>The AI </a:t>
            </a:r>
            <a:pPr indent="0" marL="0">
              <a:buNone/>
            </a:pPr>
            <a:r>
              <a:rPr lang="en-US" sz="1150" dirty="0">
                <a:solidFill>
                  <a:srgbClr val="3A4356"/>
                </a:solidFill>
                <a:latin typeface="Calibri" pitchFamily="34" charset="0"/>
                <a:ea typeface="Calibri" pitchFamily="34" charset="-122"/>
                <a:cs typeface="Calibri" pitchFamily="34" charset="-120"/>
              </a:rPr>
              <a:t>suggested "die casting". </a:t>
            </a:r>
            <a:pPr indent="0" marL="0">
              <a:buNone/>
            </a:pPr>
            <a:r>
              <a:rPr lang="en-US" sz="1150" b="1" dirty="0">
                <a:solidFill>
                  <a:srgbClr val="0E8074"/>
                </a:solidFill>
                <a:latin typeface="Calibri" pitchFamily="34" charset="0"/>
                <a:ea typeface="Calibri" pitchFamily="34" charset="-122"/>
                <a:cs typeface="Calibri" pitchFamily="34" charset="-120"/>
              </a:rPr>
              <a:t>The engine </a:t>
            </a:r>
            <a:pPr indent="0" marL="0">
              <a:buNone/>
            </a:pPr>
            <a:r>
              <a:rPr lang="en-US" sz="1150" dirty="0">
                <a:solidFill>
                  <a:srgbClr val="3A4356"/>
                </a:solidFill>
                <a:latin typeface="Calibri" pitchFamily="34" charset="0"/>
                <a:ea typeface="Calibri" pitchFamily="34" charset="-122"/>
                <a:cs typeface="Calibri" pitchFamily="34" charset="-120"/>
              </a:rPr>
              <a:t>then tested that suggestion against the measured geometry, rejected the alternatives on physical grounds, and sized the press by calculation. </a:t>
            </a:r>
            <a:pPr indent="0" marL="0">
              <a:buNone/>
            </a:pPr>
            <a:r>
              <a:rPr lang="en-US" sz="1150" b="1" dirty="0">
                <a:solidFill>
                  <a:srgbClr val="16325C"/>
                </a:solidFill>
                <a:latin typeface="Calibri" pitchFamily="34" charset="0"/>
                <a:ea typeface="Calibri" pitchFamily="34" charset="-122"/>
                <a:cs typeface="Calibri" pitchFamily="34" charset="-120"/>
              </a:rPr>
              <a:t>The AI proposed; the engine disposed. </a:t>
            </a:r>
            <a:pPr indent="0" marL="0">
              <a:buNone/>
            </a:pPr>
            <a:r>
              <a:rPr lang="en-US" sz="1150" dirty="0">
                <a:solidFill>
                  <a:srgbClr val="3A4356"/>
                </a:solidFill>
                <a:latin typeface="Calibri" pitchFamily="34" charset="0"/>
                <a:ea typeface="Calibri" pitchFamily="34" charset="-122"/>
                <a:cs typeface="Calibri" pitchFamily="34" charset="-120"/>
              </a:rPr>
              <a:t>If the AI had said "sand casting", the 3 mm walls would have overruled it.</a:t>
            </a:r>
            <a:endParaRPr lang="en-US" sz="115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~37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EDM, polishing and bench fitting follow as complexity- and finish-driven fractions (5–30% · 8–30% · 25%). Steel class means a real material AND a cutting speed: a prototype tool is 7075 aluminium at ×0.55 hours; a high-volume tool is H13 at ×1.2 plus a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blended; a quote always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prices the tool independently from the B-rep; the shop model and the kernel are geometric-mean blended, sanity-clamped. A toolmaker QUOTATION overrides everything — and the proof of calibration is on the right.</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arguable. The old lump parametric said £690k (+64%).</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calibrated to land on the one real quotation we hold,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cross-checked against the kernel’s independent estimates</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stays ALLOY-KEYED (aluminium 80k → superalloy 3,500 hits). Cross-check: the fixture die moved £104.6k → £74.9k — the gap to the kernel’s independent £63.8k fell from 64% to 17%.</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Wear law unchanged: life = 1M × (300 ÷ shear)^1.3, clamped 50k–3M. Two independent witnesses now AGREE: shop model £90,947 vs kernel £92,300 on the same fixture — within 1.5% (they were 14% apart).</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Life follows the mould material: aluminium 500k · P20 1M · H13 2M shots. The 60 L tank tool prices £73k —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FALLBACKS · MACHINING · THE CLOSED GAP</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kernel B-rep parametric stays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shop model now answers STL/manual paths that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used to have to ask. Machining: fixtures + £15,000 CNC-programming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NRE (cast+machine), amortised the same way.</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And the former honest gap, closed: INVESTMENT tooling is priced as what it physically is — a wax-injection tool is an aluminium/P20 mould at low pressure (mould shop model × 0.8 + £1,200 per soluble-core box). A toolmaker quotation still overrides every estimate on both of these slides.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now priced the way a toolmaker quotes it — hours × toolroom rates, steel by the kilogram, bought-outs each, the shop’s 22% overhead as its own line — in unit-tested source (toolmaking.ts + the estimators), anchored to a real £420k quotation and cross-checked against the kernel’s independent B-rep estimates.</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Reads and names it</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Reviews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Confirms every AI call</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AI reads the part.   The engine does every calculation.   A person approves the answer.</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Recognise the recipe</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with a confidence score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274320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the AI is involved, the AI hands back four words and a confidence score, and it still has no access to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2026-08-05T09:04:40Z</dcterms:created>
  <dcterms:modified xsi:type="dcterms:W3CDTF">2026-08-05T09:04:40Z</dcterms:modified>
</cp:coreProperties>
</file>