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5.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6.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D7D71"/>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99651A"/>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86F7D"/>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19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D7D71"/>
              </a:solidFill>
              <a:effectLst/>
            </c:spPr>
          </c:dPt>
          <c:dPt>
            <c:idx val="1"/>
            <c:bubble3D val="0"/>
            <c:spPr>
              <a:solidFill>
                <a:srgbClr val="99651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A7F50"/>
              </a:solidFill>
              <a:effectLst/>
            </c:spPr>
          </c:dPt>
          <c:dPt>
            <c:idx val="1"/>
            <c:bubble3D val="0"/>
            <c:spPr>
              <a:solidFill>
                <a:srgbClr val="99651A"/>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D7D71"/>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D7D71"/>
              </a:solidFill>
              <a:effectLst/>
            </c:spPr>
          </c:dPt>
          <c:dPt>
            <c:idx val="1"/>
            <c:invertIfNegative val="0"/>
            <c:bubble3D val="0"/>
            <c:spPr>
              <a:solidFill>
                <a:srgbClr val="686F7D"/>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D7D71"/>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D7D71"/>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who else does this, so I went and looked properly rather than answering from memory. The first thing worth saying is that three different markets all get called "automated PCBA costing", and they are not competing with each other — they answer different questions for different people. Camp A, on the left, is EMS quoting. Luminovo and CalcuQuote. This is supplier-side: a contract manufacturer receives a bill of materials from a customer and needs a competitive quote back quickly. It is genuinely the most automated thing in the market today — Luminovo say they have over three hundred EMS customers including Zollner, Cicor and TQ. But note the direction. They already have the BOM, because the customer sent it. They are answering "what shall I charge", not "what should this cost".  Camp B is enterprise should-cost, and this is our camp: aPriori, Siemens Teamcenter, FACTON, Tset, Boothroyd Dewhurst. Buyer-side, used by cost engineering and purchasing. I want to correct something I said earlier in the week, because I had it wrong: I described PCBA as the thin end of what these platforms do. It is not. aPriori ships a dedicated printed-circuit-board-assembly costing module with more than forty-five out-of-the-box assembly and test cost models and over twenty-eight PCB manufacturing processes, and it picks its processes off pin counts and mount type exactly as ours does. That is a mature, direct competitor and we should treat it as one. Camp C is reverse costing — Yole SystemPlus and TechInsights. This is the closest thing to what we did with the brake ECU: take a real board and work out what it costs. The difference is that they do it by hand. Engineers decap the parts, X-ray the board, cross-section it. It is a consultancy engagement, sold per report. Two things underneath. The grey strip: every one of these companies rents its component price book — SiliconExpert, Z2Data, Octopart, Supplyframe. Nobody builds their own, and that is worth remembering when we come to our own gap. And the amber strip is the thing people confuse with should-cost most often: JLCPCB and PCBWay will give you a fully automated price in seconds, and it is a real published price. But it is their selling price. You cannot negotiate with a supplier using another supplier’s quotation; you negotiate with a cost model. The blue line at the bottom is the position: we are camp B by purpose — a buyer-side should-cost — but we get there by camp C’s route, from the physical board, automatically. Nobody else joins those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and I want to be precise about how much weight it carries before anyone quotes it outside this room. The automation scale across the top is defined so that "how automated is it" is not a matter of opinion. L0 is a manual service — people physically take the board apart. L1 is software where a human still keys the bill of materials. L2 is a BOM file in, cost out, no keying. L3 is unstructured input — a photograph — in, and a BOM and a cost out. Now the pricing column, which is what I was actually asked for. The honest answer is that almost nobody publishes. Luminovo has a public pricing page that names four tiers and tells you the tiers scale with your procurement spend or your number of new assemblies a year — and then gives no numbers at all; they even have a FAQ page whose title is "are prices listed online". CalcuQuote is the same shape: monthly, three tiers, unlimited users, and a "request pricing" page instead of a price. aPriori is a named-user annual subscription where the Foundation module is sized to your deployment and the cost models are priced separately, and their own guidance is to request a customised price guide. Siemens and Tset and Boothroyd Dewhurst, the same. So the amber box at the bottom is the finding, not an apology for missing data: this entire market sells on quotation. If anyone shows you a "typical aPriori licence cost", it is a guess. I have deliberately left those cells saying NOT PUBLISHED rather than filling them with a plausible number, and I would ask that we keep it that way. Two rows do have real figures. Yole SystemPlus sells reverse costing per report at a list price — but the only figures I could actually verify are from 2017 and 2018 flyers, two thousand four hundred and ninety to four thousand nine hundred and ninety euros, and I have labelled them as order-of-magnitude rather than current, because I could not open the current price list. And JLCPCB publishes everything in real time: a tenth of a cent per solder joint, twenty-five dollars of setup for one side, fifty for two. That is genuinely useful as a floor reference — but it is a prototype and consumer-scope selling price with no automotive quality grade, no in-circuit test, no X-ray and no conformal coating, so please do not put it next to our brake-ECU number and call it a comparison. The last row is the one that made me change what I was going to say on the next slide. PCB Tracer is a browser tool that takes photographs of the top and bottom of a board and uses AI to identify the parts and export a bill of materials — that is L3, the same input we take. The built-in features are free and the AI runs at about fifty cents a schematic. It does not cost the board, which is the whole point of the distinction I draw next, but I am not going to stand here and tell you photo-to-BOM is uncontested when a free tool does it. One caveat on the whole slide, and it is in the source code comments as well. This session’s network policy blocked me from opening the vendor websites directly — the proxy returned a 403 for every one of them — so these pages were read through the search index rather than fetched and quoted. That is good enough to cite and to plan against. It is not good enough for me to claim I have read the current price list, and where that matters, on the Yole line, I have said so on the slide.
───────────── SOURCES (accessed 7 August 2026, via search index — direct fetch blocked by network policy) ─────────────
Luminovo — luminovo.com/pricing · luminovo.com/platform/quoting-intelligence · luminovo.com/platform/pcb-pricing · luminovo.com/faq/how-does-luminovo-pricing-work-are-prices-listed-online · luminovo.com/faq/how-much-does-luminovo-cost
CalcuQuote / Elisa IndustrIQ — calcuquote.com/quotecq · calcuquote.com/request-pricing-quote · elisaindustriq.com/calcuquote/pricing · elisaindustriq.com/resources/blog/6-bom-management-and-quoting-software-platforms-for-ems-providers-in-2026
aPriori — apriori.com/wp-content/uploads/2023/03/Manufacturing-Process-Models-for-Electronics.pdf · apriori.com/resources/video/demo-pcb-pcba/ · resources.apriori.com/vidyard-all-players/introducing-aprioris-printed-circuit-board-assembly-costing-module · g2.com/products/apriori-manufacturing-intelligence-platform/pricing · trustradius.com/products/apriori-technologies/pricing
Siemens — siemens.com/en-us/products/teamcenter/solutions/product-cost-management/ · resources.sw.siemens.com/en-US/fact-sheet-reduce-costs-and-carbon-footprint-with-teamcenter-x-product-cost-management/
Tset — tset.com/industries/electronics-and-high-tech-manufacturing · tset.com/blog/how-to-calculate-pcba-and-pcb-costs-in-product-costing-software · tset.com/videos/pcba-pcb
FACTON / costdata — costdata.de/en/blog/best-cost-engineering-software
Boothroyd Dewhurst — dfma.com/software/cost.asp · dfma.com/software/cost-modeling-software-for-manufacturing.html · dfma.com/resources/pcb-cost-estimating.asp
Yole SystemPlus — systemplus.fr/services/reverse-costing/ · yolegroup.com/about-us/reverse-costing/ · reverse-costing.com  (EUR figures: 2017–18 Yole flyers via slideshare.net/Yole_Developpement — STALE, order-of-magnitude only)
TechInsights — techinsights.com/technical-capabilities/overview/scope-of-analysis/teardown-costing · techinsights.com/reverse-engineering-subscriptions · .../component-pricing-landscape-and-analysis-subscriptions · .../automotive-teardown-subscriptions
JLCPCB — jlcpcb.com/help/article/pcb-assembly-price · jlcpcb.com/pcb-assembly · jlcpcb.com/parts/bom-tool/
PCB Tracer — pcbtracer.com · pcbtracer.com/PCB_Tracer.html · github.com/rpelorosso/pcb-tracer · hackaday.com/2026/02/23/x-ray-a-pcb-virtually/
Academic (photo→BOM is a researched problem, not only a product): arxiv.org/pdf/2307.13105 (PCB marking detection for hardware assurance) · arxiv.org/pdf/2202.08452 · arxiv.org/pdf/2301.09268 (PCBDet)
CostVision figures on the following two slides are read from our own source, not from memory: server/routes/pcb.ts (grounding block ~L1408–1432), server/utils/pcb-live-pricing.ts, server/utils/pcb-bom-grounding.ts (groundingCandidates cap = 20), server/utils/pcb-price-catalogue.ts, src/engine/modules/pcba.ts.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axes as the previous slide, with us in the indigo column, and I have coloured our cell green only where I can defend the claim and red where I cannot. The green rows are real and they are worth saying plainly. We start from a photograph rather than a bill of materials, which no should-cost platform in camp B does. We return an answer in minutes where reverse costing takes weeks. We run air-gapped, which matters for a programme where the board itself is confidential. And every line in our bill of materials carries an evidence tag saying whether the part number was legible in the photograph, partly legible, or inferred — I have not found anyone else who prints that. Now the row I want to correct myself on, because I told this room the opposite earlier in the week. I said we have no live distributor pricing. That is wrong, and I found it by reading our own source rather than trusting my memory. The integration is built and it is wired into the costing path — Octopart via Nexar, and RS Components — and it grounds the bill of materials before the total is summed. What is true is that it is gated on an API key, we do not have one, and so every price falls back to our offline catalogue. So the honest cell is not "we do not have this". It is "we have it, and it is switched off", which is a completely different size of problem and a completely different conversation with the budget holder. The two red rows are the ones I would read first if I were you. We have never validated a PCBA estimate against a real invoice. The thirteen percent fleet accuracy we quote elsewhere in this deck is from mechanical parts — castings, mouldings, forgings — and it does not transfer to a populated circuit board. Until we cost a board we already have a purchase-order price for, our accuracy on this commodity is unknown, and I would rather say that than let the number drift across from another slide. And maturity. Luminovo claims over three hundred EMS customers. Yole has done more than two hundred and fifty automotive teardowns. We have done one board, internally, and we found three part-number errors in our own first pass at it. That is not an argument against the tool — finding them is what the evidence tagging is for — but it is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one on the market, and it is the decision slide. Top left is what is genuinely ours, and I have narrowed the claim deliberately. Both halves of what we do exist elsewhere: PCB Tracer will read a photograph of a board into a bill of materials for nothing, and aPriori will cost a PCBA properly once you give it one. What I could not find anywhere is the two joined into a single pass. That join is the whole product, because it is what lets a buyer cost a board when nobody will hand them the bill of materials — a competitor’s board, or frankly our own supplier’s. Top right, and I would rather we said this before anyone else does. Four things. We have not validated PCBA accuracy against a single real invoice. Our live pricing is built and switched off. Around twenty pounds of the brake ECU is Bosch captive silicon that has no market price at all, and no data feed on earth fixes that one — it is an irreducible uncertainty and we should keep saying so. And the placement rate: the fourteen pounds twenty-one of process cost on that board comes straight out of our library’s components-per-hour assumptions, and if a real automotive line runs two or three times faster, that number falls to between four and seven pounds. That single unvalidated assumption is worth more than the entire volume change from two hundred thousand to three hundred and fifty thousand that we spent this week modelling. The three cards along the bottom are what to do about it, in order of value for effort. First, turn the price feed on. This is not a development project — the code is in pcb-live-pricing dot ts, it is already wired to ground the bill of materials before the total is summed, and it is waiting on an API key we have not bought. While we are there we should lift the twenty-part grounding cap, because the ECU bill of materials has exactly twenty lines and is therefore already sitting on the limit. Second, validate: cost one board where we already know the purchase-order price, and record the actual. The calibration and drift machinery that learns from actuals is already built and has never once been given a circuit board. Third, ring one EMS supplier and ask what their real placement rate is on a comparable board. So the ask is small and specific: one distributor API key, and one board with a known price. No new engineering. And until we have both, the headline we put on a should-cost stays exactly what it is today — a defensible, fully traceable estimate, and not a priced quotation. I would rather we were the ones enforcing that distinction than have a supplier enforce it on us in a negotiation.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five pounds fifty-five of combined opportunity against a twenty-five pound piece cost, and its single biggest action was a four-pound-fifty sourcing lever.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barely a third of the twenty-two percent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thirteen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eighteen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new since we last met, and it came straight from you. Cost engineering and the plant asked why gears went through the tool as if they were just milled parts. Fair question, because that is exactly what was happening, and the machining model cannot see a tooth. So gears now have their own model. Look at the three rows in the middle. Same gear, same size, same programme. The only thing changing is how accurate we ask it to be. Top row, a loose gear, we just cut the teeth and check it. Eight pounds twenty-six. Middle row, we ask for a tight gear. Now it has to be hardened in a furnace, and because hardening bends it slightly, it then has to be ground. Two extra machines. Thirteen fifty-five. That is the important bit, so let me say it a different way. Asking for a tighter gear does not make the same operations cost more. It adds operations. Any tool that just multiplies by one-point-four is wrong, and it will be wrong in the direction that loses you money. The bottom row is an internal ring gear. A hob physically cannot get inside a bore, so the tool does not even offer it — it picks power skiving instead. Geometry decides, not preference. Bottom left: the cycle time is not a guess. It is the gear train arithmetic, and the tool prints the sum so your plant can argue with it. And the red bar at the bottom is me being straight with you. The structure is right, the arithmetic is right, but the feeds and speeds are representative numbers, not yours. Give me your machine list and your feeds and this becomes a real should-cost. Until then it is directional, and the tool says so itself on every single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this slide because it is the one that should give you the most confidence, even though it is a list of our own mistakes. After building the gear model, we did not just test that it works. We attacked it — deliberately fed it nonsense and looked for answers that were wrong but looked right. That is the dangerous kind of wrong. You can argue with a number that looks silly. You cannot argue with one that looks fine and is not. We found seven. Take the first. The same gear cost thirteen pounds and five pence whether you made a thousand a year or a million. Identical to the penny. That is the very first thing any of you would check, and it was flat, because we had never modelled the one-off costs — the fixture, the programming, the first article approval, the broach. Now they are in, and a low-volume gear correctly costs nearly three times a high-volume one. The second one is embarrassing and I will say it anyway. A gear with zero teeth returned eleven pounds twelve. It should have refused. Now it refuses, and it tells you which field is wrong. The third is a genuine manufacturing error. We were sending internal ring gears to a grinder that physically cannot reach inside a bore. Your plant would have spotted that in a second and lost trust in everything else on the page. And the fourth undermined the whole feature — once a gear was being ground, asking for tighter and tighter accuracy changed nothing at all. Every one of those is now fixed and locked down with tests, so they cannot quietly return. I would rather show you this slide than have your plant head find any of it in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Eighteen manufacturing commodities are modelled, plus assembly roll-up and software.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end of the hour. Everything from here is reference material, and I do not intend to present it — it is here so that when somebody asks how the DFM rules actually work, or what the tool is built from, or whether anything calls out to the internet, the answer is in the pack rather than in my head. Two groups. The first is the complete DFM and DFA rule library: every threshold, every geometry advisor and every idea lever, with the exact numbers they fire on. The second is the technical architecture for the engineers — languages, code size, licences, and a straight answer on what talks to the outside world. Jump to whichever gets asked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five pounds fifty-five per part of combined opportunity, about twenty-two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it answers two questions at once: what each box is built from, and what it hands to the next box. Follow it left to right. Upload a CAD file, a PCB photo or a typed form. The Python kernel measures the solid and hands on a parcel we call OCCTGeometry — sizes, wall thickness, holes, draft angles. All measured; none of it guessed. The rules layer turns those measurements into cost inputs and the engineer answers the two or three things a shape cannot tell you, such as what it is made of and how many a year; that parcel is the UniversalStackInput — a material, a list of operations, and a tooling block. The cost engine sits in the middle because everything either feeds it or renders what it produced. It works out the eight buckets, it has a module per commodity, its optimisers pick the cheapest capable machine, and its guardrails check every number. What it hands on is the PartCostResult: the eight buckets, plus where every single number came from. The line at the bottom of that box is the design decision that matters most — numbers in, numbers out, no database, no network, no file access. That is exactly why fifteen hundred tests can cover it and why the identical code runs in the browser and on the server. Then out to the right: the guardrails and self-audit check the answer and attach a confidence band, the findings become savings ranked by money — which is the change we made after the last review — and finally it is saved to SQLite on our own server, with the reports built in the browser. The grey strip underneath opens those four parcels up, because somebody always asks what is actually in them. The geometry parcel carries bounding box, volume, wall thickness including a ninety-fifth percentile because the thickest section governs cooling, draft, setup count and a hole table. The input parcel carries one row per operation with cycle time, OEE, manning and efficiency. The result parcel carries the eight buckets and a traceability row for every figure — value, unit, which rate it used and how confident that rate is; that is what prints under every number in the report. And the opportunities parcel carries each idea with its saving in pounds per part, its risk, its timeframe and its owner. The table answers the language, size and licence questions row by row. Only one component is Python — the geometry kernel, driving Open CASCADE, the same kernel FreeCAD is built on. Everything else is TypeScript. Is it free? Yes, with exactly one exception: every library is MIT, Apache-2.0 or LGPL, there is no licence fee and no per-seat cost, and the single paid item anywhere in the stack is the optional Anthropic API call, metered per token only when somebody chooses to use it. I would still get that list formally reviewed before we distribute anything outside the company. And the box along the bottom is the question I was asked, answered completely rather than reassuringly. API calls: one, and it is optional, through a single point in the code so it can be pointed at a private endpoint or switched off with an environment variable. KPI calls: none — no KPIs measured, no usage tracked, nothing phoning home. Error telemetry: yes, and I want to be precise because an earlier draft of this slide said "no telemetry" and that was too absolute. When the app hits an uncaught error it posts it to our own Express server and it lands in our own log. No Sentry, no Google Analytics, no third party, nothing leaving the network. And the optional feeds are off by default and display-only;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and I have pitched it at someone who thinks in schemas rather than in castings, because that is the question I was asked. Five typed hand-offs from CAD file to database, and every type name and field on this slide is copied from the source rather than paraphrased. One: the kernel writes an OCCTGeometry document to stdout as JSON. Bounding box, volume, surface area, fill ratio, and then the interesting parts — a topology block that tells you whether the shape encloses a sealed void, which is how a fuel tank is distinguished from a bumper; a wall-thickness block with a p95 because the thickest section is what governs cooling; draft, setup count, a bottom-up CNC cycle estimate, and weights in three candidate materials. Everything in there is measured. Nothing in there is guessed. Two: the rules layer plus the engineer’s answers produce a UniversalStackInput. This is the form the cost engine actually eats — a material with a utilisation, an array of operations each with cycle time, OEE, manning and labour efficiency, a tooling block, and the universal per-part costs. Where geometry can determine a field, geometry wins; where it cannot, the engineer answers and the tool blocks until they do. Three: computeUniversalStack turns that into a PartCostResult. Eight buckets, per-operation detail, and — the field I would point at first — a traceability array. Every cost line emits its field, value, unit, rate source, rate id and confidence. That is what prints beneath every number in the report, and it is why a figure survives a supplier meeting. Four: the DFM/DFA layer reads the finished result and produces RankedOpportunities, which is the change we made after the last review — savings ranked in money per part and grouped by category, with no score and no severity anywhere a person sees. Five: SQLite, twelve tables, one file on our own server. And note the design decision, because a data person will spot it immediately: the JSON objects above are stored whole in data columns rather than shredded into a relational model. The engine owns the schema, so a costing round-trips byte-identical, and rate_overrides is a proper audit trail of who changed which rate and when. The teal strip in the middle is the sentence I would like him to leave with. The whole system is one pure transform between two typed structures: UniversalStackInput and a RateLibrary in, PartCostResult out. Same input, same output, forever. That property is what makes fifteen hundred tests possible, and it is why the identical code runs in the browser and on the server without a line changing. And the three panels at the bottom are the things I would want to be asked about. Provenance: nothing is a bare number. Units: fields carry their unit in the name, because seconds-versus-hours and millimetres-versus-centimetres are genuinely where the bugs in this domain come from, and that convention is pinned by tests rather than by good intentions. Storage: typed in code, JSON at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 &amp; the business case</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it connects, the PCB flow, who else does this in the market, and the money case ending in one decision</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Slides 3–13</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24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A7F50"/>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A7F50"/>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D7D71"/>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D7D71"/>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Slides 14–32</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Slides 33–43</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 44</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A7F50"/>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A7F50"/>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Appendix (slides 42–52): </a:t>
            </a:r>
            <a:pPr indent="0" marL="0">
              <a:buNone/>
            </a:pPr>
            <a:r>
              <a:rPr lang="en-US" sz="1150" dirty="0">
                <a:solidFill>
                  <a:srgbClr val="CADCFC"/>
                </a:solidFill>
                <a:latin typeface="Calibri" pitchFamily="34" charset="0"/>
                <a:ea typeface="Calibri" pitchFamily="34" charset="-122"/>
                <a:cs typeface="Calibri" pitchFamily="34" charset="-120"/>
              </a:rPr>
              <a:t>the complete DFM/DFA rule library and the technical architecture — reference material, not part of the hour.
</a:t>
            </a:r>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5–8 (who else does this, and where we honestly stand) · slides 9–13 (the business case) · slide 32 (the housing on one page) · slide 42 (the two findings) · slide 44 (the limits).</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86F7D"/>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99651A"/>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D7D71"/>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A7F50"/>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A7F50"/>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750" b="1" spc="40" kern="0" dirty="0">
                <a:solidFill>
                  <a:srgbClr val="2A7F50"/>
                </a:solidFill>
                <a:latin typeface="Calibri" pitchFamily="34" charset="0"/>
                <a:ea typeface="Calibri" pitchFamily="34" charset="-122"/>
                <a:cs typeface="Calibri" pitchFamily="34" charset="-120"/>
              </a:rPr>
              <a:t>WHY TRUST THIS PICTURE</a:t>
            </a:r>
            <a:endParaRPr lang="en-US" sz="75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750" dirty="0">
                <a:solidFill>
                  <a:srgbClr val="3A4356"/>
                </a:solidFill>
                <a:latin typeface="Calibri" pitchFamily="34" charset="0"/>
                <a:ea typeface="Calibri" pitchFamily="34" charset="-122"/>
                <a:cs typeface="Calibri" pitchFamily="34" charset="-120"/>
              </a:rPr>
              <a:t>Same file + answers = same price</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12 of 19 commodities rules-driven</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1,777 automated tests</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6 real parts · fleet error ≈13%</a:t>
            </a:r>
            <a:endParaRPr lang="en-US" sz="750" dirty="0"/>
          </a:p>
        </p:txBody>
      </p:sp>
      <p:sp>
        <p:nvSpPr>
          <p:cNvPr id="21" name="Shape 19"/>
          <p:cNvSpPr/>
          <p:nvPr/>
        </p:nvSpPr>
        <p:spPr>
          <a:xfrm>
            <a:off x="2331720" y="932688"/>
            <a:ext cx="4754880" cy="1024128"/>
          </a:xfrm>
          <a:prstGeom prst="roundRect">
            <a:avLst>
              <a:gd name="adj" fmla="val 8036"/>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18488"/>
            <a:ext cx="3977640" cy="292608"/>
          </a:xfrm>
          <a:prstGeom prst="rect">
            <a:avLst/>
          </a:prstGeom>
          <a:noFill/>
          <a:ln/>
        </p:spPr>
        <p:txBody>
          <a:bodyPr wrap="square" lIns="0" tIns="0" rIns="0" bIns="0" rtlCol="0" anchor="t"/>
          <a:lstStyle/>
          <a:p>
            <a:pPr indent="0" marL="0">
              <a:buNone/>
            </a:pPr>
            <a:r>
              <a:rPr lang="en-US" sz="750" i="1" dirty="0">
                <a:solidFill>
                  <a:srgbClr val="6B3FA0"/>
                </a:solidFill>
                <a:latin typeface="Calibri" pitchFamily="34" charset="0"/>
                <a:ea typeface="Calibri" pitchFamily="34" charset="-122"/>
                <a:cs typeface="Calibri" pitchFamily="34" charset="-120"/>
              </a:rPr>
              <a:t>Routable to a private endpoint · AIR_GAPPED=1 refuses the call — CAD and manual costing still work; only the PCB photo path stops</a:t>
            </a:r>
            <a:endParaRPr lang="en-US" sz="75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86F7D"/>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D7D71"/>
            </a:solidFill>
            <a:prstDash val="dash"/>
          </a:ln>
        </p:spPr>
      </p:sp>
      <p:sp>
        <p:nvSpPr>
          <p:cNvPr id="31" name="Shape 28"/>
          <p:cNvSpPr/>
          <p:nvPr/>
        </p:nvSpPr>
        <p:spPr>
          <a:xfrm>
            <a:off x="685800" y="1874520"/>
            <a:ext cx="3200400" cy="256032"/>
          </a:xfrm>
          <a:prstGeom prst="roundRect">
            <a:avLst>
              <a:gd name="adj" fmla="val 50000"/>
            </a:avLst>
          </a:prstGeom>
          <a:solidFill>
            <a:srgbClr val="0D7D71"/>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Shape 40"/>
          <p:cNvSpPr/>
          <p:nvPr/>
        </p:nvSpPr>
        <p:spPr>
          <a:xfrm>
            <a:off x="594360" y="3236976"/>
            <a:ext cx="1828800" cy="621792"/>
          </a:xfrm>
          <a:prstGeom prst="roundRect">
            <a:avLst>
              <a:gd name="adj" fmla="val 10294"/>
            </a:avLst>
          </a:prstGeom>
          <a:solidFill>
            <a:srgbClr val="FFFFFF"/>
          </a:solidFill>
          <a:ln w="19050">
            <a:solidFill>
              <a:srgbClr val="6B3FA0"/>
            </a:solidFill>
            <a:prstDash val="solid"/>
          </a:ln>
        </p:spPr>
      </p:sp>
      <p:sp>
        <p:nvSpPr>
          <p:cNvPr id="44" name="Text 41"/>
          <p:cNvSpPr/>
          <p:nvPr/>
        </p:nvSpPr>
        <p:spPr>
          <a:xfrm>
            <a:off x="713232" y="3255264"/>
            <a:ext cx="1591056" cy="237744"/>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45" name="Shape 42"/>
          <p:cNvSpPr/>
          <p:nvPr/>
        </p:nvSpPr>
        <p:spPr>
          <a:xfrm>
            <a:off x="713232" y="3529584"/>
            <a:ext cx="1051560" cy="173736"/>
          </a:xfrm>
          <a:prstGeom prst="roundRect">
            <a:avLst>
              <a:gd name="adj" fmla="val 50000"/>
            </a:avLst>
          </a:prstGeom>
          <a:solidFill>
            <a:srgbClr val="6B3FA0"/>
          </a:solidFill>
          <a:ln/>
        </p:spPr>
      </p:sp>
      <p:sp>
        <p:nvSpPr>
          <p:cNvPr id="46" name="Text 43"/>
          <p:cNvSpPr/>
          <p:nvPr/>
        </p:nvSpPr>
        <p:spPr>
          <a:xfrm>
            <a:off x="713232" y="3529584"/>
            <a:ext cx="1051560" cy="173736"/>
          </a:xfrm>
          <a:prstGeom prst="rect">
            <a:avLst/>
          </a:prstGeom>
          <a:noFill/>
          <a:ln/>
        </p:spPr>
        <p:txBody>
          <a:bodyPr wrap="square" lIns="0" tIns="0" rIns="0" bIns="0" rtlCol="0" anchor="ctr"/>
          <a:lstStyle/>
          <a:p>
            <a:pPr algn="ctr" indent="0" marL="0">
              <a:buNone/>
            </a:pPr>
            <a:r>
              <a:rPr lang="en-US" sz="750" b="1" spc="40" kern="0" dirty="0">
                <a:solidFill>
                  <a:srgbClr val="FFFFFF"/>
                </a:solidFill>
                <a:latin typeface="Calibri" pitchFamily="34" charset="0"/>
                <a:ea typeface="Calibri" pitchFamily="34" charset="-122"/>
                <a:cs typeface="Calibri" pitchFamily="34" charset="-120"/>
              </a:rPr>
              <a:t>NEEDS THE AI</a:t>
            </a:r>
            <a:endParaRPr lang="en-US" sz="750" dirty="0"/>
          </a:p>
        </p:txBody>
      </p:sp>
      <p:sp>
        <p:nvSpPr>
          <p:cNvPr id="47" name="Shape 44"/>
          <p:cNvSpPr/>
          <p:nvPr/>
        </p:nvSpPr>
        <p:spPr>
          <a:xfrm>
            <a:off x="502920" y="1810512"/>
            <a:ext cx="0" cy="1737360"/>
          </a:xfrm>
          <a:prstGeom prst="line">
            <a:avLst/>
          </a:prstGeom>
          <a:noFill/>
          <a:ln w="17780">
            <a:solidFill>
              <a:srgbClr val="6B3FA0"/>
            </a:solidFill>
            <a:prstDash val="dash"/>
            <a:headEnd type="triangle"/>
            <a:tailEnd type="triangle"/>
          </a:ln>
        </p:spPr>
      </p:sp>
      <p:sp>
        <p:nvSpPr>
          <p:cNvPr id="48" name="Shape 45"/>
          <p:cNvSpPr/>
          <p:nvPr/>
        </p:nvSpPr>
        <p:spPr>
          <a:xfrm>
            <a:off x="502920" y="1810512"/>
            <a:ext cx="1828800" cy="0"/>
          </a:xfrm>
          <a:prstGeom prst="line">
            <a:avLst/>
          </a:prstGeom>
          <a:noFill/>
          <a:ln w="17780">
            <a:solidFill>
              <a:srgbClr val="6B3FA0"/>
            </a:solidFill>
            <a:prstDash val="dash"/>
            <a:tailEnd type="triangle"/>
          </a:ln>
        </p:spPr>
      </p:sp>
      <p:sp>
        <p:nvSpPr>
          <p:cNvPr id="49" name="Text 46"/>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COMES OUT</a:t>
            </a:r>
            <a:endParaRPr lang="en-US" sz="850" dirty="0"/>
          </a:p>
        </p:txBody>
      </p:sp>
      <p:sp>
        <p:nvSpPr>
          <p:cNvPr id="50" name="Shape 47"/>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52" name="Shape 49"/>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54" name="Shape 51"/>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55" name="Text 52"/>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6" name="Shape 53"/>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7" name="Text 54"/>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savings</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ranked in £/part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(engine, not AI)</a:t>
            </a:r>
            <a:endParaRPr lang="en-US" sz="860" dirty="0"/>
          </a:p>
        </p:txBody>
      </p:sp>
      <p:sp>
        <p:nvSpPr>
          <p:cNvPr id="58" name="Shape 55"/>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9" name="Text 56"/>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60" name="Shape 57"/>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61" name="Shape 58"/>
          <p:cNvSpPr/>
          <p:nvPr/>
        </p:nvSpPr>
        <p:spPr>
          <a:xfrm>
            <a:off x="2734056" y="2560320"/>
            <a:ext cx="310896" cy="310896"/>
          </a:xfrm>
          <a:prstGeom prst="ellipse">
            <a:avLst/>
          </a:prstGeom>
          <a:solidFill>
            <a:srgbClr val="1D6FB8"/>
          </a:solidFill>
          <a:ln/>
        </p:spPr>
      </p:sp>
      <p:pic>
        <p:nvPicPr>
          <p:cNvPr id="62"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63" name="Text 59"/>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64" name="Text 60"/>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65" name="Shape 61"/>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6" name="Shape 62"/>
          <p:cNvSpPr/>
          <p:nvPr/>
        </p:nvSpPr>
        <p:spPr>
          <a:xfrm>
            <a:off x="2734056" y="3822192"/>
            <a:ext cx="310896" cy="310896"/>
          </a:xfrm>
          <a:prstGeom prst="ellipse">
            <a:avLst/>
          </a:prstGeom>
          <a:solidFill>
            <a:srgbClr val="4F46E5"/>
          </a:solidFill>
          <a:ln/>
        </p:spPr>
      </p:sp>
      <p:pic>
        <p:nvPicPr>
          <p:cNvPr id="67"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8" name="Text 63"/>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9" name="Text 64"/>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70" name="Shape 65"/>
          <p:cNvSpPr/>
          <p:nvPr/>
        </p:nvSpPr>
        <p:spPr>
          <a:xfrm>
            <a:off x="2606040" y="4974336"/>
            <a:ext cx="1920240" cy="932688"/>
          </a:xfrm>
          <a:prstGeom prst="roundRect">
            <a:avLst>
              <a:gd name="adj" fmla="val 8824"/>
            </a:avLst>
          </a:prstGeom>
          <a:solidFill>
            <a:srgbClr val="EAF6EF"/>
          </a:solidFill>
          <a:ln w="17780">
            <a:solidFill>
              <a:srgbClr val="2A7F50"/>
            </a:solidFill>
            <a:prstDash val="solid"/>
          </a:ln>
        </p:spPr>
      </p:sp>
      <p:sp>
        <p:nvSpPr>
          <p:cNvPr id="71" name="Shape 66"/>
          <p:cNvSpPr/>
          <p:nvPr/>
        </p:nvSpPr>
        <p:spPr>
          <a:xfrm>
            <a:off x="2734056" y="5084064"/>
            <a:ext cx="310896" cy="310896"/>
          </a:xfrm>
          <a:prstGeom prst="ellipse">
            <a:avLst/>
          </a:prstGeom>
          <a:solidFill>
            <a:srgbClr val="2A7F50"/>
          </a:solidFill>
          <a:ln/>
        </p:spPr>
      </p:sp>
      <p:pic>
        <p:nvPicPr>
          <p:cNvPr id="72"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73" name="Text 67"/>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The engineer</a:t>
            </a:r>
            <a:endParaRPr lang="en-US" sz="1000" dirty="0"/>
          </a:p>
        </p:txBody>
      </p:sp>
      <p:sp>
        <p:nvSpPr>
          <p:cNvPr id="74" name="Text 68"/>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75" name="Shape 69"/>
          <p:cNvSpPr/>
          <p:nvPr/>
        </p:nvSpPr>
        <p:spPr>
          <a:xfrm>
            <a:off x="4892040" y="2450592"/>
            <a:ext cx="1965960" cy="1115568"/>
          </a:xfrm>
          <a:prstGeom prst="roundRect">
            <a:avLst>
              <a:gd name="adj" fmla="val 7377"/>
            </a:avLst>
          </a:prstGeom>
          <a:solidFill>
            <a:srgbClr val="FCF3E3"/>
          </a:solidFill>
          <a:ln w="17780">
            <a:solidFill>
              <a:srgbClr val="99651A"/>
            </a:solidFill>
            <a:prstDash val="solid"/>
          </a:ln>
        </p:spPr>
      </p:sp>
      <p:sp>
        <p:nvSpPr>
          <p:cNvPr id="76" name="Shape 70"/>
          <p:cNvSpPr/>
          <p:nvPr/>
        </p:nvSpPr>
        <p:spPr>
          <a:xfrm>
            <a:off x="5020056" y="2560320"/>
            <a:ext cx="310896" cy="310896"/>
          </a:xfrm>
          <a:prstGeom prst="ellipse">
            <a:avLst/>
          </a:prstGeom>
          <a:solidFill>
            <a:srgbClr val="99651A"/>
          </a:solidFill>
          <a:ln/>
        </p:spPr>
      </p:sp>
      <p:pic>
        <p:nvPicPr>
          <p:cNvPr id="77"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8" name="Text 71"/>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99651A"/>
                </a:solidFill>
                <a:latin typeface="Calibri" pitchFamily="34" charset="0"/>
                <a:ea typeface="Calibri" pitchFamily="34" charset="-122"/>
                <a:cs typeface="Calibri" pitchFamily="34" charset="-120"/>
              </a:rPr>
              <a:t>Guardrails</a:t>
            </a:r>
            <a:endParaRPr lang="en-US" sz="1000" dirty="0"/>
          </a:p>
        </p:txBody>
      </p:sp>
      <p:sp>
        <p:nvSpPr>
          <p:cNvPr id="79" name="Text 72"/>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80" name="Shape 73"/>
          <p:cNvSpPr/>
          <p:nvPr/>
        </p:nvSpPr>
        <p:spPr>
          <a:xfrm>
            <a:off x="7772400" y="2450592"/>
            <a:ext cx="1920240" cy="1115568"/>
          </a:xfrm>
          <a:prstGeom prst="roundRect">
            <a:avLst>
              <a:gd name="adj" fmla="val 7377"/>
            </a:avLst>
          </a:prstGeom>
          <a:solidFill>
            <a:srgbClr val="E6F4F1"/>
          </a:solidFill>
          <a:ln w="17780">
            <a:solidFill>
              <a:srgbClr val="0D7D71"/>
            </a:solidFill>
            <a:prstDash val="solid"/>
          </a:ln>
        </p:spPr>
      </p:sp>
      <p:sp>
        <p:nvSpPr>
          <p:cNvPr id="81" name="Shape 74"/>
          <p:cNvSpPr/>
          <p:nvPr/>
        </p:nvSpPr>
        <p:spPr>
          <a:xfrm>
            <a:off x="7900416" y="2560320"/>
            <a:ext cx="310896" cy="310896"/>
          </a:xfrm>
          <a:prstGeom prst="ellipse">
            <a:avLst/>
          </a:prstGeom>
          <a:solidFill>
            <a:srgbClr val="0D7D71"/>
          </a:solidFill>
          <a:ln/>
        </p:spPr>
      </p:sp>
      <p:pic>
        <p:nvPicPr>
          <p:cNvPr id="82"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83" name="Text 75"/>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Rate library</a:t>
            </a:r>
            <a:endParaRPr lang="en-US" sz="1000" dirty="0"/>
          </a:p>
        </p:txBody>
      </p:sp>
      <p:sp>
        <p:nvSpPr>
          <p:cNvPr id="84" name="Text 76"/>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85" name="Shape 77"/>
          <p:cNvSpPr/>
          <p:nvPr/>
        </p:nvSpPr>
        <p:spPr>
          <a:xfrm>
            <a:off x="7772400" y="3712464"/>
            <a:ext cx="1920240" cy="1115568"/>
          </a:xfrm>
          <a:prstGeom prst="roundRect">
            <a:avLst>
              <a:gd name="adj" fmla="val 7377"/>
            </a:avLst>
          </a:prstGeom>
          <a:solidFill>
            <a:srgbClr val="E6F4F1"/>
          </a:solidFill>
          <a:ln w="17780">
            <a:solidFill>
              <a:srgbClr val="0D7D71"/>
            </a:solidFill>
            <a:prstDash val="solid"/>
          </a:ln>
        </p:spPr>
      </p:sp>
      <p:sp>
        <p:nvSpPr>
          <p:cNvPr id="86" name="Shape 78"/>
          <p:cNvSpPr/>
          <p:nvPr/>
        </p:nvSpPr>
        <p:spPr>
          <a:xfrm>
            <a:off x="7900416" y="3822192"/>
            <a:ext cx="310896" cy="310896"/>
          </a:xfrm>
          <a:prstGeom prst="ellipse">
            <a:avLst/>
          </a:prstGeom>
          <a:solidFill>
            <a:srgbClr val="0D7D71"/>
          </a:solidFill>
          <a:ln/>
        </p:spPr>
      </p:sp>
      <p:pic>
        <p:nvPicPr>
          <p:cNvPr id="87"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8" name="Text 79"/>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Local database</a:t>
            </a:r>
            <a:endParaRPr lang="en-US" sz="1000" dirty="0"/>
          </a:p>
        </p:txBody>
      </p:sp>
      <p:sp>
        <p:nvSpPr>
          <p:cNvPr id="89" name="Text 80"/>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90" name="Shape 81"/>
          <p:cNvSpPr/>
          <p:nvPr/>
        </p:nvSpPr>
        <p:spPr>
          <a:xfrm>
            <a:off x="7772400" y="4974336"/>
            <a:ext cx="1920240" cy="932688"/>
          </a:xfrm>
          <a:prstGeom prst="roundRect">
            <a:avLst>
              <a:gd name="adj" fmla="val 8824"/>
            </a:avLst>
          </a:prstGeom>
          <a:solidFill>
            <a:srgbClr val="EAF6EF"/>
          </a:solidFill>
          <a:ln w="17780">
            <a:solidFill>
              <a:srgbClr val="2A7F50"/>
            </a:solidFill>
            <a:prstDash val="solid"/>
          </a:ln>
        </p:spPr>
      </p:sp>
      <p:sp>
        <p:nvSpPr>
          <p:cNvPr id="91" name="Text 82"/>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Uncertainty</a:t>
            </a:r>
            <a:endParaRPr lang="en-US" sz="1000" dirty="0"/>
          </a:p>
        </p:txBody>
      </p:sp>
      <p:sp>
        <p:nvSpPr>
          <p:cNvPr id="92" name="Text 83"/>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93" name="Shape 84"/>
          <p:cNvSpPr/>
          <p:nvPr/>
        </p:nvSpPr>
        <p:spPr>
          <a:xfrm>
            <a:off x="4892040" y="3712464"/>
            <a:ext cx="1965960" cy="1444752"/>
          </a:xfrm>
          <a:prstGeom prst="roundRect">
            <a:avLst>
              <a:gd name="adj" fmla="val 6329"/>
            </a:avLst>
          </a:prstGeom>
          <a:solidFill>
            <a:srgbClr val="0E5A5A"/>
          </a:solidFill>
          <a:ln/>
        </p:spPr>
      </p:sp>
      <p:sp>
        <p:nvSpPr>
          <p:cNvPr id="94" name="Shape 85"/>
          <p:cNvSpPr/>
          <p:nvPr/>
        </p:nvSpPr>
        <p:spPr>
          <a:xfrm>
            <a:off x="5632704" y="3840480"/>
            <a:ext cx="457200" cy="457200"/>
          </a:xfrm>
          <a:prstGeom prst="ellipse">
            <a:avLst/>
          </a:prstGeom>
          <a:solidFill>
            <a:srgbClr val="17A398"/>
          </a:solidFill>
          <a:ln/>
        </p:spPr>
      </p:sp>
      <p:pic>
        <p:nvPicPr>
          <p:cNvPr id="95"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6" name="Text 86"/>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7" name="Text 87"/>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8" name="Shape 88"/>
          <p:cNvSpPr/>
          <p:nvPr/>
        </p:nvSpPr>
        <p:spPr>
          <a:xfrm>
            <a:off x="3904488" y="2368296"/>
            <a:ext cx="548640" cy="155448"/>
          </a:xfrm>
          <a:prstGeom prst="roundRect">
            <a:avLst>
              <a:gd name="adj" fmla="val 50000"/>
            </a:avLst>
          </a:prstGeom>
          <a:solidFill>
            <a:srgbClr val="1D6FB8"/>
          </a:solidFill>
          <a:ln/>
        </p:spPr>
      </p:sp>
      <p:sp>
        <p:nvSpPr>
          <p:cNvPr id="99" name="Text 89"/>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0" name="Shape 90"/>
          <p:cNvSpPr/>
          <p:nvPr/>
        </p:nvSpPr>
        <p:spPr>
          <a:xfrm>
            <a:off x="3904488" y="3630168"/>
            <a:ext cx="548640" cy="155448"/>
          </a:xfrm>
          <a:prstGeom prst="roundRect">
            <a:avLst>
              <a:gd name="adj" fmla="val 50000"/>
            </a:avLst>
          </a:prstGeom>
          <a:solidFill>
            <a:srgbClr val="4F46E5"/>
          </a:solidFill>
          <a:ln/>
        </p:spPr>
      </p:sp>
      <p:sp>
        <p:nvSpPr>
          <p:cNvPr id="101" name="Text 91"/>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2" name="Shape 92"/>
          <p:cNvSpPr/>
          <p:nvPr/>
        </p:nvSpPr>
        <p:spPr>
          <a:xfrm>
            <a:off x="6236208" y="2368296"/>
            <a:ext cx="548640" cy="155448"/>
          </a:xfrm>
          <a:prstGeom prst="roundRect">
            <a:avLst>
              <a:gd name="adj" fmla="val 50000"/>
            </a:avLst>
          </a:prstGeom>
          <a:solidFill>
            <a:srgbClr val="99651A"/>
          </a:solidFill>
          <a:ln/>
        </p:spPr>
      </p:sp>
      <p:sp>
        <p:nvSpPr>
          <p:cNvPr id="103" name="Text 93"/>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4" name="Shape 94"/>
          <p:cNvSpPr/>
          <p:nvPr/>
        </p:nvSpPr>
        <p:spPr>
          <a:xfrm>
            <a:off x="9070848" y="2368296"/>
            <a:ext cx="548640" cy="155448"/>
          </a:xfrm>
          <a:prstGeom prst="roundRect">
            <a:avLst>
              <a:gd name="adj" fmla="val 50000"/>
            </a:avLst>
          </a:prstGeom>
          <a:solidFill>
            <a:srgbClr val="0D7D71"/>
          </a:solidFill>
          <a:ln/>
        </p:spPr>
      </p:sp>
      <p:sp>
        <p:nvSpPr>
          <p:cNvPr id="105" name="Text 95"/>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6" name="Shape 96"/>
          <p:cNvSpPr/>
          <p:nvPr/>
        </p:nvSpPr>
        <p:spPr>
          <a:xfrm>
            <a:off x="9070848" y="3630168"/>
            <a:ext cx="548640" cy="155448"/>
          </a:xfrm>
          <a:prstGeom prst="roundRect">
            <a:avLst>
              <a:gd name="adj" fmla="val 50000"/>
            </a:avLst>
          </a:prstGeom>
          <a:solidFill>
            <a:srgbClr val="0D7D71"/>
          </a:solidFill>
          <a:ln/>
        </p:spPr>
      </p:sp>
      <p:sp>
        <p:nvSpPr>
          <p:cNvPr id="107" name="Text 97"/>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8" name="Shape 98"/>
          <p:cNvSpPr/>
          <p:nvPr/>
        </p:nvSpPr>
        <p:spPr>
          <a:xfrm>
            <a:off x="9070848" y="4892040"/>
            <a:ext cx="548640" cy="155448"/>
          </a:xfrm>
          <a:prstGeom prst="roundRect">
            <a:avLst>
              <a:gd name="adj" fmla="val 50000"/>
            </a:avLst>
          </a:prstGeom>
          <a:solidFill>
            <a:srgbClr val="2A7F50"/>
          </a:solidFill>
          <a:ln/>
        </p:spPr>
      </p:sp>
      <p:sp>
        <p:nvSpPr>
          <p:cNvPr id="109" name="Text 99"/>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10" name="Shape 100"/>
          <p:cNvSpPr/>
          <p:nvPr/>
        </p:nvSpPr>
        <p:spPr>
          <a:xfrm>
            <a:off x="6236208" y="3630168"/>
            <a:ext cx="548640" cy="155448"/>
          </a:xfrm>
          <a:prstGeom prst="roundRect">
            <a:avLst>
              <a:gd name="adj" fmla="val 50000"/>
            </a:avLst>
          </a:prstGeom>
          <a:solidFill>
            <a:srgbClr val="0D7D71"/>
          </a:solidFill>
          <a:ln/>
        </p:spPr>
      </p:sp>
      <p:sp>
        <p:nvSpPr>
          <p:cNvPr id="111" name="Text 101"/>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12" name="Shape 102"/>
          <p:cNvSpPr/>
          <p:nvPr/>
        </p:nvSpPr>
        <p:spPr>
          <a:xfrm>
            <a:off x="3904488" y="4892040"/>
            <a:ext cx="548640" cy="155448"/>
          </a:xfrm>
          <a:prstGeom prst="roundRect">
            <a:avLst>
              <a:gd name="adj" fmla="val 50000"/>
            </a:avLst>
          </a:prstGeom>
          <a:solidFill>
            <a:srgbClr val="2A7F50"/>
          </a:solidFill>
          <a:ln/>
        </p:spPr>
      </p:sp>
      <p:sp>
        <p:nvSpPr>
          <p:cNvPr id="113" name="Text 103"/>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HUMAN</a:t>
            </a:r>
            <a:endParaRPr lang="en-US" sz="750" dirty="0"/>
          </a:p>
        </p:txBody>
      </p:sp>
      <p:sp>
        <p:nvSpPr>
          <p:cNvPr id="114" name="Shape 104"/>
          <p:cNvSpPr/>
          <p:nvPr/>
        </p:nvSpPr>
        <p:spPr>
          <a:xfrm>
            <a:off x="2423160" y="3008376"/>
            <a:ext cx="182880" cy="0"/>
          </a:xfrm>
          <a:prstGeom prst="line">
            <a:avLst/>
          </a:prstGeom>
          <a:noFill/>
          <a:ln w="22225">
            <a:solidFill>
              <a:srgbClr val="1D6FB8"/>
            </a:solidFill>
            <a:prstDash val="solid"/>
            <a:tailEnd type="triangle"/>
          </a:ln>
        </p:spPr>
      </p:sp>
      <p:sp>
        <p:nvSpPr>
          <p:cNvPr id="115" name="Shape 105"/>
          <p:cNvSpPr/>
          <p:nvPr/>
        </p:nvSpPr>
        <p:spPr>
          <a:xfrm>
            <a:off x="2423160" y="5385816"/>
            <a:ext cx="182880" cy="0"/>
          </a:xfrm>
          <a:prstGeom prst="line">
            <a:avLst/>
          </a:prstGeom>
          <a:noFill/>
          <a:ln w="22225">
            <a:solidFill>
              <a:srgbClr val="1D6FB8"/>
            </a:solidFill>
            <a:prstDash val="solid"/>
            <a:tailEnd type="triangle"/>
          </a:ln>
        </p:spPr>
      </p:sp>
      <p:sp>
        <p:nvSpPr>
          <p:cNvPr id="116" name="Shape 106"/>
          <p:cNvSpPr/>
          <p:nvPr/>
        </p:nvSpPr>
        <p:spPr>
          <a:xfrm>
            <a:off x="3566160" y="3566160"/>
            <a:ext cx="0" cy="146304"/>
          </a:xfrm>
          <a:prstGeom prst="line">
            <a:avLst/>
          </a:prstGeom>
          <a:noFill/>
          <a:ln w="22225">
            <a:solidFill>
              <a:srgbClr val="1D6FB8"/>
            </a:solidFill>
            <a:prstDash val="solid"/>
            <a:tailEnd type="triangle"/>
          </a:ln>
        </p:spPr>
      </p:sp>
      <p:sp>
        <p:nvSpPr>
          <p:cNvPr id="117" name="Shape 107"/>
          <p:cNvSpPr/>
          <p:nvPr/>
        </p:nvSpPr>
        <p:spPr>
          <a:xfrm flipV="1">
            <a:off x="3566160" y="4828032"/>
            <a:ext cx="0" cy="146304"/>
          </a:xfrm>
          <a:prstGeom prst="line">
            <a:avLst/>
          </a:prstGeom>
          <a:noFill/>
          <a:ln w="22225">
            <a:solidFill>
              <a:srgbClr val="2A7F50"/>
            </a:solidFill>
            <a:prstDash val="solid"/>
            <a:tailEnd type="triangle"/>
          </a:ln>
        </p:spPr>
      </p:sp>
      <p:sp>
        <p:nvSpPr>
          <p:cNvPr id="118" name="Shape 108"/>
          <p:cNvSpPr/>
          <p:nvPr/>
        </p:nvSpPr>
        <p:spPr>
          <a:xfrm flipH="1">
            <a:off x="4526280" y="3008376"/>
            <a:ext cx="365760" cy="283464"/>
          </a:xfrm>
          <a:prstGeom prst="line">
            <a:avLst/>
          </a:prstGeom>
          <a:noFill/>
          <a:ln w="17780">
            <a:solidFill>
              <a:srgbClr val="99651A"/>
            </a:solidFill>
            <a:prstDash val="solid"/>
            <a:tailEnd type="triangle"/>
          </a:ln>
        </p:spPr>
      </p:sp>
      <p:sp>
        <p:nvSpPr>
          <p:cNvPr id="119" name="Shape 109"/>
          <p:cNvSpPr/>
          <p:nvPr/>
        </p:nvSpPr>
        <p:spPr>
          <a:xfrm>
            <a:off x="4526280" y="4270248"/>
            <a:ext cx="365760" cy="0"/>
          </a:xfrm>
          <a:prstGeom prst="line">
            <a:avLst/>
          </a:prstGeom>
          <a:noFill/>
          <a:ln w="22225">
            <a:solidFill>
              <a:srgbClr val="4F46E5"/>
            </a:solidFill>
            <a:prstDash val="solid"/>
            <a:tailEnd type="triangle"/>
          </a:ln>
        </p:spPr>
      </p:sp>
      <p:sp>
        <p:nvSpPr>
          <p:cNvPr id="120" name="Shape 110"/>
          <p:cNvSpPr/>
          <p:nvPr/>
        </p:nvSpPr>
        <p:spPr>
          <a:xfrm flipH="1">
            <a:off x="7223760" y="3008376"/>
            <a:ext cx="548640" cy="0"/>
          </a:xfrm>
          <a:prstGeom prst="line">
            <a:avLst/>
          </a:prstGeom>
          <a:noFill/>
          <a:ln w="22225">
            <a:solidFill>
              <a:srgbClr val="0D7D71"/>
            </a:solidFill>
            <a:prstDash val="solid"/>
            <a:tailEnd type="triangle"/>
          </a:ln>
        </p:spPr>
      </p:sp>
      <p:sp>
        <p:nvSpPr>
          <p:cNvPr id="121" name="Shape 111"/>
          <p:cNvSpPr/>
          <p:nvPr/>
        </p:nvSpPr>
        <p:spPr>
          <a:xfrm flipH="1">
            <a:off x="6858000" y="3008376"/>
            <a:ext cx="365760" cy="923544"/>
          </a:xfrm>
          <a:prstGeom prst="line">
            <a:avLst/>
          </a:prstGeom>
          <a:noFill/>
          <a:ln w="22225">
            <a:solidFill>
              <a:srgbClr val="0D7D71"/>
            </a:solidFill>
            <a:prstDash val="solid"/>
            <a:tailEnd type="triangle"/>
          </a:ln>
        </p:spPr>
      </p:sp>
      <p:sp>
        <p:nvSpPr>
          <p:cNvPr id="122" name="Shape 112"/>
          <p:cNvSpPr/>
          <p:nvPr/>
        </p:nvSpPr>
        <p:spPr>
          <a:xfrm flipH="1">
            <a:off x="6858000" y="4270248"/>
            <a:ext cx="914400" cy="0"/>
          </a:xfrm>
          <a:prstGeom prst="line">
            <a:avLst/>
          </a:prstGeom>
          <a:noFill/>
          <a:ln w="22225">
            <a:solidFill>
              <a:srgbClr val="0D7D71"/>
            </a:solidFill>
            <a:prstDash val="solid"/>
            <a:tailEnd type="triangle"/>
          </a:ln>
        </p:spPr>
      </p:sp>
      <p:sp>
        <p:nvSpPr>
          <p:cNvPr id="123" name="Shape 113"/>
          <p:cNvSpPr/>
          <p:nvPr/>
        </p:nvSpPr>
        <p:spPr>
          <a:xfrm>
            <a:off x="6858000" y="4846320"/>
            <a:ext cx="914400" cy="502920"/>
          </a:xfrm>
          <a:prstGeom prst="line">
            <a:avLst/>
          </a:prstGeom>
          <a:noFill/>
          <a:ln w="22225">
            <a:solidFill>
              <a:srgbClr val="2A7F50"/>
            </a:solidFill>
            <a:prstDash val="solid"/>
            <a:tailEnd type="triangle"/>
          </a:ln>
        </p:spPr>
      </p:sp>
      <p:sp>
        <p:nvSpPr>
          <p:cNvPr id="124" name="Shape 114"/>
          <p:cNvSpPr/>
          <p:nvPr/>
        </p:nvSpPr>
        <p:spPr>
          <a:xfrm>
            <a:off x="9692640" y="5440680"/>
            <a:ext cx="411480" cy="0"/>
          </a:xfrm>
          <a:prstGeom prst="line">
            <a:avLst/>
          </a:prstGeom>
          <a:noFill/>
          <a:ln w="22225">
            <a:solidFill>
              <a:srgbClr val="2A7F50"/>
            </a:solidFill>
            <a:prstDash val="solid"/>
            <a:tailEnd type="triangle"/>
          </a:ln>
        </p:spPr>
      </p:sp>
      <p:sp>
        <p:nvSpPr>
          <p:cNvPr id="125" name="Shape 115"/>
          <p:cNvSpPr/>
          <p:nvPr/>
        </p:nvSpPr>
        <p:spPr>
          <a:xfrm flipH="1">
            <a:off x="9692640" y="4498848"/>
            <a:ext cx="411480" cy="0"/>
          </a:xfrm>
          <a:prstGeom prst="line">
            <a:avLst/>
          </a:prstGeom>
          <a:noFill/>
          <a:ln w="17780">
            <a:solidFill>
              <a:srgbClr val="2A7F50"/>
            </a:solidFill>
            <a:prstDash val="dash"/>
            <a:tailEnd type="triangle"/>
          </a:ln>
        </p:spPr>
      </p:sp>
      <p:sp>
        <p:nvSpPr>
          <p:cNvPr id="126" name="Text 116"/>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750" i="1" dirty="0">
                <a:solidFill>
                  <a:srgbClr val="2A7F50"/>
                </a:solidFill>
                <a:latin typeface="Calibri" pitchFamily="34" charset="0"/>
                <a:ea typeface="Calibri" pitchFamily="34" charset="-122"/>
                <a:cs typeface="Calibri" pitchFamily="34" charset="-120"/>
              </a:rPr>
              <a:t>actuals</a:t>
            </a:r>
            <a:endParaRPr lang="en-US" sz="750" dirty="0"/>
          </a:p>
          <a:p>
            <a:pPr algn="ctr" indent="0" marL="0">
              <a:buNone/>
            </a:pPr>
            <a:r>
              <a:rPr lang="en-US" sz="750" i="1" dirty="0">
                <a:solidFill>
                  <a:srgbClr val="2A7F50"/>
                </a:solidFill>
                <a:latin typeface="Calibri" pitchFamily="34" charset="0"/>
                <a:ea typeface="Calibri" pitchFamily="34" charset="-122"/>
                <a:cs typeface="Calibri" pitchFamily="34" charset="-120"/>
              </a:rPr>
              <a:t>feed back</a:t>
            </a:r>
            <a:endParaRPr lang="en-US" sz="750" dirty="0"/>
          </a:p>
        </p:txBody>
      </p:sp>
      <p:sp>
        <p:nvSpPr>
          <p:cNvPr id="127" name="Shape 117"/>
          <p:cNvSpPr/>
          <p:nvPr/>
        </p:nvSpPr>
        <p:spPr>
          <a:xfrm>
            <a:off x="9692640" y="3008376"/>
            <a:ext cx="411480" cy="0"/>
          </a:xfrm>
          <a:prstGeom prst="line">
            <a:avLst/>
          </a:prstGeom>
          <a:noFill/>
          <a:ln w="22225">
            <a:solidFill>
              <a:srgbClr val="2A7F50"/>
            </a:solidFill>
            <a:prstDash val="solid"/>
            <a:tailEnd type="triangle"/>
          </a:ln>
        </p:spPr>
      </p:sp>
      <p:sp>
        <p:nvSpPr>
          <p:cNvPr id="128" name="Shape 118"/>
          <p:cNvSpPr/>
          <p:nvPr/>
        </p:nvSpPr>
        <p:spPr>
          <a:xfrm>
            <a:off x="411480" y="6126480"/>
            <a:ext cx="11338560" cy="384048"/>
          </a:xfrm>
          <a:prstGeom prst="roundRect">
            <a:avLst>
              <a:gd name="adj" fmla="val 19048"/>
            </a:avLst>
          </a:prstGeom>
          <a:solidFill>
            <a:srgbClr val="EAF6EF"/>
          </a:solidFill>
          <a:ln w="12700">
            <a:solidFill>
              <a:srgbClr val="2A7F50"/>
            </a:solidFill>
            <a:prstDash val="solid"/>
          </a:ln>
        </p:spPr>
      </p:sp>
      <p:sp>
        <p:nvSpPr>
          <p:cNvPr id="129" name="Text 119"/>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A7F50"/>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30" name="Text 12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31" name="Text 12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86F7D"/>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D7D71"/>
            </a:solidFill>
            <a:prstDash val="dash"/>
          </a:ln>
        </p:spPr>
      </p:sp>
      <p:sp>
        <p:nvSpPr>
          <p:cNvPr id="13" name="Shape 10"/>
          <p:cNvSpPr/>
          <p:nvPr/>
        </p:nvSpPr>
        <p:spPr>
          <a:xfrm>
            <a:off x="685800" y="1874520"/>
            <a:ext cx="3200400" cy="256032"/>
          </a:xfrm>
          <a:prstGeom prst="roundRect">
            <a:avLst>
              <a:gd name="adj" fmla="val 50000"/>
            </a:avLst>
          </a:prstGeom>
          <a:solidFill>
            <a:srgbClr val="0D7D71"/>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99651A"/>
            </a:solidFill>
            <a:prstDash val="solid"/>
          </a:ln>
        </p:spPr>
      </p:sp>
      <p:sp>
        <p:nvSpPr>
          <p:cNvPr id="43" name="Shape 38"/>
          <p:cNvSpPr/>
          <p:nvPr/>
        </p:nvSpPr>
        <p:spPr>
          <a:xfrm>
            <a:off x="5111496" y="2560320"/>
            <a:ext cx="310896" cy="310896"/>
          </a:xfrm>
          <a:prstGeom prst="ellipse">
            <a:avLst/>
          </a:prstGeom>
          <a:solidFill>
            <a:srgbClr val="99651A"/>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99651A"/>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A7F50"/>
            </a:solidFill>
            <a:prstDash val="solid"/>
          </a:ln>
        </p:spPr>
      </p:sp>
      <p:sp>
        <p:nvSpPr>
          <p:cNvPr id="48" name="Shape 42"/>
          <p:cNvSpPr/>
          <p:nvPr/>
        </p:nvSpPr>
        <p:spPr>
          <a:xfrm>
            <a:off x="5111496" y="4956048"/>
            <a:ext cx="310896" cy="310896"/>
          </a:xfrm>
          <a:prstGeom prst="ellipse">
            <a:avLst/>
          </a:prstGeom>
          <a:solidFill>
            <a:srgbClr val="2A7F50"/>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A7F50"/>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D7D71"/>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606040" y="4956048"/>
            <a:ext cx="2148840" cy="950976"/>
          </a:xfrm>
          <a:prstGeom prst="roundRect">
            <a:avLst>
              <a:gd name="adj" fmla="val 8654"/>
            </a:avLst>
          </a:prstGeom>
          <a:solidFill>
            <a:srgbClr val="FBEAE8"/>
          </a:solidFill>
          <a:ln w="15875">
            <a:solidFill>
              <a:srgbClr val="B03A2E"/>
            </a:solidFill>
            <a:prstDash val="solid"/>
          </a:ln>
        </p:spPr>
      </p:sp>
      <p:sp>
        <p:nvSpPr>
          <p:cNvPr id="61" name="Text 53"/>
          <p:cNvSpPr/>
          <p:nvPr/>
        </p:nvSpPr>
        <p:spPr>
          <a:xfrm>
            <a:off x="2743200" y="5010912"/>
            <a:ext cx="1874520" cy="164592"/>
          </a:xfrm>
          <a:prstGeom prst="rect">
            <a:avLst/>
          </a:prstGeom>
          <a:noFill/>
          <a:ln/>
        </p:spPr>
        <p:txBody>
          <a:bodyPr wrap="square" lIns="0" tIns="0" rIns="0" bIns="0" rtlCol="0" anchor="ctr"/>
          <a:lstStyle/>
          <a:p>
            <a:pPr indent="0" marL="0">
              <a:buNone/>
            </a:pPr>
            <a:r>
              <a:rPr lang="en-US" sz="750" b="1" spc="40" kern="0" dirty="0">
                <a:solidFill>
                  <a:srgbClr val="B03A2E"/>
                </a:solidFill>
                <a:latin typeface="Calibri" pitchFamily="34" charset="0"/>
                <a:ea typeface="Calibri" pitchFamily="34" charset="-122"/>
                <a:cs typeface="Calibri" pitchFamily="34" charset="-120"/>
              </a:rPr>
              <a:t>IF THE NETWORK IS OFF</a:t>
            </a:r>
            <a:endParaRPr lang="en-US" sz="750" dirty="0"/>
          </a:p>
        </p:txBody>
      </p:sp>
      <p:sp>
        <p:nvSpPr>
          <p:cNvPr id="62" name="Text 54"/>
          <p:cNvSpPr/>
          <p:nvPr/>
        </p:nvSpPr>
        <p:spPr>
          <a:xfrm>
            <a:off x="2743200" y="5175504"/>
            <a:ext cx="1874520" cy="676656"/>
          </a:xfrm>
          <a:prstGeom prst="rect">
            <a:avLst/>
          </a:prstGeom>
          <a:noFill/>
          <a:ln/>
        </p:spPr>
        <p:txBody>
          <a:bodyPr wrap="square" lIns="0" tIns="0" rIns="0" bIns="0" rtlCol="0" anchor="t"/>
          <a:lstStyle/>
          <a:p>
            <a:pPr indent="0" marL="0">
              <a:buNone/>
            </a:pPr>
            <a:r>
              <a:rPr lang="en-US" sz="750" dirty="0">
                <a:solidFill>
                  <a:srgbClr val="3A4356"/>
                </a:solidFill>
                <a:latin typeface="Calibri" pitchFamily="34" charset="0"/>
                <a:ea typeface="Calibri" pitchFamily="34" charset="-122"/>
                <a:cs typeface="Calibri" pitchFamily="34" charset="-120"/>
              </a:rPr>
              <a:t>AIR_GAPPED=1 blocks this flow — a photo cannot be costed without the vision read. CAD and manual costing are unaffected.</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Live distributor pricing exists but is OFF by default; the offline catalogue is the source.</a:t>
            </a:r>
            <a:endParaRPr lang="en-US" sz="750" dirty="0"/>
          </a:p>
        </p:txBody>
      </p:sp>
      <p:sp>
        <p:nvSpPr>
          <p:cNvPr id="63" name="Shape 55"/>
          <p:cNvSpPr/>
          <p:nvPr/>
        </p:nvSpPr>
        <p:spPr>
          <a:xfrm>
            <a:off x="2423160" y="3008376"/>
            <a:ext cx="182880" cy="0"/>
          </a:xfrm>
          <a:prstGeom prst="line">
            <a:avLst/>
          </a:prstGeom>
          <a:noFill/>
          <a:ln w="22225">
            <a:solidFill>
              <a:srgbClr val="1D6FB8"/>
            </a:solidFill>
            <a:prstDash val="solid"/>
            <a:tailEnd type="triangle"/>
          </a:ln>
        </p:spPr>
      </p:sp>
      <p:sp>
        <p:nvSpPr>
          <p:cNvPr id="64" name="Shape 56"/>
          <p:cNvSpPr/>
          <p:nvPr/>
        </p:nvSpPr>
        <p:spPr>
          <a:xfrm>
            <a:off x="3611880" y="3566160"/>
            <a:ext cx="0" cy="146304"/>
          </a:xfrm>
          <a:prstGeom prst="line">
            <a:avLst/>
          </a:prstGeom>
          <a:noFill/>
          <a:ln w="22225">
            <a:solidFill>
              <a:srgbClr val="4F46E5"/>
            </a:solidFill>
            <a:prstDash val="solid"/>
            <a:tailEnd type="triangle"/>
          </a:ln>
        </p:spPr>
      </p:sp>
      <p:sp>
        <p:nvSpPr>
          <p:cNvPr id="65" name="Shape 57"/>
          <p:cNvSpPr/>
          <p:nvPr/>
        </p:nvSpPr>
        <p:spPr>
          <a:xfrm>
            <a:off x="4754880" y="3008376"/>
            <a:ext cx="228600" cy="0"/>
          </a:xfrm>
          <a:prstGeom prst="line">
            <a:avLst/>
          </a:prstGeom>
          <a:noFill/>
          <a:ln w="22225">
            <a:solidFill>
              <a:srgbClr val="4F46E5"/>
            </a:solidFill>
            <a:prstDash val="solid"/>
            <a:tailEnd type="triangle"/>
          </a:ln>
        </p:spPr>
      </p:sp>
      <p:sp>
        <p:nvSpPr>
          <p:cNvPr id="66" name="Shape 58"/>
          <p:cNvSpPr/>
          <p:nvPr/>
        </p:nvSpPr>
        <p:spPr>
          <a:xfrm flipV="1">
            <a:off x="4754880" y="3520440"/>
            <a:ext cx="228600" cy="749808"/>
          </a:xfrm>
          <a:prstGeom prst="line">
            <a:avLst/>
          </a:prstGeom>
          <a:noFill/>
          <a:ln w="17780">
            <a:solidFill>
              <a:srgbClr val="4F46E5"/>
            </a:solidFill>
            <a:prstDash val="solid"/>
            <a:tailEnd type="triangle"/>
          </a:ln>
        </p:spPr>
      </p:sp>
      <p:sp>
        <p:nvSpPr>
          <p:cNvPr id="67" name="Shape 59"/>
          <p:cNvSpPr/>
          <p:nvPr/>
        </p:nvSpPr>
        <p:spPr>
          <a:xfrm>
            <a:off x="7086600" y="3063240"/>
            <a:ext cx="411480" cy="0"/>
          </a:xfrm>
          <a:prstGeom prst="line">
            <a:avLst/>
          </a:prstGeom>
          <a:noFill/>
          <a:ln w="22225">
            <a:solidFill>
              <a:srgbClr val="99651A"/>
            </a:solidFill>
            <a:prstDash val="solid"/>
            <a:tailEnd type="triangle"/>
          </a:ln>
        </p:spPr>
      </p:sp>
      <p:sp>
        <p:nvSpPr>
          <p:cNvPr id="68" name="Shape 60"/>
          <p:cNvSpPr/>
          <p:nvPr/>
        </p:nvSpPr>
        <p:spPr>
          <a:xfrm flipH="1">
            <a:off x="7086600" y="4773168"/>
            <a:ext cx="411480" cy="347472"/>
          </a:xfrm>
          <a:prstGeom prst="line">
            <a:avLst/>
          </a:prstGeom>
          <a:noFill/>
          <a:ln w="17780">
            <a:solidFill>
              <a:srgbClr val="0D7D71"/>
            </a:solidFill>
            <a:prstDash val="solid"/>
            <a:tailEnd type="triangle"/>
          </a:ln>
        </p:spPr>
      </p:sp>
      <p:sp>
        <p:nvSpPr>
          <p:cNvPr id="69" name="Shape 61"/>
          <p:cNvSpPr/>
          <p:nvPr/>
        </p:nvSpPr>
        <p:spPr>
          <a:xfrm flipV="1">
            <a:off x="6035040" y="3685032"/>
            <a:ext cx="0" cy="1161288"/>
          </a:xfrm>
          <a:prstGeom prst="line">
            <a:avLst/>
          </a:prstGeom>
          <a:noFill/>
          <a:ln w="17780">
            <a:solidFill>
              <a:srgbClr val="2A7F50"/>
            </a:solidFill>
            <a:prstDash val="solid"/>
            <a:tailEnd type="triangle"/>
          </a:ln>
        </p:spPr>
      </p:sp>
      <p:sp>
        <p:nvSpPr>
          <p:cNvPr id="70" name="Shape 62"/>
          <p:cNvSpPr/>
          <p:nvPr/>
        </p:nvSpPr>
        <p:spPr>
          <a:xfrm>
            <a:off x="9784080" y="3246120"/>
            <a:ext cx="320040" cy="0"/>
          </a:xfrm>
          <a:prstGeom prst="line">
            <a:avLst/>
          </a:prstGeom>
          <a:noFill/>
          <a:ln w="22225">
            <a:solidFill>
              <a:srgbClr val="2A7F50"/>
            </a:solidFill>
            <a:prstDash val="solid"/>
            <a:tailEnd type="triangle"/>
          </a:ln>
        </p:spPr>
      </p:sp>
      <p:sp>
        <p:nvSpPr>
          <p:cNvPr id="71" name="Shape 63"/>
          <p:cNvSpPr/>
          <p:nvPr/>
        </p:nvSpPr>
        <p:spPr>
          <a:xfrm>
            <a:off x="9784080" y="4754880"/>
            <a:ext cx="320040" cy="685800"/>
          </a:xfrm>
          <a:prstGeom prst="line">
            <a:avLst/>
          </a:prstGeom>
          <a:noFill/>
          <a:ln w="17780">
            <a:solidFill>
              <a:srgbClr val="2A7F50"/>
            </a:solidFill>
            <a:prstDash val="solid"/>
            <a:tailEnd type="triangle"/>
          </a:ln>
        </p:spPr>
      </p:sp>
      <p:sp>
        <p:nvSpPr>
          <p:cNvPr id="72" name="Shape 64"/>
          <p:cNvSpPr/>
          <p:nvPr/>
        </p:nvSpPr>
        <p:spPr>
          <a:xfrm>
            <a:off x="4197096" y="2368296"/>
            <a:ext cx="548640" cy="155448"/>
          </a:xfrm>
          <a:prstGeom prst="roundRect">
            <a:avLst>
              <a:gd name="adj" fmla="val 50000"/>
            </a:avLst>
          </a:prstGeom>
          <a:solidFill>
            <a:srgbClr val="4F46E5"/>
          </a:solidFill>
          <a:ln/>
        </p:spPr>
      </p:sp>
      <p:sp>
        <p:nvSpPr>
          <p:cNvPr id="73" name="Text 65"/>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4" name="Shape 66"/>
          <p:cNvSpPr/>
          <p:nvPr/>
        </p:nvSpPr>
        <p:spPr>
          <a:xfrm>
            <a:off x="4197096" y="3630168"/>
            <a:ext cx="548640" cy="155448"/>
          </a:xfrm>
          <a:prstGeom prst="roundRect">
            <a:avLst>
              <a:gd name="adj" fmla="val 50000"/>
            </a:avLst>
          </a:prstGeom>
          <a:solidFill>
            <a:srgbClr val="4F46E5"/>
          </a:solidFill>
          <a:ln/>
        </p:spPr>
      </p:sp>
      <p:sp>
        <p:nvSpPr>
          <p:cNvPr id="75" name="Text 67"/>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6" name="Shape 68"/>
          <p:cNvSpPr/>
          <p:nvPr/>
        </p:nvSpPr>
        <p:spPr>
          <a:xfrm>
            <a:off x="6528816" y="2368296"/>
            <a:ext cx="548640" cy="155448"/>
          </a:xfrm>
          <a:prstGeom prst="roundRect">
            <a:avLst>
              <a:gd name="adj" fmla="val 50000"/>
            </a:avLst>
          </a:prstGeom>
          <a:solidFill>
            <a:srgbClr val="99651A"/>
          </a:solidFill>
          <a:ln/>
        </p:spPr>
      </p:sp>
      <p:sp>
        <p:nvSpPr>
          <p:cNvPr id="77" name="Text 69"/>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8" name="Shape 70"/>
          <p:cNvSpPr/>
          <p:nvPr/>
        </p:nvSpPr>
        <p:spPr>
          <a:xfrm>
            <a:off x="9226296" y="2368296"/>
            <a:ext cx="548640" cy="155448"/>
          </a:xfrm>
          <a:prstGeom prst="roundRect">
            <a:avLst>
              <a:gd name="adj" fmla="val 50000"/>
            </a:avLst>
          </a:prstGeom>
          <a:solidFill>
            <a:srgbClr val="0D7D71"/>
          </a:solidFill>
          <a:ln/>
        </p:spPr>
      </p:sp>
      <p:sp>
        <p:nvSpPr>
          <p:cNvPr id="79" name="Text 71"/>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0" name="Shape 72"/>
          <p:cNvSpPr/>
          <p:nvPr/>
        </p:nvSpPr>
        <p:spPr>
          <a:xfrm>
            <a:off x="9226296" y="4270248"/>
            <a:ext cx="548640" cy="155448"/>
          </a:xfrm>
          <a:prstGeom prst="roundRect">
            <a:avLst>
              <a:gd name="adj" fmla="val 50000"/>
            </a:avLst>
          </a:prstGeom>
          <a:solidFill>
            <a:srgbClr val="0D7D71"/>
          </a:solidFill>
          <a:ln/>
        </p:spPr>
      </p:sp>
      <p:sp>
        <p:nvSpPr>
          <p:cNvPr id="81" name="Text 73"/>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2" name="Shape 74"/>
          <p:cNvSpPr/>
          <p:nvPr/>
        </p:nvSpPr>
        <p:spPr>
          <a:xfrm>
            <a:off x="6528816" y="4764024"/>
            <a:ext cx="548640" cy="155448"/>
          </a:xfrm>
          <a:prstGeom prst="roundRect">
            <a:avLst>
              <a:gd name="adj" fmla="val 50000"/>
            </a:avLst>
          </a:prstGeom>
          <a:solidFill>
            <a:srgbClr val="2A7F50"/>
          </a:solidFill>
          <a:ln/>
        </p:spPr>
      </p:sp>
      <p:sp>
        <p:nvSpPr>
          <p:cNvPr id="83" name="Text 75"/>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HUMAN</a:t>
            </a:r>
            <a:endParaRPr lang="en-US" sz="750" dirty="0"/>
          </a:p>
        </p:txBody>
      </p:sp>
      <p:sp>
        <p:nvSpPr>
          <p:cNvPr id="84" name="Shape 76"/>
          <p:cNvSpPr/>
          <p:nvPr/>
        </p:nvSpPr>
        <p:spPr>
          <a:xfrm>
            <a:off x="411480" y="6126480"/>
            <a:ext cx="11338560" cy="384048"/>
          </a:xfrm>
          <a:prstGeom prst="roundRect">
            <a:avLst>
              <a:gd name="adj" fmla="val 19048"/>
            </a:avLst>
          </a:prstGeom>
          <a:solidFill>
            <a:srgbClr val="EAF6EF"/>
          </a:solidFill>
          <a:ln w="12700">
            <a:solidFill>
              <a:srgbClr val="2A7F50"/>
            </a:solidFill>
            <a:prstDash val="solid"/>
          </a:ln>
        </p:spPr>
      </p:sp>
      <p:sp>
        <p:nvSpPr>
          <p:cNvPr id="85" name="Text 77"/>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6" name="Text 7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7" name="Text 7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Else Automates PCBA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Three different markets get the same name — and only one of them is what we built</a:t>
            </a:r>
            <a:endParaRPr lang="en-US" sz="1200" dirty="0"/>
          </a:p>
        </p:txBody>
      </p:sp>
      <p:sp>
        <p:nvSpPr>
          <p:cNvPr id="5" name="Shape 3"/>
          <p:cNvSpPr/>
          <p:nvPr/>
        </p:nvSpPr>
        <p:spPr>
          <a:xfrm>
            <a:off x="457200" y="1170432"/>
            <a:ext cx="3602736" cy="3127248"/>
          </a:xfrm>
          <a:prstGeom prst="roundRect">
            <a:avLst>
              <a:gd name="adj" fmla="val 2632"/>
            </a:avLst>
          </a:prstGeom>
          <a:solidFill>
            <a:srgbClr val="FFFFFF"/>
          </a:solidFill>
          <a:ln w="17780">
            <a:solidFill>
              <a:srgbClr val="1D6FB8"/>
            </a:solidFill>
            <a:prstDash val="solid"/>
          </a:ln>
        </p:spPr>
      </p:sp>
      <p:sp>
        <p:nvSpPr>
          <p:cNvPr id="6" name="Shape 4"/>
          <p:cNvSpPr/>
          <p:nvPr/>
        </p:nvSpPr>
        <p:spPr>
          <a:xfrm>
            <a:off x="457200" y="1170432"/>
            <a:ext cx="3602736" cy="310896"/>
          </a:xfrm>
          <a:prstGeom prst="rect">
            <a:avLst/>
          </a:prstGeom>
          <a:solidFill>
            <a:srgbClr val="1D6FB8"/>
          </a:solidFill>
          <a:ln/>
        </p:spPr>
      </p:sp>
      <p:sp>
        <p:nvSpPr>
          <p:cNvPr id="7" name="Text 5"/>
          <p:cNvSpPr/>
          <p:nvPr/>
        </p:nvSpPr>
        <p:spPr>
          <a:xfrm>
            <a:off x="585216"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A · EMS QUOTING</a:t>
            </a:r>
            <a:endParaRPr lang="en-US" sz="920" dirty="0"/>
          </a:p>
        </p:txBody>
      </p:sp>
      <p:sp>
        <p:nvSpPr>
          <p:cNvPr id="8" name="Text 6"/>
          <p:cNvSpPr/>
          <p:nvPr/>
        </p:nvSpPr>
        <p:spPr>
          <a:xfrm>
            <a:off x="585216" y="1554480"/>
            <a:ext cx="3346704" cy="237744"/>
          </a:xfrm>
          <a:prstGeom prst="rect">
            <a:avLst/>
          </a:prstGeom>
          <a:noFill/>
          <a:ln/>
        </p:spPr>
        <p:txBody>
          <a:bodyPr wrap="square" lIns="0" tIns="0" rIns="0" bIns="0" rtlCol="0" anchor="ctr"/>
          <a:lstStyle/>
          <a:p>
            <a:pPr indent="0" marL="0">
              <a:buNone/>
            </a:pPr>
            <a:r>
              <a:rPr lang="en-US" sz="900" b="1" i="1" dirty="0">
                <a:solidFill>
                  <a:srgbClr val="1D6FB8"/>
                </a:solidFill>
                <a:latin typeface="Calibri" pitchFamily="34" charset="0"/>
                <a:ea typeface="Calibri" pitchFamily="34" charset="-122"/>
                <a:cs typeface="Calibri" pitchFamily="34" charset="-120"/>
              </a:rPr>
              <a:t>Supplier-side. Cost-to-quote.</a:t>
            </a:r>
            <a:endParaRPr lang="en-US" sz="900" dirty="0"/>
          </a:p>
        </p:txBody>
      </p:sp>
      <p:sp>
        <p:nvSpPr>
          <p:cNvPr id="9" name="Text 7"/>
          <p:cNvSpPr/>
          <p:nvPr/>
        </p:nvSpPr>
        <p:spPr>
          <a:xfrm>
            <a:off x="585216"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Luminovo · CalcuQuote</a:t>
            </a:r>
            <a:endParaRPr lang="en-US" sz="940" dirty="0"/>
          </a:p>
        </p:txBody>
      </p:sp>
      <p:sp>
        <p:nvSpPr>
          <p:cNvPr id="10" name="Text 8"/>
          <p:cNvSpPr/>
          <p:nvPr/>
        </p:nvSpPr>
        <p:spPr>
          <a:xfrm>
            <a:off x="585216"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You already HAVE the BOM — the customer sent it. The job is a fast, competitive quote back.</a:t>
            </a:r>
            <a:endParaRPr lang="en-US" sz="860" dirty="0"/>
          </a:p>
        </p:txBody>
      </p:sp>
      <p:sp>
        <p:nvSpPr>
          <p:cNvPr id="11" name="Shape 9"/>
          <p:cNvSpPr/>
          <p:nvPr/>
        </p:nvSpPr>
        <p:spPr>
          <a:xfrm>
            <a:off x="585216" y="3602736"/>
            <a:ext cx="3346704" cy="566928"/>
          </a:xfrm>
          <a:prstGeom prst="roundRect">
            <a:avLst>
              <a:gd name="adj" fmla="val 11290"/>
            </a:avLst>
          </a:prstGeom>
          <a:solidFill>
            <a:srgbClr val="E8F1FA"/>
          </a:solidFill>
          <a:ln w="9525">
            <a:solidFill>
              <a:srgbClr val="1D6FB8"/>
            </a:solidFill>
            <a:prstDash val="solid"/>
          </a:ln>
        </p:spPr>
      </p:sp>
      <p:sp>
        <p:nvSpPr>
          <p:cNvPr id="12" name="Text 10"/>
          <p:cNvSpPr/>
          <p:nvPr/>
        </p:nvSpPr>
        <p:spPr>
          <a:xfrm>
            <a:off x="640080" y="3602736"/>
            <a:ext cx="3236976" cy="566928"/>
          </a:xfrm>
          <a:prstGeom prst="rect">
            <a:avLst/>
          </a:prstGeom>
          <a:noFill/>
          <a:ln/>
        </p:spPr>
        <p:txBody>
          <a:bodyPr wrap="square" lIns="0" tIns="0" rIns="0" bIns="0" rtlCol="0" anchor="ctr"/>
          <a:lstStyle/>
          <a:p>
            <a:pPr algn="ctr" indent="0" marL="0">
              <a:buNone/>
            </a:pPr>
            <a:r>
              <a:rPr lang="en-US" sz="840" b="1" dirty="0">
                <a:solidFill>
                  <a:srgbClr val="1D6FB8"/>
                </a:solidFill>
                <a:latin typeface="Consolas" pitchFamily="34" charset="0"/>
                <a:ea typeface="Consolas" pitchFamily="34" charset="-122"/>
                <a:cs typeface="Consolas" pitchFamily="34" charset="-120"/>
              </a:rPr>
              <a:t>BOM file in  →  price out</a:t>
            </a:r>
            <a:endParaRPr lang="en-US" sz="840" dirty="0"/>
          </a:p>
        </p:txBody>
      </p:sp>
      <p:sp>
        <p:nvSpPr>
          <p:cNvPr id="13" name="Shape 11"/>
          <p:cNvSpPr/>
          <p:nvPr/>
        </p:nvSpPr>
        <p:spPr>
          <a:xfrm>
            <a:off x="4288536" y="1170432"/>
            <a:ext cx="3602736" cy="3127248"/>
          </a:xfrm>
          <a:prstGeom prst="roundRect">
            <a:avLst>
              <a:gd name="adj" fmla="val 2632"/>
            </a:avLst>
          </a:prstGeom>
          <a:solidFill>
            <a:srgbClr val="FFFFFF"/>
          </a:solidFill>
          <a:ln w="17780">
            <a:solidFill>
              <a:srgbClr val="0D7D71"/>
            </a:solidFill>
            <a:prstDash val="solid"/>
          </a:ln>
        </p:spPr>
      </p:sp>
      <p:sp>
        <p:nvSpPr>
          <p:cNvPr id="14" name="Shape 12"/>
          <p:cNvSpPr/>
          <p:nvPr/>
        </p:nvSpPr>
        <p:spPr>
          <a:xfrm>
            <a:off x="4288536" y="1170432"/>
            <a:ext cx="3602736" cy="310896"/>
          </a:xfrm>
          <a:prstGeom prst="rect">
            <a:avLst/>
          </a:prstGeom>
          <a:solidFill>
            <a:srgbClr val="0D7D71"/>
          </a:solidFill>
          <a:ln/>
        </p:spPr>
      </p:sp>
      <p:sp>
        <p:nvSpPr>
          <p:cNvPr id="15" name="Text 13"/>
          <p:cNvSpPr/>
          <p:nvPr/>
        </p:nvSpPr>
        <p:spPr>
          <a:xfrm>
            <a:off x="4416552"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B · ENTERPRISE SHOULD-COST</a:t>
            </a:r>
            <a:endParaRPr lang="en-US" sz="920" dirty="0"/>
          </a:p>
        </p:txBody>
      </p:sp>
      <p:sp>
        <p:nvSpPr>
          <p:cNvPr id="16" name="Text 14"/>
          <p:cNvSpPr/>
          <p:nvPr/>
        </p:nvSpPr>
        <p:spPr>
          <a:xfrm>
            <a:off x="4416552" y="1554480"/>
            <a:ext cx="3346704" cy="237744"/>
          </a:xfrm>
          <a:prstGeom prst="rect">
            <a:avLst/>
          </a:prstGeom>
          <a:noFill/>
          <a:ln/>
        </p:spPr>
        <p:txBody>
          <a:bodyPr wrap="square" lIns="0" tIns="0" rIns="0" bIns="0" rtlCol="0" anchor="ctr"/>
          <a:lstStyle/>
          <a:p>
            <a:pPr indent="0" marL="0">
              <a:buNone/>
            </a:pPr>
            <a:r>
              <a:rPr lang="en-US" sz="900" b="1" i="1" dirty="0">
                <a:solidFill>
                  <a:srgbClr val="0D7D71"/>
                </a:solidFill>
                <a:latin typeface="Calibri" pitchFamily="34" charset="0"/>
                <a:ea typeface="Calibri" pitchFamily="34" charset="-122"/>
                <a:cs typeface="Calibri" pitchFamily="34" charset="-120"/>
              </a:rPr>
              <a:t>Buyer-side. What SHOULD it cost.</a:t>
            </a:r>
            <a:endParaRPr lang="en-US" sz="900" dirty="0"/>
          </a:p>
        </p:txBody>
      </p:sp>
      <p:sp>
        <p:nvSpPr>
          <p:cNvPr id="17" name="Text 15"/>
          <p:cNvSpPr/>
          <p:nvPr/>
        </p:nvSpPr>
        <p:spPr>
          <a:xfrm>
            <a:off x="4416552"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aPriori · Siemens · FACTON · Tset · Boothroyd Dewhurst</a:t>
            </a:r>
            <a:endParaRPr lang="en-US" sz="940" dirty="0"/>
          </a:p>
        </p:txBody>
      </p:sp>
      <p:sp>
        <p:nvSpPr>
          <p:cNvPr id="18" name="Text 16"/>
          <p:cNvSpPr/>
          <p:nvPr/>
        </p:nvSpPr>
        <p:spPr>
          <a:xfrm>
            <a:off x="4416552"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OEM cost engineering and purchasing. aPriori ships a full PCBA module — this is a mature, direct competitor.</a:t>
            </a:r>
            <a:endParaRPr lang="en-US" sz="860" dirty="0"/>
          </a:p>
        </p:txBody>
      </p:sp>
      <p:sp>
        <p:nvSpPr>
          <p:cNvPr id="19" name="Shape 17"/>
          <p:cNvSpPr/>
          <p:nvPr/>
        </p:nvSpPr>
        <p:spPr>
          <a:xfrm>
            <a:off x="4416552" y="3602736"/>
            <a:ext cx="3346704" cy="566928"/>
          </a:xfrm>
          <a:prstGeom prst="roundRect">
            <a:avLst>
              <a:gd name="adj" fmla="val 11290"/>
            </a:avLst>
          </a:prstGeom>
          <a:solidFill>
            <a:srgbClr val="E6F4F1"/>
          </a:solidFill>
          <a:ln w="9525">
            <a:solidFill>
              <a:srgbClr val="0D7D71"/>
            </a:solidFill>
            <a:prstDash val="solid"/>
          </a:ln>
        </p:spPr>
      </p:sp>
      <p:sp>
        <p:nvSpPr>
          <p:cNvPr id="20" name="Text 18"/>
          <p:cNvSpPr/>
          <p:nvPr/>
        </p:nvSpPr>
        <p:spPr>
          <a:xfrm>
            <a:off x="4471416" y="3602736"/>
            <a:ext cx="3236976" cy="566928"/>
          </a:xfrm>
          <a:prstGeom prst="rect">
            <a:avLst/>
          </a:prstGeom>
          <a:noFill/>
          <a:ln/>
        </p:spPr>
        <p:txBody>
          <a:bodyPr wrap="square" lIns="0" tIns="0" rIns="0" bIns="0" rtlCol="0" anchor="ctr"/>
          <a:lstStyle/>
          <a:p>
            <a:pPr algn="ctr" indent="0" marL="0">
              <a:buNone/>
            </a:pPr>
            <a:r>
              <a:rPr lang="en-US" sz="840" b="1" dirty="0">
                <a:solidFill>
                  <a:srgbClr val="0D7D71"/>
                </a:solidFill>
                <a:latin typeface="Consolas" pitchFamily="34" charset="0"/>
                <a:ea typeface="Consolas" pitchFamily="34" charset="-122"/>
                <a:cs typeface="Consolas" pitchFamily="34" charset="-120"/>
              </a:rPr>
              <a:t>BOM + board spec in  →  should-cost out</a:t>
            </a:r>
            <a:endParaRPr lang="en-US" sz="840" dirty="0"/>
          </a:p>
        </p:txBody>
      </p:sp>
      <p:sp>
        <p:nvSpPr>
          <p:cNvPr id="21" name="Shape 19"/>
          <p:cNvSpPr/>
          <p:nvPr/>
        </p:nvSpPr>
        <p:spPr>
          <a:xfrm>
            <a:off x="8119872" y="1170432"/>
            <a:ext cx="3602736" cy="3127248"/>
          </a:xfrm>
          <a:prstGeom prst="roundRect">
            <a:avLst>
              <a:gd name="adj" fmla="val 2632"/>
            </a:avLst>
          </a:prstGeom>
          <a:solidFill>
            <a:srgbClr val="FFFFFF"/>
          </a:solidFill>
          <a:ln w="17780">
            <a:solidFill>
              <a:srgbClr val="6B3FA0"/>
            </a:solidFill>
            <a:prstDash val="solid"/>
          </a:ln>
        </p:spPr>
      </p:sp>
      <p:sp>
        <p:nvSpPr>
          <p:cNvPr id="22" name="Shape 20"/>
          <p:cNvSpPr/>
          <p:nvPr/>
        </p:nvSpPr>
        <p:spPr>
          <a:xfrm>
            <a:off x="8119872" y="1170432"/>
            <a:ext cx="3602736" cy="310896"/>
          </a:xfrm>
          <a:prstGeom prst="rect">
            <a:avLst/>
          </a:prstGeom>
          <a:solidFill>
            <a:srgbClr val="6B3FA0"/>
          </a:solidFill>
          <a:ln/>
        </p:spPr>
      </p:sp>
      <p:sp>
        <p:nvSpPr>
          <p:cNvPr id="23" name="Text 21"/>
          <p:cNvSpPr/>
          <p:nvPr/>
        </p:nvSpPr>
        <p:spPr>
          <a:xfrm>
            <a:off x="8247888"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C · REVERSE COSTING</a:t>
            </a:r>
            <a:endParaRPr lang="en-US" sz="920" dirty="0"/>
          </a:p>
        </p:txBody>
      </p:sp>
      <p:sp>
        <p:nvSpPr>
          <p:cNvPr id="24" name="Text 22"/>
          <p:cNvSpPr/>
          <p:nvPr/>
        </p:nvSpPr>
        <p:spPr>
          <a:xfrm>
            <a:off x="8247888" y="1554480"/>
            <a:ext cx="3346704" cy="237744"/>
          </a:xfrm>
          <a:prstGeom prst="rect">
            <a:avLst/>
          </a:prstGeom>
          <a:noFill/>
          <a:ln/>
        </p:spPr>
        <p:txBody>
          <a:bodyPr wrap="square" lIns="0" tIns="0" rIns="0" bIns="0" rtlCol="0" anchor="ctr"/>
          <a:lstStyle/>
          <a:p>
            <a:pPr indent="0" marL="0">
              <a:buNone/>
            </a:pPr>
            <a:r>
              <a:rPr lang="en-US" sz="900" b="1" i="1" dirty="0">
                <a:solidFill>
                  <a:srgbClr val="6B3FA0"/>
                </a:solidFill>
                <a:latin typeface="Calibri" pitchFamily="34" charset="0"/>
                <a:ea typeface="Calibri" pitchFamily="34" charset="-122"/>
                <a:cs typeface="Calibri" pitchFamily="34" charset="-120"/>
              </a:rPr>
              <a:t>Physical board in. A service, not software.</a:t>
            </a:r>
            <a:endParaRPr lang="en-US" sz="900" dirty="0"/>
          </a:p>
        </p:txBody>
      </p:sp>
      <p:sp>
        <p:nvSpPr>
          <p:cNvPr id="25" name="Text 23"/>
          <p:cNvSpPr/>
          <p:nvPr/>
        </p:nvSpPr>
        <p:spPr>
          <a:xfrm>
            <a:off x="8247888"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Yole SystemPlus · TechInsights</a:t>
            </a:r>
            <a:endParaRPr lang="en-US" sz="940" dirty="0"/>
          </a:p>
        </p:txBody>
      </p:sp>
      <p:sp>
        <p:nvSpPr>
          <p:cNvPr id="26" name="Text 24"/>
          <p:cNvSpPr/>
          <p:nvPr/>
        </p:nvSpPr>
        <p:spPr>
          <a:xfrm>
            <a:off x="8247888"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Engineers decap, X-ray and cross-section a real board. Closest to what we do — done by hand, at consultancy price and pace.</a:t>
            </a:r>
            <a:endParaRPr lang="en-US" sz="860" dirty="0"/>
          </a:p>
        </p:txBody>
      </p:sp>
      <p:sp>
        <p:nvSpPr>
          <p:cNvPr id="27" name="Shape 25"/>
          <p:cNvSpPr/>
          <p:nvPr/>
        </p:nvSpPr>
        <p:spPr>
          <a:xfrm>
            <a:off x="8247888" y="3602736"/>
            <a:ext cx="3346704" cy="566928"/>
          </a:xfrm>
          <a:prstGeom prst="roundRect">
            <a:avLst>
              <a:gd name="adj" fmla="val 11290"/>
            </a:avLst>
          </a:prstGeom>
          <a:solidFill>
            <a:srgbClr val="F1EBF8"/>
          </a:solidFill>
          <a:ln w="9525">
            <a:solidFill>
              <a:srgbClr val="6B3FA0"/>
            </a:solidFill>
            <a:prstDash val="solid"/>
          </a:ln>
        </p:spPr>
      </p:sp>
      <p:sp>
        <p:nvSpPr>
          <p:cNvPr id="28" name="Text 26"/>
          <p:cNvSpPr/>
          <p:nvPr/>
        </p:nvSpPr>
        <p:spPr>
          <a:xfrm>
            <a:off x="8302752" y="3602736"/>
            <a:ext cx="3236976" cy="566928"/>
          </a:xfrm>
          <a:prstGeom prst="rect">
            <a:avLst/>
          </a:prstGeom>
          <a:noFill/>
          <a:ln/>
        </p:spPr>
        <p:txBody>
          <a:bodyPr wrap="square" lIns="0" tIns="0" rIns="0" bIns="0" rtlCol="0" anchor="ctr"/>
          <a:lstStyle/>
          <a:p>
            <a:pPr algn="ctr" indent="0" marL="0">
              <a:buNone/>
            </a:pPr>
            <a:r>
              <a:rPr lang="en-US" sz="840" b="1" dirty="0">
                <a:solidFill>
                  <a:srgbClr val="6B3FA0"/>
                </a:solidFill>
                <a:latin typeface="Consolas" pitchFamily="34" charset="0"/>
                <a:ea typeface="Consolas" pitchFamily="34" charset="-122"/>
                <a:cs typeface="Consolas" pitchFamily="34" charset="-120"/>
              </a:rPr>
              <a:t>The board itself  →  BOM + cost</a:t>
            </a:r>
            <a:endParaRPr lang="en-US" sz="840" dirty="0"/>
          </a:p>
        </p:txBody>
      </p:sp>
      <p:sp>
        <p:nvSpPr>
          <p:cNvPr id="29" name="Shape 27"/>
          <p:cNvSpPr/>
          <p:nvPr/>
        </p:nvSpPr>
        <p:spPr>
          <a:xfrm>
            <a:off x="457200" y="4443984"/>
            <a:ext cx="11274552" cy="603504"/>
          </a:xfrm>
          <a:prstGeom prst="roundRect">
            <a:avLst>
              <a:gd name="adj" fmla="val 12121"/>
            </a:avLst>
          </a:prstGeom>
          <a:solidFill>
            <a:srgbClr val="EEF1F6"/>
          </a:solidFill>
          <a:ln w="12700">
            <a:solidFill>
              <a:srgbClr val="686F7D"/>
            </a:solidFill>
            <a:prstDash val="solid"/>
          </a:ln>
        </p:spPr>
      </p:sp>
      <p:sp>
        <p:nvSpPr>
          <p:cNvPr id="30" name="Text 28"/>
          <p:cNvSpPr/>
          <p:nvPr/>
        </p:nvSpPr>
        <p:spPr>
          <a:xfrm>
            <a:off x="621792" y="4443984"/>
            <a:ext cx="10972800" cy="60350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Underneath all three — the component price layer they rent:  </a:t>
            </a:r>
            <a:pPr indent="0" marL="0">
              <a:buNone/>
            </a:pPr>
            <a:r>
              <a:rPr lang="en-US" sz="940" dirty="0">
                <a:solidFill>
                  <a:srgbClr val="3A4356"/>
                </a:solidFill>
                <a:latin typeface="Calibri" pitchFamily="34" charset="0"/>
                <a:ea typeface="Calibri" pitchFamily="34" charset="-122"/>
                <a:cs typeface="Calibri" pitchFamily="34" charset="-120"/>
              </a:rPr>
              <a:t>SiliconExpert · Z2Data · Octopart / Nexar (Altium) · Supplyframe (Siemens).  Nobody in this market builds their own component price book — they subscribe to one.</a:t>
            </a:r>
            <a:endParaRPr lang="en-US" sz="940" dirty="0"/>
          </a:p>
        </p:txBody>
      </p:sp>
      <p:sp>
        <p:nvSpPr>
          <p:cNvPr id="31" name="Shape 29"/>
          <p:cNvSpPr/>
          <p:nvPr/>
        </p:nvSpPr>
        <p:spPr>
          <a:xfrm>
            <a:off x="457200" y="5157216"/>
            <a:ext cx="11274552" cy="548640"/>
          </a:xfrm>
          <a:prstGeom prst="roundRect">
            <a:avLst>
              <a:gd name="adj" fmla="val 13333"/>
            </a:avLst>
          </a:prstGeom>
          <a:solidFill>
            <a:srgbClr val="FCF3E3"/>
          </a:solidFill>
          <a:ln w="12700">
            <a:solidFill>
              <a:srgbClr val="99651A"/>
            </a:solidFill>
            <a:prstDash val="solid"/>
          </a:ln>
        </p:spPr>
      </p:sp>
      <p:sp>
        <p:nvSpPr>
          <p:cNvPr id="32" name="Text 30"/>
          <p:cNvSpPr/>
          <p:nvPr/>
        </p:nvSpPr>
        <p:spPr>
          <a:xfrm>
            <a:off x="621792" y="5157216"/>
            <a:ext cx="10972800" cy="548640"/>
          </a:xfrm>
          <a:prstGeom prst="rect">
            <a:avLst/>
          </a:prstGeom>
          <a:noFill/>
          <a:ln/>
        </p:spPr>
        <p:txBody>
          <a:bodyPr wrap="square" lIns="0" tIns="0" rIns="0" bIns="0" rtlCol="0" anchor="ctr"/>
          <a:lstStyle/>
          <a:p>
            <a:pPr indent="0" marL="0">
              <a:buNone/>
            </a:pPr>
            <a:r>
              <a:rPr lang="en-US" sz="940" b="1" dirty="0">
                <a:solidFill>
                  <a:srgbClr val="99651A"/>
                </a:solidFill>
                <a:latin typeface="Calibri" pitchFamily="34" charset="0"/>
                <a:ea typeface="Calibri" pitchFamily="34" charset="-122"/>
                <a:cs typeface="Calibri" pitchFamily="34" charset="-120"/>
              </a:rPr>
              <a:t>Not the same thing:  </a:t>
            </a:r>
            <a:pPr indent="0" marL="0">
              <a:buNone/>
            </a:pPr>
            <a:r>
              <a:rPr lang="en-US" sz="940" dirty="0">
                <a:solidFill>
                  <a:srgbClr val="3A4356"/>
                </a:solidFill>
                <a:latin typeface="Calibri" pitchFamily="34" charset="0"/>
                <a:ea typeface="Calibri" pitchFamily="34" charset="-122"/>
                <a:cs typeface="Calibri" pitchFamily="34" charset="-120"/>
              </a:rPr>
              <a:t>JLCPCB / PCBWay / Eurocircuits instant quoting is fully automated and fully public — but it returns THEIR price, which is a quotation, not a should-cost. Useful as a floor reference; useless as a negotiation position.</a:t>
            </a:r>
            <a:endParaRPr lang="en-US" sz="940" dirty="0"/>
          </a:p>
        </p:txBody>
      </p:sp>
      <p:sp>
        <p:nvSpPr>
          <p:cNvPr id="33" name="Shape 31"/>
          <p:cNvSpPr/>
          <p:nvPr/>
        </p:nvSpPr>
        <p:spPr>
          <a:xfrm>
            <a:off x="457200" y="5815584"/>
            <a:ext cx="11274552" cy="548640"/>
          </a:xfrm>
          <a:prstGeom prst="roundRect">
            <a:avLst>
              <a:gd name="adj" fmla="val 13333"/>
            </a:avLst>
          </a:prstGeom>
          <a:solidFill>
            <a:srgbClr val="E8F1FA"/>
          </a:solidFill>
          <a:ln w="12700">
            <a:solidFill>
              <a:srgbClr val="1D6FB8"/>
            </a:solidFill>
            <a:prstDash val="solid"/>
          </a:ln>
        </p:spPr>
      </p:sp>
      <p:sp>
        <p:nvSpPr>
          <p:cNvPr id="34" name="Text 32"/>
          <p:cNvSpPr/>
          <p:nvPr/>
        </p:nvSpPr>
        <p:spPr>
          <a:xfrm>
            <a:off x="621792" y="5815584"/>
            <a:ext cx="10972800" cy="548640"/>
          </a:xfrm>
          <a:prstGeom prst="rect">
            <a:avLst/>
          </a:prstGeom>
          <a:noFill/>
          <a:ln/>
        </p:spPr>
        <p:txBody>
          <a:bodyPr wrap="square" lIns="0" tIns="0" rIns="0" bIns="0" rtlCol="0" anchor="ctr"/>
          <a:lstStyle/>
          <a:p>
            <a:pPr indent="0" marL="0">
              <a:buNone/>
            </a:pPr>
            <a:r>
              <a:rPr lang="en-US" sz="980" b="1" dirty="0">
                <a:solidFill>
                  <a:srgbClr val="1D6FB8"/>
                </a:solidFill>
                <a:latin typeface="Calibri" pitchFamily="34" charset="0"/>
                <a:ea typeface="Calibri" pitchFamily="34" charset="-122"/>
                <a:cs typeface="Calibri" pitchFamily="34" charset="-120"/>
              </a:rPr>
              <a:t>Where we sit:  </a:t>
            </a:r>
            <a:pPr indent="0" marL="0">
              <a:buNone/>
            </a:pPr>
            <a:r>
              <a:rPr lang="en-US" sz="980" dirty="0">
                <a:solidFill>
                  <a:srgbClr val="3A4356"/>
                </a:solidFill>
                <a:latin typeface="Calibri" pitchFamily="34" charset="0"/>
                <a:ea typeface="Calibri" pitchFamily="34" charset="-122"/>
                <a:cs typeface="Calibri" pitchFamily="34" charset="-120"/>
              </a:rPr>
              <a:t>camp B by purpose — a buyer-side should-cost — reached by camp C’s route, from the physical board, but automatically. That combination is the thing to defend.</a:t>
            </a:r>
            <a:endParaRPr lang="en-US" sz="980" dirty="0"/>
          </a:p>
        </p:txBody>
      </p:sp>
      <p:sp>
        <p:nvSpPr>
          <p:cNvPr id="35"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6"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Does What — Automation, Delivery Model and Price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 row from a named public source. Where a vendor does not publish a price, the cell says so — nothing here is estimated</a:t>
            </a:r>
            <a:endParaRPr lang="en-US" sz="1200" dirty="0"/>
          </a:p>
        </p:txBody>
      </p:sp>
      <p:sp>
        <p:nvSpPr>
          <p:cNvPr id="5" name="Shape 3"/>
          <p:cNvSpPr/>
          <p:nvPr/>
        </p:nvSpPr>
        <p:spPr>
          <a:xfrm>
            <a:off x="457200" y="1078992"/>
            <a:ext cx="11274552" cy="402336"/>
          </a:xfrm>
          <a:prstGeom prst="roundRect">
            <a:avLst>
              <a:gd name="adj" fmla="val 15909"/>
            </a:avLst>
          </a:prstGeom>
          <a:solidFill>
            <a:srgbClr val="EEF1F6"/>
          </a:solidFill>
          <a:ln w="11430">
            <a:solidFill>
              <a:srgbClr val="686F7D"/>
            </a:solidFill>
            <a:prstDash val="solid"/>
          </a:ln>
        </p:spPr>
      </p:sp>
      <p:sp>
        <p:nvSpPr>
          <p:cNvPr id="6" name="Text 4"/>
          <p:cNvSpPr/>
          <p:nvPr/>
        </p:nvSpPr>
        <p:spPr>
          <a:xfrm>
            <a:off x="621792" y="1078992"/>
            <a:ext cx="10972800" cy="402336"/>
          </a:xfrm>
          <a:prstGeom prst="rect">
            <a:avLst/>
          </a:prstGeom>
          <a:noFill/>
          <a:ln/>
        </p:spPr>
        <p:txBody>
          <a:bodyPr wrap="square" lIns="0" tIns="0" rIns="0" bIns="0" rtlCol="0" anchor="ctr"/>
          <a:lstStyle/>
          <a:p>
            <a:pPr indent="0" marL="0">
              <a:buNone/>
            </a:pPr>
            <a:r>
              <a:rPr lang="en-US" sz="900" b="1" dirty="0">
                <a:solidFill>
                  <a:srgbClr val="16325C"/>
                </a:solidFill>
                <a:latin typeface="Calibri" pitchFamily="34" charset="0"/>
                <a:ea typeface="Calibri" pitchFamily="34" charset="-122"/>
                <a:cs typeface="Calibri" pitchFamily="34" charset="-120"/>
              </a:rPr>
              <a:t>Automation scale:   </a:t>
            </a:r>
            <a:pPr indent="0" marL="0">
              <a:buNone/>
            </a:pPr>
            <a:r>
              <a:rPr lang="en-US" sz="900" b="1" dirty="0">
                <a:solidFill>
                  <a:srgbClr val="6B3FA0"/>
                </a:solidFill>
                <a:latin typeface="Calibri" pitchFamily="34" charset="0"/>
                <a:ea typeface="Calibri" pitchFamily="34" charset="-122"/>
                <a:cs typeface="Calibri" pitchFamily="34" charset="-120"/>
              </a:rPr>
              <a:t>L0 </a:t>
            </a:r>
            <a:pPr indent="0" marL="0">
              <a:buNone/>
            </a:pPr>
            <a:r>
              <a:rPr lang="en-US" sz="900" dirty="0">
                <a:solidFill>
                  <a:srgbClr val="3A4356"/>
                </a:solidFill>
                <a:latin typeface="Calibri" pitchFamily="34" charset="0"/>
                <a:ea typeface="Calibri" pitchFamily="34" charset="-122"/>
                <a:cs typeface="Calibri" pitchFamily="34" charset="-120"/>
              </a:rPr>
              <a:t>manual service (people take the board apart)   </a:t>
            </a:r>
            <a:pPr indent="0" marL="0">
              <a:buNone/>
            </a:pPr>
            <a:r>
              <a:rPr lang="en-US" sz="900" b="1" dirty="0">
                <a:solidFill>
                  <a:srgbClr val="99651A"/>
                </a:solidFill>
                <a:latin typeface="Calibri" pitchFamily="34" charset="0"/>
                <a:ea typeface="Calibri" pitchFamily="34" charset="-122"/>
                <a:cs typeface="Calibri" pitchFamily="34" charset="-120"/>
              </a:rPr>
              <a:t>L1 </a:t>
            </a:r>
            <a:pPr indent="0" marL="0">
              <a:buNone/>
            </a:pPr>
            <a:r>
              <a:rPr lang="en-US" sz="900" dirty="0">
                <a:solidFill>
                  <a:srgbClr val="3A4356"/>
                </a:solidFill>
                <a:latin typeface="Calibri" pitchFamily="34" charset="0"/>
                <a:ea typeface="Calibri" pitchFamily="34" charset="-122"/>
                <a:cs typeface="Calibri" pitchFamily="34" charset="-120"/>
              </a:rPr>
              <a:t>software, human keys the BOM   </a:t>
            </a:r>
            <a:pPr indent="0" marL="0">
              <a:buNone/>
            </a:pPr>
            <a:r>
              <a:rPr lang="en-US" sz="900" b="1" dirty="0">
                <a:solidFill>
                  <a:srgbClr val="1D6FB8"/>
                </a:solidFill>
                <a:latin typeface="Calibri" pitchFamily="34" charset="0"/>
                <a:ea typeface="Calibri" pitchFamily="34" charset="-122"/>
                <a:cs typeface="Calibri" pitchFamily="34" charset="-120"/>
              </a:rPr>
              <a:t>L2 </a:t>
            </a:r>
            <a:pPr indent="0" marL="0">
              <a:buNone/>
            </a:pPr>
            <a:r>
              <a:rPr lang="en-US" sz="900" dirty="0">
                <a:solidFill>
                  <a:srgbClr val="3A4356"/>
                </a:solidFill>
                <a:latin typeface="Calibri" pitchFamily="34" charset="0"/>
                <a:ea typeface="Calibri" pitchFamily="34" charset="-122"/>
                <a:cs typeface="Calibri" pitchFamily="34" charset="-120"/>
              </a:rPr>
              <a:t>BOM file in → cost out   </a:t>
            </a:r>
            <a:pPr indent="0" marL="0">
              <a:buNone/>
            </a:pPr>
            <a:r>
              <a:rPr lang="en-US" sz="900" b="1" dirty="0">
                <a:solidFill>
                  <a:srgbClr val="2A7F50"/>
                </a:solidFill>
                <a:latin typeface="Calibri" pitchFamily="34" charset="0"/>
                <a:ea typeface="Calibri" pitchFamily="34" charset="-122"/>
                <a:cs typeface="Calibri" pitchFamily="34" charset="-120"/>
              </a:rPr>
              <a:t>L3 </a:t>
            </a:r>
            <a:pPr indent="0" marL="0">
              <a:buNone/>
            </a:pPr>
            <a:r>
              <a:rPr lang="en-US" sz="900" dirty="0">
                <a:solidFill>
                  <a:srgbClr val="3A4356"/>
                </a:solidFill>
                <a:latin typeface="Calibri" pitchFamily="34" charset="0"/>
                <a:ea typeface="Calibri" pitchFamily="34" charset="-122"/>
                <a:cs typeface="Calibri" pitchFamily="34" charset="-120"/>
              </a:rPr>
              <a:t>photo / unstructured in → BOM + cost out</a:t>
            </a:r>
            <a:endParaRPr lang="en-US" sz="900" dirty="0"/>
          </a:p>
        </p:txBody>
      </p:sp>
      <p:sp>
        <p:nvSpPr>
          <p:cNvPr id="7" name="Text 5"/>
          <p:cNvSpPr/>
          <p:nvPr/>
        </p:nvSpPr>
        <p:spPr>
          <a:xfrm>
            <a:off x="457200" y="1554480"/>
            <a:ext cx="2084832"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Who</a:t>
            </a:r>
            <a:endParaRPr lang="en-US" sz="900" dirty="0"/>
          </a:p>
        </p:txBody>
      </p:sp>
      <p:sp>
        <p:nvSpPr>
          <p:cNvPr id="8" name="Text 6"/>
          <p:cNvSpPr/>
          <p:nvPr/>
        </p:nvSpPr>
        <p:spPr>
          <a:xfrm>
            <a:off x="2542032" y="1554480"/>
            <a:ext cx="932688"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9" name="Text 7"/>
          <p:cNvSpPr/>
          <p:nvPr/>
        </p:nvSpPr>
        <p:spPr>
          <a:xfrm>
            <a:off x="3474720" y="1554480"/>
            <a:ext cx="2084832"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goes in</a:t>
            </a:r>
            <a:endParaRPr lang="en-US" sz="900" dirty="0"/>
          </a:p>
        </p:txBody>
      </p:sp>
      <p:sp>
        <p:nvSpPr>
          <p:cNvPr id="10" name="Text 8"/>
          <p:cNvSpPr/>
          <p:nvPr/>
        </p:nvSpPr>
        <p:spPr>
          <a:xfrm>
            <a:off x="5559552" y="1554480"/>
            <a:ext cx="475488" cy="274320"/>
          </a:xfrm>
          <a:prstGeom prst="rect">
            <a:avLst/>
          </a:prstGeom>
          <a:solidFill>
            <a:srgbClr val="16325C"/>
          </a:solidFill>
          <a:ln/>
        </p:spPr>
        <p:txBody>
          <a:bodyPr wrap="square" lIns="635" tIns="635" rIns="635" bIns="635"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Auto</a:t>
            </a:r>
            <a:endParaRPr lang="en-US" sz="900" dirty="0"/>
          </a:p>
        </p:txBody>
      </p:sp>
      <p:sp>
        <p:nvSpPr>
          <p:cNvPr id="11" name="Text 9"/>
          <p:cNvSpPr/>
          <p:nvPr/>
        </p:nvSpPr>
        <p:spPr>
          <a:xfrm>
            <a:off x="6035040" y="1554480"/>
            <a:ext cx="2487168"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Price (published only)</a:t>
            </a:r>
            <a:endParaRPr lang="en-US" sz="900" dirty="0"/>
          </a:p>
        </p:txBody>
      </p:sp>
      <p:sp>
        <p:nvSpPr>
          <p:cNvPr id="12" name="Text 10"/>
          <p:cNvSpPr/>
          <p:nvPr/>
        </p:nvSpPr>
        <p:spPr>
          <a:xfrm>
            <a:off x="8522208" y="1554480"/>
            <a:ext cx="3209544"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3" name="Text 11"/>
          <p:cNvSpPr/>
          <p:nvPr/>
        </p:nvSpPr>
        <p:spPr>
          <a:xfrm>
            <a:off x="457200" y="1883664"/>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Luminovo</a:t>
            </a:r>
            <a:endParaRPr lang="en-US" sz="810" dirty="0"/>
          </a:p>
        </p:txBody>
      </p:sp>
      <p:sp>
        <p:nvSpPr>
          <p:cNvPr id="14" name="Text 12"/>
          <p:cNvSpPr/>
          <p:nvPr/>
        </p:nvSpPr>
        <p:spPr>
          <a:xfrm>
            <a:off x="2542032" y="1883664"/>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SaaS</a:t>
            </a:r>
            <a:endParaRPr lang="en-US" sz="750" dirty="0"/>
          </a:p>
        </p:txBody>
      </p:sp>
      <p:sp>
        <p:nvSpPr>
          <p:cNvPr id="15" name="Text 13"/>
          <p:cNvSpPr/>
          <p:nvPr/>
        </p:nvSpPr>
        <p:spPr>
          <a:xfrm>
            <a:off x="3474720" y="1883664"/>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file + PCB spec</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(LLM BOM importer, auto MPN match)</a:t>
            </a:r>
            <a:endParaRPr lang="en-US" sz="750" dirty="0"/>
          </a:p>
        </p:txBody>
      </p:sp>
      <p:sp>
        <p:nvSpPr>
          <p:cNvPr id="16" name="Text 14"/>
          <p:cNvSpPr/>
          <p:nvPr/>
        </p:nvSpPr>
        <p:spPr>
          <a:xfrm>
            <a:off x="5559552" y="188366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17" name="Text 15"/>
          <p:cNvSpPr/>
          <p:nvPr/>
        </p:nvSpPr>
        <p:spPr>
          <a:xfrm>
            <a:off x="6035040" y="1883664"/>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Pricing page names 4 tiers (Starter / Advanced / Professional / Enterprise), scaled by procurement spend or assemblies per year — no figures.</a:t>
            </a:r>
            <a:endParaRPr lang="en-US" sz="750" dirty="0"/>
          </a:p>
        </p:txBody>
      </p:sp>
      <p:sp>
        <p:nvSpPr>
          <p:cNvPr id="18" name="Text 16"/>
          <p:cNvSpPr/>
          <p:nvPr/>
        </p:nvSpPr>
        <p:spPr>
          <a:xfrm>
            <a:off x="8522208" y="1883664"/>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luminovo.com/pricing · /platform/quoting-intelligence · own FAQ "Are prices listed online?"</a:t>
            </a:r>
            <a:endParaRPr lang="en-US" sz="750" dirty="0"/>
          </a:p>
        </p:txBody>
      </p:sp>
      <p:sp>
        <p:nvSpPr>
          <p:cNvPr id="19" name="Text 17"/>
          <p:cNvSpPr/>
          <p:nvPr/>
        </p:nvSpPr>
        <p:spPr>
          <a:xfrm>
            <a:off x="457200" y="2296973"/>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CalcuQuote (Elisa IndustrIQ)</a:t>
            </a:r>
            <a:endParaRPr lang="en-US" sz="810" dirty="0"/>
          </a:p>
        </p:txBody>
      </p:sp>
      <p:sp>
        <p:nvSpPr>
          <p:cNvPr id="20" name="Text 18"/>
          <p:cNvSpPr/>
          <p:nvPr/>
        </p:nvSpPr>
        <p:spPr>
          <a:xfrm>
            <a:off x="2542032" y="2296973"/>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SaaS</a:t>
            </a:r>
            <a:endParaRPr lang="en-US" sz="750" dirty="0"/>
          </a:p>
        </p:txBody>
      </p:sp>
      <p:sp>
        <p:nvSpPr>
          <p:cNvPr id="21" name="Text 19"/>
          <p:cNvSpPr/>
          <p:nvPr/>
        </p:nvSpPr>
        <p:spPr>
          <a:xfrm>
            <a:off x="3474720" y="2296973"/>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file + sourcing rules</a:t>
            </a:r>
            <a:endParaRPr lang="en-US" sz="750" dirty="0"/>
          </a:p>
        </p:txBody>
      </p:sp>
      <p:sp>
        <p:nvSpPr>
          <p:cNvPr id="22" name="Text 20"/>
          <p:cNvSpPr/>
          <p:nvPr/>
        </p:nvSpPr>
        <p:spPr>
          <a:xfrm>
            <a:off x="5559552" y="229697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23" name="Text 21"/>
          <p:cNvSpPr/>
          <p:nvPr/>
        </p:nvSpPr>
        <p:spPr>
          <a:xfrm>
            <a:off x="6035040" y="2296973"/>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Monthly, 3 tiers (Foundational / Professional / Enterprise), unlimited users, scaled by annual quoting volume. "Request Pricing" pages.</a:t>
            </a:r>
            <a:endParaRPr lang="en-US" sz="750" dirty="0"/>
          </a:p>
        </p:txBody>
      </p:sp>
      <p:sp>
        <p:nvSpPr>
          <p:cNvPr id="24" name="Text 22"/>
          <p:cNvSpPr/>
          <p:nvPr/>
        </p:nvSpPr>
        <p:spPr>
          <a:xfrm>
            <a:off x="8522208" y="2296973"/>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calcuquote.com/quotecq · /request-pricing-quote · elisaindustriq.com/calcuquote/pricing</a:t>
            </a:r>
            <a:endParaRPr lang="en-US" sz="750" dirty="0"/>
          </a:p>
        </p:txBody>
      </p:sp>
      <p:sp>
        <p:nvSpPr>
          <p:cNvPr id="25" name="Text 23"/>
          <p:cNvSpPr/>
          <p:nvPr/>
        </p:nvSpPr>
        <p:spPr>
          <a:xfrm>
            <a:off x="457200" y="2710282"/>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aPriori</a:t>
            </a:r>
            <a:endParaRPr lang="en-US" sz="810" dirty="0"/>
          </a:p>
        </p:txBody>
      </p:sp>
      <p:sp>
        <p:nvSpPr>
          <p:cNvPr id="26" name="Text 24"/>
          <p:cNvSpPr/>
          <p:nvPr/>
        </p:nvSpPr>
        <p:spPr>
          <a:xfrm>
            <a:off x="2542032" y="2710282"/>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on-prem or SaaS</a:t>
            </a:r>
            <a:endParaRPr lang="en-US" sz="750" dirty="0"/>
          </a:p>
        </p:txBody>
      </p:sp>
      <p:sp>
        <p:nvSpPr>
          <p:cNvPr id="27" name="Text 25"/>
          <p:cNvSpPr/>
          <p:nvPr/>
        </p:nvSpPr>
        <p:spPr>
          <a:xfrm>
            <a:off x="3474720" y="2710282"/>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board spec (CAD for mechanical)</a:t>
            </a:r>
            <a:endParaRPr lang="en-US" sz="750" dirty="0"/>
          </a:p>
        </p:txBody>
      </p:sp>
      <p:sp>
        <p:nvSpPr>
          <p:cNvPr id="28" name="Text 26"/>
          <p:cNvSpPr/>
          <p:nvPr/>
        </p:nvSpPr>
        <p:spPr>
          <a:xfrm>
            <a:off x="5559552" y="2710282"/>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29" name="Text 27"/>
          <p:cNvSpPr/>
          <p:nvPr/>
        </p:nvSpPr>
        <p:spPr>
          <a:xfrm>
            <a:off x="6035040" y="2710282"/>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Named-user annual subscription; Foundation module sized by deployment, cost models priced separately.</a:t>
            </a:r>
            <a:endParaRPr lang="en-US" sz="750" dirty="0"/>
          </a:p>
        </p:txBody>
      </p:sp>
      <p:sp>
        <p:nvSpPr>
          <p:cNvPr id="30" name="Text 28"/>
          <p:cNvSpPr/>
          <p:nvPr/>
        </p:nvSpPr>
        <p:spPr>
          <a:xfrm>
            <a:off x="8522208" y="2710282"/>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apriori.com PCBA module + Electronics process-model PDF · G2 / TrustRadius pricing pages</a:t>
            </a:r>
            <a:endParaRPr lang="en-US" sz="750" dirty="0"/>
          </a:p>
        </p:txBody>
      </p:sp>
      <p:sp>
        <p:nvSpPr>
          <p:cNvPr id="31" name="Text 29"/>
          <p:cNvSpPr/>
          <p:nvPr/>
        </p:nvSpPr>
        <p:spPr>
          <a:xfrm>
            <a:off x="457200" y="3123590"/>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Siemens Teamcenter X PCM</a:t>
            </a:r>
            <a:endParaRPr lang="en-US" sz="810" dirty="0"/>
          </a:p>
        </p:txBody>
      </p:sp>
      <p:sp>
        <p:nvSpPr>
          <p:cNvPr id="32" name="Text 30"/>
          <p:cNvSpPr/>
          <p:nvPr/>
        </p:nvSpPr>
        <p:spPr>
          <a:xfrm>
            <a:off x="2542032" y="3123590"/>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hybrid cloud</a:t>
            </a:r>
            <a:endParaRPr lang="en-US" sz="750" dirty="0"/>
          </a:p>
        </p:txBody>
      </p:sp>
      <p:sp>
        <p:nvSpPr>
          <p:cNvPr id="33" name="Text 31"/>
          <p:cNvSpPr/>
          <p:nvPr/>
        </p:nvSpPr>
        <p:spPr>
          <a:xfrm>
            <a:off x="3474720" y="3123590"/>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board spec</a:t>
            </a:r>
            <a:endParaRPr lang="en-US" sz="750" dirty="0"/>
          </a:p>
        </p:txBody>
      </p:sp>
      <p:sp>
        <p:nvSpPr>
          <p:cNvPr id="34" name="Text 32"/>
          <p:cNvSpPr/>
          <p:nvPr/>
        </p:nvSpPr>
        <p:spPr>
          <a:xfrm>
            <a:off x="5559552" y="3123590"/>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35" name="Text 33"/>
          <p:cNvSpPr/>
          <p:nvPr/>
        </p:nvSpPr>
        <p:spPr>
          <a:xfrm>
            <a:off x="6035040" y="3123590"/>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Named end-user licences plus modules; custom quotation.</a:t>
            </a:r>
            <a:endParaRPr lang="en-US" sz="750" dirty="0"/>
          </a:p>
        </p:txBody>
      </p:sp>
      <p:sp>
        <p:nvSpPr>
          <p:cNvPr id="36" name="Text 34"/>
          <p:cNvSpPr/>
          <p:nvPr/>
        </p:nvSpPr>
        <p:spPr>
          <a:xfrm>
            <a:off x="8522208" y="3123590"/>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siemens.com/.../teamcenter/solutions/product-cost-management</a:t>
            </a:r>
            <a:endParaRPr lang="en-US" sz="750" dirty="0"/>
          </a:p>
        </p:txBody>
      </p:sp>
      <p:sp>
        <p:nvSpPr>
          <p:cNvPr id="37" name="Text 35"/>
          <p:cNvSpPr/>
          <p:nvPr/>
        </p:nvSpPr>
        <p:spPr>
          <a:xfrm>
            <a:off x="457200" y="3536899"/>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Tset</a:t>
            </a:r>
            <a:endParaRPr lang="en-US" sz="810" dirty="0"/>
          </a:p>
        </p:txBody>
      </p:sp>
      <p:sp>
        <p:nvSpPr>
          <p:cNvPr id="38" name="Text 36"/>
          <p:cNvSpPr/>
          <p:nvPr/>
        </p:nvSpPr>
        <p:spPr>
          <a:xfrm>
            <a:off x="2542032" y="3536899"/>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cloud</a:t>
            </a:r>
            <a:endParaRPr lang="en-US" sz="750" dirty="0"/>
          </a:p>
        </p:txBody>
      </p:sp>
      <p:sp>
        <p:nvSpPr>
          <p:cNvPr id="39" name="Text 37"/>
          <p:cNvSpPr/>
          <p:nvPr/>
        </p:nvSpPr>
        <p:spPr>
          <a:xfrm>
            <a:off x="3474720" y="3536899"/>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Board layout, part count, process parameters</a:t>
            </a:r>
            <a:endParaRPr lang="en-US" sz="750" dirty="0"/>
          </a:p>
        </p:txBody>
      </p:sp>
      <p:sp>
        <p:nvSpPr>
          <p:cNvPr id="40" name="Text 38"/>
          <p:cNvSpPr/>
          <p:nvPr/>
        </p:nvSpPr>
        <p:spPr>
          <a:xfrm>
            <a:off x="5559552" y="3536899"/>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41" name="Text 39"/>
          <p:cNvSpPr/>
          <p:nvPr/>
        </p:nvSpPr>
        <p:spPr>
          <a:xfrm>
            <a:off x="6035040" y="3536899"/>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a:t>
            </a:r>
            <a:endParaRPr lang="en-US" sz="750" dirty="0"/>
          </a:p>
        </p:txBody>
      </p:sp>
      <p:sp>
        <p:nvSpPr>
          <p:cNvPr id="42" name="Text 40"/>
          <p:cNvSpPr/>
          <p:nvPr/>
        </p:nvSpPr>
        <p:spPr>
          <a:xfrm>
            <a:off x="8522208" y="3536899"/>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tset.com/industries/electronics-and-high-tech-manufacturing · /videos/pcba-pcb</a:t>
            </a:r>
            <a:endParaRPr lang="en-US" sz="750" dirty="0"/>
          </a:p>
        </p:txBody>
      </p:sp>
      <p:sp>
        <p:nvSpPr>
          <p:cNvPr id="43" name="Text 41"/>
          <p:cNvSpPr/>
          <p:nvPr/>
        </p:nvSpPr>
        <p:spPr>
          <a:xfrm>
            <a:off x="457200" y="3950208"/>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Boothroyd Dewhurst DFMA</a:t>
            </a:r>
            <a:endParaRPr lang="en-US" sz="810" dirty="0"/>
          </a:p>
        </p:txBody>
      </p:sp>
      <p:sp>
        <p:nvSpPr>
          <p:cNvPr id="44" name="Text 42"/>
          <p:cNvSpPr/>
          <p:nvPr/>
        </p:nvSpPr>
        <p:spPr>
          <a:xfrm>
            <a:off x="2542032" y="3950208"/>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licence</a:t>
            </a:r>
            <a:endParaRPr lang="en-US" sz="750" dirty="0"/>
          </a:p>
        </p:txBody>
      </p:sp>
      <p:sp>
        <p:nvSpPr>
          <p:cNvPr id="45" name="Text 43"/>
          <p:cNvSpPr/>
          <p:nvPr/>
        </p:nvSpPr>
        <p:spPr>
          <a:xfrm>
            <a:off x="3474720" y="3950208"/>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Part / assembly definition keyed in</a:t>
            </a:r>
            <a:endParaRPr lang="en-US" sz="750" dirty="0"/>
          </a:p>
        </p:txBody>
      </p:sp>
      <p:sp>
        <p:nvSpPr>
          <p:cNvPr id="46" name="Text 44"/>
          <p:cNvSpPr/>
          <p:nvPr/>
        </p:nvSpPr>
        <p:spPr>
          <a:xfrm>
            <a:off x="5559552" y="3950208"/>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99651A"/>
                </a:solidFill>
                <a:latin typeface="Calibri" pitchFamily="34" charset="0"/>
                <a:ea typeface="Calibri" pitchFamily="34" charset="-122"/>
                <a:cs typeface="Calibri" pitchFamily="34" charset="-120"/>
              </a:rPr>
              <a:t>L1</a:t>
            </a:r>
            <a:endParaRPr lang="en-US" sz="900" dirty="0"/>
          </a:p>
        </p:txBody>
      </p:sp>
      <p:sp>
        <p:nvSpPr>
          <p:cNvPr id="47" name="Text 45"/>
          <p:cNvSpPr/>
          <p:nvPr/>
        </p:nvSpPr>
        <p:spPr>
          <a:xfrm>
            <a:off x="6035040" y="3950208"/>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Contact sales.</a:t>
            </a:r>
            <a:endParaRPr lang="en-US" sz="750" dirty="0"/>
          </a:p>
        </p:txBody>
      </p:sp>
      <p:sp>
        <p:nvSpPr>
          <p:cNvPr id="48" name="Text 46"/>
          <p:cNvSpPr/>
          <p:nvPr/>
        </p:nvSpPr>
        <p:spPr>
          <a:xfrm>
            <a:off x="8522208" y="3950208"/>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dfma.com/software/cost.asp · /resources/pcb-cost-estimating.asp</a:t>
            </a:r>
            <a:endParaRPr lang="en-US" sz="750" dirty="0"/>
          </a:p>
        </p:txBody>
      </p:sp>
      <p:sp>
        <p:nvSpPr>
          <p:cNvPr id="49" name="Text 47"/>
          <p:cNvSpPr/>
          <p:nvPr/>
        </p:nvSpPr>
        <p:spPr>
          <a:xfrm>
            <a:off x="457200" y="4363517"/>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Yole SystemPlus</a:t>
            </a:r>
            <a:endParaRPr lang="en-US" sz="810" dirty="0"/>
          </a:p>
        </p:txBody>
      </p:sp>
      <p:sp>
        <p:nvSpPr>
          <p:cNvPr id="50" name="Text 48"/>
          <p:cNvSpPr/>
          <p:nvPr/>
        </p:nvSpPr>
        <p:spPr>
          <a:xfrm>
            <a:off x="2542032" y="4363517"/>
            <a:ext cx="932688" cy="413309"/>
          </a:xfrm>
          <a:prstGeom prst="rect">
            <a:avLst/>
          </a:prstGeom>
          <a:solidFill>
            <a:srgbClr val="FFFFFF"/>
          </a:solidFill>
          <a:ln/>
        </p:spPr>
        <p:txBody>
          <a:bodyPr wrap="square" lIns="635" tIns="635" rIns="635" bIns="635"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SERVICE</a:t>
            </a:r>
            <a:endParaRPr lang="en-US" sz="750" dirty="0"/>
          </a:p>
          <a:p>
            <a:pPr algn="l" indent="0" marL="0">
              <a:buNone/>
            </a:pPr>
            <a:r>
              <a:rPr lang="en-US" sz="750" b="1" dirty="0">
                <a:solidFill>
                  <a:srgbClr val="6B3FA0"/>
                </a:solidFill>
                <a:latin typeface="Calibri" pitchFamily="34" charset="0"/>
                <a:ea typeface="Calibri" pitchFamily="34" charset="-122"/>
                <a:cs typeface="Calibri" pitchFamily="34" charset="-120"/>
              </a:rPr>
              <a:t>per report</a:t>
            </a:r>
            <a:endParaRPr lang="en-US" sz="750" dirty="0"/>
          </a:p>
        </p:txBody>
      </p:sp>
      <p:sp>
        <p:nvSpPr>
          <p:cNvPr id="51" name="Text 49"/>
          <p:cNvSpPr/>
          <p:nvPr/>
        </p:nvSpPr>
        <p:spPr>
          <a:xfrm>
            <a:off x="3474720" y="4363517"/>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52" name="Text 50"/>
          <p:cNvSpPr/>
          <p:nvPr/>
        </p:nvSpPr>
        <p:spPr>
          <a:xfrm>
            <a:off x="5559552" y="4363517"/>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3" name="Text 51"/>
          <p:cNvSpPr/>
          <p:nvPr/>
        </p:nvSpPr>
        <p:spPr>
          <a:xfrm>
            <a:off x="6035040" y="4363517"/>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PER-REPORT LIST PRICE — but the only figures I could verify are 2017–18 flyers (EUR 2,490 / 3,490 / 4,990). Treat as order-of-magnitude, not current.</a:t>
            </a:r>
            <a:endParaRPr lang="en-US" sz="750" dirty="0"/>
          </a:p>
        </p:txBody>
      </p:sp>
      <p:sp>
        <p:nvSpPr>
          <p:cNvPr id="54" name="Text 52"/>
          <p:cNvSpPr/>
          <p:nvPr/>
        </p:nvSpPr>
        <p:spPr>
          <a:xfrm>
            <a:off x="8522208" y="4363517"/>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systemplus.fr/services/reverse-costing · reverse-costing.com · yolegroup.com</a:t>
            </a:r>
            <a:endParaRPr lang="en-US" sz="750" dirty="0"/>
          </a:p>
        </p:txBody>
      </p:sp>
      <p:sp>
        <p:nvSpPr>
          <p:cNvPr id="55" name="Text 53"/>
          <p:cNvSpPr/>
          <p:nvPr/>
        </p:nvSpPr>
        <p:spPr>
          <a:xfrm>
            <a:off x="457200" y="4776826"/>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TechInsights</a:t>
            </a:r>
            <a:endParaRPr lang="en-US" sz="810" dirty="0"/>
          </a:p>
        </p:txBody>
      </p:sp>
      <p:sp>
        <p:nvSpPr>
          <p:cNvPr id="56" name="Text 54"/>
          <p:cNvSpPr/>
          <p:nvPr/>
        </p:nvSpPr>
        <p:spPr>
          <a:xfrm>
            <a:off x="2542032" y="4776826"/>
            <a:ext cx="932688" cy="413309"/>
          </a:xfrm>
          <a:prstGeom prst="rect">
            <a:avLst/>
          </a:prstGeom>
          <a:solidFill>
            <a:srgbClr val="F0F4F9"/>
          </a:solidFill>
          <a:ln/>
        </p:spPr>
        <p:txBody>
          <a:bodyPr wrap="square" lIns="635" tIns="635" rIns="635" bIns="635"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SERVICE</a:t>
            </a:r>
            <a:endParaRPr lang="en-US" sz="750" dirty="0"/>
          </a:p>
          <a:p>
            <a:pPr algn="l" indent="0" marL="0">
              <a:buNone/>
            </a:pPr>
            <a:r>
              <a:rPr lang="en-US" sz="750" b="1" dirty="0">
                <a:solidFill>
                  <a:srgbClr val="6B3FA0"/>
                </a:solidFill>
                <a:latin typeface="Calibri" pitchFamily="34" charset="0"/>
                <a:ea typeface="Calibri" pitchFamily="34" charset="-122"/>
                <a:cs typeface="Calibri" pitchFamily="34" charset="-120"/>
              </a:rPr>
              <a:t>+ subscription</a:t>
            </a:r>
            <a:endParaRPr lang="en-US" sz="750" dirty="0"/>
          </a:p>
        </p:txBody>
      </p:sp>
      <p:sp>
        <p:nvSpPr>
          <p:cNvPr id="57" name="Text 55"/>
          <p:cNvSpPr/>
          <p:nvPr/>
        </p:nvSpPr>
        <p:spPr>
          <a:xfrm>
            <a:off x="3474720" y="4776826"/>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58" name="Text 56"/>
          <p:cNvSpPr/>
          <p:nvPr/>
        </p:nvSpPr>
        <p:spPr>
          <a:xfrm>
            <a:off x="5559552" y="4776826"/>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9" name="Text 57"/>
          <p:cNvSpPr/>
          <p:nvPr/>
        </p:nvSpPr>
        <p:spPr>
          <a:xfrm>
            <a:off x="6035040" y="4776826"/>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Channel subscriptions incl. a Component Price Landscape feed.</a:t>
            </a:r>
            <a:endParaRPr lang="en-US" sz="750" dirty="0"/>
          </a:p>
        </p:txBody>
      </p:sp>
      <p:sp>
        <p:nvSpPr>
          <p:cNvPr id="60" name="Text 58"/>
          <p:cNvSpPr/>
          <p:nvPr/>
        </p:nvSpPr>
        <p:spPr>
          <a:xfrm>
            <a:off x="8522208" y="4776826"/>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techinsights.com/.../teardown-costing · /reverse-engineering-subscriptions</a:t>
            </a:r>
            <a:endParaRPr lang="en-US" sz="750" dirty="0"/>
          </a:p>
        </p:txBody>
      </p:sp>
      <p:sp>
        <p:nvSpPr>
          <p:cNvPr id="61" name="Text 59"/>
          <p:cNvSpPr/>
          <p:nvPr/>
        </p:nvSpPr>
        <p:spPr>
          <a:xfrm>
            <a:off x="457200" y="5190134"/>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JLCPCB (instant quote)</a:t>
            </a:r>
            <a:endParaRPr lang="en-US" sz="810" dirty="0"/>
          </a:p>
        </p:txBody>
      </p:sp>
      <p:sp>
        <p:nvSpPr>
          <p:cNvPr id="62" name="Text 60"/>
          <p:cNvSpPr/>
          <p:nvPr/>
        </p:nvSpPr>
        <p:spPr>
          <a:xfrm>
            <a:off x="2542032" y="5190134"/>
            <a:ext cx="93268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Supplier</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self-serve</a:t>
            </a:r>
            <a:endParaRPr lang="en-US" sz="750" dirty="0"/>
          </a:p>
        </p:txBody>
      </p:sp>
      <p:sp>
        <p:nvSpPr>
          <p:cNvPr id="63" name="Text 61"/>
          <p:cNvSpPr/>
          <p:nvPr/>
        </p:nvSpPr>
        <p:spPr>
          <a:xfrm>
            <a:off x="3474720" y="5190134"/>
            <a:ext cx="2084832"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Gerber upload</a:t>
            </a:r>
            <a:endParaRPr lang="en-US" sz="750" dirty="0"/>
          </a:p>
        </p:txBody>
      </p:sp>
      <p:sp>
        <p:nvSpPr>
          <p:cNvPr id="64" name="Text 62"/>
          <p:cNvSpPr/>
          <p:nvPr/>
        </p:nvSpPr>
        <p:spPr>
          <a:xfrm>
            <a:off x="5559552" y="519013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65" name="Text 63"/>
          <p:cNvSpPr/>
          <p:nvPr/>
        </p:nvSpPr>
        <p:spPr>
          <a:xfrm>
            <a:off x="6035040" y="5190134"/>
            <a:ext cx="2487168"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FULLY PUBLISHED, real time: SMT USD 0.0017/joint; setup USD 25 one side / USD 50 double-sided; hand solder USD 3.50 + USD 0.0173/joint. Their SELLING price, prototype/consumer scope.</a:t>
            </a:r>
            <a:endParaRPr lang="en-US" sz="750" dirty="0"/>
          </a:p>
        </p:txBody>
      </p:sp>
      <p:sp>
        <p:nvSpPr>
          <p:cNvPr id="66" name="Text 64"/>
          <p:cNvSpPr/>
          <p:nvPr/>
        </p:nvSpPr>
        <p:spPr>
          <a:xfrm>
            <a:off x="8522208" y="5190134"/>
            <a:ext cx="320954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jlcpcb.com/help/article/pcb-assembly-price · jlcpcb.com/parts/bom-tool</a:t>
            </a:r>
            <a:endParaRPr lang="en-US" sz="750" dirty="0"/>
          </a:p>
        </p:txBody>
      </p:sp>
      <p:sp>
        <p:nvSpPr>
          <p:cNvPr id="67" name="Text 65"/>
          <p:cNvSpPr/>
          <p:nvPr/>
        </p:nvSpPr>
        <p:spPr>
          <a:xfrm>
            <a:off x="457200" y="5603443"/>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PCB Tracer</a:t>
            </a:r>
            <a:endParaRPr lang="en-US" sz="810" dirty="0"/>
          </a:p>
        </p:txBody>
      </p:sp>
      <p:sp>
        <p:nvSpPr>
          <p:cNvPr id="68" name="Text 66"/>
          <p:cNvSpPr/>
          <p:nvPr/>
        </p:nvSpPr>
        <p:spPr>
          <a:xfrm>
            <a:off x="2542032" y="5603443"/>
            <a:ext cx="93268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browser</a:t>
            </a:r>
            <a:endParaRPr lang="en-US" sz="750" dirty="0"/>
          </a:p>
        </p:txBody>
      </p:sp>
      <p:sp>
        <p:nvSpPr>
          <p:cNvPr id="69" name="Text 67"/>
          <p:cNvSpPr/>
          <p:nvPr/>
        </p:nvSpPr>
        <p:spPr>
          <a:xfrm>
            <a:off x="3474720" y="5603443"/>
            <a:ext cx="2084832"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Photos of the board (top + bottom)</a:t>
            </a:r>
            <a:endParaRPr lang="en-US" sz="750" dirty="0"/>
          </a:p>
        </p:txBody>
      </p:sp>
      <p:sp>
        <p:nvSpPr>
          <p:cNvPr id="70" name="Text 68"/>
          <p:cNvSpPr/>
          <p:nvPr/>
        </p:nvSpPr>
        <p:spPr>
          <a:xfrm>
            <a:off x="5559552" y="560344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2A7F50"/>
                </a:solidFill>
                <a:latin typeface="Calibri" pitchFamily="34" charset="0"/>
                <a:ea typeface="Calibri" pitchFamily="34" charset="-122"/>
                <a:cs typeface="Calibri" pitchFamily="34" charset="-120"/>
              </a:rPr>
              <a:t>L3</a:t>
            </a:r>
            <a:endParaRPr lang="en-US" sz="900" dirty="0"/>
          </a:p>
        </p:txBody>
      </p:sp>
      <p:sp>
        <p:nvSpPr>
          <p:cNvPr id="71" name="Text 69"/>
          <p:cNvSpPr/>
          <p:nvPr/>
        </p:nvSpPr>
        <p:spPr>
          <a:xfrm>
            <a:off x="6035040" y="5603443"/>
            <a:ext cx="2487168"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PUBLISHED: built-in features free; AI features ≈ USD 0.50 per schematic. Extracts BOM and netlist — does NOT cost the board.</a:t>
            </a:r>
            <a:endParaRPr lang="en-US" sz="750" dirty="0"/>
          </a:p>
        </p:txBody>
      </p:sp>
      <p:sp>
        <p:nvSpPr>
          <p:cNvPr id="72" name="Text 70"/>
          <p:cNvSpPr/>
          <p:nvPr/>
        </p:nvSpPr>
        <p:spPr>
          <a:xfrm>
            <a:off x="8522208" y="5603443"/>
            <a:ext cx="320954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pcbtracer.com · github.com/rpelorosso/pcb-tracer</a:t>
            </a:r>
            <a:endParaRPr lang="en-US" sz="750" dirty="0"/>
          </a:p>
        </p:txBody>
      </p:sp>
      <p:sp>
        <p:nvSpPr>
          <p:cNvPr id="73" name="Shape 71"/>
          <p:cNvSpPr/>
          <p:nvPr/>
        </p:nvSpPr>
        <p:spPr>
          <a:xfrm>
            <a:off x="457200" y="6053328"/>
            <a:ext cx="11274552" cy="457200"/>
          </a:xfrm>
          <a:prstGeom prst="roundRect">
            <a:avLst>
              <a:gd name="adj" fmla="val 16000"/>
            </a:avLst>
          </a:prstGeom>
          <a:solidFill>
            <a:srgbClr val="FCF3E3"/>
          </a:solidFill>
          <a:ln w="12700">
            <a:solidFill>
              <a:srgbClr val="99651A"/>
            </a:solidFill>
            <a:prstDash val="solid"/>
          </a:ln>
        </p:spPr>
      </p:sp>
      <p:sp>
        <p:nvSpPr>
          <p:cNvPr id="74" name="Text 72"/>
          <p:cNvSpPr/>
          <p:nvPr/>
        </p:nvSpPr>
        <p:spPr>
          <a:xfrm>
            <a:off x="621792" y="6053328"/>
            <a:ext cx="10972800" cy="457200"/>
          </a:xfrm>
          <a:prstGeom prst="rect">
            <a:avLst/>
          </a:prstGeom>
          <a:noFill/>
          <a:ln/>
        </p:spPr>
        <p:txBody>
          <a:bodyPr wrap="square" lIns="0" tIns="0" rIns="0" bIns="0" rtlCol="0" anchor="ctr"/>
          <a:lstStyle/>
          <a:p>
            <a:pPr indent="0" marL="0">
              <a:buNone/>
            </a:pPr>
            <a:r>
              <a:rPr lang="en-US" sz="940" b="1" dirty="0">
                <a:solidFill>
                  <a:srgbClr val="99651A"/>
                </a:solidFill>
                <a:latin typeface="Calibri" pitchFamily="34" charset="0"/>
                <a:ea typeface="Calibri" pitchFamily="34" charset="-122"/>
                <a:cs typeface="Calibri" pitchFamily="34" charset="-120"/>
              </a:rPr>
              <a:t>The pricing finding:  </a:t>
            </a:r>
            <a:pPr indent="0" marL="0">
              <a:buNone/>
            </a:pPr>
            <a:r>
              <a:rPr lang="en-US" sz="940" dirty="0">
                <a:solidFill>
                  <a:srgbClr val="3A4356"/>
                </a:solidFill>
                <a:latin typeface="Calibri" pitchFamily="34" charset="0"/>
                <a:ea typeface="Calibri" pitchFamily="34" charset="-122"/>
                <a:cs typeface="Calibri" pitchFamily="34" charset="-120"/>
              </a:rPr>
              <a:t>every should-cost and quoting platform in this market sells on quotation — not one publishes a figure. Only the per-report services and the instant-quote suppliers put a number in public. Any "typical licence cost" you are offered for these tools is somebody’s guess.</a:t>
            </a:r>
            <a:endParaRPr lang="en-US" sz="94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CostVision Measured on the Same Axes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Green only where we genuinely lead. Red where we do not — including one thing we cannot yet claim at all</a:t>
            </a:r>
            <a:endParaRPr lang="en-US" sz="1200" dirty="0"/>
          </a:p>
        </p:txBody>
      </p:sp>
      <p:sp>
        <p:nvSpPr>
          <p:cNvPr id="5" name="Text 3"/>
          <p:cNvSpPr/>
          <p:nvPr/>
        </p:nvSpPr>
        <p:spPr>
          <a:xfrm>
            <a:off x="457200" y="1115568"/>
            <a:ext cx="2212848" cy="310896"/>
          </a:xfrm>
          <a:prstGeom prst="rect">
            <a:avLst/>
          </a:prstGeom>
          <a:solidFill>
            <a:srgbClr val="16325C"/>
          </a:solidFill>
          <a:ln/>
        </p:spPr>
        <p:txBody>
          <a:bodyPr wrap="square" lIns="635" tIns="635" rIns="635" bIns="635" rtlCol="0" anchor="ctr"/>
          <a:lstStyle/>
          <a:p>
            <a:pPr algn="l" indent="0" marL="0">
              <a:buNone/>
            </a:pPr>
            <a:endParaRPr lang="en-US" sz="880" dirty="0"/>
          </a:p>
        </p:txBody>
      </p:sp>
      <p:sp>
        <p:nvSpPr>
          <p:cNvPr id="6" name="Text 4"/>
          <p:cNvSpPr/>
          <p:nvPr/>
        </p:nvSpPr>
        <p:spPr>
          <a:xfrm>
            <a:off x="2670048"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A · EMS quoting</a:t>
            </a:r>
            <a:endParaRPr lang="en-US" sz="880" dirty="0"/>
          </a:p>
        </p:txBody>
      </p:sp>
      <p:sp>
        <p:nvSpPr>
          <p:cNvPr id="7" name="Text 5"/>
          <p:cNvSpPr/>
          <p:nvPr/>
        </p:nvSpPr>
        <p:spPr>
          <a:xfrm>
            <a:off x="5065776"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B · Enterprise should-cost</a:t>
            </a:r>
            <a:endParaRPr lang="en-US" sz="880" dirty="0"/>
          </a:p>
        </p:txBody>
      </p:sp>
      <p:sp>
        <p:nvSpPr>
          <p:cNvPr id="8" name="Text 6"/>
          <p:cNvSpPr/>
          <p:nvPr/>
        </p:nvSpPr>
        <p:spPr>
          <a:xfrm>
            <a:off x="7461504"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C · Reverse costing</a:t>
            </a:r>
            <a:endParaRPr lang="en-US" sz="880" dirty="0"/>
          </a:p>
        </p:txBody>
      </p:sp>
      <p:sp>
        <p:nvSpPr>
          <p:cNvPr id="9" name="Text 7"/>
          <p:cNvSpPr/>
          <p:nvPr/>
        </p:nvSpPr>
        <p:spPr>
          <a:xfrm>
            <a:off x="9857232" y="1115568"/>
            <a:ext cx="1874520" cy="310896"/>
          </a:xfrm>
          <a:prstGeom prst="rect">
            <a:avLst/>
          </a:prstGeom>
          <a:solidFill>
            <a:srgbClr val="4F46E5"/>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CostVision</a:t>
            </a:r>
            <a:endParaRPr lang="en-US" sz="880" dirty="0"/>
          </a:p>
        </p:txBody>
      </p:sp>
      <p:sp>
        <p:nvSpPr>
          <p:cNvPr id="10" name="Text 8"/>
          <p:cNvSpPr/>
          <p:nvPr/>
        </p:nvSpPr>
        <p:spPr>
          <a:xfrm>
            <a:off x="457200" y="1481328"/>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Starts from</a:t>
            </a:r>
            <a:endParaRPr lang="en-US" sz="820" dirty="0"/>
          </a:p>
        </p:txBody>
      </p:sp>
      <p:sp>
        <p:nvSpPr>
          <p:cNvPr id="11" name="Text 9"/>
          <p:cNvSpPr/>
          <p:nvPr/>
        </p:nvSpPr>
        <p:spPr>
          <a:xfrm>
            <a:off x="2670048"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file</a:t>
            </a:r>
            <a:endParaRPr lang="en-US" sz="750" dirty="0"/>
          </a:p>
        </p:txBody>
      </p:sp>
      <p:sp>
        <p:nvSpPr>
          <p:cNvPr id="12" name="Text 10"/>
          <p:cNvSpPr/>
          <p:nvPr/>
        </p:nvSpPr>
        <p:spPr>
          <a:xfrm>
            <a:off x="5065776"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 board spec</a:t>
            </a:r>
            <a:endParaRPr lang="en-US" sz="750" dirty="0"/>
          </a:p>
        </p:txBody>
      </p:sp>
      <p:sp>
        <p:nvSpPr>
          <p:cNvPr id="13" name="Text 11"/>
          <p:cNvSpPr/>
          <p:nvPr/>
        </p:nvSpPr>
        <p:spPr>
          <a:xfrm>
            <a:off x="7461504"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14" name="Text 12"/>
          <p:cNvSpPr/>
          <p:nvPr/>
        </p:nvSpPr>
        <p:spPr>
          <a:xfrm>
            <a:off x="9857232" y="148132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A photograph</a:t>
            </a:r>
            <a:endParaRPr lang="en-US" sz="750" dirty="0"/>
          </a:p>
        </p:txBody>
      </p:sp>
      <p:sp>
        <p:nvSpPr>
          <p:cNvPr id="15" name="Text 13"/>
          <p:cNvSpPr/>
          <p:nvPr/>
        </p:nvSpPr>
        <p:spPr>
          <a:xfrm>
            <a:off x="457200" y="1965960"/>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Automation</a:t>
            </a:r>
            <a:endParaRPr lang="en-US" sz="820" dirty="0"/>
          </a:p>
        </p:txBody>
      </p:sp>
      <p:sp>
        <p:nvSpPr>
          <p:cNvPr id="16" name="Text 14"/>
          <p:cNvSpPr/>
          <p:nvPr/>
        </p:nvSpPr>
        <p:spPr>
          <a:xfrm>
            <a:off x="2670048"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L2</a:t>
            </a:r>
            <a:endParaRPr lang="en-US" sz="750" dirty="0"/>
          </a:p>
        </p:txBody>
      </p:sp>
      <p:sp>
        <p:nvSpPr>
          <p:cNvPr id="17" name="Text 15"/>
          <p:cNvSpPr/>
          <p:nvPr/>
        </p:nvSpPr>
        <p:spPr>
          <a:xfrm>
            <a:off x="5065776"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L1–L2</a:t>
            </a:r>
            <a:endParaRPr lang="en-US" sz="750" dirty="0"/>
          </a:p>
        </p:txBody>
      </p:sp>
      <p:sp>
        <p:nvSpPr>
          <p:cNvPr id="18" name="Text 16"/>
          <p:cNvSpPr/>
          <p:nvPr/>
        </p:nvSpPr>
        <p:spPr>
          <a:xfrm>
            <a:off x="7461504"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L0 — people</a:t>
            </a:r>
            <a:endParaRPr lang="en-US" sz="750" dirty="0"/>
          </a:p>
        </p:txBody>
      </p:sp>
      <p:sp>
        <p:nvSpPr>
          <p:cNvPr id="19" name="Text 17"/>
          <p:cNvSpPr/>
          <p:nvPr/>
        </p:nvSpPr>
        <p:spPr>
          <a:xfrm>
            <a:off x="9857232" y="196596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L3</a:t>
            </a:r>
            <a:endParaRPr lang="en-US" sz="750" dirty="0"/>
          </a:p>
        </p:txBody>
      </p:sp>
      <p:sp>
        <p:nvSpPr>
          <p:cNvPr id="20" name="Text 18"/>
          <p:cNvSpPr/>
          <p:nvPr/>
        </p:nvSpPr>
        <p:spPr>
          <a:xfrm>
            <a:off x="457200" y="2450592"/>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Turnaround</a:t>
            </a:r>
            <a:endParaRPr lang="en-US" sz="820" dirty="0"/>
          </a:p>
        </p:txBody>
      </p:sp>
      <p:sp>
        <p:nvSpPr>
          <p:cNvPr id="21" name="Text 19"/>
          <p:cNvSpPr/>
          <p:nvPr/>
        </p:nvSpPr>
        <p:spPr>
          <a:xfrm>
            <a:off x="2670048"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Minutes</a:t>
            </a:r>
            <a:endParaRPr lang="en-US" sz="750" dirty="0"/>
          </a:p>
        </p:txBody>
      </p:sp>
      <p:sp>
        <p:nvSpPr>
          <p:cNvPr id="22" name="Text 20"/>
          <p:cNvSpPr/>
          <p:nvPr/>
        </p:nvSpPr>
        <p:spPr>
          <a:xfrm>
            <a:off x="5065776"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Hours (after data entry)</a:t>
            </a:r>
            <a:endParaRPr lang="en-US" sz="750" dirty="0"/>
          </a:p>
        </p:txBody>
      </p:sp>
      <p:sp>
        <p:nvSpPr>
          <p:cNvPr id="23" name="Text 21"/>
          <p:cNvSpPr/>
          <p:nvPr/>
        </p:nvSpPr>
        <p:spPr>
          <a:xfrm>
            <a:off x="7461504"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Weeks</a:t>
            </a:r>
            <a:endParaRPr lang="en-US" sz="750" dirty="0"/>
          </a:p>
        </p:txBody>
      </p:sp>
      <p:sp>
        <p:nvSpPr>
          <p:cNvPr id="24" name="Text 22"/>
          <p:cNvSpPr/>
          <p:nvPr/>
        </p:nvSpPr>
        <p:spPr>
          <a:xfrm>
            <a:off x="9857232" y="2450592"/>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Minutes</a:t>
            </a:r>
            <a:endParaRPr lang="en-US" sz="750" dirty="0"/>
          </a:p>
        </p:txBody>
      </p:sp>
      <p:sp>
        <p:nvSpPr>
          <p:cNvPr id="25" name="Text 23"/>
          <p:cNvSpPr/>
          <p:nvPr/>
        </p:nvSpPr>
        <p:spPr>
          <a:xfrm>
            <a:off x="457200" y="2935224"/>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Cost engine</a:t>
            </a:r>
            <a:endParaRPr lang="en-US" sz="820" dirty="0"/>
          </a:p>
        </p:txBody>
      </p:sp>
      <p:sp>
        <p:nvSpPr>
          <p:cNvPr id="26" name="Text 24"/>
          <p:cNvSpPr/>
          <p:nvPr/>
        </p:nvSpPr>
        <p:spPr>
          <a:xfrm>
            <a:off x="2670048"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Supplier price build-up</a:t>
            </a:r>
            <a:endParaRPr lang="en-US" sz="750" dirty="0"/>
          </a:p>
        </p:txBody>
      </p:sp>
      <p:sp>
        <p:nvSpPr>
          <p:cNvPr id="27" name="Text 25"/>
          <p:cNvSpPr/>
          <p:nvPr/>
        </p:nvSpPr>
        <p:spPr>
          <a:xfrm>
            <a:off x="5065776"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Deterministic should-cost</a:t>
            </a:r>
            <a:endParaRPr lang="en-US" sz="750" dirty="0"/>
          </a:p>
        </p:txBody>
      </p:sp>
      <p:sp>
        <p:nvSpPr>
          <p:cNvPr id="28" name="Text 26"/>
          <p:cNvSpPr/>
          <p:nvPr/>
        </p:nvSpPr>
        <p:spPr>
          <a:xfrm>
            <a:off x="7461504"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Bottom-up from teardown</a:t>
            </a:r>
            <a:endParaRPr lang="en-US" sz="750" dirty="0"/>
          </a:p>
        </p:txBody>
      </p:sp>
      <p:sp>
        <p:nvSpPr>
          <p:cNvPr id="29" name="Text 27"/>
          <p:cNvSpPr/>
          <p:nvPr/>
        </p:nvSpPr>
        <p:spPr>
          <a:xfrm>
            <a:off x="9857232" y="2935224"/>
            <a:ext cx="1874520" cy="484632"/>
          </a:xfrm>
          <a:prstGeom prst="rect">
            <a:avLst/>
          </a:prstGeom>
          <a:solidFill>
            <a:srgbClr val="EEF1F6"/>
          </a:solidFill>
          <a:ln/>
        </p:spPr>
        <p:txBody>
          <a:bodyPr wrap="square" lIns="635" tIns="635" rIns="635" bIns="635" rtlCol="0" anchor="ctr"/>
          <a:lstStyle/>
          <a:p>
            <a:pPr algn="ctr" indent="0" marL="0">
              <a:buNone/>
            </a:pPr>
            <a:r>
              <a:rPr lang="en-US" sz="750" b="1" dirty="0">
                <a:solidFill>
                  <a:srgbClr val="3A4356"/>
                </a:solidFill>
                <a:latin typeface="Calibri" pitchFamily="34" charset="0"/>
                <a:ea typeface="Calibri" pitchFamily="34" charset="-122"/>
                <a:cs typeface="Calibri" pitchFamily="34" charset="-120"/>
              </a:rPr>
              <a:t>Deterministic, 8-bucket,</a:t>
            </a:r>
            <a:endParaRPr lang="en-US" sz="750" dirty="0"/>
          </a:p>
          <a:p>
            <a:pPr algn="ctr" indent="0" marL="0">
              <a:buNone/>
            </a:pPr>
            <a:r>
              <a:rPr lang="en-US" sz="750" b="1" dirty="0">
                <a:solidFill>
                  <a:srgbClr val="3A4356"/>
                </a:solidFill>
                <a:latin typeface="Calibri" pitchFamily="34" charset="0"/>
                <a:ea typeface="Calibri" pitchFamily="34" charset="-122"/>
                <a:cs typeface="Calibri" pitchFamily="34" charset="-120"/>
              </a:rPr>
              <a:t>~1,600 pinned tests</a:t>
            </a:r>
            <a:endParaRPr lang="en-US" sz="750" dirty="0"/>
          </a:p>
        </p:txBody>
      </p:sp>
      <p:sp>
        <p:nvSpPr>
          <p:cNvPr id="30" name="Text 28"/>
          <p:cNvSpPr/>
          <p:nvPr/>
        </p:nvSpPr>
        <p:spPr>
          <a:xfrm>
            <a:off x="457200" y="3419856"/>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Component prices</a:t>
            </a:r>
            <a:endParaRPr lang="en-US" sz="820" dirty="0"/>
          </a:p>
        </p:txBody>
      </p:sp>
      <p:sp>
        <p:nvSpPr>
          <p:cNvPr id="31" name="Text 29"/>
          <p:cNvSpPr/>
          <p:nvPr/>
        </p:nvSpPr>
        <p:spPr>
          <a:xfrm>
            <a:off x="2670048"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Live distributor APIs</a:t>
            </a:r>
            <a:endParaRPr lang="en-US" sz="750" dirty="0"/>
          </a:p>
        </p:txBody>
      </p:sp>
      <p:sp>
        <p:nvSpPr>
          <p:cNvPr id="32" name="Text 30"/>
          <p:cNvSpPr/>
          <p:nvPr/>
        </p:nvSpPr>
        <p:spPr>
          <a:xfrm>
            <a:off x="5065776"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Licensed price libraries</a:t>
            </a:r>
            <a:endParaRPr lang="en-US" sz="750" dirty="0"/>
          </a:p>
        </p:txBody>
      </p:sp>
      <p:sp>
        <p:nvSpPr>
          <p:cNvPr id="33" name="Text 31"/>
          <p:cNvSpPr/>
          <p:nvPr/>
        </p:nvSpPr>
        <p:spPr>
          <a:xfrm>
            <a:off x="7461504"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Own price database</a:t>
            </a:r>
            <a:endParaRPr lang="en-US" sz="750" dirty="0"/>
          </a:p>
        </p:txBody>
      </p:sp>
      <p:sp>
        <p:nvSpPr>
          <p:cNvPr id="34" name="Text 32"/>
          <p:cNvSpPr/>
          <p:nvPr/>
        </p:nvSpPr>
        <p:spPr>
          <a:xfrm>
            <a:off x="9857232" y="3419856"/>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Live API built + wired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 but UNCONFIGURED,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so offline catalogue in practice</a:t>
            </a:r>
            <a:endParaRPr lang="en-US" sz="750" dirty="0"/>
          </a:p>
        </p:txBody>
      </p:sp>
      <p:sp>
        <p:nvSpPr>
          <p:cNvPr id="35" name="Text 33"/>
          <p:cNvSpPr/>
          <p:nvPr/>
        </p:nvSpPr>
        <p:spPr>
          <a:xfrm>
            <a:off x="457200" y="3904488"/>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Runs air-gapped</a:t>
            </a:r>
            <a:endParaRPr lang="en-US" sz="820" dirty="0"/>
          </a:p>
        </p:txBody>
      </p:sp>
      <p:sp>
        <p:nvSpPr>
          <p:cNvPr id="36" name="Text 34"/>
          <p:cNvSpPr/>
          <p:nvPr/>
        </p:nvSpPr>
        <p:spPr>
          <a:xfrm>
            <a:off x="2670048"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No — cloud SaaS</a:t>
            </a:r>
            <a:endParaRPr lang="en-US" sz="750" dirty="0"/>
          </a:p>
        </p:txBody>
      </p:sp>
      <p:sp>
        <p:nvSpPr>
          <p:cNvPr id="37" name="Text 35"/>
          <p:cNvSpPr/>
          <p:nvPr/>
        </p:nvSpPr>
        <p:spPr>
          <a:xfrm>
            <a:off x="5065776"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On-prem possible</a:t>
            </a:r>
            <a:endParaRPr lang="en-US" sz="750" dirty="0"/>
          </a:p>
        </p:txBody>
      </p:sp>
      <p:sp>
        <p:nvSpPr>
          <p:cNvPr id="38" name="Text 36"/>
          <p:cNvSpPr/>
          <p:nvPr/>
        </p:nvSpPr>
        <p:spPr>
          <a:xfrm>
            <a:off x="7461504"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n/a — a service</a:t>
            </a:r>
            <a:endParaRPr lang="en-US" sz="750" dirty="0"/>
          </a:p>
        </p:txBody>
      </p:sp>
      <p:sp>
        <p:nvSpPr>
          <p:cNvPr id="39" name="Text 37"/>
          <p:cNvSpPr/>
          <p:nvPr/>
        </p:nvSpPr>
        <p:spPr>
          <a:xfrm>
            <a:off x="9857232" y="390448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Yes, AIR_GAPPED=1</a:t>
            </a:r>
            <a:endParaRPr lang="en-US" sz="750" dirty="0"/>
          </a:p>
        </p:txBody>
      </p:sp>
      <p:sp>
        <p:nvSpPr>
          <p:cNvPr id="40" name="Text 38"/>
          <p:cNvSpPr/>
          <p:nvPr/>
        </p:nvSpPr>
        <p:spPr>
          <a:xfrm>
            <a:off x="457200" y="4389120"/>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Per-line evidence</a:t>
            </a:r>
            <a:endParaRPr lang="en-US" sz="820" dirty="0"/>
          </a:p>
        </p:txBody>
      </p:sp>
      <p:sp>
        <p:nvSpPr>
          <p:cNvPr id="41" name="Text 39"/>
          <p:cNvSpPr/>
          <p:nvPr/>
        </p:nvSpPr>
        <p:spPr>
          <a:xfrm>
            <a:off x="2670048"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Distributor quote ref</a:t>
            </a:r>
            <a:endParaRPr lang="en-US" sz="750" dirty="0"/>
          </a:p>
        </p:txBody>
      </p:sp>
      <p:sp>
        <p:nvSpPr>
          <p:cNvPr id="42" name="Text 40"/>
          <p:cNvSpPr/>
          <p:nvPr/>
        </p:nvSpPr>
        <p:spPr>
          <a:xfrm>
            <a:off x="5065776"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Model + library ref</a:t>
            </a:r>
            <a:endParaRPr lang="en-US" sz="750" dirty="0"/>
          </a:p>
        </p:txBody>
      </p:sp>
      <p:sp>
        <p:nvSpPr>
          <p:cNvPr id="43" name="Text 41"/>
          <p:cNvSpPr/>
          <p:nvPr/>
        </p:nvSpPr>
        <p:spPr>
          <a:xfrm>
            <a:off x="7461504"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Physical inspection</a:t>
            </a:r>
            <a:endParaRPr lang="en-US" sz="750" dirty="0"/>
          </a:p>
        </p:txBody>
      </p:sp>
      <p:sp>
        <p:nvSpPr>
          <p:cNvPr id="44" name="Text 42"/>
          <p:cNvSpPr/>
          <p:nvPr/>
        </p:nvSpPr>
        <p:spPr>
          <a:xfrm>
            <a:off x="9857232" y="438912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Evidence tag per line</a:t>
            </a:r>
            <a:endParaRPr lang="en-US" sz="750" dirty="0"/>
          </a:p>
          <a:p>
            <a:pPr algn="ctr" indent="0" marL="0">
              <a:buNone/>
            </a:pPr>
            <a:r>
              <a:rPr lang="en-US" sz="750" b="1" dirty="0">
                <a:solidFill>
                  <a:srgbClr val="2A7F50"/>
                </a:solidFill>
                <a:latin typeface="Calibri" pitchFamily="34" charset="0"/>
                <a:ea typeface="Calibri" pitchFamily="34" charset="-122"/>
                <a:cs typeface="Calibri" pitchFamily="34" charset="-120"/>
              </a:rPr>
              <a:t>(legible / partial / inferred)</a:t>
            </a:r>
            <a:endParaRPr lang="en-US" sz="750" dirty="0"/>
          </a:p>
        </p:txBody>
      </p:sp>
      <p:sp>
        <p:nvSpPr>
          <p:cNvPr id="45" name="Text 43"/>
          <p:cNvSpPr/>
          <p:nvPr/>
        </p:nvSpPr>
        <p:spPr>
          <a:xfrm>
            <a:off x="457200" y="4873752"/>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PCBA accuracy</a:t>
            </a:r>
            <a:endParaRPr lang="en-US" sz="820" dirty="0"/>
          </a:p>
          <a:p>
            <a:pPr algn="l" indent="0" marL="0">
              <a:buNone/>
            </a:pPr>
            <a:r>
              <a:rPr lang="en-US" sz="820" b="1" dirty="0">
                <a:solidFill>
                  <a:srgbClr val="16325C"/>
                </a:solidFill>
                <a:latin typeface="Calibri" pitchFamily="34" charset="0"/>
                <a:ea typeface="Calibri" pitchFamily="34" charset="-122"/>
                <a:cs typeface="Calibri" pitchFamily="34" charset="-120"/>
              </a:rPr>
              <a:t>vs actuals</a:t>
            </a:r>
            <a:endParaRPr lang="en-US" sz="820" dirty="0"/>
          </a:p>
        </p:txBody>
      </p:sp>
      <p:sp>
        <p:nvSpPr>
          <p:cNvPr id="46" name="Text 44"/>
          <p:cNvSpPr/>
          <p:nvPr/>
        </p:nvSpPr>
        <p:spPr>
          <a:xfrm>
            <a:off x="2670048"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Won/lost quote feedback</a:t>
            </a:r>
            <a:endParaRPr lang="en-US" sz="750" dirty="0"/>
          </a:p>
        </p:txBody>
      </p:sp>
      <p:sp>
        <p:nvSpPr>
          <p:cNvPr id="47" name="Text 45"/>
          <p:cNvSpPr/>
          <p:nvPr/>
        </p:nvSpPr>
        <p:spPr>
          <a:xfrm>
            <a:off x="5065776"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Vendor-claimed ROI cases</a:t>
            </a:r>
            <a:endParaRPr lang="en-US" sz="750" dirty="0"/>
          </a:p>
        </p:txBody>
      </p:sp>
      <p:sp>
        <p:nvSpPr>
          <p:cNvPr id="48" name="Text 46"/>
          <p:cNvSpPr/>
          <p:nvPr/>
        </p:nvSpPr>
        <p:spPr>
          <a:xfrm>
            <a:off x="7461504"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reference standard</a:t>
            </a:r>
            <a:endParaRPr lang="en-US" sz="750" dirty="0"/>
          </a:p>
        </p:txBody>
      </p:sp>
      <p:sp>
        <p:nvSpPr>
          <p:cNvPr id="49" name="Text 47"/>
          <p:cNvSpPr/>
          <p:nvPr/>
        </p:nvSpPr>
        <p:spPr>
          <a:xfrm>
            <a:off x="9857232" y="4873752"/>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NOT VALIDATED — no PCBA</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actuals recorded yet</a:t>
            </a:r>
            <a:endParaRPr lang="en-US" sz="750" dirty="0"/>
          </a:p>
        </p:txBody>
      </p:sp>
      <p:sp>
        <p:nvSpPr>
          <p:cNvPr id="50" name="Text 48"/>
          <p:cNvSpPr/>
          <p:nvPr/>
        </p:nvSpPr>
        <p:spPr>
          <a:xfrm>
            <a:off x="457200" y="5358384"/>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Maturity</a:t>
            </a:r>
            <a:endParaRPr lang="en-US" sz="820" dirty="0"/>
          </a:p>
        </p:txBody>
      </p:sp>
      <p:sp>
        <p:nvSpPr>
          <p:cNvPr id="51" name="Text 49"/>
          <p:cNvSpPr/>
          <p:nvPr/>
        </p:nvSpPr>
        <p:spPr>
          <a:xfrm>
            <a:off x="2670048"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300+ EMS customers claimed</a:t>
            </a:r>
            <a:endParaRPr lang="en-US" sz="750" dirty="0"/>
          </a:p>
        </p:txBody>
      </p:sp>
      <p:sp>
        <p:nvSpPr>
          <p:cNvPr id="52" name="Text 50"/>
          <p:cNvSpPr/>
          <p:nvPr/>
        </p:nvSpPr>
        <p:spPr>
          <a:xfrm>
            <a:off x="5065776"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Decades, thousands of seats</a:t>
            </a:r>
            <a:endParaRPr lang="en-US" sz="750" dirty="0"/>
          </a:p>
        </p:txBody>
      </p:sp>
      <p:sp>
        <p:nvSpPr>
          <p:cNvPr id="53" name="Text 51"/>
          <p:cNvSpPr/>
          <p:nvPr/>
        </p:nvSpPr>
        <p:spPr>
          <a:xfrm>
            <a:off x="7461504"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250+ automotive teardowns</a:t>
            </a:r>
            <a:endParaRPr lang="en-US" sz="750" dirty="0"/>
          </a:p>
        </p:txBody>
      </p:sp>
      <p:sp>
        <p:nvSpPr>
          <p:cNvPr id="54" name="Text 52"/>
          <p:cNvSpPr/>
          <p:nvPr/>
        </p:nvSpPr>
        <p:spPr>
          <a:xfrm>
            <a:off x="9857232" y="5358384"/>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One board, internally</a:t>
            </a:r>
            <a:endParaRPr lang="en-US" sz="750" dirty="0"/>
          </a:p>
        </p:txBody>
      </p:sp>
      <p:sp>
        <p:nvSpPr>
          <p:cNvPr id="55" name="Shape 53"/>
          <p:cNvSpPr/>
          <p:nvPr/>
        </p:nvSpPr>
        <p:spPr>
          <a:xfrm>
            <a:off x="457200" y="5888736"/>
            <a:ext cx="11274552" cy="603504"/>
          </a:xfrm>
          <a:prstGeom prst="roundRect">
            <a:avLst>
              <a:gd name="adj" fmla="val 12121"/>
            </a:avLst>
          </a:prstGeom>
          <a:solidFill>
            <a:srgbClr val="F9E8E5"/>
          </a:solidFill>
          <a:ln w="15240">
            <a:solidFill>
              <a:srgbClr val="B03A2E"/>
            </a:solidFill>
            <a:prstDash val="solid"/>
          </a:ln>
        </p:spPr>
      </p:sp>
      <p:sp>
        <p:nvSpPr>
          <p:cNvPr id="56" name="Text 54"/>
          <p:cNvSpPr/>
          <p:nvPr/>
        </p:nvSpPr>
        <p:spPr>
          <a:xfrm>
            <a:off x="621792" y="5888736"/>
            <a:ext cx="10972800" cy="603504"/>
          </a:xfrm>
          <a:prstGeom prst="rect">
            <a:avLst/>
          </a:prstGeom>
          <a:noFill/>
          <a:ln/>
        </p:spPr>
        <p:txBody>
          <a:bodyPr wrap="square" lIns="0" tIns="0" rIns="0" bIns="0" rtlCol="0" anchor="ctr"/>
          <a:lstStyle/>
          <a:p>
            <a:pPr indent="0" marL="0">
              <a:buNone/>
            </a:pPr>
            <a:r>
              <a:rPr lang="en-US" sz="940" b="1" dirty="0">
                <a:solidFill>
                  <a:srgbClr val="B03A2E"/>
                </a:solidFill>
                <a:latin typeface="Calibri" pitchFamily="34" charset="0"/>
                <a:ea typeface="Calibri" pitchFamily="34" charset="-122"/>
                <a:cs typeface="Calibri" pitchFamily="34" charset="-120"/>
              </a:rPr>
              <a:t>Read the two red rows first.  </a:t>
            </a:r>
            <a:pPr indent="0" marL="0">
              <a:buNone/>
            </a:pPr>
            <a:r>
              <a:rPr lang="en-US" sz="940" dirty="0">
                <a:solidFill>
                  <a:srgbClr val="3A4356"/>
                </a:solidFill>
                <a:latin typeface="Calibri" pitchFamily="34" charset="0"/>
                <a:ea typeface="Calibri" pitchFamily="34" charset="-122"/>
                <a:cs typeface="Calibri" pitchFamily="34" charset="-120"/>
              </a:rPr>
              <a:t>We have never checked a PCBA estimate against a real invoice — the 13% fleet error we quote is mechanical parts only, and does not transfer. And the brake-ECU study rested on a fitted price curve with 18% of the BOM inferred and roughly £20 of Bosch captive silicon that has no market price at all. Both are fixable. Neither is fixed.</a:t>
            </a:r>
            <a:endParaRPr lang="en-US" sz="940" dirty="0"/>
          </a:p>
        </p:txBody>
      </p:sp>
      <p:sp>
        <p:nvSpPr>
          <p:cNvPr id="57"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58"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Gap — and the One Thing That Closes It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What we can defend today, what we cannot, and the smallest change that moves us from “defensible estimate” to “priced”</a:t>
            </a:r>
            <a:endParaRPr lang="en-US" sz="1200" dirty="0"/>
          </a:p>
        </p:txBody>
      </p:sp>
      <p:sp>
        <p:nvSpPr>
          <p:cNvPr id="5" name="Shape 3"/>
          <p:cNvSpPr/>
          <p:nvPr/>
        </p:nvSpPr>
        <p:spPr>
          <a:xfrm>
            <a:off x="457200" y="1133856"/>
            <a:ext cx="5532120" cy="2084832"/>
          </a:xfrm>
          <a:prstGeom prst="roundRect">
            <a:avLst>
              <a:gd name="adj" fmla="val 3947"/>
            </a:avLst>
          </a:prstGeom>
          <a:solidFill>
            <a:srgbClr val="FFFFFF"/>
          </a:solidFill>
          <a:ln w="17780">
            <a:solidFill>
              <a:srgbClr val="2A7F50"/>
            </a:solidFill>
            <a:prstDash val="solid"/>
          </a:ln>
        </p:spPr>
      </p:sp>
      <p:sp>
        <p:nvSpPr>
          <p:cNvPr id="6" name="Shape 4"/>
          <p:cNvSpPr/>
          <p:nvPr/>
        </p:nvSpPr>
        <p:spPr>
          <a:xfrm>
            <a:off x="457200" y="1133856"/>
            <a:ext cx="5532120" cy="310896"/>
          </a:xfrm>
          <a:prstGeom prst="rect">
            <a:avLst/>
          </a:prstGeom>
          <a:solidFill>
            <a:srgbClr val="2A7F50"/>
          </a:solidFill>
          <a:ln/>
        </p:spPr>
      </p:sp>
      <p:sp>
        <p:nvSpPr>
          <p:cNvPr id="7" name="Text 5"/>
          <p:cNvSpPr/>
          <p:nvPr/>
        </p:nvSpPr>
        <p:spPr>
          <a:xfrm>
            <a:off x="585216"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ACTUALLY OURS</a:t>
            </a:r>
            <a:endParaRPr lang="en-US" sz="920" dirty="0"/>
          </a:p>
        </p:txBody>
      </p:sp>
      <p:sp>
        <p:nvSpPr>
          <p:cNvPr id="8" name="Text 6"/>
          <p:cNvSpPr/>
          <p:nvPr/>
        </p:nvSpPr>
        <p:spPr>
          <a:xfrm>
            <a:off x="621792" y="1517904"/>
            <a:ext cx="5202936" cy="1627632"/>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Photograph → BOM → deterministic should-cost, in one pass.
</a:t>
            </a:r>
            <a:pPr indent="0" marL="0">
              <a:buNone/>
            </a:pPr>
            <a:r>
              <a:rPr lang="en-US" sz="900" dirty="0">
                <a:solidFill>
                  <a:srgbClr val="3A4356"/>
                </a:solidFill>
                <a:latin typeface="Calibri" pitchFamily="34" charset="0"/>
                <a:ea typeface="Calibri" pitchFamily="34" charset="-122"/>
                <a:cs typeface="Calibri" pitchFamily="34" charset="-120"/>
              </a:rPr>
              <a:t>Each half exists elsewhere. PCB Tracer reads a board photo into a BOM for free. aPriori costs a PCBA properly from a BOM. </a:t>
            </a:r>
            <a:pPr indent="0" marL="0">
              <a:buNone/>
            </a:pPr>
            <a:r>
              <a:rPr lang="en-US" sz="900" b="1" dirty="0">
                <a:solidFill>
                  <a:srgbClr val="2A7F50"/>
                </a:solidFill>
                <a:latin typeface="Calibri" pitchFamily="34" charset="0"/>
                <a:ea typeface="Calibri" pitchFamily="34" charset="-122"/>
                <a:cs typeface="Calibri" pitchFamily="34" charset="-120"/>
              </a:rPr>
              <a:t>Nobody joins them</a:t>
            </a:r>
            <a:pPr indent="0" marL="0">
              <a:buNone/>
            </a:pPr>
            <a:r>
              <a:rPr lang="en-US" sz="900" dirty="0">
                <a:solidFill>
                  <a:srgbClr val="3A4356"/>
                </a:solidFill>
                <a:latin typeface="Calibri" pitchFamily="34" charset="0"/>
                <a:ea typeface="Calibri" pitchFamily="34" charset="-122"/>
                <a:cs typeface="Calibri" pitchFamily="34" charset="-120"/>
              </a:rPr>
              <a:t> — and the join is what lets a buyer cost a competitor’s board, or their own board when the supplier will not open the BOM.
</a:t>
            </a:r>
            <a:pPr indent="0" marL="0">
              <a:buNone/>
            </a:pPr>
            <a:r>
              <a:rPr lang="en-US" sz="900" dirty="0">
                <a:solidFill>
                  <a:srgbClr val="3A4356"/>
                </a:solidFill>
                <a:latin typeface="Calibri" pitchFamily="34" charset="0"/>
                <a:ea typeface="Calibri" pitchFamily="34" charset="-122"/>
                <a:cs typeface="Calibri" pitchFamily="34" charset="-120"/>
              </a:rPr>
              <a:t>Plus: air-gapped operation, per-line evidence tags, and the same eight-bucket engine as every other commodity — so a PCBA sits in the same portfolio as a casting.</a:t>
            </a:r>
            <a:endParaRPr lang="en-US" sz="900" dirty="0"/>
          </a:p>
        </p:txBody>
      </p:sp>
      <p:sp>
        <p:nvSpPr>
          <p:cNvPr id="9" name="Shape 7"/>
          <p:cNvSpPr/>
          <p:nvPr/>
        </p:nvSpPr>
        <p:spPr>
          <a:xfrm>
            <a:off x="6199632" y="1133856"/>
            <a:ext cx="5532120" cy="2084832"/>
          </a:xfrm>
          <a:prstGeom prst="roundRect">
            <a:avLst>
              <a:gd name="adj" fmla="val 3947"/>
            </a:avLst>
          </a:prstGeom>
          <a:solidFill>
            <a:srgbClr val="FFFFFF"/>
          </a:solidFill>
          <a:ln w="17780">
            <a:solidFill>
              <a:srgbClr val="B03A2E"/>
            </a:solidFill>
            <a:prstDash val="solid"/>
          </a:ln>
        </p:spPr>
      </p:sp>
      <p:sp>
        <p:nvSpPr>
          <p:cNvPr id="10" name="Shape 8"/>
          <p:cNvSpPr/>
          <p:nvPr/>
        </p:nvSpPr>
        <p:spPr>
          <a:xfrm>
            <a:off x="6199632" y="1133856"/>
            <a:ext cx="5532120" cy="310896"/>
          </a:xfrm>
          <a:prstGeom prst="rect">
            <a:avLst/>
          </a:prstGeom>
          <a:solidFill>
            <a:srgbClr val="B03A2E"/>
          </a:solidFill>
          <a:ln/>
        </p:spPr>
      </p:sp>
      <p:sp>
        <p:nvSpPr>
          <p:cNvPr id="11" name="Text 9"/>
          <p:cNvSpPr/>
          <p:nvPr/>
        </p:nvSpPr>
        <p:spPr>
          <a:xfrm>
            <a:off x="6327648"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NOT — SAY IT FIRST</a:t>
            </a:r>
            <a:endParaRPr lang="en-US" sz="920" dirty="0"/>
          </a:p>
        </p:txBody>
      </p:sp>
      <p:sp>
        <p:nvSpPr>
          <p:cNvPr id="12" name="Text 10"/>
          <p:cNvSpPr/>
          <p:nvPr/>
        </p:nvSpPr>
        <p:spPr>
          <a:xfrm>
            <a:off x="6364224" y="1517904"/>
            <a:ext cx="5202936" cy="1627632"/>
          </a:xfrm>
          <a:prstGeom prst="rect">
            <a:avLst/>
          </a:prstGeom>
          <a:noFill/>
          <a:ln/>
        </p:spPr>
        <p:txBody>
          <a:bodyPr wrap="square" lIns="0" tIns="0" rIns="0" bIns="0" rtlCol="0" anchor="t"/>
          <a:lstStyle/>
          <a:p>
            <a:pPr indent="0" marL="0">
              <a:buNone/>
            </a:pPr>
            <a:r>
              <a:rPr lang="en-US" sz="900" b="1" dirty="0">
                <a:solidFill>
                  <a:srgbClr val="B03A2E"/>
                </a:solidFill>
                <a:latin typeface="Calibri" pitchFamily="34" charset="0"/>
                <a:ea typeface="Calibri" pitchFamily="34" charset="-122"/>
                <a:cs typeface="Calibri" pitchFamily="34" charset="-120"/>
              </a:rPr>
              <a:t>1 · No validated PCBA accuracy. </a:t>
            </a:r>
            <a:pPr indent="0" marL="0">
              <a:buNone/>
            </a:pPr>
            <a:r>
              <a:rPr lang="en-US" sz="900" dirty="0">
                <a:solidFill>
                  <a:srgbClr val="3A4356"/>
                </a:solidFill>
                <a:latin typeface="Calibri" pitchFamily="34" charset="0"/>
                <a:ea typeface="Calibri" pitchFamily="34" charset="-122"/>
                <a:cs typeface="Calibri" pitchFamily="34" charset="-120"/>
              </a:rPr>
              <a:t>Zero boards checked against an invoice.
</a:t>
            </a:r>
            <a:pPr indent="0" marL="0">
              <a:buNone/>
            </a:pPr>
            <a:r>
              <a:rPr lang="en-US" sz="900" b="1" dirty="0">
                <a:solidFill>
                  <a:srgbClr val="B03A2E"/>
                </a:solidFill>
                <a:latin typeface="Calibri" pitchFamily="34" charset="0"/>
                <a:ea typeface="Calibri" pitchFamily="34" charset="-122"/>
                <a:cs typeface="Calibri" pitchFamily="34" charset="-120"/>
              </a:rPr>
              <a:t>2 · Live pricing is off. </a:t>
            </a:r>
            <a:pPr indent="0" marL="0">
              <a:buNone/>
            </a:pPr>
            <a:r>
              <a:rPr lang="en-US" sz="900" dirty="0">
                <a:solidFill>
                  <a:srgbClr val="3A4356"/>
                </a:solidFill>
                <a:latin typeface="Calibri" pitchFamily="34" charset="0"/>
                <a:ea typeface="Calibri" pitchFamily="34" charset="-122"/>
                <a:cs typeface="Calibri" pitchFamily="34" charset="-120"/>
              </a:rPr>
              <a:t>Built and wired; no API key, so the offline catalogue prices every line.
</a:t>
            </a:r>
            <a:pPr indent="0" marL="0">
              <a:buNone/>
            </a:pPr>
            <a:r>
              <a:rPr lang="en-US" sz="900" b="1" dirty="0">
                <a:solidFill>
                  <a:srgbClr val="B03A2E"/>
                </a:solidFill>
                <a:latin typeface="Calibri" pitchFamily="34" charset="0"/>
                <a:ea typeface="Calibri" pitchFamily="34" charset="-122"/>
                <a:cs typeface="Calibri" pitchFamily="34" charset="-120"/>
              </a:rPr>
              <a:t>3 · Captive silicon is unpriceable. </a:t>
            </a:r>
            <a:pPr indent="0" marL="0">
              <a:buNone/>
            </a:pPr>
            <a:r>
              <a:rPr lang="en-US" sz="900" dirty="0">
                <a:solidFill>
                  <a:srgbClr val="3A4356"/>
                </a:solidFill>
                <a:latin typeface="Calibri" pitchFamily="34" charset="0"/>
                <a:ea typeface="Calibri" pitchFamily="34" charset="-122"/>
                <a:cs typeface="Calibri" pitchFamily="34" charset="-120"/>
              </a:rPr>
              <a:t>On the brake ECU, ~£20 of Bosch in-house parts have no market price — no feed fixes that.
</a:t>
            </a:r>
            <a:pPr indent="0" marL="0">
              <a:buNone/>
            </a:pPr>
            <a:r>
              <a:rPr lang="en-US" sz="900" b="1" dirty="0">
                <a:solidFill>
                  <a:srgbClr val="B03A2E"/>
                </a:solidFill>
                <a:latin typeface="Calibri" pitchFamily="34" charset="0"/>
                <a:ea typeface="Calibri" pitchFamily="34" charset="-122"/>
                <a:cs typeface="Calibri" pitchFamily="34" charset="-120"/>
              </a:rPr>
              <a:t>4 · Placement rate unvalidated. </a:t>
            </a:r>
            <a:pPr indent="0" marL="0">
              <a:buNone/>
            </a:pPr>
            <a:r>
              <a:rPr lang="en-US" sz="900" dirty="0">
                <a:solidFill>
                  <a:srgbClr val="3A4356"/>
                </a:solidFill>
                <a:latin typeface="Calibri" pitchFamily="34" charset="0"/>
                <a:ea typeface="Calibri" pitchFamily="34" charset="-122"/>
                <a:cs typeface="Calibri" pitchFamily="34" charset="-120"/>
              </a:rPr>
              <a:t>The library CPH drives £14.21 of process cost; at 2–3× it becomes £4.74–£7.10. Worth more than the whole 200k→350k volume step.</a:t>
            </a:r>
            <a:endParaRPr lang="en-US" sz="900" dirty="0"/>
          </a:p>
        </p:txBody>
      </p:sp>
      <p:sp>
        <p:nvSpPr>
          <p:cNvPr id="13" name="Shape 11"/>
          <p:cNvSpPr/>
          <p:nvPr/>
        </p:nvSpPr>
        <p:spPr>
          <a:xfrm>
            <a:off x="457200" y="3364992"/>
            <a:ext cx="3602736" cy="2048256"/>
          </a:xfrm>
          <a:prstGeom prst="roundRect">
            <a:avLst>
              <a:gd name="adj" fmla="val 4018"/>
            </a:avLst>
          </a:prstGeom>
          <a:solidFill>
            <a:srgbClr val="FFFFFF"/>
          </a:solidFill>
          <a:ln w="15875">
            <a:solidFill>
              <a:srgbClr val="1D6FB8"/>
            </a:solidFill>
            <a:prstDash val="solid"/>
          </a:ln>
        </p:spPr>
      </p:sp>
      <p:sp>
        <p:nvSpPr>
          <p:cNvPr id="14" name="Shape 12"/>
          <p:cNvSpPr/>
          <p:nvPr/>
        </p:nvSpPr>
        <p:spPr>
          <a:xfrm>
            <a:off x="457200" y="3364992"/>
            <a:ext cx="54864" cy="2048256"/>
          </a:xfrm>
          <a:prstGeom prst="rect">
            <a:avLst/>
          </a:prstGeom>
          <a:solidFill>
            <a:srgbClr val="1D6FB8"/>
          </a:solidFill>
          <a:ln/>
        </p:spPr>
      </p:sp>
      <p:sp>
        <p:nvSpPr>
          <p:cNvPr id="15" name="Text 13"/>
          <p:cNvSpPr/>
          <p:nvPr/>
        </p:nvSpPr>
        <p:spPr>
          <a:xfrm>
            <a:off x="621792" y="3438144"/>
            <a:ext cx="3310128" cy="237744"/>
          </a:xfrm>
          <a:prstGeom prst="rect">
            <a:avLst/>
          </a:prstGeom>
          <a:noFill/>
          <a:ln/>
        </p:spPr>
        <p:txBody>
          <a:bodyPr wrap="square" lIns="0" tIns="0" rIns="0" bIns="0" rtlCol="0" anchor="ctr"/>
          <a:lstStyle/>
          <a:p>
            <a:pPr indent="0" marL="0">
              <a:buNone/>
            </a:pPr>
            <a:r>
              <a:rPr lang="en-US" sz="840" b="1" spc="40" kern="0" dirty="0">
                <a:solidFill>
                  <a:srgbClr val="1D6FB8"/>
                </a:solidFill>
                <a:latin typeface="Calibri" pitchFamily="34" charset="0"/>
                <a:ea typeface="Calibri" pitchFamily="34" charset="-122"/>
                <a:cs typeface="Calibri" pitchFamily="34" charset="-120"/>
              </a:rPr>
              <a:t>1 · TURN THE PRICE FEED ON</a:t>
            </a:r>
            <a:endParaRPr lang="en-US" sz="840" dirty="0"/>
          </a:p>
        </p:txBody>
      </p:sp>
      <p:sp>
        <p:nvSpPr>
          <p:cNvPr id="16" name="Text 14"/>
          <p:cNvSpPr/>
          <p:nvPr/>
        </p:nvSpPr>
        <p:spPr>
          <a:xfrm>
            <a:off x="621792"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 Nexar (Octopart) or RS API key. The integration already exists in server/utils/pcb-live-pricing.ts and already grounds the BOM before totals — it is key-gated and unset.</a:t>
            </a:r>
            <a:endParaRPr lang="en-US" sz="820" dirty="0"/>
          </a:p>
        </p:txBody>
      </p:sp>
      <p:sp>
        <p:nvSpPr>
          <p:cNvPr id="17" name="Shape 15"/>
          <p:cNvSpPr/>
          <p:nvPr/>
        </p:nvSpPr>
        <p:spPr>
          <a:xfrm>
            <a:off x="621792" y="4791456"/>
            <a:ext cx="3310128" cy="548640"/>
          </a:xfrm>
          <a:prstGeom prst="roundRect">
            <a:avLst>
              <a:gd name="adj" fmla="val 10000"/>
            </a:avLst>
          </a:prstGeom>
          <a:solidFill>
            <a:srgbClr val="E8F1FA"/>
          </a:solidFill>
          <a:ln/>
        </p:spPr>
      </p:sp>
      <p:sp>
        <p:nvSpPr>
          <p:cNvPr id="18" name="Text 16"/>
          <p:cNvSpPr/>
          <p:nvPr/>
        </p:nvSpPr>
        <p:spPr>
          <a:xfrm>
            <a:off x="713232" y="4791456"/>
            <a:ext cx="3127248" cy="548640"/>
          </a:xfrm>
          <a:prstGeom prst="rect">
            <a:avLst/>
          </a:prstGeom>
          <a:noFill/>
          <a:ln/>
        </p:spPr>
        <p:txBody>
          <a:bodyPr wrap="square" lIns="0" tIns="0" rIns="0" bIns="0" rtlCol="0" anchor="ctr"/>
          <a:lstStyle/>
          <a:p>
            <a:pPr indent="0" marL="0">
              <a:buNone/>
            </a:pPr>
            <a:r>
              <a:rPr lang="en-US" sz="750" i="1" dirty="0">
                <a:solidFill>
                  <a:srgbClr val="1D6FB8"/>
                </a:solidFill>
                <a:latin typeface="Calibri" pitchFamily="34" charset="0"/>
                <a:ea typeface="Calibri" pitchFamily="34" charset="-122"/>
                <a:cs typeface="Calibri" pitchFamily="34" charset="-120"/>
              </a:rPr>
              <a:t>Also lift the 20-part grounding cap: the ECU BOM has 20 lines, so it is already at the limit.</a:t>
            </a:r>
            <a:endParaRPr lang="en-US" sz="750" dirty="0"/>
          </a:p>
        </p:txBody>
      </p:sp>
      <p:sp>
        <p:nvSpPr>
          <p:cNvPr id="19" name="Shape 17"/>
          <p:cNvSpPr/>
          <p:nvPr/>
        </p:nvSpPr>
        <p:spPr>
          <a:xfrm>
            <a:off x="4288536" y="3364992"/>
            <a:ext cx="3602736" cy="2048256"/>
          </a:xfrm>
          <a:prstGeom prst="roundRect">
            <a:avLst>
              <a:gd name="adj" fmla="val 4018"/>
            </a:avLst>
          </a:prstGeom>
          <a:solidFill>
            <a:srgbClr val="FFFFFF"/>
          </a:solidFill>
          <a:ln w="15875">
            <a:solidFill>
              <a:srgbClr val="2A7F50"/>
            </a:solidFill>
            <a:prstDash val="solid"/>
          </a:ln>
        </p:spPr>
      </p:sp>
      <p:sp>
        <p:nvSpPr>
          <p:cNvPr id="20" name="Shape 18"/>
          <p:cNvSpPr/>
          <p:nvPr/>
        </p:nvSpPr>
        <p:spPr>
          <a:xfrm>
            <a:off x="4288536" y="3364992"/>
            <a:ext cx="54864" cy="2048256"/>
          </a:xfrm>
          <a:prstGeom prst="rect">
            <a:avLst/>
          </a:prstGeom>
          <a:solidFill>
            <a:srgbClr val="2A7F50"/>
          </a:solidFill>
          <a:ln/>
        </p:spPr>
      </p:sp>
      <p:sp>
        <p:nvSpPr>
          <p:cNvPr id="21" name="Text 19"/>
          <p:cNvSpPr/>
          <p:nvPr/>
        </p:nvSpPr>
        <p:spPr>
          <a:xfrm>
            <a:off x="4453128" y="3438144"/>
            <a:ext cx="3310128" cy="237744"/>
          </a:xfrm>
          <a:prstGeom prst="rect">
            <a:avLst/>
          </a:prstGeom>
          <a:noFill/>
          <a:ln/>
        </p:spPr>
        <p:txBody>
          <a:bodyPr wrap="square" lIns="0" tIns="0" rIns="0" bIns="0" rtlCol="0" anchor="ctr"/>
          <a:lstStyle/>
          <a:p>
            <a:pPr indent="0" marL="0">
              <a:buNone/>
            </a:pPr>
            <a:r>
              <a:rPr lang="en-US" sz="840" b="1" spc="40" kern="0" dirty="0">
                <a:solidFill>
                  <a:srgbClr val="2A7F50"/>
                </a:solidFill>
                <a:latin typeface="Calibri" pitchFamily="34" charset="0"/>
                <a:ea typeface="Calibri" pitchFamily="34" charset="-122"/>
                <a:cs typeface="Calibri" pitchFamily="34" charset="-120"/>
              </a:rPr>
              <a:t>2 · VALIDATE ON A KNOWN BOARD</a:t>
            </a:r>
            <a:endParaRPr lang="en-US" sz="840" dirty="0"/>
          </a:p>
        </p:txBody>
      </p:sp>
      <p:sp>
        <p:nvSpPr>
          <p:cNvPr id="22" name="Text 20"/>
          <p:cNvSpPr/>
          <p:nvPr/>
        </p:nvSpPr>
        <p:spPr>
          <a:xfrm>
            <a:off x="4453128"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Cost one board we already hold a purchase-order price for, and record the actual. That converts the red "not validated" row into a number.</a:t>
            </a:r>
            <a:endParaRPr lang="en-US" sz="820" dirty="0"/>
          </a:p>
        </p:txBody>
      </p:sp>
      <p:sp>
        <p:nvSpPr>
          <p:cNvPr id="23" name="Shape 21"/>
          <p:cNvSpPr/>
          <p:nvPr/>
        </p:nvSpPr>
        <p:spPr>
          <a:xfrm>
            <a:off x="4453128" y="4791456"/>
            <a:ext cx="3310128" cy="548640"/>
          </a:xfrm>
          <a:prstGeom prst="roundRect">
            <a:avLst>
              <a:gd name="adj" fmla="val 10000"/>
            </a:avLst>
          </a:prstGeom>
          <a:solidFill>
            <a:srgbClr val="EAF6EF"/>
          </a:solidFill>
          <a:ln/>
        </p:spPr>
      </p:sp>
      <p:sp>
        <p:nvSpPr>
          <p:cNvPr id="24" name="Text 22"/>
          <p:cNvSpPr/>
          <p:nvPr/>
        </p:nvSpPr>
        <p:spPr>
          <a:xfrm>
            <a:off x="4544568" y="4791456"/>
            <a:ext cx="3127248" cy="548640"/>
          </a:xfrm>
          <a:prstGeom prst="rect">
            <a:avLst/>
          </a:prstGeom>
          <a:noFill/>
          <a:ln/>
        </p:spPr>
        <p:txBody>
          <a:bodyPr wrap="square" lIns="0" tIns="0" rIns="0" bIns="0" rtlCol="0" anchor="ctr"/>
          <a:lstStyle/>
          <a:p>
            <a:pPr indent="0" marL="0">
              <a:buNone/>
            </a:pPr>
            <a:r>
              <a:rPr lang="en-US" sz="750" i="1" dirty="0">
                <a:solidFill>
                  <a:srgbClr val="2A7F50"/>
                </a:solidFill>
                <a:latin typeface="Calibri" pitchFamily="34" charset="0"/>
                <a:ea typeface="Calibri" pitchFamily="34" charset="-122"/>
                <a:cs typeface="Calibri" pitchFamily="34" charset="-120"/>
              </a:rPr>
              <a:t>The calibration and drift machinery to learn from it is already built — it has never been fed a PCBA.</a:t>
            </a:r>
            <a:endParaRPr lang="en-US" sz="750" dirty="0"/>
          </a:p>
        </p:txBody>
      </p:sp>
      <p:sp>
        <p:nvSpPr>
          <p:cNvPr id="25" name="Shape 23"/>
          <p:cNvSpPr/>
          <p:nvPr/>
        </p:nvSpPr>
        <p:spPr>
          <a:xfrm>
            <a:off x="8119872" y="3364992"/>
            <a:ext cx="3602736" cy="2048256"/>
          </a:xfrm>
          <a:prstGeom prst="roundRect">
            <a:avLst>
              <a:gd name="adj" fmla="val 4018"/>
            </a:avLst>
          </a:prstGeom>
          <a:solidFill>
            <a:srgbClr val="FFFFFF"/>
          </a:solidFill>
          <a:ln w="15875">
            <a:solidFill>
              <a:srgbClr val="99651A"/>
            </a:solidFill>
            <a:prstDash val="solid"/>
          </a:ln>
        </p:spPr>
      </p:sp>
      <p:sp>
        <p:nvSpPr>
          <p:cNvPr id="26" name="Shape 24"/>
          <p:cNvSpPr/>
          <p:nvPr/>
        </p:nvSpPr>
        <p:spPr>
          <a:xfrm>
            <a:off x="8119872" y="3364992"/>
            <a:ext cx="54864" cy="2048256"/>
          </a:xfrm>
          <a:prstGeom prst="rect">
            <a:avLst/>
          </a:prstGeom>
          <a:solidFill>
            <a:srgbClr val="99651A"/>
          </a:solidFill>
          <a:ln/>
        </p:spPr>
      </p:sp>
      <p:sp>
        <p:nvSpPr>
          <p:cNvPr id="27" name="Text 25"/>
          <p:cNvSpPr/>
          <p:nvPr/>
        </p:nvSpPr>
        <p:spPr>
          <a:xfrm>
            <a:off x="8284464" y="3438144"/>
            <a:ext cx="3310128" cy="237744"/>
          </a:xfrm>
          <a:prstGeom prst="rect">
            <a:avLst/>
          </a:prstGeom>
          <a:noFill/>
          <a:ln/>
        </p:spPr>
        <p:txBody>
          <a:bodyPr wrap="square" lIns="0" tIns="0" rIns="0" bIns="0" rtlCol="0" anchor="ctr"/>
          <a:lstStyle/>
          <a:p>
            <a:pPr indent="0" marL="0">
              <a:buNone/>
            </a:pPr>
            <a:r>
              <a:rPr lang="en-US" sz="840" b="1" spc="40" kern="0" dirty="0">
                <a:solidFill>
                  <a:srgbClr val="99651A"/>
                </a:solidFill>
                <a:latin typeface="Calibri" pitchFamily="34" charset="0"/>
                <a:ea typeface="Calibri" pitchFamily="34" charset="-122"/>
                <a:cs typeface="Calibri" pitchFamily="34" charset="-120"/>
              </a:rPr>
              <a:t>3 · CHALLENGE THE PLACEMENT RATE</a:t>
            </a:r>
            <a:endParaRPr lang="en-US" sz="840" dirty="0"/>
          </a:p>
        </p:txBody>
      </p:sp>
      <p:sp>
        <p:nvSpPr>
          <p:cNvPr id="28" name="Text 26"/>
          <p:cNvSpPr/>
          <p:nvPr/>
        </p:nvSpPr>
        <p:spPr>
          <a:xfrm>
            <a:off x="8284464"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Ask one EMS supplier for a real CPH on a comparable board and reconcile it against CPH_BY_TYPE.</a:t>
            </a:r>
            <a:endParaRPr lang="en-US" sz="820" dirty="0"/>
          </a:p>
        </p:txBody>
      </p:sp>
      <p:sp>
        <p:nvSpPr>
          <p:cNvPr id="29" name="Shape 27"/>
          <p:cNvSpPr/>
          <p:nvPr/>
        </p:nvSpPr>
        <p:spPr>
          <a:xfrm>
            <a:off x="8284464" y="4791456"/>
            <a:ext cx="3310128" cy="548640"/>
          </a:xfrm>
          <a:prstGeom prst="roundRect">
            <a:avLst>
              <a:gd name="adj" fmla="val 10000"/>
            </a:avLst>
          </a:prstGeom>
          <a:solidFill>
            <a:srgbClr val="FCF3E3"/>
          </a:solidFill>
          <a:ln/>
        </p:spPr>
      </p:sp>
      <p:sp>
        <p:nvSpPr>
          <p:cNvPr id="30" name="Text 28"/>
          <p:cNvSpPr/>
          <p:nvPr/>
        </p:nvSpPr>
        <p:spPr>
          <a:xfrm>
            <a:off x="8375904" y="4791456"/>
            <a:ext cx="3127248" cy="548640"/>
          </a:xfrm>
          <a:prstGeom prst="rect">
            <a:avLst/>
          </a:prstGeom>
          <a:noFill/>
          <a:ln/>
        </p:spPr>
        <p:txBody>
          <a:bodyPr wrap="square" lIns="0" tIns="0" rIns="0" bIns="0" rtlCol="0" anchor="ctr"/>
          <a:lstStyle/>
          <a:p>
            <a:pPr indent="0" marL="0">
              <a:buNone/>
            </a:pPr>
            <a:r>
              <a:rPr lang="en-US" sz="750" i="1" dirty="0">
                <a:solidFill>
                  <a:srgbClr val="99651A"/>
                </a:solidFill>
                <a:latin typeface="Calibri" pitchFamily="34" charset="0"/>
                <a:ea typeface="Calibri" pitchFamily="34" charset="-122"/>
                <a:cs typeface="Calibri" pitchFamily="34" charset="-120"/>
              </a:rPr>
              <a:t>One conversation. Larger effect on the answer than any volume or region change we have modelled.</a:t>
            </a:r>
            <a:endParaRPr lang="en-US" sz="750" dirty="0"/>
          </a:p>
        </p:txBody>
      </p:sp>
      <p:sp>
        <p:nvSpPr>
          <p:cNvPr id="31" name="Shape 29"/>
          <p:cNvSpPr/>
          <p:nvPr/>
        </p:nvSpPr>
        <p:spPr>
          <a:xfrm>
            <a:off x="457200" y="5541264"/>
            <a:ext cx="11274552" cy="822960"/>
          </a:xfrm>
          <a:prstGeom prst="roundRect">
            <a:avLst>
              <a:gd name="adj" fmla="val 8889"/>
            </a:avLst>
          </a:prstGeom>
          <a:solidFill>
            <a:srgbClr val="EAF6EF"/>
          </a:solidFill>
          <a:ln w="15240">
            <a:solidFill>
              <a:srgbClr val="2A7F50"/>
            </a:solidFill>
            <a:prstDash val="solid"/>
          </a:ln>
        </p:spPr>
      </p:sp>
      <p:sp>
        <p:nvSpPr>
          <p:cNvPr id="32" name="Text 30"/>
          <p:cNvSpPr/>
          <p:nvPr/>
        </p:nvSpPr>
        <p:spPr>
          <a:xfrm>
            <a:off x="621792" y="5541264"/>
            <a:ext cx="10972800" cy="82296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The ask:  </a:t>
            </a:r>
            <a:pPr indent="0" marL="0">
              <a:buNone/>
            </a:pPr>
            <a:r>
              <a:rPr lang="en-US" sz="1000" dirty="0">
                <a:solidFill>
                  <a:srgbClr val="3A4356"/>
                </a:solidFill>
                <a:latin typeface="Calibri" pitchFamily="34" charset="0"/>
                <a:ea typeface="Calibri" pitchFamily="34" charset="-122"/>
                <a:cs typeface="Calibri" pitchFamily="34" charset="-120"/>
              </a:rPr>
              <a:t>one distributor API key and one board with a known purchase price. Those two together turn every red cell on the previous slide amber or green, and neither needs a line of new engineering — the integration and the calibration machinery are both already built and tested. Until then the honest headline stays: </a:t>
            </a:r>
            <a:pPr indent="0" marL="0">
              <a:buNone/>
            </a:pPr>
            <a:r>
              <a:rPr lang="en-US" sz="1000" b="1" dirty="0">
                <a:solidFill>
                  <a:srgbClr val="16325C"/>
                </a:solidFill>
                <a:latin typeface="Calibri" pitchFamily="34" charset="0"/>
                <a:ea typeface="Calibri" pitchFamily="34" charset="-122"/>
                <a:cs typeface="Calibri" pitchFamily="34" charset="-120"/>
              </a:rPr>
              <a:t>a defensible, fully traceable estimate — not a priced quotation.</a:t>
            </a:r>
            <a:endParaRPr lang="en-US" sz="100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A7F50"/>
            </a:solidFill>
            <a:prstDash val="solid"/>
          </a:ln>
        </p:spPr>
      </p:sp>
      <p:sp>
        <p:nvSpPr>
          <p:cNvPr id="6" name="Shape 4"/>
          <p:cNvSpPr/>
          <p:nvPr/>
        </p:nvSpPr>
        <p:spPr>
          <a:xfrm>
            <a:off x="603504" y="1152144"/>
            <a:ext cx="310896" cy="310896"/>
          </a:xfrm>
          <a:prstGeom prst="ellipse">
            <a:avLst/>
          </a:prstGeom>
          <a:solidFill>
            <a:srgbClr val="2A7F50"/>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A7F50"/>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Measured: £5.55/part of combined opportunity on the £25.14 reference part — 22% of piece cost. The single biggest action is a £4.53 sourcing lever.</a:t>
            </a:r>
            <a:endParaRPr lang="en-US" sz="75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D7D71"/>
            </a:solidFill>
            <a:prstDash val="solid"/>
          </a:ln>
        </p:spPr>
      </p:sp>
      <p:sp>
        <p:nvSpPr>
          <p:cNvPr id="13" name="Shape 10"/>
          <p:cNvSpPr/>
          <p:nvPr/>
        </p:nvSpPr>
        <p:spPr>
          <a:xfrm>
            <a:off x="4434840" y="1152144"/>
            <a:ext cx="310896" cy="310896"/>
          </a:xfrm>
          <a:prstGeom prst="ellipse">
            <a:avLst/>
          </a:prstGeom>
          <a:solidFill>
            <a:srgbClr val="0D7D71"/>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D7D71"/>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5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5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50" dirty="0">
                <a:solidFill>
                  <a:srgbClr val="686F7D"/>
                </a:solidFill>
                <a:latin typeface="Calibri" pitchFamily="34" charset="0"/>
                <a:ea typeface="Calibri" pitchFamily="34" charset="-122"/>
                <a:cs typeface="Calibri" pitchFamily="34" charset="-120"/>
              </a:rPr>
              <a:t>annual purchased value of the</a:t>
            </a:r>
            <a:endParaRPr lang="en-US" sz="750" dirty="0"/>
          </a:p>
          <a:p>
            <a:pPr indent="0" marL="0">
              <a:buNone/>
            </a:pPr>
            <a:r>
              <a:rPr lang="en-US" sz="750" dirty="0">
                <a:solidFill>
                  <a:srgbClr val="686F7D"/>
                </a:solidFill>
                <a:latin typeface="Calibri" pitchFamily="34" charset="0"/>
                <a:ea typeface="Calibri" pitchFamily="34" charset="-122"/>
                <a:cs typeface="Calibri" pitchFamily="34" charset="-120"/>
              </a:rPr>
              <a:t>parts we put through it</a:t>
            </a:r>
            <a:endParaRPr lang="en-US" sz="75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86F7D"/>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50" dirty="0">
                <a:solidFill>
                  <a:srgbClr val="686F7D"/>
                </a:solidFill>
                <a:latin typeface="Calibri" pitchFamily="34" charset="0"/>
                <a:ea typeface="Calibri" pitchFamily="34" charset="-122"/>
                <a:cs typeface="Calibri" pitchFamily="34" charset="-120"/>
              </a:rPr>
              <a:t>planning figure — the tool</a:t>
            </a:r>
            <a:endParaRPr lang="en-US" sz="750" dirty="0"/>
          </a:p>
          <a:p>
            <a:pPr indent="0" marL="0">
              <a:buNone/>
            </a:pPr>
            <a:r>
              <a:rPr lang="en-US" sz="750" dirty="0">
                <a:solidFill>
                  <a:srgbClr val="686F7D"/>
                </a:solidFill>
                <a:latin typeface="Calibri" pitchFamily="34" charset="0"/>
                <a:ea typeface="Calibri" pitchFamily="34" charset="-122"/>
                <a:cs typeface="Calibri" pitchFamily="34" charset="-120"/>
              </a:rPr>
              <a:t>measured 22% on the</a:t>
            </a:r>
            <a:endParaRPr lang="en-US" sz="750" dirty="0"/>
          </a:p>
          <a:p>
            <a:pPr indent="0" marL="0">
              <a:buNone/>
            </a:pPr>
            <a:r>
              <a:rPr lang="en-US" sz="750" dirty="0">
                <a:solidFill>
                  <a:srgbClr val="686F7D"/>
                </a:solidFill>
                <a:latin typeface="Calibri" pitchFamily="34" charset="0"/>
                <a:ea typeface="Calibri" pitchFamily="34" charset="-122"/>
                <a:cs typeface="Calibri" pitchFamily="34" charset="-120"/>
              </a:rPr>
              <a:t>reference part</a:t>
            </a:r>
            <a:endParaRPr lang="en-US" sz="75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86F7D"/>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50" dirty="0">
                <a:solidFill>
                  <a:srgbClr val="99651A"/>
                </a:solidFill>
                <a:latin typeface="Calibri" pitchFamily="34" charset="0"/>
                <a:ea typeface="Calibri" pitchFamily="34" charset="-122"/>
                <a:cs typeface="Calibri" pitchFamily="34" charset="-120"/>
              </a:rPr>
              <a:t>the share we actually</a:t>
            </a:r>
            <a:endParaRPr lang="en-US" sz="750" dirty="0"/>
          </a:p>
          <a:p>
            <a:pPr indent="0" marL="0">
              <a:buNone/>
            </a:pPr>
            <a:r>
              <a:rPr lang="en-US" sz="750" dirty="0">
                <a:solidFill>
                  <a:srgbClr val="99651A"/>
                </a:solidFill>
                <a:latin typeface="Calibri" pitchFamily="34" charset="0"/>
                <a:ea typeface="Calibri" pitchFamily="34" charset="-122"/>
                <a:cs typeface="Calibri" pitchFamily="34" charset="-120"/>
              </a:rPr>
              <a:t>implement — the honest</a:t>
            </a:r>
            <a:endParaRPr lang="en-US" sz="750" dirty="0"/>
          </a:p>
          <a:p>
            <a:pPr indent="0" marL="0">
              <a:buNone/>
            </a:pPr>
            <a:r>
              <a:rPr lang="en-US" sz="750" dirty="0">
                <a:solidFill>
                  <a:srgbClr val="99651A"/>
                </a:solidFill>
                <a:latin typeface="Calibri" pitchFamily="34" charset="0"/>
                <a:ea typeface="Calibri" pitchFamily="34" charset="-122"/>
                <a:cs typeface="Calibri" pitchFamily="34" charset="-120"/>
              </a:rPr>
              <a:t>unknown</a:t>
            </a:r>
            <a:endParaRPr lang="en-US" sz="75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86F7D"/>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A7F50"/>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A7F50"/>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A7F50"/>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50" dirty="0">
                <a:solidFill>
                  <a:srgbClr val="2A7F50"/>
                </a:solidFill>
                <a:latin typeface="Calibri" pitchFamily="34" charset="0"/>
                <a:ea typeface="Calibri" pitchFamily="34" charset="-122"/>
                <a:cs typeface="Calibri" pitchFamily="34" charset="-120"/>
              </a:rPr>
              <a:t>recurring, against a one-off</a:t>
            </a:r>
            <a:endParaRPr lang="en-US" sz="750" dirty="0"/>
          </a:p>
          <a:p>
            <a:pPr indent="0" marL="0">
              <a:buNone/>
            </a:pPr>
            <a:r>
              <a:rPr lang="en-US" sz="750" dirty="0">
                <a:solidFill>
                  <a:srgbClr val="2A7F50"/>
                </a:solidFill>
                <a:latin typeface="Calibri" pitchFamily="34" charset="0"/>
                <a:ea typeface="Calibri" pitchFamily="34" charset="-122"/>
                <a:cs typeface="Calibri" pitchFamily="34" charset="-120"/>
              </a:rPr>
              <a:t>pilot cost of ≈ £25k</a:t>
            </a:r>
            <a:endParaRPr lang="en-US" sz="75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86F7D"/>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is barely a third of the 22%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D7D71"/>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D7D71"/>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D7D71"/>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86F7D"/>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D7D71"/>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86F7D"/>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D7D71"/>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D7D71"/>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A7F50"/>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86F7D"/>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A7F50"/>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A7F50"/>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A7F50"/>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A7F50"/>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D7D71"/>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A7F50"/>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A7F50"/>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A7F50"/>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A7F50"/>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99651A"/>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99651A"/>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99651A"/>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99651A"/>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A7F50"/>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86F7D"/>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A7F50"/>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D7D71"/>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A7F50"/>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86F7D"/>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£800k of annualised opportunity identified across the basket — half what Business Case I assumes —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99651A"/>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99651A"/>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5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5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5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5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D7D71"/>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D7D71"/>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D7D71"/>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D7D71"/>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D7D71"/>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86F7D"/>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99651A"/>
            </a:solidFill>
            <a:prstDash val="solid"/>
          </a:ln>
        </p:spPr>
      </p:sp>
      <p:sp>
        <p:nvSpPr>
          <p:cNvPr id="39" name="Shape 36"/>
          <p:cNvSpPr/>
          <p:nvPr/>
        </p:nvSpPr>
        <p:spPr>
          <a:xfrm>
            <a:off x="4974336" y="2395728"/>
            <a:ext cx="2157984" cy="384048"/>
          </a:xfrm>
          <a:prstGeom prst="rect">
            <a:avLst/>
          </a:prstGeom>
          <a:solidFill>
            <a:srgbClr val="99651A"/>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99651A"/>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99651A"/>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D7D71"/>
            </a:solidFill>
            <a:prstDash val="solid"/>
          </a:ln>
        </p:spPr>
      </p:sp>
      <p:sp>
        <p:nvSpPr>
          <p:cNvPr id="47" name="Shape 44"/>
          <p:cNvSpPr/>
          <p:nvPr/>
        </p:nvSpPr>
        <p:spPr>
          <a:xfrm>
            <a:off x="7232904" y="2395728"/>
            <a:ext cx="2157984" cy="384048"/>
          </a:xfrm>
          <a:prstGeom prst="rect">
            <a:avLst/>
          </a:prstGeom>
          <a:solidFill>
            <a:srgbClr val="0D7D71"/>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D7D71"/>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D7D71"/>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A7F50"/>
            </a:solidFill>
            <a:prstDash val="solid"/>
          </a:ln>
        </p:spPr>
      </p:sp>
      <p:sp>
        <p:nvSpPr>
          <p:cNvPr id="55" name="Shape 52"/>
          <p:cNvSpPr/>
          <p:nvPr/>
        </p:nvSpPr>
        <p:spPr>
          <a:xfrm>
            <a:off x="9491472" y="2395728"/>
            <a:ext cx="2157984" cy="384048"/>
          </a:xfrm>
          <a:prstGeom prst="rect">
            <a:avLst/>
          </a:prstGeom>
          <a:solidFill>
            <a:srgbClr val="2A7F50"/>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A7F50"/>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A7F50"/>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86F7D"/>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86F7D"/>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A7F50"/>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A7F50"/>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99651A"/>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99651A"/>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99651A"/>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D7D71"/>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86F7D"/>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A7F50"/>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CHOSEN</a:t>
            </a:r>
            <a:endParaRPr lang="en-US" sz="75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750" b="1" dirty="0">
                <a:solidFill>
                  <a:srgbClr val="686F7D"/>
                </a:solidFill>
                <a:latin typeface="Calibri" pitchFamily="34" charset="0"/>
                <a:ea typeface="Calibri" pitchFamily="34" charset="-122"/>
                <a:cs typeface="Calibri" pitchFamily="34" charset="-120"/>
              </a:rPr>
              <a:t>rejected</a:t>
            </a:r>
            <a:endParaRPr lang="en-US" sz="75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750" b="1" dirty="0">
                <a:solidFill>
                  <a:srgbClr val="686F7D"/>
                </a:solidFill>
                <a:latin typeface="Calibri" pitchFamily="34" charset="0"/>
                <a:ea typeface="Calibri" pitchFamily="34" charset="-122"/>
                <a:cs typeface="Calibri" pitchFamily="34" charset="-120"/>
              </a:rPr>
              <a:t>rejected</a:t>
            </a:r>
            <a:endParaRPr lang="en-US" sz="75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750" b="1" dirty="0">
                <a:solidFill>
                  <a:srgbClr val="686F7D"/>
                </a:solidFill>
                <a:latin typeface="Calibri" pitchFamily="34" charset="0"/>
                <a:ea typeface="Calibri" pitchFamily="34" charset="-122"/>
                <a:cs typeface="Calibri" pitchFamily="34" charset="-120"/>
              </a:rPr>
              <a:t>rejected</a:t>
            </a:r>
            <a:endParaRPr lang="en-US" sz="75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D7D71"/>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D7D71"/>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86F7D"/>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86F7D"/>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86F7D"/>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D7D71"/>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D7D71"/>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D7D71"/>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D7D71"/>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86F7D"/>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D7D71"/>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D7D71"/>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86F7D"/>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86F7D"/>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86F7D"/>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86F7D"/>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99651A"/>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99651A"/>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99651A"/>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86F7D"/>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86F7D"/>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86F7D"/>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D7D71"/>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D7D71"/>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A7F50"/>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86F7D"/>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D7D71"/>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D7D71"/>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D7D71"/>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A7F5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A7F50"/>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D7D71"/>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86F7D"/>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A7F50"/>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A7F50"/>
            </a:solidFill>
            <a:prstDash val="solid"/>
          </a:ln>
        </p:spPr>
      </p:sp>
      <p:sp>
        <p:nvSpPr>
          <p:cNvPr id="30" name="Shape 23"/>
          <p:cNvSpPr/>
          <p:nvPr/>
        </p:nvSpPr>
        <p:spPr>
          <a:xfrm>
            <a:off x="713232" y="3858768"/>
            <a:ext cx="548640" cy="548640"/>
          </a:xfrm>
          <a:prstGeom prst="ellipse">
            <a:avLst/>
          </a:prstGeom>
          <a:solidFill>
            <a:srgbClr val="2A7F50"/>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A7F5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A7F5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A7F5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A7F5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D7D71"/>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D7D71"/>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D7D71"/>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86F7D"/>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D7D71"/>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A7F50"/>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99651A"/>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99651A"/>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A7F50"/>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D7D71"/>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D7D71"/>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D7D71"/>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D7D71"/>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D7D71"/>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D7D71"/>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A7F50"/>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99651A"/>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99651A"/>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D7D71"/>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A7F50"/>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A7F50"/>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D7D71"/>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A7F50"/>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D7D71"/>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D7D71"/>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D7D71"/>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D7D71"/>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D7D71"/>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D7D71"/>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D7D71"/>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568 h × £58</a:t>
            </a:r>
            <a:endParaRPr lang="en-US" sz="75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footprint-scaled</a:t>
            </a:r>
            <a:endParaRPr lang="en-US" sz="75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8,469 kg × £8.2</a:t>
            </a:r>
            <a:endParaRPr lang="en-US" sz="75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2,691 h × £52</a:t>
            </a:r>
            <a:endParaRPr lang="en-US" sz="75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336 h × £58</a:t>
            </a:r>
            <a:endParaRPr lang="en-US" sz="75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269 h × £45</a:t>
            </a:r>
            <a:endParaRPr lang="en-US" sz="75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673 h × £48</a:t>
            </a:r>
            <a:endParaRPr lang="en-US" sz="75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40 h × £85</a:t>
            </a:r>
            <a:endParaRPr lang="en-US" sz="75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bought-out + bench</a:t>
            </a:r>
            <a:endParaRPr lang="en-US" sz="75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22%</a:t>
            </a:r>
            <a:endParaRPr lang="en-US" sz="75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D7D71"/>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D7D71"/>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D7D71"/>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D7D71"/>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D7D71"/>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(hammer 1.2714 £5.8 · H13 £9.5 · PM £14)</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75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D7D71"/>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die-set machining + 4 tryout strip runs</a:t>
            </a:r>
            <a:endParaRPr lang="en-US" sz="75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D7D71"/>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75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D7D71"/>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75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D7D71"/>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99651A"/>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99651A"/>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99651A"/>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99651A"/>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A7F50"/>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D7D71"/>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D7D71"/>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99651A"/>
            </a:solidFill>
            <a:prstDash val="solid"/>
          </a:ln>
        </p:spPr>
      </p:sp>
      <p:sp>
        <p:nvSpPr>
          <p:cNvPr id="23" name="Shape 21"/>
          <p:cNvSpPr/>
          <p:nvPr/>
        </p:nvSpPr>
        <p:spPr>
          <a:xfrm>
            <a:off x="4974336" y="1207008"/>
            <a:ext cx="2157984" cy="402336"/>
          </a:xfrm>
          <a:prstGeom prst="rect">
            <a:avLst/>
          </a:prstGeom>
          <a:solidFill>
            <a:srgbClr val="99651A"/>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99651A"/>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99651A"/>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99651A"/>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D7D71"/>
            </a:solidFill>
            <a:prstDash val="solid"/>
          </a:ln>
        </p:spPr>
      </p:sp>
      <p:sp>
        <p:nvSpPr>
          <p:cNvPr id="32" name="Shape 30"/>
          <p:cNvSpPr/>
          <p:nvPr/>
        </p:nvSpPr>
        <p:spPr>
          <a:xfrm>
            <a:off x="7232904" y="1207008"/>
            <a:ext cx="2157984" cy="402336"/>
          </a:xfrm>
          <a:prstGeom prst="rect">
            <a:avLst/>
          </a:prstGeom>
          <a:solidFill>
            <a:srgbClr val="0D7D71"/>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D7D71"/>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D7D71"/>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D7D71"/>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A7F50"/>
            </a:solidFill>
            <a:prstDash val="solid"/>
          </a:ln>
        </p:spPr>
      </p:sp>
      <p:sp>
        <p:nvSpPr>
          <p:cNvPr id="41" name="Shape 39"/>
          <p:cNvSpPr/>
          <p:nvPr/>
        </p:nvSpPr>
        <p:spPr>
          <a:xfrm>
            <a:off x="9491472" y="1207008"/>
            <a:ext cx="2157984" cy="402336"/>
          </a:xfrm>
          <a:prstGeom prst="rect">
            <a:avLst/>
          </a:prstGeom>
          <a:solidFill>
            <a:srgbClr val="2A7F50"/>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A7F50"/>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A7F50"/>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A7F50"/>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99651A"/>
            </a:solidFill>
            <a:prstDash val="solid"/>
          </a:ln>
        </p:spPr>
      </p:sp>
      <p:sp>
        <p:nvSpPr>
          <p:cNvPr id="40" name="Shape 37"/>
          <p:cNvSpPr/>
          <p:nvPr/>
        </p:nvSpPr>
        <p:spPr>
          <a:xfrm>
            <a:off x="5010912" y="2487168"/>
            <a:ext cx="2130552" cy="365760"/>
          </a:xfrm>
          <a:prstGeom prst="rect">
            <a:avLst/>
          </a:prstGeom>
          <a:solidFill>
            <a:srgbClr val="99651A"/>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99651A"/>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99651A"/>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D7D71"/>
            </a:solidFill>
            <a:prstDash val="solid"/>
          </a:ln>
        </p:spPr>
      </p:sp>
      <p:sp>
        <p:nvSpPr>
          <p:cNvPr id="48" name="Shape 45"/>
          <p:cNvSpPr/>
          <p:nvPr/>
        </p:nvSpPr>
        <p:spPr>
          <a:xfrm>
            <a:off x="7287768" y="2487168"/>
            <a:ext cx="2130552" cy="365760"/>
          </a:xfrm>
          <a:prstGeom prst="rect">
            <a:avLst/>
          </a:prstGeom>
          <a:solidFill>
            <a:srgbClr val="0D7D71"/>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D7D71"/>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D7D71"/>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A7F50"/>
            </a:solidFill>
            <a:prstDash val="solid"/>
          </a:ln>
        </p:spPr>
      </p:sp>
      <p:sp>
        <p:nvSpPr>
          <p:cNvPr id="56" name="Shape 53"/>
          <p:cNvSpPr/>
          <p:nvPr/>
        </p:nvSpPr>
        <p:spPr>
          <a:xfrm>
            <a:off x="9564624" y="2487168"/>
            <a:ext cx="2130552" cy="365760"/>
          </a:xfrm>
          <a:prstGeom prst="rect">
            <a:avLst/>
          </a:prstGeom>
          <a:solidFill>
            <a:srgbClr val="2A7F50"/>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A7F50"/>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A7F50"/>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86F7D"/>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D7D71"/>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D7D71"/>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86F7D"/>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86F7D"/>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86F7D"/>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D7D71"/>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D7D71"/>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A7F50"/>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D7D71"/>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D7D71"/>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D7D71"/>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D7D71"/>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86F7D"/>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D7D71"/>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D7D71"/>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86F7D"/>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D7D71"/>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D7D71"/>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A7F50"/>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D7D71"/>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D7D71"/>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D7D71"/>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D7D71"/>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86F7D"/>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D7D71"/>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86F7D"/>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D7D71"/>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A7F50"/>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99651A"/>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99651A"/>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D7D71"/>
            </a:solidFill>
            <a:prstDash val="solid"/>
          </a:ln>
        </p:spPr>
      </p:sp>
      <p:sp>
        <p:nvSpPr>
          <p:cNvPr id="6" name="Shape 4"/>
          <p:cNvSpPr/>
          <p:nvPr/>
        </p:nvSpPr>
        <p:spPr>
          <a:xfrm>
            <a:off x="685800" y="1371600"/>
            <a:ext cx="457200" cy="457200"/>
          </a:xfrm>
          <a:prstGeom prst="ellipse">
            <a:avLst/>
          </a:prstGeom>
          <a:solidFill>
            <a:srgbClr val="0D7D71"/>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D7D71"/>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A7F50"/>
            </a:solidFill>
            <a:prstDash val="solid"/>
          </a:ln>
        </p:spPr>
      </p:sp>
      <p:sp>
        <p:nvSpPr>
          <p:cNvPr id="11" name="Shape 9"/>
          <p:cNvSpPr/>
          <p:nvPr/>
        </p:nvSpPr>
        <p:spPr>
          <a:xfrm>
            <a:off x="6428232" y="1371600"/>
            <a:ext cx="457200" cy="457200"/>
          </a:xfrm>
          <a:prstGeom prst="ellipse">
            <a:avLst/>
          </a:prstGeom>
          <a:solidFill>
            <a:srgbClr val="2A7F50"/>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A7F50"/>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D7D71"/>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A7F50"/>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A7F50"/>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D7D71"/>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86F7D"/>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86F7D"/>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86F7D"/>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A7F50"/>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A7F50"/>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86F7D"/>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A7F50"/>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A7F50"/>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New: Gear Cutting Has Its Own Cost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Asked for by cost engineering and the plant — a gear is not a milled part with teeth drawn on</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15568"/>
            <a:ext cx="11274552" cy="566928"/>
          </a:xfrm>
          <a:prstGeom prst="roundRect">
            <a:avLst>
              <a:gd name="adj" fmla="val 12903"/>
            </a:avLst>
          </a:prstGeom>
          <a:solidFill>
            <a:srgbClr val="FCF3E3"/>
          </a:solidFill>
          <a:ln w="15875">
            <a:solidFill>
              <a:srgbClr val="99651A"/>
            </a:solidFill>
            <a:prstDash val="solid"/>
          </a:ln>
        </p:spPr>
      </p:sp>
      <p:sp>
        <p:nvSpPr>
          <p:cNvPr id="8" name="Text 6"/>
          <p:cNvSpPr/>
          <p:nvPr/>
        </p:nvSpPr>
        <p:spPr>
          <a:xfrm>
            <a:off x="658368" y="1115568"/>
            <a:ext cx="10881360" cy="566928"/>
          </a:xfrm>
          <a:prstGeom prst="rect">
            <a:avLst/>
          </a:prstGeom>
          <a:noFill/>
          <a:ln/>
        </p:spPr>
        <p:txBody>
          <a:bodyPr wrap="square" lIns="0" tIns="0" rIns="0" bIns="0" rtlCol="0" anchor="ctr"/>
          <a:lstStyle/>
          <a:p>
            <a:pPr indent="0" marL="0">
              <a:buNone/>
            </a:pPr>
            <a:r>
              <a:rPr lang="en-US" sz="1100" b="1" dirty="0">
                <a:solidFill>
                  <a:srgbClr val="99651A"/>
                </a:solidFill>
                <a:latin typeface="Calibri" pitchFamily="34" charset="0"/>
                <a:ea typeface="Calibri" pitchFamily="34" charset="-122"/>
                <a:cs typeface="Calibri" pitchFamily="34" charset="-120"/>
              </a:rPr>
              <a:t>Before: </a:t>
            </a:r>
            <a:pPr indent="0" marL="0">
              <a:buNone/>
            </a:pPr>
            <a:r>
              <a:rPr lang="en-US" sz="1050" dirty="0">
                <a:solidFill>
                  <a:srgbClr val="3A4356"/>
                </a:solidFill>
                <a:latin typeface="Calibri" pitchFamily="34" charset="0"/>
                <a:ea typeface="Calibri" pitchFamily="34" charset="-122"/>
                <a:cs typeface="Calibri" pitchFamily="34" charset="-120"/>
              </a:rPr>
              <a:t>a transmission gear went through the machining model as a generic milled part. That model cannot see teeth, module or quality grade — and those three things are what a gear actually costs.</a:t>
            </a:r>
            <a:endParaRPr lang="en-US" sz="1100" dirty="0"/>
          </a:p>
        </p:txBody>
      </p:sp>
      <p:sp>
        <p:nvSpPr>
          <p:cNvPr id="9" name="Text 7"/>
          <p:cNvSpPr/>
          <p:nvPr/>
        </p:nvSpPr>
        <p:spPr>
          <a:xfrm>
            <a:off x="457200" y="1847088"/>
            <a:ext cx="11274552"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idea that makes it work: a tighter quality grade adds OPERATIONS, it is not a multiplier</a:t>
            </a:r>
            <a:endParaRPr lang="en-US" sz="1250" dirty="0"/>
          </a:p>
        </p:txBody>
      </p:sp>
      <p:sp>
        <p:nvSpPr>
          <p:cNvPr id="10" name="Shape 8"/>
          <p:cNvSpPr/>
          <p:nvPr/>
        </p:nvSpPr>
        <p:spPr>
          <a:xfrm>
            <a:off x="457200" y="2212848"/>
            <a:ext cx="11274552" cy="530352"/>
          </a:xfrm>
          <a:prstGeom prst="roundRect">
            <a:avLst>
              <a:gd name="adj" fmla="val 10345"/>
            </a:avLst>
          </a:prstGeom>
          <a:solidFill>
            <a:srgbClr val="FFFFFF"/>
          </a:solidFill>
          <a:ln w="9525">
            <a:solidFill>
              <a:srgbClr val="DCE3EE"/>
            </a:solidFill>
            <a:prstDash val="solid"/>
          </a:ln>
        </p:spPr>
      </p:sp>
      <p:sp>
        <p:nvSpPr>
          <p:cNvPr id="11" name="Shape 9"/>
          <p:cNvSpPr/>
          <p:nvPr/>
        </p:nvSpPr>
        <p:spPr>
          <a:xfrm>
            <a:off x="457200" y="2212848"/>
            <a:ext cx="50292" cy="530352"/>
          </a:xfrm>
          <a:prstGeom prst="rect">
            <a:avLst/>
          </a:prstGeom>
          <a:solidFill>
            <a:srgbClr val="2A7F50"/>
          </a:solidFill>
          <a:ln/>
        </p:spPr>
      </p:sp>
      <p:sp>
        <p:nvSpPr>
          <p:cNvPr id="12" name="Text 10"/>
          <p:cNvSpPr/>
          <p:nvPr/>
        </p:nvSpPr>
        <p:spPr>
          <a:xfrm>
            <a:off x="658368" y="2212848"/>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9 — as cut</a:t>
            </a:r>
            <a:endParaRPr lang="en-US" sz="1050" dirty="0"/>
          </a:p>
        </p:txBody>
      </p:sp>
      <p:sp>
        <p:nvSpPr>
          <p:cNvPr id="13" name="Shape 11"/>
          <p:cNvSpPr/>
          <p:nvPr/>
        </p:nvSpPr>
        <p:spPr>
          <a:xfrm>
            <a:off x="3611880" y="2295144"/>
            <a:ext cx="1078992" cy="365760"/>
          </a:xfrm>
          <a:prstGeom prst="roundRect">
            <a:avLst>
              <a:gd name="adj" fmla="val 12500"/>
            </a:avLst>
          </a:prstGeom>
          <a:solidFill>
            <a:srgbClr val="FFFFFF"/>
          </a:solidFill>
          <a:ln w="9525">
            <a:solidFill>
              <a:srgbClr val="686F7D"/>
            </a:solidFill>
            <a:prstDash val="solid"/>
          </a:ln>
        </p:spPr>
      </p:sp>
      <p:sp>
        <p:nvSpPr>
          <p:cNvPr id="14" name="Text 12"/>
          <p:cNvSpPr/>
          <p:nvPr/>
        </p:nvSpPr>
        <p:spPr>
          <a:xfrm>
            <a:off x="361188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Hob</a:t>
            </a:r>
            <a:endParaRPr lang="en-US" sz="820" dirty="0"/>
          </a:p>
        </p:txBody>
      </p:sp>
      <p:sp>
        <p:nvSpPr>
          <p:cNvPr id="15" name="Shape 13"/>
          <p:cNvSpPr/>
          <p:nvPr/>
        </p:nvSpPr>
        <p:spPr>
          <a:xfrm>
            <a:off x="4732020" y="2478024"/>
            <a:ext cx="118872" cy="0"/>
          </a:xfrm>
          <a:prstGeom prst="line">
            <a:avLst/>
          </a:prstGeom>
          <a:noFill/>
          <a:ln w="19050">
            <a:solidFill>
              <a:srgbClr val="686F7D"/>
            </a:solidFill>
            <a:prstDash val="solid"/>
            <a:tailEnd type="triangle"/>
          </a:ln>
        </p:spPr>
      </p:sp>
      <p:sp>
        <p:nvSpPr>
          <p:cNvPr id="16" name="Shape 14"/>
          <p:cNvSpPr/>
          <p:nvPr/>
        </p:nvSpPr>
        <p:spPr>
          <a:xfrm>
            <a:off x="4892040" y="2295144"/>
            <a:ext cx="1078992" cy="365760"/>
          </a:xfrm>
          <a:prstGeom prst="roundRect">
            <a:avLst>
              <a:gd name="adj" fmla="val 12500"/>
            </a:avLst>
          </a:prstGeom>
          <a:solidFill>
            <a:srgbClr val="FFFFFF"/>
          </a:solidFill>
          <a:ln w="9525">
            <a:solidFill>
              <a:srgbClr val="686F7D"/>
            </a:solidFill>
            <a:prstDash val="solid"/>
          </a:ln>
        </p:spPr>
      </p:sp>
      <p:sp>
        <p:nvSpPr>
          <p:cNvPr id="17" name="Text 15"/>
          <p:cNvSpPr/>
          <p:nvPr/>
        </p:nvSpPr>
        <p:spPr>
          <a:xfrm>
            <a:off x="489204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18" name="Shape 16"/>
          <p:cNvSpPr/>
          <p:nvPr/>
        </p:nvSpPr>
        <p:spPr>
          <a:xfrm>
            <a:off x="6012180" y="2478024"/>
            <a:ext cx="118872" cy="0"/>
          </a:xfrm>
          <a:prstGeom prst="line">
            <a:avLst/>
          </a:prstGeom>
          <a:noFill/>
          <a:ln w="19050">
            <a:solidFill>
              <a:srgbClr val="686F7D"/>
            </a:solidFill>
            <a:prstDash val="solid"/>
            <a:tailEnd type="triangle"/>
          </a:ln>
        </p:spPr>
      </p:sp>
      <p:sp>
        <p:nvSpPr>
          <p:cNvPr id="19" name="Shape 17"/>
          <p:cNvSpPr/>
          <p:nvPr/>
        </p:nvSpPr>
        <p:spPr>
          <a:xfrm>
            <a:off x="6172200" y="2295144"/>
            <a:ext cx="1078992" cy="365760"/>
          </a:xfrm>
          <a:prstGeom prst="roundRect">
            <a:avLst>
              <a:gd name="adj" fmla="val 12500"/>
            </a:avLst>
          </a:prstGeom>
          <a:solidFill>
            <a:srgbClr val="FFFFFF"/>
          </a:solidFill>
          <a:ln w="9525">
            <a:solidFill>
              <a:srgbClr val="686F7D"/>
            </a:solidFill>
            <a:prstDash val="solid"/>
          </a:ln>
        </p:spPr>
      </p:sp>
      <p:sp>
        <p:nvSpPr>
          <p:cNvPr id="20" name="Text 18"/>
          <p:cNvSpPr/>
          <p:nvPr/>
        </p:nvSpPr>
        <p:spPr>
          <a:xfrm>
            <a:off x="617220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21" name="Text 19"/>
          <p:cNvSpPr/>
          <p:nvPr/>
        </p:nvSpPr>
        <p:spPr>
          <a:xfrm>
            <a:off x="9966960" y="2212848"/>
            <a:ext cx="914400" cy="530352"/>
          </a:xfrm>
          <a:prstGeom prst="rect">
            <a:avLst/>
          </a:prstGeom>
          <a:noFill/>
          <a:ln/>
        </p:spPr>
        <p:txBody>
          <a:bodyPr wrap="square" lIns="0" tIns="0" rIns="0" bIns="0" rtlCol="0" anchor="ctr"/>
          <a:lstStyle/>
          <a:p>
            <a:pPr algn="r" indent="0" marL="0">
              <a:buNone/>
            </a:pPr>
            <a:r>
              <a:rPr lang="en-US" sz="1500" b="1" dirty="0">
                <a:solidFill>
                  <a:srgbClr val="2A7F50"/>
                </a:solidFill>
                <a:latin typeface="Cambria" pitchFamily="34" charset="0"/>
                <a:ea typeface="Cambria" pitchFamily="34" charset="-122"/>
                <a:cs typeface="Cambria" pitchFamily="34" charset="-120"/>
              </a:rPr>
              <a:t>£8.26</a:t>
            </a:r>
            <a:endParaRPr lang="en-US" sz="1500" dirty="0"/>
          </a:p>
        </p:txBody>
      </p:sp>
      <p:sp>
        <p:nvSpPr>
          <p:cNvPr id="22" name="Text 20"/>
          <p:cNvSpPr/>
          <p:nvPr/>
        </p:nvSpPr>
        <p:spPr>
          <a:xfrm>
            <a:off x="10927080" y="2212848"/>
            <a:ext cx="777240" cy="530352"/>
          </a:xfrm>
          <a:prstGeom prst="rect">
            <a:avLst/>
          </a:prstGeom>
          <a:noFill/>
          <a:ln/>
        </p:spPr>
        <p:txBody>
          <a:bodyPr wrap="square" lIns="0" tIns="0" rIns="0" bIns="0" rtlCol="0" anchor="ctr"/>
          <a:lstStyle/>
          <a:p>
            <a:pPr algn="r" indent="0" marL="0">
              <a:buNone/>
            </a:pPr>
            <a:r>
              <a:rPr lang="en-US" sz="950" dirty="0">
                <a:solidFill>
                  <a:srgbClr val="686F7D"/>
                </a:solidFill>
                <a:latin typeface="Calibri" pitchFamily="34" charset="0"/>
                <a:ea typeface="Calibri" pitchFamily="34" charset="-122"/>
                <a:cs typeface="Calibri" pitchFamily="34" charset="-120"/>
              </a:rPr>
              <a:t>95 s</a:t>
            </a:r>
            <a:endParaRPr lang="en-US" sz="950" dirty="0"/>
          </a:p>
        </p:txBody>
      </p:sp>
      <p:sp>
        <p:nvSpPr>
          <p:cNvPr id="23" name="Shape 21"/>
          <p:cNvSpPr/>
          <p:nvPr/>
        </p:nvSpPr>
        <p:spPr>
          <a:xfrm>
            <a:off x="457200" y="2816352"/>
            <a:ext cx="11274552" cy="530352"/>
          </a:xfrm>
          <a:prstGeom prst="roundRect">
            <a:avLst>
              <a:gd name="adj" fmla="val 10345"/>
            </a:avLst>
          </a:prstGeom>
          <a:solidFill>
            <a:srgbClr val="FFFFFF"/>
          </a:solidFill>
          <a:ln w="9525">
            <a:solidFill>
              <a:srgbClr val="DCE3EE"/>
            </a:solidFill>
            <a:prstDash val="solid"/>
          </a:ln>
        </p:spPr>
      </p:sp>
      <p:sp>
        <p:nvSpPr>
          <p:cNvPr id="24" name="Shape 22"/>
          <p:cNvSpPr/>
          <p:nvPr/>
        </p:nvSpPr>
        <p:spPr>
          <a:xfrm>
            <a:off x="457200" y="2816352"/>
            <a:ext cx="50292" cy="530352"/>
          </a:xfrm>
          <a:prstGeom prst="rect">
            <a:avLst/>
          </a:prstGeom>
          <a:solidFill>
            <a:srgbClr val="99651A"/>
          </a:solidFill>
          <a:ln/>
        </p:spPr>
      </p:sp>
      <p:sp>
        <p:nvSpPr>
          <p:cNvPr id="25" name="Text 23"/>
          <p:cNvSpPr/>
          <p:nvPr/>
        </p:nvSpPr>
        <p:spPr>
          <a:xfrm>
            <a:off x="658368" y="2816352"/>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6 — hardened + ground</a:t>
            </a:r>
            <a:endParaRPr lang="en-US" sz="1050" dirty="0"/>
          </a:p>
        </p:txBody>
      </p:sp>
      <p:sp>
        <p:nvSpPr>
          <p:cNvPr id="26" name="Shape 24"/>
          <p:cNvSpPr/>
          <p:nvPr/>
        </p:nvSpPr>
        <p:spPr>
          <a:xfrm>
            <a:off x="3611880" y="2898648"/>
            <a:ext cx="1078992" cy="365760"/>
          </a:xfrm>
          <a:prstGeom prst="roundRect">
            <a:avLst>
              <a:gd name="adj" fmla="val 12500"/>
            </a:avLst>
          </a:prstGeom>
          <a:solidFill>
            <a:srgbClr val="FFFFFF"/>
          </a:solidFill>
          <a:ln w="9525">
            <a:solidFill>
              <a:srgbClr val="686F7D"/>
            </a:solidFill>
            <a:prstDash val="solid"/>
          </a:ln>
        </p:spPr>
      </p:sp>
      <p:sp>
        <p:nvSpPr>
          <p:cNvPr id="27" name="Text 25"/>
          <p:cNvSpPr/>
          <p:nvPr/>
        </p:nvSpPr>
        <p:spPr>
          <a:xfrm>
            <a:off x="361188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Hob</a:t>
            </a:r>
            <a:endParaRPr lang="en-US" sz="820" dirty="0"/>
          </a:p>
        </p:txBody>
      </p:sp>
      <p:sp>
        <p:nvSpPr>
          <p:cNvPr id="28" name="Shape 26"/>
          <p:cNvSpPr/>
          <p:nvPr/>
        </p:nvSpPr>
        <p:spPr>
          <a:xfrm>
            <a:off x="4732020" y="3081528"/>
            <a:ext cx="118872" cy="0"/>
          </a:xfrm>
          <a:prstGeom prst="line">
            <a:avLst/>
          </a:prstGeom>
          <a:noFill/>
          <a:ln w="19050">
            <a:solidFill>
              <a:srgbClr val="686F7D"/>
            </a:solidFill>
            <a:prstDash val="solid"/>
            <a:tailEnd type="triangle"/>
          </a:ln>
        </p:spPr>
      </p:sp>
      <p:sp>
        <p:nvSpPr>
          <p:cNvPr id="29" name="Shape 27"/>
          <p:cNvSpPr/>
          <p:nvPr/>
        </p:nvSpPr>
        <p:spPr>
          <a:xfrm>
            <a:off x="4892040" y="2898648"/>
            <a:ext cx="1078992" cy="365760"/>
          </a:xfrm>
          <a:prstGeom prst="roundRect">
            <a:avLst>
              <a:gd name="adj" fmla="val 12500"/>
            </a:avLst>
          </a:prstGeom>
          <a:solidFill>
            <a:srgbClr val="FFFFFF"/>
          </a:solidFill>
          <a:ln w="9525">
            <a:solidFill>
              <a:srgbClr val="686F7D"/>
            </a:solidFill>
            <a:prstDash val="solid"/>
          </a:ln>
        </p:spPr>
      </p:sp>
      <p:sp>
        <p:nvSpPr>
          <p:cNvPr id="30" name="Text 28"/>
          <p:cNvSpPr/>
          <p:nvPr/>
        </p:nvSpPr>
        <p:spPr>
          <a:xfrm>
            <a:off x="489204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31" name="Shape 29"/>
          <p:cNvSpPr/>
          <p:nvPr/>
        </p:nvSpPr>
        <p:spPr>
          <a:xfrm>
            <a:off x="6012180" y="3081528"/>
            <a:ext cx="118872" cy="0"/>
          </a:xfrm>
          <a:prstGeom prst="line">
            <a:avLst/>
          </a:prstGeom>
          <a:noFill/>
          <a:ln w="19050">
            <a:solidFill>
              <a:srgbClr val="686F7D"/>
            </a:solidFill>
            <a:prstDash val="solid"/>
            <a:tailEnd type="triangle"/>
          </a:ln>
        </p:spPr>
      </p:sp>
      <p:sp>
        <p:nvSpPr>
          <p:cNvPr id="32" name="Shape 30"/>
          <p:cNvSpPr/>
          <p:nvPr/>
        </p:nvSpPr>
        <p:spPr>
          <a:xfrm>
            <a:off x="6172200" y="2898648"/>
            <a:ext cx="1078992" cy="365760"/>
          </a:xfrm>
          <a:prstGeom prst="roundRect">
            <a:avLst>
              <a:gd name="adj" fmla="val 12500"/>
            </a:avLst>
          </a:prstGeom>
          <a:solidFill>
            <a:srgbClr val="99651A"/>
          </a:solidFill>
          <a:ln w="15875">
            <a:solidFill>
              <a:srgbClr val="99651A"/>
            </a:solidFill>
            <a:prstDash val="solid"/>
          </a:ln>
        </p:spPr>
      </p:sp>
      <p:sp>
        <p:nvSpPr>
          <p:cNvPr id="33" name="Text 31"/>
          <p:cNvSpPr/>
          <p:nvPr/>
        </p:nvSpPr>
        <p:spPr>
          <a:xfrm>
            <a:off x="6172200" y="2898648"/>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Carburise</a:t>
            </a:r>
            <a:endParaRPr lang="en-US" sz="820" dirty="0"/>
          </a:p>
        </p:txBody>
      </p:sp>
      <p:sp>
        <p:nvSpPr>
          <p:cNvPr id="34" name="Shape 32"/>
          <p:cNvSpPr/>
          <p:nvPr/>
        </p:nvSpPr>
        <p:spPr>
          <a:xfrm>
            <a:off x="7292340" y="3081528"/>
            <a:ext cx="118872" cy="0"/>
          </a:xfrm>
          <a:prstGeom prst="line">
            <a:avLst/>
          </a:prstGeom>
          <a:noFill/>
          <a:ln w="19050">
            <a:solidFill>
              <a:srgbClr val="686F7D"/>
            </a:solidFill>
            <a:prstDash val="solid"/>
            <a:tailEnd type="triangle"/>
          </a:ln>
        </p:spPr>
      </p:sp>
      <p:sp>
        <p:nvSpPr>
          <p:cNvPr id="35" name="Shape 33"/>
          <p:cNvSpPr/>
          <p:nvPr/>
        </p:nvSpPr>
        <p:spPr>
          <a:xfrm>
            <a:off x="7452360" y="2898648"/>
            <a:ext cx="1078992" cy="365760"/>
          </a:xfrm>
          <a:prstGeom prst="roundRect">
            <a:avLst>
              <a:gd name="adj" fmla="val 12500"/>
            </a:avLst>
          </a:prstGeom>
          <a:solidFill>
            <a:srgbClr val="99651A"/>
          </a:solidFill>
          <a:ln w="15875">
            <a:solidFill>
              <a:srgbClr val="99651A"/>
            </a:solidFill>
            <a:prstDash val="solid"/>
          </a:ln>
        </p:spPr>
      </p:sp>
      <p:sp>
        <p:nvSpPr>
          <p:cNvPr id="36" name="Text 34"/>
          <p:cNvSpPr/>
          <p:nvPr/>
        </p:nvSpPr>
        <p:spPr>
          <a:xfrm>
            <a:off x="7452360" y="2898648"/>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Grind</a:t>
            </a:r>
            <a:endParaRPr lang="en-US" sz="820" dirty="0"/>
          </a:p>
        </p:txBody>
      </p:sp>
      <p:sp>
        <p:nvSpPr>
          <p:cNvPr id="37" name="Shape 35"/>
          <p:cNvSpPr/>
          <p:nvPr/>
        </p:nvSpPr>
        <p:spPr>
          <a:xfrm>
            <a:off x="8572500" y="3081528"/>
            <a:ext cx="118872" cy="0"/>
          </a:xfrm>
          <a:prstGeom prst="line">
            <a:avLst/>
          </a:prstGeom>
          <a:noFill/>
          <a:ln w="19050">
            <a:solidFill>
              <a:srgbClr val="686F7D"/>
            </a:solidFill>
            <a:prstDash val="solid"/>
            <a:tailEnd type="triangle"/>
          </a:ln>
        </p:spPr>
      </p:sp>
      <p:sp>
        <p:nvSpPr>
          <p:cNvPr id="38" name="Shape 36"/>
          <p:cNvSpPr/>
          <p:nvPr/>
        </p:nvSpPr>
        <p:spPr>
          <a:xfrm>
            <a:off x="8732520" y="2898648"/>
            <a:ext cx="1078992" cy="365760"/>
          </a:xfrm>
          <a:prstGeom prst="roundRect">
            <a:avLst>
              <a:gd name="adj" fmla="val 12500"/>
            </a:avLst>
          </a:prstGeom>
          <a:solidFill>
            <a:srgbClr val="FFFFFF"/>
          </a:solidFill>
          <a:ln w="9525">
            <a:solidFill>
              <a:srgbClr val="686F7D"/>
            </a:solidFill>
            <a:prstDash val="solid"/>
          </a:ln>
        </p:spPr>
      </p:sp>
      <p:sp>
        <p:nvSpPr>
          <p:cNvPr id="39" name="Text 37"/>
          <p:cNvSpPr/>
          <p:nvPr/>
        </p:nvSpPr>
        <p:spPr>
          <a:xfrm>
            <a:off x="873252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40" name="Text 38"/>
          <p:cNvSpPr/>
          <p:nvPr/>
        </p:nvSpPr>
        <p:spPr>
          <a:xfrm>
            <a:off x="9966960" y="2816352"/>
            <a:ext cx="914400" cy="530352"/>
          </a:xfrm>
          <a:prstGeom prst="rect">
            <a:avLst/>
          </a:prstGeom>
          <a:noFill/>
          <a:ln/>
        </p:spPr>
        <p:txBody>
          <a:bodyPr wrap="square" lIns="0" tIns="0" rIns="0" bIns="0" rtlCol="0" anchor="ctr"/>
          <a:lstStyle/>
          <a:p>
            <a:pPr algn="r" indent="0" marL="0">
              <a:buNone/>
            </a:pPr>
            <a:r>
              <a:rPr lang="en-US" sz="1500" b="1" dirty="0">
                <a:solidFill>
                  <a:srgbClr val="99651A"/>
                </a:solidFill>
                <a:latin typeface="Cambria" pitchFamily="34" charset="0"/>
                <a:ea typeface="Cambria" pitchFamily="34" charset="-122"/>
                <a:cs typeface="Cambria" pitchFamily="34" charset="-120"/>
              </a:rPr>
              <a:t>£13.55</a:t>
            </a:r>
            <a:endParaRPr lang="en-US" sz="1500" dirty="0"/>
          </a:p>
        </p:txBody>
      </p:sp>
      <p:sp>
        <p:nvSpPr>
          <p:cNvPr id="41" name="Text 39"/>
          <p:cNvSpPr/>
          <p:nvPr/>
        </p:nvSpPr>
        <p:spPr>
          <a:xfrm>
            <a:off x="10927080" y="2816352"/>
            <a:ext cx="777240" cy="530352"/>
          </a:xfrm>
          <a:prstGeom prst="rect">
            <a:avLst/>
          </a:prstGeom>
          <a:noFill/>
          <a:ln/>
        </p:spPr>
        <p:txBody>
          <a:bodyPr wrap="square" lIns="0" tIns="0" rIns="0" bIns="0" rtlCol="0" anchor="ctr"/>
          <a:lstStyle/>
          <a:p>
            <a:pPr algn="r" indent="0" marL="0">
              <a:buNone/>
            </a:pPr>
            <a:r>
              <a:rPr lang="en-US" sz="950" dirty="0">
                <a:solidFill>
                  <a:srgbClr val="686F7D"/>
                </a:solidFill>
                <a:latin typeface="Calibri" pitchFamily="34" charset="0"/>
                <a:ea typeface="Calibri" pitchFamily="34" charset="-122"/>
                <a:cs typeface="Calibri" pitchFamily="34" charset="-120"/>
              </a:rPr>
              <a:t>141 s</a:t>
            </a:r>
            <a:endParaRPr lang="en-US" sz="950" dirty="0"/>
          </a:p>
        </p:txBody>
      </p:sp>
      <p:sp>
        <p:nvSpPr>
          <p:cNvPr id="42" name="Shape 40"/>
          <p:cNvSpPr/>
          <p:nvPr/>
        </p:nvSpPr>
        <p:spPr>
          <a:xfrm>
            <a:off x="457200" y="3419856"/>
            <a:ext cx="11274552" cy="530352"/>
          </a:xfrm>
          <a:prstGeom prst="roundRect">
            <a:avLst>
              <a:gd name="adj" fmla="val 10345"/>
            </a:avLst>
          </a:prstGeom>
          <a:solidFill>
            <a:srgbClr val="FFFFFF"/>
          </a:solidFill>
          <a:ln w="9525">
            <a:solidFill>
              <a:srgbClr val="DCE3EE"/>
            </a:solidFill>
            <a:prstDash val="solid"/>
          </a:ln>
        </p:spPr>
      </p:sp>
      <p:sp>
        <p:nvSpPr>
          <p:cNvPr id="43" name="Shape 41"/>
          <p:cNvSpPr/>
          <p:nvPr/>
        </p:nvSpPr>
        <p:spPr>
          <a:xfrm>
            <a:off x="457200" y="3419856"/>
            <a:ext cx="50292" cy="530352"/>
          </a:xfrm>
          <a:prstGeom prst="rect">
            <a:avLst/>
          </a:prstGeom>
          <a:solidFill>
            <a:srgbClr val="1D6FB8"/>
          </a:solidFill>
          <a:ln/>
        </p:spPr>
      </p:sp>
      <p:sp>
        <p:nvSpPr>
          <p:cNvPr id="44" name="Text 42"/>
          <p:cNvSpPr/>
          <p:nvPr/>
        </p:nvSpPr>
        <p:spPr>
          <a:xfrm>
            <a:off x="658368" y="3419856"/>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Internal ring gear, class 7</a:t>
            </a:r>
            <a:endParaRPr lang="en-US" sz="1050" dirty="0"/>
          </a:p>
        </p:txBody>
      </p:sp>
      <p:sp>
        <p:nvSpPr>
          <p:cNvPr id="45" name="Shape 43"/>
          <p:cNvSpPr/>
          <p:nvPr/>
        </p:nvSpPr>
        <p:spPr>
          <a:xfrm>
            <a:off x="3611880" y="3502152"/>
            <a:ext cx="1078992" cy="365760"/>
          </a:xfrm>
          <a:prstGeom prst="roundRect">
            <a:avLst>
              <a:gd name="adj" fmla="val 12500"/>
            </a:avLst>
          </a:prstGeom>
          <a:solidFill>
            <a:srgbClr val="FFFFFF"/>
          </a:solidFill>
          <a:ln w="9525">
            <a:solidFill>
              <a:srgbClr val="686F7D"/>
            </a:solidFill>
            <a:prstDash val="solid"/>
          </a:ln>
        </p:spPr>
      </p:sp>
      <p:sp>
        <p:nvSpPr>
          <p:cNvPr id="46" name="Text 44"/>
          <p:cNvSpPr/>
          <p:nvPr/>
        </p:nvSpPr>
        <p:spPr>
          <a:xfrm>
            <a:off x="361188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Power skive</a:t>
            </a:r>
            <a:endParaRPr lang="en-US" sz="820" dirty="0"/>
          </a:p>
        </p:txBody>
      </p:sp>
      <p:sp>
        <p:nvSpPr>
          <p:cNvPr id="47" name="Shape 45"/>
          <p:cNvSpPr/>
          <p:nvPr/>
        </p:nvSpPr>
        <p:spPr>
          <a:xfrm>
            <a:off x="4732020" y="3685032"/>
            <a:ext cx="118872" cy="0"/>
          </a:xfrm>
          <a:prstGeom prst="line">
            <a:avLst/>
          </a:prstGeom>
          <a:noFill/>
          <a:ln w="19050">
            <a:solidFill>
              <a:srgbClr val="686F7D"/>
            </a:solidFill>
            <a:prstDash val="solid"/>
            <a:tailEnd type="triangle"/>
          </a:ln>
        </p:spPr>
      </p:sp>
      <p:sp>
        <p:nvSpPr>
          <p:cNvPr id="48" name="Shape 46"/>
          <p:cNvSpPr/>
          <p:nvPr/>
        </p:nvSpPr>
        <p:spPr>
          <a:xfrm>
            <a:off x="4892040" y="3502152"/>
            <a:ext cx="1078992" cy="365760"/>
          </a:xfrm>
          <a:prstGeom prst="roundRect">
            <a:avLst>
              <a:gd name="adj" fmla="val 12500"/>
            </a:avLst>
          </a:prstGeom>
          <a:solidFill>
            <a:srgbClr val="FFFFFF"/>
          </a:solidFill>
          <a:ln w="9525">
            <a:solidFill>
              <a:srgbClr val="686F7D"/>
            </a:solidFill>
            <a:prstDash val="solid"/>
          </a:ln>
        </p:spPr>
      </p:sp>
      <p:sp>
        <p:nvSpPr>
          <p:cNvPr id="49" name="Text 47"/>
          <p:cNvSpPr/>
          <p:nvPr/>
        </p:nvSpPr>
        <p:spPr>
          <a:xfrm>
            <a:off x="489204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50" name="Shape 48"/>
          <p:cNvSpPr/>
          <p:nvPr/>
        </p:nvSpPr>
        <p:spPr>
          <a:xfrm>
            <a:off x="6012180" y="3685032"/>
            <a:ext cx="118872" cy="0"/>
          </a:xfrm>
          <a:prstGeom prst="line">
            <a:avLst/>
          </a:prstGeom>
          <a:noFill/>
          <a:ln w="19050">
            <a:solidFill>
              <a:srgbClr val="686F7D"/>
            </a:solidFill>
            <a:prstDash val="solid"/>
            <a:tailEnd type="triangle"/>
          </a:ln>
        </p:spPr>
      </p:sp>
      <p:sp>
        <p:nvSpPr>
          <p:cNvPr id="51" name="Shape 49"/>
          <p:cNvSpPr/>
          <p:nvPr/>
        </p:nvSpPr>
        <p:spPr>
          <a:xfrm>
            <a:off x="6172200" y="3502152"/>
            <a:ext cx="1078992" cy="365760"/>
          </a:xfrm>
          <a:prstGeom prst="roundRect">
            <a:avLst>
              <a:gd name="adj" fmla="val 12500"/>
            </a:avLst>
          </a:prstGeom>
          <a:solidFill>
            <a:srgbClr val="1D6FB8"/>
          </a:solidFill>
          <a:ln w="15875">
            <a:solidFill>
              <a:srgbClr val="1D6FB8"/>
            </a:solidFill>
            <a:prstDash val="solid"/>
          </a:ln>
        </p:spPr>
      </p:sp>
      <p:sp>
        <p:nvSpPr>
          <p:cNvPr id="52" name="Text 50"/>
          <p:cNvSpPr/>
          <p:nvPr/>
        </p:nvSpPr>
        <p:spPr>
          <a:xfrm>
            <a:off x="6172200" y="3502152"/>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Carburise</a:t>
            </a:r>
            <a:endParaRPr lang="en-US" sz="820" dirty="0"/>
          </a:p>
        </p:txBody>
      </p:sp>
      <p:sp>
        <p:nvSpPr>
          <p:cNvPr id="53" name="Shape 51"/>
          <p:cNvSpPr/>
          <p:nvPr/>
        </p:nvSpPr>
        <p:spPr>
          <a:xfrm>
            <a:off x="7292340" y="3685032"/>
            <a:ext cx="118872" cy="0"/>
          </a:xfrm>
          <a:prstGeom prst="line">
            <a:avLst/>
          </a:prstGeom>
          <a:noFill/>
          <a:ln w="19050">
            <a:solidFill>
              <a:srgbClr val="686F7D"/>
            </a:solidFill>
            <a:prstDash val="solid"/>
            <a:tailEnd type="triangle"/>
          </a:ln>
        </p:spPr>
      </p:sp>
      <p:sp>
        <p:nvSpPr>
          <p:cNvPr id="54" name="Shape 52"/>
          <p:cNvSpPr/>
          <p:nvPr/>
        </p:nvSpPr>
        <p:spPr>
          <a:xfrm>
            <a:off x="7452360" y="3502152"/>
            <a:ext cx="1078992" cy="365760"/>
          </a:xfrm>
          <a:prstGeom prst="roundRect">
            <a:avLst>
              <a:gd name="adj" fmla="val 12500"/>
            </a:avLst>
          </a:prstGeom>
          <a:solidFill>
            <a:srgbClr val="FFFFFF"/>
          </a:solidFill>
          <a:ln w="9525">
            <a:solidFill>
              <a:srgbClr val="686F7D"/>
            </a:solidFill>
            <a:prstDash val="solid"/>
          </a:ln>
        </p:spPr>
      </p:sp>
      <p:sp>
        <p:nvSpPr>
          <p:cNvPr id="55" name="Text 53"/>
          <p:cNvSpPr/>
          <p:nvPr/>
        </p:nvSpPr>
        <p:spPr>
          <a:xfrm>
            <a:off x="745236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56" name="Text 54"/>
          <p:cNvSpPr/>
          <p:nvPr/>
        </p:nvSpPr>
        <p:spPr>
          <a:xfrm>
            <a:off x="9966960" y="3419856"/>
            <a:ext cx="914400" cy="530352"/>
          </a:xfrm>
          <a:prstGeom prst="rect">
            <a:avLst/>
          </a:prstGeom>
          <a:noFill/>
          <a:ln/>
        </p:spPr>
        <p:txBody>
          <a:bodyPr wrap="square" lIns="0" tIns="0" rIns="0" bIns="0" rtlCol="0" anchor="ctr"/>
          <a:lstStyle/>
          <a:p>
            <a:pPr algn="r" indent="0" marL="0">
              <a:buNone/>
            </a:pPr>
            <a:r>
              <a:rPr lang="en-US" sz="1500" b="1" dirty="0">
                <a:solidFill>
                  <a:srgbClr val="1D6FB8"/>
                </a:solidFill>
                <a:latin typeface="Cambria" pitchFamily="34" charset="0"/>
                <a:ea typeface="Cambria" pitchFamily="34" charset="-122"/>
                <a:cs typeface="Cambria" pitchFamily="34" charset="-120"/>
              </a:rPr>
              <a:t>£11.19</a:t>
            </a:r>
            <a:endParaRPr lang="en-US" sz="1500" dirty="0"/>
          </a:p>
        </p:txBody>
      </p:sp>
      <p:sp>
        <p:nvSpPr>
          <p:cNvPr id="57" name="Text 55"/>
          <p:cNvSpPr/>
          <p:nvPr/>
        </p:nvSpPr>
        <p:spPr>
          <a:xfrm>
            <a:off x="10927080" y="3419856"/>
            <a:ext cx="777240" cy="530352"/>
          </a:xfrm>
          <a:prstGeom prst="rect">
            <a:avLst/>
          </a:prstGeom>
          <a:noFill/>
          <a:ln/>
        </p:spPr>
        <p:txBody>
          <a:bodyPr wrap="square" lIns="0" tIns="0" rIns="0" bIns="0" rtlCol="0" anchor="ctr"/>
          <a:lstStyle/>
          <a:p>
            <a:pPr algn="r" indent="0" marL="0">
              <a:buNone/>
            </a:pPr>
            <a:r>
              <a:rPr lang="en-US" sz="950" dirty="0">
                <a:solidFill>
                  <a:srgbClr val="686F7D"/>
                </a:solidFill>
                <a:latin typeface="Calibri" pitchFamily="34" charset="0"/>
                <a:ea typeface="Calibri" pitchFamily="34" charset="-122"/>
                <a:cs typeface="Calibri" pitchFamily="34" charset="-120"/>
              </a:rPr>
              <a:t>115 s</a:t>
            </a:r>
            <a:endParaRPr lang="en-US" sz="950" dirty="0"/>
          </a:p>
        </p:txBody>
      </p:sp>
      <p:sp>
        <p:nvSpPr>
          <p:cNvPr id="58" name="Shape 56"/>
          <p:cNvSpPr/>
          <p:nvPr/>
        </p:nvSpPr>
        <p:spPr>
          <a:xfrm>
            <a:off x="3611880" y="4059936"/>
            <a:ext cx="201168" cy="118872"/>
          </a:xfrm>
          <a:prstGeom prst="roundRect">
            <a:avLst>
              <a:gd name="adj" fmla="val 23077"/>
            </a:avLst>
          </a:prstGeom>
          <a:solidFill>
            <a:srgbClr val="99651A"/>
          </a:solidFill>
          <a:ln/>
        </p:spPr>
      </p:sp>
      <p:sp>
        <p:nvSpPr>
          <p:cNvPr id="59" name="Text 57"/>
          <p:cNvSpPr/>
          <p:nvPr/>
        </p:nvSpPr>
        <p:spPr>
          <a:xfrm>
            <a:off x="3886200" y="4005072"/>
            <a:ext cx="7315200" cy="219456"/>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 the station the tighter class ADDED — not the same work costing more</a:t>
            </a:r>
            <a:endParaRPr lang="en-US" sz="900" dirty="0"/>
          </a:p>
        </p:txBody>
      </p:sp>
      <p:sp>
        <p:nvSpPr>
          <p:cNvPr id="60" name="Shape 58"/>
          <p:cNvSpPr/>
          <p:nvPr/>
        </p:nvSpPr>
        <p:spPr>
          <a:xfrm>
            <a:off x="457200" y="4315968"/>
            <a:ext cx="5532120" cy="1243584"/>
          </a:xfrm>
          <a:prstGeom prst="roundRect">
            <a:avLst>
              <a:gd name="adj" fmla="val 5882"/>
            </a:avLst>
          </a:prstGeom>
          <a:solidFill>
            <a:srgbClr val="E6F4F1"/>
          </a:solidFill>
          <a:ln w="12700">
            <a:solidFill>
              <a:srgbClr val="0D7D71"/>
            </a:solidFill>
            <a:prstDash val="solid"/>
          </a:ln>
        </p:spPr>
      </p:sp>
      <p:sp>
        <p:nvSpPr>
          <p:cNvPr id="61" name="Text 59"/>
          <p:cNvSpPr/>
          <p:nvPr/>
        </p:nvSpPr>
        <p:spPr>
          <a:xfrm>
            <a:off x="640080" y="4389120"/>
            <a:ext cx="5212080" cy="201168"/>
          </a:xfrm>
          <a:prstGeom prst="rect">
            <a:avLst/>
          </a:prstGeom>
          <a:noFill/>
          <a:ln/>
        </p:spPr>
        <p:txBody>
          <a:bodyPr wrap="square" lIns="0" tIns="0" rIns="0" bIns="0" rtlCol="0" anchor="ctr"/>
          <a:lstStyle/>
          <a:p>
            <a:pPr indent="0" marL="0">
              <a:buNone/>
            </a:pPr>
            <a:r>
              <a:rPr lang="en-US" sz="900" b="1" spc="50" kern="0" dirty="0">
                <a:solidFill>
                  <a:srgbClr val="0D7D71"/>
                </a:solidFill>
                <a:latin typeface="Calibri" pitchFamily="34" charset="0"/>
                <a:ea typeface="Calibri" pitchFamily="34" charset="-122"/>
                <a:cs typeface="Calibri" pitchFamily="34" charset="-120"/>
              </a:rPr>
              <a:t>THE CYCLE TIME IS ARITHMETIC, NOT A GUESS</a:t>
            </a:r>
            <a:endParaRPr lang="en-US" sz="900" dirty="0"/>
          </a:p>
        </p:txBody>
      </p:sp>
      <p:sp>
        <p:nvSpPr>
          <p:cNvPr id="62" name="Text 60"/>
          <p:cNvSpPr/>
          <p:nvPr/>
        </p:nvSpPr>
        <p:spPr>
          <a:xfrm>
            <a:off x="640080" y="4599432"/>
            <a:ext cx="5212080" cy="384048"/>
          </a:xfrm>
          <a:prstGeom prst="rect">
            <a:avLst/>
          </a:prstGeom>
          <a:noFill/>
          <a:ln/>
        </p:spPr>
        <p:txBody>
          <a:bodyPr wrap="square" lIns="0" tIns="0" rIns="0" bIns="0" rtlCol="0" anchor="ctr"/>
          <a:lstStyle/>
          <a:p>
            <a:pPr indent="0" marL="0">
              <a:buNone/>
            </a:pPr>
            <a:r>
              <a:rPr lang="en-US" sz="950" dirty="0">
                <a:solidFill>
                  <a:srgbClr val="3A4356"/>
                </a:solidFill>
                <a:latin typeface="Calibri" pitchFamily="34" charset="0"/>
                <a:ea typeface="Calibri" pitchFamily="34" charset="-122"/>
                <a:cs typeface="Calibri" pitchFamily="34" charset="-120"/>
              </a:rPr>
              <a:t>A hob with Ns starts at n rpm drives a z-tooth gear at n×Ns/z. That is a gear train, not an estimate — so the tool prints the sum:</a:t>
            </a:r>
            <a:endParaRPr lang="en-US" sz="950" dirty="0"/>
          </a:p>
        </p:txBody>
      </p:sp>
      <p:sp>
        <p:nvSpPr>
          <p:cNvPr id="63" name="Text 61"/>
          <p:cNvSpPr/>
          <p:nvPr/>
        </p:nvSpPr>
        <p:spPr>
          <a:xfrm>
            <a:off x="640080" y="4992624"/>
            <a:ext cx="5212080" cy="502920"/>
          </a:xfrm>
          <a:prstGeom prst="rect">
            <a:avLst/>
          </a:prstGeom>
          <a:noFill/>
          <a:ln/>
        </p:spPr>
        <p:txBody>
          <a:bodyPr wrap="square" lIns="0" tIns="0" rIns="0" bIns="0" rtlCol="0" anchor="t"/>
          <a:lstStyle/>
          <a:p>
            <a:pPr indent="0" marL="0">
              <a:buNone/>
            </a:pPr>
            <a:r>
              <a:rPr lang="en-US" sz="860" dirty="0">
                <a:solidFill>
                  <a:srgbClr val="16325C"/>
                </a:solidFill>
                <a:latin typeface="Consolas" pitchFamily="34" charset="0"/>
                <a:ea typeface="Consolas" pitchFamily="34" charset="-122"/>
                <a:cs typeface="Consolas" pitchFamily="34" charset="-120"/>
              </a:rPr>
              <a:t>travel 45.3 mm at 2.2 mm/rev × 1 cut = 32 s cutting + 18 s handling</a:t>
            </a:r>
            <a:endParaRPr lang="en-US" sz="860" dirty="0"/>
          </a:p>
        </p:txBody>
      </p:sp>
      <p:sp>
        <p:nvSpPr>
          <p:cNvPr id="64" name="Shape 62"/>
          <p:cNvSpPr/>
          <p:nvPr/>
        </p:nvSpPr>
        <p:spPr>
          <a:xfrm>
            <a:off x="6199632" y="4315968"/>
            <a:ext cx="5532120" cy="1243584"/>
          </a:xfrm>
          <a:prstGeom prst="roundRect">
            <a:avLst>
              <a:gd name="adj" fmla="val 5882"/>
            </a:avLst>
          </a:prstGeom>
          <a:solidFill>
            <a:srgbClr val="E8F1FA"/>
          </a:solidFill>
          <a:ln w="12700">
            <a:solidFill>
              <a:srgbClr val="1D6FB8"/>
            </a:solidFill>
            <a:prstDash val="solid"/>
          </a:ln>
        </p:spPr>
      </p:sp>
      <p:sp>
        <p:nvSpPr>
          <p:cNvPr id="65" name="Text 63"/>
          <p:cNvSpPr/>
          <p:nvPr/>
        </p:nvSpPr>
        <p:spPr>
          <a:xfrm>
            <a:off x="6382512" y="4389120"/>
            <a:ext cx="5212080" cy="201168"/>
          </a:xfrm>
          <a:prstGeom prst="rect">
            <a:avLst/>
          </a:prstGeom>
          <a:noFill/>
          <a:ln/>
        </p:spPr>
        <p:txBody>
          <a:bodyPr wrap="square" lIns="0" tIns="0" rIns="0" bIns="0" rtlCol="0" anchor="ctr"/>
          <a:lstStyle/>
          <a:p>
            <a:pPr indent="0" marL="0">
              <a:buNone/>
            </a:pPr>
            <a:r>
              <a:rPr lang="en-US" sz="900" b="1" spc="50" kern="0" dirty="0">
                <a:solidFill>
                  <a:srgbClr val="1D6FB8"/>
                </a:solidFill>
                <a:latin typeface="Calibri" pitchFamily="34" charset="0"/>
                <a:ea typeface="Calibri" pitchFamily="34" charset="-122"/>
                <a:cs typeface="Calibri" pitchFamily="34" charset="-120"/>
              </a:rPr>
              <a:t>IT PICKS THE MACHINE, AND REFUSES WHEN IT CANNOT</a:t>
            </a:r>
            <a:endParaRPr lang="en-US" sz="900" dirty="0"/>
          </a:p>
        </p:txBody>
      </p:sp>
      <p:sp>
        <p:nvSpPr>
          <p:cNvPr id="66" name="Shape 64"/>
          <p:cNvSpPr/>
          <p:nvPr/>
        </p:nvSpPr>
        <p:spPr>
          <a:xfrm>
            <a:off x="6419088" y="4709160"/>
            <a:ext cx="82296" cy="82296"/>
          </a:xfrm>
          <a:prstGeom prst="ellipse">
            <a:avLst/>
          </a:prstGeom>
          <a:solidFill>
            <a:srgbClr val="1D6FB8"/>
          </a:solidFill>
          <a:ln/>
        </p:spPr>
      </p:sp>
      <p:sp>
        <p:nvSpPr>
          <p:cNvPr id="67" name="Text 65"/>
          <p:cNvSpPr/>
          <p:nvPr/>
        </p:nvSpPr>
        <p:spPr>
          <a:xfrm>
            <a:off x="6601968" y="4626864"/>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14 gear machines in the rate library — hobbers, shapers, skivers, grinders, broach, honer, checker</a:t>
            </a:r>
            <a:endParaRPr lang="en-US" sz="900" dirty="0"/>
          </a:p>
        </p:txBody>
      </p:sp>
      <p:sp>
        <p:nvSpPr>
          <p:cNvPr id="68" name="Shape 66"/>
          <p:cNvSpPr/>
          <p:nvPr/>
        </p:nvSpPr>
        <p:spPr>
          <a:xfrm>
            <a:off x="6419088" y="5010912"/>
            <a:ext cx="82296" cy="82296"/>
          </a:xfrm>
          <a:prstGeom prst="ellipse">
            <a:avLst/>
          </a:prstGeom>
          <a:solidFill>
            <a:srgbClr val="1D6FB8"/>
          </a:solidFill>
          <a:ln/>
        </p:spPr>
      </p:sp>
      <p:sp>
        <p:nvSpPr>
          <p:cNvPr id="69" name="Text 67"/>
          <p:cNvSpPr/>
          <p:nvPr/>
        </p:nvSpPr>
        <p:spPr>
          <a:xfrm>
            <a:off x="6601968" y="4928616"/>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Sized on module × diameter × face width, not diameter alone</a:t>
            </a:r>
            <a:endParaRPr lang="en-US" sz="900" dirty="0"/>
          </a:p>
        </p:txBody>
      </p:sp>
      <p:sp>
        <p:nvSpPr>
          <p:cNvPr id="70" name="Shape 68"/>
          <p:cNvSpPr/>
          <p:nvPr/>
        </p:nvSpPr>
        <p:spPr>
          <a:xfrm>
            <a:off x="6419088" y="5312664"/>
            <a:ext cx="82296" cy="82296"/>
          </a:xfrm>
          <a:prstGeom prst="ellipse">
            <a:avLst/>
          </a:prstGeom>
          <a:solidFill>
            <a:srgbClr val="1D6FB8"/>
          </a:solidFill>
          <a:ln/>
        </p:spPr>
      </p:sp>
      <p:sp>
        <p:nvSpPr>
          <p:cNvPr id="71" name="Text 69"/>
          <p:cNvSpPr/>
          <p:nvPr/>
        </p:nvSpPr>
        <p:spPr>
          <a:xfrm>
            <a:off x="6601968" y="5230368"/>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gear beyond every machine is BLOCKED, never costed on the biggest one</a:t>
            </a:r>
            <a:endParaRPr lang="en-US" sz="900" dirty="0"/>
          </a:p>
        </p:txBody>
      </p:sp>
      <p:sp>
        <p:nvSpPr>
          <p:cNvPr id="72" name="Shape 70"/>
          <p:cNvSpPr/>
          <p:nvPr/>
        </p:nvSpPr>
        <p:spPr>
          <a:xfrm>
            <a:off x="457200" y="5669280"/>
            <a:ext cx="11274552" cy="457200"/>
          </a:xfrm>
          <a:prstGeom prst="roundRect">
            <a:avLst>
              <a:gd name="adj" fmla="val 14000"/>
            </a:avLst>
          </a:prstGeom>
          <a:solidFill>
            <a:srgbClr val="FDEEEC"/>
          </a:solidFill>
          <a:ln w="12700">
            <a:solidFill>
              <a:srgbClr val="B03A2E"/>
            </a:solidFill>
            <a:prstDash val="solid"/>
          </a:ln>
        </p:spPr>
      </p:sp>
      <p:sp>
        <p:nvSpPr>
          <p:cNvPr id="73" name="Text 71"/>
          <p:cNvSpPr/>
          <p:nvPr/>
        </p:nvSpPr>
        <p:spPr>
          <a:xfrm>
            <a:off x="658368" y="5669280"/>
            <a:ext cx="10881360" cy="457200"/>
          </a:xfrm>
          <a:prstGeom prst="rect">
            <a:avLst/>
          </a:prstGeom>
          <a:noFill/>
          <a:ln/>
        </p:spPr>
        <p:txBody>
          <a:bodyPr wrap="square" lIns="0" tIns="0" rIns="0" bIns="0" rtlCol="0" anchor="ctr"/>
          <a:lstStyle/>
          <a:p>
            <a:pPr indent="0" marL="0">
              <a:buNone/>
            </a:pPr>
            <a:r>
              <a:rPr lang="en-US" sz="1000" b="1" dirty="0">
                <a:solidFill>
                  <a:srgbClr val="B03A2E"/>
                </a:solidFill>
                <a:latin typeface="Calibri" pitchFamily="34" charset="0"/>
                <a:ea typeface="Calibri" pitchFamily="34" charset="-122"/>
                <a:cs typeface="Calibri" pitchFamily="34" charset="-120"/>
              </a:rPr>
              <a:t>Said plainly: </a:t>
            </a:r>
            <a:pPr indent="0" marL="0">
              <a:buNone/>
            </a:pPr>
            <a:r>
              <a:rPr lang="en-US" sz="1000" dirty="0">
                <a:solidFill>
                  <a:srgbClr val="3A4356"/>
                </a:solidFill>
                <a:latin typeface="Calibri" pitchFamily="34" charset="0"/>
                <a:ea typeface="Calibri" pitchFamily="34" charset="-122"/>
                <a:cs typeface="Calibri" pitchFamily="34" charset="-120"/>
              </a:rPr>
              <a:t>all 80 shop numbers — feeds, speeds, tool life, heat-treat rates — are representative, not from your plant. The tool prints that warning on every gear estimate. It shows the right structure; it is not yet a quotable number.</a:t>
            </a:r>
            <a:endParaRPr lang="en-US" sz="1000" dirty="0"/>
          </a:p>
        </p:txBody>
      </p:sp>
      <p:sp>
        <p:nvSpPr>
          <p:cNvPr id="74" name="Text 7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5" name="Text 7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We Then Attacked Our Own Gear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Seven faults found — every one of them returned a confident, sensible-looking number</a:t>
            </a:r>
            <a:endParaRPr lang="en-US" sz="1200" dirty="0"/>
          </a:p>
        </p:txBody>
      </p:sp>
      <p:sp>
        <p:nvSpPr>
          <p:cNvPr id="5" name="Shape 3"/>
          <p:cNvSpPr/>
          <p:nvPr/>
        </p:nvSpPr>
        <p:spPr>
          <a:xfrm>
            <a:off x="9445752" y="256032"/>
            <a:ext cx="2286000" cy="310896"/>
          </a:xfrm>
          <a:prstGeom prst="roundRect">
            <a:avLst>
              <a:gd name="adj" fmla="val 50000"/>
            </a:avLst>
          </a:prstGeom>
          <a:solidFill>
            <a:srgbClr val="FDEEEC"/>
          </a:solidFill>
          <a:ln w="12700">
            <a:solidFill>
              <a:srgbClr val="B03A2E"/>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B03A2E"/>
                </a:solidFill>
                <a:latin typeface="Calibri" pitchFamily="34" charset="0"/>
                <a:ea typeface="Calibri" pitchFamily="34" charset="-122"/>
                <a:cs typeface="Calibri" pitchFamily="34" charset="-120"/>
              </a:rPr>
              <a:t>OWNER: US</a:t>
            </a:r>
            <a:endParaRPr lang="en-US" sz="950" dirty="0"/>
          </a:p>
        </p:txBody>
      </p:sp>
      <p:sp>
        <p:nvSpPr>
          <p:cNvPr id="7" name="Shape 5"/>
          <p:cNvSpPr/>
          <p:nvPr/>
        </p:nvSpPr>
        <p:spPr>
          <a:xfrm>
            <a:off x="457200" y="1188720"/>
            <a:ext cx="11274552" cy="969264"/>
          </a:xfrm>
          <a:prstGeom prst="roundRect">
            <a:avLst>
              <a:gd name="adj" fmla="val 6604"/>
            </a:avLst>
          </a:prstGeom>
          <a:solidFill>
            <a:srgbClr val="FFFFFF"/>
          </a:solidFill>
          <a:ln w="9525">
            <a:solidFill>
              <a:srgbClr val="DCE3EE"/>
            </a:solidFill>
            <a:prstDash val="solid"/>
          </a:ln>
        </p:spPr>
      </p:sp>
      <p:sp>
        <p:nvSpPr>
          <p:cNvPr id="8" name="Shape 6"/>
          <p:cNvSpPr/>
          <p:nvPr/>
        </p:nvSpPr>
        <p:spPr>
          <a:xfrm>
            <a:off x="457200" y="1188720"/>
            <a:ext cx="50292" cy="969264"/>
          </a:xfrm>
          <a:prstGeom prst="rect">
            <a:avLst/>
          </a:prstGeom>
          <a:solidFill>
            <a:srgbClr val="B03A2E"/>
          </a:solidFill>
          <a:ln/>
        </p:spPr>
      </p:sp>
      <p:sp>
        <p:nvSpPr>
          <p:cNvPr id="9" name="Text 7"/>
          <p:cNvSpPr/>
          <p:nvPr/>
        </p:nvSpPr>
        <p:spPr>
          <a:xfrm>
            <a:off x="676656" y="1261872"/>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Volume did nothing</a:t>
            </a:r>
            <a:endParaRPr lang="en-US" sz="1100" dirty="0"/>
          </a:p>
        </p:txBody>
      </p:sp>
      <p:sp>
        <p:nvSpPr>
          <p:cNvPr id="10" name="Text 8"/>
          <p:cNvSpPr/>
          <p:nvPr/>
        </p:nvSpPr>
        <p:spPr>
          <a:xfrm>
            <a:off x="676656" y="1554480"/>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The same gear cost £13.05 at 1,000 a year and £13.05 at a million a year. Identical to the penny.</a:t>
            </a:r>
            <a:endParaRPr lang="en-US" sz="860" dirty="0"/>
          </a:p>
        </p:txBody>
      </p:sp>
      <p:sp>
        <p:nvSpPr>
          <p:cNvPr id="11" name="Shape 9"/>
          <p:cNvSpPr/>
          <p:nvPr/>
        </p:nvSpPr>
        <p:spPr>
          <a:xfrm>
            <a:off x="4023360" y="1316736"/>
            <a:ext cx="7571232" cy="713232"/>
          </a:xfrm>
          <a:prstGeom prst="roundRect">
            <a:avLst>
              <a:gd name="adj" fmla="val 7692"/>
            </a:avLst>
          </a:prstGeom>
          <a:solidFill>
            <a:srgbClr val="EAF6EF"/>
          </a:solidFill>
          <a:ln/>
        </p:spPr>
      </p:sp>
      <p:sp>
        <p:nvSpPr>
          <p:cNvPr id="12" name="Text 10"/>
          <p:cNvSpPr/>
          <p:nvPr/>
        </p:nvSpPr>
        <p:spPr>
          <a:xfrm>
            <a:off x="4206240" y="1316736"/>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Fixture, programming, first-article and broach capital now amortise. £35.81 at 1k/yr → £13.46 at 1M/yr.</a:t>
            </a:r>
            <a:endParaRPr lang="en-US" sz="980" dirty="0"/>
          </a:p>
        </p:txBody>
      </p:sp>
      <p:sp>
        <p:nvSpPr>
          <p:cNvPr id="13" name="Shape 11"/>
          <p:cNvSpPr/>
          <p:nvPr/>
        </p:nvSpPr>
        <p:spPr>
          <a:xfrm>
            <a:off x="457200" y="2249424"/>
            <a:ext cx="11274552" cy="969264"/>
          </a:xfrm>
          <a:prstGeom prst="roundRect">
            <a:avLst>
              <a:gd name="adj" fmla="val 6604"/>
            </a:avLst>
          </a:prstGeom>
          <a:solidFill>
            <a:srgbClr val="FFFFFF"/>
          </a:solidFill>
          <a:ln w="9525">
            <a:solidFill>
              <a:srgbClr val="DCE3EE"/>
            </a:solidFill>
            <a:prstDash val="solid"/>
          </a:ln>
        </p:spPr>
      </p:sp>
      <p:sp>
        <p:nvSpPr>
          <p:cNvPr id="14" name="Shape 12"/>
          <p:cNvSpPr/>
          <p:nvPr/>
        </p:nvSpPr>
        <p:spPr>
          <a:xfrm>
            <a:off x="457200" y="2249424"/>
            <a:ext cx="50292" cy="969264"/>
          </a:xfrm>
          <a:prstGeom prst="rect">
            <a:avLst/>
          </a:prstGeom>
          <a:solidFill>
            <a:srgbClr val="B03A2E"/>
          </a:solidFill>
          <a:ln/>
        </p:spPr>
      </p:sp>
      <p:sp>
        <p:nvSpPr>
          <p:cNvPr id="15" name="Text 13"/>
          <p:cNvSpPr/>
          <p:nvPr/>
        </p:nvSpPr>
        <p:spPr>
          <a:xfrm>
            <a:off x="676656" y="2322576"/>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A gear with zero teeth got a price</a:t>
            </a:r>
            <a:endParaRPr lang="en-US" sz="1100" dirty="0"/>
          </a:p>
        </p:txBody>
      </p:sp>
      <p:sp>
        <p:nvSpPr>
          <p:cNvPr id="16" name="Text 14"/>
          <p:cNvSpPr/>
          <p:nvPr/>
        </p:nvSpPr>
        <p:spPr>
          <a:xfrm>
            <a:off x="676656" y="2615184"/>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£11.12. So did negative teeth and zero face width. A zero amortisation volume returned "not a number".</a:t>
            </a:r>
            <a:endParaRPr lang="en-US" sz="860" dirty="0"/>
          </a:p>
        </p:txBody>
      </p:sp>
      <p:sp>
        <p:nvSpPr>
          <p:cNvPr id="17" name="Shape 15"/>
          <p:cNvSpPr/>
          <p:nvPr/>
        </p:nvSpPr>
        <p:spPr>
          <a:xfrm>
            <a:off x="4023360" y="2377440"/>
            <a:ext cx="7571232" cy="713232"/>
          </a:xfrm>
          <a:prstGeom prst="roundRect">
            <a:avLst>
              <a:gd name="adj" fmla="val 7692"/>
            </a:avLst>
          </a:prstGeom>
          <a:solidFill>
            <a:srgbClr val="EAF6EF"/>
          </a:solidFill>
          <a:ln/>
        </p:spPr>
      </p:sp>
      <p:sp>
        <p:nvSpPr>
          <p:cNvPr id="18" name="Text 16"/>
          <p:cNvSpPr/>
          <p:nvPr/>
        </p:nvSpPr>
        <p:spPr>
          <a:xfrm>
            <a:off x="4206240" y="2377440"/>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16 impossible definitions are now refused, each naming the field that is wrong.</a:t>
            </a:r>
            <a:endParaRPr lang="en-US" sz="980" dirty="0"/>
          </a:p>
        </p:txBody>
      </p:sp>
      <p:sp>
        <p:nvSpPr>
          <p:cNvPr id="19" name="Shape 17"/>
          <p:cNvSpPr/>
          <p:nvPr/>
        </p:nvSpPr>
        <p:spPr>
          <a:xfrm>
            <a:off x="457200" y="3310128"/>
            <a:ext cx="11274552" cy="969264"/>
          </a:xfrm>
          <a:prstGeom prst="roundRect">
            <a:avLst>
              <a:gd name="adj" fmla="val 6604"/>
            </a:avLst>
          </a:prstGeom>
          <a:solidFill>
            <a:srgbClr val="FFFFFF"/>
          </a:solidFill>
          <a:ln w="9525">
            <a:solidFill>
              <a:srgbClr val="DCE3EE"/>
            </a:solidFill>
            <a:prstDash val="solid"/>
          </a:ln>
        </p:spPr>
      </p:sp>
      <p:sp>
        <p:nvSpPr>
          <p:cNvPr id="20" name="Shape 18"/>
          <p:cNvSpPr/>
          <p:nvPr/>
        </p:nvSpPr>
        <p:spPr>
          <a:xfrm>
            <a:off x="457200" y="3310128"/>
            <a:ext cx="50292" cy="969264"/>
          </a:xfrm>
          <a:prstGeom prst="rect">
            <a:avLst/>
          </a:prstGeom>
          <a:solidFill>
            <a:srgbClr val="B03A2E"/>
          </a:solidFill>
          <a:ln/>
        </p:spPr>
      </p:sp>
      <p:sp>
        <p:nvSpPr>
          <p:cNvPr id="21" name="Text 19"/>
          <p:cNvSpPr/>
          <p:nvPr/>
        </p:nvSpPr>
        <p:spPr>
          <a:xfrm>
            <a:off x="676656" y="3383280"/>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An internal gear was sent to the wrong grinder</a:t>
            </a:r>
            <a:endParaRPr lang="en-US" sz="1100" dirty="0"/>
          </a:p>
        </p:txBody>
      </p:sp>
      <p:sp>
        <p:nvSpPr>
          <p:cNvPr id="22" name="Text 20"/>
          <p:cNvSpPr/>
          <p:nvPr/>
        </p:nvSpPr>
        <p:spPr>
          <a:xfrm>
            <a:off x="676656" y="3675888"/>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A generating grinder works from outside and cannot enter a bore. Not a smaller machine — the wrong machine.</a:t>
            </a:r>
            <a:endParaRPr lang="en-US" sz="860" dirty="0"/>
          </a:p>
        </p:txBody>
      </p:sp>
      <p:sp>
        <p:nvSpPr>
          <p:cNvPr id="23" name="Shape 21"/>
          <p:cNvSpPr/>
          <p:nvPr/>
        </p:nvSpPr>
        <p:spPr>
          <a:xfrm>
            <a:off x="4023360" y="3438144"/>
            <a:ext cx="7571232" cy="713232"/>
          </a:xfrm>
          <a:prstGeom prst="roundRect">
            <a:avLst>
              <a:gd name="adj" fmla="val 7692"/>
            </a:avLst>
          </a:prstGeom>
          <a:solidFill>
            <a:srgbClr val="EAF6EF"/>
          </a:solidFill>
          <a:ln/>
        </p:spPr>
      </p:sp>
      <p:sp>
        <p:nvSpPr>
          <p:cNvPr id="24" name="Text 22"/>
          <p:cNvSpPr/>
          <p:nvPr/>
        </p:nvSpPr>
        <p:spPr>
          <a:xfrm>
            <a:off x="4206240" y="3438144"/>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Grinder choice is now internal-aware; honing and shaving are refused on internal gears.</a:t>
            </a:r>
            <a:endParaRPr lang="en-US" sz="980" dirty="0"/>
          </a:p>
        </p:txBody>
      </p:sp>
      <p:sp>
        <p:nvSpPr>
          <p:cNvPr id="25" name="Shape 23"/>
          <p:cNvSpPr/>
          <p:nvPr/>
        </p:nvSpPr>
        <p:spPr>
          <a:xfrm>
            <a:off x="457200" y="4370832"/>
            <a:ext cx="11274552" cy="969264"/>
          </a:xfrm>
          <a:prstGeom prst="roundRect">
            <a:avLst>
              <a:gd name="adj" fmla="val 6604"/>
            </a:avLst>
          </a:prstGeom>
          <a:solidFill>
            <a:srgbClr val="FFFFFF"/>
          </a:solidFill>
          <a:ln w="9525">
            <a:solidFill>
              <a:srgbClr val="DCE3EE"/>
            </a:solidFill>
            <a:prstDash val="solid"/>
          </a:ln>
        </p:spPr>
      </p:sp>
      <p:sp>
        <p:nvSpPr>
          <p:cNvPr id="26" name="Shape 24"/>
          <p:cNvSpPr/>
          <p:nvPr/>
        </p:nvSpPr>
        <p:spPr>
          <a:xfrm>
            <a:off x="457200" y="4370832"/>
            <a:ext cx="50292" cy="969264"/>
          </a:xfrm>
          <a:prstGeom prst="rect">
            <a:avLst/>
          </a:prstGeom>
          <a:solidFill>
            <a:srgbClr val="B03A2E"/>
          </a:solidFill>
          <a:ln/>
        </p:spPr>
      </p:sp>
      <p:sp>
        <p:nvSpPr>
          <p:cNvPr id="27" name="Text 25"/>
          <p:cNvSpPr/>
          <p:nvPr/>
        </p:nvSpPr>
        <p:spPr>
          <a:xfrm>
            <a:off x="676656" y="4443984"/>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Quality grade stopped mattering once grinding started</a:t>
            </a:r>
            <a:endParaRPr lang="en-US" sz="1100" dirty="0"/>
          </a:p>
        </p:txBody>
      </p:sp>
      <p:sp>
        <p:nvSpPr>
          <p:cNvPr id="28" name="Text 26"/>
          <p:cNvSpPr/>
          <p:nvPr/>
        </p:nvSpPr>
        <p:spPr>
          <a:xfrm>
            <a:off x="676656" y="4736592"/>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Class 6, 5 and 4 all ground for exactly 39.3 seconds — contradicting the whole point of the model.</a:t>
            </a:r>
            <a:endParaRPr lang="en-US" sz="860" dirty="0"/>
          </a:p>
        </p:txBody>
      </p:sp>
      <p:sp>
        <p:nvSpPr>
          <p:cNvPr id="29" name="Shape 27"/>
          <p:cNvSpPr/>
          <p:nvPr/>
        </p:nvSpPr>
        <p:spPr>
          <a:xfrm>
            <a:off x="4023360" y="4498848"/>
            <a:ext cx="7571232" cy="713232"/>
          </a:xfrm>
          <a:prstGeom prst="roundRect">
            <a:avLst>
              <a:gd name="adj" fmla="val 7692"/>
            </a:avLst>
          </a:prstGeom>
          <a:solidFill>
            <a:srgbClr val="EAF6EF"/>
          </a:solidFill>
          <a:ln/>
        </p:spPr>
      </p:sp>
      <p:sp>
        <p:nvSpPr>
          <p:cNvPr id="30" name="Text 28"/>
          <p:cNvSpPr/>
          <p:nvPr/>
        </p:nvSpPr>
        <p:spPr>
          <a:xfrm>
            <a:off x="4206240" y="4498848"/>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Tighter classes now buy spark-out passes, and the tool shows them in the sum.</a:t>
            </a:r>
            <a:endParaRPr lang="en-US" sz="980" dirty="0"/>
          </a:p>
        </p:txBody>
      </p:sp>
      <p:sp>
        <p:nvSpPr>
          <p:cNvPr id="31" name="Shape 29"/>
          <p:cNvSpPr/>
          <p:nvPr/>
        </p:nvSpPr>
        <p:spPr>
          <a:xfrm>
            <a:off x="457200" y="5504688"/>
            <a:ext cx="11274552" cy="457200"/>
          </a:xfrm>
          <a:prstGeom prst="roundRect">
            <a:avLst>
              <a:gd name="adj" fmla="val 14000"/>
            </a:avLst>
          </a:prstGeom>
          <a:solidFill>
            <a:srgbClr val="E6F4F1"/>
          </a:solidFill>
          <a:ln w="12700">
            <a:solidFill>
              <a:srgbClr val="0D7D71"/>
            </a:solidFill>
            <a:prstDash val="solid"/>
          </a:ln>
        </p:spPr>
      </p:sp>
      <p:sp>
        <p:nvSpPr>
          <p:cNvPr id="32" name="Text 30"/>
          <p:cNvSpPr/>
          <p:nvPr/>
        </p:nvSpPr>
        <p:spPr>
          <a:xfrm>
            <a:off x="658368" y="5504688"/>
            <a:ext cx="10881360" cy="457200"/>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All seven are now locked down by 38 automated tests, so they cannot come back. Total suite: 1,777 tests.</a:t>
            </a:r>
            <a:endParaRPr lang="en-US" sz="105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Eighteen manufacturing commodities are modelled (plus assembly roll-up and software). A genuinely novel process needs a new module — days of work, not minutes, and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99651A"/>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Reference Material</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Everything behind the numbers — kept out of the main hour, here when it is asked for</a:t>
            </a:r>
            <a:endParaRPr lang="en-US" sz="1500" dirty="0"/>
          </a:p>
        </p:txBody>
      </p:sp>
      <p:sp>
        <p:nvSpPr>
          <p:cNvPr id="8" name="Shape 6"/>
          <p:cNvSpPr/>
          <p:nvPr/>
        </p:nvSpPr>
        <p:spPr>
          <a:xfrm>
            <a:off x="786384" y="3730752"/>
            <a:ext cx="100584" cy="100584"/>
          </a:xfrm>
          <a:prstGeom prst="ellipse">
            <a:avLst/>
          </a:prstGeom>
          <a:solidFill>
            <a:srgbClr val="99651A"/>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complete DFM/DFA rule library — 52 threshold rules, 10 geometry advisors, 36 idea levers</a:t>
            </a:r>
            <a:endParaRPr lang="en-US" sz="1200" dirty="0"/>
          </a:p>
        </p:txBody>
      </p:sp>
      <p:sp>
        <p:nvSpPr>
          <p:cNvPr id="10" name="Shape 8"/>
          <p:cNvSpPr/>
          <p:nvPr/>
        </p:nvSpPr>
        <p:spPr>
          <a:xfrm>
            <a:off x="786384" y="4059936"/>
            <a:ext cx="100584" cy="100584"/>
          </a:xfrm>
          <a:prstGeom prst="ellipse">
            <a:avLst/>
          </a:prstGeom>
          <a:solidFill>
            <a:srgbClr val="99651A"/>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engineering actually sees: opportunities ranked by money, never a score</a:t>
            </a:r>
            <a:endParaRPr lang="en-US" sz="1200" dirty="0"/>
          </a:p>
        </p:txBody>
      </p:sp>
      <p:sp>
        <p:nvSpPr>
          <p:cNvPr id="12" name="Shape 10"/>
          <p:cNvSpPr/>
          <p:nvPr/>
        </p:nvSpPr>
        <p:spPr>
          <a:xfrm>
            <a:off x="786384" y="4389120"/>
            <a:ext cx="100584" cy="100584"/>
          </a:xfrm>
          <a:prstGeom prst="ellipse">
            <a:avLst/>
          </a:prstGeom>
          <a:solidFill>
            <a:srgbClr val="99651A"/>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Technical architecture — languages, code size, licences and what calls out</a:t>
            </a:r>
            <a:endParaRPr lang="en-US" sz="1200" dirty="0"/>
          </a:p>
        </p:txBody>
      </p:sp>
      <p:sp>
        <p:nvSpPr>
          <p:cNvPr id="14" name="Shape 12"/>
          <p:cNvSpPr/>
          <p:nvPr/>
        </p:nvSpPr>
        <p:spPr>
          <a:xfrm>
            <a:off x="786384" y="4718304"/>
            <a:ext cx="100584" cy="100584"/>
          </a:xfrm>
          <a:prstGeom prst="ellipse">
            <a:avLst/>
          </a:prstGeom>
          <a:solidFill>
            <a:srgbClr val="99651A"/>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Backup: the data contracts, field by field</a:t>
            </a:r>
            <a:endParaRPr lang="en-US" sz="1200" dirty="0"/>
          </a:p>
        </p:txBody>
      </p:sp>
      <p:sp>
        <p:nvSpPr>
          <p:cNvPr id="16" name="Text 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appendix — reference material</a:t>
            </a:r>
            <a:endParaRPr lang="en-US" sz="850" dirty="0"/>
          </a:p>
        </p:txBody>
      </p:sp>
      <p:sp>
        <p:nvSpPr>
          <p:cNvPr id="17" name="Text 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D7D71"/>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D7D71"/>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99651A"/>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99651A"/>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A7F50"/>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A7F50"/>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D7D71"/>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D7D71"/>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86F7D"/>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86F7D"/>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86F7D"/>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D7D71"/>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D7D71"/>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D7D71"/>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D7D71"/>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D7D71"/>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D7D71"/>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D7D71"/>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A7F50"/>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A7F50"/>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A7F50"/>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A7F50"/>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86F7D"/>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86F7D"/>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86F7D"/>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86F7D"/>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86F7D"/>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86F7D"/>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A7F50"/>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A7F50"/>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86F7D"/>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the two previous slides: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52</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86F7D"/>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86F7D"/>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53</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D7D71"/>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54</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99651A"/>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A7F50"/>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55</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A7F50"/>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Combined opportunity £5.55/part </a:t>
            </a:r>
            <a:pPr indent="0" marL="0">
              <a:buNone/>
            </a:pPr>
            <a:r>
              <a:rPr lang="en-US" sz="1100" dirty="0">
                <a:solidFill>
                  <a:srgbClr val="3A4356"/>
                </a:solidFill>
                <a:latin typeface="Calibri" pitchFamily="34" charset="0"/>
                <a:ea typeface="Calibri" pitchFamily="34" charset="-122"/>
                <a:cs typeface="Calibri" pitchFamily="34" charset="-120"/>
              </a:rPr>
              <a:t>(~22%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a:t>
            </a:r>
            <a:endParaRPr lang="en-US" sz="75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ACTION</a:t>
            </a:r>
            <a:endParaRPr lang="en-US" sz="75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WHY IT IS ON THE LIST</a:t>
            </a:r>
            <a:endParaRPr lang="en-US" sz="75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SAVE/PART</a:t>
            </a:r>
            <a:endParaRPr lang="en-US" sz="75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RISK</a:t>
            </a:r>
            <a:endParaRPr lang="en-US" sz="75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TIMEFRAME</a:t>
            </a:r>
            <a:endParaRPr lang="en-US" sz="75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D7D71"/>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D7D71"/>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56</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A CAD file, a PCB photo, or a typed form</a:t>
            </a:r>
            <a:endParaRPr lang="en-US" sz="75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the file</a:t>
            </a:r>
            <a:endParaRPr lang="en-US" sz="75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STEP · IGES · STL · JPG</a:t>
            </a:r>
            <a:endParaRPr lang="en-US" sz="75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99651A"/>
            </a:solidFill>
            <a:prstDash val="solid"/>
          </a:ln>
        </p:spPr>
      </p:sp>
      <p:sp>
        <p:nvSpPr>
          <p:cNvPr id="15" name="Shape 13"/>
          <p:cNvSpPr/>
          <p:nvPr/>
        </p:nvSpPr>
        <p:spPr>
          <a:xfrm>
            <a:off x="2039112" y="1033272"/>
            <a:ext cx="256032" cy="256032"/>
          </a:xfrm>
          <a:prstGeom prst="ellipse">
            <a:avLst/>
          </a:prstGeom>
          <a:solidFill>
            <a:srgbClr val="99651A"/>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99651A"/>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The Python kernel measures the solid</a:t>
            </a:r>
            <a:endParaRPr lang="en-US" sz="75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OCCTGeometry</a:t>
            </a:r>
            <a:endParaRPr lang="en-US" sz="75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size, walls, holes, draft</a:t>
            </a:r>
            <a:endParaRPr lang="en-US" sz="75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D7D71"/>
            </a:solidFill>
            <a:prstDash val="solid"/>
          </a:ln>
        </p:spPr>
      </p:sp>
      <p:sp>
        <p:nvSpPr>
          <p:cNvPr id="24" name="Shape 22"/>
          <p:cNvSpPr/>
          <p:nvPr/>
        </p:nvSpPr>
        <p:spPr>
          <a:xfrm>
            <a:off x="3209544" y="1033272"/>
            <a:ext cx="256032" cy="256032"/>
          </a:xfrm>
          <a:prstGeom prst="ellipse">
            <a:avLst/>
          </a:prstGeom>
          <a:solidFill>
            <a:srgbClr val="0D7D71"/>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D7D71"/>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162 rules turn measurements into cost inputs</a:t>
            </a:r>
            <a:endParaRPr lang="en-US" sz="75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UniversalStackInput</a:t>
            </a:r>
            <a:endParaRPr lang="en-US" sz="75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material, operations, tooling</a:t>
            </a:r>
            <a:endParaRPr lang="en-US" sz="750" dirty="0"/>
          </a:p>
        </p:txBody>
      </p:sp>
      <p:sp>
        <p:nvSpPr>
          <p:cNvPr id="32" name="Shape 30"/>
          <p:cNvSpPr/>
          <p:nvPr/>
        </p:nvSpPr>
        <p:spPr>
          <a:xfrm>
            <a:off x="3913632" y="1709928"/>
            <a:ext cx="201168" cy="0"/>
          </a:xfrm>
          <a:prstGeom prst="line">
            <a:avLst/>
          </a:prstGeom>
          <a:noFill/>
          <a:ln w="31750">
            <a:solidFill>
              <a:srgbClr val="0D7D71"/>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D7D71"/>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TypeScript · 27,181 lines · 1,777 tests · same code runs in the browser and on the server</a:t>
            </a:r>
            <a:endParaRPr lang="en-US" sz="750" dirty="0"/>
          </a:p>
        </p:txBody>
      </p:sp>
      <p:sp>
        <p:nvSpPr>
          <p:cNvPr id="36" name="Shape 34"/>
          <p:cNvSpPr/>
          <p:nvPr/>
        </p:nvSpPr>
        <p:spPr>
          <a:xfrm>
            <a:off x="4279392" y="1444752"/>
            <a:ext cx="64008" cy="64008"/>
          </a:xfrm>
          <a:prstGeom prst="ellipse">
            <a:avLst/>
          </a:prstGeom>
          <a:solidFill>
            <a:srgbClr val="0D7D71"/>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core.ts works out the 8 cost buckets</a:t>
            </a:r>
            <a:endParaRPr lang="en-US" sz="750" dirty="0"/>
          </a:p>
        </p:txBody>
      </p:sp>
      <p:sp>
        <p:nvSpPr>
          <p:cNvPr id="38" name="Shape 36"/>
          <p:cNvSpPr/>
          <p:nvPr/>
        </p:nvSpPr>
        <p:spPr>
          <a:xfrm>
            <a:off x="6126480" y="1444752"/>
            <a:ext cx="64008" cy="64008"/>
          </a:xfrm>
          <a:prstGeom prst="ellipse">
            <a:avLst/>
          </a:prstGeom>
          <a:solidFill>
            <a:srgbClr val="0D7D71"/>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19 commodity modules</a:t>
            </a:r>
            <a:endParaRPr lang="en-US" sz="750" dirty="0"/>
          </a:p>
        </p:txBody>
      </p:sp>
      <p:sp>
        <p:nvSpPr>
          <p:cNvPr id="40" name="Shape 38"/>
          <p:cNvSpPr/>
          <p:nvPr/>
        </p:nvSpPr>
        <p:spPr>
          <a:xfrm>
            <a:off x="4279392" y="1613916"/>
            <a:ext cx="64008" cy="64008"/>
          </a:xfrm>
          <a:prstGeom prst="ellipse">
            <a:avLst/>
          </a:prstGeom>
          <a:solidFill>
            <a:srgbClr val="0D7D71"/>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Optimisers pick the cheapest capable machine</a:t>
            </a:r>
            <a:endParaRPr lang="en-US" sz="750" dirty="0"/>
          </a:p>
        </p:txBody>
      </p:sp>
      <p:sp>
        <p:nvSpPr>
          <p:cNvPr id="42" name="Shape 40"/>
          <p:cNvSpPr/>
          <p:nvPr/>
        </p:nvSpPr>
        <p:spPr>
          <a:xfrm>
            <a:off x="6126480" y="1613916"/>
            <a:ext cx="64008" cy="64008"/>
          </a:xfrm>
          <a:prstGeom prst="ellipse">
            <a:avLst/>
          </a:prstGeom>
          <a:solidFill>
            <a:srgbClr val="0D7D71"/>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Guardrails check every number</a:t>
            </a:r>
            <a:endParaRPr lang="en-US" sz="7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D7D71"/>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750" b="1" dirty="0">
                <a:solidFill>
                  <a:srgbClr val="686F7D"/>
                </a:solidFill>
                <a:latin typeface="Calibri" pitchFamily="34" charset="0"/>
                <a:ea typeface="Calibri" pitchFamily="34" charset="-122"/>
                <a:cs typeface="Calibri" pitchFamily="34" charset="-120"/>
              </a:rPr>
              <a:t>HANDS ON  </a:t>
            </a:r>
            <a:pPr indent="0" marL="0">
              <a:buNone/>
            </a:pPr>
            <a:r>
              <a:rPr lang="en-US" sz="750" b="1" dirty="0">
                <a:solidFill>
                  <a:srgbClr val="16325C"/>
                </a:solidFill>
                <a:latin typeface="Consolas" pitchFamily="34" charset="0"/>
                <a:ea typeface="Consolas" pitchFamily="34" charset="-122"/>
                <a:cs typeface="Consolas" pitchFamily="34" charset="-120"/>
              </a:rPr>
              <a:t>PartCostResult</a:t>
            </a:r>
            <a:pPr indent="0" marL="0">
              <a:buNone/>
            </a:pPr>
            <a:r>
              <a:rPr lang="en-US" sz="750" dirty="0">
                <a:solidFill>
                  <a:srgbClr val="3A4356"/>
                </a:solidFill>
                <a:latin typeface="Calibri" pitchFamily="34" charset="0"/>
                <a:ea typeface="Calibri" pitchFamily="34" charset="-122"/>
                <a:cs typeface="Calibri" pitchFamily="34" charset="-120"/>
              </a:rPr>
              <a:t>  — the 8 buckets, plus where every number came from</a:t>
            </a:r>
            <a:endParaRPr lang="en-US" sz="75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750" dirty="0"/>
          </a:p>
        </p:txBody>
      </p:sp>
      <p:sp>
        <p:nvSpPr>
          <p:cNvPr id="48" name="Shape 46"/>
          <p:cNvSpPr/>
          <p:nvPr/>
        </p:nvSpPr>
        <p:spPr>
          <a:xfrm>
            <a:off x="8083296" y="1709928"/>
            <a:ext cx="201168" cy="0"/>
          </a:xfrm>
          <a:prstGeom prst="line">
            <a:avLst/>
          </a:prstGeom>
          <a:noFill/>
          <a:ln w="31750">
            <a:solidFill>
              <a:srgbClr val="0D7D71"/>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99651A"/>
            </a:solidFill>
            <a:prstDash val="solid"/>
          </a:ln>
        </p:spPr>
      </p:sp>
      <p:sp>
        <p:nvSpPr>
          <p:cNvPr id="50" name="Shape 48"/>
          <p:cNvSpPr/>
          <p:nvPr/>
        </p:nvSpPr>
        <p:spPr>
          <a:xfrm>
            <a:off x="8714232" y="1033272"/>
            <a:ext cx="256032" cy="256032"/>
          </a:xfrm>
          <a:prstGeom prst="ellipse">
            <a:avLst/>
          </a:prstGeom>
          <a:solidFill>
            <a:srgbClr val="99651A"/>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99651A"/>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Guardrails, self-audit and the confidence band</a:t>
            </a:r>
            <a:endParaRPr lang="en-US" sz="75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a checked cost</a:t>
            </a:r>
            <a:endParaRPr lang="en-US" sz="75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plus any warnings</a:t>
            </a:r>
            <a:endParaRPr lang="en-US" sz="75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A7F50"/>
            </a:solidFill>
            <a:prstDash val="solid"/>
          </a:ln>
        </p:spPr>
      </p:sp>
      <p:sp>
        <p:nvSpPr>
          <p:cNvPr id="59" name="Shape 57"/>
          <p:cNvSpPr/>
          <p:nvPr/>
        </p:nvSpPr>
        <p:spPr>
          <a:xfrm>
            <a:off x="9884664" y="1033272"/>
            <a:ext cx="256032" cy="256032"/>
          </a:xfrm>
          <a:prstGeom prst="ellipse">
            <a:avLst/>
          </a:prstGeom>
          <a:solidFill>
            <a:srgbClr val="2A7F50"/>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A7F50"/>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Findings become savings, ranked by money</a:t>
            </a:r>
            <a:endParaRPr lang="en-US" sz="75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RankedOpportunities</a:t>
            </a:r>
            <a:endParaRPr lang="en-US" sz="75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what to do, what it is worth</a:t>
            </a:r>
            <a:endParaRPr lang="en-US" sz="75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Saved on your server; reports made in the browser</a:t>
            </a:r>
            <a:endParaRPr lang="en-US" sz="75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onsolas" pitchFamily="34" charset="0"/>
                <a:ea typeface="Consolas" pitchFamily="34" charset="-122"/>
                <a:cs typeface="Consolas" pitchFamily="34" charset="-120"/>
              </a:rPr>
              <a:t>SQLite · 12 tables</a:t>
            </a:r>
            <a:endParaRPr lang="en-US" sz="75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PDF · Excel · PowerPoint</a:t>
            </a:r>
            <a:endParaRPr lang="en-US" sz="75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WHAT IS INSIDE EACH PARCEL</a:t>
            </a:r>
            <a:endParaRPr lang="en-US" sz="75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OCCTGeometry</a:t>
            </a:r>
            <a:endParaRPr lang="en-US" sz="75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75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UniversalStackInput</a:t>
            </a:r>
            <a:endParaRPr lang="en-US" sz="75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75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PartCostResult</a:t>
            </a:r>
            <a:endParaRPr lang="en-US" sz="75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75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RankedOpportunities</a:t>
            </a:r>
            <a:endParaRPr lang="en-US" sz="75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75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Geometry kernel</a:t>
            </a:r>
            <a:endParaRPr lang="en-US" sz="75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Python 3 + Open CASCADE (via OCP)</a:t>
            </a:r>
            <a:endParaRPr lang="en-US" sz="75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1,587</a:t>
            </a:r>
            <a:endParaRPr lang="en-US" sz="75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LGPL-2.1 + exc. / Apache-2.0</a:t>
            </a:r>
            <a:endParaRPr lang="en-US" sz="75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3D viewer</a:t>
            </a:r>
            <a:endParaRPr lang="en-US" sz="75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three.js (WebGL)</a:t>
            </a:r>
            <a:endParaRPr lang="en-US" sz="75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2,334</a:t>
            </a:r>
            <a:endParaRPr lang="en-US" sz="75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Cost engine (core + 18 modules)</a:t>
            </a:r>
            <a:endParaRPr lang="en-US" sz="75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no framework</a:t>
            </a:r>
            <a:endParaRPr lang="en-US" sz="75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29,229</a:t>
            </a:r>
            <a:endParaRPr lang="en-US" sz="75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Cost-input rules (162 of them)</a:t>
            </a:r>
            <a:endParaRPr lang="en-US" sz="75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inside the engine</a:t>
            </a:r>
            <a:endParaRPr lang="en-US" sz="75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7,525</a:t>
            </a:r>
            <a:endParaRPr lang="en-US" sz="75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Optimisers + DFM / idea levers</a:t>
            </a:r>
            <a:endParaRPr lang="en-US" sz="75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inside the engine</a:t>
            </a:r>
            <a:endParaRPr lang="en-US" sz="75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1,973</a:t>
            </a:r>
            <a:endParaRPr lang="en-US" sz="75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Guardrails + self-audit</a:t>
            </a:r>
            <a:endParaRPr lang="en-US" sz="75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(engine + server)</a:t>
            </a:r>
            <a:endParaRPr lang="en-US" sz="75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780</a:t>
            </a:r>
            <a:endParaRPr lang="en-US" sz="75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Rate library — 20 regions</a:t>
            </a:r>
            <a:endParaRPr lang="en-US" sz="75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data files, in git</a:t>
            </a:r>
            <a:endParaRPr lang="en-US" sz="75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2,501</a:t>
            </a:r>
            <a:endParaRPr lang="en-US" sz="75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data</a:t>
            </a:r>
            <a:endParaRPr lang="en-US" sz="75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Server + database</a:t>
            </a:r>
            <a:endParaRPr lang="en-US" sz="75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Express + SQLite</a:t>
            </a:r>
            <a:endParaRPr lang="en-US" sz="75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14,215</a:t>
            </a:r>
            <a:endParaRPr lang="en-US" sz="75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Localhost only</a:t>
            </a:r>
            <a:endParaRPr lang="en-US" sz="75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AI classifier — OPTIONAL</a:t>
            </a:r>
            <a:endParaRPr lang="en-US" sz="75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Anthropic SDK</a:t>
            </a:r>
            <a:endParaRPr lang="en-US" sz="75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~900</a:t>
            </a:r>
            <a:endParaRPr lang="en-US" sz="75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SDK free · API paid per token</a:t>
            </a:r>
            <a:endParaRPr lang="en-US" sz="75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YES — the only one</a:t>
            </a:r>
            <a:endParaRPr lang="en-US" sz="75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Automated tests</a:t>
            </a:r>
            <a:endParaRPr lang="en-US" sz="75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Vitest</a:t>
            </a:r>
            <a:endParaRPr lang="en-US" sz="75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17,507</a:t>
            </a:r>
            <a:endParaRPr lang="en-US" sz="75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750" i="1" dirty="0">
                <a:solidFill>
                  <a:srgbClr val="686F7D"/>
                </a:solidFill>
                <a:latin typeface="Calibri" pitchFamily="34" charset="0"/>
                <a:ea typeface="Calibri" pitchFamily="34" charset="-122"/>
                <a:cs typeface="Calibri" pitchFamily="34" charset="-120"/>
              </a:rPr>
              <a:t>Line counts measured from the repository. Licences as published by each project — worth a formal review before anything is distributed outside the company.</a:t>
            </a:r>
            <a:endParaRPr lang="en-US" sz="75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50" b="1" dirty="0">
                <a:solidFill>
                  <a:srgbClr val="6B3FA0"/>
                </a:solidFill>
                <a:latin typeface="Calibri" pitchFamily="34" charset="0"/>
                <a:ea typeface="Calibri" pitchFamily="34" charset="-122"/>
                <a:cs typeface="Calibri" pitchFamily="34" charset="-120"/>
              </a:rPr>
              <a:t>API calls</a:t>
            </a:r>
            <a:endParaRPr lang="en-US" sz="75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One — and optional</a:t>
            </a:r>
            <a:endParaRPr lang="en-US" sz="75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AI classifier → api.anthropic.com, or your own endpoint. AIR_GAPPED=1 switches it off. The costing path never calls out.</a:t>
            </a:r>
            <a:endParaRPr lang="en-US" sz="750" dirty="0"/>
          </a:p>
        </p:txBody>
      </p:sp>
      <p:sp>
        <p:nvSpPr>
          <p:cNvPr id="148" name="Shape 146"/>
          <p:cNvSpPr/>
          <p:nvPr/>
        </p:nvSpPr>
        <p:spPr>
          <a:xfrm>
            <a:off x="621792" y="6044184"/>
            <a:ext cx="73152" cy="73152"/>
          </a:xfrm>
          <a:prstGeom prst="ellipse">
            <a:avLst/>
          </a:prstGeom>
          <a:solidFill>
            <a:srgbClr val="2A7F50"/>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50" b="1" dirty="0">
                <a:solidFill>
                  <a:srgbClr val="2A7F50"/>
                </a:solidFill>
                <a:latin typeface="Calibri" pitchFamily="34" charset="0"/>
                <a:ea typeface="Calibri" pitchFamily="34" charset="-122"/>
                <a:cs typeface="Calibri" pitchFamily="34" charset="-120"/>
              </a:rPr>
              <a:t>KPI calls</a:t>
            </a:r>
            <a:endParaRPr lang="en-US" sz="75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None. Not one.</a:t>
            </a:r>
            <a:endParaRPr lang="en-US" sz="75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750" dirty="0"/>
          </a:p>
        </p:txBody>
      </p:sp>
      <p:sp>
        <p:nvSpPr>
          <p:cNvPr id="152" name="Shape 150"/>
          <p:cNvSpPr/>
          <p:nvPr/>
        </p:nvSpPr>
        <p:spPr>
          <a:xfrm>
            <a:off x="6245352" y="5751576"/>
            <a:ext cx="73152" cy="73152"/>
          </a:xfrm>
          <a:prstGeom prst="ellipse">
            <a:avLst/>
          </a:prstGeom>
          <a:solidFill>
            <a:srgbClr val="99651A"/>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50" b="1" dirty="0">
                <a:solidFill>
                  <a:srgbClr val="99651A"/>
                </a:solidFill>
                <a:latin typeface="Calibri" pitchFamily="34" charset="0"/>
                <a:ea typeface="Calibri" pitchFamily="34" charset="-122"/>
                <a:cs typeface="Calibri" pitchFamily="34" charset="-120"/>
              </a:rPr>
              <a:t>Error telemetry</a:t>
            </a:r>
            <a:endParaRPr lang="en-US" sz="75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Yes — stays in-house</a:t>
            </a:r>
            <a:endParaRPr lang="en-US" sz="75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Uncaught errors go to /api/telemetry/error on YOUR server, into YOUR log. No Sentry, no Analytics, no third party.</a:t>
            </a:r>
            <a:endParaRPr lang="en-US" sz="750" dirty="0"/>
          </a:p>
        </p:txBody>
      </p:sp>
      <p:sp>
        <p:nvSpPr>
          <p:cNvPr id="156" name="Shape 154"/>
          <p:cNvSpPr/>
          <p:nvPr/>
        </p:nvSpPr>
        <p:spPr>
          <a:xfrm>
            <a:off x="6245352" y="6044184"/>
            <a:ext cx="73152" cy="73152"/>
          </a:xfrm>
          <a:prstGeom prst="ellipse">
            <a:avLst/>
          </a:prstGeom>
          <a:solidFill>
            <a:srgbClr val="686F7D"/>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50" b="1" dirty="0">
                <a:solidFill>
                  <a:srgbClr val="686F7D"/>
                </a:solidFill>
                <a:latin typeface="Calibri" pitchFamily="34" charset="0"/>
                <a:ea typeface="Calibri" pitchFamily="34" charset="-122"/>
                <a:cs typeface="Calibri" pitchFamily="34" charset="-120"/>
              </a:rPr>
              <a:t>Optional feeds</a:t>
            </a:r>
            <a:endParaRPr lang="en-US" sz="75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Off by default</a:t>
            </a:r>
            <a:endParaRPr lang="en-US" sz="75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7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57</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Backup — Data Contracts, Field by Field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exact objects behind the four parcels on the previous slide. Type and field names copied from the source</a:t>
            </a:r>
            <a:endParaRPr lang="en-US" sz="1200" dirty="0"/>
          </a:p>
        </p:txBody>
      </p:sp>
      <p:sp>
        <p:nvSpPr>
          <p:cNvPr id="5" name="Shape 3"/>
          <p:cNvSpPr/>
          <p:nvPr/>
        </p:nvSpPr>
        <p:spPr>
          <a:xfrm>
            <a:off x="9710928" y="237744"/>
            <a:ext cx="2020824" cy="274320"/>
          </a:xfrm>
          <a:prstGeom prst="roundRect">
            <a:avLst>
              <a:gd name="adj" fmla="val 50000"/>
            </a:avLst>
          </a:prstGeom>
          <a:solidFill>
            <a:srgbClr val="FCF3E3"/>
          </a:solidFill>
          <a:ln w="12700">
            <a:solidFill>
              <a:srgbClr val="99651A"/>
            </a:solidFill>
            <a:prstDash val="solid"/>
          </a:ln>
        </p:spPr>
      </p:sp>
      <p:sp>
        <p:nvSpPr>
          <p:cNvPr id="6" name="Text 4"/>
          <p:cNvSpPr/>
          <p:nvPr/>
        </p:nvSpPr>
        <p:spPr>
          <a:xfrm>
            <a:off x="9710928" y="237744"/>
            <a:ext cx="2020824" cy="274320"/>
          </a:xfrm>
          <a:prstGeom prst="rect">
            <a:avLst/>
          </a:prstGeom>
          <a:noFill/>
          <a:ln/>
        </p:spPr>
        <p:txBody>
          <a:bodyPr wrap="square" lIns="0" tIns="0" rIns="0" bIns="0" rtlCol="0" anchor="ctr"/>
          <a:lstStyle/>
          <a:p>
            <a:pPr algn="ctr" indent="0" marL="0">
              <a:buNone/>
            </a:pPr>
            <a:r>
              <a:rPr lang="en-US" sz="800" b="1" dirty="0">
                <a:solidFill>
                  <a:srgbClr val="99651A"/>
                </a:solidFill>
                <a:latin typeface="Calibri" pitchFamily="34" charset="0"/>
                <a:ea typeface="Calibri" pitchFamily="34" charset="-122"/>
                <a:cs typeface="Calibri" pitchFamily="34" charset="-120"/>
              </a:rPr>
              <a:t>BACKUP — ONLY IF ASKED</a:t>
            </a:r>
            <a:endParaRPr lang="en-US" sz="800" dirty="0"/>
          </a:p>
        </p:txBody>
      </p:sp>
      <p:sp>
        <p:nvSpPr>
          <p:cNvPr id="7" name="Shape 5"/>
          <p:cNvSpPr/>
          <p:nvPr/>
        </p:nvSpPr>
        <p:spPr>
          <a:xfrm>
            <a:off x="457200" y="1042416"/>
            <a:ext cx="2139696" cy="3127248"/>
          </a:xfrm>
          <a:prstGeom prst="roundRect">
            <a:avLst>
              <a:gd name="adj" fmla="val 3846"/>
            </a:avLst>
          </a:prstGeom>
          <a:solidFill>
            <a:srgbClr val="FFFFFF"/>
          </a:solidFill>
          <a:ln w="17780">
            <a:solidFill>
              <a:srgbClr val="99651A"/>
            </a:solidFill>
            <a:prstDash val="solid"/>
          </a:ln>
        </p:spPr>
      </p:sp>
      <p:sp>
        <p:nvSpPr>
          <p:cNvPr id="8" name="Shape 6"/>
          <p:cNvSpPr/>
          <p:nvPr/>
        </p:nvSpPr>
        <p:spPr>
          <a:xfrm>
            <a:off x="457200" y="1042416"/>
            <a:ext cx="2139696" cy="384048"/>
          </a:xfrm>
          <a:prstGeom prst="roundRect">
            <a:avLst>
              <a:gd name="adj" fmla="val 21429"/>
            </a:avLst>
          </a:prstGeom>
          <a:solidFill>
            <a:srgbClr val="99651A"/>
          </a:solidFill>
          <a:ln/>
        </p:spPr>
      </p:sp>
      <p:sp>
        <p:nvSpPr>
          <p:cNvPr id="9" name="Shape 7"/>
          <p:cNvSpPr/>
          <p:nvPr/>
        </p:nvSpPr>
        <p:spPr>
          <a:xfrm>
            <a:off x="457200" y="1280160"/>
            <a:ext cx="2139696" cy="146304"/>
          </a:xfrm>
          <a:prstGeom prst="rect">
            <a:avLst/>
          </a:prstGeom>
          <a:solidFill>
            <a:srgbClr val="99651A"/>
          </a:solidFill>
          <a:ln/>
        </p:spPr>
      </p:sp>
      <p:sp>
        <p:nvSpPr>
          <p:cNvPr id="10" name="Shape 8"/>
          <p:cNvSpPr/>
          <p:nvPr/>
        </p:nvSpPr>
        <p:spPr>
          <a:xfrm>
            <a:off x="557784" y="1124712"/>
            <a:ext cx="219456" cy="219456"/>
          </a:xfrm>
          <a:prstGeom prst="ellipse">
            <a:avLst/>
          </a:prstGeom>
          <a:solidFill>
            <a:srgbClr val="FFFFFF"/>
          </a:solidFill>
          <a:ln/>
        </p:spPr>
      </p:sp>
      <p:sp>
        <p:nvSpPr>
          <p:cNvPr id="11" name="Text 9"/>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99651A"/>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3" name="Text 11"/>
          <p:cNvSpPr/>
          <p:nvPr/>
        </p:nvSpPr>
        <p:spPr>
          <a:xfrm>
            <a:off x="841248"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Python kernel → JSON on stdout</a:t>
            </a:r>
            <a:endParaRPr lang="en-US" sz="750" dirty="0"/>
          </a:p>
        </p:txBody>
      </p:sp>
      <p:sp>
        <p:nvSpPr>
          <p:cNvPr id="14" name="Text 12"/>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status: success|error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boundingBox: {xMm,yMm,zMm}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volume: {mm3, cm3}</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surfaceArea: {mm2, cm2}</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fillRatio: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topology: {solidCount,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shellCount, voidCount,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enclosesSealedVoid,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openShell}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wallThickness: {minMm,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maxMm, meanMm, p95Mm,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method, uniformity}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draftAnalysis: {undercut-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FaceCount, minPositive-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DraftDeg,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setupAnalysis: {estimated-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SetupCount, principal-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Directions[]}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cncCycleTimeEstimate: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weights: {aluminiumKg,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steelKg, plasticKg}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featureTable, detected-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Hardware, bendCount</a:t>
            </a:r>
            <a:endParaRPr lang="en-US" sz="750" dirty="0"/>
          </a:p>
        </p:txBody>
      </p:sp>
      <p:sp>
        <p:nvSpPr>
          <p:cNvPr id="15" name="Text 13"/>
          <p:cNvSpPr/>
          <p:nvPr/>
        </p:nvSpPr>
        <p:spPr>
          <a:xfrm>
            <a:off x="566928" y="3950208"/>
            <a:ext cx="1920240" cy="182880"/>
          </a:xfrm>
          <a:prstGeom prst="rect">
            <a:avLst/>
          </a:prstGeom>
          <a:noFill/>
          <a:ln/>
        </p:spPr>
        <p:txBody>
          <a:bodyPr wrap="square" lIns="0" tIns="0" rIns="0" bIns="0" rtlCol="0" anchor="ctr"/>
          <a:lstStyle/>
          <a:p>
            <a:pPr indent="0" marL="0">
              <a:buNone/>
            </a:pPr>
            <a:r>
              <a:rPr lang="en-US" sz="750" i="1" dirty="0">
                <a:solidFill>
                  <a:srgbClr val="99651A"/>
                </a:solidFill>
                <a:latin typeface="Calibri" pitchFamily="34" charset="0"/>
                <a:ea typeface="Calibri" pitchFamily="34" charset="-122"/>
                <a:cs typeface="Calibri" pitchFamily="34" charset="-120"/>
              </a:rPr>
              <a:t>Measured. Never guessed.</a:t>
            </a:r>
            <a:endParaRPr lang="en-US" sz="750" dirty="0"/>
          </a:p>
        </p:txBody>
      </p:sp>
      <p:sp>
        <p:nvSpPr>
          <p:cNvPr id="16" name="Shape 14"/>
          <p:cNvSpPr/>
          <p:nvPr/>
        </p:nvSpPr>
        <p:spPr>
          <a:xfrm>
            <a:off x="2738628" y="1042416"/>
            <a:ext cx="2139696" cy="3127248"/>
          </a:xfrm>
          <a:prstGeom prst="roundRect">
            <a:avLst>
              <a:gd name="adj" fmla="val 3846"/>
            </a:avLst>
          </a:prstGeom>
          <a:solidFill>
            <a:srgbClr val="FFFFFF"/>
          </a:solidFill>
          <a:ln w="17780">
            <a:solidFill>
              <a:srgbClr val="0D7D71"/>
            </a:solidFill>
            <a:prstDash val="solid"/>
          </a:ln>
        </p:spPr>
      </p:sp>
      <p:sp>
        <p:nvSpPr>
          <p:cNvPr id="17" name="Shape 15"/>
          <p:cNvSpPr/>
          <p:nvPr/>
        </p:nvSpPr>
        <p:spPr>
          <a:xfrm>
            <a:off x="2738628" y="1042416"/>
            <a:ext cx="2139696" cy="384048"/>
          </a:xfrm>
          <a:prstGeom prst="roundRect">
            <a:avLst>
              <a:gd name="adj" fmla="val 21429"/>
            </a:avLst>
          </a:prstGeom>
          <a:solidFill>
            <a:srgbClr val="0D7D71"/>
          </a:solidFill>
          <a:ln/>
        </p:spPr>
      </p:sp>
      <p:sp>
        <p:nvSpPr>
          <p:cNvPr id="18" name="Shape 16"/>
          <p:cNvSpPr/>
          <p:nvPr/>
        </p:nvSpPr>
        <p:spPr>
          <a:xfrm>
            <a:off x="2738628" y="1280160"/>
            <a:ext cx="2139696" cy="146304"/>
          </a:xfrm>
          <a:prstGeom prst="rect">
            <a:avLst/>
          </a:prstGeom>
          <a:solidFill>
            <a:srgbClr val="0D7D71"/>
          </a:solidFill>
          <a:ln/>
        </p:spPr>
      </p:sp>
      <p:sp>
        <p:nvSpPr>
          <p:cNvPr id="19" name="Shape 17"/>
          <p:cNvSpPr/>
          <p:nvPr/>
        </p:nvSpPr>
        <p:spPr>
          <a:xfrm>
            <a:off x="2839212" y="1124712"/>
            <a:ext cx="219456" cy="219456"/>
          </a:xfrm>
          <a:prstGeom prst="ellipse">
            <a:avLst/>
          </a:prstGeom>
          <a:solidFill>
            <a:srgbClr val="FFFFFF"/>
          </a:solidFill>
          <a:ln/>
        </p:spPr>
      </p:sp>
      <p:sp>
        <p:nvSpPr>
          <p:cNvPr id="20" name="Text 18"/>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D7D71"/>
                </a:solidFill>
                <a:latin typeface="Calibri" pitchFamily="34" charset="0"/>
                <a:ea typeface="Calibri" pitchFamily="34" charset="-122"/>
                <a:cs typeface="Calibri" pitchFamily="34" charset="-120"/>
              </a:rPr>
              <a:t>2</a:t>
            </a:r>
            <a:endParaRPr lang="en-US" sz="800" dirty="0"/>
          </a:p>
        </p:txBody>
      </p:sp>
      <p:sp>
        <p:nvSpPr>
          <p:cNvPr id="21" name="Text 19"/>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2" name="Text 20"/>
          <p:cNvSpPr/>
          <p:nvPr/>
        </p:nvSpPr>
        <p:spPr>
          <a:xfrm>
            <a:off x="3122676"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162 rules + engineer answers</a:t>
            </a:r>
            <a:endParaRPr lang="en-US" sz="750" dirty="0"/>
          </a:p>
        </p:txBody>
      </p:sp>
      <p:sp>
        <p:nvSpPr>
          <p:cNvPr id="23" name="Text 21"/>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rawMaterial: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materialId: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netWeightKg: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materialUtilization: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directCost?: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consumablesCostPerPart?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operations: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operationName: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machineId: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cycleTimeHr: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partsPerCycle: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oee: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manning: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labourTimeHr: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labourEfficiency: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tooling: {totalToolingCost,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amortizationVolume, mode}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packagingPerPart: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logisticsPerPart: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overheadPct · marginPct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annualVolume?</a:t>
            </a:r>
            <a:endParaRPr lang="en-US" sz="750" dirty="0"/>
          </a:p>
        </p:txBody>
      </p:sp>
      <p:sp>
        <p:nvSpPr>
          <p:cNvPr id="24" name="Text 22"/>
          <p:cNvSpPr/>
          <p:nvPr/>
        </p:nvSpPr>
        <p:spPr>
          <a:xfrm>
            <a:off x="2848356" y="3950208"/>
            <a:ext cx="1920240" cy="182880"/>
          </a:xfrm>
          <a:prstGeom prst="rect">
            <a:avLst/>
          </a:prstGeom>
          <a:noFill/>
          <a:ln/>
        </p:spPr>
        <p:txBody>
          <a:bodyPr wrap="square" lIns="0" tIns="0" rIns="0" bIns="0" rtlCol="0" anchor="ctr"/>
          <a:lstStyle/>
          <a:p>
            <a:pPr indent="0" marL="0">
              <a:buNone/>
            </a:pPr>
            <a:r>
              <a:rPr lang="en-US" sz="750" i="1" dirty="0">
                <a:solidFill>
                  <a:srgbClr val="0D7D71"/>
                </a:solidFill>
                <a:latin typeface="Calibri" pitchFamily="34" charset="0"/>
                <a:ea typeface="Calibri" pitchFamily="34" charset="-122"/>
                <a:cs typeface="Calibri" pitchFamily="34" charset="-120"/>
              </a:rPr>
              <a:t>Geometry wins; engineer fills gaps.</a:t>
            </a:r>
            <a:endParaRPr lang="en-US" sz="750" dirty="0"/>
          </a:p>
        </p:txBody>
      </p:sp>
      <p:sp>
        <p:nvSpPr>
          <p:cNvPr id="25" name="Shape 23"/>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6" name="Shape 24"/>
          <p:cNvSpPr/>
          <p:nvPr/>
        </p:nvSpPr>
        <p:spPr>
          <a:xfrm>
            <a:off x="5020056" y="1042416"/>
            <a:ext cx="2139696" cy="384048"/>
          </a:xfrm>
          <a:prstGeom prst="roundRect">
            <a:avLst>
              <a:gd name="adj" fmla="val 21429"/>
            </a:avLst>
          </a:prstGeom>
          <a:solidFill>
            <a:srgbClr val="1D6FB8"/>
          </a:solidFill>
          <a:ln/>
        </p:spPr>
      </p:sp>
      <p:sp>
        <p:nvSpPr>
          <p:cNvPr id="27" name="Shape 25"/>
          <p:cNvSpPr/>
          <p:nvPr/>
        </p:nvSpPr>
        <p:spPr>
          <a:xfrm>
            <a:off x="5020056" y="1280160"/>
            <a:ext cx="2139696" cy="146304"/>
          </a:xfrm>
          <a:prstGeom prst="rect">
            <a:avLst/>
          </a:prstGeom>
          <a:solidFill>
            <a:srgbClr val="1D6FB8"/>
          </a:solidFill>
          <a:ln/>
        </p:spPr>
      </p:sp>
      <p:sp>
        <p:nvSpPr>
          <p:cNvPr id="28" name="Shape 26"/>
          <p:cNvSpPr/>
          <p:nvPr/>
        </p:nvSpPr>
        <p:spPr>
          <a:xfrm>
            <a:off x="5120640" y="1124712"/>
            <a:ext cx="219456" cy="219456"/>
          </a:xfrm>
          <a:prstGeom prst="ellipse">
            <a:avLst/>
          </a:prstGeom>
          <a:solidFill>
            <a:srgbClr val="FFFFFF"/>
          </a:solidFill>
          <a:ln/>
        </p:spPr>
      </p:sp>
      <p:sp>
        <p:nvSpPr>
          <p:cNvPr id="29" name="Text 27"/>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30" name="Text 28"/>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31" name="Text 29"/>
          <p:cNvSpPr/>
          <p:nvPr/>
        </p:nvSpPr>
        <p:spPr>
          <a:xfrm>
            <a:off x="5404104"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core.ts :: computeUniversalStack()</a:t>
            </a:r>
            <a:endParaRPr lang="en-US" sz="750" dirty="0"/>
          </a:p>
        </p:txBody>
      </p:sp>
      <p:sp>
        <p:nvSpPr>
          <p:cNvPr id="32" name="Text 30"/>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breakdown: Breakdown8Bucket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rawMaterial · process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 · tooling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packaging · logistics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overhead · margin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operationDetails: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operationName, machineId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processCost, labourCost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machineRateUsed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labourRateUsed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cycleTimeHr, oee, manning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factoryCost · subtotal · total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toolingNRE?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traceability: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field, value, unit,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rateSource, rateId,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confidence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warnings?: string[]</a:t>
            </a:r>
            <a:endParaRPr lang="en-US" sz="750" dirty="0"/>
          </a:p>
        </p:txBody>
      </p:sp>
      <p:sp>
        <p:nvSpPr>
          <p:cNvPr id="33" name="Text 31"/>
          <p:cNvSpPr/>
          <p:nvPr/>
        </p:nvSpPr>
        <p:spPr>
          <a:xfrm>
            <a:off x="5129784" y="3950208"/>
            <a:ext cx="1920240" cy="182880"/>
          </a:xfrm>
          <a:prstGeom prst="rect">
            <a:avLst/>
          </a:prstGeom>
          <a:noFill/>
          <a:ln/>
        </p:spPr>
        <p:txBody>
          <a:bodyPr wrap="square" lIns="0" tIns="0" rIns="0" bIns="0" rtlCol="0" anchor="ctr"/>
          <a:lstStyle/>
          <a:p>
            <a:pPr indent="0" marL="0">
              <a:buNone/>
            </a:pPr>
            <a:r>
              <a:rPr lang="en-US" sz="750" i="1" dirty="0">
                <a:solidFill>
                  <a:srgbClr val="1D6FB8"/>
                </a:solidFill>
                <a:latin typeface="Calibri" pitchFamily="34" charset="0"/>
                <a:ea typeface="Calibri" pitchFamily="34" charset="-122"/>
                <a:cs typeface="Calibri" pitchFamily="34" charset="-120"/>
              </a:rPr>
              <a:t>traceability[] = the printed derivation.</a:t>
            </a:r>
            <a:endParaRPr lang="en-US" sz="750" dirty="0"/>
          </a:p>
        </p:txBody>
      </p:sp>
      <p:sp>
        <p:nvSpPr>
          <p:cNvPr id="34" name="Shape 32"/>
          <p:cNvSpPr/>
          <p:nvPr/>
        </p:nvSpPr>
        <p:spPr>
          <a:xfrm>
            <a:off x="7301484" y="1042416"/>
            <a:ext cx="2139696" cy="3127248"/>
          </a:xfrm>
          <a:prstGeom prst="roundRect">
            <a:avLst>
              <a:gd name="adj" fmla="val 3846"/>
            </a:avLst>
          </a:prstGeom>
          <a:solidFill>
            <a:srgbClr val="FFFFFF"/>
          </a:solidFill>
          <a:ln w="17780">
            <a:solidFill>
              <a:srgbClr val="2A7F50"/>
            </a:solidFill>
            <a:prstDash val="solid"/>
          </a:ln>
        </p:spPr>
      </p:sp>
      <p:sp>
        <p:nvSpPr>
          <p:cNvPr id="35" name="Shape 33"/>
          <p:cNvSpPr/>
          <p:nvPr/>
        </p:nvSpPr>
        <p:spPr>
          <a:xfrm>
            <a:off x="7301484" y="1042416"/>
            <a:ext cx="2139696" cy="384048"/>
          </a:xfrm>
          <a:prstGeom prst="roundRect">
            <a:avLst>
              <a:gd name="adj" fmla="val 21429"/>
            </a:avLst>
          </a:prstGeom>
          <a:solidFill>
            <a:srgbClr val="2A7F50"/>
          </a:solidFill>
          <a:ln/>
        </p:spPr>
      </p:sp>
      <p:sp>
        <p:nvSpPr>
          <p:cNvPr id="36" name="Shape 34"/>
          <p:cNvSpPr/>
          <p:nvPr/>
        </p:nvSpPr>
        <p:spPr>
          <a:xfrm>
            <a:off x="7301484" y="1280160"/>
            <a:ext cx="2139696" cy="146304"/>
          </a:xfrm>
          <a:prstGeom prst="rect">
            <a:avLst/>
          </a:prstGeom>
          <a:solidFill>
            <a:srgbClr val="2A7F50"/>
          </a:solidFill>
          <a:ln/>
        </p:spPr>
      </p:sp>
      <p:sp>
        <p:nvSpPr>
          <p:cNvPr id="37" name="Shape 35"/>
          <p:cNvSpPr/>
          <p:nvPr/>
        </p:nvSpPr>
        <p:spPr>
          <a:xfrm>
            <a:off x="7402068" y="1124712"/>
            <a:ext cx="219456" cy="219456"/>
          </a:xfrm>
          <a:prstGeom prst="ellipse">
            <a:avLst/>
          </a:prstGeom>
          <a:solidFill>
            <a:srgbClr val="FFFFFF"/>
          </a:solidFill>
          <a:ln/>
        </p:spPr>
      </p:sp>
      <p:sp>
        <p:nvSpPr>
          <p:cNvPr id="38" name="Text 36"/>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A7F50"/>
                </a:solidFill>
                <a:latin typeface="Calibri" pitchFamily="34" charset="0"/>
                <a:ea typeface="Calibri" pitchFamily="34" charset="-122"/>
                <a:cs typeface="Calibri" pitchFamily="34" charset="-120"/>
              </a:rPr>
              <a:t>4</a:t>
            </a:r>
            <a:endParaRPr lang="en-US" sz="800" dirty="0"/>
          </a:p>
        </p:txBody>
      </p:sp>
      <p:sp>
        <p:nvSpPr>
          <p:cNvPr id="39" name="Text 37"/>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40" name="Text 38"/>
          <p:cNvSpPr/>
          <p:nvPr/>
        </p:nvSpPr>
        <p:spPr>
          <a:xfrm>
            <a:off x="7685532"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dfm-dfa → opportunity-ranking</a:t>
            </a:r>
            <a:endParaRPr lang="en-US" sz="750" dirty="0"/>
          </a:p>
        </p:txBody>
      </p:sp>
      <p:sp>
        <p:nvSpPr>
          <p:cNvPr id="41" name="Text 39"/>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groups: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category: LeverCategory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label: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opportunities: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action: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basis: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detail?: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savingPct: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savingPerPart: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risk · timeframe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owner?: design|supplier|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sourcing|assumption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signal: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groupSavingPerPart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topSavingPerPart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all: RankedOpportunity[]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verificationChecks: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title, detail, action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headlineSavingPct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headlineSavingPerPart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partTotal</a:t>
            </a:r>
            <a:endParaRPr lang="en-US" sz="750" dirty="0"/>
          </a:p>
        </p:txBody>
      </p:sp>
      <p:sp>
        <p:nvSpPr>
          <p:cNvPr id="42" name="Text 40"/>
          <p:cNvSpPr/>
          <p:nvPr/>
        </p:nvSpPr>
        <p:spPr>
          <a:xfrm>
            <a:off x="7411212" y="3950208"/>
            <a:ext cx="1920240" cy="182880"/>
          </a:xfrm>
          <a:prstGeom prst="rect">
            <a:avLst/>
          </a:prstGeom>
          <a:noFill/>
          <a:ln/>
        </p:spPr>
        <p:txBody>
          <a:bodyPr wrap="square" lIns="0" tIns="0" rIns="0" bIns="0" rtlCol="0" anchor="ctr"/>
          <a:lstStyle/>
          <a:p>
            <a:pPr indent="0" marL="0">
              <a:buNone/>
            </a:pPr>
            <a:r>
              <a:rPr lang="en-US" sz="750" i="1" dirty="0">
                <a:solidFill>
                  <a:srgbClr val="2A7F50"/>
                </a:solidFill>
                <a:latin typeface="Calibri" pitchFamily="34" charset="0"/>
                <a:ea typeface="Calibri" pitchFamily="34" charset="-122"/>
                <a:cs typeface="Calibri" pitchFamily="34" charset="-120"/>
              </a:rPr>
              <a:t>Ranked by money, never scored.</a:t>
            </a:r>
            <a:endParaRPr lang="en-US" sz="750" dirty="0"/>
          </a:p>
        </p:txBody>
      </p:sp>
      <p:sp>
        <p:nvSpPr>
          <p:cNvPr id="43" name="Shape 41"/>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4" name="Shape 42"/>
          <p:cNvSpPr/>
          <p:nvPr/>
        </p:nvSpPr>
        <p:spPr>
          <a:xfrm>
            <a:off x="9582912" y="1042416"/>
            <a:ext cx="2139696" cy="384048"/>
          </a:xfrm>
          <a:prstGeom prst="roundRect">
            <a:avLst>
              <a:gd name="adj" fmla="val 21429"/>
            </a:avLst>
          </a:prstGeom>
          <a:solidFill>
            <a:srgbClr val="6B3FA0"/>
          </a:solidFill>
          <a:ln/>
        </p:spPr>
      </p:sp>
      <p:sp>
        <p:nvSpPr>
          <p:cNvPr id="45" name="Shape 43"/>
          <p:cNvSpPr/>
          <p:nvPr/>
        </p:nvSpPr>
        <p:spPr>
          <a:xfrm>
            <a:off x="9582912" y="1280160"/>
            <a:ext cx="2139696" cy="146304"/>
          </a:xfrm>
          <a:prstGeom prst="rect">
            <a:avLst/>
          </a:prstGeom>
          <a:solidFill>
            <a:srgbClr val="6B3FA0"/>
          </a:solidFill>
          <a:ln/>
        </p:spPr>
      </p:sp>
      <p:sp>
        <p:nvSpPr>
          <p:cNvPr id="46" name="Shape 44"/>
          <p:cNvSpPr/>
          <p:nvPr/>
        </p:nvSpPr>
        <p:spPr>
          <a:xfrm>
            <a:off x="9683496" y="1124712"/>
            <a:ext cx="219456" cy="219456"/>
          </a:xfrm>
          <a:prstGeom prst="ellipse">
            <a:avLst/>
          </a:prstGeom>
          <a:solidFill>
            <a:srgbClr val="FFFFFF"/>
          </a:solidFill>
          <a:ln/>
        </p:spPr>
      </p:sp>
      <p:sp>
        <p:nvSpPr>
          <p:cNvPr id="47" name="Text 45"/>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8" name="Text 46"/>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12 tables</a:t>
            </a:r>
            <a:endParaRPr lang="en-US" sz="840" dirty="0"/>
          </a:p>
        </p:txBody>
      </p:sp>
      <p:sp>
        <p:nvSpPr>
          <p:cNvPr id="49" name="Text 47"/>
          <p:cNvSpPr/>
          <p:nvPr/>
        </p:nvSpPr>
        <p:spPr>
          <a:xfrm>
            <a:off x="9966960"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better-sqlite3 — one file, your server</a:t>
            </a:r>
            <a:endParaRPr lang="en-US" sz="750" dirty="0"/>
          </a:p>
        </p:txBody>
      </p:sp>
      <p:sp>
        <p:nvSpPr>
          <p:cNvPr id="50" name="Text 48"/>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projects (id, user_id, kind,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name, data, created_at,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updated_at)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scenarios (id, name,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description, data,</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created_by, created_at)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supplier_quotes (id,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scenario_id, supplier_name,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supplier_country, unit_price,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currency, moq,</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lead_time_weeks, tooling_cost)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bom_items (id,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parent_scenario_id,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child_scenario_id, quantity,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unit_cost_override)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rate_library (id, data,</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updated_at, updated_by)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rate_overrides (id, tbl,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row_id, field, value)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users · shared_costings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material_price_overrides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price_fetch_log · app_settings</a:t>
            </a:r>
            <a:endParaRPr lang="en-US" sz="750" dirty="0"/>
          </a:p>
        </p:txBody>
      </p:sp>
      <p:sp>
        <p:nvSpPr>
          <p:cNvPr id="51" name="Text 49"/>
          <p:cNvSpPr/>
          <p:nvPr/>
        </p:nvSpPr>
        <p:spPr>
          <a:xfrm>
            <a:off x="9692640" y="3950208"/>
            <a:ext cx="1920240" cy="182880"/>
          </a:xfrm>
          <a:prstGeom prst="rect">
            <a:avLst/>
          </a:prstGeom>
          <a:noFill/>
          <a:ln/>
        </p:spPr>
        <p:txBody>
          <a:bodyPr wrap="square" lIns="0" tIns="0" rIns="0" bIns="0" rtlCol="0" anchor="ctr"/>
          <a:lstStyle/>
          <a:p>
            <a:pPr indent="0" marL="0">
              <a:buNone/>
            </a:pPr>
            <a:r>
              <a:rPr lang="en-US" sz="750" i="1" dirty="0">
                <a:solidFill>
                  <a:srgbClr val="6B3FA0"/>
                </a:solidFill>
                <a:latin typeface="Calibri" pitchFamily="34" charset="0"/>
                <a:ea typeface="Calibri" pitchFamily="34" charset="-122"/>
                <a:cs typeface="Calibri" pitchFamily="34" charset="-120"/>
              </a:rPr>
              <a:t>data columns hold the JSON above.</a:t>
            </a:r>
            <a:endParaRPr lang="en-US" sz="750" dirty="0"/>
          </a:p>
        </p:txBody>
      </p:sp>
      <p:sp>
        <p:nvSpPr>
          <p:cNvPr id="52" name="Shape 50"/>
          <p:cNvSpPr/>
          <p:nvPr/>
        </p:nvSpPr>
        <p:spPr>
          <a:xfrm>
            <a:off x="2607869" y="2596896"/>
            <a:ext cx="119786" cy="0"/>
          </a:xfrm>
          <a:prstGeom prst="line">
            <a:avLst/>
          </a:prstGeom>
          <a:noFill/>
          <a:ln w="25400">
            <a:solidFill>
              <a:srgbClr val="686F7D"/>
            </a:solidFill>
            <a:prstDash val="solid"/>
            <a:tailEnd type="triangle"/>
          </a:ln>
        </p:spPr>
      </p:sp>
      <p:sp>
        <p:nvSpPr>
          <p:cNvPr id="53" name="Shape 51"/>
          <p:cNvSpPr/>
          <p:nvPr/>
        </p:nvSpPr>
        <p:spPr>
          <a:xfrm>
            <a:off x="4889297" y="2596896"/>
            <a:ext cx="119786" cy="0"/>
          </a:xfrm>
          <a:prstGeom prst="line">
            <a:avLst/>
          </a:prstGeom>
          <a:noFill/>
          <a:ln w="25400">
            <a:solidFill>
              <a:srgbClr val="686F7D"/>
            </a:solidFill>
            <a:prstDash val="solid"/>
            <a:tailEnd type="triangle"/>
          </a:ln>
        </p:spPr>
      </p:sp>
      <p:sp>
        <p:nvSpPr>
          <p:cNvPr id="54" name="Shape 52"/>
          <p:cNvSpPr/>
          <p:nvPr/>
        </p:nvSpPr>
        <p:spPr>
          <a:xfrm>
            <a:off x="7170725" y="2596896"/>
            <a:ext cx="119786" cy="0"/>
          </a:xfrm>
          <a:prstGeom prst="line">
            <a:avLst/>
          </a:prstGeom>
          <a:noFill/>
          <a:ln w="25400">
            <a:solidFill>
              <a:srgbClr val="686F7D"/>
            </a:solidFill>
            <a:prstDash val="solid"/>
            <a:tailEnd type="triangle"/>
          </a:ln>
        </p:spPr>
      </p:sp>
      <p:sp>
        <p:nvSpPr>
          <p:cNvPr id="55" name="Shape 53"/>
          <p:cNvSpPr/>
          <p:nvPr/>
        </p:nvSpPr>
        <p:spPr>
          <a:xfrm>
            <a:off x="9452153" y="2596896"/>
            <a:ext cx="119786" cy="0"/>
          </a:xfrm>
          <a:prstGeom prst="line">
            <a:avLst/>
          </a:prstGeom>
          <a:noFill/>
          <a:ln w="25400">
            <a:solidFill>
              <a:srgbClr val="686F7D"/>
            </a:solidFill>
            <a:prstDash val="solid"/>
            <a:tailEnd type="triangle"/>
          </a:ln>
        </p:spPr>
      </p:sp>
      <p:sp>
        <p:nvSpPr>
          <p:cNvPr id="56" name="Shape 54"/>
          <p:cNvSpPr/>
          <p:nvPr/>
        </p:nvSpPr>
        <p:spPr>
          <a:xfrm>
            <a:off x="457200" y="4279392"/>
            <a:ext cx="11274552" cy="566928"/>
          </a:xfrm>
          <a:prstGeom prst="roundRect">
            <a:avLst>
              <a:gd name="adj" fmla="val 12903"/>
            </a:avLst>
          </a:prstGeom>
          <a:solidFill>
            <a:srgbClr val="E6F4F1"/>
          </a:solidFill>
          <a:ln w="15875">
            <a:solidFill>
              <a:srgbClr val="0D7D71"/>
            </a:solidFill>
            <a:prstDash val="solid"/>
          </a:ln>
        </p:spPr>
      </p:sp>
      <p:sp>
        <p:nvSpPr>
          <p:cNvPr id="57" name="Text 55"/>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Same sentence as the previous slide: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1,777 tests possible and why the identical code runs in the browser and on the server.</a:t>
            </a:r>
            <a:endParaRPr lang="en-US" sz="1050" dirty="0"/>
          </a:p>
        </p:txBody>
      </p:sp>
      <p:sp>
        <p:nvSpPr>
          <p:cNvPr id="58" name="Shape 56"/>
          <p:cNvSpPr/>
          <p:nvPr/>
        </p:nvSpPr>
        <p:spPr>
          <a:xfrm>
            <a:off x="457200" y="4974336"/>
            <a:ext cx="3602736" cy="1371600"/>
          </a:xfrm>
          <a:prstGeom prst="roundRect">
            <a:avLst>
              <a:gd name="adj" fmla="val 6000"/>
            </a:avLst>
          </a:prstGeom>
          <a:solidFill>
            <a:srgbClr val="FFFFFF"/>
          </a:solidFill>
          <a:ln w="15875">
            <a:solidFill>
              <a:srgbClr val="0D7D71"/>
            </a:solidFill>
            <a:prstDash val="solid"/>
          </a:ln>
        </p:spPr>
      </p:sp>
      <p:sp>
        <p:nvSpPr>
          <p:cNvPr id="59" name="Shape 57"/>
          <p:cNvSpPr/>
          <p:nvPr/>
        </p:nvSpPr>
        <p:spPr>
          <a:xfrm>
            <a:off x="457200" y="4974336"/>
            <a:ext cx="54864" cy="1371600"/>
          </a:xfrm>
          <a:prstGeom prst="rect">
            <a:avLst/>
          </a:prstGeom>
          <a:solidFill>
            <a:srgbClr val="0D7D71"/>
          </a:solidFill>
          <a:ln/>
        </p:spPr>
      </p:sp>
      <p:sp>
        <p:nvSpPr>
          <p:cNvPr id="60" name="Text 58"/>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D7D71"/>
                </a:solidFill>
                <a:latin typeface="Calibri" pitchFamily="34" charset="0"/>
                <a:ea typeface="Calibri" pitchFamily="34" charset="-122"/>
                <a:cs typeface="Calibri" pitchFamily="34" charset="-120"/>
              </a:rPr>
              <a:t>PROVENANCE — EVERY NUMBER KNOWS ITS SOURCE</a:t>
            </a:r>
            <a:endParaRPr lang="en-US" sz="780" dirty="0"/>
          </a:p>
        </p:txBody>
      </p:sp>
      <p:sp>
        <p:nvSpPr>
          <p:cNvPr id="61" name="Text 59"/>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2" name="Shape 60"/>
          <p:cNvSpPr/>
          <p:nvPr/>
        </p:nvSpPr>
        <p:spPr>
          <a:xfrm>
            <a:off x="4288536" y="4974336"/>
            <a:ext cx="3602736" cy="1371600"/>
          </a:xfrm>
          <a:prstGeom prst="roundRect">
            <a:avLst>
              <a:gd name="adj" fmla="val 6000"/>
            </a:avLst>
          </a:prstGeom>
          <a:solidFill>
            <a:srgbClr val="FFFFFF"/>
          </a:solidFill>
          <a:ln w="15875">
            <a:solidFill>
              <a:srgbClr val="99651A"/>
            </a:solidFill>
            <a:prstDash val="solid"/>
          </a:ln>
        </p:spPr>
      </p:sp>
      <p:sp>
        <p:nvSpPr>
          <p:cNvPr id="63" name="Shape 61"/>
          <p:cNvSpPr/>
          <p:nvPr/>
        </p:nvSpPr>
        <p:spPr>
          <a:xfrm>
            <a:off x="4288536" y="4974336"/>
            <a:ext cx="54864" cy="1371600"/>
          </a:xfrm>
          <a:prstGeom prst="rect">
            <a:avLst/>
          </a:prstGeom>
          <a:solidFill>
            <a:srgbClr val="99651A"/>
          </a:solidFill>
          <a:ln/>
        </p:spPr>
      </p:sp>
      <p:sp>
        <p:nvSpPr>
          <p:cNvPr id="64" name="Text 62"/>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99651A"/>
                </a:solidFill>
                <a:latin typeface="Calibri" pitchFamily="34" charset="0"/>
                <a:ea typeface="Calibri" pitchFamily="34" charset="-122"/>
                <a:cs typeface="Calibri" pitchFamily="34" charset="-120"/>
              </a:rPr>
              <a:t>UNITS — WHERE BUGS ACTUALLY COME FROM</a:t>
            </a:r>
            <a:endParaRPr lang="en-US" sz="780" dirty="0"/>
          </a:p>
        </p:txBody>
      </p:sp>
      <p:sp>
        <p:nvSpPr>
          <p:cNvPr id="65" name="Text 63"/>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6" name="Shape 64"/>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7" name="Shape 65"/>
          <p:cNvSpPr/>
          <p:nvPr/>
        </p:nvSpPr>
        <p:spPr>
          <a:xfrm>
            <a:off x="8119872" y="4974336"/>
            <a:ext cx="54864" cy="1371600"/>
          </a:xfrm>
          <a:prstGeom prst="rect">
            <a:avLst/>
          </a:prstGeom>
          <a:solidFill>
            <a:srgbClr val="6B3FA0"/>
          </a:solidFill>
          <a:ln/>
        </p:spPr>
      </p:sp>
      <p:sp>
        <p:nvSpPr>
          <p:cNvPr id="68" name="Text 66"/>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9" name="Text 67"/>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70" name="Text 6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71" name="Text 6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2026-09-28T15:42:14Z</dcterms:created>
  <dcterms:modified xsi:type="dcterms:W3CDTF">2026-09-28T15:42:14Z</dcterms:modified>
</cp:coreProperties>
</file>