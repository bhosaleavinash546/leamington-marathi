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lines</c:v>
                </c:pt>
              </c:strCache>
            </c:strRef>
          </c:tx>
          <c:spPr>
            <a:solidFill>
              <a:srgbClr val="0E8074"/>
            </a:solidFill>
            <a:effectLst/>
          </c:spPr>
          <c:invertIfNegative val="0"/>
          <c:dLbls>
            <c:numFmt formatCode="#,##0" sourceLinked="0"/>
            <c:txPr>
              <a:bodyPr/>
              <a:lstStyle/>
              <a:p>
                <a:pPr>
                  <a:defRPr b="0" i="0" strike="noStrike" sz="660" u="none">
                    <a:solidFill>
                      <a:srgbClr val="3A4356"/>
                    </a:solidFill>
                    <a:latin typeface="Arial"/>
                  </a:defRPr>
                </a:pPr>
              </a:p>
            </c:txPr>
            <c:showLegendKey val="0"/>
            <c:showVal val="1"/>
            <c:showCatName val="0"/>
            <c:showSerName val="0"/>
            <c:showPercent val="0"/>
            <c:showBubbleSize val="0"/>
            <c:showLeaderLines val="0"/>
          </c:dLbls>
          <c:cat>
            <c:multiLvlStrRef>
              <c:f>Sheet1!$A$2:$A$7</c:f>
              <c:multiLvlStrCache>
                <c:ptCount val="6"/>
                <c:lvl>
                  <c:pt idx="0">
                    <c:v>Cost engine</c:v>
                  </c:pt>
                  <c:pt idx="1">
                    <c:v>UI + 3D viewer</c:v>
                  </c:pt>
                  <c:pt idx="2">
                    <c:v>Tests</c:v>
                  </c:pt>
                  <c:pt idx="3">
                    <c:v>Server + API</c:v>
                  </c:pt>
                  <c:pt idx="4">
                    <c:v>Exports</c:v>
                  </c:pt>
                  <c:pt idx="5">
                    <c:v>Kernel (Python)</c:v>
                  </c:pt>
                </c:lvl>
              </c:multiLvlStrCache>
            </c:multiLvlStrRef>
          </c:cat>
          <c:val>
            <c:numRef>
              <c:f>Sheet1!$B$2:$B$7</c:f>
              <c:numCache>
                <c:formatCode>General</c:formatCode>
                <c:ptCount val="6"/>
                <c:pt idx="0">
                  <c:v>29229</c:v>
                </c:pt>
                <c:pt idx="1">
                  <c:v>27231</c:v>
                </c:pt>
                <c:pt idx="2">
                  <c:v>17507</c:v>
                </c:pt>
                <c:pt idx="3">
                  <c:v>14215</c:v>
                </c:pt>
                <c:pt idx="4">
                  <c:v>2960</c:v>
                </c:pt>
                <c:pt idx="5">
                  <c:v>1587</c:v>
                </c:pt>
              </c:numCache>
            </c:numRef>
          </c:val>
        </c:ser>
        <c:dLbls>
          <c:numFmt formatCode="#,##0" sourceLinked="0"/>
          <c:txPr>
            <a:bodyPr/>
            <a:lstStyle/>
            <a:p>
              <a:pPr>
                <a:defRPr b="0" i="0" strike="noStrike" sz="660" u="none">
                  <a:solidFill>
                    <a:srgbClr val="3A4356"/>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8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three pounds twenty-two of opportunity against a twenty-five pound piece cost.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below the twelve point eight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 have kept it to three things: the flow across the top, the facts table in the middle, and one straight answer at the bottom on what talks to the outside world. The flow first, left to right, six steps. Upload a CAD file, a PCB photo or a typed form. The kernel measures it. The rules turn those measurements into cost inputs and the engineer answers the handful of things a shape cannot tell you — what it is made of, how many a year. Then the cost engine, in the middle, because everything either feeds it or renders what it produced. Then the guardrails check the answer, an engineer reviews and approves, and the report comes out as PDF, Excel or PowerPoint. The one design decision worth pausing on is inside the engine box: it is written as pure functions. Numbers in, numbers out — no database, no network, no file access. That is exactly why fifteen hundred tests can cover it, and why the same code runs unchanged in the browser and on the server. The table answers the questions I was asked, row by row. Only one component is Python — the geometry kernel, fifteen hundred lines driving Open CASCADE through the OCP bindings, the same B-rep kernel FreeCAD is built on. Everything else is TypeScript. The 3D viewer is three.js and WebGL running in the browser, and there is a distinction there that catches people out: the viewer is for looking and for measuring by hand; the numbers that reach the cost engine come from the kernel. Two different measurements, two different jobs. Is it free? Yes, with exactly one exception. OCCT is LGPL with the linking exception, CadQuery and OCP are Apache-2.0, and three.js, Express, the SQLite driver, jsPDF, pptxgenjs, Chart.js, Vite and Vitest are MIT. No licence fee, no per-seat cost. The single paid item anywhere in the stack is the optional Anthropic API call, metered per token only when somebody chooses to use it. I would still get that licence list formally reviewed before we ship anything outside the company, and the slide says so. Now the bottom-left box, which is the question I was actually asked, and I have made it complete rather than reassuring. API calls: one, and it is optional — the AI classifier, through a single choke-point in the code, so it can be pointed at a private endpoint or switched off entirely with an environment variable. Nothing in the costing path calls out at all. KPI calls: none. Not one. The tool measures no KPIs, tracks no usage, and has no per-seat licence check phoning home. But I want to be precise about the third line, because an earlier version of this slide said "no telemetry" and that was too absolute. There IS error telemetry: when the app hits an uncaught error it posts it to slash-api-slash-telemetry-slash-error — which is our own Express server — and it lands in our own log. No Sentry, no Google Analytics, no third party, and nothing leaves your network. I would rather you heard that from me than found it in the source. And the optional feeds — component prices, the metal ticker, the news RSS — are off by default, display-only, and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£3.22/part of ranked opportunity on the £25.14 reference part — 12.8%, of which the commercial levers alone are £5.28.</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12.8%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sits below the 12.8%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£150k of opportunity identified across the basket,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slides 1–2: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What Each Box Is Made Of</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Slide 3 in engineering terms. One flow, one table, one straight answer on what calls out</a:t>
            </a:r>
            <a:endParaRPr lang="en-US" sz="1200" dirty="0"/>
          </a:p>
        </p:txBody>
      </p:sp>
      <p:sp>
        <p:nvSpPr>
          <p:cNvPr id="5" name="Shape 3"/>
          <p:cNvSpPr/>
          <p:nvPr/>
        </p:nvSpPr>
        <p:spPr>
          <a:xfrm>
            <a:off x="457200" y="1115568"/>
            <a:ext cx="1024128" cy="950976"/>
          </a:xfrm>
          <a:prstGeom prst="roundRect">
            <a:avLst>
              <a:gd name="adj" fmla="val 7692"/>
            </a:avLst>
          </a:prstGeom>
          <a:solidFill>
            <a:srgbClr val="FFFFFF"/>
          </a:solidFill>
          <a:ln w="15875">
            <a:solidFill>
              <a:srgbClr val="1D6FB8"/>
            </a:solidFill>
            <a:prstDash val="solid"/>
          </a:ln>
        </p:spPr>
      </p:sp>
      <p:sp>
        <p:nvSpPr>
          <p:cNvPr id="6" name="Shape 4"/>
          <p:cNvSpPr/>
          <p:nvPr/>
        </p:nvSpPr>
        <p:spPr>
          <a:xfrm>
            <a:off x="841248" y="1179576"/>
            <a:ext cx="256032" cy="256032"/>
          </a:xfrm>
          <a:prstGeom prst="ellipse">
            <a:avLst/>
          </a:prstGeom>
          <a:solidFill>
            <a:srgbClr val="1D6FB8"/>
          </a:solidFill>
          <a:ln/>
        </p:spPr>
      </p:sp>
      <p:sp>
        <p:nvSpPr>
          <p:cNvPr id="7" name="Text 5"/>
          <p:cNvSpPr/>
          <p:nvPr/>
        </p:nvSpPr>
        <p:spPr>
          <a:xfrm>
            <a:off x="841248"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12064" y="1463040"/>
            <a:ext cx="914400" cy="182880"/>
          </a:xfrm>
          <a:prstGeom prst="rect">
            <a:avLst/>
          </a:prstGeom>
          <a:noFill/>
          <a:ln/>
        </p:spPr>
        <p:txBody>
          <a:bodyPr wrap="square" lIns="0" tIns="0" rIns="0" bIns="0" rtlCol="0" anchor="ctr"/>
          <a:lstStyle/>
          <a:p>
            <a:pPr algn="ctr" indent="0" marL="0">
              <a:buNone/>
            </a:pPr>
            <a:r>
              <a:rPr lang="en-US" sz="860" b="1" dirty="0">
                <a:solidFill>
                  <a:srgbClr val="1D6FB8"/>
                </a:solidFill>
                <a:latin typeface="Calibri" pitchFamily="34" charset="0"/>
                <a:ea typeface="Calibri" pitchFamily="34" charset="-122"/>
                <a:cs typeface="Calibri" pitchFamily="34" charset="-120"/>
              </a:rPr>
              <a:t>Upload</a:t>
            </a:r>
            <a:endParaRPr lang="en-US" sz="860" dirty="0"/>
          </a:p>
        </p:txBody>
      </p:sp>
      <p:sp>
        <p:nvSpPr>
          <p:cNvPr id="9" name="Text 7"/>
          <p:cNvSpPr/>
          <p:nvPr/>
        </p:nvSpPr>
        <p:spPr>
          <a:xfrm>
            <a:off x="512064"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A CAD file, a PCB photo, or a typed form</a:t>
            </a:r>
            <a:endParaRPr lang="en-US" sz="710" dirty="0"/>
          </a:p>
        </p:txBody>
      </p:sp>
      <p:sp>
        <p:nvSpPr>
          <p:cNvPr id="10" name="Shape 8"/>
          <p:cNvSpPr/>
          <p:nvPr/>
        </p:nvSpPr>
        <p:spPr>
          <a:xfrm>
            <a:off x="1572768" y="1115568"/>
            <a:ext cx="1024128" cy="950976"/>
          </a:xfrm>
          <a:prstGeom prst="roundRect">
            <a:avLst>
              <a:gd name="adj" fmla="val 7692"/>
            </a:avLst>
          </a:prstGeom>
          <a:solidFill>
            <a:srgbClr val="FFFFFF"/>
          </a:solidFill>
          <a:ln w="15875">
            <a:solidFill>
              <a:srgbClr val="B7791F"/>
            </a:solidFill>
            <a:prstDash val="solid"/>
          </a:ln>
        </p:spPr>
      </p:sp>
      <p:sp>
        <p:nvSpPr>
          <p:cNvPr id="11" name="Shape 9"/>
          <p:cNvSpPr/>
          <p:nvPr/>
        </p:nvSpPr>
        <p:spPr>
          <a:xfrm>
            <a:off x="1956816" y="1179576"/>
            <a:ext cx="256032" cy="256032"/>
          </a:xfrm>
          <a:prstGeom prst="ellipse">
            <a:avLst/>
          </a:prstGeom>
          <a:solidFill>
            <a:srgbClr val="B7791F"/>
          </a:solidFill>
          <a:ln/>
        </p:spPr>
      </p:sp>
      <p:sp>
        <p:nvSpPr>
          <p:cNvPr id="12" name="Text 10"/>
          <p:cNvSpPr/>
          <p:nvPr/>
        </p:nvSpPr>
        <p:spPr>
          <a:xfrm>
            <a:off x="1956816"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3" name="Text 11"/>
          <p:cNvSpPr/>
          <p:nvPr/>
        </p:nvSpPr>
        <p:spPr>
          <a:xfrm>
            <a:off x="1627632" y="1463040"/>
            <a:ext cx="914400" cy="182880"/>
          </a:xfrm>
          <a:prstGeom prst="rect">
            <a:avLst/>
          </a:prstGeom>
          <a:noFill/>
          <a:ln/>
        </p:spPr>
        <p:txBody>
          <a:bodyPr wrap="square" lIns="0" tIns="0" rIns="0" bIns="0" rtlCol="0" anchor="ctr"/>
          <a:lstStyle/>
          <a:p>
            <a:pPr algn="ctr" indent="0" marL="0">
              <a:buNone/>
            </a:pPr>
            <a:r>
              <a:rPr lang="en-US" sz="860" b="1" dirty="0">
                <a:solidFill>
                  <a:srgbClr val="B7791F"/>
                </a:solidFill>
                <a:latin typeface="Calibri" pitchFamily="34" charset="0"/>
                <a:ea typeface="Calibri" pitchFamily="34" charset="-122"/>
                <a:cs typeface="Calibri" pitchFamily="34" charset="-120"/>
              </a:rPr>
              <a:t>Measure</a:t>
            </a:r>
            <a:endParaRPr lang="en-US" sz="860" dirty="0"/>
          </a:p>
        </p:txBody>
      </p:sp>
      <p:sp>
        <p:nvSpPr>
          <p:cNvPr id="14" name="Text 12"/>
          <p:cNvSpPr/>
          <p:nvPr/>
        </p:nvSpPr>
        <p:spPr>
          <a:xfrm>
            <a:off x="1627632"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Python kernel: volume, walls, holes, faces</a:t>
            </a:r>
            <a:endParaRPr lang="en-US" sz="710" dirty="0"/>
          </a:p>
        </p:txBody>
      </p:sp>
      <p:sp>
        <p:nvSpPr>
          <p:cNvPr id="15" name="Shape 13"/>
          <p:cNvSpPr/>
          <p:nvPr/>
        </p:nvSpPr>
        <p:spPr>
          <a:xfrm>
            <a:off x="2688336" y="1115568"/>
            <a:ext cx="1024128" cy="950976"/>
          </a:xfrm>
          <a:prstGeom prst="roundRect">
            <a:avLst>
              <a:gd name="adj" fmla="val 7692"/>
            </a:avLst>
          </a:prstGeom>
          <a:solidFill>
            <a:srgbClr val="FFFFFF"/>
          </a:solidFill>
          <a:ln w="15875">
            <a:solidFill>
              <a:srgbClr val="0E8074"/>
            </a:solidFill>
            <a:prstDash val="solid"/>
          </a:ln>
        </p:spPr>
      </p:sp>
      <p:sp>
        <p:nvSpPr>
          <p:cNvPr id="16" name="Shape 14"/>
          <p:cNvSpPr/>
          <p:nvPr/>
        </p:nvSpPr>
        <p:spPr>
          <a:xfrm>
            <a:off x="3072384" y="1179576"/>
            <a:ext cx="256032" cy="256032"/>
          </a:xfrm>
          <a:prstGeom prst="ellipse">
            <a:avLst/>
          </a:prstGeom>
          <a:solidFill>
            <a:srgbClr val="0E8074"/>
          </a:solidFill>
          <a:ln/>
        </p:spPr>
      </p:sp>
      <p:sp>
        <p:nvSpPr>
          <p:cNvPr id="17" name="Text 15"/>
          <p:cNvSpPr/>
          <p:nvPr/>
        </p:nvSpPr>
        <p:spPr>
          <a:xfrm>
            <a:off x="3072384"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18" name="Text 16"/>
          <p:cNvSpPr/>
          <p:nvPr/>
        </p:nvSpPr>
        <p:spPr>
          <a:xfrm>
            <a:off x="2743200" y="1463040"/>
            <a:ext cx="914400" cy="182880"/>
          </a:xfrm>
          <a:prstGeom prst="rect">
            <a:avLst/>
          </a:prstGeom>
          <a:noFill/>
          <a:ln/>
        </p:spPr>
        <p:txBody>
          <a:bodyPr wrap="square" lIns="0" tIns="0" rIns="0" bIns="0" rtlCol="0" anchor="ctr"/>
          <a:lstStyle/>
          <a:p>
            <a:pPr algn="ctr" indent="0" marL="0">
              <a:buNone/>
            </a:pPr>
            <a:r>
              <a:rPr lang="en-US" sz="860" b="1" dirty="0">
                <a:solidFill>
                  <a:srgbClr val="0E8074"/>
                </a:solidFill>
                <a:latin typeface="Calibri" pitchFamily="34" charset="0"/>
                <a:ea typeface="Calibri" pitchFamily="34" charset="-122"/>
                <a:cs typeface="Calibri" pitchFamily="34" charset="-120"/>
              </a:rPr>
              <a:t>Derive</a:t>
            </a:r>
            <a:endParaRPr lang="en-US" sz="860" dirty="0"/>
          </a:p>
        </p:txBody>
      </p:sp>
      <p:sp>
        <p:nvSpPr>
          <p:cNvPr id="19" name="Text 17"/>
          <p:cNvSpPr/>
          <p:nvPr/>
        </p:nvSpPr>
        <p:spPr>
          <a:xfrm>
            <a:off x="2743200"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162 rules → cost inputs. Engineer answers the rest</a:t>
            </a:r>
            <a:endParaRPr lang="en-US" sz="710" dirty="0"/>
          </a:p>
        </p:txBody>
      </p:sp>
      <p:sp>
        <p:nvSpPr>
          <p:cNvPr id="20" name="Shape 18"/>
          <p:cNvSpPr/>
          <p:nvPr/>
        </p:nvSpPr>
        <p:spPr>
          <a:xfrm>
            <a:off x="3749040" y="1591056"/>
            <a:ext cx="201168" cy="0"/>
          </a:xfrm>
          <a:prstGeom prst="line">
            <a:avLst/>
          </a:prstGeom>
          <a:noFill/>
          <a:ln w="31750">
            <a:solidFill>
              <a:srgbClr val="0E8074"/>
            </a:solidFill>
            <a:prstDash val="solid"/>
            <a:tailEnd type="triangle"/>
          </a:ln>
        </p:spPr>
      </p:sp>
      <p:sp>
        <p:nvSpPr>
          <p:cNvPr id="21" name="Shape 19"/>
          <p:cNvSpPr/>
          <p:nvPr/>
        </p:nvSpPr>
        <p:spPr>
          <a:xfrm>
            <a:off x="4005072" y="1005840"/>
            <a:ext cx="4169664" cy="1170432"/>
          </a:xfrm>
          <a:prstGeom prst="roundRect">
            <a:avLst>
              <a:gd name="adj" fmla="val 7813"/>
            </a:avLst>
          </a:prstGeom>
          <a:solidFill>
            <a:srgbClr val="E6F4F1"/>
          </a:solidFill>
          <a:ln w="25400">
            <a:solidFill>
              <a:srgbClr val="0E8074"/>
            </a:solidFill>
            <a:prstDash val="solid"/>
          </a:ln>
        </p:spPr>
      </p:sp>
      <p:sp>
        <p:nvSpPr>
          <p:cNvPr id="22" name="Text 20"/>
          <p:cNvSpPr/>
          <p:nvPr/>
        </p:nvSpPr>
        <p:spPr>
          <a:xfrm>
            <a:off x="4133088" y="1051560"/>
            <a:ext cx="3931920" cy="219456"/>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23" name="Text 21"/>
          <p:cNvSpPr/>
          <p:nvPr/>
        </p:nvSpPr>
        <p:spPr>
          <a:xfrm>
            <a:off x="4133088" y="1261872"/>
            <a:ext cx="3931920" cy="182880"/>
          </a:xfrm>
          <a:prstGeom prst="rect">
            <a:avLst/>
          </a:prstGeom>
          <a:noFill/>
          <a:ln/>
        </p:spPr>
        <p:txBody>
          <a:bodyPr wrap="square" lIns="0" tIns="0" rIns="0" bIns="0" rtlCol="0" anchor="ctr"/>
          <a:lstStyle/>
          <a:p>
            <a:pPr indent="0" marL="0">
              <a:buNone/>
            </a:pPr>
            <a:r>
              <a:rPr lang="en-US" sz="720" i="1" dirty="0">
                <a:solidFill>
                  <a:srgbClr val="16325C"/>
                </a:solidFill>
                <a:latin typeface="Calibri" pitchFamily="34" charset="0"/>
                <a:ea typeface="Calibri" pitchFamily="34" charset="-122"/>
                <a:cs typeface="Calibri" pitchFamily="34" charset="-120"/>
              </a:rPr>
              <a:t>TypeScript · 29,229 lines · 107 files · 1,530 tests · runs unchanged in the browser and on the server</a:t>
            </a:r>
            <a:endParaRPr lang="en-US" sz="720" dirty="0"/>
          </a:p>
        </p:txBody>
      </p:sp>
      <p:sp>
        <p:nvSpPr>
          <p:cNvPr id="24" name="Shape 22"/>
          <p:cNvSpPr/>
          <p:nvPr/>
        </p:nvSpPr>
        <p:spPr>
          <a:xfrm>
            <a:off x="4133088" y="1517904"/>
            <a:ext cx="73152" cy="73152"/>
          </a:xfrm>
          <a:prstGeom prst="ellipse">
            <a:avLst/>
          </a:prstGeom>
          <a:solidFill>
            <a:srgbClr val="0E8074"/>
          </a:solidFill>
          <a:ln/>
        </p:spPr>
      </p:sp>
      <p:sp>
        <p:nvSpPr>
          <p:cNvPr id="25" name="Text 23"/>
          <p:cNvSpPr/>
          <p:nvPr/>
        </p:nvSpPr>
        <p:spPr>
          <a:xfrm>
            <a:off x="4261104" y="1463040"/>
            <a:ext cx="1847088" cy="182880"/>
          </a:xfrm>
          <a:prstGeom prst="rect">
            <a:avLst/>
          </a:prstGeom>
          <a:noFill/>
          <a:ln/>
        </p:spPr>
        <p:txBody>
          <a:bodyPr wrap="square" lIns="0" tIns="0" rIns="0" bIns="0" rtlCol="0" anchor="ctr"/>
          <a:lstStyle/>
          <a:p>
            <a:pPr indent="0" marL="0">
              <a:buNone/>
            </a:pPr>
            <a:r>
              <a:rPr lang="en-US" sz="710" dirty="0">
                <a:solidFill>
                  <a:srgbClr val="3A4356"/>
                </a:solidFill>
                <a:latin typeface="Calibri" pitchFamily="34" charset="0"/>
                <a:ea typeface="Calibri" pitchFamily="34" charset="-122"/>
                <a:cs typeface="Calibri" pitchFamily="34" charset="-120"/>
              </a:rPr>
              <a:t>core.ts → the 8 cost buckets</a:t>
            </a:r>
            <a:endParaRPr lang="en-US" sz="710" dirty="0"/>
          </a:p>
        </p:txBody>
      </p:sp>
      <p:sp>
        <p:nvSpPr>
          <p:cNvPr id="26" name="Shape 24"/>
          <p:cNvSpPr/>
          <p:nvPr/>
        </p:nvSpPr>
        <p:spPr>
          <a:xfrm>
            <a:off x="6126480" y="1517904"/>
            <a:ext cx="73152" cy="73152"/>
          </a:xfrm>
          <a:prstGeom prst="ellipse">
            <a:avLst/>
          </a:prstGeom>
          <a:solidFill>
            <a:srgbClr val="0E8074"/>
          </a:solidFill>
          <a:ln/>
        </p:spPr>
      </p:sp>
      <p:sp>
        <p:nvSpPr>
          <p:cNvPr id="27" name="Text 25"/>
          <p:cNvSpPr/>
          <p:nvPr/>
        </p:nvSpPr>
        <p:spPr>
          <a:xfrm>
            <a:off x="6254496" y="1463040"/>
            <a:ext cx="1847088" cy="182880"/>
          </a:xfrm>
          <a:prstGeom prst="rect">
            <a:avLst/>
          </a:prstGeom>
          <a:noFill/>
          <a:ln/>
        </p:spPr>
        <p:txBody>
          <a:bodyPr wrap="square" lIns="0" tIns="0" rIns="0" bIns="0" rtlCol="0" anchor="ctr"/>
          <a:lstStyle/>
          <a:p>
            <a:pPr indent="0" marL="0">
              <a:buNone/>
            </a:pPr>
            <a:r>
              <a:rPr lang="en-US" sz="710" dirty="0">
                <a:solidFill>
                  <a:srgbClr val="3A4356"/>
                </a:solidFill>
                <a:latin typeface="Calibri" pitchFamily="34" charset="0"/>
                <a:ea typeface="Calibri" pitchFamily="34" charset="-122"/>
                <a:cs typeface="Calibri" pitchFamily="34" charset="-120"/>
              </a:rPr>
              <a:t>18 commodity modules</a:t>
            </a:r>
            <a:endParaRPr lang="en-US" sz="710" dirty="0"/>
          </a:p>
        </p:txBody>
      </p:sp>
      <p:sp>
        <p:nvSpPr>
          <p:cNvPr id="28" name="Shape 26"/>
          <p:cNvSpPr/>
          <p:nvPr/>
        </p:nvSpPr>
        <p:spPr>
          <a:xfrm>
            <a:off x="4133088" y="1719072"/>
            <a:ext cx="73152" cy="73152"/>
          </a:xfrm>
          <a:prstGeom prst="ellipse">
            <a:avLst/>
          </a:prstGeom>
          <a:solidFill>
            <a:srgbClr val="0E8074"/>
          </a:solidFill>
          <a:ln/>
        </p:spPr>
      </p:sp>
      <p:sp>
        <p:nvSpPr>
          <p:cNvPr id="29" name="Text 27"/>
          <p:cNvSpPr/>
          <p:nvPr/>
        </p:nvSpPr>
        <p:spPr>
          <a:xfrm>
            <a:off x="4261104" y="1664208"/>
            <a:ext cx="1847088" cy="182880"/>
          </a:xfrm>
          <a:prstGeom prst="rect">
            <a:avLst/>
          </a:prstGeom>
          <a:noFill/>
          <a:ln/>
        </p:spPr>
        <p:txBody>
          <a:bodyPr wrap="square" lIns="0" tIns="0" rIns="0" bIns="0" rtlCol="0" anchor="ctr"/>
          <a:lstStyle/>
          <a:p>
            <a:pPr indent="0" marL="0">
              <a:buNone/>
            </a:pPr>
            <a:r>
              <a:rPr lang="en-US" sz="710" dirty="0">
                <a:solidFill>
                  <a:srgbClr val="3A4356"/>
                </a:solidFill>
                <a:latin typeface="Calibri" pitchFamily="34" charset="0"/>
                <a:ea typeface="Calibri" pitchFamily="34" charset="-122"/>
                <a:cs typeface="Calibri" pitchFamily="34" charset="-120"/>
              </a:rPr>
              <a:t>Optimisers pick the cheapest capable machine</a:t>
            </a:r>
            <a:endParaRPr lang="en-US" sz="710" dirty="0"/>
          </a:p>
        </p:txBody>
      </p:sp>
      <p:sp>
        <p:nvSpPr>
          <p:cNvPr id="30" name="Shape 28"/>
          <p:cNvSpPr/>
          <p:nvPr/>
        </p:nvSpPr>
        <p:spPr>
          <a:xfrm>
            <a:off x="6126480" y="1719072"/>
            <a:ext cx="73152" cy="73152"/>
          </a:xfrm>
          <a:prstGeom prst="ellipse">
            <a:avLst/>
          </a:prstGeom>
          <a:solidFill>
            <a:srgbClr val="0E8074"/>
          </a:solidFill>
          <a:ln/>
        </p:spPr>
      </p:sp>
      <p:sp>
        <p:nvSpPr>
          <p:cNvPr id="31" name="Text 29"/>
          <p:cNvSpPr/>
          <p:nvPr/>
        </p:nvSpPr>
        <p:spPr>
          <a:xfrm>
            <a:off x="6254496" y="1664208"/>
            <a:ext cx="1847088" cy="182880"/>
          </a:xfrm>
          <a:prstGeom prst="rect">
            <a:avLst/>
          </a:prstGeom>
          <a:noFill/>
          <a:ln/>
        </p:spPr>
        <p:txBody>
          <a:bodyPr wrap="square" lIns="0" tIns="0" rIns="0" bIns="0" rtlCol="0" anchor="ctr"/>
          <a:lstStyle/>
          <a:p>
            <a:pPr indent="0" marL="0">
              <a:buNone/>
            </a:pPr>
            <a:r>
              <a:rPr lang="en-US" sz="710" dirty="0">
                <a:solidFill>
                  <a:srgbClr val="3A4356"/>
                </a:solidFill>
                <a:latin typeface="Calibri" pitchFamily="34" charset="0"/>
                <a:ea typeface="Calibri" pitchFamily="34" charset="-122"/>
                <a:cs typeface="Calibri" pitchFamily="34" charset="-120"/>
              </a:rPr>
              <a:t>Guardrails check every number before it counts</a:t>
            </a:r>
            <a:endParaRPr lang="en-US" sz="710" dirty="0"/>
          </a:p>
        </p:txBody>
      </p:sp>
      <p:sp>
        <p:nvSpPr>
          <p:cNvPr id="32" name="Shape 30"/>
          <p:cNvSpPr/>
          <p:nvPr/>
        </p:nvSpPr>
        <p:spPr>
          <a:xfrm>
            <a:off x="4133088" y="1883664"/>
            <a:ext cx="3913632" cy="219456"/>
          </a:xfrm>
          <a:prstGeom prst="roundRect">
            <a:avLst>
              <a:gd name="adj" fmla="val 20833"/>
            </a:avLst>
          </a:prstGeom>
          <a:solidFill>
            <a:srgbClr val="16325C"/>
          </a:solidFill>
          <a:ln/>
        </p:spPr>
      </p:sp>
      <p:sp>
        <p:nvSpPr>
          <p:cNvPr id="33" name="Text 31"/>
          <p:cNvSpPr/>
          <p:nvPr/>
        </p:nvSpPr>
        <p:spPr>
          <a:xfrm>
            <a:off x="4224528" y="1883664"/>
            <a:ext cx="3730752" cy="219456"/>
          </a:xfrm>
          <a:prstGeom prst="rect">
            <a:avLst/>
          </a:prstGeom>
          <a:noFill/>
          <a:ln/>
        </p:spPr>
        <p:txBody>
          <a:bodyPr wrap="square" lIns="0" tIns="0" rIns="0" bIns="0" rtlCol="0" anchor="ctr"/>
          <a:lstStyle/>
          <a:p>
            <a:pPr indent="0" marL="0">
              <a:buNone/>
            </a:pPr>
            <a:r>
              <a:rPr lang="en-US" sz="710" b="1" dirty="0">
                <a:solidFill>
                  <a:srgbClr val="FFFFFF"/>
                </a:solidFill>
                <a:latin typeface="Calibri" pitchFamily="34" charset="0"/>
                <a:ea typeface="Calibri" pitchFamily="34" charset="-122"/>
                <a:cs typeface="Calibri" pitchFamily="34" charset="-120"/>
              </a:rPr>
              <a:t>Pure functions — numbers in, numbers out. No database, no network, no file access.</a:t>
            </a:r>
            <a:endParaRPr lang="en-US" sz="710" dirty="0"/>
          </a:p>
        </p:txBody>
      </p:sp>
      <p:sp>
        <p:nvSpPr>
          <p:cNvPr id="34" name="Shape 32"/>
          <p:cNvSpPr/>
          <p:nvPr/>
        </p:nvSpPr>
        <p:spPr>
          <a:xfrm>
            <a:off x="8229600" y="1591056"/>
            <a:ext cx="201168" cy="0"/>
          </a:xfrm>
          <a:prstGeom prst="line">
            <a:avLst/>
          </a:prstGeom>
          <a:noFill/>
          <a:ln w="31750">
            <a:solidFill>
              <a:srgbClr val="0E8074"/>
            </a:solidFill>
            <a:prstDash val="solid"/>
            <a:tailEnd type="triangle"/>
          </a:ln>
        </p:spPr>
      </p:sp>
      <p:sp>
        <p:nvSpPr>
          <p:cNvPr id="35" name="Shape 33"/>
          <p:cNvSpPr/>
          <p:nvPr/>
        </p:nvSpPr>
        <p:spPr>
          <a:xfrm>
            <a:off x="8485632" y="1115568"/>
            <a:ext cx="1024128" cy="950976"/>
          </a:xfrm>
          <a:prstGeom prst="roundRect">
            <a:avLst>
              <a:gd name="adj" fmla="val 7692"/>
            </a:avLst>
          </a:prstGeom>
          <a:solidFill>
            <a:srgbClr val="FFFFFF"/>
          </a:solidFill>
          <a:ln w="15875">
            <a:solidFill>
              <a:srgbClr val="B7791F"/>
            </a:solidFill>
            <a:prstDash val="solid"/>
          </a:ln>
        </p:spPr>
      </p:sp>
      <p:sp>
        <p:nvSpPr>
          <p:cNvPr id="36" name="Shape 34"/>
          <p:cNvSpPr/>
          <p:nvPr/>
        </p:nvSpPr>
        <p:spPr>
          <a:xfrm>
            <a:off x="8869680" y="1179576"/>
            <a:ext cx="256032" cy="256032"/>
          </a:xfrm>
          <a:prstGeom prst="ellipse">
            <a:avLst/>
          </a:prstGeom>
          <a:solidFill>
            <a:srgbClr val="B7791F"/>
          </a:solidFill>
          <a:ln/>
        </p:spPr>
      </p:sp>
      <p:sp>
        <p:nvSpPr>
          <p:cNvPr id="37" name="Text 35"/>
          <p:cNvSpPr/>
          <p:nvPr/>
        </p:nvSpPr>
        <p:spPr>
          <a:xfrm>
            <a:off x="8869680"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38" name="Text 36"/>
          <p:cNvSpPr/>
          <p:nvPr/>
        </p:nvSpPr>
        <p:spPr>
          <a:xfrm>
            <a:off x="8540496" y="1463040"/>
            <a:ext cx="914400" cy="182880"/>
          </a:xfrm>
          <a:prstGeom prst="rect">
            <a:avLst/>
          </a:prstGeom>
          <a:noFill/>
          <a:ln/>
        </p:spPr>
        <p:txBody>
          <a:bodyPr wrap="square" lIns="0" tIns="0" rIns="0" bIns="0" rtlCol="0" anchor="ctr"/>
          <a:lstStyle/>
          <a:p>
            <a:pPr algn="ctr" indent="0" marL="0">
              <a:buNone/>
            </a:pPr>
            <a:r>
              <a:rPr lang="en-US" sz="860" b="1" dirty="0">
                <a:solidFill>
                  <a:srgbClr val="B7791F"/>
                </a:solidFill>
                <a:latin typeface="Calibri" pitchFamily="34" charset="0"/>
                <a:ea typeface="Calibri" pitchFamily="34" charset="-122"/>
                <a:cs typeface="Calibri" pitchFamily="34" charset="-120"/>
              </a:rPr>
              <a:t>Check</a:t>
            </a:r>
            <a:endParaRPr lang="en-US" sz="860" dirty="0"/>
          </a:p>
        </p:txBody>
      </p:sp>
      <p:sp>
        <p:nvSpPr>
          <p:cNvPr id="39" name="Text 37"/>
          <p:cNvSpPr/>
          <p:nvPr/>
        </p:nvSpPr>
        <p:spPr>
          <a:xfrm>
            <a:off x="8540496"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Guardrails, self-audit, confidence band</a:t>
            </a:r>
            <a:endParaRPr lang="en-US" sz="710" dirty="0"/>
          </a:p>
        </p:txBody>
      </p:sp>
      <p:sp>
        <p:nvSpPr>
          <p:cNvPr id="40" name="Shape 38"/>
          <p:cNvSpPr/>
          <p:nvPr/>
        </p:nvSpPr>
        <p:spPr>
          <a:xfrm>
            <a:off x="9601200" y="1115568"/>
            <a:ext cx="1024128" cy="950976"/>
          </a:xfrm>
          <a:prstGeom prst="roundRect">
            <a:avLst>
              <a:gd name="adj" fmla="val 7692"/>
            </a:avLst>
          </a:prstGeom>
          <a:solidFill>
            <a:srgbClr val="FFFFFF"/>
          </a:solidFill>
          <a:ln w="15875">
            <a:solidFill>
              <a:srgbClr val="6B3FA0"/>
            </a:solidFill>
            <a:prstDash val="solid"/>
          </a:ln>
        </p:spPr>
      </p:sp>
      <p:sp>
        <p:nvSpPr>
          <p:cNvPr id="41" name="Shape 39"/>
          <p:cNvSpPr/>
          <p:nvPr/>
        </p:nvSpPr>
        <p:spPr>
          <a:xfrm>
            <a:off x="9985248" y="1179576"/>
            <a:ext cx="256032" cy="256032"/>
          </a:xfrm>
          <a:prstGeom prst="ellipse">
            <a:avLst/>
          </a:prstGeom>
          <a:solidFill>
            <a:srgbClr val="6B3FA0"/>
          </a:solidFill>
          <a:ln/>
        </p:spPr>
      </p:sp>
      <p:sp>
        <p:nvSpPr>
          <p:cNvPr id="42" name="Text 40"/>
          <p:cNvSpPr/>
          <p:nvPr/>
        </p:nvSpPr>
        <p:spPr>
          <a:xfrm>
            <a:off x="9985248"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43" name="Text 41"/>
          <p:cNvSpPr/>
          <p:nvPr/>
        </p:nvSpPr>
        <p:spPr>
          <a:xfrm>
            <a:off x="9656064" y="1463040"/>
            <a:ext cx="914400" cy="182880"/>
          </a:xfrm>
          <a:prstGeom prst="rect">
            <a:avLst/>
          </a:prstGeom>
          <a:noFill/>
          <a:ln/>
        </p:spPr>
        <p:txBody>
          <a:bodyPr wrap="square" lIns="0" tIns="0" rIns="0" bIns="0" rtlCol="0" anchor="ctr"/>
          <a:lstStyle/>
          <a:p>
            <a:pPr algn="ctr" indent="0" marL="0">
              <a:buNone/>
            </a:pPr>
            <a:r>
              <a:rPr lang="en-US" sz="860" b="1" dirty="0">
                <a:solidFill>
                  <a:srgbClr val="6B3FA0"/>
                </a:solidFill>
                <a:latin typeface="Calibri" pitchFamily="34" charset="0"/>
                <a:ea typeface="Calibri" pitchFamily="34" charset="-122"/>
                <a:cs typeface="Calibri" pitchFamily="34" charset="-120"/>
              </a:rPr>
              <a:t>Review</a:t>
            </a:r>
            <a:endParaRPr lang="en-US" sz="860" dirty="0"/>
          </a:p>
        </p:txBody>
      </p:sp>
      <p:sp>
        <p:nvSpPr>
          <p:cNvPr id="44" name="Text 42"/>
          <p:cNvSpPr/>
          <p:nvPr/>
        </p:nvSpPr>
        <p:spPr>
          <a:xfrm>
            <a:off x="9656064"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Engineer approves. 3D viewer to measure by hand</a:t>
            </a:r>
            <a:endParaRPr lang="en-US" sz="710" dirty="0"/>
          </a:p>
        </p:txBody>
      </p:sp>
      <p:sp>
        <p:nvSpPr>
          <p:cNvPr id="45" name="Shape 43"/>
          <p:cNvSpPr/>
          <p:nvPr/>
        </p:nvSpPr>
        <p:spPr>
          <a:xfrm>
            <a:off x="10716768" y="1115568"/>
            <a:ext cx="1024128" cy="950976"/>
          </a:xfrm>
          <a:prstGeom prst="roundRect">
            <a:avLst>
              <a:gd name="adj" fmla="val 7692"/>
            </a:avLst>
          </a:prstGeom>
          <a:solidFill>
            <a:srgbClr val="FFFFFF"/>
          </a:solidFill>
          <a:ln w="15875">
            <a:solidFill>
              <a:srgbClr val="2E8B57"/>
            </a:solidFill>
            <a:prstDash val="solid"/>
          </a:ln>
        </p:spPr>
      </p:sp>
      <p:sp>
        <p:nvSpPr>
          <p:cNvPr id="46" name="Shape 44"/>
          <p:cNvSpPr/>
          <p:nvPr/>
        </p:nvSpPr>
        <p:spPr>
          <a:xfrm>
            <a:off x="11100816" y="1179576"/>
            <a:ext cx="256032" cy="256032"/>
          </a:xfrm>
          <a:prstGeom prst="ellipse">
            <a:avLst/>
          </a:prstGeom>
          <a:solidFill>
            <a:srgbClr val="2E8B57"/>
          </a:solidFill>
          <a:ln/>
        </p:spPr>
      </p:sp>
      <p:sp>
        <p:nvSpPr>
          <p:cNvPr id="47" name="Text 45"/>
          <p:cNvSpPr/>
          <p:nvPr/>
        </p:nvSpPr>
        <p:spPr>
          <a:xfrm>
            <a:off x="11100816" y="1179576"/>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48" name="Text 46"/>
          <p:cNvSpPr/>
          <p:nvPr/>
        </p:nvSpPr>
        <p:spPr>
          <a:xfrm>
            <a:off x="10771632" y="1463040"/>
            <a:ext cx="914400" cy="182880"/>
          </a:xfrm>
          <a:prstGeom prst="rect">
            <a:avLst/>
          </a:prstGeom>
          <a:noFill/>
          <a:ln/>
        </p:spPr>
        <p:txBody>
          <a:bodyPr wrap="square" lIns="0" tIns="0" rIns="0" bIns="0" rtlCol="0" anchor="ctr"/>
          <a:lstStyle/>
          <a:p>
            <a:pPr algn="ctr" indent="0" marL="0">
              <a:buNone/>
            </a:pPr>
            <a:r>
              <a:rPr lang="en-US" sz="860" b="1" dirty="0">
                <a:solidFill>
                  <a:srgbClr val="2E8B57"/>
                </a:solidFill>
                <a:latin typeface="Calibri" pitchFamily="34" charset="0"/>
                <a:ea typeface="Calibri" pitchFamily="34" charset="-122"/>
                <a:cs typeface="Calibri" pitchFamily="34" charset="-120"/>
              </a:rPr>
              <a:t>Report</a:t>
            </a:r>
            <a:endParaRPr lang="en-US" sz="860" dirty="0"/>
          </a:p>
        </p:txBody>
      </p:sp>
      <p:sp>
        <p:nvSpPr>
          <p:cNvPr id="49" name="Text 47"/>
          <p:cNvSpPr/>
          <p:nvPr/>
        </p:nvSpPr>
        <p:spPr>
          <a:xfrm>
            <a:off x="10771632" y="1645920"/>
            <a:ext cx="914400" cy="384048"/>
          </a:xfrm>
          <a:prstGeom prst="rect">
            <a:avLst/>
          </a:prstGeom>
          <a:noFill/>
          <a:ln/>
        </p:spPr>
        <p:txBody>
          <a:bodyPr wrap="square" lIns="0" tIns="0" rIns="0" bIns="0" rtlCol="0" anchor="t"/>
          <a:lstStyle/>
          <a:p>
            <a:pPr algn="ctr" indent="0" marL="0">
              <a:buNone/>
            </a:pPr>
            <a:r>
              <a:rPr lang="en-US" sz="710" dirty="0">
                <a:solidFill>
                  <a:srgbClr val="3A4356"/>
                </a:solidFill>
                <a:latin typeface="Calibri" pitchFamily="34" charset="0"/>
                <a:ea typeface="Calibri" pitchFamily="34" charset="-122"/>
                <a:cs typeface="Calibri" pitchFamily="34" charset="-120"/>
              </a:rPr>
              <a:t>PDF, Excel, PowerPoint — made in the browser</a:t>
            </a:r>
            <a:endParaRPr lang="en-US" sz="710" dirty="0"/>
          </a:p>
        </p:txBody>
      </p:sp>
      <p:sp>
        <p:nvSpPr>
          <p:cNvPr id="50" name="Text 48"/>
          <p:cNvSpPr/>
          <p:nvPr/>
        </p:nvSpPr>
        <p:spPr>
          <a:xfrm>
            <a:off x="457200" y="2340864"/>
            <a:ext cx="2331720" cy="237744"/>
          </a:xfrm>
          <a:prstGeom prst="rect">
            <a:avLst/>
          </a:prstGeom>
          <a:solidFill>
            <a:srgbClr val="16325C"/>
          </a:solidFill>
          <a:ln/>
        </p:spPr>
        <p:txBody>
          <a:bodyPr wrap="square" lIns="762" tIns="762" rIns="762" bIns="762"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Component</a:t>
            </a:r>
            <a:endParaRPr lang="en-US" sz="820" dirty="0"/>
          </a:p>
        </p:txBody>
      </p:sp>
      <p:sp>
        <p:nvSpPr>
          <p:cNvPr id="51" name="Text 49"/>
          <p:cNvSpPr/>
          <p:nvPr/>
        </p:nvSpPr>
        <p:spPr>
          <a:xfrm>
            <a:off x="2788920" y="2340864"/>
            <a:ext cx="2697480" cy="237744"/>
          </a:xfrm>
          <a:prstGeom prst="rect">
            <a:avLst/>
          </a:prstGeom>
          <a:solidFill>
            <a:srgbClr val="16325C"/>
          </a:solidFill>
          <a:ln/>
        </p:spPr>
        <p:txBody>
          <a:bodyPr wrap="square" lIns="762" tIns="762" rIns="762" bIns="762"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Built with</a:t>
            </a:r>
            <a:endParaRPr lang="en-US" sz="820" dirty="0"/>
          </a:p>
        </p:txBody>
      </p:sp>
      <p:sp>
        <p:nvSpPr>
          <p:cNvPr id="52" name="Text 50"/>
          <p:cNvSpPr/>
          <p:nvPr/>
        </p:nvSpPr>
        <p:spPr>
          <a:xfrm>
            <a:off x="5577840" y="2340864"/>
            <a:ext cx="731520" cy="237744"/>
          </a:xfrm>
          <a:prstGeom prst="rect">
            <a:avLst/>
          </a:prstGeom>
          <a:solidFill>
            <a:srgbClr val="16325C"/>
          </a:solidFill>
          <a:ln/>
        </p:spPr>
        <p:txBody>
          <a:bodyPr wrap="square" lIns="762" tIns="762" rIns="762" bIns="762" rtlCol="0" anchor="ctr"/>
          <a:lstStyle/>
          <a:p>
            <a:pPr algn="r" indent="0" marL="0">
              <a:buNone/>
            </a:pPr>
            <a:r>
              <a:rPr lang="en-US" sz="820" b="1" dirty="0">
                <a:solidFill>
                  <a:srgbClr val="FFFFFF"/>
                </a:solidFill>
                <a:latin typeface="Calibri" pitchFamily="34" charset="0"/>
                <a:ea typeface="Calibri" pitchFamily="34" charset="-122"/>
                <a:cs typeface="Calibri" pitchFamily="34" charset="-120"/>
              </a:rPr>
              <a:t>Lines</a:t>
            </a:r>
            <a:endParaRPr lang="en-US" sz="820" dirty="0"/>
          </a:p>
        </p:txBody>
      </p:sp>
      <p:sp>
        <p:nvSpPr>
          <p:cNvPr id="53" name="Text 51"/>
          <p:cNvSpPr/>
          <p:nvPr/>
        </p:nvSpPr>
        <p:spPr>
          <a:xfrm>
            <a:off x="6601968" y="2340864"/>
            <a:ext cx="2194560" cy="237744"/>
          </a:xfrm>
          <a:prstGeom prst="rect">
            <a:avLst/>
          </a:prstGeom>
          <a:solidFill>
            <a:srgbClr val="16325C"/>
          </a:solidFill>
          <a:ln/>
        </p:spPr>
        <p:txBody>
          <a:bodyPr wrap="square" lIns="762" tIns="762" rIns="762" bIns="762"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Free to use?</a:t>
            </a:r>
            <a:endParaRPr lang="en-US" sz="820" dirty="0"/>
          </a:p>
        </p:txBody>
      </p:sp>
      <p:sp>
        <p:nvSpPr>
          <p:cNvPr id="54" name="Text 52"/>
          <p:cNvSpPr/>
          <p:nvPr/>
        </p:nvSpPr>
        <p:spPr>
          <a:xfrm>
            <a:off x="8887968" y="2340864"/>
            <a:ext cx="2843784" cy="237744"/>
          </a:xfrm>
          <a:prstGeom prst="rect">
            <a:avLst/>
          </a:prstGeom>
          <a:solidFill>
            <a:srgbClr val="16325C"/>
          </a:solidFill>
          <a:ln/>
        </p:spPr>
        <p:txBody>
          <a:bodyPr wrap="square" lIns="762" tIns="762" rIns="762" bIns="762"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Calls out to the internet?</a:t>
            </a:r>
            <a:endParaRPr lang="en-US" sz="820" dirty="0"/>
          </a:p>
        </p:txBody>
      </p:sp>
      <p:sp>
        <p:nvSpPr>
          <p:cNvPr id="55" name="Text 53"/>
          <p:cNvSpPr/>
          <p:nvPr/>
        </p:nvSpPr>
        <p:spPr>
          <a:xfrm>
            <a:off x="457200" y="2578608"/>
            <a:ext cx="2331720"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Geometry kernel</a:t>
            </a:r>
            <a:endParaRPr lang="en-US" sz="760" dirty="0"/>
          </a:p>
        </p:txBody>
      </p:sp>
      <p:sp>
        <p:nvSpPr>
          <p:cNvPr id="56" name="Text 54"/>
          <p:cNvSpPr/>
          <p:nvPr/>
        </p:nvSpPr>
        <p:spPr>
          <a:xfrm>
            <a:off x="2788920" y="2578608"/>
            <a:ext cx="269748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Python 3 + Open CASCADE (via OCP)</a:t>
            </a:r>
            <a:endParaRPr lang="en-US" sz="760" dirty="0"/>
          </a:p>
        </p:txBody>
      </p:sp>
      <p:sp>
        <p:nvSpPr>
          <p:cNvPr id="57" name="Text 55"/>
          <p:cNvSpPr/>
          <p:nvPr/>
        </p:nvSpPr>
        <p:spPr>
          <a:xfrm>
            <a:off x="5577840" y="2578608"/>
            <a:ext cx="731520" cy="193853"/>
          </a:xfrm>
          <a:prstGeom prst="rect">
            <a:avLst/>
          </a:prstGeom>
          <a:solidFill>
            <a:srgbClr val="FFFFFF"/>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1,587</a:t>
            </a:r>
            <a:endParaRPr lang="en-US" sz="760" dirty="0"/>
          </a:p>
        </p:txBody>
      </p:sp>
      <p:sp>
        <p:nvSpPr>
          <p:cNvPr id="58" name="Text 56"/>
          <p:cNvSpPr/>
          <p:nvPr/>
        </p:nvSpPr>
        <p:spPr>
          <a:xfrm>
            <a:off x="6601968" y="2578608"/>
            <a:ext cx="219456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LGPL-2.1 + exc. / Apache-2.0</a:t>
            </a:r>
            <a:endParaRPr lang="en-US" sz="760" dirty="0"/>
          </a:p>
        </p:txBody>
      </p:sp>
      <p:sp>
        <p:nvSpPr>
          <p:cNvPr id="59" name="Text 57"/>
          <p:cNvSpPr/>
          <p:nvPr/>
        </p:nvSpPr>
        <p:spPr>
          <a:xfrm>
            <a:off x="8887968" y="2578608"/>
            <a:ext cx="2843784"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60" name="Text 58"/>
          <p:cNvSpPr/>
          <p:nvPr/>
        </p:nvSpPr>
        <p:spPr>
          <a:xfrm>
            <a:off x="457200" y="2772461"/>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3D viewer</a:t>
            </a:r>
            <a:endParaRPr lang="en-US" sz="760" dirty="0"/>
          </a:p>
        </p:txBody>
      </p:sp>
      <p:sp>
        <p:nvSpPr>
          <p:cNvPr id="61" name="Text 59"/>
          <p:cNvSpPr/>
          <p:nvPr/>
        </p:nvSpPr>
        <p:spPr>
          <a:xfrm>
            <a:off x="2788920" y="2772461"/>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 three.js (WebGL)</a:t>
            </a:r>
            <a:endParaRPr lang="en-US" sz="760" dirty="0"/>
          </a:p>
        </p:txBody>
      </p:sp>
      <p:sp>
        <p:nvSpPr>
          <p:cNvPr id="62" name="Text 60"/>
          <p:cNvSpPr/>
          <p:nvPr/>
        </p:nvSpPr>
        <p:spPr>
          <a:xfrm>
            <a:off x="5577840" y="2772461"/>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2,334</a:t>
            </a:r>
            <a:endParaRPr lang="en-US" sz="760" dirty="0"/>
          </a:p>
        </p:txBody>
      </p:sp>
      <p:sp>
        <p:nvSpPr>
          <p:cNvPr id="63" name="Text 61"/>
          <p:cNvSpPr/>
          <p:nvPr/>
        </p:nvSpPr>
        <p:spPr>
          <a:xfrm>
            <a:off x="6601968" y="2772461"/>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MIT</a:t>
            </a:r>
            <a:endParaRPr lang="en-US" sz="760" dirty="0"/>
          </a:p>
        </p:txBody>
      </p:sp>
      <p:sp>
        <p:nvSpPr>
          <p:cNvPr id="64" name="Text 62"/>
          <p:cNvSpPr/>
          <p:nvPr/>
        </p:nvSpPr>
        <p:spPr>
          <a:xfrm>
            <a:off x="8887968" y="2772461"/>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65" name="Text 63"/>
          <p:cNvSpPr/>
          <p:nvPr/>
        </p:nvSpPr>
        <p:spPr>
          <a:xfrm>
            <a:off x="457200" y="2966314"/>
            <a:ext cx="2331720"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Cost engine (core + 18 modules)</a:t>
            </a:r>
            <a:endParaRPr lang="en-US" sz="760" dirty="0"/>
          </a:p>
        </p:txBody>
      </p:sp>
      <p:sp>
        <p:nvSpPr>
          <p:cNvPr id="66" name="Text 64"/>
          <p:cNvSpPr/>
          <p:nvPr/>
        </p:nvSpPr>
        <p:spPr>
          <a:xfrm>
            <a:off x="2788920" y="2966314"/>
            <a:ext cx="269748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no framework</a:t>
            </a:r>
            <a:endParaRPr lang="en-US" sz="760" dirty="0"/>
          </a:p>
        </p:txBody>
      </p:sp>
      <p:sp>
        <p:nvSpPr>
          <p:cNvPr id="67" name="Text 65"/>
          <p:cNvSpPr/>
          <p:nvPr/>
        </p:nvSpPr>
        <p:spPr>
          <a:xfrm>
            <a:off x="5577840" y="2966314"/>
            <a:ext cx="731520" cy="193853"/>
          </a:xfrm>
          <a:prstGeom prst="rect">
            <a:avLst/>
          </a:prstGeom>
          <a:solidFill>
            <a:srgbClr val="FFFFFF"/>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29,229</a:t>
            </a:r>
            <a:endParaRPr lang="en-US" sz="760" dirty="0"/>
          </a:p>
        </p:txBody>
      </p:sp>
      <p:sp>
        <p:nvSpPr>
          <p:cNvPr id="68" name="Text 66"/>
          <p:cNvSpPr/>
          <p:nvPr/>
        </p:nvSpPr>
        <p:spPr>
          <a:xfrm>
            <a:off x="6601968" y="2966314"/>
            <a:ext cx="219456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code</a:t>
            </a:r>
            <a:endParaRPr lang="en-US" sz="760" dirty="0"/>
          </a:p>
        </p:txBody>
      </p:sp>
      <p:sp>
        <p:nvSpPr>
          <p:cNvPr id="69" name="Text 67"/>
          <p:cNvSpPr/>
          <p:nvPr/>
        </p:nvSpPr>
        <p:spPr>
          <a:xfrm>
            <a:off x="8887968" y="2966314"/>
            <a:ext cx="2843784"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70" name="Text 68"/>
          <p:cNvSpPr/>
          <p:nvPr/>
        </p:nvSpPr>
        <p:spPr>
          <a:xfrm>
            <a:off x="457200" y="3160166"/>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Cost-input rules (162 of them)</a:t>
            </a:r>
            <a:endParaRPr lang="en-US" sz="760" dirty="0"/>
          </a:p>
        </p:txBody>
      </p:sp>
      <p:sp>
        <p:nvSpPr>
          <p:cNvPr id="71" name="Text 69"/>
          <p:cNvSpPr/>
          <p:nvPr/>
        </p:nvSpPr>
        <p:spPr>
          <a:xfrm>
            <a:off x="2788920" y="3160166"/>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inside the engine</a:t>
            </a:r>
            <a:endParaRPr lang="en-US" sz="760" dirty="0"/>
          </a:p>
        </p:txBody>
      </p:sp>
      <p:sp>
        <p:nvSpPr>
          <p:cNvPr id="72" name="Text 70"/>
          <p:cNvSpPr/>
          <p:nvPr/>
        </p:nvSpPr>
        <p:spPr>
          <a:xfrm>
            <a:off x="5577840" y="3160166"/>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7,525</a:t>
            </a:r>
            <a:endParaRPr lang="en-US" sz="760" dirty="0"/>
          </a:p>
        </p:txBody>
      </p:sp>
      <p:sp>
        <p:nvSpPr>
          <p:cNvPr id="73" name="Text 71"/>
          <p:cNvSpPr/>
          <p:nvPr/>
        </p:nvSpPr>
        <p:spPr>
          <a:xfrm>
            <a:off x="6601968" y="3160166"/>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code</a:t>
            </a:r>
            <a:endParaRPr lang="en-US" sz="760" dirty="0"/>
          </a:p>
        </p:txBody>
      </p:sp>
      <p:sp>
        <p:nvSpPr>
          <p:cNvPr id="74" name="Text 72"/>
          <p:cNvSpPr/>
          <p:nvPr/>
        </p:nvSpPr>
        <p:spPr>
          <a:xfrm>
            <a:off x="8887968" y="3160166"/>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75" name="Text 73"/>
          <p:cNvSpPr/>
          <p:nvPr/>
        </p:nvSpPr>
        <p:spPr>
          <a:xfrm>
            <a:off x="457200" y="3354019"/>
            <a:ext cx="2331720"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Optimisers + DFM / idea levers</a:t>
            </a:r>
            <a:endParaRPr lang="en-US" sz="760" dirty="0"/>
          </a:p>
        </p:txBody>
      </p:sp>
      <p:sp>
        <p:nvSpPr>
          <p:cNvPr id="76" name="Text 74"/>
          <p:cNvSpPr/>
          <p:nvPr/>
        </p:nvSpPr>
        <p:spPr>
          <a:xfrm>
            <a:off x="2788920" y="3354019"/>
            <a:ext cx="269748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inside the engine</a:t>
            </a:r>
            <a:endParaRPr lang="en-US" sz="760" dirty="0"/>
          </a:p>
        </p:txBody>
      </p:sp>
      <p:sp>
        <p:nvSpPr>
          <p:cNvPr id="77" name="Text 75"/>
          <p:cNvSpPr/>
          <p:nvPr/>
        </p:nvSpPr>
        <p:spPr>
          <a:xfrm>
            <a:off x="5577840" y="3354019"/>
            <a:ext cx="731520" cy="193853"/>
          </a:xfrm>
          <a:prstGeom prst="rect">
            <a:avLst/>
          </a:prstGeom>
          <a:solidFill>
            <a:srgbClr val="FFFFFF"/>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1,973</a:t>
            </a:r>
            <a:endParaRPr lang="en-US" sz="760" dirty="0"/>
          </a:p>
        </p:txBody>
      </p:sp>
      <p:sp>
        <p:nvSpPr>
          <p:cNvPr id="78" name="Text 76"/>
          <p:cNvSpPr/>
          <p:nvPr/>
        </p:nvSpPr>
        <p:spPr>
          <a:xfrm>
            <a:off x="6601968" y="3354019"/>
            <a:ext cx="219456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code</a:t>
            </a:r>
            <a:endParaRPr lang="en-US" sz="760" dirty="0"/>
          </a:p>
        </p:txBody>
      </p:sp>
      <p:sp>
        <p:nvSpPr>
          <p:cNvPr id="79" name="Text 77"/>
          <p:cNvSpPr/>
          <p:nvPr/>
        </p:nvSpPr>
        <p:spPr>
          <a:xfrm>
            <a:off x="8887968" y="3354019"/>
            <a:ext cx="2843784"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80" name="Text 78"/>
          <p:cNvSpPr/>
          <p:nvPr/>
        </p:nvSpPr>
        <p:spPr>
          <a:xfrm>
            <a:off x="457200" y="3547872"/>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Guardrails + self-audit</a:t>
            </a:r>
            <a:endParaRPr lang="en-US" sz="760" dirty="0"/>
          </a:p>
        </p:txBody>
      </p:sp>
      <p:sp>
        <p:nvSpPr>
          <p:cNvPr id="81" name="Text 79"/>
          <p:cNvSpPr/>
          <p:nvPr/>
        </p:nvSpPr>
        <p:spPr>
          <a:xfrm>
            <a:off x="2788920" y="3547872"/>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(engine + server)</a:t>
            </a:r>
            <a:endParaRPr lang="en-US" sz="760" dirty="0"/>
          </a:p>
        </p:txBody>
      </p:sp>
      <p:sp>
        <p:nvSpPr>
          <p:cNvPr id="82" name="Text 80"/>
          <p:cNvSpPr/>
          <p:nvPr/>
        </p:nvSpPr>
        <p:spPr>
          <a:xfrm>
            <a:off x="5577840" y="3547872"/>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780</a:t>
            </a:r>
            <a:endParaRPr lang="en-US" sz="760" dirty="0"/>
          </a:p>
        </p:txBody>
      </p:sp>
      <p:sp>
        <p:nvSpPr>
          <p:cNvPr id="83" name="Text 81"/>
          <p:cNvSpPr/>
          <p:nvPr/>
        </p:nvSpPr>
        <p:spPr>
          <a:xfrm>
            <a:off x="6601968" y="3547872"/>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code</a:t>
            </a:r>
            <a:endParaRPr lang="en-US" sz="760" dirty="0"/>
          </a:p>
        </p:txBody>
      </p:sp>
      <p:sp>
        <p:nvSpPr>
          <p:cNvPr id="84" name="Text 82"/>
          <p:cNvSpPr/>
          <p:nvPr/>
        </p:nvSpPr>
        <p:spPr>
          <a:xfrm>
            <a:off x="8887968" y="3547872"/>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85" name="Text 83"/>
          <p:cNvSpPr/>
          <p:nvPr/>
        </p:nvSpPr>
        <p:spPr>
          <a:xfrm>
            <a:off x="457200" y="3741725"/>
            <a:ext cx="2331720"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Rate library — 20 regions</a:t>
            </a:r>
            <a:endParaRPr lang="en-US" sz="760" dirty="0"/>
          </a:p>
        </p:txBody>
      </p:sp>
      <p:sp>
        <p:nvSpPr>
          <p:cNvPr id="86" name="Text 84"/>
          <p:cNvSpPr/>
          <p:nvPr/>
        </p:nvSpPr>
        <p:spPr>
          <a:xfrm>
            <a:off x="2788920" y="3741725"/>
            <a:ext cx="269748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data files, in git</a:t>
            </a:r>
            <a:endParaRPr lang="en-US" sz="760" dirty="0"/>
          </a:p>
        </p:txBody>
      </p:sp>
      <p:sp>
        <p:nvSpPr>
          <p:cNvPr id="87" name="Text 85"/>
          <p:cNvSpPr/>
          <p:nvPr/>
        </p:nvSpPr>
        <p:spPr>
          <a:xfrm>
            <a:off x="5577840" y="3741725"/>
            <a:ext cx="731520" cy="193853"/>
          </a:xfrm>
          <a:prstGeom prst="rect">
            <a:avLst/>
          </a:prstGeom>
          <a:solidFill>
            <a:srgbClr val="FFFFFF"/>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2,501</a:t>
            </a:r>
            <a:endParaRPr lang="en-US" sz="760" dirty="0"/>
          </a:p>
        </p:txBody>
      </p:sp>
      <p:sp>
        <p:nvSpPr>
          <p:cNvPr id="88" name="Text 86"/>
          <p:cNvSpPr/>
          <p:nvPr/>
        </p:nvSpPr>
        <p:spPr>
          <a:xfrm>
            <a:off x="6601968" y="3741725"/>
            <a:ext cx="2194560" cy="193853"/>
          </a:xfrm>
          <a:prstGeom prst="rect">
            <a:avLst/>
          </a:prstGeom>
          <a:solidFill>
            <a:srgbClr val="FFFFFF"/>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our own data</a:t>
            </a:r>
            <a:endParaRPr lang="en-US" sz="760" dirty="0"/>
          </a:p>
        </p:txBody>
      </p:sp>
      <p:sp>
        <p:nvSpPr>
          <p:cNvPr id="89" name="Text 87"/>
          <p:cNvSpPr/>
          <p:nvPr/>
        </p:nvSpPr>
        <p:spPr>
          <a:xfrm>
            <a:off x="8887968" y="3741725"/>
            <a:ext cx="2843784" cy="193853"/>
          </a:xfrm>
          <a:prstGeom prst="rect">
            <a:avLst/>
          </a:prstGeom>
          <a:solidFill>
            <a:srgbClr val="FFFFFF"/>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90" name="Text 88"/>
          <p:cNvSpPr/>
          <p:nvPr/>
        </p:nvSpPr>
        <p:spPr>
          <a:xfrm>
            <a:off x="457200" y="3935578"/>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Server + database</a:t>
            </a:r>
            <a:endParaRPr lang="en-US" sz="760" dirty="0"/>
          </a:p>
        </p:txBody>
      </p:sp>
      <p:sp>
        <p:nvSpPr>
          <p:cNvPr id="91" name="Text 89"/>
          <p:cNvSpPr/>
          <p:nvPr/>
        </p:nvSpPr>
        <p:spPr>
          <a:xfrm>
            <a:off x="2788920" y="3935578"/>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 Express + SQLite</a:t>
            </a:r>
            <a:endParaRPr lang="en-US" sz="760" dirty="0"/>
          </a:p>
        </p:txBody>
      </p:sp>
      <p:sp>
        <p:nvSpPr>
          <p:cNvPr id="92" name="Text 90"/>
          <p:cNvSpPr/>
          <p:nvPr/>
        </p:nvSpPr>
        <p:spPr>
          <a:xfrm>
            <a:off x="5577840" y="3935578"/>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14,215</a:t>
            </a:r>
            <a:endParaRPr lang="en-US" sz="760" dirty="0"/>
          </a:p>
        </p:txBody>
      </p:sp>
      <p:sp>
        <p:nvSpPr>
          <p:cNvPr id="93" name="Text 91"/>
          <p:cNvSpPr/>
          <p:nvPr/>
        </p:nvSpPr>
        <p:spPr>
          <a:xfrm>
            <a:off x="6601968" y="3935578"/>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MIT</a:t>
            </a:r>
            <a:endParaRPr lang="en-US" sz="760" dirty="0"/>
          </a:p>
        </p:txBody>
      </p:sp>
      <p:sp>
        <p:nvSpPr>
          <p:cNvPr id="94" name="Text 92"/>
          <p:cNvSpPr/>
          <p:nvPr/>
        </p:nvSpPr>
        <p:spPr>
          <a:xfrm>
            <a:off x="8887968" y="3935578"/>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Localhost only</a:t>
            </a:r>
            <a:endParaRPr lang="en-US" sz="760" dirty="0"/>
          </a:p>
        </p:txBody>
      </p:sp>
      <p:sp>
        <p:nvSpPr>
          <p:cNvPr id="95" name="Text 93"/>
          <p:cNvSpPr/>
          <p:nvPr/>
        </p:nvSpPr>
        <p:spPr>
          <a:xfrm>
            <a:off x="457200" y="4129430"/>
            <a:ext cx="2331720" cy="193853"/>
          </a:xfrm>
          <a:prstGeom prst="rect">
            <a:avLst/>
          </a:prstGeom>
          <a:solidFill>
            <a:srgbClr val="F1EBF8"/>
          </a:solidFill>
          <a:ln/>
        </p:spPr>
        <p:txBody>
          <a:bodyPr wrap="square" lIns="762" tIns="762" rIns="762" bIns="762" rtlCol="0" anchor="ctr"/>
          <a:lstStyle/>
          <a:p>
            <a:pPr algn="l" indent="0" marL="0">
              <a:buNone/>
            </a:pPr>
            <a:r>
              <a:rPr lang="en-US" sz="760" b="1" dirty="0">
                <a:solidFill>
                  <a:srgbClr val="6B3FA0"/>
                </a:solidFill>
                <a:latin typeface="Calibri" pitchFamily="34" charset="0"/>
                <a:ea typeface="Calibri" pitchFamily="34" charset="-122"/>
                <a:cs typeface="Calibri" pitchFamily="34" charset="-120"/>
              </a:rPr>
              <a:t>AI classifier — OPTIONAL</a:t>
            </a:r>
            <a:endParaRPr lang="en-US" sz="760" dirty="0"/>
          </a:p>
        </p:txBody>
      </p:sp>
      <p:sp>
        <p:nvSpPr>
          <p:cNvPr id="96" name="Text 94"/>
          <p:cNvSpPr/>
          <p:nvPr/>
        </p:nvSpPr>
        <p:spPr>
          <a:xfrm>
            <a:off x="2788920" y="4129430"/>
            <a:ext cx="2697480" cy="193853"/>
          </a:xfrm>
          <a:prstGeom prst="rect">
            <a:avLst/>
          </a:prstGeom>
          <a:solidFill>
            <a:srgbClr val="F1EBF8"/>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 Anthropic SDK</a:t>
            </a:r>
            <a:endParaRPr lang="en-US" sz="760" dirty="0"/>
          </a:p>
        </p:txBody>
      </p:sp>
      <p:sp>
        <p:nvSpPr>
          <p:cNvPr id="97" name="Text 95"/>
          <p:cNvSpPr/>
          <p:nvPr/>
        </p:nvSpPr>
        <p:spPr>
          <a:xfrm>
            <a:off x="5577840" y="4129430"/>
            <a:ext cx="731520" cy="193853"/>
          </a:xfrm>
          <a:prstGeom prst="rect">
            <a:avLst/>
          </a:prstGeom>
          <a:solidFill>
            <a:srgbClr val="F1EBF8"/>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~900</a:t>
            </a:r>
            <a:endParaRPr lang="en-US" sz="760" dirty="0"/>
          </a:p>
        </p:txBody>
      </p:sp>
      <p:sp>
        <p:nvSpPr>
          <p:cNvPr id="98" name="Text 96"/>
          <p:cNvSpPr/>
          <p:nvPr/>
        </p:nvSpPr>
        <p:spPr>
          <a:xfrm>
            <a:off x="6601968" y="4129430"/>
            <a:ext cx="2194560" cy="193853"/>
          </a:xfrm>
          <a:prstGeom prst="rect">
            <a:avLst/>
          </a:prstGeom>
          <a:solidFill>
            <a:srgbClr val="F1EBF8"/>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SDK free · API paid per token</a:t>
            </a:r>
            <a:endParaRPr lang="en-US" sz="760" dirty="0"/>
          </a:p>
        </p:txBody>
      </p:sp>
      <p:sp>
        <p:nvSpPr>
          <p:cNvPr id="99" name="Text 97"/>
          <p:cNvSpPr/>
          <p:nvPr/>
        </p:nvSpPr>
        <p:spPr>
          <a:xfrm>
            <a:off x="8887968" y="4129430"/>
            <a:ext cx="2843784" cy="193853"/>
          </a:xfrm>
          <a:prstGeom prst="rect">
            <a:avLst/>
          </a:prstGeom>
          <a:solidFill>
            <a:srgbClr val="F1EBF8"/>
          </a:solidFill>
          <a:ln/>
        </p:spPr>
        <p:txBody>
          <a:bodyPr wrap="square" lIns="762" tIns="762" rIns="762" bIns="762" rtlCol="0" anchor="ctr"/>
          <a:lstStyle/>
          <a:p>
            <a:pPr algn="l" indent="0" marL="0">
              <a:buNone/>
            </a:pPr>
            <a:r>
              <a:rPr lang="en-US" sz="760" b="1" dirty="0">
                <a:solidFill>
                  <a:srgbClr val="6B3FA0"/>
                </a:solidFill>
                <a:latin typeface="Calibri" pitchFamily="34" charset="0"/>
                <a:ea typeface="Calibri" pitchFamily="34" charset="-122"/>
                <a:cs typeface="Calibri" pitchFamily="34" charset="-120"/>
              </a:rPr>
              <a:t>YES — the only one</a:t>
            </a:r>
            <a:endParaRPr lang="en-US" sz="760" dirty="0"/>
          </a:p>
        </p:txBody>
      </p:sp>
      <p:sp>
        <p:nvSpPr>
          <p:cNvPr id="100" name="Text 98"/>
          <p:cNvSpPr/>
          <p:nvPr/>
        </p:nvSpPr>
        <p:spPr>
          <a:xfrm>
            <a:off x="457200" y="4323283"/>
            <a:ext cx="2331720"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16325C"/>
                </a:solidFill>
                <a:latin typeface="Calibri" pitchFamily="34" charset="0"/>
                <a:ea typeface="Calibri" pitchFamily="34" charset="-122"/>
                <a:cs typeface="Calibri" pitchFamily="34" charset="-120"/>
              </a:rPr>
              <a:t>Automated tests</a:t>
            </a:r>
            <a:endParaRPr lang="en-US" sz="760" dirty="0"/>
          </a:p>
        </p:txBody>
      </p:sp>
      <p:sp>
        <p:nvSpPr>
          <p:cNvPr id="101" name="Text 99"/>
          <p:cNvSpPr/>
          <p:nvPr/>
        </p:nvSpPr>
        <p:spPr>
          <a:xfrm>
            <a:off x="2788920" y="4323283"/>
            <a:ext cx="269748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TypeScript · Vitest</a:t>
            </a:r>
            <a:endParaRPr lang="en-US" sz="760" dirty="0"/>
          </a:p>
        </p:txBody>
      </p:sp>
      <p:sp>
        <p:nvSpPr>
          <p:cNvPr id="102" name="Text 100"/>
          <p:cNvSpPr/>
          <p:nvPr/>
        </p:nvSpPr>
        <p:spPr>
          <a:xfrm>
            <a:off x="5577840" y="4323283"/>
            <a:ext cx="731520" cy="193853"/>
          </a:xfrm>
          <a:prstGeom prst="rect">
            <a:avLst/>
          </a:prstGeom>
          <a:solidFill>
            <a:srgbClr val="F0F4F9"/>
          </a:solidFill>
          <a:ln/>
        </p:spPr>
        <p:txBody>
          <a:bodyPr wrap="square" lIns="762" tIns="762" rIns="762" bIns="762" rtlCol="0" anchor="ctr"/>
          <a:lstStyle/>
          <a:p>
            <a:pPr algn="r" indent="0" marL="0">
              <a:buNone/>
            </a:pPr>
            <a:r>
              <a:rPr lang="en-US" sz="760" i="1" dirty="0">
                <a:solidFill>
                  <a:srgbClr val="3A4356"/>
                </a:solidFill>
                <a:latin typeface="Calibri" pitchFamily="34" charset="0"/>
                <a:ea typeface="Calibri" pitchFamily="34" charset="-122"/>
                <a:cs typeface="Calibri" pitchFamily="34" charset="-120"/>
              </a:rPr>
              <a:t>17,507</a:t>
            </a:r>
            <a:endParaRPr lang="en-US" sz="760" dirty="0"/>
          </a:p>
        </p:txBody>
      </p:sp>
      <p:sp>
        <p:nvSpPr>
          <p:cNvPr id="103" name="Text 101"/>
          <p:cNvSpPr/>
          <p:nvPr/>
        </p:nvSpPr>
        <p:spPr>
          <a:xfrm>
            <a:off x="6601968" y="4323283"/>
            <a:ext cx="2194560" cy="193853"/>
          </a:xfrm>
          <a:prstGeom prst="rect">
            <a:avLst/>
          </a:prstGeom>
          <a:solidFill>
            <a:srgbClr val="F0F4F9"/>
          </a:solidFill>
          <a:ln/>
        </p:spPr>
        <p:txBody>
          <a:bodyPr wrap="square" lIns="762" tIns="762" rIns="762" bIns="762" rtlCol="0" anchor="ctr"/>
          <a:lstStyle/>
          <a:p>
            <a:pPr algn="l" indent="0" marL="0">
              <a:buNone/>
            </a:pPr>
            <a:r>
              <a:rPr lang="en-US" sz="760" dirty="0">
                <a:solidFill>
                  <a:srgbClr val="3A4356"/>
                </a:solidFill>
                <a:latin typeface="Calibri" pitchFamily="34" charset="0"/>
                <a:ea typeface="Calibri" pitchFamily="34" charset="-122"/>
                <a:cs typeface="Calibri" pitchFamily="34" charset="-120"/>
              </a:rPr>
              <a:t>Yes — MIT</a:t>
            </a:r>
            <a:endParaRPr lang="en-US" sz="760" dirty="0"/>
          </a:p>
        </p:txBody>
      </p:sp>
      <p:sp>
        <p:nvSpPr>
          <p:cNvPr id="104" name="Text 102"/>
          <p:cNvSpPr/>
          <p:nvPr/>
        </p:nvSpPr>
        <p:spPr>
          <a:xfrm>
            <a:off x="8887968" y="4323283"/>
            <a:ext cx="2843784" cy="193853"/>
          </a:xfrm>
          <a:prstGeom prst="rect">
            <a:avLst/>
          </a:prstGeom>
          <a:solidFill>
            <a:srgbClr val="F0F4F9"/>
          </a:solidFill>
          <a:ln/>
        </p:spPr>
        <p:txBody>
          <a:bodyPr wrap="square" lIns="762" tIns="762" rIns="762" bIns="762" rtlCol="0" anchor="ctr"/>
          <a:lstStyle/>
          <a:p>
            <a:pPr algn="l" indent="0" marL="0">
              <a:buNone/>
            </a:pPr>
            <a:r>
              <a:rPr lang="en-US" sz="760" b="1" dirty="0">
                <a:solidFill>
                  <a:srgbClr val="2E8B57"/>
                </a:solidFill>
                <a:latin typeface="Calibri" pitchFamily="34" charset="0"/>
                <a:ea typeface="Calibri" pitchFamily="34" charset="-122"/>
                <a:cs typeface="Calibri" pitchFamily="34" charset="-120"/>
              </a:rPr>
              <a:t>No</a:t>
            </a:r>
            <a:endParaRPr lang="en-US" sz="760" dirty="0"/>
          </a:p>
        </p:txBody>
      </p:sp>
      <p:sp>
        <p:nvSpPr>
          <p:cNvPr id="105" name="Text 103"/>
          <p:cNvSpPr/>
          <p:nvPr/>
        </p:nvSpPr>
        <p:spPr>
          <a:xfrm>
            <a:off x="457200" y="4553712"/>
            <a:ext cx="11274552" cy="182880"/>
          </a:xfrm>
          <a:prstGeom prst="rect">
            <a:avLst/>
          </a:prstGeom>
          <a:noFill/>
          <a:ln/>
        </p:spPr>
        <p:txBody>
          <a:bodyPr wrap="square" lIns="0" tIns="0" rIns="0" bIns="0" rtlCol="0" anchor="ctr"/>
          <a:lstStyle/>
          <a:p>
            <a:pPr indent="0" marL="0">
              <a:buNone/>
            </a:pPr>
            <a:r>
              <a:rPr lang="en-US" sz="720" i="1" dirty="0">
                <a:solidFill>
                  <a:srgbClr val="6B7280"/>
                </a:solidFill>
                <a:latin typeface="Calibri" pitchFamily="34" charset="0"/>
                <a:ea typeface="Calibri" pitchFamily="34" charset="-122"/>
                <a:cs typeface="Calibri" pitchFamily="34" charset="-120"/>
              </a:rPr>
              <a:t>Line counts measured from the repository, not estimated. Licences as published by each project — worth a formal review before anything is distributed outside the company.</a:t>
            </a:r>
            <a:endParaRPr lang="en-US" sz="720" dirty="0"/>
          </a:p>
        </p:txBody>
      </p:sp>
      <p:sp>
        <p:nvSpPr>
          <p:cNvPr id="106" name="Shape 104"/>
          <p:cNvSpPr/>
          <p:nvPr/>
        </p:nvSpPr>
        <p:spPr>
          <a:xfrm>
            <a:off x="457200" y="4828032"/>
            <a:ext cx="6967728" cy="1517904"/>
          </a:xfrm>
          <a:prstGeom prst="roundRect">
            <a:avLst>
              <a:gd name="adj" fmla="val 5422"/>
            </a:avLst>
          </a:prstGeom>
          <a:solidFill>
            <a:srgbClr val="FFFFFF"/>
          </a:solidFill>
          <a:ln w="19050">
            <a:solidFill>
              <a:srgbClr val="16325C"/>
            </a:solidFill>
            <a:prstDash val="solid"/>
          </a:ln>
        </p:spPr>
      </p:sp>
      <p:sp>
        <p:nvSpPr>
          <p:cNvPr id="107" name="Text 105"/>
          <p:cNvSpPr/>
          <p:nvPr/>
        </p:nvSpPr>
        <p:spPr>
          <a:xfrm>
            <a:off x="621792" y="4882896"/>
            <a:ext cx="6675120" cy="182880"/>
          </a:xfrm>
          <a:prstGeom prst="rect">
            <a:avLst/>
          </a:prstGeom>
          <a:noFill/>
          <a:ln/>
        </p:spPr>
        <p:txBody>
          <a:bodyPr wrap="square" lIns="0" tIns="0" rIns="0" bIns="0" rtlCol="0" anchor="ctr"/>
          <a:lstStyle/>
          <a:p>
            <a:pPr indent="0" marL="0">
              <a:buNone/>
            </a:pPr>
            <a:r>
              <a:rPr lang="en-US" sz="82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820" dirty="0"/>
          </a:p>
        </p:txBody>
      </p:sp>
      <p:sp>
        <p:nvSpPr>
          <p:cNvPr id="108" name="Shape 106"/>
          <p:cNvSpPr/>
          <p:nvPr/>
        </p:nvSpPr>
        <p:spPr>
          <a:xfrm>
            <a:off x="640080" y="5212080"/>
            <a:ext cx="82296" cy="82296"/>
          </a:xfrm>
          <a:prstGeom prst="ellipse">
            <a:avLst/>
          </a:prstGeom>
          <a:solidFill>
            <a:srgbClr val="6B3FA0"/>
          </a:solidFill>
          <a:ln/>
        </p:spPr>
      </p:sp>
      <p:sp>
        <p:nvSpPr>
          <p:cNvPr id="109" name="Text 107"/>
          <p:cNvSpPr/>
          <p:nvPr/>
        </p:nvSpPr>
        <p:spPr>
          <a:xfrm>
            <a:off x="804672" y="5102352"/>
            <a:ext cx="1024128" cy="164592"/>
          </a:xfrm>
          <a:prstGeom prst="rect">
            <a:avLst/>
          </a:prstGeom>
          <a:noFill/>
          <a:ln/>
        </p:spPr>
        <p:txBody>
          <a:bodyPr wrap="square" lIns="0" tIns="0" rIns="0" bIns="0" rtlCol="0" anchor="ctr"/>
          <a:lstStyle/>
          <a:p>
            <a:pPr indent="0" marL="0">
              <a:buNone/>
            </a:pPr>
            <a:r>
              <a:rPr lang="en-US" sz="760" b="1" dirty="0">
                <a:solidFill>
                  <a:srgbClr val="6B3FA0"/>
                </a:solidFill>
                <a:latin typeface="Calibri" pitchFamily="34" charset="0"/>
                <a:ea typeface="Calibri" pitchFamily="34" charset="-122"/>
                <a:cs typeface="Calibri" pitchFamily="34" charset="-120"/>
              </a:rPr>
              <a:t>API calls</a:t>
            </a:r>
            <a:endParaRPr lang="en-US" sz="760" dirty="0"/>
          </a:p>
        </p:txBody>
      </p:sp>
      <p:sp>
        <p:nvSpPr>
          <p:cNvPr id="110" name="Text 108"/>
          <p:cNvSpPr/>
          <p:nvPr/>
        </p:nvSpPr>
        <p:spPr>
          <a:xfrm>
            <a:off x="1847088" y="5102352"/>
            <a:ext cx="1691640" cy="164592"/>
          </a:xfrm>
          <a:prstGeom prst="rect">
            <a:avLst/>
          </a:prstGeom>
          <a:noFill/>
          <a:ln/>
        </p:spPr>
        <p:txBody>
          <a:bodyPr wrap="square" lIns="0" tIns="0" rIns="0" bIns="0" rtlCol="0" anchor="ctr"/>
          <a:lstStyle/>
          <a:p>
            <a:pPr indent="0" marL="0">
              <a:buNone/>
            </a:pPr>
            <a:r>
              <a:rPr lang="en-US" sz="760" b="1" dirty="0">
                <a:solidFill>
                  <a:srgbClr val="16325C"/>
                </a:solidFill>
                <a:latin typeface="Calibri" pitchFamily="34" charset="0"/>
                <a:ea typeface="Calibri" pitchFamily="34" charset="-122"/>
                <a:cs typeface="Calibri" pitchFamily="34" charset="-120"/>
              </a:rPr>
              <a:t>One — and optional</a:t>
            </a:r>
            <a:endParaRPr lang="en-US" sz="760" dirty="0"/>
          </a:p>
        </p:txBody>
      </p:sp>
      <p:sp>
        <p:nvSpPr>
          <p:cNvPr id="111" name="Text 109"/>
          <p:cNvSpPr/>
          <p:nvPr/>
        </p:nvSpPr>
        <p:spPr>
          <a:xfrm>
            <a:off x="804672" y="5248656"/>
            <a:ext cx="6400800" cy="155448"/>
          </a:xfrm>
          <a:prstGeom prst="rect">
            <a:avLst/>
          </a:prstGeom>
          <a:noFill/>
          <a:ln/>
        </p:spPr>
        <p:txBody>
          <a:bodyPr wrap="square" lIns="0" tIns="0" rIns="0" bIns="0" rtlCol="0" anchor="ctr"/>
          <a:lstStyle/>
          <a:p>
            <a:pPr indent="0" marL="0">
              <a:buNone/>
            </a:pPr>
            <a:r>
              <a:rPr lang="en-US" sz="700" dirty="0">
                <a:solidFill>
                  <a:srgbClr val="3A4356"/>
                </a:solidFill>
                <a:latin typeface="Calibri" pitchFamily="34" charset="0"/>
                <a:ea typeface="Calibri" pitchFamily="34" charset="-122"/>
                <a:cs typeface="Calibri" pitchFamily="34" charset="-120"/>
              </a:rPr>
              <a:t>AI classifier → api.anthropic.com (or your own endpoint). AIR_GAPPED=1 switches it off. The costing path never calls out.</a:t>
            </a:r>
            <a:endParaRPr lang="en-US" sz="700" dirty="0"/>
          </a:p>
        </p:txBody>
      </p:sp>
      <p:sp>
        <p:nvSpPr>
          <p:cNvPr id="112" name="Shape 110"/>
          <p:cNvSpPr/>
          <p:nvPr/>
        </p:nvSpPr>
        <p:spPr>
          <a:xfrm>
            <a:off x="640080" y="5518404"/>
            <a:ext cx="82296" cy="82296"/>
          </a:xfrm>
          <a:prstGeom prst="ellipse">
            <a:avLst/>
          </a:prstGeom>
          <a:solidFill>
            <a:srgbClr val="2E8B57"/>
          </a:solidFill>
          <a:ln/>
        </p:spPr>
      </p:sp>
      <p:sp>
        <p:nvSpPr>
          <p:cNvPr id="113" name="Text 111"/>
          <p:cNvSpPr/>
          <p:nvPr/>
        </p:nvSpPr>
        <p:spPr>
          <a:xfrm>
            <a:off x="804672" y="5408676"/>
            <a:ext cx="1024128" cy="164592"/>
          </a:xfrm>
          <a:prstGeom prst="rect">
            <a:avLst/>
          </a:prstGeom>
          <a:noFill/>
          <a:ln/>
        </p:spPr>
        <p:txBody>
          <a:bodyPr wrap="square" lIns="0" tIns="0" rIns="0" bIns="0" rtlCol="0" anchor="ctr"/>
          <a:lstStyle/>
          <a:p>
            <a:pPr indent="0" marL="0">
              <a:buNone/>
            </a:pPr>
            <a:r>
              <a:rPr lang="en-US" sz="760" b="1" dirty="0">
                <a:solidFill>
                  <a:srgbClr val="2E8B57"/>
                </a:solidFill>
                <a:latin typeface="Calibri" pitchFamily="34" charset="0"/>
                <a:ea typeface="Calibri" pitchFamily="34" charset="-122"/>
                <a:cs typeface="Calibri" pitchFamily="34" charset="-120"/>
              </a:rPr>
              <a:t>KPI calls</a:t>
            </a:r>
            <a:endParaRPr lang="en-US" sz="760" dirty="0"/>
          </a:p>
        </p:txBody>
      </p:sp>
      <p:sp>
        <p:nvSpPr>
          <p:cNvPr id="114" name="Text 112"/>
          <p:cNvSpPr/>
          <p:nvPr/>
        </p:nvSpPr>
        <p:spPr>
          <a:xfrm>
            <a:off x="1847088" y="5408676"/>
            <a:ext cx="1691640" cy="164592"/>
          </a:xfrm>
          <a:prstGeom prst="rect">
            <a:avLst/>
          </a:prstGeom>
          <a:noFill/>
          <a:ln/>
        </p:spPr>
        <p:txBody>
          <a:bodyPr wrap="square" lIns="0" tIns="0" rIns="0" bIns="0" rtlCol="0" anchor="ctr"/>
          <a:lstStyle/>
          <a:p>
            <a:pPr indent="0" marL="0">
              <a:buNone/>
            </a:pPr>
            <a:r>
              <a:rPr lang="en-US" sz="760" b="1" dirty="0">
                <a:solidFill>
                  <a:srgbClr val="16325C"/>
                </a:solidFill>
                <a:latin typeface="Calibri" pitchFamily="34" charset="0"/>
                <a:ea typeface="Calibri" pitchFamily="34" charset="-122"/>
                <a:cs typeface="Calibri" pitchFamily="34" charset="-120"/>
              </a:rPr>
              <a:t>None. Not one.</a:t>
            </a:r>
            <a:endParaRPr lang="en-US" sz="760" dirty="0"/>
          </a:p>
        </p:txBody>
      </p:sp>
      <p:sp>
        <p:nvSpPr>
          <p:cNvPr id="115" name="Text 113"/>
          <p:cNvSpPr/>
          <p:nvPr/>
        </p:nvSpPr>
        <p:spPr>
          <a:xfrm>
            <a:off x="804672" y="5554980"/>
            <a:ext cx="6400800" cy="155448"/>
          </a:xfrm>
          <a:prstGeom prst="rect">
            <a:avLst/>
          </a:prstGeom>
          <a:noFill/>
          <a:ln/>
        </p:spPr>
        <p:txBody>
          <a:bodyPr wrap="square" lIns="0" tIns="0" rIns="0" bIns="0" rtlCol="0" anchor="ctr"/>
          <a:lstStyle/>
          <a:p>
            <a:pPr indent="0" marL="0">
              <a:buNone/>
            </a:pPr>
            <a:r>
              <a:rPr lang="en-US" sz="70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700" dirty="0"/>
          </a:p>
        </p:txBody>
      </p:sp>
      <p:sp>
        <p:nvSpPr>
          <p:cNvPr id="116" name="Shape 114"/>
          <p:cNvSpPr/>
          <p:nvPr/>
        </p:nvSpPr>
        <p:spPr>
          <a:xfrm>
            <a:off x="640080" y="5824728"/>
            <a:ext cx="82296" cy="82296"/>
          </a:xfrm>
          <a:prstGeom prst="ellipse">
            <a:avLst/>
          </a:prstGeom>
          <a:solidFill>
            <a:srgbClr val="B7791F"/>
          </a:solidFill>
          <a:ln/>
        </p:spPr>
      </p:sp>
      <p:sp>
        <p:nvSpPr>
          <p:cNvPr id="117" name="Text 115"/>
          <p:cNvSpPr/>
          <p:nvPr/>
        </p:nvSpPr>
        <p:spPr>
          <a:xfrm>
            <a:off x="804672" y="5715000"/>
            <a:ext cx="1024128" cy="164592"/>
          </a:xfrm>
          <a:prstGeom prst="rect">
            <a:avLst/>
          </a:prstGeom>
          <a:noFill/>
          <a:ln/>
        </p:spPr>
        <p:txBody>
          <a:bodyPr wrap="square" lIns="0" tIns="0" rIns="0" bIns="0" rtlCol="0" anchor="ctr"/>
          <a:lstStyle/>
          <a:p>
            <a:pPr indent="0" marL="0">
              <a:buNone/>
            </a:pPr>
            <a:r>
              <a:rPr lang="en-US" sz="760" b="1" dirty="0">
                <a:solidFill>
                  <a:srgbClr val="B7791F"/>
                </a:solidFill>
                <a:latin typeface="Calibri" pitchFamily="34" charset="0"/>
                <a:ea typeface="Calibri" pitchFamily="34" charset="-122"/>
                <a:cs typeface="Calibri" pitchFamily="34" charset="-120"/>
              </a:rPr>
              <a:t>Error telemetry</a:t>
            </a:r>
            <a:endParaRPr lang="en-US" sz="760" dirty="0"/>
          </a:p>
        </p:txBody>
      </p:sp>
      <p:sp>
        <p:nvSpPr>
          <p:cNvPr id="118" name="Text 116"/>
          <p:cNvSpPr/>
          <p:nvPr/>
        </p:nvSpPr>
        <p:spPr>
          <a:xfrm>
            <a:off x="1847088" y="5715000"/>
            <a:ext cx="1691640" cy="164592"/>
          </a:xfrm>
          <a:prstGeom prst="rect">
            <a:avLst/>
          </a:prstGeom>
          <a:noFill/>
          <a:ln/>
        </p:spPr>
        <p:txBody>
          <a:bodyPr wrap="square" lIns="0" tIns="0" rIns="0" bIns="0" rtlCol="0" anchor="ctr"/>
          <a:lstStyle/>
          <a:p>
            <a:pPr indent="0" marL="0">
              <a:buNone/>
            </a:pPr>
            <a:r>
              <a:rPr lang="en-US" sz="760" b="1" dirty="0">
                <a:solidFill>
                  <a:srgbClr val="16325C"/>
                </a:solidFill>
                <a:latin typeface="Calibri" pitchFamily="34" charset="0"/>
                <a:ea typeface="Calibri" pitchFamily="34" charset="-122"/>
                <a:cs typeface="Calibri" pitchFamily="34" charset="-120"/>
              </a:rPr>
              <a:t>Yes — stays in-house</a:t>
            </a:r>
            <a:endParaRPr lang="en-US" sz="760" dirty="0"/>
          </a:p>
        </p:txBody>
      </p:sp>
      <p:sp>
        <p:nvSpPr>
          <p:cNvPr id="119" name="Text 117"/>
          <p:cNvSpPr/>
          <p:nvPr/>
        </p:nvSpPr>
        <p:spPr>
          <a:xfrm>
            <a:off x="804672" y="5861304"/>
            <a:ext cx="6400800" cy="155448"/>
          </a:xfrm>
          <a:prstGeom prst="rect">
            <a:avLst/>
          </a:prstGeom>
          <a:noFill/>
          <a:ln/>
        </p:spPr>
        <p:txBody>
          <a:bodyPr wrap="square" lIns="0" tIns="0" rIns="0" bIns="0" rtlCol="0" anchor="ctr"/>
          <a:lstStyle/>
          <a:p>
            <a:pPr indent="0" marL="0">
              <a:buNone/>
            </a:pPr>
            <a:r>
              <a:rPr lang="en-US" sz="700" dirty="0">
                <a:solidFill>
                  <a:srgbClr val="3A4356"/>
                </a:solidFill>
                <a:latin typeface="Calibri" pitchFamily="34" charset="0"/>
                <a:ea typeface="Calibri" pitchFamily="34" charset="-122"/>
                <a:cs typeface="Calibri" pitchFamily="34" charset="-120"/>
              </a:rPr>
              <a:t>Uncaught errors POST to /api/telemetry/error on YOUR server, into YOUR log. No Sentry, no Analytics, no third party.</a:t>
            </a:r>
            <a:endParaRPr lang="en-US" sz="700" dirty="0"/>
          </a:p>
        </p:txBody>
      </p:sp>
      <p:sp>
        <p:nvSpPr>
          <p:cNvPr id="120" name="Shape 118"/>
          <p:cNvSpPr/>
          <p:nvPr/>
        </p:nvSpPr>
        <p:spPr>
          <a:xfrm>
            <a:off x="640080" y="6131052"/>
            <a:ext cx="82296" cy="82296"/>
          </a:xfrm>
          <a:prstGeom prst="ellipse">
            <a:avLst/>
          </a:prstGeom>
          <a:solidFill>
            <a:srgbClr val="6B7280"/>
          </a:solidFill>
          <a:ln/>
        </p:spPr>
      </p:sp>
      <p:sp>
        <p:nvSpPr>
          <p:cNvPr id="121" name="Text 119"/>
          <p:cNvSpPr/>
          <p:nvPr/>
        </p:nvSpPr>
        <p:spPr>
          <a:xfrm>
            <a:off x="804672" y="6021324"/>
            <a:ext cx="1024128" cy="164592"/>
          </a:xfrm>
          <a:prstGeom prst="rect">
            <a:avLst/>
          </a:prstGeom>
          <a:noFill/>
          <a:ln/>
        </p:spPr>
        <p:txBody>
          <a:bodyPr wrap="square" lIns="0" tIns="0" rIns="0" bIns="0" rtlCol="0" anchor="ctr"/>
          <a:lstStyle/>
          <a:p>
            <a:pPr indent="0" marL="0">
              <a:buNone/>
            </a:pPr>
            <a:r>
              <a:rPr lang="en-US" sz="760" b="1" dirty="0">
                <a:solidFill>
                  <a:srgbClr val="6B7280"/>
                </a:solidFill>
                <a:latin typeface="Calibri" pitchFamily="34" charset="0"/>
                <a:ea typeface="Calibri" pitchFamily="34" charset="-122"/>
                <a:cs typeface="Calibri" pitchFamily="34" charset="-120"/>
              </a:rPr>
              <a:t>Optional feeds</a:t>
            </a:r>
            <a:endParaRPr lang="en-US" sz="760" dirty="0"/>
          </a:p>
        </p:txBody>
      </p:sp>
      <p:sp>
        <p:nvSpPr>
          <p:cNvPr id="122" name="Text 120"/>
          <p:cNvSpPr/>
          <p:nvPr/>
        </p:nvSpPr>
        <p:spPr>
          <a:xfrm>
            <a:off x="1847088" y="6021324"/>
            <a:ext cx="1691640" cy="164592"/>
          </a:xfrm>
          <a:prstGeom prst="rect">
            <a:avLst/>
          </a:prstGeom>
          <a:noFill/>
          <a:ln/>
        </p:spPr>
        <p:txBody>
          <a:bodyPr wrap="square" lIns="0" tIns="0" rIns="0" bIns="0" rtlCol="0" anchor="ctr"/>
          <a:lstStyle/>
          <a:p>
            <a:pPr indent="0" marL="0">
              <a:buNone/>
            </a:pPr>
            <a:r>
              <a:rPr lang="en-US" sz="760" b="1" dirty="0">
                <a:solidFill>
                  <a:srgbClr val="16325C"/>
                </a:solidFill>
                <a:latin typeface="Calibri" pitchFamily="34" charset="0"/>
                <a:ea typeface="Calibri" pitchFamily="34" charset="-122"/>
                <a:cs typeface="Calibri" pitchFamily="34" charset="-120"/>
              </a:rPr>
              <a:t>Off by default</a:t>
            </a:r>
            <a:endParaRPr lang="en-US" sz="760" dirty="0"/>
          </a:p>
        </p:txBody>
      </p:sp>
      <p:sp>
        <p:nvSpPr>
          <p:cNvPr id="123" name="Text 121"/>
          <p:cNvSpPr/>
          <p:nvPr/>
        </p:nvSpPr>
        <p:spPr>
          <a:xfrm>
            <a:off x="804672" y="6167628"/>
            <a:ext cx="6400800" cy="155448"/>
          </a:xfrm>
          <a:prstGeom prst="rect">
            <a:avLst/>
          </a:prstGeom>
          <a:noFill/>
          <a:ln/>
        </p:spPr>
        <p:txBody>
          <a:bodyPr wrap="square" lIns="0" tIns="0" rIns="0" bIns="0" rtlCol="0" anchor="ctr"/>
          <a:lstStyle/>
          <a:p>
            <a:pPr indent="0" marL="0">
              <a:buNone/>
            </a:pPr>
            <a:r>
              <a:rPr lang="en-US" sz="70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700" dirty="0"/>
          </a:p>
        </p:txBody>
      </p:sp>
      <p:sp>
        <p:nvSpPr>
          <p:cNvPr id="124" name="Text 122"/>
          <p:cNvSpPr/>
          <p:nvPr/>
        </p:nvSpPr>
        <p:spPr>
          <a:xfrm>
            <a:off x="7607808" y="4846320"/>
            <a:ext cx="4114800" cy="164592"/>
          </a:xfrm>
          <a:prstGeom prst="rect">
            <a:avLst/>
          </a:prstGeom>
          <a:noFill/>
          <a:ln/>
        </p:spPr>
        <p:txBody>
          <a:bodyPr wrap="square" lIns="0" tIns="0" rIns="0" bIns="0" rtlCol="0" anchor="ctr"/>
          <a:lstStyle/>
          <a:p>
            <a:pPr indent="0" marL="0">
              <a:buNone/>
            </a:pPr>
            <a:r>
              <a:rPr lang="en-US" sz="760" b="1" spc="50" kern="0" dirty="0">
                <a:solidFill>
                  <a:srgbClr val="16325C"/>
                </a:solidFill>
                <a:latin typeface="Calibri" pitchFamily="34" charset="0"/>
                <a:ea typeface="Calibri" pitchFamily="34" charset="-122"/>
                <a:cs typeface="Calibri" pitchFamily="34" charset="-120"/>
              </a:rPr>
              <a:t>CODE SIZE BY LAYER — LINES</a:t>
            </a:r>
            <a:endParaRPr lang="en-US" sz="760" dirty="0"/>
          </a:p>
        </p:txBody>
      </p:sp>
      <p:graphicFrame>
        <p:nvGraphicFramePr>
          <p:cNvPr id="125" name="Chart 0" descr=""/>
          <p:cNvGraphicFramePr/>
          <p:nvPr/>
        </p:nvGraphicFramePr>
        <p:xfrm>
          <a:off x="7534656" y="4974336"/>
          <a:ext cx="4224528" cy="1353312"/>
        </p:xfrm>
        <a:graphic xmlns:a="http://schemas.openxmlformats.org/drawingml/2006/main">
          <a:graphicData uri="http://schemas.openxmlformats.org/drawingml/2006/chart">
            <c:chart xmlns:c="http://schemas.openxmlformats.org/drawingml/2006/chart" r:id="rId1"/>
          </a:graphicData>
        </a:graphic>
      </p:graphicFrame>
      <p:sp>
        <p:nvSpPr>
          <p:cNvPr id="126" name="Text 1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languages, licences, code size and network behaviour</a:t>
            </a:r>
            <a:endParaRPr lang="en-US" sz="850" dirty="0"/>
          </a:p>
        </p:txBody>
      </p:sp>
      <p:sp>
        <p:nvSpPr>
          <p:cNvPr id="127" name="Text 1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2026-08-06T12:43:26Z</dcterms:created>
  <dcterms:modified xsi:type="dcterms:W3CDTF">2026-08-06T12:43:26Z</dcterms:modified>
</cp:coreProperties>
</file>