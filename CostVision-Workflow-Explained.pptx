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6.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four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 three, the three business-case slides, slide twenty-five, slide thirty-five and slide thirty-seven.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is the real argument — this is capacity, not headcount.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thirty-seven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fifteen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around thirty-seven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twenty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Twenty commodities are modelled.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6-1.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1.xml"/><Relationship Id="rId8"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and what it is worth against costing by hand</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3–6</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7–25</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26–36</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37</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 3 (how it connects) · slides 4–6 (the business case) · slide 25 (the housing on one page) · slide 35 (the two findings) · slide 37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~1,490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905256"/>
          </a:xfrm>
          <a:prstGeom prst="roundRect">
            <a:avLst>
              <a:gd name="adj" fmla="val 9091"/>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79576"/>
            <a:ext cx="3977640" cy="402336"/>
          </a:xfrm>
          <a:prstGeom prst="rect">
            <a:avLst/>
          </a:prstGeom>
          <a:noFill/>
          <a:ln/>
        </p:spPr>
        <p:txBody>
          <a:bodyPr wrap="square" lIns="0" tIns="0" rIns="0" bIns="0" rtlCol="0" anchor="t"/>
          <a:lstStyle/>
          <a:p>
            <a:pPr indent="0" marL="0">
              <a:buNone/>
            </a:pPr>
            <a:r>
              <a:rPr lang="en-US" sz="870" dirty="0">
                <a:solidFill>
                  <a:srgbClr val="3A4356"/>
                </a:solidFill>
                <a:latin typeface="Calibri" pitchFamily="34" charset="0"/>
                <a:ea typeface="Calibri" pitchFamily="34" charset="-122"/>
                <a:cs typeface="Calibri" pitchFamily="34" charset="-120"/>
              </a:rPr>
              <a:t>Three modes: </a:t>
            </a:r>
            <a:pPr indent="0" marL="0">
              <a:buNone/>
            </a:pPr>
            <a:r>
              <a:rPr lang="en-US" sz="87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870" dirty="0">
                <a:solidFill>
                  <a:srgbClr val="3A4356"/>
                </a:solidFill>
                <a:latin typeface="Calibri" pitchFamily="34" charset="0"/>
                <a:ea typeface="Calibri" pitchFamily="34" charset="-122"/>
                <a:cs typeface="Calibri" pitchFamily="34" charset="-120"/>
              </a:rPr>
              <a:t>Classification only — geometry out, words back. It cannot set a price, pick a machine, or write a DFM score or saving.</a:t>
            </a:r>
            <a:endParaRPr lang="en-US" sz="870" dirty="0"/>
          </a:p>
        </p:txBody>
      </p:sp>
      <p:sp>
        <p:nvSpPr>
          <p:cNvPr id="26" name="Text 23"/>
          <p:cNvSpPr/>
          <p:nvPr/>
        </p:nvSpPr>
        <p:spPr>
          <a:xfrm>
            <a:off x="2999232" y="1609344"/>
            <a:ext cx="3977640" cy="182880"/>
          </a:xfrm>
          <a:prstGeom prst="rect">
            <a:avLst/>
          </a:prstGeom>
          <a:noFill/>
          <a:ln/>
        </p:spPr>
        <p:txBody>
          <a:bodyPr wrap="square" lIns="0" tIns="0" rIns="0" bIns="0" rtlCol="0" anchor="ctr"/>
          <a:lstStyle/>
          <a:p>
            <a:pPr indent="0" marL="0">
              <a:buNone/>
            </a:pPr>
            <a:r>
              <a:rPr lang="en-US" sz="800" i="1" dirty="0">
                <a:solidFill>
                  <a:srgbClr val="6B3FA0"/>
                </a:solidFill>
                <a:latin typeface="Calibri" pitchFamily="34" charset="0"/>
                <a:ea typeface="Calibri" pitchFamily="34" charset="-122"/>
                <a:cs typeface="Calibri" pitchFamily="34" charset="-120"/>
              </a:rPr>
              <a:t>Routable to a private endpoint · AIR_GAPPED=1 refuses the call — costing still works</a:t>
            </a:r>
            <a:endParaRPr lang="en-US" sz="8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Text 4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44" name="Shape 4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45" name="Text 42"/>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46" name="Shape 4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47" name="Text 44"/>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48" name="Shape 4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49" name="Text 46"/>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0" name="Shape 4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priced saving</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ideas — engine, not AI</a:t>
            </a:r>
            <a:endParaRPr lang="en-US" sz="860" dirty="0"/>
          </a:p>
        </p:txBody>
      </p:sp>
      <p:sp>
        <p:nvSpPr>
          <p:cNvPr id="52" name="Shape 49"/>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54" name="Shape 51"/>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55" name="Shape 52"/>
          <p:cNvSpPr/>
          <p:nvPr/>
        </p:nvSpPr>
        <p:spPr>
          <a:xfrm>
            <a:off x="2734056" y="2560320"/>
            <a:ext cx="310896" cy="310896"/>
          </a:xfrm>
          <a:prstGeom prst="ellipse">
            <a:avLst/>
          </a:prstGeom>
          <a:solidFill>
            <a:srgbClr val="1D6FB8"/>
          </a:solidFill>
          <a:ln/>
        </p:spPr>
      </p:sp>
      <p:pic>
        <p:nvPicPr>
          <p:cNvPr id="56"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57" name="Text 53"/>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58" name="Text 54"/>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59" name="Shape 55"/>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0" name="Shape 56"/>
          <p:cNvSpPr/>
          <p:nvPr/>
        </p:nvSpPr>
        <p:spPr>
          <a:xfrm>
            <a:off x="2734056" y="3822192"/>
            <a:ext cx="310896" cy="310896"/>
          </a:xfrm>
          <a:prstGeom prst="ellipse">
            <a:avLst/>
          </a:prstGeom>
          <a:solidFill>
            <a:srgbClr val="4F46E5"/>
          </a:solidFill>
          <a:ln/>
        </p:spPr>
      </p:sp>
      <p:pic>
        <p:nvPicPr>
          <p:cNvPr id="61"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2" name="Text 57"/>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3" name="Text 58"/>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64" name="Shape 59"/>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65" name="Shape 60"/>
          <p:cNvSpPr/>
          <p:nvPr/>
        </p:nvSpPr>
        <p:spPr>
          <a:xfrm>
            <a:off x="2734056" y="5084064"/>
            <a:ext cx="310896" cy="310896"/>
          </a:xfrm>
          <a:prstGeom prst="ellipse">
            <a:avLst/>
          </a:prstGeom>
          <a:solidFill>
            <a:srgbClr val="2E8B57"/>
          </a:solidFill>
          <a:ln/>
        </p:spPr>
      </p:sp>
      <p:pic>
        <p:nvPicPr>
          <p:cNvPr id="66"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67" name="Text 61"/>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68" name="Text 62"/>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69" name="Shape 63"/>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0" name="Shape 64"/>
          <p:cNvSpPr/>
          <p:nvPr/>
        </p:nvSpPr>
        <p:spPr>
          <a:xfrm>
            <a:off x="5020056" y="2560320"/>
            <a:ext cx="310896" cy="310896"/>
          </a:xfrm>
          <a:prstGeom prst="ellipse">
            <a:avLst/>
          </a:prstGeom>
          <a:solidFill>
            <a:srgbClr val="B7791F"/>
          </a:solidFill>
          <a:ln/>
        </p:spPr>
      </p:sp>
      <p:pic>
        <p:nvPicPr>
          <p:cNvPr id="71"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2" name="Text 65"/>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3" name="Text 66"/>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74" name="Shape 67"/>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75" name="Shape 68"/>
          <p:cNvSpPr/>
          <p:nvPr/>
        </p:nvSpPr>
        <p:spPr>
          <a:xfrm>
            <a:off x="7900416" y="2560320"/>
            <a:ext cx="310896" cy="310896"/>
          </a:xfrm>
          <a:prstGeom prst="ellipse">
            <a:avLst/>
          </a:prstGeom>
          <a:solidFill>
            <a:srgbClr val="0E8074"/>
          </a:solidFill>
          <a:ln/>
        </p:spPr>
      </p:sp>
      <p:pic>
        <p:nvPicPr>
          <p:cNvPr id="76"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77" name="Text 69"/>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78" name="Text 70"/>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79" name="Shape 71"/>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0" name="Shape 72"/>
          <p:cNvSpPr/>
          <p:nvPr/>
        </p:nvSpPr>
        <p:spPr>
          <a:xfrm>
            <a:off x="7900416" y="3822192"/>
            <a:ext cx="310896" cy="310896"/>
          </a:xfrm>
          <a:prstGeom prst="ellipse">
            <a:avLst/>
          </a:prstGeom>
          <a:solidFill>
            <a:srgbClr val="0E8074"/>
          </a:solidFill>
          <a:ln/>
        </p:spPr>
      </p:sp>
      <p:pic>
        <p:nvPicPr>
          <p:cNvPr id="81"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2" name="Text 73"/>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3" name="Text 74"/>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84" name="Shape 75"/>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85" name="Text 76"/>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86" name="Text 77"/>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87" name="Shape 78"/>
          <p:cNvSpPr/>
          <p:nvPr/>
        </p:nvSpPr>
        <p:spPr>
          <a:xfrm>
            <a:off x="4892040" y="3712464"/>
            <a:ext cx="1965960" cy="1444752"/>
          </a:xfrm>
          <a:prstGeom prst="roundRect">
            <a:avLst>
              <a:gd name="adj" fmla="val 6329"/>
            </a:avLst>
          </a:prstGeom>
          <a:solidFill>
            <a:srgbClr val="0E5A5A"/>
          </a:solidFill>
          <a:ln/>
        </p:spPr>
      </p:sp>
      <p:sp>
        <p:nvSpPr>
          <p:cNvPr id="88" name="Shape 79"/>
          <p:cNvSpPr/>
          <p:nvPr/>
        </p:nvSpPr>
        <p:spPr>
          <a:xfrm>
            <a:off x="5632704" y="3840480"/>
            <a:ext cx="457200" cy="457200"/>
          </a:xfrm>
          <a:prstGeom prst="ellipse">
            <a:avLst/>
          </a:prstGeom>
          <a:solidFill>
            <a:srgbClr val="17A398"/>
          </a:solidFill>
          <a:ln/>
        </p:spPr>
      </p:sp>
      <p:pic>
        <p:nvPicPr>
          <p:cNvPr id="89"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0" name="Text 80"/>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1" name="Text 81"/>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2" name="Shape 82"/>
          <p:cNvSpPr/>
          <p:nvPr/>
        </p:nvSpPr>
        <p:spPr>
          <a:xfrm>
            <a:off x="3904488" y="2368296"/>
            <a:ext cx="548640" cy="155448"/>
          </a:xfrm>
          <a:prstGeom prst="roundRect">
            <a:avLst>
              <a:gd name="adj" fmla="val 50000"/>
            </a:avLst>
          </a:prstGeom>
          <a:solidFill>
            <a:srgbClr val="1D6FB8"/>
          </a:solidFill>
          <a:ln/>
        </p:spPr>
      </p:sp>
      <p:sp>
        <p:nvSpPr>
          <p:cNvPr id="93" name="Text 83"/>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4" name="Shape 84"/>
          <p:cNvSpPr/>
          <p:nvPr/>
        </p:nvSpPr>
        <p:spPr>
          <a:xfrm>
            <a:off x="3904488" y="3630168"/>
            <a:ext cx="548640" cy="155448"/>
          </a:xfrm>
          <a:prstGeom prst="roundRect">
            <a:avLst>
              <a:gd name="adj" fmla="val 50000"/>
            </a:avLst>
          </a:prstGeom>
          <a:solidFill>
            <a:srgbClr val="4F46E5"/>
          </a:solidFill>
          <a:ln/>
        </p:spPr>
      </p:sp>
      <p:sp>
        <p:nvSpPr>
          <p:cNvPr id="95" name="Text 85"/>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6" name="Shape 86"/>
          <p:cNvSpPr/>
          <p:nvPr/>
        </p:nvSpPr>
        <p:spPr>
          <a:xfrm>
            <a:off x="6236208" y="2368296"/>
            <a:ext cx="548640" cy="155448"/>
          </a:xfrm>
          <a:prstGeom prst="roundRect">
            <a:avLst>
              <a:gd name="adj" fmla="val 50000"/>
            </a:avLst>
          </a:prstGeom>
          <a:solidFill>
            <a:srgbClr val="B7791F"/>
          </a:solidFill>
          <a:ln/>
        </p:spPr>
      </p:sp>
      <p:sp>
        <p:nvSpPr>
          <p:cNvPr id="97" name="Text 87"/>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98" name="Shape 88"/>
          <p:cNvSpPr/>
          <p:nvPr/>
        </p:nvSpPr>
        <p:spPr>
          <a:xfrm>
            <a:off x="9070848" y="2368296"/>
            <a:ext cx="548640" cy="155448"/>
          </a:xfrm>
          <a:prstGeom prst="roundRect">
            <a:avLst>
              <a:gd name="adj" fmla="val 50000"/>
            </a:avLst>
          </a:prstGeom>
          <a:solidFill>
            <a:srgbClr val="0E8074"/>
          </a:solidFill>
          <a:ln/>
        </p:spPr>
      </p:sp>
      <p:sp>
        <p:nvSpPr>
          <p:cNvPr id="99" name="Text 89"/>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9070848" y="3630168"/>
            <a:ext cx="548640" cy="155448"/>
          </a:xfrm>
          <a:prstGeom prst="roundRect">
            <a:avLst>
              <a:gd name="adj" fmla="val 50000"/>
            </a:avLst>
          </a:prstGeom>
          <a:solidFill>
            <a:srgbClr val="0E8074"/>
          </a:solidFill>
          <a:ln/>
        </p:spPr>
      </p:sp>
      <p:sp>
        <p:nvSpPr>
          <p:cNvPr id="101" name="Text 91"/>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9070848" y="4892040"/>
            <a:ext cx="548640" cy="155448"/>
          </a:xfrm>
          <a:prstGeom prst="roundRect">
            <a:avLst>
              <a:gd name="adj" fmla="val 50000"/>
            </a:avLst>
          </a:prstGeom>
          <a:solidFill>
            <a:srgbClr val="2E8B57"/>
          </a:solidFill>
          <a:ln/>
        </p:spPr>
      </p:sp>
      <p:sp>
        <p:nvSpPr>
          <p:cNvPr id="103" name="Text 93"/>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6236208" y="3630168"/>
            <a:ext cx="548640" cy="155448"/>
          </a:xfrm>
          <a:prstGeom prst="roundRect">
            <a:avLst>
              <a:gd name="adj" fmla="val 50000"/>
            </a:avLst>
          </a:prstGeom>
          <a:solidFill>
            <a:srgbClr val="0E8074"/>
          </a:solidFill>
          <a:ln/>
        </p:spPr>
      </p:sp>
      <p:sp>
        <p:nvSpPr>
          <p:cNvPr id="105" name="Text 95"/>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3904488" y="4892040"/>
            <a:ext cx="548640" cy="155448"/>
          </a:xfrm>
          <a:prstGeom prst="roundRect">
            <a:avLst>
              <a:gd name="adj" fmla="val 50000"/>
            </a:avLst>
          </a:prstGeom>
          <a:solidFill>
            <a:srgbClr val="2E8B57"/>
          </a:solidFill>
          <a:ln/>
        </p:spPr>
      </p:sp>
      <p:sp>
        <p:nvSpPr>
          <p:cNvPr id="107" name="Text 97"/>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08" name="Shape 98"/>
          <p:cNvSpPr/>
          <p:nvPr/>
        </p:nvSpPr>
        <p:spPr>
          <a:xfrm>
            <a:off x="2423160" y="3008376"/>
            <a:ext cx="182880" cy="0"/>
          </a:xfrm>
          <a:prstGeom prst="line">
            <a:avLst/>
          </a:prstGeom>
          <a:noFill/>
          <a:ln w="22225">
            <a:solidFill>
              <a:srgbClr val="1D6FB8"/>
            </a:solidFill>
            <a:prstDash val="solid"/>
            <a:tailEnd type="triangle"/>
          </a:ln>
        </p:spPr>
      </p:sp>
      <p:sp>
        <p:nvSpPr>
          <p:cNvPr id="109" name="Shape 99"/>
          <p:cNvSpPr/>
          <p:nvPr/>
        </p:nvSpPr>
        <p:spPr>
          <a:xfrm>
            <a:off x="2423160" y="5385816"/>
            <a:ext cx="182880" cy="0"/>
          </a:xfrm>
          <a:prstGeom prst="line">
            <a:avLst/>
          </a:prstGeom>
          <a:noFill/>
          <a:ln w="22225">
            <a:solidFill>
              <a:srgbClr val="1D6FB8"/>
            </a:solidFill>
            <a:prstDash val="solid"/>
            <a:tailEnd type="triangle"/>
          </a:ln>
        </p:spPr>
      </p:sp>
      <p:sp>
        <p:nvSpPr>
          <p:cNvPr id="110" name="Shape 100"/>
          <p:cNvSpPr/>
          <p:nvPr/>
        </p:nvSpPr>
        <p:spPr>
          <a:xfrm>
            <a:off x="3566160" y="3566160"/>
            <a:ext cx="0" cy="146304"/>
          </a:xfrm>
          <a:prstGeom prst="line">
            <a:avLst/>
          </a:prstGeom>
          <a:noFill/>
          <a:ln w="22225">
            <a:solidFill>
              <a:srgbClr val="1D6FB8"/>
            </a:solidFill>
            <a:prstDash val="solid"/>
            <a:tailEnd type="triangle"/>
          </a:ln>
        </p:spPr>
      </p:sp>
      <p:sp>
        <p:nvSpPr>
          <p:cNvPr id="111" name="Shape 101"/>
          <p:cNvSpPr/>
          <p:nvPr/>
        </p:nvSpPr>
        <p:spPr>
          <a:xfrm flipV="1">
            <a:off x="3566160" y="4828032"/>
            <a:ext cx="0" cy="146304"/>
          </a:xfrm>
          <a:prstGeom prst="line">
            <a:avLst/>
          </a:prstGeom>
          <a:noFill/>
          <a:ln w="22225">
            <a:solidFill>
              <a:srgbClr val="2E8B57"/>
            </a:solidFill>
            <a:prstDash val="solid"/>
            <a:tailEnd type="triangle"/>
          </a:ln>
        </p:spPr>
      </p:sp>
      <p:sp>
        <p:nvSpPr>
          <p:cNvPr id="112" name="Shape 102"/>
          <p:cNvSpPr/>
          <p:nvPr/>
        </p:nvSpPr>
        <p:spPr>
          <a:xfrm flipH="1">
            <a:off x="4526280" y="3008376"/>
            <a:ext cx="365760" cy="283464"/>
          </a:xfrm>
          <a:prstGeom prst="line">
            <a:avLst/>
          </a:prstGeom>
          <a:noFill/>
          <a:ln w="17780">
            <a:solidFill>
              <a:srgbClr val="B7791F"/>
            </a:solidFill>
            <a:prstDash val="solid"/>
            <a:tailEnd type="triangle"/>
          </a:ln>
        </p:spPr>
      </p:sp>
      <p:sp>
        <p:nvSpPr>
          <p:cNvPr id="113" name="Shape 103"/>
          <p:cNvSpPr/>
          <p:nvPr/>
        </p:nvSpPr>
        <p:spPr>
          <a:xfrm>
            <a:off x="4526280" y="4270248"/>
            <a:ext cx="365760" cy="0"/>
          </a:xfrm>
          <a:prstGeom prst="line">
            <a:avLst/>
          </a:prstGeom>
          <a:noFill/>
          <a:ln w="22225">
            <a:solidFill>
              <a:srgbClr val="4F46E5"/>
            </a:solidFill>
            <a:prstDash val="solid"/>
            <a:tailEnd type="triangle"/>
          </a:ln>
        </p:spPr>
      </p:sp>
      <p:sp>
        <p:nvSpPr>
          <p:cNvPr id="114" name="Shape 104"/>
          <p:cNvSpPr/>
          <p:nvPr/>
        </p:nvSpPr>
        <p:spPr>
          <a:xfrm flipH="1">
            <a:off x="7223760" y="3008376"/>
            <a:ext cx="548640" cy="0"/>
          </a:xfrm>
          <a:prstGeom prst="line">
            <a:avLst/>
          </a:prstGeom>
          <a:noFill/>
          <a:ln w="22225">
            <a:solidFill>
              <a:srgbClr val="0E8074"/>
            </a:solidFill>
            <a:prstDash val="solid"/>
            <a:tailEnd type="triangle"/>
          </a:ln>
        </p:spPr>
      </p:sp>
      <p:sp>
        <p:nvSpPr>
          <p:cNvPr id="115" name="Shape 105"/>
          <p:cNvSpPr/>
          <p:nvPr/>
        </p:nvSpPr>
        <p:spPr>
          <a:xfrm flipH="1">
            <a:off x="6858000" y="3008376"/>
            <a:ext cx="365760" cy="923544"/>
          </a:xfrm>
          <a:prstGeom prst="line">
            <a:avLst/>
          </a:prstGeom>
          <a:noFill/>
          <a:ln w="22225">
            <a:solidFill>
              <a:srgbClr val="0E8074"/>
            </a:solidFill>
            <a:prstDash val="solid"/>
            <a:tailEnd type="triangle"/>
          </a:ln>
        </p:spPr>
      </p:sp>
      <p:sp>
        <p:nvSpPr>
          <p:cNvPr id="116" name="Shape 106"/>
          <p:cNvSpPr/>
          <p:nvPr/>
        </p:nvSpPr>
        <p:spPr>
          <a:xfrm flipH="1">
            <a:off x="6858000" y="4270248"/>
            <a:ext cx="914400" cy="0"/>
          </a:xfrm>
          <a:prstGeom prst="line">
            <a:avLst/>
          </a:prstGeom>
          <a:noFill/>
          <a:ln w="22225">
            <a:solidFill>
              <a:srgbClr val="0E8074"/>
            </a:solidFill>
            <a:prstDash val="solid"/>
            <a:tailEnd type="triangle"/>
          </a:ln>
        </p:spPr>
      </p:sp>
      <p:sp>
        <p:nvSpPr>
          <p:cNvPr id="117" name="Shape 107"/>
          <p:cNvSpPr/>
          <p:nvPr/>
        </p:nvSpPr>
        <p:spPr>
          <a:xfrm>
            <a:off x="6858000" y="4846320"/>
            <a:ext cx="914400" cy="502920"/>
          </a:xfrm>
          <a:prstGeom prst="line">
            <a:avLst/>
          </a:prstGeom>
          <a:noFill/>
          <a:ln w="22225">
            <a:solidFill>
              <a:srgbClr val="2E8B57"/>
            </a:solidFill>
            <a:prstDash val="solid"/>
            <a:tailEnd type="triangle"/>
          </a:ln>
        </p:spPr>
      </p:sp>
      <p:sp>
        <p:nvSpPr>
          <p:cNvPr id="118" name="Shape 108"/>
          <p:cNvSpPr/>
          <p:nvPr/>
        </p:nvSpPr>
        <p:spPr>
          <a:xfrm>
            <a:off x="9692640" y="5440680"/>
            <a:ext cx="411480" cy="0"/>
          </a:xfrm>
          <a:prstGeom prst="line">
            <a:avLst/>
          </a:prstGeom>
          <a:noFill/>
          <a:ln w="22225">
            <a:solidFill>
              <a:srgbClr val="2E8B57"/>
            </a:solidFill>
            <a:prstDash val="solid"/>
            <a:tailEnd type="triangle"/>
          </a:ln>
        </p:spPr>
      </p:sp>
      <p:sp>
        <p:nvSpPr>
          <p:cNvPr id="119" name="Shape 109"/>
          <p:cNvSpPr/>
          <p:nvPr/>
        </p:nvSpPr>
        <p:spPr>
          <a:xfrm flipH="1">
            <a:off x="9692640" y="4498848"/>
            <a:ext cx="411480" cy="0"/>
          </a:xfrm>
          <a:prstGeom prst="line">
            <a:avLst/>
          </a:prstGeom>
          <a:noFill/>
          <a:ln w="17780">
            <a:solidFill>
              <a:srgbClr val="2E8B57"/>
            </a:solidFill>
            <a:prstDash val="dash"/>
            <a:tailEnd type="triangle"/>
          </a:ln>
        </p:spPr>
      </p:sp>
      <p:sp>
        <p:nvSpPr>
          <p:cNvPr id="120" name="Text 110"/>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1" name="Shape 111"/>
          <p:cNvSpPr/>
          <p:nvPr/>
        </p:nvSpPr>
        <p:spPr>
          <a:xfrm>
            <a:off x="9692640" y="3008376"/>
            <a:ext cx="411480" cy="0"/>
          </a:xfrm>
          <a:prstGeom prst="line">
            <a:avLst/>
          </a:prstGeom>
          <a:noFill/>
          <a:ln w="22225">
            <a:solidFill>
              <a:srgbClr val="2E8B57"/>
            </a:solidFill>
            <a:prstDash val="solid"/>
            <a:tailEnd type="triangle"/>
          </a:ln>
        </p:spPr>
      </p:sp>
      <p:sp>
        <p:nvSpPr>
          <p:cNvPr id="122" name="Shape 112"/>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3" name="Text 113"/>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24" name="Text 1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25" name="Text 1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should-cost, by commodity: CostVision measured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~37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~37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Score and roadmap by arithmetic</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part starts at 10/10: minus 2 per critical, 1 per major, 0.5 per minor. The DFA score runs the same way on assembly rules. Actions become the roadmap: low-risk quick wins vs long-term changes — a filter over the same list, nothing new invented.</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Twenty commodities are modelled. A genuinely novel process needs a new module — days of work, not minutes, and it needs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2026-08-05T10:56:50Z</dcterms:created>
  <dcterms:modified xsi:type="dcterms:W3CDTF">2026-08-05T10:56:50Z</dcterms:modified>
</cp:coreProperties>
</file>