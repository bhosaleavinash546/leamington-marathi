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±32%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AI reads the part, the costing engine does every calculation, and a person approves the answer.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two slides: how the whole thing connects, and what it is worth measured against doing the same job by hand. About eight minutes. Section two is the first worked example — a die-cast aluminium housing, followed through all twelve stages from CAD file to defensible price, including the calculation shown in full so you can check it. Fourteen slides, about twenty-two minutes, and it is the heart of the pack. Section three does the same thing on a completely different part, an injection-moulded bumper fascia, plus paint, plus two findings that I genuinely did not predict. Ten slides, about eighteen minutes. Section four is five minutes on what the tool cannot do. And the strip along the bottom is there because I have been in enough of these meetings. If the hour collapses to ten minutes, take slide three, the two business-case slides, slide twenty, slide twenty-nine and slide thirty-one.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AI reads.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AI. This is the one stage out of twelve that it owns, so let us be precise about it. What is it given? Only the measurements from the previous slide, plus the part name. It does not see a price list. It does not see our rate library. It cannot see what the answer ought to be. What does it say back? Four things. The material family — an aluminium die-casting alloy. How it is made — high-pressure die casting, meaning molten aluminium injected into a steel mould under very high pressure. What happens next — machine finishing. And how sure it is: eighty-four percent. Now the red box, which is the answer to "but what if the AI gets it wrong". The AI cannot set a price or any part of a price. It cannot change a measured dimension or the weight. It cannot choose the machine or the cycle time. It cannot touch the rate library. And it cannot override a safety check. Those are not rules we ask it to follow — it has no access to any of those things. One more thing on the confidence score, because it does real work. At eighty-four percent the tool proceeds but flags the call for review. There is a hard rule in the code: if the material confidence falls below fifty percent, a warning fires that says the suggestion is a coin toss and asks for a part photo or a manual confirmation, and that warning stays attached to the result until a person clears it. A confident-sounding wrong answer is the most dangerous thing an AI can give you, so we make the uncertainty visible rather than hiding it. In plain terms: the AI does what an experienced engineer does in the first ten seconds of picking up a part. It saves setup time. It does not do the costing, and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First, the process. The AI suggested die casting, but the engine does not simply accept that.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is rejected because you would cut away about eighty percent of the metal — absurd on cost. Gravity die casting is rejected because it cannot reliably fill walls that thin. Second, and this is check four from the previous slide — the press. When you inject molten aluminium at high pressure it tries to force the two halves of the mould apart. The press has to clamp it shut. So the engine takes the shadow area of the part, which it measured from the CAD, multiplies it by the pressure inside the mould, and gets the force trying to open the tool. Add a safety margin, and pick the smallest press in the library that can hold it. That comes out at sixteen hundred tonnes. Why does this matter commercially? Because every machine carries its own hourly rate. A bigger press costs more per hour to own and to run. Choose too big a machine and you overstate the cost — you go into a negotiation asking for the wrong number. Choose too small and the part physically cannot be made. So the engine sizes it by calculation rather than defaulting, and it flags the choice for our engineer to confirm. And in the purple box, the summary of who did what. The AI proposed. The engine disposed. If the AI had said sand casting, the three millimetre walls would have overruled it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reads those measurements and names what the part is — words only, never money. The guards check the AI against the measurements and autocorrect it where they disagree, and the measurements always win. The engine does every calculation — sizes the machine, builds the cycle times, fills the eight buckets, reprices across twenty countries — with fixed, traceable formulas. And our engineer sets the commercial context, confirms every AI call, and signs off the number. The line in the middle is the whole tool in one sentence. The AI reads the part. The engine does every calculation. A person approves the answer.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The AI then does its one job and hands back four words: talc-filled polypropylene, injection moulded in one shot, painted to a Class-A finish, eighty-seven percent confident. Four words and a score. No numbers. It still cannot see a price list, a rate or a machine.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AI reads the part.  The costing engine does every calculation.  A person approves the answer.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3–5</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6–20</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21–30</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31</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4–5 (the business case) · slide 20 (the housing on one page) · slide 29 (the two findings) · slide 31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Rules derive every cost input; the engineer answers what geometry cannot know; the AI is optional.</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19" name="Shape 17"/>
          <p:cNvSpPr/>
          <p:nvPr/>
        </p:nvSpPr>
        <p:spPr>
          <a:xfrm>
            <a:off x="2468880" y="1170432"/>
            <a:ext cx="402336" cy="402336"/>
          </a:xfrm>
          <a:prstGeom prst="ellipse">
            <a:avLst/>
          </a:prstGeom>
          <a:solidFill>
            <a:srgbClr val="6B3FA0"/>
          </a:solidFill>
          <a:ln/>
        </p:spPr>
      </p:sp>
      <p:pic>
        <p:nvPicPr>
          <p:cNvPr id="20"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1" name="Text 18"/>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2" name="Text 19"/>
          <p:cNvSpPr/>
          <p:nvPr/>
        </p:nvSpPr>
        <p:spPr>
          <a:xfrm>
            <a:off x="2999232" y="1179576"/>
            <a:ext cx="3977640" cy="402336"/>
          </a:xfrm>
          <a:prstGeom prst="rect">
            <a:avLst/>
          </a:prstGeom>
          <a:noFill/>
          <a:ln/>
        </p:spPr>
        <p:txBody>
          <a:bodyPr wrap="square" lIns="0" tIns="0" rIns="0" bIns="0" rtlCol="0" anchor="t"/>
          <a:lstStyle/>
          <a:p>
            <a:pPr indent="0" marL="0">
              <a:buNone/>
            </a:pPr>
            <a:r>
              <a:rPr lang="en-US" sz="870" dirty="0">
                <a:solidFill>
                  <a:srgbClr val="3A4356"/>
                </a:solidFill>
                <a:latin typeface="Calibri" pitchFamily="34" charset="0"/>
                <a:ea typeface="Calibri" pitchFamily="34" charset="-122"/>
                <a:cs typeface="Calibri" pitchFamily="34" charset="-120"/>
              </a:rPr>
              <a:t>Three modes: </a:t>
            </a:r>
            <a:pPr indent="0" marL="0">
              <a:buNone/>
            </a:pPr>
            <a:r>
              <a:rPr lang="en-US" sz="87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870" dirty="0">
                <a:solidFill>
                  <a:srgbClr val="3A4356"/>
                </a:solidFill>
                <a:latin typeface="Calibri" pitchFamily="34" charset="0"/>
                <a:ea typeface="Calibri" pitchFamily="34" charset="-122"/>
                <a:cs typeface="Calibri" pitchFamily="34" charset="-120"/>
              </a:rPr>
              <a:t>Classification only — geometry out, words back. No prices, no rates, no drawings.</a:t>
            </a:r>
            <a:endParaRPr lang="en-US" sz="870" dirty="0"/>
          </a:p>
        </p:txBody>
      </p:sp>
      <p:sp>
        <p:nvSpPr>
          <p:cNvPr id="23" name="Text 20"/>
          <p:cNvSpPr/>
          <p:nvPr/>
        </p:nvSpPr>
        <p:spPr>
          <a:xfrm>
            <a:off x="2999232" y="160934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refuses the call — costing still works</a:t>
            </a:r>
            <a:endParaRPr lang="en-US" sz="800" dirty="0"/>
          </a:p>
        </p:txBody>
      </p:sp>
      <p:sp>
        <p:nvSpPr>
          <p:cNvPr id="24" name="Shape 21"/>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5" name="Text 22"/>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6" name="Text 23"/>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27" name="Shape 24"/>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28" name="Shape 25"/>
          <p:cNvSpPr/>
          <p:nvPr/>
        </p:nvSpPr>
        <p:spPr>
          <a:xfrm>
            <a:off x="685800" y="1874520"/>
            <a:ext cx="3200400" cy="256032"/>
          </a:xfrm>
          <a:prstGeom prst="roundRect">
            <a:avLst>
              <a:gd name="adj" fmla="val 50000"/>
            </a:avLst>
          </a:prstGeom>
          <a:solidFill>
            <a:srgbClr val="0E8074"/>
          </a:solidFill>
          <a:ln/>
        </p:spPr>
      </p:sp>
      <p:sp>
        <p:nvSpPr>
          <p:cNvPr id="29" name="Text 26"/>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0" name="Shape 27"/>
          <p:cNvSpPr/>
          <p:nvPr/>
        </p:nvSpPr>
        <p:spPr>
          <a:xfrm>
            <a:off x="3794760" y="1837944"/>
            <a:ext cx="0" cy="612648"/>
          </a:xfrm>
          <a:prstGeom prst="line">
            <a:avLst/>
          </a:prstGeom>
          <a:noFill/>
          <a:ln w="19050">
            <a:solidFill>
              <a:srgbClr val="6B3FA0"/>
            </a:solidFill>
            <a:prstDash val="dash"/>
            <a:headEnd type="triangle"/>
            <a:tailEnd type="triangle"/>
          </a:ln>
        </p:spPr>
      </p:sp>
      <p:sp>
        <p:nvSpPr>
          <p:cNvPr id="31" name="Text 28"/>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2" name="Shape 29"/>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3" name="Text 30"/>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4" name="Shape 31"/>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5" name="Text 32"/>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6" name="Shape 33"/>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37" name="Text 34"/>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38" name="Shape 35"/>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39" name="Text 36"/>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0" name="Text 37"/>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1" name="Shape 38"/>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3" name="Shape 40"/>
          <p:cNvSpPr/>
          <p:nvPr/>
        </p:nvSpPr>
        <p:spPr>
          <a:xfrm>
            <a:off x="10104120" y="3236976"/>
            <a:ext cx="1645920" cy="621792"/>
          </a:xfrm>
          <a:prstGeom prst="roundRect">
            <a:avLst>
              <a:gd name="adj" fmla="val 10294"/>
            </a:avLst>
          </a:prstGeom>
          <a:solidFill>
            <a:srgbClr val="FFFFFF"/>
          </a:solidFill>
          <a:ln w="12700">
            <a:solidFill>
              <a:srgbClr val="DCE3EE"/>
            </a:solidFill>
            <a:prstDash val="solid"/>
          </a:ln>
        </p:spPr>
      </p:sp>
      <p:sp>
        <p:nvSpPr>
          <p:cNvPr id="44" name="Text 41"/>
          <p:cNvSpPr/>
          <p:nvPr/>
        </p:nvSpPr>
        <p:spPr>
          <a:xfrm>
            <a:off x="10222992" y="323697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5" name="Shape 42"/>
          <p:cNvSpPr/>
          <p:nvPr/>
        </p:nvSpPr>
        <p:spPr>
          <a:xfrm>
            <a:off x="10104120" y="3968496"/>
            <a:ext cx="1645920" cy="621792"/>
          </a:xfrm>
          <a:prstGeom prst="roundRect">
            <a:avLst>
              <a:gd name="adj" fmla="val 10294"/>
            </a:avLst>
          </a:prstGeom>
          <a:solidFill>
            <a:srgbClr val="FFFFFF"/>
          </a:solidFill>
          <a:ln w="12700">
            <a:solidFill>
              <a:srgbClr val="DCE3EE"/>
            </a:solidFill>
            <a:prstDash val="solid"/>
          </a:ln>
        </p:spPr>
      </p:sp>
      <p:sp>
        <p:nvSpPr>
          <p:cNvPr id="46" name="Text 43"/>
          <p:cNvSpPr/>
          <p:nvPr/>
        </p:nvSpPr>
        <p:spPr>
          <a:xfrm>
            <a:off x="10222992" y="396849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47" name="Shape 44"/>
          <p:cNvSpPr/>
          <p:nvPr/>
        </p:nvSpPr>
        <p:spPr>
          <a:xfrm>
            <a:off x="10104120" y="4700016"/>
            <a:ext cx="1645920" cy="621792"/>
          </a:xfrm>
          <a:prstGeom prst="roundRect">
            <a:avLst>
              <a:gd name="adj" fmla="val 10294"/>
            </a:avLst>
          </a:prstGeom>
          <a:solidFill>
            <a:srgbClr val="FFFFFF"/>
          </a:solidFill>
          <a:ln w="12700">
            <a:solidFill>
              <a:srgbClr val="DCE3EE"/>
            </a:solidFill>
            <a:prstDash val="solid"/>
          </a:ln>
        </p:spPr>
      </p:sp>
      <p:sp>
        <p:nvSpPr>
          <p:cNvPr id="48" name="Text 45"/>
          <p:cNvSpPr/>
          <p:nvPr/>
        </p:nvSpPr>
        <p:spPr>
          <a:xfrm>
            <a:off x="10222992" y="470001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49" name="Shape 46"/>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0" name="Shape 47"/>
          <p:cNvSpPr/>
          <p:nvPr/>
        </p:nvSpPr>
        <p:spPr>
          <a:xfrm>
            <a:off x="2734056" y="2560320"/>
            <a:ext cx="310896" cy="310896"/>
          </a:xfrm>
          <a:prstGeom prst="ellipse">
            <a:avLst/>
          </a:prstGeom>
          <a:solidFill>
            <a:srgbClr val="1D6FB8"/>
          </a:solidFill>
          <a:ln/>
        </p:spPr>
      </p:sp>
      <p:pic>
        <p:nvPicPr>
          <p:cNvPr id="51"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2" name="Text 48"/>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3" name="Text 49"/>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4" name="Shape 50"/>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55" name="Shape 51"/>
          <p:cNvSpPr/>
          <p:nvPr/>
        </p:nvSpPr>
        <p:spPr>
          <a:xfrm>
            <a:off x="2734056" y="3822192"/>
            <a:ext cx="310896" cy="310896"/>
          </a:xfrm>
          <a:prstGeom prst="ellipse">
            <a:avLst/>
          </a:prstGeom>
          <a:solidFill>
            <a:srgbClr val="4F46E5"/>
          </a:solidFill>
          <a:ln/>
        </p:spPr>
      </p:sp>
      <p:pic>
        <p:nvPicPr>
          <p:cNvPr id="56"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57" name="Text 52"/>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engine</a:t>
            </a:r>
            <a:endParaRPr lang="en-US" sz="1000" dirty="0"/>
          </a:p>
        </p:txBody>
      </p:sp>
      <p:sp>
        <p:nvSpPr>
          <p:cNvPr id="58" name="Text 53"/>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12 commodities. Derives every cost input from the measurement — cycle, tooling, press, yield.</a:t>
            </a:r>
            <a:endParaRPr lang="en-US" sz="820" dirty="0"/>
          </a:p>
        </p:txBody>
      </p:sp>
      <p:sp>
        <p:nvSpPr>
          <p:cNvPr id="59" name="Shape 54"/>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0" name="Shape 55"/>
          <p:cNvSpPr/>
          <p:nvPr/>
        </p:nvSpPr>
        <p:spPr>
          <a:xfrm>
            <a:off x="2734056" y="5084064"/>
            <a:ext cx="310896" cy="310896"/>
          </a:xfrm>
          <a:prstGeom prst="ellipse">
            <a:avLst/>
          </a:prstGeom>
          <a:solidFill>
            <a:srgbClr val="2E8B57"/>
          </a:solidFill>
          <a:ln/>
        </p:spPr>
      </p:sp>
      <p:pic>
        <p:nvPicPr>
          <p:cNvPr id="61"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2" name="Text 56"/>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3" name="Text 57"/>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4" name="Shape 58"/>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65" name="Shape 59"/>
          <p:cNvSpPr/>
          <p:nvPr/>
        </p:nvSpPr>
        <p:spPr>
          <a:xfrm>
            <a:off x="5020056" y="2560320"/>
            <a:ext cx="310896" cy="310896"/>
          </a:xfrm>
          <a:prstGeom prst="ellipse">
            <a:avLst/>
          </a:prstGeom>
          <a:solidFill>
            <a:srgbClr val="B7791F"/>
          </a:solidFill>
          <a:ln/>
        </p:spPr>
      </p:sp>
      <p:pic>
        <p:nvPicPr>
          <p:cNvPr id="66"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67" name="Text 60"/>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68" name="Text 61"/>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9 sanity checks + physics caps. Measurements beat the AI; AI cycle claims are capped.</a:t>
            </a:r>
            <a:endParaRPr lang="en-US" sz="820" dirty="0"/>
          </a:p>
        </p:txBody>
      </p:sp>
      <p:sp>
        <p:nvSpPr>
          <p:cNvPr id="69" name="Shape 62"/>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0" name="Shape 63"/>
          <p:cNvSpPr/>
          <p:nvPr/>
        </p:nvSpPr>
        <p:spPr>
          <a:xfrm>
            <a:off x="7900416" y="2560320"/>
            <a:ext cx="310896" cy="310896"/>
          </a:xfrm>
          <a:prstGeom prst="ellipse">
            <a:avLst/>
          </a:prstGeom>
          <a:solidFill>
            <a:srgbClr val="0E8074"/>
          </a:solidFill>
          <a:ln/>
        </p:spPr>
      </p:sp>
      <p:pic>
        <p:nvPicPr>
          <p:cNvPr id="71"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2" name="Text 64"/>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3" name="Text 65"/>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4" name="Shape 66"/>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75" name="Shape 67"/>
          <p:cNvSpPr/>
          <p:nvPr/>
        </p:nvSpPr>
        <p:spPr>
          <a:xfrm>
            <a:off x="7900416" y="3822192"/>
            <a:ext cx="310896" cy="310896"/>
          </a:xfrm>
          <a:prstGeom prst="ellipse">
            <a:avLst/>
          </a:prstGeom>
          <a:solidFill>
            <a:srgbClr val="0E8074"/>
          </a:solidFill>
          <a:ln/>
        </p:spPr>
      </p:sp>
      <p:pic>
        <p:nvPicPr>
          <p:cNvPr id="76"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77" name="Text 68"/>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78" name="Text 69"/>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79" name="Shape 70"/>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0" name="Text 71"/>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1" name="Text 72"/>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2" name="Shape 73"/>
          <p:cNvSpPr/>
          <p:nvPr/>
        </p:nvSpPr>
        <p:spPr>
          <a:xfrm>
            <a:off x="4892040" y="3712464"/>
            <a:ext cx="1965960" cy="1444752"/>
          </a:xfrm>
          <a:prstGeom prst="roundRect">
            <a:avLst>
              <a:gd name="adj" fmla="val 6329"/>
            </a:avLst>
          </a:prstGeom>
          <a:solidFill>
            <a:srgbClr val="0E5A5A"/>
          </a:solidFill>
          <a:ln/>
        </p:spPr>
      </p:sp>
      <p:sp>
        <p:nvSpPr>
          <p:cNvPr id="83" name="Shape 74"/>
          <p:cNvSpPr/>
          <p:nvPr/>
        </p:nvSpPr>
        <p:spPr>
          <a:xfrm>
            <a:off x="5632704" y="3840480"/>
            <a:ext cx="457200" cy="457200"/>
          </a:xfrm>
          <a:prstGeom prst="ellipse">
            <a:avLst/>
          </a:prstGeom>
          <a:solidFill>
            <a:srgbClr val="17A398"/>
          </a:solidFill>
          <a:ln/>
        </p:spPr>
      </p:sp>
      <p:pic>
        <p:nvPicPr>
          <p:cNvPr id="84"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85" name="Text 75"/>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86" name="Text 76"/>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87" name="Shape 77"/>
          <p:cNvSpPr/>
          <p:nvPr/>
        </p:nvSpPr>
        <p:spPr>
          <a:xfrm>
            <a:off x="2423160" y="3008376"/>
            <a:ext cx="182880" cy="0"/>
          </a:xfrm>
          <a:prstGeom prst="line">
            <a:avLst/>
          </a:prstGeom>
          <a:noFill/>
          <a:ln w="22225">
            <a:solidFill>
              <a:srgbClr val="1D6FB8"/>
            </a:solidFill>
            <a:prstDash val="solid"/>
            <a:tailEnd type="triangle"/>
          </a:ln>
        </p:spPr>
      </p:sp>
      <p:sp>
        <p:nvSpPr>
          <p:cNvPr id="88" name="Shape 78"/>
          <p:cNvSpPr/>
          <p:nvPr/>
        </p:nvSpPr>
        <p:spPr>
          <a:xfrm>
            <a:off x="2423160" y="5385816"/>
            <a:ext cx="182880" cy="0"/>
          </a:xfrm>
          <a:prstGeom prst="line">
            <a:avLst/>
          </a:prstGeom>
          <a:noFill/>
          <a:ln w="22225">
            <a:solidFill>
              <a:srgbClr val="1D6FB8"/>
            </a:solidFill>
            <a:prstDash val="solid"/>
            <a:tailEnd type="triangle"/>
          </a:ln>
        </p:spPr>
      </p:sp>
      <p:sp>
        <p:nvSpPr>
          <p:cNvPr id="89" name="Shape 79"/>
          <p:cNvSpPr/>
          <p:nvPr/>
        </p:nvSpPr>
        <p:spPr>
          <a:xfrm>
            <a:off x="3566160" y="3566160"/>
            <a:ext cx="0" cy="146304"/>
          </a:xfrm>
          <a:prstGeom prst="line">
            <a:avLst/>
          </a:prstGeom>
          <a:noFill/>
          <a:ln w="22225">
            <a:solidFill>
              <a:srgbClr val="1D6FB8"/>
            </a:solidFill>
            <a:prstDash val="solid"/>
            <a:tailEnd type="triangle"/>
          </a:ln>
        </p:spPr>
      </p:sp>
      <p:sp>
        <p:nvSpPr>
          <p:cNvPr id="90" name="Shape 80"/>
          <p:cNvSpPr/>
          <p:nvPr/>
        </p:nvSpPr>
        <p:spPr>
          <a:xfrm flipV="1">
            <a:off x="3566160" y="4828032"/>
            <a:ext cx="0" cy="146304"/>
          </a:xfrm>
          <a:prstGeom prst="line">
            <a:avLst/>
          </a:prstGeom>
          <a:noFill/>
          <a:ln w="22225">
            <a:solidFill>
              <a:srgbClr val="2E8B57"/>
            </a:solidFill>
            <a:prstDash val="solid"/>
            <a:tailEnd type="triangle"/>
          </a:ln>
        </p:spPr>
      </p:sp>
      <p:sp>
        <p:nvSpPr>
          <p:cNvPr id="91" name="Shape 81"/>
          <p:cNvSpPr/>
          <p:nvPr/>
        </p:nvSpPr>
        <p:spPr>
          <a:xfrm flipH="1">
            <a:off x="4526280" y="3008376"/>
            <a:ext cx="365760" cy="283464"/>
          </a:xfrm>
          <a:prstGeom prst="line">
            <a:avLst/>
          </a:prstGeom>
          <a:noFill/>
          <a:ln w="17780">
            <a:solidFill>
              <a:srgbClr val="B7791F"/>
            </a:solidFill>
            <a:prstDash val="solid"/>
            <a:tailEnd type="triangle"/>
          </a:ln>
        </p:spPr>
      </p:sp>
      <p:sp>
        <p:nvSpPr>
          <p:cNvPr id="92" name="Shape 82"/>
          <p:cNvSpPr/>
          <p:nvPr/>
        </p:nvSpPr>
        <p:spPr>
          <a:xfrm>
            <a:off x="4526280" y="4270248"/>
            <a:ext cx="365760" cy="0"/>
          </a:xfrm>
          <a:prstGeom prst="line">
            <a:avLst/>
          </a:prstGeom>
          <a:noFill/>
          <a:ln w="22225">
            <a:solidFill>
              <a:srgbClr val="4F46E5"/>
            </a:solidFill>
            <a:prstDash val="solid"/>
            <a:tailEnd type="triangle"/>
          </a:ln>
        </p:spPr>
      </p:sp>
      <p:sp>
        <p:nvSpPr>
          <p:cNvPr id="93" name="Shape 83"/>
          <p:cNvSpPr/>
          <p:nvPr/>
        </p:nvSpPr>
        <p:spPr>
          <a:xfrm flipH="1">
            <a:off x="7223760" y="3008376"/>
            <a:ext cx="548640" cy="0"/>
          </a:xfrm>
          <a:prstGeom prst="line">
            <a:avLst/>
          </a:prstGeom>
          <a:noFill/>
          <a:ln w="22225">
            <a:solidFill>
              <a:srgbClr val="0E8074"/>
            </a:solidFill>
            <a:prstDash val="solid"/>
            <a:tailEnd type="triangle"/>
          </a:ln>
        </p:spPr>
      </p:sp>
      <p:sp>
        <p:nvSpPr>
          <p:cNvPr id="94" name="Shape 84"/>
          <p:cNvSpPr/>
          <p:nvPr/>
        </p:nvSpPr>
        <p:spPr>
          <a:xfrm flipH="1">
            <a:off x="6858000" y="3008376"/>
            <a:ext cx="365760" cy="923544"/>
          </a:xfrm>
          <a:prstGeom prst="line">
            <a:avLst/>
          </a:prstGeom>
          <a:noFill/>
          <a:ln w="22225">
            <a:solidFill>
              <a:srgbClr val="0E8074"/>
            </a:solidFill>
            <a:prstDash val="solid"/>
            <a:tailEnd type="triangle"/>
          </a:ln>
        </p:spPr>
      </p:sp>
      <p:sp>
        <p:nvSpPr>
          <p:cNvPr id="95" name="Shape 85"/>
          <p:cNvSpPr/>
          <p:nvPr/>
        </p:nvSpPr>
        <p:spPr>
          <a:xfrm flipH="1">
            <a:off x="6858000" y="4270248"/>
            <a:ext cx="914400" cy="0"/>
          </a:xfrm>
          <a:prstGeom prst="line">
            <a:avLst/>
          </a:prstGeom>
          <a:noFill/>
          <a:ln w="22225">
            <a:solidFill>
              <a:srgbClr val="0E8074"/>
            </a:solidFill>
            <a:prstDash val="solid"/>
            <a:tailEnd type="triangle"/>
          </a:ln>
        </p:spPr>
      </p:sp>
      <p:sp>
        <p:nvSpPr>
          <p:cNvPr id="96" name="Shape 86"/>
          <p:cNvSpPr/>
          <p:nvPr/>
        </p:nvSpPr>
        <p:spPr>
          <a:xfrm>
            <a:off x="6858000" y="4846320"/>
            <a:ext cx="914400" cy="502920"/>
          </a:xfrm>
          <a:prstGeom prst="line">
            <a:avLst/>
          </a:prstGeom>
          <a:noFill/>
          <a:ln w="22225">
            <a:solidFill>
              <a:srgbClr val="2E8B57"/>
            </a:solidFill>
            <a:prstDash val="solid"/>
            <a:tailEnd type="triangle"/>
          </a:ln>
        </p:spPr>
      </p:sp>
      <p:sp>
        <p:nvSpPr>
          <p:cNvPr id="97" name="Shape 87"/>
          <p:cNvSpPr/>
          <p:nvPr/>
        </p:nvSpPr>
        <p:spPr>
          <a:xfrm>
            <a:off x="9692640" y="5440680"/>
            <a:ext cx="411480" cy="0"/>
          </a:xfrm>
          <a:prstGeom prst="line">
            <a:avLst/>
          </a:prstGeom>
          <a:noFill/>
          <a:ln w="22225">
            <a:solidFill>
              <a:srgbClr val="2E8B57"/>
            </a:solidFill>
            <a:prstDash val="solid"/>
            <a:tailEnd type="triangle"/>
          </a:ln>
        </p:spPr>
      </p:sp>
      <p:sp>
        <p:nvSpPr>
          <p:cNvPr id="98" name="Shape 88"/>
          <p:cNvSpPr/>
          <p:nvPr/>
        </p:nvSpPr>
        <p:spPr>
          <a:xfrm>
            <a:off x="9692640" y="3008376"/>
            <a:ext cx="411480" cy="0"/>
          </a:xfrm>
          <a:prstGeom prst="line">
            <a:avLst/>
          </a:prstGeom>
          <a:noFill/>
          <a:ln w="22225">
            <a:solidFill>
              <a:srgbClr val="2E8B57"/>
            </a:solidFill>
            <a:prstDash val="solid"/>
            <a:tailEnd type="triangle"/>
          </a:ln>
        </p:spPr>
      </p:sp>
      <p:sp>
        <p:nvSpPr>
          <p:cNvPr id="99" name="Shape 89"/>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00" name="Text 90"/>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the kernel measures, the rules derive, the engineer answers, the guardrails check, the engine calculates — and the AI is an optional second opinion that can reach none of the money.</a:t>
            </a:r>
            <a:endParaRPr lang="en-US" sz="1050" dirty="0"/>
          </a:p>
        </p:txBody>
      </p:sp>
      <p:sp>
        <p:nvSpPr>
          <p:cNvPr id="101" name="Text 9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02" name="Text 9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87168"/>
            <a:ext cx="5394960" cy="457200"/>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endParaRPr lang="en-US" sz="1200" dirty="0"/>
          </a:p>
        </p:txBody>
      </p:sp>
      <p:sp>
        <p:nvSpPr>
          <p:cNvPr id="30" name="Text 21"/>
          <p:cNvSpPr/>
          <p:nvPr/>
        </p:nvSpPr>
        <p:spPr>
          <a:xfrm>
            <a:off x="457200" y="2798064"/>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806440"/>
            <a:ext cx="5394960" cy="566928"/>
          </a:xfrm>
          <a:prstGeom prst="roundRect">
            <a:avLst>
              <a:gd name="adj" fmla="val 12903"/>
            </a:avLst>
          </a:prstGeom>
          <a:solidFill>
            <a:srgbClr val="EAF6EF"/>
          </a:solidFill>
          <a:ln w="12700">
            <a:solidFill>
              <a:srgbClr val="2E8B57"/>
            </a:solidFill>
            <a:prstDash val="solid"/>
          </a:ln>
        </p:spPr>
      </p:sp>
      <p:sp>
        <p:nvSpPr>
          <p:cNvPr id="71" name="Text 61"/>
          <p:cNvSpPr/>
          <p:nvPr/>
        </p:nvSpPr>
        <p:spPr>
          <a:xfrm>
            <a:off x="621792" y="5806440"/>
            <a:ext cx="5120640" cy="566928"/>
          </a:xfrm>
          <a:prstGeom prst="rect">
            <a:avLst/>
          </a:prstGeom>
          <a:noFill/>
          <a:ln/>
        </p:spPr>
        <p:txBody>
          <a:bodyPr wrap="square" lIns="0" tIns="0" rIns="0" bIns="0" rtlCol="0" anchor="ctr"/>
          <a:lstStyle/>
          <a:p>
            <a:pPr indent="0" marL="0">
              <a:buNone/>
            </a:pPr>
            <a:r>
              <a:rPr lang="en-US" sz="930" b="1" dirty="0">
                <a:solidFill>
                  <a:srgbClr val="2E8B57"/>
                </a:solidFill>
                <a:latin typeface="Calibri" pitchFamily="34" charset="0"/>
                <a:ea typeface="Calibri" pitchFamily="34" charset="-122"/>
                <a:cs typeface="Calibri" pitchFamily="34" charset="-120"/>
              </a:rPr>
              <a:t>Capacity, not headcount:  </a:t>
            </a:r>
            <a:pPr indent="0" marL="0">
              <a:buNone/>
            </a:pPr>
            <a:r>
              <a:rPr lang="en-US" sz="930" dirty="0">
                <a:solidFill>
                  <a:srgbClr val="3A4356"/>
                </a:solidFill>
                <a:latin typeface="Calibri" pitchFamily="34" charset="0"/>
                <a:ea typeface="Calibri" pitchFamily="34" charset="-122"/>
                <a:cs typeface="Calibri" pitchFamily="34" charset="-120"/>
              </a:rPr>
              <a:t>at these times one engineer reviews 15–25 should-costs a day instead of preparing 1–2 — the saved hours go into negotiation, not data entry.</a:t>
            </a:r>
            <a:endParaRPr lang="en-US" sz="93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£25.82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£14.05</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£2.91</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+32%</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15%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Recognise the recipe</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with a confidence score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one stage the AI owns — and the hard limits on it</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AI</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the measurements from the previous slide — plus the part name and the shape signature. It never sees a price list, and it never sees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514600"/>
          </a:xfrm>
          <a:prstGeom prst="roundRect">
            <a:avLst>
              <a:gd name="adj" fmla="val 3636"/>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sp>
        <p:nvSpPr>
          <p:cNvPr id="31" name="Shape 24"/>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2" name="Text 25"/>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3" name="Text 26"/>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4" name="Shape 27"/>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5" name="Text 28"/>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and it cannot.</a:t>
            </a:r>
            <a:endParaRPr lang="en-US" sz="1200" dirty="0"/>
          </a:p>
        </p:txBody>
      </p:sp>
      <p:sp>
        <p:nvSpPr>
          <p:cNvPr id="36"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and why a 1,600-tonne press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and it flags the choice for the engineer to confirm.</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Who decided all this?  </a:t>
            </a:r>
            <a:pPr indent="0" marL="0">
              <a:buNone/>
            </a:pPr>
            <a:r>
              <a:rPr lang="en-US" sz="1150" b="1" dirty="0">
                <a:solidFill>
                  <a:srgbClr val="6B3FA0"/>
                </a:solidFill>
                <a:latin typeface="Calibri" pitchFamily="34" charset="0"/>
                <a:ea typeface="Calibri" pitchFamily="34" charset="-122"/>
                <a:cs typeface="Calibri" pitchFamily="34" charset="-120"/>
              </a:rPr>
              <a:t>The AI </a:t>
            </a:r>
            <a:pPr indent="0" marL="0">
              <a:buNone/>
            </a:pPr>
            <a:r>
              <a:rPr lang="en-US" sz="1150" dirty="0">
                <a:solidFill>
                  <a:srgbClr val="3A4356"/>
                </a:solidFill>
                <a:latin typeface="Calibri" pitchFamily="34" charset="0"/>
                <a:ea typeface="Calibri" pitchFamily="34" charset="-122"/>
                <a:cs typeface="Calibri" pitchFamily="34" charset="-120"/>
              </a:rPr>
              <a:t>suggested "die casting". </a:t>
            </a:r>
            <a:pPr indent="0" marL="0">
              <a:buNone/>
            </a:pPr>
            <a:r>
              <a:rPr lang="en-US" sz="1150" b="1" dirty="0">
                <a:solidFill>
                  <a:srgbClr val="0E8074"/>
                </a:solidFill>
                <a:latin typeface="Calibri" pitchFamily="34" charset="0"/>
                <a:ea typeface="Calibri" pitchFamily="34" charset="-122"/>
                <a:cs typeface="Calibri" pitchFamily="34" charset="-120"/>
              </a:rPr>
              <a:t>The engine </a:t>
            </a:r>
            <a:pPr indent="0" marL="0">
              <a:buNone/>
            </a:pPr>
            <a:r>
              <a:rPr lang="en-US" sz="1150" dirty="0">
                <a:solidFill>
                  <a:srgbClr val="3A4356"/>
                </a:solidFill>
                <a:latin typeface="Calibri" pitchFamily="34" charset="0"/>
                <a:ea typeface="Calibri" pitchFamily="34" charset="-122"/>
                <a:cs typeface="Calibri" pitchFamily="34" charset="-120"/>
              </a:rPr>
              <a:t>then tested that suggestion against the measured geometry, rejected the alternatives on physical grounds, and sized the press by calculation. </a:t>
            </a:r>
            <a:pPr indent="0" marL="0">
              <a:buNone/>
            </a:pPr>
            <a:r>
              <a:rPr lang="en-US" sz="1150" b="1" dirty="0">
                <a:solidFill>
                  <a:srgbClr val="16325C"/>
                </a:solidFill>
                <a:latin typeface="Calibri" pitchFamily="34" charset="0"/>
                <a:ea typeface="Calibri" pitchFamily="34" charset="-122"/>
                <a:cs typeface="Calibri" pitchFamily="34" charset="-120"/>
              </a:rPr>
              <a:t>The AI proposed; the engine disposed. </a:t>
            </a:r>
            <a:pPr indent="0" marL="0">
              <a:buNone/>
            </a:pPr>
            <a:r>
              <a:rPr lang="en-US" sz="1150" dirty="0">
                <a:solidFill>
                  <a:srgbClr val="3A4356"/>
                </a:solidFill>
                <a:latin typeface="Calibri" pitchFamily="34" charset="0"/>
                <a:ea typeface="Calibri" pitchFamily="34" charset="-122"/>
                <a:cs typeface="Calibri" pitchFamily="34" charset="-120"/>
              </a:rPr>
              <a:t>If the AI had said "sand casting", the 3 mm walls would have overruled it.</a:t>
            </a:r>
            <a:endParaRPr lang="en-US" sz="115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Reads and names it</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Reviews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Confirms every AI call</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AI reads the part.   The engine does every calculation.   A person approves the answer.</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Recognise the recipe</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with a confidence score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274320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the AI is involved, the AI hands back four words and a confidence score, and it still has no access to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 3.16 × wall² . At 3.0 mm that is 28.4 seconds — over half the whole cycle. Wall thickness enters SQUARED, so it is the most powerful lever in moulding.</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2026-08-04T13:41:24Z</dcterms:created>
  <dcterms:modified xsi:type="dcterms:W3CDTF">2026-08-04T13:41:24Z</dcterms:modified>
</cp:coreProperties>
</file>