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thirty-six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thirty-six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six cost-reduction ideas — where do those actually come from? The answer is a written rule book, and it is small enough to show you in full. Thirty-six threshold rules reading ten parameters, ten geometry advisors reading the measured solid, and ten idea levers. That is the entire analysis — there is no hidden model behind it. The flow is five steps and all of them are arithmetic. The finished costing is reduced to ten numbers. Thirty-six written checks run against those ten numbers, and each one either fires or passes — "is tooling more than twenty percent of the part cost, yes or no" — while the geometry advisors do the same job on the measured shape. Findings knock points off two scores that both start at ten. The three biggest savings are combined root-sum-square so we never double-count overlapping fixes. And the idea levers turn what fired into five to eight concrete actions, each tagged with risk and timeframe. One thing I want to be precise about, because it is the theme of this whole pack: the AI is nowhere in this. Every rule you are about to see is deterministic engine code — same part in, same findings out, every single time, with the network cable unplugged. There is an optional button that asks the AI to write commentary around the findings, but it cannot add a finding, remove one, or change a score. The next five slides are the complete rule book, transcribed from the source code. Nothing summarised, nothing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ten numbers are the complete diet of the threshold rules — a rule is not allowed to read anything else. Seven of them, in teal, come straight off the costing you watched being built: the total, and the share of that total sitting in each of six buckets — material, process, labour, tooling, overhead and margin. Three of them, in blue, arrive with the part: how many process steps it goes through, the OEE of the machines making it, and how much of the bought material ends up in the finished part. If nobody enters the last two, the tool uses a stated assumption — eighty-five percent OEE, seventy-two percent utilisation — and it says so rather than hiding it. Each parameter carries a benchmark, and the benchmarks are where the rules get their teeth: tooling wants to be near twelve percent of part cost, overhead under eighteen, margin ten to twelve, OEE at eighty-five. And on the right, the whole of the scoring system — small enough to fit on a card. Start at ten. Two points off per critical finding, one per major, half per minor; opportunities are free. Do that once for manufacturability and once for assembly and you have the two scores. The headline saving takes the three biggest findings and combines them root-sum-square, capped at forty percent — deliberately not a straight sum, because two fixes that overlap do not save you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first half of the threshold rule book — the fourteen checks that run on every single part, whatever it is made of. The top eight are manufacturability. Read them as a story about waste: are you throwing away too much material — critical below sixty percent utilisation, major below the seventy-two percent benchmark. Are the machines earning their keep — critical below seventy percent OEE, major below eighty. Is the tooling bill carried by too few parts — major above twenty percent of part cost, minor above twelve. And the two commercial ones: overhead above eighteen percent, margin above eighteen percent. Those last two are pure negotiation levers. The bottom six are assembly. More than five operations means setups and transfers. High labour with several operations triggers an automation feasibility question. Low OEE in an assembly context usually means hand-paced work. A harness or a circuit board with labour above forty-five percent is the one critical in this group — fixture it or automate it before anything else. And the two small ones: re-fixturing on machined parts, and fastener variety. Two things to notice. Every threshold is a number, printed on the slide — there is no judgement call hiding anywhere. And the save column is the rule’s own estimate of what fixing it is worth; the headline saving never just adds them up, it takes the biggest three root-sum-square, as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second half — the twenty-two checks that switch on for the specific process being costed. A casting is never judged by sheet-metal rules; the tool applies the block that matches the commodity it just priced. A few worth picking out rather than reading all twenty-two. On machining: more than four operations, or machining above forty percent of the part cost — both pointing the same way, towards a near-net blank. On casting, the critical one is the die above eighteen percent of part cost — volume too low to carry the tool, which is exactly the bumper conversation from the earlier section. Sheet metal gets four rules, including one that reads the operation list itself: continuous MIG or TIG welding on thin sheet fires a distortion warning. The moulding family — injection, blow and thermoforming — shares two rules: mould above thirty percent of cost, and runner waste a hot-runner would remove. And notice the two biggest numbers on the slide sit with wiring harness and composites — labour past half the cost on a harness, hand layup past forty percent on a composite. Those are the two commodities where the money is overwhelmingly people’s time, and the rules say so bluntly. One honest footnote: the casting material-content rule carries no saving at all. It is a data-quality check — material under thirty-five percent of a casting’s cost usually means somebody entered the wrong alloy or weight, and the tool would rather query the input than congratulate you on cheap metal. Add the fourteen from the previous slide and that is the whole threshold rule book: thirty-six rules, thirty DFM and six DFA.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thirty-six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thirty-six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piece: how findings turn into an action list — what the tool calls cost-optimisation levers, and what I have been calling idea generation. Ten levers, and by now the triggers will look familiar because they read the same ten parameters as everything else. Labour above thirty percent suggests automation. Utilisation under seventy-five suggests near-net-shape or better nesting. OEE under eighty-two suggests a TPM programme. Tooling above twelve percent — raise the volume, which was exactly the bumper amortisation story. Overhead above fifteen and margin above twelve are the two commercial quick wins. More than four operations points at multi-axis consolidation — and remember from the routing slide, the optimiser now checks whether consolidation actually wins on the part before recommending it. Heavy conversion cost points at a regional sourcing study — the one lever the tool grades high-risk, because moving a part is never free. Each idea comes out with three tags: a saving, computed from the part’s own numbers and capped at the figure on the slide; a risk grade; and a timeframe — quick win, medium term or long term. The quick wins are the ones a buyer can raise in the next supplier meeting without any engineering change at all. And the honest footnote, because someone will ask: levers nine and ten are backstops. If fewer than five ideas have fired naturally, the tool adds a formal DFM review and a volume re-commitment conversation, so no part ever leaves with an empty list. They are labelled as what they are — sensible defaults, not discoveries. That is the whole appendix: ten parameters, thirty-six rules, ten geometry advisors, ten levers. Every threshold you have seen is a line of plain arithmetic in the tool’s source code, and it produces the same answer every time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slideLayout" Target="../slideLayouts/slideLayout1.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3–7</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8–26</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27–37</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38</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5–7 (the business case) · slide 26 (the housing on one page) · slide 36 (the two findings) · slide 38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36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36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36</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30 manufacturability (DFM) checks — 8 on every part, 22 per commodity — plus 6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10</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Every threshold rule reads only these ten numbers, all from the costing you just watched being built. Nothing else goes in.</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10</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Cost-reduction ideas, each with a trigger, an expected saving, a risk grade and a timeframe. Every part leaves with 5–6 or more.</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the ten parameters — six bucket shares, operation count, OEE, material utilisation, total.</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36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Score</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Start at 10. Minus 2 per critical, 1 per major, ½ per minor finding. Two scores: manufacturability and assembly, each 1–10.</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ten idea levers produce 5–8 concrete actions, each tagged quick win, medium or long term, with a risk grade.</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five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five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10 parameters, all 36 rules with exact thresholds, the 10 geometry advisors, and all 10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Parameters the Rules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complete list — everything the threshold rules are allowed to look at; the last three are typed in with the part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52144"/>
            <a:ext cx="22860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PARAMETER</a:t>
            </a:r>
            <a:endParaRPr lang="en-US" sz="850" dirty="0"/>
          </a:p>
        </p:txBody>
      </p:sp>
      <p:sp>
        <p:nvSpPr>
          <p:cNvPr id="8" name="Text 6"/>
          <p:cNvSpPr/>
          <p:nvPr/>
        </p:nvSpPr>
        <p:spPr>
          <a:xfrm>
            <a:off x="3566160" y="1152144"/>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52144"/>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89888"/>
            <a:ext cx="8915400" cy="420624"/>
          </a:xfrm>
          <a:prstGeom prst="roundRect">
            <a:avLst>
              <a:gd name="adj" fmla="val 15217"/>
            </a:avLst>
          </a:prstGeom>
          <a:solidFill>
            <a:srgbClr val="FFFFFF"/>
          </a:solidFill>
          <a:ln w="12700">
            <a:solidFill>
              <a:srgbClr val="DCE3EE"/>
            </a:solidFill>
            <a:prstDash val="solid"/>
          </a:ln>
        </p:spPr>
      </p:sp>
      <p:sp>
        <p:nvSpPr>
          <p:cNvPr id="11" name="Shape 9"/>
          <p:cNvSpPr/>
          <p:nvPr/>
        </p:nvSpPr>
        <p:spPr>
          <a:xfrm>
            <a:off x="658368" y="1472184"/>
            <a:ext cx="256032" cy="256032"/>
          </a:xfrm>
          <a:prstGeom prst="ellipse">
            <a:avLst/>
          </a:prstGeom>
          <a:solidFill>
            <a:srgbClr val="0E8074"/>
          </a:solidFill>
          <a:ln/>
        </p:spPr>
      </p:sp>
      <p:sp>
        <p:nvSpPr>
          <p:cNvPr id="12" name="Text 10"/>
          <p:cNvSpPr/>
          <p:nvPr/>
        </p:nvSpPr>
        <p:spPr>
          <a:xfrm>
            <a:off x="658368" y="147218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13" name="Text 11"/>
          <p:cNvSpPr/>
          <p:nvPr/>
        </p:nvSpPr>
        <p:spPr>
          <a:xfrm>
            <a:off x="1188720" y="1389888"/>
            <a:ext cx="2286000" cy="42062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Total part cost</a:t>
            </a:r>
            <a:endParaRPr lang="en-US" sz="1050" dirty="0"/>
          </a:p>
        </p:txBody>
      </p:sp>
      <p:sp>
        <p:nvSpPr>
          <p:cNvPr id="14" name="Text 12"/>
          <p:cNvSpPr/>
          <p:nvPr/>
        </p:nvSpPr>
        <p:spPr>
          <a:xfrm>
            <a:off x="3566160" y="1389888"/>
            <a:ext cx="3703320" cy="420624"/>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The engine’s finished ex-works cost — the reference every percentage below is measured against.</a:t>
            </a:r>
            <a:endParaRPr lang="en-US" sz="920" dirty="0"/>
          </a:p>
        </p:txBody>
      </p:sp>
      <p:sp>
        <p:nvSpPr>
          <p:cNvPr id="15" name="Text 13"/>
          <p:cNvSpPr/>
          <p:nvPr/>
        </p:nvSpPr>
        <p:spPr>
          <a:xfrm>
            <a:off x="7360920" y="1389888"/>
            <a:ext cx="1920240" cy="420624"/>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a:t>
            </a:r>
            <a:endParaRPr lang="en-US" sz="880" dirty="0"/>
          </a:p>
        </p:txBody>
      </p:sp>
      <p:sp>
        <p:nvSpPr>
          <p:cNvPr id="16" name="Shape 14"/>
          <p:cNvSpPr/>
          <p:nvPr/>
        </p:nvSpPr>
        <p:spPr>
          <a:xfrm>
            <a:off x="457200" y="1856232"/>
            <a:ext cx="8915400" cy="420624"/>
          </a:xfrm>
          <a:prstGeom prst="roundRect">
            <a:avLst>
              <a:gd name="adj" fmla="val 15217"/>
            </a:avLst>
          </a:prstGeom>
          <a:solidFill>
            <a:srgbClr val="FFFFFF"/>
          </a:solidFill>
          <a:ln w="12700">
            <a:solidFill>
              <a:srgbClr val="DCE3EE"/>
            </a:solidFill>
            <a:prstDash val="solid"/>
          </a:ln>
        </p:spPr>
      </p:sp>
      <p:sp>
        <p:nvSpPr>
          <p:cNvPr id="17" name="Shape 15"/>
          <p:cNvSpPr/>
          <p:nvPr/>
        </p:nvSpPr>
        <p:spPr>
          <a:xfrm>
            <a:off x="658368" y="1938528"/>
            <a:ext cx="256032" cy="256032"/>
          </a:xfrm>
          <a:prstGeom prst="ellipse">
            <a:avLst/>
          </a:prstGeom>
          <a:solidFill>
            <a:srgbClr val="0E8074"/>
          </a:solidFill>
          <a:ln/>
        </p:spPr>
      </p:sp>
      <p:sp>
        <p:nvSpPr>
          <p:cNvPr id="18" name="Text 16"/>
          <p:cNvSpPr/>
          <p:nvPr/>
        </p:nvSpPr>
        <p:spPr>
          <a:xfrm>
            <a:off x="658368" y="1938528"/>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19" name="Text 17"/>
          <p:cNvSpPr/>
          <p:nvPr/>
        </p:nvSpPr>
        <p:spPr>
          <a:xfrm>
            <a:off x="1188720" y="1856232"/>
            <a:ext cx="2286000" cy="42062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Material share of cost</a:t>
            </a:r>
            <a:endParaRPr lang="en-US" sz="1050" dirty="0"/>
          </a:p>
        </p:txBody>
      </p:sp>
      <p:sp>
        <p:nvSpPr>
          <p:cNvPr id="20" name="Text 18"/>
          <p:cNvSpPr/>
          <p:nvPr/>
        </p:nvSpPr>
        <p:spPr>
          <a:xfrm>
            <a:off x="3566160" y="1856232"/>
            <a:ext cx="3703320" cy="420624"/>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920" dirty="0"/>
          </a:p>
        </p:txBody>
      </p:sp>
      <p:sp>
        <p:nvSpPr>
          <p:cNvPr id="21" name="Text 19"/>
          <p:cNvSpPr/>
          <p:nvPr/>
        </p:nvSpPr>
        <p:spPr>
          <a:xfrm>
            <a:off x="7360920" y="1856232"/>
            <a:ext cx="1920240" cy="420624"/>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floor 35% (castings)</a:t>
            </a:r>
            <a:endParaRPr lang="en-US" sz="880" dirty="0"/>
          </a:p>
        </p:txBody>
      </p:sp>
      <p:sp>
        <p:nvSpPr>
          <p:cNvPr id="22" name="Shape 20"/>
          <p:cNvSpPr/>
          <p:nvPr/>
        </p:nvSpPr>
        <p:spPr>
          <a:xfrm>
            <a:off x="457200" y="2322576"/>
            <a:ext cx="8915400" cy="420624"/>
          </a:xfrm>
          <a:prstGeom prst="roundRect">
            <a:avLst>
              <a:gd name="adj" fmla="val 15217"/>
            </a:avLst>
          </a:prstGeom>
          <a:solidFill>
            <a:srgbClr val="FFFFFF"/>
          </a:solidFill>
          <a:ln w="12700">
            <a:solidFill>
              <a:srgbClr val="DCE3EE"/>
            </a:solidFill>
            <a:prstDash val="solid"/>
          </a:ln>
        </p:spPr>
      </p:sp>
      <p:sp>
        <p:nvSpPr>
          <p:cNvPr id="23" name="Shape 21"/>
          <p:cNvSpPr/>
          <p:nvPr/>
        </p:nvSpPr>
        <p:spPr>
          <a:xfrm>
            <a:off x="658368" y="2404872"/>
            <a:ext cx="256032" cy="256032"/>
          </a:xfrm>
          <a:prstGeom prst="ellipse">
            <a:avLst/>
          </a:prstGeom>
          <a:solidFill>
            <a:srgbClr val="0E8074"/>
          </a:solidFill>
          <a:ln/>
        </p:spPr>
      </p:sp>
      <p:sp>
        <p:nvSpPr>
          <p:cNvPr id="24" name="Text 22"/>
          <p:cNvSpPr/>
          <p:nvPr/>
        </p:nvSpPr>
        <p:spPr>
          <a:xfrm>
            <a:off x="658368" y="2404872"/>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25" name="Text 23"/>
          <p:cNvSpPr/>
          <p:nvPr/>
        </p:nvSpPr>
        <p:spPr>
          <a:xfrm>
            <a:off x="1188720" y="2322576"/>
            <a:ext cx="2286000" cy="42062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Process share of cost</a:t>
            </a:r>
            <a:endParaRPr lang="en-US" sz="1050" dirty="0"/>
          </a:p>
        </p:txBody>
      </p:sp>
      <p:sp>
        <p:nvSpPr>
          <p:cNvPr id="26" name="Text 24"/>
          <p:cNvSpPr/>
          <p:nvPr/>
        </p:nvSpPr>
        <p:spPr>
          <a:xfrm>
            <a:off x="3566160" y="2322576"/>
            <a:ext cx="3703320" cy="420624"/>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920" dirty="0"/>
          </a:p>
        </p:txBody>
      </p:sp>
      <p:sp>
        <p:nvSpPr>
          <p:cNvPr id="27" name="Text 25"/>
          <p:cNvSpPr/>
          <p:nvPr/>
        </p:nvSpPr>
        <p:spPr>
          <a:xfrm>
            <a:off x="7360920" y="2322576"/>
            <a:ext cx="1920240" cy="420624"/>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flag at 35–60% by commodity</a:t>
            </a:r>
            <a:endParaRPr lang="en-US" sz="880" dirty="0"/>
          </a:p>
        </p:txBody>
      </p:sp>
      <p:sp>
        <p:nvSpPr>
          <p:cNvPr id="28" name="Shape 26"/>
          <p:cNvSpPr/>
          <p:nvPr/>
        </p:nvSpPr>
        <p:spPr>
          <a:xfrm>
            <a:off x="457200" y="2788920"/>
            <a:ext cx="8915400" cy="420624"/>
          </a:xfrm>
          <a:prstGeom prst="roundRect">
            <a:avLst>
              <a:gd name="adj" fmla="val 15217"/>
            </a:avLst>
          </a:prstGeom>
          <a:solidFill>
            <a:srgbClr val="FFFFFF"/>
          </a:solidFill>
          <a:ln w="12700">
            <a:solidFill>
              <a:srgbClr val="DCE3EE"/>
            </a:solidFill>
            <a:prstDash val="solid"/>
          </a:ln>
        </p:spPr>
      </p:sp>
      <p:sp>
        <p:nvSpPr>
          <p:cNvPr id="29" name="Shape 27"/>
          <p:cNvSpPr/>
          <p:nvPr/>
        </p:nvSpPr>
        <p:spPr>
          <a:xfrm>
            <a:off x="658368" y="2871216"/>
            <a:ext cx="256032" cy="256032"/>
          </a:xfrm>
          <a:prstGeom prst="ellipse">
            <a:avLst/>
          </a:prstGeom>
          <a:solidFill>
            <a:srgbClr val="0E8074"/>
          </a:solidFill>
          <a:ln/>
        </p:spPr>
      </p:sp>
      <p:sp>
        <p:nvSpPr>
          <p:cNvPr id="30" name="Text 28"/>
          <p:cNvSpPr/>
          <p:nvPr/>
        </p:nvSpPr>
        <p:spPr>
          <a:xfrm>
            <a:off x="658368" y="2871216"/>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31" name="Text 29"/>
          <p:cNvSpPr/>
          <p:nvPr/>
        </p:nvSpPr>
        <p:spPr>
          <a:xfrm>
            <a:off x="1188720" y="2788920"/>
            <a:ext cx="2286000" cy="42062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Labour share of cost</a:t>
            </a:r>
            <a:endParaRPr lang="en-US" sz="1050" dirty="0"/>
          </a:p>
        </p:txBody>
      </p:sp>
      <p:sp>
        <p:nvSpPr>
          <p:cNvPr id="32" name="Text 30"/>
          <p:cNvSpPr/>
          <p:nvPr/>
        </p:nvSpPr>
        <p:spPr>
          <a:xfrm>
            <a:off x="3566160" y="2788920"/>
            <a:ext cx="3703320" cy="420624"/>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The fraction spent on people’s time.</a:t>
            </a:r>
            <a:endParaRPr lang="en-US" sz="920" dirty="0"/>
          </a:p>
        </p:txBody>
      </p:sp>
      <p:sp>
        <p:nvSpPr>
          <p:cNvPr id="33" name="Text 31"/>
          <p:cNvSpPr/>
          <p:nvPr/>
        </p:nvSpPr>
        <p:spPr>
          <a:xfrm>
            <a:off x="7360920" y="2788920"/>
            <a:ext cx="1920240" cy="420624"/>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flag at 30–50% by commodity</a:t>
            </a:r>
            <a:endParaRPr lang="en-US" sz="880" dirty="0"/>
          </a:p>
        </p:txBody>
      </p:sp>
      <p:sp>
        <p:nvSpPr>
          <p:cNvPr id="34" name="Shape 32"/>
          <p:cNvSpPr/>
          <p:nvPr/>
        </p:nvSpPr>
        <p:spPr>
          <a:xfrm>
            <a:off x="457200" y="3255264"/>
            <a:ext cx="8915400" cy="420624"/>
          </a:xfrm>
          <a:prstGeom prst="roundRect">
            <a:avLst>
              <a:gd name="adj" fmla="val 15217"/>
            </a:avLst>
          </a:prstGeom>
          <a:solidFill>
            <a:srgbClr val="FFFFFF"/>
          </a:solidFill>
          <a:ln w="12700">
            <a:solidFill>
              <a:srgbClr val="DCE3EE"/>
            </a:solidFill>
            <a:prstDash val="solid"/>
          </a:ln>
        </p:spPr>
      </p:sp>
      <p:sp>
        <p:nvSpPr>
          <p:cNvPr id="35" name="Shape 33"/>
          <p:cNvSpPr/>
          <p:nvPr/>
        </p:nvSpPr>
        <p:spPr>
          <a:xfrm>
            <a:off x="658368" y="3337560"/>
            <a:ext cx="256032" cy="256032"/>
          </a:xfrm>
          <a:prstGeom prst="ellipse">
            <a:avLst/>
          </a:prstGeom>
          <a:solidFill>
            <a:srgbClr val="0E8074"/>
          </a:solidFill>
          <a:ln/>
        </p:spPr>
      </p:sp>
      <p:sp>
        <p:nvSpPr>
          <p:cNvPr id="36" name="Text 34"/>
          <p:cNvSpPr/>
          <p:nvPr/>
        </p:nvSpPr>
        <p:spPr>
          <a:xfrm>
            <a:off x="658368" y="3337560"/>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7" name="Text 35"/>
          <p:cNvSpPr/>
          <p:nvPr/>
        </p:nvSpPr>
        <p:spPr>
          <a:xfrm>
            <a:off x="1188720" y="3255264"/>
            <a:ext cx="2286000" cy="42062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Tooling share of cost</a:t>
            </a:r>
            <a:endParaRPr lang="en-US" sz="1050" dirty="0"/>
          </a:p>
        </p:txBody>
      </p:sp>
      <p:sp>
        <p:nvSpPr>
          <p:cNvPr id="38" name="Text 36"/>
          <p:cNvSpPr/>
          <p:nvPr/>
        </p:nvSpPr>
        <p:spPr>
          <a:xfrm>
            <a:off x="3566160" y="3255264"/>
            <a:ext cx="3703320" cy="420624"/>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920" dirty="0"/>
          </a:p>
        </p:txBody>
      </p:sp>
      <p:sp>
        <p:nvSpPr>
          <p:cNvPr id="39" name="Text 37"/>
          <p:cNvSpPr/>
          <p:nvPr/>
        </p:nvSpPr>
        <p:spPr>
          <a:xfrm>
            <a:off x="7360920" y="3255264"/>
            <a:ext cx="1920240" cy="420624"/>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benchmark 12%</a:t>
            </a:r>
            <a:endParaRPr lang="en-US" sz="880" dirty="0"/>
          </a:p>
        </p:txBody>
      </p:sp>
      <p:sp>
        <p:nvSpPr>
          <p:cNvPr id="40" name="Shape 38"/>
          <p:cNvSpPr/>
          <p:nvPr/>
        </p:nvSpPr>
        <p:spPr>
          <a:xfrm>
            <a:off x="457200" y="3721608"/>
            <a:ext cx="8915400" cy="420624"/>
          </a:xfrm>
          <a:prstGeom prst="roundRect">
            <a:avLst>
              <a:gd name="adj" fmla="val 15217"/>
            </a:avLst>
          </a:prstGeom>
          <a:solidFill>
            <a:srgbClr val="FFFFFF"/>
          </a:solidFill>
          <a:ln w="12700">
            <a:solidFill>
              <a:srgbClr val="DCE3EE"/>
            </a:solidFill>
            <a:prstDash val="solid"/>
          </a:ln>
        </p:spPr>
      </p:sp>
      <p:sp>
        <p:nvSpPr>
          <p:cNvPr id="41" name="Shape 39"/>
          <p:cNvSpPr/>
          <p:nvPr/>
        </p:nvSpPr>
        <p:spPr>
          <a:xfrm>
            <a:off x="658368" y="3803904"/>
            <a:ext cx="256032" cy="256032"/>
          </a:xfrm>
          <a:prstGeom prst="ellipse">
            <a:avLst/>
          </a:prstGeom>
          <a:solidFill>
            <a:srgbClr val="0E8074"/>
          </a:solidFill>
          <a:ln/>
        </p:spPr>
      </p:sp>
      <p:sp>
        <p:nvSpPr>
          <p:cNvPr id="42" name="Text 40"/>
          <p:cNvSpPr/>
          <p:nvPr/>
        </p:nvSpPr>
        <p:spPr>
          <a:xfrm>
            <a:off x="658368" y="380390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3" name="Text 41"/>
          <p:cNvSpPr/>
          <p:nvPr/>
        </p:nvSpPr>
        <p:spPr>
          <a:xfrm>
            <a:off x="1188720" y="3721608"/>
            <a:ext cx="2286000" cy="42062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Overhead share of cost</a:t>
            </a:r>
            <a:endParaRPr lang="en-US" sz="1050" dirty="0"/>
          </a:p>
        </p:txBody>
      </p:sp>
      <p:sp>
        <p:nvSpPr>
          <p:cNvPr id="44" name="Text 42"/>
          <p:cNvSpPr/>
          <p:nvPr/>
        </p:nvSpPr>
        <p:spPr>
          <a:xfrm>
            <a:off x="3566160" y="3721608"/>
            <a:ext cx="3703320" cy="420624"/>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The supplier’s factory burden — buildings, energy, management.</a:t>
            </a:r>
            <a:endParaRPr lang="en-US" sz="920" dirty="0"/>
          </a:p>
        </p:txBody>
      </p:sp>
      <p:sp>
        <p:nvSpPr>
          <p:cNvPr id="45" name="Text 43"/>
          <p:cNvSpPr/>
          <p:nvPr/>
        </p:nvSpPr>
        <p:spPr>
          <a:xfrm>
            <a:off x="7360920" y="3721608"/>
            <a:ext cx="1920240" cy="420624"/>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benchmark 18%</a:t>
            </a:r>
            <a:endParaRPr lang="en-US" sz="880" dirty="0"/>
          </a:p>
        </p:txBody>
      </p:sp>
      <p:sp>
        <p:nvSpPr>
          <p:cNvPr id="46" name="Shape 44"/>
          <p:cNvSpPr/>
          <p:nvPr/>
        </p:nvSpPr>
        <p:spPr>
          <a:xfrm>
            <a:off x="457200" y="4187952"/>
            <a:ext cx="8915400" cy="420624"/>
          </a:xfrm>
          <a:prstGeom prst="roundRect">
            <a:avLst>
              <a:gd name="adj" fmla="val 15217"/>
            </a:avLst>
          </a:prstGeom>
          <a:solidFill>
            <a:srgbClr val="FFFFFF"/>
          </a:solidFill>
          <a:ln w="12700">
            <a:solidFill>
              <a:srgbClr val="DCE3EE"/>
            </a:solidFill>
            <a:prstDash val="solid"/>
          </a:ln>
        </p:spPr>
      </p:sp>
      <p:sp>
        <p:nvSpPr>
          <p:cNvPr id="47" name="Shape 45"/>
          <p:cNvSpPr/>
          <p:nvPr/>
        </p:nvSpPr>
        <p:spPr>
          <a:xfrm>
            <a:off x="658368" y="4270248"/>
            <a:ext cx="256032" cy="256032"/>
          </a:xfrm>
          <a:prstGeom prst="ellipse">
            <a:avLst/>
          </a:prstGeom>
          <a:solidFill>
            <a:srgbClr val="0E8074"/>
          </a:solidFill>
          <a:ln/>
        </p:spPr>
      </p:sp>
      <p:sp>
        <p:nvSpPr>
          <p:cNvPr id="48" name="Text 46"/>
          <p:cNvSpPr/>
          <p:nvPr/>
        </p:nvSpPr>
        <p:spPr>
          <a:xfrm>
            <a:off x="658368" y="4270248"/>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49" name="Text 47"/>
          <p:cNvSpPr/>
          <p:nvPr/>
        </p:nvSpPr>
        <p:spPr>
          <a:xfrm>
            <a:off x="1188720" y="4187952"/>
            <a:ext cx="2286000" cy="42062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Margin share of cost</a:t>
            </a:r>
            <a:endParaRPr lang="en-US" sz="1050" dirty="0"/>
          </a:p>
        </p:txBody>
      </p:sp>
      <p:sp>
        <p:nvSpPr>
          <p:cNvPr id="50" name="Text 48"/>
          <p:cNvSpPr/>
          <p:nvPr/>
        </p:nvSpPr>
        <p:spPr>
          <a:xfrm>
            <a:off x="3566160" y="4187952"/>
            <a:ext cx="3703320" cy="420624"/>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The supplier’s profit on the part.</a:t>
            </a:r>
            <a:endParaRPr lang="en-US" sz="920" dirty="0"/>
          </a:p>
        </p:txBody>
      </p:sp>
      <p:sp>
        <p:nvSpPr>
          <p:cNvPr id="51" name="Text 49"/>
          <p:cNvSpPr/>
          <p:nvPr/>
        </p:nvSpPr>
        <p:spPr>
          <a:xfrm>
            <a:off x="7360920" y="4187952"/>
            <a:ext cx="1920240" cy="420624"/>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competitive 10–12%</a:t>
            </a:r>
            <a:endParaRPr lang="en-US" sz="880" dirty="0"/>
          </a:p>
        </p:txBody>
      </p:sp>
      <p:sp>
        <p:nvSpPr>
          <p:cNvPr id="52" name="Shape 50"/>
          <p:cNvSpPr/>
          <p:nvPr/>
        </p:nvSpPr>
        <p:spPr>
          <a:xfrm>
            <a:off x="457200" y="4654296"/>
            <a:ext cx="8915400" cy="420624"/>
          </a:xfrm>
          <a:prstGeom prst="roundRect">
            <a:avLst>
              <a:gd name="adj" fmla="val 15217"/>
            </a:avLst>
          </a:prstGeom>
          <a:solidFill>
            <a:srgbClr val="FFFFFF"/>
          </a:solidFill>
          <a:ln w="12700">
            <a:solidFill>
              <a:srgbClr val="DCE3EE"/>
            </a:solidFill>
            <a:prstDash val="solid"/>
          </a:ln>
        </p:spPr>
      </p:sp>
      <p:sp>
        <p:nvSpPr>
          <p:cNvPr id="53" name="Shape 51"/>
          <p:cNvSpPr/>
          <p:nvPr/>
        </p:nvSpPr>
        <p:spPr>
          <a:xfrm>
            <a:off x="658368" y="4736592"/>
            <a:ext cx="256032" cy="256032"/>
          </a:xfrm>
          <a:prstGeom prst="ellipse">
            <a:avLst/>
          </a:prstGeom>
          <a:solidFill>
            <a:srgbClr val="1D6FB8"/>
          </a:solidFill>
          <a:ln/>
        </p:spPr>
      </p:sp>
      <p:sp>
        <p:nvSpPr>
          <p:cNvPr id="54" name="Text 52"/>
          <p:cNvSpPr/>
          <p:nvPr/>
        </p:nvSpPr>
        <p:spPr>
          <a:xfrm>
            <a:off x="658368" y="4736592"/>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8</a:t>
            </a:r>
            <a:endParaRPr lang="en-US" sz="950" dirty="0"/>
          </a:p>
        </p:txBody>
      </p:sp>
      <p:sp>
        <p:nvSpPr>
          <p:cNvPr id="55" name="Text 53"/>
          <p:cNvSpPr/>
          <p:nvPr/>
        </p:nvSpPr>
        <p:spPr>
          <a:xfrm>
            <a:off x="1188720" y="4654296"/>
            <a:ext cx="2286000" cy="42062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Operation count</a:t>
            </a:r>
            <a:endParaRPr lang="en-US" sz="1050" dirty="0"/>
          </a:p>
        </p:txBody>
      </p:sp>
      <p:sp>
        <p:nvSpPr>
          <p:cNvPr id="56" name="Text 54"/>
          <p:cNvSpPr/>
          <p:nvPr/>
        </p:nvSpPr>
        <p:spPr>
          <a:xfrm>
            <a:off x="3566160" y="4654296"/>
            <a:ext cx="3703320" cy="420624"/>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How many separate process steps the part goes through.</a:t>
            </a:r>
            <a:endParaRPr lang="en-US" sz="920" dirty="0"/>
          </a:p>
        </p:txBody>
      </p:sp>
      <p:sp>
        <p:nvSpPr>
          <p:cNvPr id="57" name="Text 55"/>
          <p:cNvSpPr/>
          <p:nvPr/>
        </p:nvSpPr>
        <p:spPr>
          <a:xfrm>
            <a:off x="7360920" y="4654296"/>
            <a:ext cx="1920240" cy="420624"/>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flag at 4–8 by commodity</a:t>
            </a:r>
            <a:endParaRPr lang="en-US" sz="880" dirty="0"/>
          </a:p>
        </p:txBody>
      </p:sp>
      <p:sp>
        <p:nvSpPr>
          <p:cNvPr id="58" name="Shape 56"/>
          <p:cNvSpPr/>
          <p:nvPr/>
        </p:nvSpPr>
        <p:spPr>
          <a:xfrm>
            <a:off x="457200" y="5120640"/>
            <a:ext cx="8915400" cy="420624"/>
          </a:xfrm>
          <a:prstGeom prst="roundRect">
            <a:avLst>
              <a:gd name="adj" fmla="val 15217"/>
            </a:avLst>
          </a:prstGeom>
          <a:solidFill>
            <a:srgbClr val="FFFFFF"/>
          </a:solidFill>
          <a:ln w="12700">
            <a:solidFill>
              <a:srgbClr val="DCE3EE"/>
            </a:solidFill>
            <a:prstDash val="solid"/>
          </a:ln>
        </p:spPr>
      </p:sp>
      <p:sp>
        <p:nvSpPr>
          <p:cNvPr id="59" name="Shape 57"/>
          <p:cNvSpPr/>
          <p:nvPr/>
        </p:nvSpPr>
        <p:spPr>
          <a:xfrm>
            <a:off x="658368" y="5202936"/>
            <a:ext cx="256032" cy="256032"/>
          </a:xfrm>
          <a:prstGeom prst="ellipse">
            <a:avLst/>
          </a:prstGeom>
          <a:solidFill>
            <a:srgbClr val="1D6FB8"/>
          </a:solidFill>
          <a:ln/>
        </p:spPr>
      </p:sp>
      <p:sp>
        <p:nvSpPr>
          <p:cNvPr id="60" name="Text 58"/>
          <p:cNvSpPr/>
          <p:nvPr/>
        </p:nvSpPr>
        <p:spPr>
          <a:xfrm>
            <a:off x="658368" y="5202936"/>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9</a:t>
            </a:r>
            <a:endParaRPr lang="en-US" sz="950" dirty="0"/>
          </a:p>
        </p:txBody>
      </p:sp>
      <p:sp>
        <p:nvSpPr>
          <p:cNvPr id="61" name="Text 59"/>
          <p:cNvSpPr/>
          <p:nvPr/>
        </p:nvSpPr>
        <p:spPr>
          <a:xfrm>
            <a:off x="1188720" y="5120640"/>
            <a:ext cx="2286000" cy="42062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Average OEE</a:t>
            </a:r>
            <a:endParaRPr lang="en-US" sz="1050" dirty="0"/>
          </a:p>
        </p:txBody>
      </p:sp>
      <p:sp>
        <p:nvSpPr>
          <p:cNvPr id="62" name="Text 60"/>
          <p:cNvSpPr/>
          <p:nvPr/>
        </p:nvSpPr>
        <p:spPr>
          <a:xfrm>
            <a:off x="3566160" y="5120640"/>
            <a:ext cx="3703320" cy="420624"/>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920" dirty="0"/>
          </a:p>
        </p:txBody>
      </p:sp>
      <p:sp>
        <p:nvSpPr>
          <p:cNvPr id="63" name="Text 61"/>
          <p:cNvSpPr/>
          <p:nvPr/>
        </p:nvSpPr>
        <p:spPr>
          <a:xfrm>
            <a:off x="7360920" y="5120640"/>
            <a:ext cx="1920240" cy="420624"/>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target 85% (assumed if not entered)</a:t>
            </a:r>
            <a:endParaRPr lang="en-US" sz="880" dirty="0"/>
          </a:p>
        </p:txBody>
      </p:sp>
      <p:sp>
        <p:nvSpPr>
          <p:cNvPr id="64" name="Shape 62"/>
          <p:cNvSpPr/>
          <p:nvPr/>
        </p:nvSpPr>
        <p:spPr>
          <a:xfrm>
            <a:off x="457200" y="5586984"/>
            <a:ext cx="8915400" cy="420624"/>
          </a:xfrm>
          <a:prstGeom prst="roundRect">
            <a:avLst>
              <a:gd name="adj" fmla="val 15217"/>
            </a:avLst>
          </a:prstGeom>
          <a:solidFill>
            <a:srgbClr val="FFFFFF"/>
          </a:solidFill>
          <a:ln w="12700">
            <a:solidFill>
              <a:srgbClr val="DCE3EE"/>
            </a:solidFill>
            <a:prstDash val="solid"/>
          </a:ln>
        </p:spPr>
      </p:sp>
      <p:sp>
        <p:nvSpPr>
          <p:cNvPr id="65" name="Shape 63"/>
          <p:cNvSpPr/>
          <p:nvPr/>
        </p:nvSpPr>
        <p:spPr>
          <a:xfrm>
            <a:off x="658368" y="5669280"/>
            <a:ext cx="256032" cy="256032"/>
          </a:xfrm>
          <a:prstGeom prst="ellipse">
            <a:avLst/>
          </a:prstGeom>
          <a:solidFill>
            <a:srgbClr val="1D6FB8"/>
          </a:solidFill>
          <a:ln/>
        </p:spPr>
      </p:sp>
      <p:sp>
        <p:nvSpPr>
          <p:cNvPr id="66" name="Text 64"/>
          <p:cNvSpPr/>
          <p:nvPr/>
        </p:nvSpPr>
        <p:spPr>
          <a:xfrm>
            <a:off x="658368" y="5669280"/>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a:t>
            </a:r>
            <a:endParaRPr lang="en-US" sz="950" dirty="0"/>
          </a:p>
        </p:txBody>
      </p:sp>
      <p:sp>
        <p:nvSpPr>
          <p:cNvPr id="67" name="Text 65"/>
          <p:cNvSpPr/>
          <p:nvPr/>
        </p:nvSpPr>
        <p:spPr>
          <a:xfrm>
            <a:off x="1188720" y="5586984"/>
            <a:ext cx="2286000" cy="42062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Material utilisation</a:t>
            </a:r>
            <a:endParaRPr lang="en-US" sz="1050" dirty="0"/>
          </a:p>
        </p:txBody>
      </p:sp>
      <p:sp>
        <p:nvSpPr>
          <p:cNvPr id="68" name="Text 66"/>
          <p:cNvSpPr/>
          <p:nvPr/>
        </p:nvSpPr>
        <p:spPr>
          <a:xfrm>
            <a:off x="3566160" y="5586984"/>
            <a:ext cx="3703320" cy="420624"/>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920" dirty="0"/>
          </a:p>
        </p:txBody>
      </p:sp>
      <p:sp>
        <p:nvSpPr>
          <p:cNvPr id="69" name="Text 67"/>
          <p:cNvSpPr/>
          <p:nvPr/>
        </p:nvSpPr>
        <p:spPr>
          <a:xfrm>
            <a:off x="7360920" y="5586984"/>
            <a:ext cx="1920240" cy="420624"/>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benchmark 72% (assumed if not entered)</a:t>
            </a:r>
            <a:endParaRPr lang="en-US" sz="880" dirty="0"/>
          </a:p>
        </p:txBody>
      </p:sp>
      <p:sp>
        <p:nvSpPr>
          <p:cNvPr id="70" name="Text 68"/>
          <p:cNvSpPr/>
          <p:nvPr/>
        </p:nvSpPr>
        <p:spPr>
          <a:xfrm>
            <a:off x="457200" y="6089904"/>
            <a:ext cx="8915400" cy="219456"/>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Teal — read straight off the finished costing.   Blue — entered with the part (with a stated assumption used when left blank).</a:t>
            </a:r>
            <a:endParaRPr lang="en-US" sz="850" dirty="0"/>
          </a:p>
        </p:txBody>
      </p:sp>
      <p:sp>
        <p:nvSpPr>
          <p:cNvPr id="71" name="Shape 69"/>
          <p:cNvSpPr/>
          <p:nvPr/>
        </p:nvSpPr>
        <p:spPr>
          <a:xfrm>
            <a:off x="9555480" y="1389888"/>
            <a:ext cx="2176272" cy="4626864"/>
          </a:xfrm>
          <a:prstGeom prst="roundRect">
            <a:avLst>
              <a:gd name="adj" fmla="val 4202"/>
            </a:avLst>
          </a:prstGeom>
          <a:solidFill>
            <a:srgbClr val="FFFFFF"/>
          </a:solidFill>
          <a:ln w="19050">
            <a:solidFill>
              <a:srgbClr val="0E8074"/>
            </a:solidFill>
            <a:prstDash val="solid"/>
          </a:ln>
        </p:spPr>
      </p:sp>
      <p:sp>
        <p:nvSpPr>
          <p:cNvPr id="72" name="Text 70"/>
          <p:cNvSpPr/>
          <p:nvPr/>
        </p:nvSpPr>
        <p:spPr>
          <a:xfrm>
            <a:off x="9710928" y="1517904"/>
            <a:ext cx="1874520" cy="502920"/>
          </a:xfrm>
          <a:prstGeom prst="rect">
            <a:avLst/>
          </a:prstGeom>
          <a:noFill/>
          <a:ln/>
        </p:spPr>
        <p:txBody>
          <a:bodyPr wrap="square" lIns="0" tIns="0" rIns="0" bIns="0" rtlCol="0" anchor="ctr"/>
          <a:lstStyle/>
          <a:p>
            <a:pPr indent="0" marL="0">
              <a:buNone/>
            </a:pPr>
            <a:r>
              <a:rPr lang="en-US" sz="1000" b="1" spc="40" kern="0" dirty="0">
                <a:solidFill>
                  <a:srgbClr val="0E8074"/>
                </a:solidFill>
                <a:latin typeface="Calibri" pitchFamily="34" charset="0"/>
                <a:ea typeface="Calibri" pitchFamily="34" charset="-122"/>
                <a:cs typeface="Calibri" pitchFamily="34" charset="-120"/>
              </a:rPr>
              <a:t>HOW THE SCORE</a:t>
            </a:r>
            <a:endParaRPr lang="en-US" sz="1000" dirty="0"/>
          </a:p>
          <a:p>
            <a:pPr indent="0" marL="0">
              <a:buNone/>
            </a:pPr>
            <a:r>
              <a:rPr lang="en-US" sz="1000" b="1" spc="40" kern="0" dirty="0">
                <a:solidFill>
                  <a:srgbClr val="0E8074"/>
                </a:solidFill>
                <a:latin typeface="Calibri" pitchFamily="34" charset="0"/>
                <a:ea typeface="Calibri" pitchFamily="34" charset="-122"/>
                <a:cs typeface="Calibri" pitchFamily="34" charset="-120"/>
              </a:rPr>
              <a:t>IS BUILT</a:t>
            </a:r>
            <a:endParaRPr lang="en-US" sz="1000" dirty="0"/>
          </a:p>
        </p:txBody>
      </p:sp>
      <p:sp>
        <p:nvSpPr>
          <p:cNvPr id="73" name="Text 71"/>
          <p:cNvSpPr/>
          <p:nvPr/>
        </p:nvSpPr>
        <p:spPr>
          <a:xfrm>
            <a:off x="9710928" y="2084832"/>
            <a:ext cx="1874520" cy="384048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Start at 10.
</a:t>
            </a:r>
            <a:pPr indent="0" marL="0">
              <a:buNone/>
            </a:pPr>
            <a:r>
              <a:rPr lang="en-US" sz="900" b="1" dirty="0">
                <a:solidFill>
                  <a:srgbClr val="B03A2E"/>
                </a:solidFill>
                <a:latin typeface="Calibri" pitchFamily="34" charset="0"/>
                <a:ea typeface="Calibri" pitchFamily="34" charset="-122"/>
                <a:cs typeface="Calibri" pitchFamily="34" charset="-120"/>
              </a:rPr>
              <a:t>− 2.0 </a:t>
            </a:r>
            <a:pPr indent="0" marL="0">
              <a:buNone/>
            </a:pPr>
            <a:r>
              <a:rPr lang="en-US" sz="900" dirty="0">
                <a:solidFill>
                  <a:srgbClr val="3A4356"/>
                </a:solidFill>
                <a:latin typeface="Calibri" pitchFamily="34" charset="0"/>
                <a:ea typeface="Calibri" pitchFamily="34" charset="-122"/>
                <a:cs typeface="Calibri" pitchFamily="34" charset="-120"/>
              </a:rPr>
              <a:t>per critical finding
</a:t>
            </a:r>
            <a:pPr indent="0" marL="0">
              <a:buNone/>
            </a:pPr>
            <a:r>
              <a:rPr lang="en-US" sz="900" b="1" dirty="0">
                <a:solidFill>
                  <a:srgbClr val="B7791F"/>
                </a:solidFill>
                <a:latin typeface="Calibri" pitchFamily="34" charset="0"/>
                <a:ea typeface="Calibri" pitchFamily="34" charset="-122"/>
                <a:cs typeface="Calibri" pitchFamily="34" charset="-120"/>
              </a:rPr>
              <a:t>− 1.0 </a:t>
            </a:r>
            <a:pPr indent="0" marL="0">
              <a:buNone/>
            </a:pPr>
            <a:r>
              <a:rPr lang="en-US" sz="900" dirty="0">
                <a:solidFill>
                  <a:srgbClr val="3A4356"/>
                </a:solidFill>
                <a:latin typeface="Calibri" pitchFamily="34" charset="0"/>
                <a:ea typeface="Calibri" pitchFamily="34" charset="-122"/>
                <a:cs typeface="Calibri" pitchFamily="34" charset="-120"/>
              </a:rPr>
              <a:t>per major finding
</a:t>
            </a:r>
            <a:pPr indent="0" marL="0">
              <a:buNone/>
            </a:pPr>
            <a:r>
              <a:rPr lang="en-US" sz="900" b="1" dirty="0">
                <a:solidFill>
                  <a:srgbClr val="6B7280"/>
                </a:solidFill>
                <a:latin typeface="Calibri" pitchFamily="34" charset="0"/>
                <a:ea typeface="Calibri" pitchFamily="34" charset="-122"/>
                <a:cs typeface="Calibri" pitchFamily="34" charset="-120"/>
              </a:rPr>
              <a:t>− 0.5 </a:t>
            </a:r>
            <a:pPr indent="0" marL="0">
              <a:buNone/>
            </a:pPr>
            <a:r>
              <a:rPr lang="en-US" sz="900" dirty="0">
                <a:solidFill>
                  <a:srgbClr val="3A4356"/>
                </a:solidFill>
                <a:latin typeface="Calibri" pitchFamily="34" charset="0"/>
                <a:ea typeface="Calibri" pitchFamily="34" charset="-122"/>
                <a:cs typeface="Calibri" pitchFamily="34" charset="-120"/>
              </a:rPr>
              <a:t>per minor finding
</a:t>
            </a:r>
            <a:pPr indent="0" marL="0">
              <a:buNone/>
            </a:pPr>
            <a:r>
              <a:rPr lang="en-US" sz="900" b="1" dirty="0">
                <a:solidFill>
                  <a:srgbClr val="2E8B57"/>
                </a:solidFill>
                <a:latin typeface="Calibri" pitchFamily="34" charset="0"/>
                <a:ea typeface="Calibri" pitchFamily="34" charset="-122"/>
                <a:cs typeface="Calibri" pitchFamily="34" charset="-120"/>
              </a:rPr>
              <a:t>− 0 </a:t>
            </a:r>
            <a:pPr indent="0" marL="0">
              <a:buNone/>
            </a:pPr>
            <a:r>
              <a:rPr lang="en-US" sz="900" dirty="0">
                <a:solidFill>
                  <a:srgbClr val="3A4356"/>
                </a:solidFill>
                <a:latin typeface="Calibri" pitchFamily="34" charset="0"/>
                <a:ea typeface="Calibri" pitchFamily="34" charset="-122"/>
                <a:cs typeface="Calibri" pitchFamily="34" charset="-120"/>
              </a:rPr>
              <a:t>for opportunities
</a:t>
            </a:r>
            <a:pPr indent="0" marL="0">
              <a:buNone/>
            </a:pPr>
            <a:r>
              <a:rPr lang="en-US" sz="900" dirty="0">
                <a:solidFill>
                  <a:srgbClr val="3A4356"/>
                </a:solidFill>
                <a:latin typeface="Calibri" pitchFamily="34" charset="0"/>
                <a:ea typeface="Calibri" pitchFamily="34" charset="-122"/>
                <a:cs typeface="Calibri" pitchFamily="34" charset="-120"/>
              </a:rPr>
              <a:t>Never below 1, never above 10. Two scores: DFM (manufacturability) and DFA (assembly).
</a:t>
            </a:r>
            <a:pPr indent="0" marL="0">
              <a:buNone/>
            </a:pPr>
            <a:r>
              <a:rPr lang="en-US" sz="900" b="1" dirty="0">
                <a:solidFill>
                  <a:srgbClr val="16325C"/>
                </a:solidFill>
                <a:latin typeface="Calibri" pitchFamily="34" charset="0"/>
                <a:ea typeface="Calibri" pitchFamily="34" charset="-122"/>
                <a:cs typeface="Calibri" pitchFamily="34" charset="-120"/>
              </a:rPr>
              <a:t>Saving headline: </a:t>
            </a:r>
            <a:pPr indent="0" marL="0">
              <a:buNone/>
            </a:pPr>
            <a:r>
              <a:rPr lang="en-US" sz="900" dirty="0">
                <a:solidFill>
                  <a:srgbClr val="3A4356"/>
                </a:solidFill>
                <a:latin typeface="Calibri" pitchFamily="34" charset="0"/>
                <a:ea typeface="Calibri" pitchFamily="34" charset="-122"/>
                <a:cs typeface="Calibri" pitchFamily="34" charset="-120"/>
              </a:rPr>
              <a:t>the three biggest findings combined root-sum-square — not added — and capped at 40%, so overlapping fixes are not double-counted.</a:t>
            </a:r>
            <a:endParaRPr lang="en-US" sz="900" dirty="0"/>
          </a:p>
        </p:txBody>
      </p:sp>
      <p:sp>
        <p:nvSpPr>
          <p:cNvPr id="74" name="Text 7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5" name="Text 7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2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8 manufacturability rules on any commodity, then 6 assembly rules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60704"/>
            <a:ext cx="11274552" cy="256032"/>
          </a:xfrm>
          <a:prstGeom prst="roundRect">
            <a:avLst>
              <a:gd name="adj" fmla="val 21429"/>
            </a:avLst>
          </a:prstGeom>
          <a:solidFill>
            <a:srgbClr val="E6F4F1"/>
          </a:solidFill>
          <a:ln/>
        </p:spPr>
      </p:sp>
      <p:sp>
        <p:nvSpPr>
          <p:cNvPr id="8" name="Text 6"/>
          <p:cNvSpPr/>
          <p:nvPr/>
        </p:nvSpPr>
        <p:spPr>
          <a:xfrm>
            <a:off x="658368" y="1060704"/>
            <a:ext cx="10881360" cy="256032"/>
          </a:xfrm>
          <a:prstGeom prst="rect">
            <a:avLst/>
          </a:prstGeom>
          <a:noFill/>
          <a:ln/>
        </p:spPr>
        <p:txBody>
          <a:bodyPr wrap="square" lIns="0" tIns="0" rIns="0" bIns="0" rtlCol="0" anchor="ctr"/>
          <a:lstStyle/>
          <a:p>
            <a:pPr indent="0" marL="0">
              <a:buNone/>
            </a:pPr>
            <a:r>
              <a:rPr lang="en-US" sz="900" b="1" spc="60" kern="0" dirty="0">
                <a:solidFill>
                  <a:srgbClr val="0E8074"/>
                </a:solidFill>
                <a:latin typeface="Calibri" pitchFamily="34" charset="0"/>
                <a:ea typeface="Calibri" pitchFamily="34" charset="-122"/>
                <a:cs typeface="Calibri" pitchFamily="34" charset="-120"/>
              </a:rPr>
              <a:t>DFM — MANUFACTURABILITY · 8 RULES, ANY COMMODITY</a:t>
            </a:r>
            <a:endParaRPr lang="en-US" sz="900" dirty="0"/>
          </a:p>
        </p:txBody>
      </p:sp>
      <p:sp>
        <p:nvSpPr>
          <p:cNvPr id="9" name="Text 7"/>
          <p:cNvSpPr/>
          <p:nvPr/>
        </p:nvSpPr>
        <p:spPr>
          <a:xfrm>
            <a:off x="658368" y="1335024"/>
            <a:ext cx="2788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10" name="Text 8"/>
          <p:cNvSpPr/>
          <p:nvPr/>
        </p:nvSpPr>
        <p:spPr>
          <a:xfrm>
            <a:off x="3520440" y="1335024"/>
            <a:ext cx="51663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1" name="Text 9"/>
          <p:cNvSpPr/>
          <p:nvPr/>
        </p:nvSpPr>
        <p:spPr>
          <a:xfrm>
            <a:off x="8778240" y="1335024"/>
            <a:ext cx="201168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2" name="Text 10"/>
          <p:cNvSpPr/>
          <p:nvPr/>
        </p:nvSpPr>
        <p:spPr>
          <a:xfrm>
            <a:off x="10881360" y="1335024"/>
            <a:ext cx="68580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3" name="Shape 11"/>
          <p:cNvSpPr/>
          <p:nvPr/>
        </p:nvSpPr>
        <p:spPr>
          <a:xfrm>
            <a:off x="457200" y="1540764"/>
            <a:ext cx="11274552" cy="297180"/>
          </a:xfrm>
          <a:prstGeom prst="rect">
            <a:avLst/>
          </a:prstGeom>
          <a:solidFill>
            <a:srgbClr val="FFFFFF"/>
          </a:solidFill>
          <a:ln/>
        </p:spPr>
      </p:sp>
      <p:sp>
        <p:nvSpPr>
          <p:cNvPr id="14" name="Text 12"/>
          <p:cNvSpPr/>
          <p:nvPr/>
        </p:nvSpPr>
        <p:spPr>
          <a:xfrm>
            <a:off x="658368" y="1554480"/>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5" name="Text 13"/>
          <p:cNvSpPr/>
          <p:nvPr/>
        </p:nvSpPr>
        <p:spPr>
          <a:xfrm>
            <a:off x="3520440" y="1554480"/>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6" name="Text 14"/>
          <p:cNvSpPr/>
          <p:nvPr/>
        </p:nvSpPr>
        <p:spPr>
          <a:xfrm>
            <a:off x="8778240" y="1554480"/>
            <a:ext cx="201168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10881360" y="1554480"/>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8" name="Text 16"/>
          <p:cNvSpPr/>
          <p:nvPr/>
        </p:nvSpPr>
        <p:spPr>
          <a:xfrm>
            <a:off x="658368" y="1851660"/>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9" name="Text 17"/>
          <p:cNvSpPr/>
          <p:nvPr/>
        </p:nvSpPr>
        <p:spPr>
          <a:xfrm>
            <a:off x="3520440" y="1851660"/>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20" name="Text 18"/>
          <p:cNvSpPr/>
          <p:nvPr/>
        </p:nvSpPr>
        <p:spPr>
          <a:xfrm>
            <a:off x="8778240" y="1851660"/>
            <a:ext cx="201168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1" name="Text 19"/>
          <p:cNvSpPr/>
          <p:nvPr/>
        </p:nvSpPr>
        <p:spPr>
          <a:xfrm>
            <a:off x="10881360" y="1851660"/>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2" name="Shape 20"/>
          <p:cNvSpPr/>
          <p:nvPr/>
        </p:nvSpPr>
        <p:spPr>
          <a:xfrm>
            <a:off x="457200" y="2135124"/>
            <a:ext cx="11274552" cy="297180"/>
          </a:xfrm>
          <a:prstGeom prst="rect">
            <a:avLst/>
          </a:prstGeom>
          <a:solidFill>
            <a:srgbClr val="FFFFFF"/>
          </a:solidFill>
          <a:ln/>
        </p:spPr>
      </p:sp>
      <p:sp>
        <p:nvSpPr>
          <p:cNvPr id="23" name="Text 21"/>
          <p:cNvSpPr/>
          <p:nvPr/>
        </p:nvSpPr>
        <p:spPr>
          <a:xfrm>
            <a:off x="658368" y="2148840"/>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4" name="Text 22"/>
          <p:cNvSpPr/>
          <p:nvPr/>
        </p:nvSpPr>
        <p:spPr>
          <a:xfrm>
            <a:off x="3520440" y="2148840"/>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5" name="Text 23"/>
          <p:cNvSpPr/>
          <p:nvPr/>
        </p:nvSpPr>
        <p:spPr>
          <a:xfrm>
            <a:off x="8778240" y="2148840"/>
            <a:ext cx="201168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6" name="Text 24"/>
          <p:cNvSpPr/>
          <p:nvPr/>
        </p:nvSpPr>
        <p:spPr>
          <a:xfrm>
            <a:off x="10881360" y="2148840"/>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7" name="Text 25"/>
          <p:cNvSpPr/>
          <p:nvPr/>
        </p:nvSpPr>
        <p:spPr>
          <a:xfrm>
            <a:off x="658368" y="2446020"/>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8" name="Text 26"/>
          <p:cNvSpPr/>
          <p:nvPr/>
        </p:nvSpPr>
        <p:spPr>
          <a:xfrm>
            <a:off x="3520440" y="2446020"/>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9" name="Text 27"/>
          <p:cNvSpPr/>
          <p:nvPr/>
        </p:nvSpPr>
        <p:spPr>
          <a:xfrm>
            <a:off x="8778240" y="2446020"/>
            <a:ext cx="201168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0" name="Text 28"/>
          <p:cNvSpPr/>
          <p:nvPr/>
        </p:nvSpPr>
        <p:spPr>
          <a:xfrm>
            <a:off x="10881360" y="2446020"/>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31" name="Shape 29"/>
          <p:cNvSpPr/>
          <p:nvPr/>
        </p:nvSpPr>
        <p:spPr>
          <a:xfrm>
            <a:off x="457200" y="2729484"/>
            <a:ext cx="11274552" cy="297180"/>
          </a:xfrm>
          <a:prstGeom prst="rect">
            <a:avLst/>
          </a:prstGeom>
          <a:solidFill>
            <a:srgbClr val="FFFFFF"/>
          </a:solidFill>
          <a:ln/>
        </p:spPr>
      </p:sp>
      <p:sp>
        <p:nvSpPr>
          <p:cNvPr id="32" name="Text 30"/>
          <p:cNvSpPr/>
          <p:nvPr/>
        </p:nvSpPr>
        <p:spPr>
          <a:xfrm>
            <a:off x="658368" y="2743200"/>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3" name="Text 31"/>
          <p:cNvSpPr/>
          <p:nvPr/>
        </p:nvSpPr>
        <p:spPr>
          <a:xfrm>
            <a:off x="3520440" y="2743200"/>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4" name="Text 32"/>
          <p:cNvSpPr/>
          <p:nvPr/>
        </p:nvSpPr>
        <p:spPr>
          <a:xfrm>
            <a:off x="8778240" y="2743200"/>
            <a:ext cx="201168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5" name="Text 33"/>
          <p:cNvSpPr/>
          <p:nvPr/>
        </p:nvSpPr>
        <p:spPr>
          <a:xfrm>
            <a:off x="10881360" y="2743200"/>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6" name="Text 34"/>
          <p:cNvSpPr/>
          <p:nvPr/>
        </p:nvSpPr>
        <p:spPr>
          <a:xfrm>
            <a:off x="658368" y="3040380"/>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7" name="Text 35"/>
          <p:cNvSpPr/>
          <p:nvPr/>
        </p:nvSpPr>
        <p:spPr>
          <a:xfrm>
            <a:off x="3520440" y="3040380"/>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8" name="Text 36"/>
          <p:cNvSpPr/>
          <p:nvPr/>
        </p:nvSpPr>
        <p:spPr>
          <a:xfrm>
            <a:off x="8778240" y="3040380"/>
            <a:ext cx="201168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9" name="Text 37"/>
          <p:cNvSpPr/>
          <p:nvPr/>
        </p:nvSpPr>
        <p:spPr>
          <a:xfrm>
            <a:off x="10881360" y="3040380"/>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0" name="Shape 38"/>
          <p:cNvSpPr/>
          <p:nvPr/>
        </p:nvSpPr>
        <p:spPr>
          <a:xfrm>
            <a:off x="457200" y="3323844"/>
            <a:ext cx="11274552" cy="297180"/>
          </a:xfrm>
          <a:prstGeom prst="rect">
            <a:avLst/>
          </a:prstGeom>
          <a:solidFill>
            <a:srgbClr val="FFFFFF"/>
          </a:solidFill>
          <a:ln/>
        </p:spPr>
      </p:sp>
      <p:sp>
        <p:nvSpPr>
          <p:cNvPr id="41" name="Text 39"/>
          <p:cNvSpPr/>
          <p:nvPr/>
        </p:nvSpPr>
        <p:spPr>
          <a:xfrm>
            <a:off x="658368" y="3337560"/>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2" name="Text 40"/>
          <p:cNvSpPr/>
          <p:nvPr/>
        </p:nvSpPr>
        <p:spPr>
          <a:xfrm>
            <a:off x="3520440" y="3337560"/>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3" name="Text 41"/>
          <p:cNvSpPr/>
          <p:nvPr/>
        </p:nvSpPr>
        <p:spPr>
          <a:xfrm>
            <a:off x="8778240" y="3337560"/>
            <a:ext cx="201168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4" name="Text 42"/>
          <p:cNvSpPr/>
          <p:nvPr/>
        </p:nvSpPr>
        <p:spPr>
          <a:xfrm>
            <a:off x="10881360" y="3337560"/>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5" name="Text 43"/>
          <p:cNvSpPr/>
          <p:nvPr/>
        </p:nvSpPr>
        <p:spPr>
          <a:xfrm>
            <a:off x="658368" y="3634740"/>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6" name="Text 44"/>
          <p:cNvSpPr/>
          <p:nvPr/>
        </p:nvSpPr>
        <p:spPr>
          <a:xfrm>
            <a:off x="3520440" y="3634740"/>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7" name="Text 45"/>
          <p:cNvSpPr/>
          <p:nvPr/>
        </p:nvSpPr>
        <p:spPr>
          <a:xfrm>
            <a:off x="8778240" y="3634740"/>
            <a:ext cx="201168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8" name="Text 46"/>
          <p:cNvSpPr/>
          <p:nvPr/>
        </p:nvSpPr>
        <p:spPr>
          <a:xfrm>
            <a:off x="10881360" y="3634740"/>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9" name="Shape 47"/>
          <p:cNvSpPr/>
          <p:nvPr/>
        </p:nvSpPr>
        <p:spPr>
          <a:xfrm>
            <a:off x="457200" y="4023360"/>
            <a:ext cx="11274552" cy="256032"/>
          </a:xfrm>
          <a:prstGeom prst="roundRect">
            <a:avLst>
              <a:gd name="adj" fmla="val 21429"/>
            </a:avLst>
          </a:prstGeom>
          <a:solidFill>
            <a:srgbClr val="EAF6EF"/>
          </a:solidFill>
          <a:ln/>
        </p:spPr>
      </p:sp>
      <p:sp>
        <p:nvSpPr>
          <p:cNvPr id="50" name="Text 48"/>
          <p:cNvSpPr/>
          <p:nvPr/>
        </p:nvSpPr>
        <p:spPr>
          <a:xfrm>
            <a:off x="658368" y="4023360"/>
            <a:ext cx="10881360" cy="256032"/>
          </a:xfrm>
          <a:prstGeom prst="rect">
            <a:avLst/>
          </a:prstGeom>
          <a:noFill/>
          <a:ln/>
        </p:spPr>
        <p:txBody>
          <a:bodyPr wrap="square" lIns="0" tIns="0" rIns="0" bIns="0" rtlCol="0" anchor="ctr"/>
          <a:lstStyle/>
          <a:p>
            <a:pPr indent="0" marL="0">
              <a:buNone/>
            </a:pPr>
            <a:r>
              <a:rPr lang="en-US" sz="900" b="1" spc="60" kern="0" dirty="0">
                <a:solidFill>
                  <a:srgbClr val="2E8B57"/>
                </a:solidFill>
                <a:latin typeface="Calibri" pitchFamily="34" charset="0"/>
                <a:ea typeface="Calibri" pitchFamily="34" charset="-122"/>
                <a:cs typeface="Calibri" pitchFamily="34" charset="-120"/>
              </a:rPr>
              <a:t>DFA — ASSEMBLY · 6 RULES</a:t>
            </a:r>
            <a:endParaRPr lang="en-US" sz="900" dirty="0"/>
          </a:p>
        </p:txBody>
      </p:sp>
      <p:sp>
        <p:nvSpPr>
          <p:cNvPr id="51" name="Text 49"/>
          <p:cNvSpPr/>
          <p:nvPr/>
        </p:nvSpPr>
        <p:spPr>
          <a:xfrm>
            <a:off x="658368" y="4315968"/>
            <a:ext cx="2788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52" name="Text 50"/>
          <p:cNvSpPr/>
          <p:nvPr/>
        </p:nvSpPr>
        <p:spPr>
          <a:xfrm>
            <a:off x="3520440" y="4315968"/>
            <a:ext cx="51663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53" name="Text 51"/>
          <p:cNvSpPr/>
          <p:nvPr/>
        </p:nvSpPr>
        <p:spPr>
          <a:xfrm>
            <a:off x="8778240" y="4315968"/>
            <a:ext cx="201168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54" name="Text 52"/>
          <p:cNvSpPr/>
          <p:nvPr/>
        </p:nvSpPr>
        <p:spPr>
          <a:xfrm>
            <a:off x="10881360" y="4315968"/>
            <a:ext cx="68580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55" name="Shape 53"/>
          <p:cNvSpPr/>
          <p:nvPr/>
        </p:nvSpPr>
        <p:spPr>
          <a:xfrm>
            <a:off x="457200" y="4521708"/>
            <a:ext cx="11274552" cy="297180"/>
          </a:xfrm>
          <a:prstGeom prst="rect">
            <a:avLst/>
          </a:prstGeom>
          <a:solidFill>
            <a:srgbClr val="FFFFFF"/>
          </a:solidFill>
          <a:ln/>
        </p:spPr>
      </p:sp>
      <p:sp>
        <p:nvSpPr>
          <p:cNvPr id="56" name="Text 54"/>
          <p:cNvSpPr/>
          <p:nvPr/>
        </p:nvSpPr>
        <p:spPr>
          <a:xfrm>
            <a:off x="658368" y="4535424"/>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Multiple setups and transfers</a:t>
            </a:r>
            <a:endParaRPr lang="en-US" sz="920" dirty="0"/>
          </a:p>
        </p:txBody>
      </p:sp>
      <p:sp>
        <p:nvSpPr>
          <p:cNvPr id="57" name="Text 55"/>
          <p:cNvSpPr/>
          <p:nvPr/>
        </p:nvSpPr>
        <p:spPr>
          <a:xfrm>
            <a:off x="3520440" y="4535424"/>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5 operations — each setup adds handling time and variation</a:t>
            </a:r>
            <a:endParaRPr lang="en-US" sz="900" dirty="0"/>
          </a:p>
        </p:txBody>
      </p:sp>
      <p:sp>
        <p:nvSpPr>
          <p:cNvPr id="58" name="Text 56"/>
          <p:cNvSpPr/>
          <p:nvPr/>
        </p:nvSpPr>
        <p:spPr>
          <a:xfrm>
            <a:off x="8778240" y="4535424"/>
            <a:ext cx="201168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9" name="Text 57"/>
          <p:cNvSpPr/>
          <p:nvPr/>
        </p:nvSpPr>
        <p:spPr>
          <a:xfrm>
            <a:off x="10881360" y="4535424"/>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0" name="Text 58"/>
          <p:cNvSpPr/>
          <p:nvPr/>
        </p:nvSpPr>
        <p:spPr>
          <a:xfrm>
            <a:off x="658368" y="4832604"/>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61" name="Text 59"/>
          <p:cNvSpPr/>
          <p:nvPr/>
        </p:nvSpPr>
        <p:spPr>
          <a:xfrm>
            <a:off x="3520440" y="4832604"/>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62" name="Text 60"/>
          <p:cNvSpPr/>
          <p:nvPr/>
        </p:nvSpPr>
        <p:spPr>
          <a:xfrm>
            <a:off x="8778240" y="4832604"/>
            <a:ext cx="201168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3" name="Text 61"/>
          <p:cNvSpPr/>
          <p:nvPr/>
        </p:nvSpPr>
        <p:spPr>
          <a:xfrm>
            <a:off x="10881360" y="4832604"/>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64" name="Shape 62"/>
          <p:cNvSpPr/>
          <p:nvPr/>
        </p:nvSpPr>
        <p:spPr>
          <a:xfrm>
            <a:off x="457200" y="5116068"/>
            <a:ext cx="11274552" cy="297180"/>
          </a:xfrm>
          <a:prstGeom prst="rect">
            <a:avLst/>
          </a:prstGeom>
          <a:solidFill>
            <a:srgbClr val="FFFFFF"/>
          </a:solidFill>
          <a:ln/>
        </p:spPr>
      </p:sp>
      <p:sp>
        <p:nvSpPr>
          <p:cNvPr id="65" name="Text 63"/>
          <p:cNvSpPr/>
          <p:nvPr/>
        </p:nvSpPr>
        <p:spPr>
          <a:xfrm>
            <a:off x="658368" y="5129784"/>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66" name="Text 64"/>
          <p:cNvSpPr/>
          <p:nvPr/>
        </p:nvSpPr>
        <p:spPr>
          <a:xfrm>
            <a:off x="3520440" y="5129784"/>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67" name="Text 65"/>
          <p:cNvSpPr/>
          <p:nvPr/>
        </p:nvSpPr>
        <p:spPr>
          <a:xfrm>
            <a:off x="8778240" y="5129784"/>
            <a:ext cx="201168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8" name="Text 66"/>
          <p:cNvSpPr/>
          <p:nvPr/>
        </p:nvSpPr>
        <p:spPr>
          <a:xfrm>
            <a:off x="10881360" y="5129784"/>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9" name="Text 67"/>
          <p:cNvSpPr/>
          <p:nvPr/>
        </p:nvSpPr>
        <p:spPr>
          <a:xfrm>
            <a:off x="658368" y="5426964"/>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70" name="Text 68"/>
          <p:cNvSpPr/>
          <p:nvPr/>
        </p:nvSpPr>
        <p:spPr>
          <a:xfrm>
            <a:off x="3520440" y="5426964"/>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71" name="Text 69"/>
          <p:cNvSpPr/>
          <p:nvPr/>
        </p:nvSpPr>
        <p:spPr>
          <a:xfrm>
            <a:off x="8778240" y="5426964"/>
            <a:ext cx="201168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72" name="Text 70"/>
          <p:cNvSpPr/>
          <p:nvPr/>
        </p:nvSpPr>
        <p:spPr>
          <a:xfrm>
            <a:off x="10881360" y="5426964"/>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73" name="Shape 71"/>
          <p:cNvSpPr/>
          <p:nvPr/>
        </p:nvSpPr>
        <p:spPr>
          <a:xfrm>
            <a:off x="457200" y="5710428"/>
            <a:ext cx="11274552" cy="297180"/>
          </a:xfrm>
          <a:prstGeom prst="rect">
            <a:avLst/>
          </a:prstGeom>
          <a:solidFill>
            <a:srgbClr val="FFFFFF"/>
          </a:solidFill>
          <a:ln/>
        </p:spPr>
      </p:sp>
      <p:sp>
        <p:nvSpPr>
          <p:cNvPr id="74" name="Text 72"/>
          <p:cNvSpPr/>
          <p:nvPr/>
        </p:nvSpPr>
        <p:spPr>
          <a:xfrm>
            <a:off x="658368" y="5724144"/>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75" name="Text 73"/>
          <p:cNvSpPr/>
          <p:nvPr/>
        </p:nvSpPr>
        <p:spPr>
          <a:xfrm>
            <a:off x="3520440" y="5724144"/>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with more than 3 operations — pallet systems cut handling</a:t>
            </a:r>
            <a:endParaRPr lang="en-US" sz="900" dirty="0"/>
          </a:p>
        </p:txBody>
      </p:sp>
      <p:sp>
        <p:nvSpPr>
          <p:cNvPr id="76" name="Text 74"/>
          <p:cNvSpPr/>
          <p:nvPr/>
        </p:nvSpPr>
        <p:spPr>
          <a:xfrm>
            <a:off x="8778240" y="5724144"/>
            <a:ext cx="201168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7" name="Text 75"/>
          <p:cNvSpPr/>
          <p:nvPr/>
        </p:nvSpPr>
        <p:spPr>
          <a:xfrm>
            <a:off x="10881360" y="5724144"/>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78" name="Text 76"/>
          <p:cNvSpPr/>
          <p:nvPr/>
        </p:nvSpPr>
        <p:spPr>
          <a:xfrm>
            <a:off x="658368" y="6021324"/>
            <a:ext cx="27889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79" name="Text 77"/>
          <p:cNvSpPr/>
          <p:nvPr/>
        </p:nvSpPr>
        <p:spPr>
          <a:xfrm>
            <a:off x="3520440" y="6021324"/>
            <a:ext cx="516636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80" name="Text 78"/>
          <p:cNvSpPr/>
          <p:nvPr/>
        </p:nvSpPr>
        <p:spPr>
          <a:xfrm>
            <a:off x="8778240" y="6021324"/>
            <a:ext cx="201168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81" name="Text 79"/>
          <p:cNvSpPr/>
          <p:nvPr/>
        </p:nvSpPr>
        <p:spPr>
          <a:xfrm>
            <a:off x="10881360" y="6021324"/>
            <a:ext cx="68580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82" name="Text 80"/>
          <p:cNvSpPr/>
          <p:nvPr/>
        </p:nvSpPr>
        <p:spPr>
          <a:xfrm>
            <a:off x="457200" y="6327648"/>
            <a:ext cx="11274552" cy="201168"/>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"Save" is the rule’s own estimate of what fixing the finding is worth, as a % of part cost — the headline combines the top three (previous slide).</a:t>
            </a:r>
            <a:endParaRPr lang="en-US" sz="850" dirty="0"/>
          </a:p>
        </p:txBody>
      </p:sp>
      <p:sp>
        <p:nvSpPr>
          <p:cNvPr id="83" name="Text 8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84" name="Text 8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2 — The 22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152144"/>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152144"/>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152144"/>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152144"/>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80744"/>
            <a:ext cx="11274552" cy="18288"/>
          </a:xfrm>
          <a:prstGeom prst="rect">
            <a:avLst/>
          </a:prstGeom>
          <a:solidFill>
            <a:srgbClr val="DCE3EE"/>
          </a:solidFill>
          <a:ln/>
        </p:spPr>
      </p:sp>
      <p:sp>
        <p:nvSpPr>
          <p:cNvPr id="13" name="Text 11"/>
          <p:cNvSpPr/>
          <p:nvPr/>
        </p:nvSpPr>
        <p:spPr>
          <a:xfrm>
            <a:off x="658368" y="1389888"/>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Machining</a:t>
            </a:r>
            <a:endParaRPr lang="en-US" sz="860" dirty="0"/>
          </a:p>
        </p:txBody>
      </p:sp>
      <p:sp>
        <p:nvSpPr>
          <p:cNvPr id="14" name="Text 12"/>
          <p:cNvSpPr/>
          <p:nvPr/>
        </p:nvSpPr>
        <p:spPr>
          <a:xfrm>
            <a:off x="2212848" y="1389888"/>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High operation count</a:t>
            </a:r>
            <a:endParaRPr lang="en-US" sz="860" dirty="0"/>
          </a:p>
        </p:txBody>
      </p:sp>
      <p:sp>
        <p:nvSpPr>
          <p:cNvPr id="15" name="Text 13"/>
          <p:cNvSpPr/>
          <p:nvPr/>
        </p:nvSpPr>
        <p:spPr>
          <a:xfrm>
            <a:off x="5029200" y="1389888"/>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More than 4 operations — every extra setup adds fixtures, handling and variation</a:t>
            </a:r>
            <a:endParaRPr lang="en-US" sz="840" dirty="0"/>
          </a:p>
        </p:txBody>
      </p:sp>
      <p:sp>
        <p:nvSpPr>
          <p:cNvPr id="16" name="Text 14"/>
          <p:cNvSpPr/>
          <p:nvPr/>
        </p:nvSpPr>
        <p:spPr>
          <a:xfrm>
            <a:off x="10058400" y="1389888"/>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17" name="Text 15"/>
          <p:cNvSpPr/>
          <p:nvPr/>
        </p:nvSpPr>
        <p:spPr>
          <a:xfrm>
            <a:off x="11292840" y="1389888"/>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10%</a:t>
            </a:r>
            <a:endParaRPr lang="en-US" sz="840" dirty="0"/>
          </a:p>
        </p:txBody>
      </p:sp>
      <p:sp>
        <p:nvSpPr>
          <p:cNvPr id="18" name="Shape 16"/>
          <p:cNvSpPr/>
          <p:nvPr/>
        </p:nvSpPr>
        <p:spPr>
          <a:xfrm>
            <a:off x="457200" y="1600200"/>
            <a:ext cx="11274552" cy="205740"/>
          </a:xfrm>
          <a:prstGeom prst="rect">
            <a:avLst/>
          </a:prstGeom>
          <a:solidFill>
            <a:srgbClr val="FFFFFF"/>
          </a:solidFill>
          <a:ln/>
        </p:spPr>
      </p:sp>
      <p:sp>
        <p:nvSpPr>
          <p:cNvPr id="19" name="Text 17"/>
          <p:cNvSpPr/>
          <p:nvPr/>
        </p:nvSpPr>
        <p:spPr>
          <a:xfrm>
            <a:off x="658368" y="1604772"/>
            <a:ext cx="1508760" cy="201168"/>
          </a:xfrm>
          <a:prstGeom prst="rect">
            <a:avLst/>
          </a:prstGeom>
          <a:noFill/>
          <a:ln/>
        </p:spPr>
        <p:txBody>
          <a:bodyPr wrap="square" lIns="0" tIns="0" rIns="0" bIns="0" rtlCol="0" anchor="ctr"/>
          <a:lstStyle/>
          <a:p>
            <a:pPr indent="0" marL="0">
              <a:buNone/>
            </a:pPr>
            <a:endParaRPr lang="en-US" sz="860" dirty="0"/>
          </a:p>
        </p:txBody>
      </p:sp>
      <p:sp>
        <p:nvSpPr>
          <p:cNvPr id="20" name="Text 18"/>
          <p:cNvSpPr/>
          <p:nvPr/>
        </p:nvSpPr>
        <p:spPr>
          <a:xfrm>
            <a:off x="2212848" y="1604772"/>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Process cost dominates</a:t>
            </a:r>
            <a:endParaRPr lang="en-US" sz="860" dirty="0"/>
          </a:p>
        </p:txBody>
      </p:sp>
      <p:sp>
        <p:nvSpPr>
          <p:cNvPr id="21" name="Text 19"/>
          <p:cNvSpPr/>
          <p:nvPr/>
        </p:nvSpPr>
        <p:spPr>
          <a:xfrm>
            <a:off x="5029200" y="1604772"/>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Machining is over 40% of part cost — consider a near-net cast or forged blank</a:t>
            </a:r>
            <a:endParaRPr lang="en-US" sz="840" dirty="0"/>
          </a:p>
        </p:txBody>
      </p:sp>
      <p:sp>
        <p:nvSpPr>
          <p:cNvPr id="22" name="Text 20"/>
          <p:cNvSpPr/>
          <p:nvPr/>
        </p:nvSpPr>
        <p:spPr>
          <a:xfrm>
            <a:off x="10058400" y="1604772"/>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23" name="Text 21"/>
          <p:cNvSpPr/>
          <p:nvPr/>
        </p:nvSpPr>
        <p:spPr>
          <a:xfrm>
            <a:off x="11292840" y="1604772"/>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8%</a:t>
            </a:r>
            <a:endParaRPr lang="en-US" sz="840" dirty="0"/>
          </a:p>
        </p:txBody>
      </p:sp>
      <p:sp>
        <p:nvSpPr>
          <p:cNvPr id="24" name="Shape 22"/>
          <p:cNvSpPr/>
          <p:nvPr/>
        </p:nvSpPr>
        <p:spPr>
          <a:xfrm>
            <a:off x="457200" y="1810512"/>
            <a:ext cx="11274552" cy="18288"/>
          </a:xfrm>
          <a:prstGeom prst="rect">
            <a:avLst/>
          </a:prstGeom>
          <a:solidFill>
            <a:srgbClr val="DCE3EE"/>
          </a:solidFill>
          <a:ln/>
        </p:spPr>
      </p:sp>
      <p:sp>
        <p:nvSpPr>
          <p:cNvPr id="25" name="Text 23"/>
          <p:cNvSpPr/>
          <p:nvPr/>
        </p:nvSpPr>
        <p:spPr>
          <a:xfrm>
            <a:off x="658368" y="1819656"/>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Casting</a:t>
            </a:r>
            <a:endParaRPr lang="en-US" sz="860" dirty="0"/>
          </a:p>
        </p:txBody>
      </p:sp>
      <p:sp>
        <p:nvSpPr>
          <p:cNvPr id="26" name="Text 24"/>
          <p:cNvSpPr/>
          <p:nvPr/>
        </p:nvSpPr>
        <p:spPr>
          <a:xfrm>
            <a:off x="2212848" y="1819656"/>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Die cost very high</a:t>
            </a:r>
            <a:endParaRPr lang="en-US" sz="860" dirty="0"/>
          </a:p>
        </p:txBody>
      </p:sp>
      <p:sp>
        <p:nvSpPr>
          <p:cNvPr id="27" name="Text 25"/>
          <p:cNvSpPr/>
          <p:nvPr/>
        </p:nvSpPr>
        <p:spPr>
          <a:xfrm>
            <a:off x="5029200" y="1819656"/>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Die is over 18% of part cost — volume too low to carry the die investment</a:t>
            </a:r>
            <a:endParaRPr lang="en-US" sz="840" dirty="0"/>
          </a:p>
        </p:txBody>
      </p:sp>
      <p:sp>
        <p:nvSpPr>
          <p:cNvPr id="28" name="Text 26"/>
          <p:cNvSpPr/>
          <p:nvPr/>
        </p:nvSpPr>
        <p:spPr>
          <a:xfrm>
            <a:off x="10058400" y="1819656"/>
            <a:ext cx="1188720" cy="201168"/>
          </a:xfrm>
          <a:prstGeom prst="rect">
            <a:avLst/>
          </a:prstGeom>
          <a:noFill/>
          <a:ln/>
        </p:spPr>
        <p:txBody>
          <a:bodyPr wrap="square" lIns="0" tIns="0" rIns="0" bIns="0" rtlCol="0" anchor="ctr"/>
          <a:lstStyle/>
          <a:p>
            <a:pPr indent="0" marL="0">
              <a:buNone/>
            </a:pPr>
            <a:r>
              <a:rPr lang="en-US" sz="840" b="1" dirty="0">
                <a:solidFill>
                  <a:srgbClr val="B03A2E"/>
                </a:solidFill>
                <a:latin typeface="Calibri" pitchFamily="34" charset="0"/>
                <a:ea typeface="Calibri" pitchFamily="34" charset="-122"/>
                <a:cs typeface="Calibri" pitchFamily="34" charset="-120"/>
              </a:rPr>
              <a:t>Critical</a:t>
            </a:r>
            <a:endParaRPr lang="en-US" sz="840" dirty="0"/>
          </a:p>
        </p:txBody>
      </p:sp>
      <p:sp>
        <p:nvSpPr>
          <p:cNvPr id="29" name="Text 27"/>
          <p:cNvSpPr/>
          <p:nvPr/>
        </p:nvSpPr>
        <p:spPr>
          <a:xfrm>
            <a:off x="11292840" y="1819656"/>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12%</a:t>
            </a:r>
            <a:endParaRPr lang="en-US" sz="840" dirty="0"/>
          </a:p>
        </p:txBody>
      </p:sp>
      <p:sp>
        <p:nvSpPr>
          <p:cNvPr id="30" name="Shape 28"/>
          <p:cNvSpPr/>
          <p:nvPr/>
        </p:nvSpPr>
        <p:spPr>
          <a:xfrm>
            <a:off x="457200" y="2029968"/>
            <a:ext cx="11274552" cy="205740"/>
          </a:xfrm>
          <a:prstGeom prst="rect">
            <a:avLst/>
          </a:prstGeom>
          <a:solidFill>
            <a:srgbClr val="FFFFFF"/>
          </a:solidFill>
          <a:ln/>
        </p:spPr>
      </p:sp>
      <p:sp>
        <p:nvSpPr>
          <p:cNvPr id="31" name="Text 29"/>
          <p:cNvSpPr/>
          <p:nvPr/>
        </p:nvSpPr>
        <p:spPr>
          <a:xfrm>
            <a:off x="658368" y="2034540"/>
            <a:ext cx="1508760" cy="201168"/>
          </a:xfrm>
          <a:prstGeom prst="rect">
            <a:avLst/>
          </a:prstGeom>
          <a:noFill/>
          <a:ln/>
        </p:spPr>
        <p:txBody>
          <a:bodyPr wrap="square" lIns="0" tIns="0" rIns="0" bIns="0" rtlCol="0" anchor="ctr"/>
          <a:lstStyle/>
          <a:p>
            <a:pPr indent="0" marL="0">
              <a:buNone/>
            </a:pPr>
            <a:endParaRPr lang="en-US" sz="860" dirty="0"/>
          </a:p>
        </p:txBody>
      </p:sp>
      <p:sp>
        <p:nvSpPr>
          <p:cNvPr id="32" name="Text 30"/>
          <p:cNvSpPr/>
          <p:nvPr/>
        </p:nvSpPr>
        <p:spPr>
          <a:xfrm>
            <a:off x="2212848" y="2034540"/>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Material content oddly low</a:t>
            </a:r>
            <a:endParaRPr lang="en-US" sz="860" dirty="0"/>
          </a:p>
        </p:txBody>
      </p:sp>
      <p:sp>
        <p:nvSpPr>
          <p:cNvPr id="33" name="Text 31"/>
          <p:cNvSpPr/>
          <p:nvPr/>
        </p:nvSpPr>
        <p:spPr>
          <a:xfrm>
            <a:off x="5029200" y="2034540"/>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840" dirty="0"/>
          </a:p>
        </p:txBody>
      </p:sp>
      <p:sp>
        <p:nvSpPr>
          <p:cNvPr id="34" name="Text 32"/>
          <p:cNvSpPr/>
          <p:nvPr/>
        </p:nvSpPr>
        <p:spPr>
          <a:xfrm>
            <a:off x="10058400" y="2034540"/>
            <a:ext cx="1188720" cy="201168"/>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Minor</a:t>
            </a:r>
            <a:endParaRPr lang="en-US" sz="840" dirty="0"/>
          </a:p>
        </p:txBody>
      </p:sp>
      <p:sp>
        <p:nvSpPr>
          <p:cNvPr id="35" name="Text 33"/>
          <p:cNvSpPr/>
          <p:nvPr/>
        </p:nvSpPr>
        <p:spPr>
          <a:xfrm>
            <a:off x="11292840" y="2034540"/>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a:t>
            </a:r>
            <a:endParaRPr lang="en-US" sz="840" dirty="0"/>
          </a:p>
        </p:txBody>
      </p:sp>
      <p:sp>
        <p:nvSpPr>
          <p:cNvPr id="36" name="Shape 34"/>
          <p:cNvSpPr/>
          <p:nvPr/>
        </p:nvSpPr>
        <p:spPr>
          <a:xfrm>
            <a:off x="457200" y="2240280"/>
            <a:ext cx="11274552" cy="18288"/>
          </a:xfrm>
          <a:prstGeom prst="rect">
            <a:avLst/>
          </a:prstGeom>
          <a:solidFill>
            <a:srgbClr val="DCE3EE"/>
          </a:solidFill>
          <a:ln/>
        </p:spPr>
      </p:sp>
      <p:sp>
        <p:nvSpPr>
          <p:cNvPr id="37" name="Text 35"/>
          <p:cNvSpPr/>
          <p:nvPr/>
        </p:nvSpPr>
        <p:spPr>
          <a:xfrm>
            <a:off x="658368" y="2249424"/>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Forging</a:t>
            </a:r>
            <a:endParaRPr lang="en-US" sz="860" dirty="0"/>
          </a:p>
        </p:txBody>
      </p:sp>
      <p:sp>
        <p:nvSpPr>
          <p:cNvPr id="38" name="Text 36"/>
          <p:cNvSpPr/>
          <p:nvPr/>
        </p:nvSpPr>
        <p:spPr>
          <a:xfrm>
            <a:off x="2212848" y="2249424"/>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Low material utilisation</a:t>
            </a:r>
            <a:endParaRPr lang="en-US" sz="860" dirty="0"/>
          </a:p>
        </p:txBody>
      </p:sp>
      <p:sp>
        <p:nvSpPr>
          <p:cNvPr id="39" name="Text 37"/>
          <p:cNvSpPr/>
          <p:nvPr/>
        </p:nvSpPr>
        <p:spPr>
          <a:xfrm>
            <a:off x="5029200" y="2249424"/>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840" dirty="0"/>
          </a:p>
        </p:txBody>
      </p:sp>
      <p:sp>
        <p:nvSpPr>
          <p:cNvPr id="40" name="Text 38"/>
          <p:cNvSpPr/>
          <p:nvPr/>
        </p:nvSpPr>
        <p:spPr>
          <a:xfrm>
            <a:off x="10058400" y="2249424"/>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41" name="Text 39"/>
          <p:cNvSpPr/>
          <p:nvPr/>
        </p:nvSpPr>
        <p:spPr>
          <a:xfrm>
            <a:off x="11292840" y="2249424"/>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8%</a:t>
            </a:r>
            <a:endParaRPr lang="en-US" sz="840" dirty="0"/>
          </a:p>
        </p:txBody>
      </p:sp>
      <p:sp>
        <p:nvSpPr>
          <p:cNvPr id="42" name="Shape 40"/>
          <p:cNvSpPr/>
          <p:nvPr/>
        </p:nvSpPr>
        <p:spPr>
          <a:xfrm>
            <a:off x="457200" y="2459736"/>
            <a:ext cx="11274552" cy="205740"/>
          </a:xfrm>
          <a:prstGeom prst="rect">
            <a:avLst/>
          </a:prstGeom>
          <a:solidFill>
            <a:srgbClr val="FFFFFF"/>
          </a:solidFill>
          <a:ln/>
        </p:spPr>
      </p:sp>
      <p:sp>
        <p:nvSpPr>
          <p:cNvPr id="43" name="Text 41"/>
          <p:cNvSpPr/>
          <p:nvPr/>
        </p:nvSpPr>
        <p:spPr>
          <a:xfrm>
            <a:off x="658368" y="2464308"/>
            <a:ext cx="1508760" cy="201168"/>
          </a:xfrm>
          <a:prstGeom prst="rect">
            <a:avLst/>
          </a:prstGeom>
          <a:noFill/>
          <a:ln/>
        </p:spPr>
        <p:txBody>
          <a:bodyPr wrap="square" lIns="0" tIns="0" rIns="0" bIns="0" rtlCol="0" anchor="ctr"/>
          <a:lstStyle/>
          <a:p>
            <a:pPr indent="0" marL="0">
              <a:buNone/>
            </a:pPr>
            <a:endParaRPr lang="en-US" sz="860" dirty="0"/>
          </a:p>
        </p:txBody>
      </p:sp>
      <p:sp>
        <p:nvSpPr>
          <p:cNvPr id="44" name="Text 42"/>
          <p:cNvSpPr/>
          <p:nvPr/>
        </p:nvSpPr>
        <p:spPr>
          <a:xfrm>
            <a:off x="2212848" y="2464308"/>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Die cost high</a:t>
            </a:r>
            <a:endParaRPr lang="en-US" sz="860" dirty="0"/>
          </a:p>
        </p:txBody>
      </p:sp>
      <p:sp>
        <p:nvSpPr>
          <p:cNvPr id="45" name="Text 43"/>
          <p:cNvSpPr/>
          <p:nvPr/>
        </p:nvSpPr>
        <p:spPr>
          <a:xfrm>
            <a:off x="5029200" y="2464308"/>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840" dirty="0"/>
          </a:p>
        </p:txBody>
      </p:sp>
      <p:sp>
        <p:nvSpPr>
          <p:cNvPr id="46" name="Text 44"/>
          <p:cNvSpPr/>
          <p:nvPr/>
        </p:nvSpPr>
        <p:spPr>
          <a:xfrm>
            <a:off x="10058400" y="2464308"/>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47" name="Text 45"/>
          <p:cNvSpPr/>
          <p:nvPr/>
        </p:nvSpPr>
        <p:spPr>
          <a:xfrm>
            <a:off x="11292840" y="2464308"/>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7%</a:t>
            </a:r>
            <a:endParaRPr lang="en-US" sz="840" dirty="0"/>
          </a:p>
        </p:txBody>
      </p:sp>
      <p:sp>
        <p:nvSpPr>
          <p:cNvPr id="48" name="Shape 46"/>
          <p:cNvSpPr/>
          <p:nvPr/>
        </p:nvSpPr>
        <p:spPr>
          <a:xfrm>
            <a:off x="457200" y="2670048"/>
            <a:ext cx="11274552" cy="18288"/>
          </a:xfrm>
          <a:prstGeom prst="rect">
            <a:avLst/>
          </a:prstGeom>
          <a:solidFill>
            <a:srgbClr val="DCE3EE"/>
          </a:solidFill>
          <a:ln/>
        </p:spPr>
      </p:sp>
      <p:sp>
        <p:nvSpPr>
          <p:cNvPr id="49" name="Text 47"/>
          <p:cNvSpPr/>
          <p:nvPr/>
        </p:nvSpPr>
        <p:spPr>
          <a:xfrm>
            <a:off x="658368" y="2679192"/>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Sheet metal</a:t>
            </a:r>
            <a:endParaRPr lang="en-US" sz="860" dirty="0"/>
          </a:p>
        </p:txBody>
      </p:sp>
      <p:sp>
        <p:nvSpPr>
          <p:cNvPr id="50" name="Text 48"/>
          <p:cNvSpPr/>
          <p:nvPr/>
        </p:nvSpPr>
        <p:spPr>
          <a:xfrm>
            <a:off x="2212848" y="2679192"/>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Poor blank nesting</a:t>
            </a:r>
            <a:endParaRPr lang="en-US" sz="860" dirty="0"/>
          </a:p>
        </p:txBody>
      </p:sp>
      <p:sp>
        <p:nvSpPr>
          <p:cNvPr id="51" name="Text 49"/>
          <p:cNvSpPr/>
          <p:nvPr/>
        </p:nvSpPr>
        <p:spPr>
          <a:xfrm>
            <a:off x="5029200" y="2679192"/>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840" dirty="0"/>
          </a:p>
        </p:txBody>
      </p:sp>
      <p:sp>
        <p:nvSpPr>
          <p:cNvPr id="52" name="Text 50"/>
          <p:cNvSpPr/>
          <p:nvPr/>
        </p:nvSpPr>
        <p:spPr>
          <a:xfrm>
            <a:off x="10058400" y="2679192"/>
            <a:ext cx="1188720" cy="201168"/>
          </a:xfrm>
          <a:prstGeom prst="rect">
            <a:avLst/>
          </a:prstGeom>
          <a:noFill/>
          <a:ln/>
        </p:spPr>
        <p:txBody>
          <a:bodyPr wrap="square" lIns="0" tIns="0" rIns="0" bIns="0" rtlCol="0" anchor="ctr"/>
          <a:lstStyle/>
          <a:p>
            <a:pPr indent="0" marL="0">
              <a:buNone/>
            </a:pPr>
            <a:r>
              <a:rPr lang="en-US" sz="840" b="1" dirty="0">
                <a:solidFill>
                  <a:srgbClr val="B03A2E"/>
                </a:solidFill>
                <a:latin typeface="Calibri" pitchFamily="34" charset="0"/>
                <a:ea typeface="Calibri" pitchFamily="34" charset="-122"/>
                <a:cs typeface="Calibri" pitchFamily="34" charset="-120"/>
              </a:rPr>
              <a:t>Critical</a:t>
            </a:r>
            <a:endParaRPr lang="en-US" sz="840" dirty="0"/>
          </a:p>
        </p:txBody>
      </p:sp>
      <p:sp>
        <p:nvSpPr>
          <p:cNvPr id="53" name="Text 51"/>
          <p:cNvSpPr/>
          <p:nvPr/>
        </p:nvSpPr>
        <p:spPr>
          <a:xfrm>
            <a:off x="11292840" y="2679192"/>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15%</a:t>
            </a:r>
            <a:endParaRPr lang="en-US" sz="840" dirty="0"/>
          </a:p>
        </p:txBody>
      </p:sp>
      <p:sp>
        <p:nvSpPr>
          <p:cNvPr id="54" name="Shape 52"/>
          <p:cNvSpPr/>
          <p:nvPr/>
        </p:nvSpPr>
        <p:spPr>
          <a:xfrm>
            <a:off x="457200" y="2889504"/>
            <a:ext cx="11274552" cy="205740"/>
          </a:xfrm>
          <a:prstGeom prst="rect">
            <a:avLst/>
          </a:prstGeom>
          <a:solidFill>
            <a:srgbClr val="FFFFFF"/>
          </a:solidFill>
          <a:ln/>
        </p:spPr>
      </p:sp>
      <p:sp>
        <p:nvSpPr>
          <p:cNvPr id="55" name="Text 53"/>
          <p:cNvSpPr/>
          <p:nvPr/>
        </p:nvSpPr>
        <p:spPr>
          <a:xfrm>
            <a:off x="658368" y="2894076"/>
            <a:ext cx="1508760" cy="201168"/>
          </a:xfrm>
          <a:prstGeom prst="rect">
            <a:avLst/>
          </a:prstGeom>
          <a:noFill/>
          <a:ln/>
        </p:spPr>
        <p:txBody>
          <a:bodyPr wrap="square" lIns="0" tIns="0" rIns="0" bIns="0" rtlCol="0" anchor="ctr"/>
          <a:lstStyle/>
          <a:p>
            <a:pPr indent="0" marL="0">
              <a:buNone/>
            </a:pPr>
            <a:endParaRPr lang="en-US" sz="860" dirty="0"/>
          </a:p>
        </p:txBody>
      </p:sp>
      <p:sp>
        <p:nvSpPr>
          <p:cNvPr id="56" name="Text 54"/>
          <p:cNvSpPr/>
          <p:nvPr/>
        </p:nvSpPr>
        <p:spPr>
          <a:xfrm>
            <a:off x="2212848" y="2894076"/>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Too many forming stages</a:t>
            </a:r>
            <a:endParaRPr lang="en-US" sz="860" dirty="0"/>
          </a:p>
        </p:txBody>
      </p:sp>
      <p:sp>
        <p:nvSpPr>
          <p:cNvPr id="57" name="Text 55"/>
          <p:cNvSpPr/>
          <p:nvPr/>
        </p:nvSpPr>
        <p:spPr>
          <a:xfrm>
            <a:off x="5029200" y="2894076"/>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840" dirty="0"/>
          </a:p>
        </p:txBody>
      </p:sp>
      <p:sp>
        <p:nvSpPr>
          <p:cNvPr id="58" name="Text 56"/>
          <p:cNvSpPr/>
          <p:nvPr/>
        </p:nvSpPr>
        <p:spPr>
          <a:xfrm>
            <a:off x="10058400" y="2894076"/>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59" name="Text 57"/>
          <p:cNvSpPr/>
          <p:nvPr/>
        </p:nvSpPr>
        <p:spPr>
          <a:xfrm>
            <a:off x="11292840" y="2894076"/>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8%</a:t>
            </a:r>
            <a:endParaRPr lang="en-US" sz="840" dirty="0"/>
          </a:p>
        </p:txBody>
      </p:sp>
      <p:sp>
        <p:nvSpPr>
          <p:cNvPr id="60" name="Text 58"/>
          <p:cNvSpPr/>
          <p:nvPr/>
        </p:nvSpPr>
        <p:spPr>
          <a:xfrm>
            <a:off x="658368" y="3108960"/>
            <a:ext cx="1508760" cy="201168"/>
          </a:xfrm>
          <a:prstGeom prst="rect">
            <a:avLst/>
          </a:prstGeom>
          <a:noFill/>
          <a:ln/>
        </p:spPr>
        <p:txBody>
          <a:bodyPr wrap="square" lIns="0" tIns="0" rIns="0" bIns="0" rtlCol="0" anchor="ctr"/>
          <a:lstStyle/>
          <a:p>
            <a:pPr indent="0" marL="0">
              <a:buNone/>
            </a:pPr>
            <a:endParaRPr lang="en-US" sz="860" dirty="0"/>
          </a:p>
        </p:txBody>
      </p:sp>
      <p:sp>
        <p:nvSpPr>
          <p:cNvPr id="61" name="Text 59"/>
          <p:cNvSpPr/>
          <p:nvPr/>
        </p:nvSpPr>
        <p:spPr>
          <a:xfrm>
            <a:off x="2212848" y="3108960"/>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Seam-welding distortion risk</a:t>
            </a:r>
            <a:endParaRPr lang="en-US" sz="860" dirty="0"/>
          </a:p>
        </p:txBody>
      </p:sp>
      <p:sp>
        <p:nvSpPr>
          <p:cNvPr id="62" name="Text 60"/>
          <p:cNvSpPr/>
          <p:nvPr/>
        </p:nvSpPr>
        <p:spPr>
          <a:xfrm>
            <a:off x="5029200" y="3108960"/>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840" dirty="0"/>
          </a:p>
        </p:txBody>
      </p:sp>
      <p:sp>
        <p:nvSpPr>
          <p:cNvPr id="63" name="Text 61"/>
          <p:cNvSpPr/>
          <p:nvPr/>
        </p:nvSpPr>
        <p:spPr>
          <a:xfrm>
            <a:off x="10058400" y="3108960"/>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64" name="Text 62"/>
          <p:cNvSpPr/>
          <p:nvPr/>
        </p:nvSpPr>
        <p:spPr>
          <a:xfrm>
            <a:off x="11292840" y="3108960"/>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6%</a:t>
            </a:r>
            <a:endParaRPr lang="en-US" sz="840" dirty="0"/>
          </a:p>
        </p:txBody>
      </p:sp>
      <p:sp>
        <p:nvSpPr>
          <p:cNvPr id="65" name="Shape 63"/>
          <p:cNvSpPr/>
          <p:nvPr/>
        </p:nvSpPr>
        <p:spPr>
          <a:xfrm>
            <a:off x="457200" y="3319272"/>
            <a:ext cx="11274552" cy="205740"/>
          </a:xfrm>
          <a:prstGeom prst="rect">
            <a:avLst/>
          </a:prstGeom>
          <a:solidFill>
            <a:srgbClr val="FFFFFF"/>
          </a:solidFill>
          <a:ln/>
        </p:spPr>
      </p:sp>
      <p:sp>
        <p:nvSpPr>
          <p:cNvPr id="66" name="Text 64"/>
          <p:cNvSpPr/>
          <p:nvPr/>
        </p:nvSpPr>
        <p:spPr>
          <a:xfrm>
            <a:off x="658368" y="3323844"/>
            <a:ext cx="1508760" cy="201168"/>
          </a:xfrm>
          <a:prstGeom prst="rect">
            <a:avLst/>
          </a:prstGeom>
          <a:noFill/>
          <a:ln/>
        </p:spPr>
        <p:txBody>
          <a:bodyPr wrap="square" lIns="0" tIns="0" rIns="0" bIns="0" rtlCol="0" anchor="ctr"/>
          <a:lstStyle/>
          <a:p>
            <a:pPr indent="0" marL="0">
              <a:buNone/>
            </a:pPr>
            <a:endParaRPr lang="en-US" sz="860" dirty="0"/>
          </a:p>
        </p:txBody>
      </p:sp>
      <p:sp>
        <p:nvSpPr>
          <p:cNvPr id="67" name="Text 65"/>
          <p:cNvSpPr/>
          <p:nvPr/>
        </p:nvSpPr>
        <p:spPr>
          <a:xfrm>
            <a:off x="2212848" y="3323844"/>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Tooling-dominated cost</a:t>
            </a:r>
            <a:endParaRPr lang="en-US" sz="860" dirty="0"/>
          </a:p>
        </p:txBody>
      </p:sp>
      <p:sp>
        <p:nvSpPr>
          <p:cNvPr id="68" name="Text 66"/>
          <p:cNvSpPr/>
          <p:nvPr/>
        </p:nvSpPr>
        <p:spPr>
          <a:xfrm>
            <a:off x="5029200" y="3323844"/>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840" dirty="0"/>
          </a:p>
        </p:txBody>
      </p:sp>
      <p:sp>
        <p:nvSpPr>
          <p:cNvPr id="69" name="Text 67"/>
          <p:cNvSpPr/>
          <p:nvPr/>
        </p:nvSpPr>
        <p:spPr>
          <a:xfrm>
            <a:off x="10058400" y="3323844"/>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70" name="Text 68"/>
          <p:cNvSpPr/>
          <p:nvPr/>
        </p:nvSpPr>
        <p:spPr>
          <a:xfrm>
            <a:off x="11292840" y="3323844"/>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10%</a:t>
            </a:r>
            <a:endParaRPr lang="en-US" sz="840" dirty="0"/>
          </a:p>
        </p:txBody>
      </p:sp>
      <p:sp>
        <p:nvSpPr>
          <p:cNvPr id="71" name="Shape 69"/>
          <p:cNvSpPr/>
          <p:nvPr/>
        </p:nvSpPr>
        <p:spPr>
          <a:xfrm>
            <a:off x="457200" y="3529584"/>
            <a:ext cx="11274552" cy="18288"/>
          </a:xfrm>
          <a:prstGeom prst="rect">
            <a:avLst/>
          </a:prstGeom>
          <a:solidFill>
            <a:srgbClr val="DCE3EE"/>
          </a:solidFill>
          <a:ln/>
        </p:spPr>
      </p:sp>
      <p:sp>
        <p:nvSpPr>
          <p:cNvPr id="72" name="Text 70"/>
          <p:cNvSpPr/>
          <p:nvPr/>
        </p:nvSpPr>
        <p:spPr>
          <a:xfrm>
            <a:off x="658368" y="3538728"/>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Moulding family</a:t>
            </a:r>
            <a:endParaRPr lang="en-US" sz="860" dirty="0"/>
          </a:p>
        </p:txBody>
      </p:sp>
      <p:sp>
        <p:nvSpPr>
          <p:cNvPr id="73" name="Text 71"/>
          <p:cNvSpPr/>
          <p:nvPr/>
        </p:nvSpPr>
        <p:spPr>
          <a:xfrm>
            <a:off x="2212848" y="3538728"/>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Mould cost very high</a:t>
            </a:r>
            <a:endParaRPr lang="en-US" sz="860" dirty="0"/>
          </a:p>
        </p:txBody>
      </p:sp>
      <p:sp>
        <p:nvSpPr>
          <p:cNvPr id="74" name="Text 72"/>
          <p:cNvSpPr/>
          <p:nvPr/>
        </p:nvSpPr>
        <p:spPr>
          <a:xfrm>
            <a:off x="5029200" y="3538728"/>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840" dirty="0"/>
          </a:p>
        </p:txBody>
      </p:sp>
      <p:sp>
        <p:nvSpPr>
          <p:cNvPr id="75" name="Text 73"/>
          <p:cNvSpPr/>
          <p:nvPr/>
        </p:nvSpPr>
        <p:spPr>
          <a:xfrm>
            <a:off x="10058400" y="3538728"/>
            <a:ext cx="1188720" cy="201168"/>
          </a:xfrm>
          <a:prstGeom prst="rect">
            <a:avLst/>
          </a:prstGeom>
          <a:noFill/>
          <a:ln/>
        </p:spPr>
        <p:txBody>
          <a:bodyPr wrap="square" lIns="0" tIns="0" rIns="0" bIns="0" rtlCol="0" anchor="ctr"/>
          <a:lstStyle/>
          <a:p>
            <a:pPr indent="0" marL="0">
              <a:buNone/>
            </a:pPr>
            <a:r>
              <a:rPr lang="en-US" sz="840" b="1" dirty="0">
                <a:solidFill>
                  <a:srgbClr val="B03A2E"/>
                </a:solidFill>
                <a:latin typeface="Calibri" pitchFamily="34" charset="0"/>
                <a:ea typeface="Calibri" pitchFamily="34" charset="-122"/>
                <a:cs typeface="Calibri" pitchFamily="34" charset="-120"/>
              </a:rPr>
              <a:t>Critical</a:t>
            </a:r>
            <a:endParaRPr lang="en-US" sz="840" dirty="0"/>
          </a:p>
        </p:txBody>
      </p:sp>
      <p:sp>
        <p:nvSpPr>
          <p:cNvPr id="76" name="Text 74"/>
          <p:cNvSpPr/>
          <p:nvPr/>
        </p:nvSpPr>
        <p:spPr>
          <a:xfrm>
            <a:off x="11292840" y="3538728"/>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12%</a:t>
            </a:r>
            <a:endParaRPr lang="en-US" sz="840" dirty="0"/>
          </a:p>
        </p:txBody>
      </p:sp>
      <p:sp>
        <p:nvSpPr>
          <p:cNvPr id="77" name="Shape 75"/>
          <p:cNvSpPr/>
          <p:nvPr/>
        </p:nvSpPr>
        <p:spPr>
          <a:xfrm>
            <a:off x="457200" y="3749040"/>
            <a:ext cx="11274552" cy="205740"/>
          </a:xfrm>
          <a:prstGeom prst="rect">
            <a:avLst/>
          </a:prstGeom>
          <a:solidFill>
            <a:srgbClr val="FFFFFF"/>
          </a:solidFill>
          <a:ln/>
        </p:spPr>
      </p:sp>
      <p:sp>
        <p:nvSpPr>
          <p:cNvPr id="78" name="Text 76"/>
          <p:cNvSpPr/>
          <p:nvPr/>
        </p:nvSpPr>
        <p:spPr>
          <a:xfrm>
            <a:off x="658368" y="3753612"/>
            <a:ext cx="1508760" cy="201168"/>
          </a:xfrm>
          <a:prstGeom prst="rect">
            <a:avLst/>
          </a:prstGeom>
          <a:noFill/>
          <a:ln/>
        </p:spPr>
        <p:txBody>
          <a:bodyPr wrap="square" lIns="0" tIns="0" rIns="0" bIns="0" rtlCol="0" anchor="ctr"/>
          <a:lstStyle/>
          <a:p>
            <a:pPr indent="0" marL="0">
              <a:buNone/>
            </a:pPr>
            <a:endParaRPr lang="en-US" sz="860" dirty="0"/>
          </a:p>
        </p:txBody>
      </p:sp>
      <p:sp>
        <p:nvSpPr>
          <p:cNvPr id="79" name="Text 77"/>
          <p:cNvSpPr/>
          <p:nvPr/>
        </p:nvSpPr>
        <p:spPr>
          <a:xfrm>
            <a:off x="2212848" y="3753612"/>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Runner and sprue waste</a:t>
            </a:r>
            <a:endParaRPr lang="en-US" sz="860" dirty="0"/>
          </a:p>
        </p:txBody>
      </p:sp>
      <p:sp>
        <p:nvSpPr>
          <p:cNvPr id="80" name="Text 78"/>
          <p:cNvSpPr/>
          <p:nvPr/>
        </p:nvSpPr>
        <p:spPr>
          <a:xfrm>
            <a:off x="5029200" y="3753612"/>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840" dirty="0"/>
          </a:p>
        </p:txBody>
      </p:sp>
      <p:sp>
        <p:nvSpPr>
          <p:cNvPr id="81" name="Text 79"/>
          <p:cNvSpPr/>
          <p:nvPr/>
        </p:nvSpPr>
        <p:spPr>
          <a:xfrm>
            <a:off x="10058400" y="3753612"/>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82" name="Text 80"/>
          <p:cNvSpPr/>
          <p:nvPr/>
        </p:nvSpPr>
        <p:spPr>
          <a:xfrm>
            <a:off x="11292840" y="3753612"/>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6%</a:t>
            </a:r>
            <a:endParaRPr lang="en-US" sz="840" dirty="0"/>
          </a:p>
        </p:txBody>
      </p:sp>
      <p:sp>
        <p:nvSpPr>
          <p:cNvPr id="83" name="Shape 81"/>
          <p:cNvSpPr/>
          <p:nvPr/>
        </p:nvSpPr>
        <p:spPr>
          <a:xfrm>
            <a:off x="457200" y="3959352"/>
            <a:ext cx="11274552" cy="18288"/>
          </a:xfrm>
          <a:prstGeom prst="rect">
            <a:avLst/>
          </a:prstGeom>
          <a:solidFill>
            <a:srgbClr val="DCE3EE"/>
          </a:solidFill>
          <a:ln/>
        </p:spPr>
      </p:sp>
      <p:sp>
        <p:nvSpPr>
          <p:cNvPr id="84" name="Text 82"/>
          <p:cNvSpPr/>
          <p:nvPr/>
        </p:nvSpPr>
        <p:spPr>
          <a:xfrm>
            <a:off x="658368" y="3968496"/>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PCB fabrication</a:t>
            </a:r>
            <a:endParaRPr lang="en-US" sz="860" dirty="0"/>
          </a:p>
        </p:txBody>
      </p:sp>
      <p:sp>
        <p:nvSpPr>
          <p:cNvPr id="85" name="Text 83"/>
          <p:cNvSpPr/>
          <p:nvPr/>
        </p:nvSpPr>
        <p:spPr>
          <a:xfrm>
            <a:off x="2212848" y="3968496"/>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Complexity-driven process cost</a:t>
            </a:r>
            <a:endParaRPr lang="en-US" sz="860" dirty="0"/>
          </a:p>
        </p:txBody>
      </p:sp>
      <p:sp>
        <p:nvSpPr>
          <p:cNvPr id="86" name="Text 84"/>
          <p:cNvSpPr/>
          <p:nvPr/>
        </p:nvSpPr>
        <p:spPr>
          <a:xfrm>
            <a:off x="5029200" y="3968496"/>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840" dirty="0"/>
          </a:p>
        </p:txBody>
      </p:sp>
      <p:sp>
        <p:nvSpPr>
          <p:cNvPr id="87" name="Text 85"/>
          <p:cNvSpPr/>
          <p:nvPr/>
        </p:nvSpPr>
        <p:spPr>
          <a:xfrm>
            <a:off x="10058400" y="3968496"/>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88" name="Text 86"/>
          <p:cNvSpPr/>
          <p:nvPr/>
        </p:nvSpPr>
        <p:spPr>
          <a:xfrm>
            <a:off x="11292840" y="3968496"/>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10%</a:t>
            </a:r>
            <a:endParaRPr lang="en-US" sz="840" dirty="0"/>
          </a:p>
        </p:txBody>
      </p:sp>
      <p:sp>
        <p:nvSpPr>
          <p:cNvPr id="89" name="Shape 87"/>
          <p:cNvSpPr/>
          <p:nvPr/>
        </p:nvSpPr>
        <p:spPr>
          <a:xfrm>
            <a:off x="457200" y="4178808"/>
            <a:ext cx="11274552" cy="205740"/>
          </a:xfrm>
          <a:prstGeom prst="rect">
            <a:avLst/>
          </a:prstGeom>
          <a:solidFill>
            <a:srgbClr val="FFFFFF"/>
          </a:solidFill>
          <a:ln/>
        </p:spPr>
      </p:sp>
      <p:sp>
        <p:nvSpPr>
          <p:cNvPr id="90" name="Text 88"/>
          <p:cNvSpPr/>
          <p:nvPr/>
        </p:nvSpPr>
        <p:spPr>
          <a:xfrm>
            <a:off x="658368" y="4183380"/>
            <a:ext cx="1508760" cy="201168"/>
          </a:xfrm>
          <a:prstGeom prst="rect">
            <a:avLst/>
          </a:prstGeom>
          <a:noFill/>
          <a:ln/>
        </p:spPr>
        <p:txBody>
          <a:bodyPr wrap="square" lIns="0" tIns="0" rIns="0" bIns="0" rtlCol="0" anchor="ctr"/>
          <a:lstStyle/>
          <a:p>
            <a:pPr indent="0" marL="0">
              <a:buNone/>
            </a:pPr>
            <a:endParaRPr lang="en-US" sz="860" dirty="0"/>
          </a:p>
        </p:txBody>
      </p:sp>
      <p:sp>
        <p:nvSpPr>
          <p:cNvPr id="91" name="Text 89"/>
          <p:cNvSpPr/>
          <p:nvPr/>
        </p:nvSpPr>
        <p:spPr>
          <a:xfrm>
            <a:off x="2212848" y="4183380"/>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NRE heavy per board</a:t>
            </a:r>
            <a:endParaRPr lang="en-US" sz="860" dirty="0"/>
          </a:p>
        </p:txBody>
      </p:sp>
      <p:sp>
        <p:nvSpPr>
          <p:cNvPr id="92" name="Text 90"/>
          <p:cNvSpPr/>
          <p:nvPr/>
        </p:nvSpPr>
        <p:spPr>
          <a:xfrm>
            <a:off x="5029200" y="4183380"/>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Set-up over 10% of board cost — panelise or raise the batch</a:t>
            </a:r>
            <a:endParaRPr lang="en-US" sz="840" dirty="0"/>
          </a:p>
        </p:txBody>
      </p:sp>
      <p:sp>
        <p:nvSpPr>
          <p:cNvPr id="93" name="Text 91"/>
          <p:cNvSpPr/>
          <p:nvPr/>
        </p:nvSpPr>
        <p:spPr>
          <a:xfrm>
            <a:off x="10058400" y="4183380"/>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94" name="Text 92"/>
          <p:cNvSpPr/>
          <p:nvPr/>
        </p:nvSpPr>
        <p:spPr>
          <a:xfrm>
            <a:off x="11292840" y="4183380"/>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8%</a:t>
            </a:r>
            <a:endParaRPr lang="en-US" sz="840" dirty="0"/>
          </a:p>
        </p:txBody>
      </p:sp>
      <p:sp>
        <p:nvSpPr>
          <p:cNvPr id="95" name="Shape 93"/>
          <p:cNvSpPr/>
          <p:nvPr/>
        </p:nvSpPr>
        <p:spPr>
          <a:xfrm>
            <a:off x="457200" y="4389120"/>
            <a:ext cx="11274552" cy="18288"/>
          </a:xfrm>
          <a:prstGeom prst="rect">
            <a:avLst/>
          </a:prstGeom>
          <a:solidFill>
            <a:srgbClr val="DCE3EE"/>
          </a:solidFill>
          <a:ln/>
        </p:spPr>
      </p:sp>
      <p:sp>
        <p:nvSpPr>
          <p:cNvPr id="96" name="Text 94"/>
          <p:cNvSpPr/>
          <p:nvPr/>
        </p:nvSpPr>
        <p:spPr>
          <a:xfrm>
            <a:off x="658368" y="4398264"/>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PCB assembly</a:t>
            </a:r>
            <a:endParaRPr lang="en-US" sz="860" dirty="0"/>
          </a:p>
        </p:txBody>
      </p:sp>
      <p:sp>
        <p:nvSpPr>
          <p:cNvPr id="97" name="Text 95"/>
          <p:cNvSpPr/>
          <p:nvPr/>
        </p:nvSpPr>
        <p:spPr>
          <a:xfrm>
            <a:off x="2212848" y="4398264"/>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High labour content</a:t>
            </a:r>
            <a:endParaRPr lang="en-US" sz="860" dirty="0"/>
          </a:p>
        </p:txBody>
      </p:sp>
      <p:sp>
        <p:nvSpPr>
          <p:cNvPr id="98" name="Text 96"/>
          <p:cNvSpPr/>
          <p:nvPr/>
        </p:nvSpPr>
        <p:spPr>
          <a:xfrm>
            <a:off x="5029200" y="4398264"/>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840" dirty="0"/>
          </a:p>
        </p:txBody>
      </p:sp>
      <p:sp>
        <p:nvSpPr>
          <p:cNvPr id="99" name="Text 97"/>
          <p:cNvSpPr/>
          <p:nvPr/>
        </p:nvSpPr>
        <p:spPr>
          <a:xfrm>
            <a:off x="10058400" y="4398264"/>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100" name="Text 98"/>
          <p:cNvSpPr/>
          <p:nvPr/>
        </p:nvSpPr>
        <p:spPr>
          <a:xfrm>
            <a:off x="11292840" y="4398264"/>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12%</a:t>
            </a:r>
            <a:endParaRPr lang="en-US" sz="840" dirty="0"/>
          </a:p>
        </p:txBody>
      </p:sp>
      <p:sp>
        <p:nvSpPr>
          <p:cNvPr id="101" name="Shape 99"/>
          <p:cNvSpPr/>
          <p:nvPr/>
        </p:nvSpPr>
        <p:spPr>
          <a:xfrm>
            <a:off x="457200" y="4608576"/>
            <a:ext cx="11274552" cy="205740"/>
          </a:xfrm>
          <a:prstGeom prst="rect">
            <a:avLst/>
          </a:prstGeom>
          <a:solidFill>
            <a:srgbClr val="FFFFFF"/>
          </a:solidFill>
          <a:ln/>
        </p:spPr>
      </p:sp>
      <p:sp>
        <p:nvSpPr>
          <p:cNvPr id="102" name="Text 100"/>
          <p:cNvSpPr/>
          <p:nvPr/>
        </p:nvSpPr>
        <p:spPr>
          <a:xfrm>
            <a:off x="658368" y="4613148"/>
            <a:ext cx="1508760" cy="201168"/>
          </a:xfrm>
          <a:prstGeom prst="rect">
            <a:avLst/>
          </a:prstGeom>
          <a:noFill/>
          <a:ln/>
        </p:spPr>
        <p:txBody>
          <a:bodyPr wrap="square" lIns="0" tIns="0" rIns="0" bIns="0" rtlCol="0" anchor="ctr"/>
          <a:lstStyle/>
          <a:p>
            <a:pPr indent="0" marL="0">
              <a:buNone/>
            </a:pPr>
            <a:endParaRPr lang="en-US" sz="860" dirty="0"/>
          </a:p>
        </p:txBody>
      </p:sp>
      <p:sp>
        <p:nvSpPr>
          <p:cNvPr id="103" name="Text 101"/>
          <p:cNvSpPr/>
          <p:nvPr/>
        </p:nvSpPr>
        <p:spPr>
          <a:xfrm>
            <a:off x="2212848" y="4613148"/>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Many assembly stages</a:t>
            </a:r>
            <a:endParaRPr lang="en-US" sz="860" dirty="0"/>
          </a:p>
        </p:txBody>
      </p:sp>
      <p:sp>
        <p:nvSpPr>
          <p:cNvPr id="104" name="Text 102"/>
          <p:cNvSpPr/>
          <p:nvPr/>
        </p:nvSpPr>
        <p:spPr>
          <a:xfrm>
            <a:off x="5029200" y="4613148"/>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840" dirty="0"/>
          </a:p>
        </p:txBody>
      </p:sp>
      <p:sp>
        <p:nvSpPr>
          <p:cNvPr id="105" name="Text 103"/>
          <p:cNvSpPr/>
          <p:nvPr/>
        </p:nvSpPr>
        <p:spPr>
          <a:xfrm>
            <a:off x="10058400" y="4613148"/>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106" name="Text 104"/>
          <p:cNvSpPr/>
          <p:nvPr/>
        </p:nvSpPr>
        <p:spPr>
          <a:xfrm>
            <a:off x="11292840" y="4613148"/>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7%</a:t>
            </a:r>
            <a:endParaRPr lang="en-US" sz="840" dirty="0"/>
          </a:p>
        </p:txBody>
      </p:sp>
      <p:sp>
        <p:nvSpPr>
          <p:cNvPr id="107" name="Shape 105"/>
          <p:cNvSpPr/>
          <p:nvPr/>
        </p:nvSpPr>
        <p:spPr>
          <a:xfrm>
            <a:off x="457200" y="4818888"/>
            <a:ext cx="11274552" cy="18288"/>
          </a:xfrm>
          <a:prstGeom prst="rect">
            <a:avLst/>
          </a:prstGeom>
          <a:solidFill>
            <a:srgbClr val="DCE3EE"/>
          </a:solidFill>
          <a:ln/>
        </p:spPr>
      </p:sp>
      <p:sp>
        <p:nvSpPr>
          <p:cNvPr id="108" name="Text 106"/>
          <p:cNvSpPr/>
          <p:nvPr/>
        </p:nvSpPr>
        <p:spPr>
          <a:xfrm>
            <a:off x="658368" y="4828032"/>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Rubber</a:t>
            </a:r>
            <a:endParaRPr lang="en-US" sz="860" dirty="0"/>
          </a:p>
        </p:txBody>
      </p:sp>
      <p:sp>
        <p:nvSpPr>
          <p:cNvPr id="109" name="Text 107"/>
          <p:cNvSpPr/>
          <p:nvPr/>
        </p:nvSpPr>
        <p:spPr>
          <a:xfrm>
            <a:off x="2212848" y="4828032"/>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Cure cycle dominant</a:t>
            </a:r>
            <a:endParaRPr lang="en-US" sz="860" dirty="0"/>
          </a:p>
        </p:txBody>
      </p:sp>
      <p:sp>
        <p:nvSpPr>
          <p:cNvPr id="110" name="Text 108"/>
          <p:cNvSpPr/>
          <p:nvPr/>
        </p:nvSpPr>
        <p:spPr>
          <a:xfrm>
            <a:off x="5029200" y="4828032"/>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840" dirty="0"/>
          </a:p>
        </p:txBody>
      </p:sp>
      <p:sp>
        <p:nvSpPr>
          <p:cNvPr id="111" name="Text 109"/>
          <p:cNvSpPr/>
          <p:nvPr/>
        </p:nvSpPr>
        <p:spPr>
          <a:xfrm>
            <a:off x="10058400" y="4828032"/>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112" name="Text 110"/>
          <p:cNvSpPr/>
          <p:nvPr/>
        </p:nvSpPr>
        <p:spPr>
          <a:xfrm>
            <a:off x="11292840" y="4828032"/>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8%</a:t>
            </a:r>
            <a:endParaRPr lang="en-US" sz="840" dirty="0"/>
          </a:p>
        </p:txBody>
      </p:sp>
      <p:sp>
        <p:nvSpPr>
          <p:cNvPr id="113" name="Shape 111"/>
          <p:cNvSpPr/>
          <p:nvPr/>
        </p:nvSpPr>
        <p:spPr>
          <a:xfrm>
            <a:off x="457200" y="5033772"/>
            <a:ext cx="11274552" cy="18288"/>
          </a:xfrm>
          <a:prstGeom prst="rect">
            <a:avLst/>
          </a:prstGeom>
          <a:solidFill>
            <a:srgbClr val="DCE3EE"/>
          </a:solidFill>
          <a:ln/>
        </p:spPr>
      </p:sp>
      <p:sp>
        <p:nvSpPr>
          <p:cNvPr id="114" name="Text 112"/>
          <p:cNvSpPr/>
          <p:nvPr/>
        </p:nvSpPr>
        <p:spPr>
          <a:xfrm>
            <a:off x="658368" y="5042916"/>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Composites</a:t>
            </a:r>
            <a:endParaRPr lang="en-US" sz="860" dirty="0"/>
          </a:p>
        </p:txBody>
      </p:sp>
      <p:sp>
        <p:nvSpPr>
          <p:cNvPr id="115" name="Text 113"/>
          <p:cNvSpPr/>
          <p:nvPr/>
        </p:nvSpPr>
        <p:spPr>
          <a:xfrm>
            <a:off x="2212848" y="5042916"/>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Labour-intensive layup</a:t>
            </a:r>
            <a:endParaRPr lang="en-US" sz="860" dirty="0"/>
          </a:p>
        </p:txBody>
      </p:sp>
      <p:sp>
        <p:nvSpPr>
          <p:cNvPr id="116" name="Text 114"/>
          <p:cNvSpPr/>
          <p:nvPr/>
        </p:nvSpPr>
        <p:spPr>
          <a:xfrm>
            <a:off x="5029200" y="5042916"/>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840" dirty="0"/>
          </a:p>
        </p:txBody>
      </p:sp>
      <p:sp>
        <p:nvSpPr>
          <p:cNvPr id="117" name="Text 115"/>
          <p:cNvSpPr/>
          <p:nvPr/>
        </p:nvSpPr>
        <p:spPr>
          <a:xfrm>
            <a:off x="10058400" y="5042916"/>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118" name="Text 116"/>
          <p:cNvSpPr/>
          <p:nvPr/>
        </p:nvSpPr>
        <p:spPr>
          <a:xfrm>
            <a:off x="11292840" y="5042916"/>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15%</a:t>
            </a:r>
            <a:endParaRPr lang="en-US" sz="840" dirty="0"/>
          </a:p>
        </p:txBody>
      </p:sp>
      <p:sp>
        <p:nvSpPr>
          <p:cNvPr id="119" name="Text 117"/>
          <p:cNvSpPr/>
          <p:nvPr/>
        </p:nvSpPr>
        <p:spPr>
          <a:xfrm>
            <a:off x="658368" y="5257800"/>
            <a:ext cx="1508760" cy="201168"/>
          </a:xfrm>
          <a:prstGeom prst="rect">
            <a:avLst/>
          </a:prstGeom>
          <a:noFill/>
          <a:ln/>
        </p:spPr>
        <p:txBody>
          <a:bodyPr wrap="square" lIns="0" tIns="0" rIns="0" bIns="0" rtlCol="0" anchor="ctr"/>
          <a:lstStyle/>
          <a:p>
            <a:pPr indent="0" marL="0">
              <a:buNone/>
            </a:pPr>
            <a:endParaRPr lang="en-US" sz="860" dirty="0"/>
          </a:p>
        </p:txBody>
      </p:sp>
      <p:sp>
        <p:nvSpPr>
          <p:cNvPr id="120" name="Text 118"/>
          <p:cNvSpPr/>
          <p:nvPr/>
        </p:nvSpPr>
        <p:spPr>
          <a:xfrm>
            <a:off x="2212848" y="5257800"/>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Long cure cycle</a:t>
            </a:r>
            <a:endParaRPr lang="en-US" sz="860" dirty="0"/>
          </a:p>
        </p:txBody>
      </p:sp>
      <p:sp>
        <p:nvSpPr>
          <p:cNvPr id="121" name="Text 119"/>
          <p:cNvSpPr/>
          <p:nvPr/>
        </p:nvSpPr>
        <p:spPr>
          <a:xfrm>
            <a:off x="5029200" y="5257800"/>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840" dirty="0"/>
          </a:p>
        </p:txBody>
      </p:sp>
      <p:sp>
        <p:nvSpPr>
          <p:cNvPr id="122" name="Text 120"/>
          <p:cNvSpPr/>
          <p:nvPr/>
        </p:nvSpPr>
        <p:spPr>
          <a:xfrm>
            <a:off x="10058400" y="5257800"/>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123" name="Text 121"/>
          <p:cNvSpPr/>
          <p:nvPr/>
        </p:nvSpPr>
        <p:spPr>
          <a:xfrm>
            <a:off x="11292840" y="5257800"/>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10%</a:t>
            </a:r>
            <a:endParaRPr lang="en-US" sz="840" dirty="0"/>
          </a:p>
        </p:txBody>
      </p:sp>
      <p:sp>
        <p:nvSpPr>
          <p:cNvPr id="124" name="Shape 122"/>
          <p:cNvSpPr/>
          <p:nvPr/>
        </p:nvSpPr>
        <p:spPr>
          <a:xfrm>
            <a:off x="457200" y="5463540"/>
            <a:ext cx="11274552" cy="18288"/>
          </a:xfrm>
          <a:prstGeom prst="rect">
            <a:avLst/>
          </a:prstGeom>
          <a:solidFill>
            <a:srgbClr val="DCE3EE"/>
          </a:solidFill>
          <a:ln/>
        </p:spPr>
      </p:sp>
      <p:sp>
        <p:nvSpPr>
          <p:cNvPr id="125" name="Text 123"/>
          <p:cNvSpPr/>
          <p:nvPr/>
        </p:nvSpPr>
        <p:spPr>
          <a:xfrm>
            <a:off x="658368" y="5472684"/>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Wiring harness</a:t>
            </a:r>
            <a:endParaRPr lang="en-US" sz="860" dirty="0"/>
          </a:p>
        </p:txBody>
      </p:sp>
      <p:sp>
        <p:nvSpPr>
          <p:cNvPr id="126" name="Text 124"/>
          <p:cNvSpPr/>
          <p:nvPr/>
        </p:nvSpPr>
        <p:spPr>
          <a:xfrm>
            <a:off x="2212848" y="5472684"/>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Labour beyond half the cost</a:t>
            </a:r>
            <a:endParaRPr lang="en-US" sz="860" dirty="0"/>
          </a:p>
        </p:txBody>
      </p:sp>
      <p:sp>
        <p:nvSpPr>
          <p:cNvPr id="127" name="Text 125"/>
          <p:cNvSpPr/>
          <p:nvPr/>
        </p:nvSpPr>
        <p:spPr>
          <a:xfrm>
            <a:off x="5029200" y="5472684"/>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840" dirty="0"/>
          </a:p>
        </p:txBody>
      </p:sp>
      <p:sp>
        <p:nvSpPr>
          <p:cNvPr id="128" name="Text 126"/>
          <p:cNvSpPr/>
          <p:nvPr/>
        </p:nvSpPr>
        <p:spPr>
          <a:xfrm>
            <a:off x="10058400" y="5472684"/>
            <a:ext cx="1188720" cy="201168"/>
          </a:xfrm>
          <a:prstGeom prst="rect">
            <a:avLst/>
          </a:prstGeom>
          <a:noFill/>
          <a:ln/>
        </p:spPr>
        <p:txBody>
          <a:bodyPr wrap="square" lIns="0" tIns="0" rIns="0" bIns="0" rtlCol="0" anchor="ctr"/>
          <a:lstStyle/>
          <a:p>
            <a:pPr indent="0" marL="0">
              <a:buNone/>
            </a:pPr>
            <a:r>
              <a:rPr lang="en-US" sz="840" b="1" dirty="0">
                <a:solidFill>
                  <a:srgbClr val="B03A2E"/>
                </a:solidFill>
                <a:latin typeface="Calibri" pitchFamily="34" charset="0"/>
                <a:ea typeface="Calibri" pitchFamily="34" charset="-122"/>
                <a:cs typeface="Calibri" pitchFamily="34" charset="-120"/>
              </a:rPr>
              <a:t>Critical</a:t>
            </a:r>
            <a:endParaRPr lang="en-US" sz="840" dirty="0"/>
          </a:p>
        </p:txBody>
      </p:sp>
      <p:sp>
        <p:nvSpPr>
          <p:cNvPr id="129" name="Text 127"/>
          <p:cNvSpPr/>
          <p:nvPr/>
        </p:nvSpPr>
        <p:spPr>
          <a:xfrm>
            <a:off x="11292840" y="5472684"/>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20%</a:t>
            </a:r>
            <a:endParaRPr lang="en-US" sz="840" dirty="0"/>
          </a:p>
        </p:txBody>
      </p:sp>
      <p:sp>
        <p:nvSpPr>
          <p:cNvPr id="130" name="Text 128"/>
          <p:cNvSpPr/>
          <p:nvPr/>
        </p:nvSpPr>
        <p:spPr>
          <a:xfrm>
            <a:off x="658368" y="5687568"/>
            <a:ext cx="1508760" cy="201168"/>
          </a:xfrm>
          <a:prstGeom prst="rect">
            <a:avLst/>
          </a:prstGeom>
          <a:noFill/>
          <a:ln/>
        </p:spPr>
        <p:txBody>
          <a:bodyPr wrap="square" lIns="0" tIns="0" rIns="0" bIns="0" rtlCol="0" anchor="ctr"/>
          <a:lstStyle/>
          <a:p>
            <a:pPr indent="0" marL="0">
              <a:buNone/>
            </a:pPr>
            <a:endParaRPr lang="en-US" sz="860" dirty="0"/>
          </a:p>
        </p:txBody>
      </p:sp>
      <p:sp>
        <p:nvSpPr>
          <p:cNvPr id="131" name="Text 129"/>
          <p:cNvSpPr/>
          <p:nvPr/>
        </p:nvSpPr>
        <p:spPr>
          <a:xfrm>
            <a:off x="2212848" y="5687568"/>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High-complexity harness</a:t>
            </a:r>
            <a:endParaRPr lang="en-US" sz="860" dirty="0"/>
          </a:p>
        </p:txBody>
      </p:sp>
      <p:sp>
        <p:nvSpPr>
          <p:cNvPr id="132" name="Text 130"/>
          <p:cNvSpPr/>
          <p:nvPr/>
        </p:nvSpPr>
        <p:spPr>
          <a:xfrm>
            <a:off x="5029200" y="5687568"/>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More than 8 operations — branching drives time and defects</a:t>
            </a:r>
            <a:endParaRPr lang="en-US" sz="840" dirty="0"/>
          </a:p>
        </p:txBody>
      </p:sp>
      <p:sp>
        <p:nvSpPr>
          <p:cNvPr id="133" name="Text 131"/>
          <p:cNvSpPr/>
          <p:nvPr/>
        </p:nvSpPr>
        <p:spPr>
          <a:xfrm>
            <a:off x="10058400" y="5687568"/>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134" name="Text 132"/>
          <p:cNvSpPr/>
          <p:nvPr/>
        </p:nvSpPr>
        <p:spPr>
          <a:xfrm>
            <a:off x="11292840" y="5687568"/>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8%</a:t>
            </a:r>
            <a:endParaRPr lang="en-US" sz="840" dirty="0"/>
          </a:p>
        </p:txBody>
      </p:sp>
      <p:sp>
        <p:nvSpPr>
          <p:cNvPr id="135" name="Shape 133"/>
          <p:cNvSpPr/>
          <p:nvPr/>
        </p:nvSpPr>
        <p:spPr>
          <a:xfrm>
            <a:off x="457200" y="5893308"/>
            <a:ext cx="11274552" cy="18288"/>
          </a:xfrm>
          <a:prstGeom prst="rect">
            <a:avLst/>
          </a:prstGeom>
          <a:solidFill>
            <a:srgbClr val="DCE3EE"/>
          </a:solidFill>
          <a:ln/>
        </p:spPr>
      </p:sp>
      <p:sp>
        <p:nvSpPr>
          <p:cNvPr id="136" name="Text 134"/>
          <p:cNvSpPr/>
          <p:nvPr/>
        </p:nvSpPr>
        <p:spPr>
          <a:xfrm>
            <a:off x="658368" y="5902452"/>
            <a:ext cx="1508760" cy="201168"/>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Paint &amp; BIW</a:t>
            </a:r>
            <a:endParaRPr lang="en-US" sz="860" dirty="0"/>
          </a:p>
        </p:txBody>
      </p:sp>
      <p:sp>
        <p:nvSpPr>
          <p:cNvPr id="137" name="Text 135"/>
          <p:cNvSpPr/>
          <p:nvPr/>
        </p:nvSpPr>
        <p:spPr>
          <a:xfrm>
            <a:off x="2212848" y="5902452"/>
            <a:ext cx="2743200" cy="201168"/>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High facility overhead</a:t>
            </a:r>
            <a:endParaRPr lang="en-US" sz="860" dirty="0"/>
          </a:p>
        </p:txBody>
      </p:sp>
      <p:sp>
        <p:nvSpPr>
          <p:cNvPr id="138" name="Text 136"/>
          <p:cNvSpPr/>
          <p:nvPr/>
        </p:nvSpPr>
        <p:spPr>
          <a:xfrm>
            <a:off x="5029200" y="5902452"/>
            <a:ext cx="4937760" cy="201168"/>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Overhead over 20% — paint-shop or BIW burden rate elevated</a:t>
            </a:r>
            <a:endParaRPr lang="en-US" sz="840" dirty="0"/>
          </a:p>
        </p:txBody>
      </p:sp>
      <p:sp>
        <p:nvSpPr>
          <p:cNvPr id="139" name="Text 137"/>
          <p:cNvSpPr/>
          <p:nvPr/>
        </p:nvSpPr>
        <p:spPr>
          <a:xfrm>
            <a:off x="10058400" y="5902452"/>
            <a:ext cx="1188720" cy="201168"/>
          </a:xfrm>
          <a:prstGeom prst="rect">
            <a:avLst/>
          </a:prstGeom>
          <a:noFill/>
          <a:ln/>
        </p:spPr>
        <p:txBody>
          <a:bodyPr wrap="square" lIns="0" tIns="0" rIns="0" bIns="0" rtlCol="0" anchor="ctr"/>
          <a:lstStyle/>
          <a:p>
            <a:pPr indent="0" marL="0">
              <a:buNone/>
            </a:pPr>
            <a:r>
              <a:rPr lang="en-US" sz="840" b="1" dirty="0">
                <a:solidFill>
                  <a:srgbClr val="B7791F"/>
                </a:solidFill>
                <a:latin typeface="Calibri" pitchFamily="34" charset="0"/>
                <a:ea typeface="Calibri" pitchFamily="34" charset="-122"/>
                <a:cs typeface="Calibri" pitchFamily="34" charset="-120"/>
              </a:rPr>
              <a:t>Major</a:t>
            </a:r>
            <a:endParaRPr lang="en-US" sz="840" dirty="0"/>
          </a:p>
        </p:txBody>
      </p:sp>
      <p:sp>
        <p:nvSpPr>
          <p:cNvPr id="140" name="Text 138"/>
          <p:cNvSpPr/>
          <p:nvPr/>
        </p:nvSpPr>
        <p:spPr>
          <a:xfrm>
            <a:off x="11292840" y="5902452"/>
            <a:ext cx="320040" cy="201168"/>
          </a:xfrm>
          <a:prstGeom prst="rect">
            <a:avLst/>
          </a:prstGeom>
          <a:noFill/>
          <a:ln/>
        </p:spPr>
        <p:txBody>
          <a:bodyPr wrap="square" lIns="0" tIns="0" rIns="0" bIns="0" rtlCol="0" anchor="ctr"/>
          <a:lstStyle/>
          <a:p>
            <a:pPr algn="r" indent="0" marL="0">
              <a:buNone/>
            </a:pPr>
            <a:r>
              <a:rPr lang="en-US" sz="840" b="1" dirty="0">
                <a:solidFill>
                  <a:srgbClr val="0E8074"/>
                </a:solidFill>
                <a:latin typeface="Calibri" pitchFamily="34" charset="0"/>
                <a:ea typeface="Calibri" pitchFamily="34" charset="-122"/>
                <a:cs typeface="Calibri" pitchFamily="34" charset="-120"/>
              </a:rPr>
              <a:t>6%</a:t>
            </a:r>
            <a:endParaRPr lang="en-US" sz="840" dirty="0"/>
          </a:p>
        </p:txBody>
      </p:sp>
      <p:sp>
        <p:nvSpPr>
          <p:cNvPr id="141" name="Text 139"/>
          <p:cNvSpPr/>
          <p:nvPr/>
        </p:nvSpPr>
        <p:spPr>
          <a:xfrm>
            <a:off x="457200" y="6272784"/>
            <a:ext cx="11274552" cy="219456"/>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"Moulding family" covers injection, blow moulding and thermoforming. With the 14 universal checks: 36 rules in total — 30 DFM + 6 DFA.</a:t>
            </a:r>
            <a:endParaRPr lang="en-US" sz="850" dirty="0"/>
          </a:p>
        </p:txBody>
      </p:sp>
      <p:sp>
        <p:nvSpPr>
          <p:cNvPr id="142" name="Text 1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43" name="Text 1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36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 The 10 Optimisation Levers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findings become an action list: each lever has a trigger, a saving, a risk and a timeframe</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2461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LEVER</a:t>
            </a:r>
            <a:endParaRPr lang="en-US" sz="800" dirty="0"/>
          </a:p>
        </p:txBody>
      </p:sp>
      <p:sp>
        <p:nvSpPr>
          <p:cNvPr id="8" name="Text 6"/>
          <p:cNvSpPr/>
          <p:nvPr/>
        </p:nvSpPr>
        <p:spPr>
          <a:xfrm>
            <a:off x="3977640" y="1152144"/>
            <a:ext cx="37490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SUGGESTED WHEN</a:t>
            </a:r>
            <a:endParaRPr lang="en-US" sz="800" dirty="0"/>
          </a:p>
        </p:txBody>
      </p:sp>
      <p:sp>
        <p:nvSpPr>
          <p:cNvPr id="9" name="Text 7"/>
          <p:cNvSpPr/>
          <p:nvPr/>
        </p:nvSpPr>
        <p:spPr>
          <a:xfrm>
            <a:off x="7863840" y="1152144"/>
            <a:ext cx="132588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SAVING UP TO</a:t>
            </a:r>
            <a:endParaRPr lang="en-US" sz="800" dirty="0"/>
          </a:p>
        </p:txBody>
      </p:sp>
      <p:sp>
        <p:nvSpPr>
          <p:cNvPr id="10" name="Text 8"/>
          <p:cNvSpPr/>
          <p:nvPr/>
        </p:nvSpPr>
        <p:spPr>
          <a:xfrm>
            <a:off x="9281160" y="1152144"/>
            <a:ext cx="10058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RISK</a:t>
            </a:r>
            <a:endParaRPr lang="en-US" sz="800" dirty="0"/>
          </a:p>
        </p:txBody>
      </p:sp>
      <p:sp>
        <p:nvSpPr>
          <p:cNvPr id="11" name="Text 9"/>
          <p:cNvSpPr/>
          <p:nvPr/>
        </p:nvSpPr>
        <p:spPr>
          <a:xfrm>
            <a:off x="10378440" y="1152144"/>
            <a:ext cx="132588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TIMEFRAME</a:t>
            </a:r>
            <a:endParaRPr lang="en-US" sz="800" dirty="0"/>
          </a:p>
        </p:txBody>
      </p:sp>
      <p:sp>
        <p:nvSpPr>
          <p:cNvPr id="12" name="Shape 10"/>
          <p:cNvSpPr/>
          <p:nvPr/>
        </p:nvSpPr>
        <p:spPr>
          <a:xfrm>
            <a:off x="457200" y="1417320"/>
            <a:ext cx="11274552" cy="352044"/>
          </a:xfrm>
          <a:prstGeom prst="roundRect">
            <a:avLst>
              <a:gd name="adj" fmla="val 15584"/>
            </a:avLst>
          </a:prstGeom>
          <a:solidFill>
            <a:srgbClr val="FFFFFF"/>
          </a:solidFill>
          <a:ln w="12700">
            <a:solidFill>
              <a:srgbClr val="DCE3EE"/>
            </a:solidFill>
            <a:prstDash val="solid"/>
          </a:ln>
        </p:spPr>
      </p:sp>
      <p:sp>
        <p:nvSpPr>
          <p:cNvPr id="13" name="Text 11"/>
          <p:cNvSpPr/>
          <p:nvPr/>
        </p:nvSpPr>
        <p:spPr>
          <a:xfrm>
            <a:off x="658368" y="1417320"/>
            <a:ext cx="3246120" cy="35204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1 · Automate high-labour operations</a:t>
            </a:r>
            <a:endParaRPr lang="en-US" sz="940" dirty="0"/>
          </a:p>
        </p:txBody>
      </p:sp>
      <p:sp>
        <p:nvSpPr>
          <p:cNvPr id="14" name="Text 12"/>
          <p:cNvSpPr/>
          <p:nvPr/>
        </p:nvSpPr>
        <p:spPr>
          <a:xfrm>
            <a:off x="3977640" y="1417320"/>
            <a:ext cx="3749040" cy="352044"/>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80" dirty="0"/>
          </a:p>
        </p:txBody>
      </p:sp>
      <p:sp>
        <p:nvSpPr>
          <p:cNvPr id="15" name="Text 13"/>
          <p:cNvSpPr/>
          <p:nvPr/>
        </p:nvSpPr>
        <p:spPr>
          <a:xfrm>
            <a:off x="7863840" y="1417320"/>
            <a:ext cx="1325880" cy="352044"/>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20%</a:t>
            </a:r>
            <a:endParaRPr lang="en-US" sz="1000" dirty="0"/>
          </a:p>
        </p:txBody>
      </p:sp>
      <p:sp>
        <p:nvSpPr>
          <p:cNvPr id="16" name="Text 14"/>
          <p:cNvSpPr/>
          <p:nvPr/>
        </p:nvSpPr>
        <p:spPr>
          <a:xfrm>
            <a:off x="9281160" y="1417320"/>
            <a:ext cx="1005840" cy="352044"/>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Medium</a:t>
            </a:r>
            <a:endParaRPr lang="en-US" sz="900" dirty="0"/>
          </a:p>
        </p:txBody>
      </p:sp>
      <p:sp>
        <p:nvSpPr>
          <p:cNvPr id="17" name="Text 15"/>
          <p:cNvSpPr/>
          <p:nvPr/>
        </p:nvSpPr>
        <p:spPr>
          <a:xfrm>
            <a:off x="10378440" y="1417320"/>
            <a:ext cx="1325880" cy="352044"/>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Medium term</a:t>
            </a:r>
            <a:endParaRPr lang="en-US" sz="900" dirty="0"/>
          </a:p>
        </p:txBody>
      </p:sp>
      <p:sp>
        <p:nvSpPr>
          <p:cNvPr id="18" name="Shape 16"/>
          <p:cNvSpPr/>
          <p:nvPr/>
        </p:nvSpPr>
        <p:spPr>
          <a:xfrm>
            <a:off x="457200" y="1805940"/>
            <a:ext cx="11274552" cy="352044"/>
          </a:xfrm>
          <a:prstGeom prst="roundRect">
            <a:avLst>
              <a:gd name="adj" fmla="val 15584"/>
            </a:avLst>
          </a:prstGeom>
          <a:solidFill>
            <a:srgbClr val="FFFFFF"/>
          </a:solidFill>
          <a:ln w="12700">
            <a:solidFill>
              <a:srgbClr val="DCE3EE"/>
            </a:solidFill>
            <a:prstDash val="solid"/>
          </a:ln>
        </p:spPr>
      </p:sp>
      <p:sp>
        <p:nvSpPr>
          <p:cNvPr id="19" name="Text 17"/>
          <p:cNvSpPr/>
          <p:nvPr/>
        </p:nvSpPr>
        <p:spPr>
          <a:xfrm>
            <a:off x="658368" y="1805940"/>
            <a:ext cx="3246120" cy="35204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2 · Near-net-shape / better nesting</a:t>
            </a:r>
            <a:endParaRPr lang="en-US" sz="940" dirty="0"/>
          </a:p>
        </p:txBody>
      </p:sp>
      <p:sp>
        <p:nvSpPr>
          <p:cNvPr id="20" name="Text 18"/>
          <p:cNvSpPr/>
          <p:nvPr/>
        </p:nvSpPr>
        <p:spPr>
          <a:xfrm>
            <a:off x="3977640" y="1805940"/>
            <a:ext cx="3749040" cy="352044"/>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80" dirty="0"/>
          </a:p>
        </p:txBody>
      </p:sp>
      <p:sp>
        <p:nvSpPr>
          <p:cNvPr id="21" name="Text 19"/>
          <p:cNvSpPr/>
          <p:nvPr/>
        </p:nvSpPr>
        <p:spPr>
          <a:xfrm>
            <a:off x="7863840" y="1805940"/>
            <a:ext cx="1325880" cy="352044"/>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15%</a:t>
            </a:r>
            <a:endParaRPr lang="en-US" sz="1000" dirty="0"/>
          </a:p>
        </p:txBody>
      </p:sp>
      <p:sp>
        <p:nvSpPr>
          <p:cNvPr id="22" name="Text 20"/>
          <p:cNvSpPr/>
          <p:nvPr/>
        </p:nvSpPr>
        <p:spPr>
          <a:xfrm>
            <a:off x="9281160" y="1805940"/>
            <a:ext cx="1005840" cy="352044"/>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Medium</a:t>
            </a:r>
            <a:endParaRPr lang="en-US" sz="900" dirty="0"/>
          </a:p>
        </p:txBody>
      </p:sp>
      <p:sp>
        <p:nvSpPr>
          <p:cNvPr id="23" name="Text 21"/>
          <p:cNvSpPr/>
          <p:nvPr/>
        </p:nvSpPr>
        <p:spPr>
          <a:xfrm>
            <a:off x="10378440" y="1805940"/>
            <a:ext cx="1325880" cy="352044"/>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Medium term</a:t>
            </a:r>
            <a:endParaRPr lang="en-US" sz="900" dirty="0"/>
          </a:p>
        </p:txBody>
      </p:sp>
      <p:sp>
        <p:nvSpPr>
          <p:cNvPr id="24" name="Shape 22"/>
          <p:cNvSpPr/>
          <p:nvPr/>
        </p:nvSpPr>
        <p:spPr>
          <a:xfrm>
            <a:off x="457200" y="2194560"/>
            <a:ext cx="11274552" cy="352044"/>
          </a:xfrm>
          <a:prstGeom prst="roundRect">
            <a:avLst>
              <a:gd name="adj" fmla="val 15584"/>
            </a:avLst>
          </a:prstGeom>
          <a:solidFill>
            <a:srgbClr val="FFFFFF"/>
          </a:solidFill>
          <a:ln w="12700">
            <a:solidFill>
              <a:srgbClr val="DCE3EE"/>
            </a:solidFill>
            <a:prstDash val="solid"/>
          </a:ln>
        </p:spPr>
      </p:sp>
      <p:sp>
        <p:nvSpPr>
          <p:cNvPr id="25" name="Text 23"/>
          <p:cNvSpPr/>
          <p:nvPr/>
        </p:nvSpPr>
        <p:spPr>
          <a:xfrm>
            <a:off x="658368" y="2194560"/>
            <a:ext cx="3246120" cy="35204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3 · OEE improvement programme (TPM)</a:t>
            </a:r>
            <a:endParaRPr lang="en-US" sz="940" dirty="0"/>
          </a:p>
        </p:txBody>
      </p:sp>
      <p:sp>
        <p:nvSpPr>
          <p:cNvPr id="26" name="Text 24"/>
          <p:cNvSpPr/>
          <p:nvPr/>
        </p:nvSpPr>
        <p:spPr>
          <a:xfrm>
            <a:off x="3977640" y="2194560"/>
            <a:ext cx="3749040" cy="352044"/>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OEE under 82% — planned maintenance and quicker changeovers toward the 85% mark</a:t>
            </a:r>
            <a:endParaRPr lang="en-US" sz="880" dirty="0"/>
          </a:p>
        </p:txBody>
      </p:sp>
      <p:sp>
        <p:nvSpPr>
          <p:cNvPr id="27" name="Text 25"/>
          <p:cNvSpPr/>
          <p:nvPr/>
        </p:nvSpPr>
        <p:spPr>
          <a:xfrm>
            <a:off x="7863840" y="2194560"/>
            <a:ext cx="1325880" cy="352044"/>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12%</a:t>
            </a:r>
            <a:endParaRPr lang="en-US" sz="1000" dirty="0"/>
          </a:p>
        </p:txBody>
      </p:sp>
      <p:sp>
        <p:nvSpPr>
          <p:cNvPr id="28" name="Text 26"/>
          <p:cNvSpPr/>
          <p:nvPr/>
        </p:nvSpPr>
        <p:spPr>
          <a:xfrm>
            <a:off x="9281160" y="2194560"/>
            <a:ext cx="100584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Low</a:t>
            </a:r>
            <a:endParaRPr lang="en-US" sz="900" dirty="0"/>
          </a:p>
        </p:txBody>
      </p:sp>
      <p:sp>
        <p:nvSpPr>
          <p:cNvPr id="29" name="Text 27"/>
          <p:cNvSpPr/>
          <p:nvPr/>
        </p:nvSpPr>
        <p:spPr>
          <a:xfrm>
            <a:off x="10378440" y="2194560"/>
            <a:ext cx="1325880" cy="352044"/>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Medium term</a:t>
            </a:r>
            <a:endParaRPr lang="en-US" sz="900" dirty="0"/>
          </a:p>
        </p:txBody>
      </p:sp>
      <p:sp>
        <p:nvSpPr>
          <p:cNvPr id="30" name="Shape 28"/>
          <p:cNvSpPr/>
          <p:nvPr/>
        </p:nvSpPr>
        <p:spPr>
          <a:xfrm>
            <a:off x="457200" y="2583180"/>
            <a:ext cx="11274552" cy="352044"/>
          </a:xfrm>
          <a:prstGeom prst="roundRect">
            <a:avLst>
              <a:gd name="adj" fmla="val 15584"/>
            </a:avLst>
          </a:prstGeom>
          <a:solidFill>
            <a:srgbClr val="FFFFFF"/>
          </a:solidFill>
          <a:ln w="12700">
            <a:solidFill>
              <a:srgbClr val="DCE3EE"/>
            </a:solidFill>
            <a:prstDash val="solid"/>
          </a:ln>
        </p:spPr>
      </p:sp>
      <p:sp>
        <p:nvSpPr>
          <p:cNvPr id="31" name="Text 29"/>
          <p:cNvSpPr/>
          <p:nvPr/>
        </p:nvSpPr>
        <p:spPr>
          <a:xfrm>
            <a:off x="658368" y="2583180"/>
            <a:ext cx="3246120" cy="35204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4 · Volume increase to dilute tooling</a:t>
            </a:r>
            <a:endParaRPr lang="en-US" sz="940" dirty="0"/>
          </a:p>
        </p:txBody>
      </p:sp>
      <p:sp>
        <p:nvSpPr>
          <p:cNvPr id="32" name="Text 30"/>
          <p:cNvSpPr/>
          <p:nvPr/>
        </p:nvSpPr>
        <p:spPr>
          <a:xfrm>
            <a:off x="3977640" y="2583180"/>
            <a:ext cx="3749040" cy="352044"/>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880" dirty="0"/>
          </a:p>
        </p:txBody>
      </p:sp>
      <p:sp>
        <p:nvSpPr>
          <p:cNvPr id="33" name="Text 31"/>
          <p:cNvSpPr/>
          <p:nvPr/>
        </p:nvSpPr>
        <p:spPr>
          <a:xfrm>
            <a:off x="7863840" y="2583180"/>
            <a:ext cx="1325880" cy="352044"/>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10%</a:t>
            </a:r>
            <a:endParaRPr lang="en-US" sz="1000" dirty="0"/>
          </a:p>
        </p:txBody>
      </p:sp>
      <p:sp>
        <p:nvSpPr>
          <p:cNvPr id="34" name="Text 32"/>
          <p:cNvSpPr/>
          <p:nvPr/>
        </p:nvSpPr>
        <p:spPr>
          <a:xfrm>
            <a:off x="9281160" y="2583180"/>
            <a:ext cx="100584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Low</a:t>
            </a:r>
            <a:endParaRPr lang="en-US" sz="900" dirty="0"/>
          </a:p>
        </p:txBody>
      </p:sp>
      <p:sp>
        <p:nvSpPr>
          <p:cNvPr id="35" name="Text 33"/>
          <p:cNvSpPr/>
          <p:nvPr/>
        </p:nvSpPr>
        <p:spPr>
          <a:xfrm>
            <a:off x="10378440" y="2583180"/>
            <a:ext cx="132588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Quick win</a:t>
            </a:r>
            <a:endParaRPr lang="en-US" sz="900" dirty="0"/>
          </a:p>
        </p:txBody>
      </p:sp>
      <p:sp>
        <p:nvSpPr>
          <p:cNvPr id="36" name="Shape 34"/>
          <p:cNvSpPr/>
          <p:nvPr/>
        </p:nvSpPr>
        <p:spPr>
          <a:xfrm>
            <a:off x="457200" y="2971800"/>
            <a:ext cx="11274552" cy="352044"/>
          </a:xfrm>
          <a:prstGeom prst="roundRect">
            <a:avLst>
              <a:gd name="adj" fmla="val 15584"/>
            </a:avLst>
          </a:prstGeom>
          <a:solidFill>
            <a:srgbClr val="FFFFFF"/>
          </a:solidFill>
          <a:ln w="12700">
            <a:solidFill>
              <a:srgbClr val="DCE3EE"/>
            </a:solidFill>
            <a:prstDash val="solid"/>
          </a:ln>
        </p:spPr>
      </p:sp>
      <p:sp>
        <p:nvSpPr>
          <p:cNvPr id="37" name="Text 35"/>
          <p:cNvSpPr/>
          <p:nvPr/>
        </p:nvSpPr>
        <p:spPr>
          <a:xfrm>
            <a:off x="658368" y="2971800"/>
            <a:ext cx="3246120" cy="35204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5 · Overhead negotiation, open-book</a:t>
            </a:r>
            <a:endParaRPr lang="en-US" sz="940" dirty="0"/>
          </a:p>
        </p:txBody>
      </p:sp>
      <p:sp>
        <p:nvSpPr>
          <p:cNvPr id="38" name="Text 36"/>
          <p:cNvSpPr/>
          <p:nvPr/>
        </p:nvSpPr>
        <p:spPr>
          <a:xfrm>
            <a:off x="3977640" y="2971800"/>
            <a:ext cx="3749040" cy="352044"/>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Overhead above 15% — benchmark against typical 10–15% tier-1 burden rates</a:t>
            </a:r>
            <a:endParaRPr lang="en-US" sz="880" dirty="0"/>
          </a:p>
        </p:txBody>
      </p:sp>
      <p:sp>
        <p:nvSpPr>
          <p:cNvPr id="39" name="Text 37"/>
          <p:cNvSpPr/>
          <p:nvPr/>
        </p:nvSpPr>
        <p:spPr>
          <a:xfrm>
            <a:off x="7863840" y="2971800"/>
            <a:ext cx="1325880" cy="352044"/>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6%</a:t>
            </a:r>
            <a:endParaRPr lang="en-US" sz="1000" dirty="0"/>
          </a:p>
        </p:txBody>
      </p:sp>
      <p:sp>
        <p:nvSpPr>
          <p:cNvPr id="40" name="Text 38"/>
          <p:cNvSpPr/>
          <p:nvPr/>
        </p:nvSpPr>
        <p:spPr>
          <a:xfrm>
            <a:off x="9281160" y="2971800"/>
            <a:ext cx="100584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Low</a:t>
            </a:r>
            <a:endParaRPr lang="en-US" sz="900" dirty="0"/>
          </a:p>
        </p:txBody>
      </p:sp>
      <p:sp>
        <p:nvSpPr>
          <p:cNvPr id="41" name="Text 39"/>
          <p:cNvSpPr/>
          <p:nvPr/>
        </p:nvSpPr>
        <p:spPr>
          <a:xfrm>
            <a:off x="10378440" y="2971800"/>
            <a:ext cx="132588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Quick win</a:t>
            </a:r>
            <a:endParaRPr lang="en-US" sz="900" dirty="0"/>
          </a:p>
        </p:txBody>
      </p:sp>
      <p:sp>
        <p:nvSpPr>
          <p:cNvPr id="42" name="Shape 40"/>
          <p:cNvSpPr/>
          <p:nvPr/>
        </p:nvSpPr>
        <p:spPr>
          <a:xfrm>
            <a:off x="457200" y="3360420"/>
            <a:ext cx="11274552" cy="352044"/>
          </a:xfrm>
          <a:prstGeom prst="roundRect">
            <a:avLst>
              <a:gd name="adj" fmla="val 15584"/>
            </a:avLst>
          </a:prstGeom>
          <a:solidFill>
            <a:srgbClr val="FFFFFF"/>
          </a:solidFill>
          <a:ln w="12700">
            <a:solidFill>
              <a:srgbClr val="DCE3EE"/>
            </a:solidFill>
            <a:prstDash val="solid"/>
          </a:ln>
        </p:spPr>
      </p:sp>
      <p:sp>
        <p:nvSpPr>
          <p:cNvPr id="43" name="Text 41"/>
          <p:cNvSpPr/>
          <p:nvPr/>
        </p:nvSpPr>
        <p:spPr>
          <a:xfrm>
            <a:off x="658368" y="3360420"/>
            <a:ext cx="3246120" cy="35204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6 · Competitive RFQ on margin</a:t>
            </a:r>
            <a:endParaRPr lang="en-US" sz="940" dirty="0"/>
          </a:p>
        </p:txBody>
      </p:sp>
      <p:sp>
        <p:nvSpPr>
          <p:cNvPr id="44" name="Text 42"/>
          <p:cNvSpPr/>
          <p:nvPr/>
        </p:nvSpPr>
        <p:spPr>
          <a:xfrm>
            <a:off x="3977640" y="3360420"/>
            <a:ext cx="3749040" cy="352044"/>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Margin above 12% — three-way RFQ with this should-cost as the floor price</a:t>
            </a:r>
            <a:endParaRPr lang="en-US" sz="880" dirty="0"/>
          </a:p>
        </p:txBody>
      </p:sp>
      <p:sp>
        <p:nvSpPr>
          <p:cNvPr id="45" name="Text 43"/>
          <p:cNvSpPr/>
          <p:nvPr/>
        </p:nvSpPr>
        <p:spPr>
          <a:xfrm>
            <a:off x="7863840" y="3360420"/>
            <a:ext cx="1325880" cy="352044"/>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5%</a:t>
            </a:r>
            <a:endParaRPr lang="en-US" sz="1000" dirty="0"/>
          </a:p>
        </p:txBody>
      </p:sp>
      <p:sp>
        <p:nvSpPr>
          <p:cNvPr id="46" name="Text 44"/>
          <p:cNvSpPr/>
          <p:nvPr/>
        </p:nvSpPr>
        <p:spPr>
          <a:xfrm>
            <a:off x="9281160" y="3360420"/>
            <a:ext cx="100584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Low</a:t>
            </a:r>
            <a:endParaRPr lang="en-US" sz="900" dirty="0"/>
          </a:p>
        </p:txBody>
      </p:sp>
      <p:sp>
        <p:nvSpPr>
          <p:cNvPr id="47" name="Text 45"/>
          <p:cNvSpPr/>
          <p:nvPr/>
        </p:nvSpPr>
        <p:spPr>
          <a:xfrm>
            <a:off x="10378440" y="3360420"/>
            <a:ext cx="132588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Quick win</a:t>
            </a:r>
            <a:endParaRPr lang="en-US" sz="900" dirty="0"/>
          </a:p>
        </p:txBody>
      </p:sp>
      <p:sp>
        <p:nvSpPr>
          <p:cNvPr id="48" name="Shape 46"/>
          <p:cNvSpPr/>
          <p:nvPr/>
        </p:nvSpPr>
        <p:spPr>
          <a:xfrm>
            <a:off x="457200" y="3749040"/>
            <a:ext cx="11274552" cy="352044"/>
          </a:xfrm>
          <a:prstGeom prst="roundRect">
            <a:avLst>
              <a:gd name="adj" fmla="val 15584"/>
            </a:avLst>
          </a:prstGeom>
          <a:solidFill>
            <a:srgbClr val="FFFFFF"/>
          </a:solidFill>
          <a:ln w="12700">
            <a:solidFill>
              <a:srgbClr val="DCE3EE"/>
            </a:solidFill>
            <a:prstDash val="solid"/>
          </a:ln>
        </p:spPr>
      </p:sp>
      <p:sp>
        <p:nvSpPr>
          <p:cNvPr id="49" name="Text 47"/>
          <p:cNvSpPr/>
          <p:nvPr/>
        </p:nvSpPr>
        <p:spPr>
          <a:xfrm>
            <a:off x="658368" y="3749040"/>
            <a:ext cx="3246120" cy="35204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7 · Multi-axis operation consolidation</a:t>
            </a:r>
            <a:endParaRPr lang="en-US" sz="940" dirty="0"/>
          </a:p>
        </p:txBody>
      </p:sp>
      <p:sp>
        <p:nvSpPr>
          <p:cNvPr id="50" name="Text 48"/>
          <p:cNvSpPr/>
          <p:nvPr/>
        </p:nvSpPr>
        <p:spPr>
          <a:xfrm>
            <a:off x="3977640" y="3749040"/>
            <a:ext cx="3749040" cy="352044"/>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More than 4 operations — a 5-axis centre folds several setups into one</a:t>
            </a:r>
            <a:endParaRPr lang="en-US" sz="880" dirty="0"/>
          </a:p>
        </p:txBody>
      </p:sp>
      <p:sp>
        <p:nvSpPr>
          <p:cNvPr id="51" name="Text 49"/>
          <p:cNvSpPr/>
          <p:nvPr/>
        </p:nvSpPr>
        <p:spPr>
          <a:xfrm>
            <a:off x="7863840" y="3749040"/>
            <a:ext cx="1325880" cy="352044"/>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12%</a:t>
            </a:r>
            <a:endParaRPr lang="en-US" sz="1000" dirty="0"/>
          </a:p>
        </p:txBody>
      </p:sp>
      <p:sp>
        <p:nvSpPr>
          <p:cNvPr id="52" name="Text 50"/>
          <p:cNvSpPr/>
          <p:nvPr/>
        </p:nvSpPr>
        <p:spPr>
          <a:xfrm>
            <a:off x="9281160" y="3749040"/>
            <a:ext cx="1005840" cy="352044"/>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Medium</a:t>
            </a:r>
            <a:endParaRPr lang="en-US" sz="900" dirty="0"/>
          </a:p>
        </p:txBody>
      </p:sp>
      <p:sp>
        <p:nvSpPr>
          <p:cNvPr id="53" name="Text 51"/>
          <p:cNvSpPr/>
          <p:nvPr/>
        </p:nvSpPr>
        <p:spPr>
          <a:xfrm>
            <a:off x="10378440" y="3749040"/>
            <a:ext cx="1325880" cy="352044"/>
          </a:xfrm>
          <a:prstGeom prst="rect">
            <a:avLst/>
          </a:prstGeom>
          <a:noFill/>
          <a:ln/>
        </p:spPr>
        <p:txBody>
          <a:bodyPr wrap="square" lIns="0" tIns="0" rIns="0" bIns="0" rtlCol="0" anchor="ctr"/>
          <a:lstStyle/>
          <a:p>
            <a:pPr indent="0" marL="0">
              <a:buNone/>
            </a:pPr>
            <a:r>
              <a:rPr lang="en-US" sz="900" b="1" dirty="0">
                <a:solidFill>
                  <a:srgbClr val="3A4356"/>
                </a:solidFill>
                <a:latin typeface="Calibri" pitchFamily="34" charset="0"/>
                <a:ea typeface="Calibri" pitchFamily="34" charset="-122"/>
                <a:cs typeface="Calibri" pitchFamily="34" charset="-120"/>
              </a:rPr>
              <a:t>Long term</a:t>
            </a:r>
            <a:endParaRPr lang="en-US" sz="900" dirty="0"/>
          </a:p>
        </p:txBody>
      </p:sp>
      <p:sp>
        <p:nvSpPr>
          <p:cNvPr id="54" name="Shape 52"/>
          <p:cNvSpPr/>
          <p:nvPr/>
        </p:nvSpPr>
        <p:spPr>
          <a:xfrm>
            <a:off x="457200" y="4137660"/>
            <a:ext cx="11274552" cy="352044"/>
          </a:xfrm>
          <a:prstGeom prst="roundRect">
            <a:avLst>
              <a:gd name="adj" fmla="val 15584"/>
            </a:avLst>
          </a:prstGeom>
          <a:solidFill>
            <a:srgbClr val="FFFFFF"/>
          </a:solidFill>
          <a:ln w="12700">
            <a:solidFill>
              <a:srgbClr val="DCE3EE"/>
            </a:solidFill>
            <a:prstDash val="solid"/>
          </a:ln>
        </p:spPr>
      </p:sp>
      <p:sp>
        <p:nvSpPr>
          <p:cNvPr id="55" name="Text 53"/>
          <p:cNvSpPr/>
          <p:nvPr/>
        </p:nvSpPr>
        <p:spPr>
          <a:xfrm>
            <a:off x="658368" y="4137660"/>
            <a:ext cx="3246120" cy="35204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8 · Lower-cost-region sourcing study</a:t>
            </a:r>
            <a:endParaRPr lang="en-US" sz="940" dirty="0"/>
          </a:p>
        </p:txBody>
      </p:sp>
      <p:sp>
        <p:nvSpPr>
          <p:cNvPr id="56" name="Text 54"/>
          <p:cNvSpPr/>
          <p:nvPr/>
        </p:nvSpPr>
        <p:spPr>
          <a:xfrm>
            <a:off x="3977640" y="4137660"/>
            <a:ext cx="3749040" cy="352044"/>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Process plus labour above 30% of cost — regional rates create real arbitrage</a:t>
            </a:r>
            <a:endParaRPr lang="en-US" sz="880" dirty="0"/>
          </a:p>
        </p:txBody>
      </p:sp>
      <p:sp>
        <p:nvSpPr>
          <p:cNvPr id="57" name="Text 55"/>
          <p:cNvSpPr/>
          <p:nvPr/>
        </p:nvSpPr>
        <p:spPr>
          <a:xfrm>
            <a:off x="7863840" y="4137660"/>
            <a:ext cx="1325880" cy="352044"/>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18%</a:t>
            </a:r>
            <a:endParaRPr lang="en-US" sz="1000" dirty="0"/>
          </a:p>
        </p:txBody>
      </p:sp>
      <p:sp>
        <p:nvSpPr>
          <p:cNvPr id="58" name="Text 56"/>
          <p:cNvSpPr/>
          <p:nvPr/>
        </p:nvSpPr>
        <p:spPr>
          <a:xfrm>
            <a:off x="9281160" y="4137660"/>
            <a:ext cx="1005840" cy="352044"/>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High</a:t>
            </a:r>
            <a:endParaRPr lang="en-US" sz="900" dirty="0"/>
          </a:p>
        </p:txBody>
      </p:sp>
      <p:sp>
        <p:nvSpPr>
          <p:cNvPr id="59" name="Text 57"/>
          <p:cNvSpPr/>
          <p:nvPr/>
        </p:nvSpPr>
        <p:spPr>
          <a:xfrm>
            <a:off x="10378440" y="4137660"/>
            <a:ext cx="1325880" cy="352044"/>
          </a:xfrm>
          <a:prstGeom prst="rect">
            <a:avLst/>
          </a:prstGeom>
          <a:noFill/>
          <a:ln/>
        </p:spPr>
        <p:txBody>
          <a:bodyPr wrap="square" lIns="0" tIns="0" rIns="0" bIns="0" rtlCol="0" anchor="ctr"/>
          <a:lstStyle/>
          <a:p>
            <a:pPr indent="0" marL="0">
              <a:buNone/>
            </a:pPr>
            <a:r>
              <a:rPr lang="en-US" sz="900" b="1" dirty="0">
                <a:solidFill>
                  <a:srgbClr val="3A4356"/>
                </a:solidFill>
                <a:latin typeface="Calibri" pitchFamily="34" charset="0"/>
                <a:ea typeface="Calibri" pitchFamily="34" charset="-122"/>
                <a:cs typeface="Calibri" pitchFamily="34" charset="-120"/>
              </a:rPr>
              <a:t>Long term</a:t>
            </a:r>
            <a:endParaRPr lang="en-US" sz="900" dirty="0"/>
          </a:p>
        </p:txBody>
      </p:sp>
      <p:sp>
        <p:nvSpPr>
          <p:cNvPr id="60" name="Shape 58"/>
          <p:cNvSpPr/>
          <p:nvPr/>
        </p:nvSpPr>
        <p:spPr>
          <a:xfrm>
            <a:off x="457200" y="4526280"/>
            <a:ext cx="11274552" cy="352044"/>
          </a:xfrm>
          <a:prstGeom prst="roundRect">
            <a:avLst>
              <a:gd name="adj" fmla="val 15584"/>
            </a:avLst>
          </a:prstGeom>
          <a:solidFill>
            <a:srgbClr val="F4F7FB"/>
          </a:solidFill>
          <a:ln w="12700">
            <a:solidFill>
              <a:srgbClr val="6B7280"/>
            </a:solidFill>
            <a:prstDash val="dash"/>
          </a:ln>
        </p:spPr>
      </p:sp>
      <p:sp>
        <p:nvSpPr>
          <p:cNvPr id="61" name="Text 59"/>
          <p:cNvSpPr/>
          <p:nvPr/>
        </p:nvSpPr>
        <p:spPr>
          <a:xfrm>
            <a:off x="658368" y="4526280"/>
            <a:ext cx="3246120" cy="35204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9 · DFM design review</a:t>
            </a:r>
            <a:endParaRPr lang="en-US" sz="940" dirty="0"/>
          </a:p>
        </p:txBody>
      </p:sp>
      <p:sp>
        <p:nvSpPr>
          <p:cNvPr id="62" name="Text 60"/>
          <p:cNvSpPr/>
          <p:nvPr/>
        </p:nvSpPr>
        <p:spPr>
          <a:xfrm>
            <a:off x="3977640" y="4526280"/>
            <a:ext cx="3749040" cy="352044"/>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Backstop — added whenever fewer than 5 levers have fired</a:t>
            </a:r>
            <a:endParaRPr lang="en-US" sz="880" dirty="0"/>
          </a:p>
        </p:txBody>
      </p:sp>
      <p:sp>
        <p:nvSpPr>
          <p:cNvPr id="63" name="Text 61"/>
          <p:cNvSpPr/>
          <p:nvPr/>
        </p:nvSpPr>
        <p:spPr>
          <a:xfrm>
            <a:off x="7863840" y="4526280"/>
            <a:ext cx="1325880" cy="352044"/>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5%</a:t>
            </a:r>
            <a:endParaRPr lang="en-US" sz="1000" dirty="0"/>
          </a:p>
        </p:txBody>
      </p:sp>
      <p:sp>
        <p:nvSpPr>
          <p:cNvPr id="64" name="Text 62"/>
          <p:cNvSpPr/>
          <p:nvPr/>
        </p:nvSpPr>
        <p:spPr>
          <a:xfrm>
            <a:off x="9281160" y="4526280"/>
            <a:ext cx="100584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Low</a:t>
            </a:r>
            <a:endParaRPr lang="en-US" sz="900" dirty="0"/>
          </a:p>
        </p:txBody>
      </p:sp>
      <p:sp>
        <p:nvSpPr>
          <p:cNvPr id="65" name="Text 63"/>
          <p:cNvSpPr/>
          <p:nvPr/>
        </p:nvSpPr>
        <p:spPr>
          <a:xfrm>
            <a:off x="10378440" y="4526280"/>
            <a:ext cx="132588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Quick win</a:t>
            </a:r>
            <a:endParaRPr lang="en-US" sz="900" dirty="0"/>
          </a:p>
        </p:txBody>
      </p:sp>
      <p:sp>
        <p:nvSpPr>
          <p:cNvPr id="66" name="Shape 64"/>
          <p:cNvSpPr/>
          <p:nvPr/>
        </p:nvSpPr>
        <p:spPr>
          <a:xfrm>
            <a:off x="457200" y="4914900"/>
            <a:ext cx="11274552" cy="352044"/>
          </a:xfrm>
          <a:prstGeom prst="roundRect">
            <a:avLst>
              <a:gd name="adj" fmla="val 15584"/>
            </a:avLst>
          </a:prstGeom>
          <a:solidFill>
            <a:srgbClr val="F4F7FB"/>
          </a:solidFill>
          <a:ln w="12700">
            <a:solidFill>
              <a:srgbClr val="6B7280"/>
            </a:solidFill>
            <a:prstDash val="dash"/>
          </a:ln>
        </p:spPr>
      </p:sp>
      <p:sp>
        <p:nvSpPr>
          <p:cNvPr id="67" name="Text 65"/>
          <p:cNvSpPr/>
          <p:nvPr/>
        </p:nvSpPr>
        <p:spPr>
          <a:xfrm>
            <a:off x="658368" y="4914900"/>
            <a:ext cx="3246120" cy="35204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10 · Annual volume re-commitment</a:t>
            </a:r>
            <a:endParaRPr lang="en-US" sz="940" dirty="0"/>
          </a:p>
        </p:txBody>
      </p:sp>
      <p:sp>
        <p:nvSpPr>
          <p:cNvPr id="68" name="Text 66"/>
          <p:cNvSpPr/>
          <p:nvPr/>
        </p:nvSpPr>
        <p:spPr>
          <a:xfrm>
            <a:off x="3977640" y="4914900"/>
            <a:ext cx="3749040" cy="352044"/>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Backstop — added whenever fewer than 6 levers have fired</a:t>
            </a:r>
            <a:endParaRPr lang="en-US" sz="880" dirty="0"/>
          </a:p>
        </p:txBody>
      </p:sp>
      <p:sp>
        <p:nvSpPr>
          <p:cNvPr id="69" name="Text 67"/>
          <p:cNvSpPr/>
          <p:nvPr/>
        </p:nvSpPr>
        <p:spPr>
          <a:xfrm>
            <a:off x="7863840" y="4914900"/>
            <a:ext cx="1325880" cy="352044"/>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3%</a:t>
            </a:r>
            <a:endParaRPr lang="en-US" sz="1000" dirty="0"/>
          </a:p>
        </p:txBody>
      </p:sp>
      <p:sp>
        <p:nvSpPr>
          <p:cNvPr id="70" name="Text 68"/>
          <p:cNvSpPr/>
          <p:nvPr/>
        </p:nvSpPr>
        <p:spPr>
          <a:xfrm>
            <a:off x="9281160" y="4914900"/>
            <a:ext cx="100584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Low</a:t>
            </a:r>
            <a:endParaRPr lang="en-US" sz="900" dirty="0"/>
          </a:p>
        </p:txBody>
      </p:sp>
      <p:sp>
        <p:nvSpPr>
          <p:cNvPr id="71" name="Text 69"/>
          <p:cNvSpPr/>
          <p:nvPr/>
        </p:nvSpPr>
        <p:spPr>
          <a:xfrm>
            <a:off x="10378440" y="4914900"/>
            <a:ext cx="1325880" cy="352044"/>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Quick win</a:t>
            </a:r>
            <a:endParaRPr lang="en-US" sz="900" dirty="0"/>
          </a:p>
        </p:txBody>
      </p:sp>
      <p:sp>
        <p:nvSpPr>
          <p:cNvPr id="72" name="Shape 70"/>
          <p:cNvSpPr/>
          <p:nvPr/>
        </p:nvSpPr>
        <p:spPr>
          <a:xfrm>
            <a:off x="457200" y="5504688"/>
            <a:ext cx="11274552" cy="749808"/>
          </a:xfrm>
          <a:prstGeom prst="roundRect">
            <a:avLst>
              <a:gd name="adj" fmla="val 12195"/>
            </a:avLst>
          </a:prstGeom>
          <a:solidFill>
            <a:srgbClr val="16325C"/>
          </a:solidFill>
          <a:ln/>
        </p:spPr>
      </p:sp>
      <p:sp>
        <p:nvSpPr>
          <p:cNvPr id="73" name="Text 7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Honest footnote:  </a:t>
            </a:r>
            <a:pPr indent="0" marL="0">
              <a:buNone/>
            </a:pPr>
            <a:r>
              <a:rPr lang="en-US" sz="1150" dirty="0">
                <a:solidFill>
                  <a:srgbClr val="FFFFFF"/>
                </a:solidFill>
                <a:latin typeface="Calibri" pitchFamily="34" charset="0"/>
                <a:ea typeface="Calibri" pitchFamily="34" charset="-122"/>
                <a:cs typeface="Calibri" pitchFamily="34" charset="-120"/>
              </a:rPr>
              <a:t>levers 9 and 10 are deliberate backstops so no part ever leaves with an empty ideas list — every estimate carries at least 5–6 actions, each sized in pounds when it reaches the report. Savings shown are each lever’s cap; the actual figure is computed from the part’s own numbers.</a:t>
            </a:r>
            <a:endParaRPr lang="en-US" sz="1150" dirty="0"/>
          </a:p>
        </p:txBody>
      </p:sp>
      <p:sp>
        <p:nvSpPr>
          <p:cNvPr id="74" name="Text 7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5" name="Text 7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2026-08-06T07:34:02Z</dcterms:created>
  <dcterms:modified xsi:type="dcterms:W3CDTF">2026-08-06T07:34:02Z</dcterms:modified>
</cp:coreProperties>
</file>