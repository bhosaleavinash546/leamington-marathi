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went and looked properly rather than answering from memory. The first thing worth saying is that three different markets all get called "automated PCBA costing", and they are not competing with each other — they answer different questions for different people. Camp A, on the left, is EMS quoting. Luminovo and CalcuQuote. This is supplier-side: a contract manufacturer receives a bill of materials from a customer and needs a competitive quote back quickly. It is genuinely the most automated thing in the market today — Luminovo say they have over three hundred EMS customers including Zollner, Cicor and TQ. But note the direction. They already have the BOM, because the customer sent it. They are answering "what shall I charge", not "what should this cost".  Camp B is enterprise should-cost, and this is our camp: aPriori, Siemens Teamcenter, FACTON, Tset, Boothroyd Dewhurst. Buyer-side, used by cost engineering and purchasing. I want to correct something I said earlier in the week, because I had it wrong: I described PCBA as the thin end of what these platforms do. It is not. aPriori ships a dedicated printed-circuit-board-assembly costing module with more than forty-five out-of-the-box assembly and test cost models and over twenty-eight PCB manufacturing processes, and it picks its processes off pin counts and mount type exactly as ours does. That is a mature, direct competitor and we should treat it as one. Camp C is reverse costing — Yole SystemPlus and TechInsights. This is the closest thing to what we did with the brake ECU: take a real board and work out what it costs. The difference is that they do it by hand. Engineers decap the parts, X-ray the board, cross-section it. It is a consultancy engagement, sold per report. Two things underneath. The grey strip: every one of these companies rents its component price book — SiliconExpert, Z2Data, Octopart, Supplyframe. Nobody builds their own, and that is worth remembering when we come to our own gap. And the amber strip is the thing people confuse with should-cost most often: JLCPCB and PCBWay will give you a fully automated price in seconds, and it is a real published price. But it is their selling price. You cannot negotiate with a supplier using another supplier’s quotation; you negotiate with a cost model. The blue line at the bottom is the position: we are camp B by purpose — a buyer-side should-cost — but we get there by camp C’s route, from the physical board, automatically. Nobody else joins those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precise about how much weight it carries before anyone quotes it outside this room. The automation scale across the top is defined so that "how automated is it" is not a matter of opinion. L0 is a manual service — people physically take the board apart. L1 is software where a human still keys the bill of materials. L2 is a BOM file in, cost out, no keying. L3 is unstructured input — a photograph — in, and a BOM and a cost out. Now the pricing column, which is what I was actually asked for. The honest answer is that almost nobody publishes. Luminovo has a public pricing page that names four tiers and tells you the tiers scale with your procurement spend or your number of new assemblies a year — and then gives no numbers at all; they even have a FAQ page whose title is "are prices listed online". CalcuQuote is the same shape: monthly, three tiers, unlimited users, and a "request pricing" page instead of a price. aPriori is a named-user annual subscription where the Foundation module is sized to your deployment and the cost models are priced separately, and their own guidance is to request a customised price guide. Siemens and Tset and Boothroyd Dewhurst, the same. So the amber box at the bottom is the finding, not an apology for missing data: this entire market sells on quotation. If anyone shows you a "typical aPriori licence cost", it is a guess. I have deliberately left those cells saying NOT PUBLISHED rather than filling them with a plausible number, and I would ask that we keep it that way. Two rows do have real figures. Yole SystemPlus sells reverse costing per report at a list price — but the only figures I could actually verify are from 2017 and 2018 flyers, two thousand four hundred and ninety to four thousand nine hundred and ninety euros, and I have labelled them as order-of-magnitude rather than current, because I could not open the current price list. And JLCPCB publishes everything in real time: a tenth of a cent per solder joint, twenty-five dollars of setup for one side, fifty for two. That is genuinely useful as a floor reference — but it is a prototype and consumer-scope selling price with no automotive quality grade, no in-circuit test, no X-ray and no conformal coating, so please do not put it next to our brake-ECU number and call it a comparison. The last row is the one that made me change what I was going to say on the next slide. PCB Tracer is a browser tool that takes photographs of the top and bottom of a board and uses AI to identify the parts and export a bill of materials — that is L3, the same input we take. The built-in features are free and the AI runs at about fifty cents a schematic. It does not cost the board, which is the whole point of the distinction I draw next, but I am not going to stand here and tell you photo-to-BOM is uncontested when a free tool does it. One caveat on the whole slide, and it is in the source code comments as well. This session’s network policy blocked me from opening the vendor websites directly — the proxy returned a 403 for every one of them — so these pages were read through the search index rather than fetched and quoted. That is good enough to cite and to plan against. It is not good enough for me to claim I have read the current price list, and where that matters, on the Yole line, I have said so on the slide.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previous slide, with us in the indigo column, and I have coloured our cell green only where I can defend the claim and red where I cannot. The green rows are real and they are worth saying plainly. We start from a photograph rather than a bill of materials, which no should-cost platform in camp B does. We return an answer in minutes where reverse costing takes weeks. We run air-gapped, which matters for a programme where the board itself is confidential. And every line in our bill of materials carries an evidence tag saying whether the part number was legible in the photograph, partly legible, or inferred — I have not found anyone else who prints that. Now the row I want to correct myself on, because I told this room the opposite earlier in the week. I said we have no live distributor pricing. That is wrong, and I found it by reading our own source rather than trusting my memory. The integration is built and it is wired into the costing path — Octopart via Nexar, and RS Components — and it grounds the bill of materials before the total is summed. What is true is that it is gated on an API key, we do not have one, and so every price falls back to our offline catalogue. So the honest cell is not "we do not have this". It is "we have it, and it is switched off", which is a completely different size of problem and a completely different conversation with the budget holder. The two red rows are the ones I would read first if I were you. We have never validated a PCBA estimate against a real invoice. The thirteen percent fleet accuracy we quote elsewhere in this deck is from mechanical parts — castings, mouldings, forgings — and it does not transfer to a populated circuit board. Until we cost a board we already have a purchase-order price for, our accuracy on this commodity is unknown, and I would rather say that than let the number drift across from another slide. And maturity. Luminovo claims over three hundred EMS customers. Yole has done more than two hundred and fifty automotive teardowns. We have done one board, internally, and we found three part-number errors in our own first pass at it. That is not an argument against the tool — finding them is what the evidence tagging is for — but it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Top left is what is genuinely ours, and I have narrowed the claim deliberately. Both halves of what we do exist elsewhere: PCB Tracer will read a photograph of a board into a bill of materials for nothing, and aPriori will cost a PCBA properly once you give it one. What I could not find anywhere is the two joined into a single pass. That join is the whole product, because it is what lets a buyer cost a board when nobody will hand them the bill of materials — a competitor’s board, or frankly our own supplier’s. Top right, and I would rather we said this before anyone else does. Four things. We have not validated PCBA accuracy against a single real invoice. Our live pricing is built and switched off. Around twenty pounds of the brake ECU is Bosch captive silicon that has no market price at all, and no data feed on earth fixes that one — it is an irreducible uncertainty and we should keep saying so. And the placement rate: the fourteen pounds twenty-one of process cost on that board comes straight out of our library’s components-per-hour assumptions, and if a real automotive line runs two or three times faster, that number falls to between four and seven pounds. That single unvalidated assumption is worth more than the entire volume change from two hundred thousand to three hundred and fifty thousand that we spent this week modelling. The three cards along the bottom are what to do about it, in order of value for effort. First, turn the price feed on. This is not a development project — the code is in pcb-live-pricing dot ts, it is already wired to ground the bill of materials before the total is summed, and it is waiting on an API key we have not bought. While we are there we should lift the twenty-part grounding cap, because the ECU bill of materials has exactly twenty lines and is therefore already sitting on the limit. Second, validate: cost one board where we already know the purchase-order price, and record the actual. The calibration and drift machinery that learns from actuals is already built and has never once been given a circuit board. Third, ring one EMS supplier and ask what their real placement rate is on a comparable board. So the ask is small and specific: one distributor API key, and one board with a known price. No new engineering. And until we have both, the headline we put on a should-cost stays exactly what it is today — a defensible, fully traceable estimate, and not a priced quotation. I would rather we were the ones enforcing that distinction than have a supplier enforce it on us in a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since we last met, and it came straight from you. Cost engineering and the plant asked why gears went through the tool as if they were just milled parts. Fair question, because that is exactly what was happening, and the machining model cannot see a tooth. So gears now have their own model. Look at the three rows in the middle. Same gear, same size, same programme. The only thing changing is how accurate we ask it to be. Top row, a loose gear, we just cut the teeth and check it. Eight pounds twenty-six. Middle row, we ask for a tight gear. Now it has to be hardened in a furnace, and because hardening bends it slightly, it then has to be ground. Two extra machines. Thirteen fifty-five. That is the important bit, so let me say it a different way. Asking for a tighter gear does not make the same operations cost more. It adds operations. Any tool that just multiplies by one-point-four is wrong, and it will be wrong in the direction that loses you money. The bottom row is an internal ring gear. A hob physically cannot get inside a bore, so the tool does not even offer it — it picks power skiving instead. Geometry decides, not preference. Bottom left: the cycle time is not a guess. It is the gear train arithmetic, and the tool prints the sum so your plant can argue with it. And the red bar at the bottom is me being straight with you. The structure is right, the arithmetic is right, but the feeds and speeds are representative numbers, not yours. Give me your machine list and your feeds and this becomes a real should-cost. Until then it is directional, and the tool says so itself on every single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this slide because it is the one that should give you the most confidence, even though it is a list of our own mistakes. After building the gear model, we did not just test that it works. We attacked it — deliberately fed it nonsense and looked for answers that were wrong but looked right. That is the dangerous kind of wrong. You can argue with a number that looks silly. You cannot argue with one that looks fine and is not. We found seven. Take the first. The same gear cost thirteen pounds and five pence whether you made a thousand a year or a million. Identical to the penny. That is the very first thing any of you would check, and it was flat, because we had never modelled the one-off costs — the fixture, the programming, the first article approval, the broach. Now they are in, and a low-volume gear correctly costs nearly three times a high-volume one. The second one is embarrassing and I will say it anyway. A gear with zero teeth returned eleven pounds twelve. It should have refused. Now it refuses, and it tells you which field is wrong. The third is a genuine manufacturing error. We were sending internal ring gears to a grinder that physically cannot reach inside a bore. Your plant would have spotted that in a second and lost trust in everything else on the page. And the fourth undermined the whole feature — once a gear was being ground, asking for tighter and tighter accuracy changed nothing at all. Every one of those is now fixed and locked down with tests, so they cannot quietly return. I would rather show you this slide than have your plant head find any of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who else does this in the market,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33–43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5–8 (who else does this, and where we honestly stand) · slides 9–13 (the business case) · slide 32 (the housing on one page) · slide 42 (the two findings) · slide 44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750" b="1" spc="40" kern="0" dirty="0">
                <a:solidFill>
                  <a:srgbClr val="2E8B57"/>
                </a:solidFill>
                <a:latin typeface="Calibri" pitchFamily="34" charset="0"/>
                <a:ea typeface="Calibri" pitchFamily="34" charset="-122"/>
                <a:cs typeface="Calibri" pitchFamily="34" charset="-120"/>
              </a:rPr>
              <a:t>WHY TRUST THIS PICTURE</a:t>
            </a:r>
            <a:endParaRPr lang="en-US" sz="75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Same file + answers = same price</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12 of 19 commodities rules-driven</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1,777 automated tests</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6 real parts · fleet error ≈13%</a:t>
            </a:r>
            <a:endParaRPr lang="en-US" sz="75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5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5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750" b="1" spc="40" kern="0" dirty="0">
                <a:solidFill>
                  <a:srgbClr val="FFFFFF"/>
                </a:solidFill>
                <a:latin typeface="Calibri" pitchFamily="34" charset="0"/>
                <a:ea typeface="Calibri" pitchFamily="34" charset="-122"/>
                <a:cs typeface="Calibri" pitchFamily="34" charset="-120"/>
              </a:rPr>
              <a:t>NEEDS THE AI</a:t>
            </a:r>
            <a:endParaRPr lang="en-US" sz="75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750" i="1" dirty="0">
                <a:solidFill>
                  <a:srgbClr val="2E8B57"/>
                </a:solidFill>
                <a:latin typeface="Calibri" pitchFamily="34" charset="0"/>
                <a:ea typeface="Calibri" pitchFamily="34" charset="-122"/>
                <a:cs typeface="Calibri" pitchFamily="34" charset="-120"/>
              </a:rPr>
              <a:t>actuals</a:t>
            </a:r>
            <a:endParaRPr lang="en-US" sz="750" dirty="0"/>
          </a:p>
          <a:p>
            <a:pPr algn="ctr" indent="0" marL="0">
              <a:buNone/>
            </a:pPr>
            <a:r>
              <a:rPr lang="en-US" sz="750" i="1" dirty="0">
                <a:solidFill>
                  <a:srgbClr val="2E8B57"/>
                </a:solidFill>
                <a:latin typeface="Calibri" pitchFamily="34" charset="0"/>
                <a:ea typeface="Calibri" pitchFamily="34" charset="-122"/>
                <a:cs typeface="Calibri" pitchFamily="34" charset="-120"/>
              </a:rPr>
              <a:t>feed back</a:t>
            </a:r>
            <a:endParaRPr lang="en-US" sz="75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50" b="1" spc="40" kern="0" dirty="0">
                <a:solidFill>
                  <a:srgbClr val="B03A2E"/>
                </a:solidFill>
                <a:latin typeface="Calibri" pitchFamily="34" charset="0"/>
                <a:ea typeface="Calibri" pitchFamily="34" charset="-122"/>
                <a:cs typeface="Calibri" pitchFamily="34" charset="-120"/>
              </a:rPr>
              <a:t>IF THE NETWORK IS OFF</a:t>
            </a:r>
            <a:endParaRPr lang="en-US" sz="75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75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E8074"/>
            </a:solidFill>
            <a:prstDash val="solid"/>
          </a:ln>
        </p:spPr>
      </p:sp>
      <p:sp>
        <p:nvSpPr>
          <p:cNvPr id="14" name="Shape 12"/>
          <p:cNvSpPr/>
          <p:nvPr/>
        </p:nvSpPr>
        <p:spPr>
          <a:xfrm>
            <a:off x="4288536" y="1170432"/>
            <a:ext cx="3602736" cy="310896"/>
          </a:xfrm>
          <a:prstGeom prst="rect">
            <a:avLst/>
          </a:prstGeom>
          <a:solidFill>
            <a:srgbClr val="0E8074"/>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E8074"/>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E8074"/>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E8074"/>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B7280"/>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B7791F"/>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but automatically. That combination is the thing to defend.</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B7280"/>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B7791F"/>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E8B57"/>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542032" y="1554480"/>
            <a:ext cx="93268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47472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559552"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6035040" y="1554480"/>
            <a:ext cx="248716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522208" y="1554480"/>
            <a:ext cx="320954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542032" y="188366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15" name="Text 13"/>
          <p:cNvSpPr/>
          <p:nvPr/>
        </p:nvSpPr>
        <p:spPr>
          <a:xfrm>
            <a:off x="3474720" y="188366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PCB spec</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(LLM BOM importer, auto MPN match)</a:t>
            </a:r>
            <a:endParaRPr lang="en-US" sz="750" dirty="0"/>
          </a:p>
        </p:txBody>
      </p:sp>
      <p:sp>
        <p:nvSpPr>
          <p:cNvPr id="16" name="Text 14"/>
          <p:cNvSpPr/>
          <p:nvPr/>
        </p:nvSpPr>
        <p:spPr>
          <a:xfrm>
            <a:off x="5559552"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6035040" y="188366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procurement spend or assemblies per year — no figures.</a:t>
            </a:r>
            <a:endParaRPr lang="en-US" sz="750" dirty="0"/>
          </a:p>
        </p:txBody>
      </p:sp>
      <p:sp>
        <p:nvSpPr>
          <p:cNvPr id="18" name="Text 16"/>
          <p:cNvSpPr/>
          <p:nvPr/>
        </p:nvSpPr>
        <p:spPr>
          <a:xfrm>
            <a:off x="8522208" y="188366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luminovo.com/pricing · /platform/quoting-intelligence · own FAQ "Are prices listed online?"</a:t>
            </a:r>
            <a:endParaRPr lang="en-US" sz="750" dirty="0"/>
          </a:p>
        </p:txBody>
      </p:sp>
      <p:sp>
        <p:nvSpPr>
          <p:cNvPr id="19" name="Text 17"/>
          <p:cNvSpPr/>
          <p:nvPr/>
        </p:nvSpPr>
        <p:spPr>
          <a:xfrm>
            <a:off x="457200" y="229697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542032" y="229697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21" name="Text 19"/>
          <p:cNvSpPr/>
          <p:nvPr/>
        </p:nvSpPr>
        <p:spPr>
          <a:xfrm>
            <a:off x="3474720" y="229697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sourcing rules</a:t>
            </a:r>
            <a:endParaRPr lang="en-US" sz="750" dirty="0"/>
          </a:p>
        </p:txBody>
      </p:sp>
      <p:sp>
        <p:nvSpPr>
          <p:cNvPr id="22" name="Text 20"/>
          <p:cNvSpPr/>
          <p:nvPr/>
        </p:nvSpPr>
        <p:spPr>
          <a:xfrm>
            <a:off x="5559552"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6035040" y="229697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Monthly, 3 tiers (Foundational / Professional / Enterprise), unlimited users, scaled by annual quoting volume. "Request Pricing" pages.</a:t>
            </a:r>
            <a:endParaRPr lang="en-US" sz="750" dirty="0"/>
          </a:p>
        </p:txBody>
      </p:sp>
      <p:sp>
        <p:nvSpPr>
          <p:cNvPr id="24" name="Text 22"/>
          <p:cNvSpPr/>
          <p:nvPr/>
        </p:nvSpPr>
        <p:spPr>
          <a:xfrm>
            <a:off x="8522208" y="229697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calcuquote.com/quotecq · /request-pricing-quote · elisaindustriq.com/calcuquote/pricing</a:t>
            </a:r>
            <a:endParaRPr lang="en-US" sz="750" dirty="0"/>
          </a:p>
        </p:txBody>
      </p:sp>
      <p:sp>
        <p:nvSpPr>
          <p:cNvPr id="25" name="Text 23"/>
          <p:cNvSpPr/>
          <p:nvPr/>
        </p:nvSpPr>
        <p:spPr>
          <a:xfrm>
            <a:off x="457200" y="2710282"/>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542032" y="2710282"/>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on-prem or SaaS</a:t>
            </a:r>
            <a:endParaRPr lang="en-US" sz="750" dirty="0"/>
          </a:p>
        </p:txBody>
      </p:sp>
      <p:sp>
        <p:nvSpPr>
          <p:cNvPr id="27" name="Text 25"/>
          <p:cNvSpPr/>
          <p:nvPr/>
        </p:nvSpPr>
        <p:spPr>
          <a:xfrm>
            <a:off x="3474720" y="2710282"/>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 (CAD for mechanical)</a:t>
            </a:r>
            <a:endParaRPr lang="en-US" sz="750" dirty="0"/>
          </a:p>
        </p:txBody>
      </p:sp>
      <p:sp>
        <p:nvSpPr>
          <p:cNvPr id="28" name="Text 26"/>
          <p:cNvSpPr/>
          <p:nvPr/>
        </p:nvSpPr>
        <p:spPr>
          <a:xfrm>
            <a:off x="5559552"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6035040" y="2710282"/>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750" dirty="0"/>
          </a:p>
        </p:txBody>
      </p:sp>
      <p:sp>
        <p:nvSpPr>
          <p:cNvPr id="30" name="Text 28"/>
          <p:cNvSpPr/>
          <p:nvPr/>
        </p:nvSpPr>
        <p:spPr>
          <a:xfrm>
            <a:off x="8522208" y="2710282"/>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apriori.com PCBA module + Electronics process-model PDF · G2 / TrustRadius pricing pages</a:t>
            </a:r>
            <a:endParaRPr lang="en-US" sz="750" dirty="0"/>
          </a:p>
        </p:txBody>
      </p:sp>
      <p:sp>
        <p:nvSpPr>
          <p:cNvPr id="31" name="Text 29"/>
          <p:cNvSpPr/>
          <p:nvPr/>
        </p:nvSpPr>
        <p:spPr>
          <a:xfrm>
            <a:off x="457200" y="3123590"/>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542032" y="3123590"/>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hybrid cloud</a:t>
            </a:r>
            <a:endParaRPr lang="en-US" sz="750" dirty="0"/>
          </a:p>
        </p:txBody>
      </p:sp>
      <p:sp>
        <p:nvSpPr>
          <p:cNvPr id="33" name="Text 31"/>
          <p:cNvSpPr/>
          <p:nvPr/>
        </p:nvSpPr>
        <p:spPr>
          <a:xfrm>
            <a:off x="3474720" y="3123590"/>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a:t>
            </a:r>
            <a:endParaRPr lang="en-US" sz="750" dirty="0"/>
          </a:p>
        </p:txBody>
      </p:sp>
      <p:sp>
        <p:nvSpPr>
          <p:cNvPr id="34" name="Text 32"/>
          <p:cNvSpPr/>
          <p:nvPr/>
        </p:nvSpPr>
        <p:spPr>
          <a:xfrm>
            <a:off x="5559552"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6035040" y="3123590"/>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750" dirty="0"/>
          </a:p>
        </p:txBody>
      </p:sp>
      <p:sp>
        <p:nvSpPr>
          <p:cNvPr id="36" name="Text 34"/>
          <p:cNvSpPr/>
          <p:nvPr/>
        </p:nvSpPr>
        <p:spPr>
          <a:xfrm>
            <a:off x="8522208" y="3123590"/>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siemens.com/.../teamcenter/solutions/product-cost-management</a:t>
            </a:r>
            <a:endParaRPr lang="en-US" sz="750" dirty="0"/>
          </a:p>
        </p:txBody>
      </p:sp>
      <p:sp>
        <p:nvSpPr>
          <p:cNvPr id="37" name="Text 35"/>
          <p:cNvSpPr/>
          <p:nvPr/>
        </p:nvSpPr>
        <p:spPr>
          <a:xfrm>
            <a:off x="457200" y="3536899"/>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542032" y="3536899"/>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cloud</a:t>
            </a:r>
            <a:endParaRPr lang="en-US" sz="750" dirty="0"/>
          </a:p>
        </p:txBody>
      </p:sp>
      <p:sp>
        <p:nvSpPr>
          <p:cNvPr id="39" name="Text 37"/>
          <p:cNvSpPr/>
          <p:nvPr/>
        </p:nvSpPr>
        <p:spPr>
          <a:xfrm>
            <a:off x="3474720" y="3536899"/>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Board layout, part count, process parameters</a:t>
            </a:r>
            <a:endParaRPr lang="en-US" sz="750" dirty="0"/>
          </a:p>
        </p:txBody>
      </p:sp>
      <p:sp>
        <p:nvSpPr>
          <p:cNvPr id="40" name="Text 38"/>
          <p:cNvSpPr/>
          <p:nvPr/>
        </p:nvSpPr>
        <p:spPr>
          <a:xfrm>
            <a:off x="5559552"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6035040" y="3536899"/>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a:t>
            </a:r>
            <a:endParaRPr lang="en-US" sz="750" dirty="0"/>
          </a:p>
        </p:txBody>
      </p:sp>
      <p:sp>
        <p:nvSpPr>
          <p:cNvPr id="42" name="Text 40"/>
          <p:cNvSpPr/>
          <p:nvPr/>
        </p:nvSpPr>
        <p:spPr>
          <a:xfrm>
            <a:off x="8522208" y="3536899"/>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tset.com/industries/electronics-and-high-tech-manufacturing · /videos/pcba-pcb</a:t>
            </a:r>
            <a:endParaRPr lang="en-US" sz="750" dirty="0"/>
          </a:p>
        </p:txBody>
      </p:sp>
      <p:sp>
        <p:nvSpPr>
          <p:cNvPr id="43" name="Text 41"/>
          <p:cNvSpPr/>
          <p:nvPr/>
        </p:nvSpPr>
        <p:spPr>
          <a:xfrm>
            <a:off x="457200" y="3950208"/>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542032" y="3950208"/>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licence</a:t>
            </a:r>
            <a:endParaRPr lang="en-US" sz="750" dirty="0"/>
          </a:p>
        </p:txBody>
      </p:sp>
      <p:sp>
        <p:nvSpPr>
          <p:cNvPr id="45" name="Text 43"/>
          <p:cNvSpPr/>
          <p:nvPr/>
        </p:nvSpPr>
        <p:spPr>
          <a:xfrm>
            <a:off x="3474720" y="3950208"/>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Part / assembly definition keyed in</a:t>
            </a:r>
            <a:endParaRPr lang="en-US" sz="750" dirty="0"/>
          </a:p>
        </p:txBody>
      </p:sp>
      <p:sp>
        <p:nvSpPr>
          <p:cNvPr id="46" name="Text 44"/>
          <p:cNvSpPr/>
          <p:nvPr/>
        </p:nvSpPr>
        <p:spPr>
          <a:xfrm>
            <a:off x="5559552"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B7791F"/>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6035040" y="3950208"/>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Contact sales.</a:t>
            </a:r>
            <a:endParaRPr lang="en-US" sz="750" dirty="0"/>
          </a:p>
        </p:txBody>
      </p:sp>
      <p:sp>
        <p:nvSpPr>
          <p:cNvPr id="48" name="Text 46"/>
          <p:cNvSpPr/>
          <p:nvPr/>
        </p:nvSpPr>
        <p:spPr>
          <a:xfrm>
            <a:off x="8522208" y="3950208"/>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dfma.com/software/cost.asp · /resources/pcb-cost-estimating.asp</a:t>
            </a:r>
            <a:endParaRPr lang="en-US" sz="750" dirty="0"/>
          </a:p>
        </p:txBody>
      </p:sp>
      <p:sp>
        <p:nvSpPr>
          <p:cNvPr id="49" name="Text 47"/>
          <p:cNvSpPr/>
          <p:nvPr/>
        </p:nvSpPr>
        <p:spPr>
          <a:xfrm>
            <a:off x="457200" y="4363517"/>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542032" y="4363517"/>
            <a:ext cx="932688" cy="413309"/>
          </a:xfrm>
          <a:prstGeom prst="rect">
            <a:avLst/>
          </a:prstGeom>
          <a:solidFill>
            <a:srgbClr val="FFFFFF"/>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per report</a:t>
            </a:r>
            <a:endParaRPr lang="en-US" sz="750" dirty="0"/>
          </a:p>
        </p:txBody>
      </p:sp>
      <p:sp>
        <p:nvSpPr>
          <p:cNvPr id="51" name="Text 49"/>
          <p:cNvSpPr/>
          <p:nvPr/>
        </p:nvSpPr>
        <p:spPr>
          <a:xfrm>
            <a:off x="3474720" y="4363517"/>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2" name="Text 50"/>
          <p:cNvSpPr/>
          <p:nvPr/>
        </p:nvSpPr>
        <p:spPr>
          <a:xfrm>
            <a:off x="5559552"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6035040" y="4363517"/>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PER-REPORT LIST PRICE — but the only figures I could verify are 2017–18 flyers (EUR 2,490 / 3,490 / 4,990). Treat as order-of-magnitude, not current.</a:t>
            </a:r>
            <a:endParaRPr lang="en-US" sz="750" dirty="0"/>
          </a:p>
        </p:txBody>
      </p:sp>
      <p:sp>
        <p:nvSpPr>
          <p:cNvPr id="54" name="Text 52"/>
          <p:cNvSpPr/>
          <p:nvPr/>
        </p:nvSpPr>
        <p:spPr>
          <a:xfrm>
            <a:off x="8522208" y="4363517"/>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systemplus.fr/services/reverse-costing · reverse-costing.com · yolegroup.com</a:t>
            </a:r>
            <a:endParaRPr lang="en-US" sz="750" dirty="0"/>
          </a:p>
        </p:txBody>
      </p:sp>
      <p:sp>
        <p:nvSpPr>
          <p:cNvPr id="55" name="Text 53"/>
          <p:cNvSpPr/>
          <p:nvPr/>
        </p:nvSpPr>
        <p:spPr>
          <a:xfrm>
            <a:off x="457200" y="4776826"/>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542032" y="4776826"/>
            <a:ext cx="932688" cy="413309"/>
          </a:xfrm>
          <a:prstGeom prst="rect">
            <a:avLst/>
          </a:prstGeom>
          <a:solidFill>
            <a:srgbClr val="F0F4F9"/>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 subscription</a:t>
            </a:r>
            <a:endParaRPr lang="en-US" sz="750" dirty="0"/>
          </a:p>
        </p:txBody>
      </p:sp>
      <p:sp>
        <p:nvSpPr>
          <p:cNvPr id="57" name="Text 55"/>
          <p:cNvSpPr/>
          <p:nvPr/>
        </p:nvSpPr>
        <p:spPr>
          <a:xfrm>
            <a:off x="3474720" y="4776826"/>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8" name="Text 56"/>
          <p:cNvSpPr/>
          <p:nvPr/>
        </p:nvSpPr>
        <p:spPr>
          <a:xfrm>
            <a:off x="5559552"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6035040" y="4776826"/>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750" dirty="0"/>
          </a:p>
        </p:txBody>
      </p:sp>
      <p:sp>
        <p:nvSpPr>
          <p:cNvPr id="60" name="Text 58"/>
          <p:cNvSpPr/>
          <p:nvPr/>
        </p:nvSpPr>
        <p:spPr>
          <a:xfrm>
            <a:off x="8522208" y="4776826"/>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techinsights.com/.../teardown-costing · /reverse-engineering-subscriptions</a:t>
            </a:r>
            <a:endParaRPr lang="en-US" sz="750" dirty="0"/>
          </a:p>
        </p:txBody>
      </p:sp>
      <p:sp>
        <p:nvSpPr>
          <p:cNvPr id="61" name="Text 59"/>
          <p:cNvSpPr/>
          <p:nvPr/>
        </p:nvSpPr>
        <p:spPr>
          <a:xfrm>
            <a:off x="457200" y="519013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542032" y="519013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Supplier</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self-serve</a:t>
            </a:r>
            <a:endParaRPr lang="en-US" sz="750" dirty="0"/>
          </a:p>
        </p:txBody>
      </p:sp>
      <p:sp>
        <p:nvSpPr>
          <p:cNvPr id="63" name="Text 61"/>
          <p:cNvSpPr/>
          <p:nvPr/>
        </p:nvSpPr>
        <p:spPr>
          <a:xfrm>
            <a:off x="3474720" y="519013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Gerber upload</a:t>
            </a:r>
            <a:endParaRPr lang="en-US" sz="750" dirty="0"/>
          </a:p>
        </p:txBody>
      </p:sp>
      <p:sp>
        <p:nvSpPr>
          <p:cNvPr id="64" name="Text 62"/>
          <p:cNvSpPr/>
          <p:nvPr/>
        </p:nvSpPr>
        <p:spPr>
          <a:xfrm>
            <a:off x="5559552"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6035040" y="519013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FULLY PUBLISHED, real time: SMT USD 0.0017/joint; setup USD 25 one side / USD 50 double-sided; hand solder USD 3.50 + USD 0.0173/joint. Their SELLING price, prototype/consumer scope.</a:t>
            </a:r>
            <a:endParaRPr lang="en-US" sz="750" dirty="0"/>
          </a:p>
        </p:txBody>
      </p:sp>
      <p:sp>
        <p:nvSpPr>
          <p:cNvPr id="66" name="Text 64"/>
          <p:cNvSpPr/>
          <p:nvPr/>
        </p:nvSpPr>
        <p:spPr>
          <a:xfrm>
            <a:off x="8522208" y="519013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jlcpcb.com/help/article/pcb-assembly-price · jlcpcb.com/parts/bom-tool</a:t>
            </a:r>
            <a:endParaRPr lang="en-US" sz="750" dirty="0"/>
          </a:p>
        </p:txBody>
      </p:sp>
      <p:sp>
        <p:nvSpPr>
          <p:cNvPr id="67" name="Text 65"/>
          <p:cNvSpPr/>
          <p:nvPr/>
        </p:nvSpPr>
        <p:spPr>
          <a:xfrm>
            <a:off x="457200" y="560344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542032" y="560344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browser</a:t>
            </a:r>
            <a:endParaRPr lang="en-US" sz="750" dirty="0"/>
          </a:p>
        </p:txBody>
      </p:sp>
      <p:sp>
        <p:nvSpPr>
          <p:cNvPr id="69" name="Text 67"/>
          <p:cNvSpPr/>
          <p:nvPr/>
        </p:nvSpPr>
        <p:spPr>
          <a:xfrm>
            <a:off x="3474720" y="560344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Photos of the board (top + bottom)</a:t>
            </a:r>
            <a:endParaRPr lang="en-US" sz="750" dirty="0"/>
          </a:p>
        </p:txBody>
      </p:sp>
      <p:sp>
        <p:nvSpPr>
          <p:cNvPr id="70" name="Text 68"/>
          <p:cNvSpPr/>
          <p:nvPr/>
        </p:nvSpPr>
        <p:spPr>
          <a:xfrm>
            <a:off x="5559552"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E8B57"/>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6035040" y="560344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750" dirty="0"/>
          </a:p>
        </p:txBody>
      </p:sp>
      <p:sp>
        <p:nvSpPr>
          <p:cNvPr id="72" name="Text 70"/>
          <p:cNvSpPr/>
          <p:nvPr/>
        </p:nvSpPr>
        <p:spPr>
          <a:xfrm>
            <a:off x="8522208" y="560344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B7280"/>
                </a:solidFill>
                <a:latin typeface="Calibri" pitchFamily="34" charset="0"/>
                <a:ea typeface="Calibri" pitchFamily="34" charset="-122"/>
                <a:cs typeface="Calibri" pitchFamily="34" charset="-120"/>
              </a:rPr>
              <a:t>pcbtracer.com · github.com/rpelorosso/pcb-tracer</a:t>
            </a:r>
            <a:endParaRPr lang="en-US" sz="75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B7791F"/>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A photograph</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~1,600 pinned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Yes, AIR_GAPPED=1</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E8B57"/>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the 13% fleet error we quote is mechanical parts only, and does not transfer. And the brake-ECU study rested on a fitted price curve with 18% of the BOM inferred and roughly £20 of Bosch captive silicon that has no market price at all.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E8B57"/>
            </a:solidFill>
            <a:prstDash val="solid"/>
          </a:ln>
        </p:spPr>
      </p:sp>
      <p:sp>
        <p:nvSpPr>
          <p:cNvPr id="6" name="Shape 4"/>
          <p:cNvSpPr/>
          <p:nvPr/>
        </p:nvSpPr>
        <p:spPr>
          <a:xfrm>
            <a:off x="457200" y="1133856"/>
            <a:ext cx="5532120" cy="310896"/>
          </a:xfrm>
          <a:prstGeom prst="rect">
            <a:avLst/>
          </a:prstGeom>
          <a:solidFill>
            <a:srgbClr val="2E8B57"/>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E8B57"/>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air-gapped operation, per-line evidence tags,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Live pricing is off. </a:t>
            </a:r>
            <a:pPr indent="0" marL="0">
              <a:buNone/>
            </a:pPr>
            <a:r>
              <a:rPr lang="en-US" sz="900" dirty="0">
                <a:solidFill>
                  <a:srgbClr val="3A4356"/>
                </a:solidFill>
                <a:latin typeface="Calibri" pitchFamily="34" charset="0"/>
                <a:ea typeface="Calibri" pitchFamily="34" charset="-122"/>
                <a:cs typeface="Calibri" pitchFamily="34" charset="-120"/>
              </a:rPr>
              <a:t>Built and wired; no API key, so the offline catalogue prices every line.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5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E8B57"/>
            </a:solidFill>
            <a:prstDash val="solid"/>
          </a:ln>
        </p:spPr>
      </p:sp>
      <p:sp>
        <p:nvSpPr>
          <p:cNvPr id="20" name="Shape 18"/>
          <p:cNvSpPr/>
          <p:nvPr/>
        </p:nvSpPr>
        <p:spPr>
          <a:xfrm>
            <a:off x="4288536" y="3364992"/>
            <a:ext cx="54864" cy="2048256"/>
          </a:xfrm>
          <a:prstGeom prst="rect">
            <a:avLst/>
          </a:prstGeom>
          <a:solidFill>
            <a:srgbClr val="2E8B57"/>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E8B57"/>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50" i="1" dirty="0">
                <a:solidFill>
                  <a:srgbClr val="2E8B57"/>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5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B7791F"/>
            </a:solidFill>
            <a:prstDash val="solid"/>
          </a:ln>
        </p:spPr>
      </p:sp>
      <p:sp>
        <p:nvSpPr>
          <p:cNvPr id="26" name="Shape 24"/>
          <p:cNvSpPr/>
          <p:nvPr/>
        </p:nvSpPr>
        <p:spPr>
          <a:xfrm>
            <a:off x="8119872" y="3364992"/>
            <a:ext cx="54864" cy="2048256"/>
          </a:xfrm>
          <a:prstGeom prst="rect">
            <a:avLst/>
          </a:prstGeom>
          <a:solidFill>
            <a:srgbClr val="B7791F"/>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B7791F"/>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50" i="1" dirty="0">
                <a:solidFill>
                  <a:srgbClr val="B7791F"/>
                </a:solidFill>
                <a:latin typeface="Calibri" pitchFamily="34" charset="0"/>
                <a:ea typeface="Calibri" pitchFamily="34" charset="-122"/>
                <a:cs typeface="Calibri" pitchFamily="34" charset="-120"/>
              </a:rPr>
              <a:t>One conversation. Larger effect on the answer than any volume or region change we have modelled.</a:t>
            </a:r>
            <a:endParaRPr lang="en-US" sz="75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E8B57"/>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Those two together turn every red cell on the previous slide amber or green, and neither needs a line of new engineering — the integration and the calibration machinery are both already built and tested.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5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5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5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50" dirty="0">
                <a:solidFill>
                  <a:srgbClr val="6B7280"/>
                </a:solidFill>
                <a:latin typeface="Calibri" pitchFamily="34" charset="0"/>
                <a:ea typeface="Calibri" pitchFamily="34" charset="-122"/>
                <a:cs typeface="Calibri" pitchFamily="34" charset="-120"/>
              </a:rPr>
              <a:t>annual purchased value of the</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parts we put through it</a:t>
            </a:r>
            <a:endParaRPr lang="en-US" sz="75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50" dirty="0">
                <a:solidFill>
                  <a:srgbClr val="6B7280"/>
                </a:solidFill>
                <a:latin typeface="Calibri" pitchFamily="34" charset="0"/>
                <a:ea typeface="Calibri" pitchFamily="34" charset="-122"/>
                <a:cs typeface="Calibri" pitchFamily="34" charset="-120"/>
              </a:rPr>
              <a:t>planning figure — the tool</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measured 22% on the</a:t>
            </a:r>
            <a:endParaRPr lang="en-US" sz="750" dirty="0"/>
          </a:p>
          <a:p>
            <a:pPr indent="0" marL="0">
              <a:buNone/>
            </a:pPr>
            <a:r>
              <a:rPr lang="en-US" sz="750" dirty="0">
                <a:solidFill>
                  <a:srgbClr val="6B7280"/>
                </a:solidFill>
                <a:latin typeface="Calibri" pitchFamily="34" charset="0"/>
                <a:ea typeface="Calibri" pitchFamily="34" charset="-122"/>
                <a:cs typeface="Calibri" pitchFamily="34" charset="-120"/>
              </a:rPr>
              <a:t>reference part</a:t>
            </a:r>
            <a:endParaRPr lang="en-US" sz="75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50" dirty="0">
                <a:solidFill>
                  <a:srgbClr val="B7791F"/>
                </a:solidFill>
                <a:latin typeface="Calibri" pitchFamily="34" charset="0"/>
                <a:ea typeface="Calibri" pitchFamily="34" charset="-122"/>
                <a:cs typeface="Calibri" pitchFamily="34" charset="-120"/>
              </a:rPr>
              <a:t>the share we actually</a:t>
            </a:r>
            <a:endParaRPr lang="en-US" sz="750" dirty="0"/>
          </a:p>
          <a:p>
            <a:pPr indent="0" marL="0">
              <a:buNone/>
            </a:pPr>
            <a:r>
              <a:rPr lang="en-US" sz="750" dirty="0">
                <a:solidFill>
                  <a:srgbClr val="B7791F"/>
                </a:solidFill>
                <a:latin typeface="Calibri" pitchFamily="34" charset="0"/>
                <a:ea typeface="Calibri" pitchFamily="34" charset="-122"/>
                <a:cs typeface="Calibri" pitchFamily="34" charset="-120"/>
              </a:rPr>
              <a:t>implement — the honest</a:t>
            </a:r>
            <a:endParaRPr lang="en-US" sz="750" dirty="0"/>
          </a:p>
          <a:p>
            <a:pPr indent="0" marL="0">
              <a:buNone/>
            </a:pPr>
            <a:r>
              <a:rPr lang="en-US" sz="750" dirty="0">
                <a:solidFill>
                  <a:srgbClr val="B7791F"/>
                </a:solidFill>
                <a:latin typeface="Calibri" pitchFamily="34" charset="0"/>
                <a:ea typeface="Calibri" pitchFamily="34" charset="-122"/>
                <a:cs typeface="Calibri" pitchFamily="34" charset="-120"/>
              </a:rPr>
              <a:t>unknown</a:t>
            </a:r>
            <a:endParaRPr lang="en-US" sz="75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50" dirty="0">
                <a:solidFill>
                  <a:srgbClr val="2E8B57"/>
                </a:solidFill>
                <a:latin typeface="Calibri" pitchFamily="34" charset="0"/>
                <a:ea typeface="Calibri" pitchFamily="34" charset="-122"/>
                <a:cs typeface="Calibri" pitchFamily="34" charset="-120"/>
              </a:rPr>
              <a:t>recurring, against a one-off</a:t>
            </a:r>
            <a:endParaRPr lang="en-US" sz="750" dirty="0"/>
          </a:p>
          <a:p>
            <a:pPr indent="0" marL="0">
              <a:buNone/>
            </a:pPr>
            <a:r>
              <a:rPr lang="en-US" sz="750" dirty="0">
                <a:solidFill>
                  <a:srgbClr val="2E8B57"/>
                </a:solidFill>
                <a:latin typeface="Calibri" pitchFamily="34" charset="0"/>
                <a:ea typeface="Calibri" pitchFamily="34" charset="-122"/>
                <a:cs typeface="Calibri" pitchFamily="34" charset="-120"/>
              </a:rPr>
              <a:t>pilot cost of ≈ £25k</a:t>
            </a:r>
            <a:endParaRPr lang="en-US" sz="75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5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5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5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5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CHOSEN</a:t>
            </a:r>
            <a:endParaRPr lang="en-US" sz="75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750" b="1" dirty="0">
                <a:solidFill>
                  <a:srgbClr val="6B7280"/>
                </a:solidFill>
                <a:latin typeface="Calibri" pitchFamily="34" charset="0"/>
                <a:ea typeface="Calibri" pitchFamily="34" charset="-122"/>
                <a:cs typeface="Calibri" pitchFamily="34" charset="-120"/>
              </a:rPr>
              <a:t>rejected</a:t>
            </a:r>
            <a:endParaRPr lang="en-US" sz="75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568 h × £58</a:t>
            </a:r>
            <a:endParaRPr lang="en-US" sz="75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footprint-scaled</a:t>
            </a:r>
            <a:endParaRPr lang="en-US" sz="75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8,469 kg × £8.2</a:t>
            </a:r>
            <a:endParaRPr lang="en-US" sz="75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2,691 h × £52</a:t>
            </a:r>
            <a:endParaRPr lang="en-US" sz="75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336 h × £58</a:t>
            </a:r>
            <a:endParaRPr lang="en-US" sz="75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269 h × £45</a:t>
            </a:r>
            <a:endParaRPr lang="en-US" sz="75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673 h × £48</a:t>
            </a:r>
            <a:endParaRPr lang="en-US" sz="75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40 h × £85</a:t>
            </a:r>
            <a:endParaRPr lang="en-US" sz="75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bought-out + bench</a:t>
            </a:r>
            <a:endParaRPr lang="en-US" sz="75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22%</a:t>
            </a:r>
            <a:endParaRPr lang="en-US" sz="75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(hammer 1.2714 £5.8 · H13 £9.5 · PM £14)</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75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die-set machining + 4 tryout strip runs</a:t>
            </a:r>
            <a:endParaRPr lang="en-US" sz="75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75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75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B7791F"/>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530352"/>
          </a:xfrm>
          <a:prstGeom prst="roundRect">
            <a:avLst>
              <a:gd name="adj" fmla="val 10345"/>
            </a:avLst>
          </a:prstGeom>
          <a:solidFill>
            <a:srgbClr val="FFFFFF"/>
          </a:solidFill>
          <a:ln w="9525">
            <a:solidFill>
              <a:srgbClr val="DCE3EE"/>
            </a:solidFill>
            <a:prstDash val="solid"/>
          </a:ln>
        </p:spPr>
      </p:sp>
      <p:sp>
        <p:nvSpPr>
          <p:cNvPr id="11" name="Shape 9"/>
          <p:cNvSpPr/>
          <p:nvPr/>
        </p:nvSpPr>
        <p:spPr>
          <a:xfrm>
            <a:off x="457200" y="2212848"/>
            <a:ext cx="50292" cy="530352"/>
          </a:xfrm>
          <a:prstGeom prst="rect">
            <a:avLst/>
          </a:prstGeom>
          <a:solidFill>
            <a:srgbClr val="2E8B57"/>
          </a:solidFill>
          <a:ln/>
        </p:spPr>
      </p:sp>
      <p:sp>
        <p:nvSpPr>
          <p:cNvPr id="12" name="Text 10"/>
          <p:cNvSpPr/>
          <p:nvPr/>
        </p:nvSpPr>
        <p:spPr>
          <a:xfrm>
            <a:off x="658368" y="2212848"/>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Shape 11"/>
          <p:cNvSpPr/>
          <p:nvPr/>
        </p:nvSpPr>
        <p:spPr>
          <a:xfrm>
            <a:off x="3611880" y="2295144"/>
            <a:ext cx="1078992" cy="365760"/>
          </a:xfrm>
          <a:prstGeom prst="roundRect">
            <a:avLst>
              <a:gd name="adj" fmla="val 12500"/>
            </a:avLst>
          </a:prstGeom>
          <a:solidFill>
            <a:srgbClr val="FFFFFF"/>
          </a:solidFill>
          <a:ln w="9525">
            <a:solidFill>
              <a:srgbClr val="6B7280"/>
            </a:solidFill>
            <a:prstDash val="solid"/>
          </a:ln>
        </p:spPr>
      </p:sp>
      <p:sp>
        <p:nvSpPr>
          <p:cNvPr id="14" name="Text 12"/>
          <p:cNvSpPr/>
          <p:nvPr/>
        </p:nvSpPr>
        <p:spPr>
          <a:xfrm>
            <a:off x="361188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15" name="Shape 13"/>
          <p:cNvSpPr/>
          <p:nvPr/>
        </p:nvSpPr>
        <p:spPr>
          <a:xfrm>
            <a:off x="4732020" y="2478024"/>
            <a:ext cx="118872" cy="0"/>
          </a:xfrm>
          <a:prstGeom prst="line">
            <a:avLst/>
          </a:prstGeom>
          <a:noFill/>
          <a:ln w="19050">
            <a:solidFill>
              <a:srgbClr val="6B7280"/>
            </a:solidFill>
            <a:prstDash val="solid"/>
            <a:tailEnd type="triangle"/>
          </a:ln>
        </p:spPr>
      </p:sp>
      <p:sp>
        <p:nvSpPr>
          <p:cNvPr id="16" name="Shape 14"/>
          <p:cNvSpPr/>
          <p:nvPr/>
        </p:nvSpPr>
        <p:spPr>
          <a:xfrm>
            <a:off x="4892040" y="2295144"/>
            <a:ext cx="1078992" cy="365760"/>
          </a:xfrm>
          <a:prstGeom prst="roundRect">
            <a:avLst>
              <a:gd name="adj" fmla="val 12500"/>
            </a:avLst>
          </a:prstGeom>
          <a:solidFill>
            <a:srgbClr val="FFFFFF"/>
          </a:solidFill>
          <a:ln w="9525">
            <a:solidFill>
              <a:srgbClr val="6B7280"/>
            </a:solidFill>
            <a:prstDash val="solid"/>
          </a:ln>
        </p:spPr>
      </p:sp>
      <p:sp>
        <p:nvSpPr>
          <p:cNvPr id="17" name="Text 15"/>
          <p:cNvSpPr/>
          <p:nvPr/>
        </p:nvSpPr>
        <p:spPr>
          <a:xfrm>
            <a:off x="489204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18" name="Shape 16"/>
          <p:cNvSpPr/>
          <p:nvPr/>
        </p:nvSpPr>
        <p:spPr>
          <a:xfrm>
            <a:off x="6012180" y="2478024"/>
            <a:ext cx="118872" cy="0"/>
          </a:xfrm>
          <a:prstGeom prst="line">
            <a:avLst/>
          </a:prstGeom>
          <a:noFill/>
          <a:ln w="19050">
            <a:solidFill>
              <a:srgbClr val="6B7280"/>
            </a:solidFill>
            <a:prstDash val="solid"/>
            <a:tailEnd type="triangle"/>
          </a:ln>
        </p:spPr>
      </p:sp>
      <p:sp>
        <p:nvSpPr>
          <p:cNvPr id="19" name="Shape 17"/>
          <p:cNvSpPr/>
          <p:nvPr/>
        </p:nvSpPr>
        <p:spPr>
          <a:xfrm>
            <a:off x="6172200" y="2295144"/>
            <a:ext cx="1078992" cy="365760"/>
          </a:xfrm>
          <a:prstGeom prst="roundRect">
            <a:avLst>
              <a:gd name="adj" fmla="val 12500"/>
            </a:avLst>
          </a:prstGeom>
          <a:solidFill>
            <a:srgbClr val="FFFFFF"/>
          </a:solidFill>
          <a:ln w="9525">
            <a:solidFill>
              <a:srgbClr val="6B7280"/>
            </a:solidFill>
            <a:prstDash val="solid"/>
          </a:ln>
        </p:spPr>
      </p:sp>
      <p:sp>
        <p:nvSpPr>
          <p:cNvPr id="20" name="Text 18"/>
          <p:cNvSpPr/>
          <p:nvPr/>
        </p:nvSpPr>
        <p:spPr>
          <a:xfrm>
            <a:off x="617220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21" name="Text 19"/>
          <p:cNvSpPr/>
          <p:nvPr/>
        </p:nvSpPr>
        <p:spPr>
          <a:xfrm>
            <a:off x="9966960" y="2212848"/>
            <a:ext cx="914400" cy="530352"/>
          </a:xfrm>
          <a:prstGeom prst="rect">
            <a:avLst/>
          </a:prstGeom>
          <a:noFill/>
          <a:ln/>
        </p:spPr>
        <p:txBody>
          <a:bodyPr wrap="square" lIns="0" tIns="0" rIns="0" bIns="0" rtlCol="0" anchor="ctr"/>
          <a:lstStyle/>
          <a:p>
            <a:pPr algn="r" indent="0" marL="0">
              <a:buNone/>
            </a:pPr>
            <a:r>
              <a:rPr lang="en-US" sz="1500" b="1" dirty="0">
                <a:solidFill>
                  <a:srgbClr val="2E8B57"/>
                </a:solidFill>
                <a:latin typeface="Cambria" pitchFamily="34" charset="0"/>
                <a:ea typeface="Cambria" pitchFamily="34" charset="-122"/>
                <a:cs typeface="Cambria" pitchFamily="34" charset="-120"/>
              </a:rPr>
              <a:t>£8.26</a:t>
            </a:r>
            <a:endParaRPr lang="en-US" sz="1500" dirty="0"/>
          </a:p>
        </p:txBody>
      </p:sp>
      <p:sp>
        <p:nvSpPr>
          <p:cNvPr id="22" name="Text 20"/>
          <p:cNvSpPr/>
          <p:nvPr/>
        </p:nvSpPr>
        <p:spPr>
          <a:xfrm>
            <a:off x="10927080" y="2212848"/>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95 s</a:t>
            </a:r>
            <a:endParaRPr lang="en-US" sz="950" dirty="0"/>
          </a:p>
        </p:txBody>
      </p:sp>
      <p:sp>
        <p:nvSpPr>
          <p:cNvPr id="23" name="Shape 21"/>
          <p:cNvSpPr/>
          <p:nvPr/>
        </p:nvSpPr>
        <p:spPr>
          <a:xfrm>
            <a:off x="457200" y="2816352"/>
            <a:ext cx="11274552" cy="530352"/>
          </a:xfrm>
          <a:prstGeom prst="roundRect">
            <a:avLst>
              <a:gd name="adj" fmla="val 10345"/>
            </a:avLst>
          </a:prstGeom>
          <a:solidFill>
            <a:srgbClr val="FFFFFF"/>
          </a:solidFill>
          <a:ln w="9525">
            <a:solidFill>
              <a:srgbClr val="DCE3EE"/>
            </a:solidFill>
            <a:prstDash val="solid"/>
          </a:ln>
        </p:spPr>
      </p:sp>
      <p:sp>
        <p:nvSpPr>
          <p:cNvPr id="24" name="Shape 22"/>
          <p:cNvSpPr/>
          <p:nvPr/>
        </p:nvSpPr>
        <p:spPr>
          <a:xfrm>
            <a:off x="457200" y="2816352"/>
            <a:ext cx="50292" cy="530352"/>
          </a:xfrm>
          <a:prstGeom prst="rect">
            <a:avLst/>
          </a:prstGeom>
          <a:solidFill>
            <a:srgbClr val="B7791F"/>
          </a:solidFill>
          <a:ln/>
        </p:spPr>
      </p:sp>
      <p:sp>
        <p:nvSpPr>
          <p:cNvPr id="25" name="Text 23"/>
          <p:cNvSpPr/>
          <p:nvPr/>
        </p:nvSpPr>
        <p:spPr>
          <a:xfrm>
            <a:off x="658368" y="2816352"/>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26" name="Shape 24"/>
          <p:cNvSpPr/>
          <p:nvPr/>
        </p:nvSpPr>
        <p:spPr>
          <a:xfrm>
            <a:off x="3611880" y="2898648"/>
            <a:ext cx="1078992" cy="365760"/>
          </a:xfrm>
          <a:prstGeom prst="roundRect">
            <a:avLst>
              <a:gd name="adj" fmla="val 12500"/>
            </a:avLst>
          </a:prstGeom>
          <a:solidFill>
            <a:srgbClr val="FFFFFF"/>
          </a:solidFill>
          <a:ln w="9525">
            <a:solidFill>
              <a:srgbClr val="6B7280"/>
            </a:solidFill>
            <a:prstDash val="solid"/>
          </a:ln>
        </p:spPr>
      </p:sp>
      <p:sp>
        <p:nvSpPr>
          <p:cNvPr id="27" name="Text 25"/>
          <p:cNvSpPr/>
          <p:nvPr/>
        </p:nvSpPr>
        <p:spPr>
          <a:xfrm>
            <a:off x="361188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28" name="Shape 26"/>
          <p:cNvSpPr/>
          <p:nvPr/>
        </p:nvSpPr>
        <p:spPr>
          <a:xfrm>
            <a:off x="4732020" y="3081528"/>
            <a:ext cx="118872" cy="0"/>
          </a:xfrm>
          <a:prstGeom prst="line">
            <a:avLst/>
          </a:prstGeom>
          <a:noFill/>
          <a:ln w="19050">
            <a:solidFill>
              <a:srgbClr val="6B7280"/>
            </a:solidFill>
            <a:prstDash val="solid"/>
            <a:tailEnd type="triangle"/>
          </a:ln>
        </p:spPr>
      </p:sp>
      <p:sp>
        <p:nvSpPr>
          <p:cNvPr id="29" name="Shape 27"/>
          <p:cNvSpPr/>
          <p:nvPr/>
        </p:nvSpPr>
        <p:spPr>
          <a:xfrm>
            <a:off x="4892040" y="2898648"/>
            <a:ext cx="1078992" cy="365760"/>
          </a:xfrm>
          <a:prstGeom prst="roundRect">
            <a:avLst>
              <a:gd name="adj" fmla="val 12500"/>
            </a:avLst>
          </a:prstGeom>
          <a:solidFill>
            <a:srgbClr val="FFFFFF"/>
          </a:solidFill>
          <a:ln w="9525">
            <a:solidFill>
              <a:srgbClr val="6B7280"/>
            </a:solidFill>
            <a:prstDash val="solid"/>
          </a:ln>
        </p:spPr>
      </p:sp>
      <p:sp>
        <p:nvSpPr>
          <p:cNvPr id="30" name="Text 28"/>
          <p:cNvSpPr/>
          <p:nvPr/>
        </p:nvSpPr>
        <p:spPr>
          <a:xfrm>
            <a:off x="489204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31" name="Shape 29"/>
          <p:cNvSpPr/>
          <p:nvPr/>
        </p:nvSpPr>
        <p:spPr>
          <a:xfrm>
            <a:off x="6012180" y="3081528"/>
            <a:ext cx="118872" cy="0"/>
          </a:xfrm>
          <a:prstGeom prst="line">
            <a:avLst/>
          </a:prstGeom>
          <a:noFill/>
          <a:ln w="19050">
            <a:solidFill>
              <a:srgbClr val="6B7280"/>
            </a:solidFill>
            <a:prstDash val="solid"/>
            <a:tailEnd type="triangle"/>
          </a:ln>
        </p:spPr>
      </p:sp>
      <p:sp>
        <p:nvSpPr>
          <p:cNvPr id="32" name="Shape 30"/>
          <p:cNvSpPr/>
          <p:nvPr/>
        </p:nvSpPr>
        <p:spPr>
          <a:xfrm>
            <a:off x="6172200" y="2898648"/>
            <a:ext cx="1078992" cy="365760"/>
          </a:xfrm>
          <a:prstGeom prst="roundRect">
            <a:avLst>
              <a:gd name="adj" fmla="val 12500"/>
            </a:avLst>
          </a:prstGeom>
          <a:solidFill>
            <a:srgbClr val="B7791F"/>
          </a:solidFill>
          <a:ln w="15875">
            <a:solidFill>
              <a:srgbClr val="B7791F"/>
            </a:solidFill>
            <a:prstDash val="solid"/>
          </a:ln>
        </p:spPr>
      </p:sp>
      <p:sp>
        <p:nvSpPr>
          <p:cNvPr id="33" name="Text 31"/>
          <p:cNvSpPr/>
          <p:nvPr/>
        </p:nvSpPr>
        <p:spPr>
          <a:xfrm>
            <a:off x="617220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34" name="Shape 32"/>
          <p:cNvSpPr/>
          <p:nvPr/>
        </p:nvSpPr>
        <p:spPr>
          <a:xfrm>
            <a:off x="7292340" y="3081528"/>
            <a:ext cx="118872" cy="0"/>
          </a:xfrm>
          <a:prstGeom prst="line">
            <a:avLst/>
          </a:prstGeom>
          <a:noFill/>
          <a:ln w="19050">
            <a:solidFill>
              <a:srgbClr val="6B7280"/>
            </a:solidFill>
            <a:prstDash val="solid"/>
            <a:tailEnd type="triangle"/>
          </a:ln>
        </p:spPr>
      </p:sp>
      <p:sp>
        <p:nvSpPr>
          <p:cNvPr id="35" name="Shape 33"/>
          <p:cNvSpPr/>
          <p:nvPr/>
        </p:nvSpPr>
        <p:spPr>
          <a:xfrm>
            <a:off x="7452360" y="2898648"/>
            <a:ext cx="1078992" cy="365760"/>
          </a:xfrm>
          <a:prstGeom prst="roundRect">
            <a:avLst>
              <a:gd name="adj" fmla="val 12500"/>
            </a:avLst>
          </a:prstGeom>
          <a:solidFill>
            <a:srgbClr val="B7791F"/>
          </a:solidFill>
          <a:ln w="15875">
            <a:solidFill>
              <a:srgbClr val="B7791F"/>
            </a:solidFill>
            <a:prstDash val="solid"/>
          </a:ln>
        </p:spPr>
      </p:sp>
      <p:sp>
        <p:nvSpPr>
          <p:cNvPr id="36" name="Text 34"/>
          <p:cNvSpPr/>
          <p:nvPr/>
        </p:nvSpPr>
        <p:spPr>
          <a:xfrm>
            <a:off x="745236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37" name="Shape 35"/>
          <p:cNvSpPr/>
          <p:nvPr/>
        </p:nvSpPr>
        <p:spPr>
          <a:xfrm>
            <a:off x="8572500" y="3081528"/>
            <a:ext cx="118872" cy="0"/>
          </a:xfrm>
          <a:prstGeom prst="line">
            <a:avLst/>
          </a:prstGeom>
          <a:noFill/>
          <a:ln w="19050">
            <a:solidFill>
              <a:srgbClr val="6B7280"/>
            </a:solidFill>
            <a:prstDash val="solid"/>
            <a:tailEnd type="triangle"/>
          </a:ln>
        </p:spPr>
      </p:sp>
      <p:sp>
        <p:nvSpPr>
          <p:cNvPr id="38" name="Shape 36"/>
          <p:cNvSpPr/>
          <p:nvPr/>
        </p:nvSpPr>
        <p:spPr>
          <a:xfrm>
            <a:off x="8732520" y="2898648"/>
            <a:ext cx="1078992" cy="365760"/>
          </a:xfrm>
          <a:prstGeom prst="roundRect">
            <a:avLst>
              <a:gd name="adj" fmla="val 12500"/>
            </a:avLst>
          </a:prstGeom>
          <a:solidFill>
            <a:srgbClr val="FFFFFF"/>
          </a:solidFill>
          <a:ln w="9525">
            <a:solidFill>
              <a:srgbClr val="6B7280"/>
            </a:solidFill>
            <a:prstDash val="solid"/>
          </a:ln>
        </p:spPr>
      </p:sp>
      <p:sp>
        <p:nvSpPr>
          <p:cNvPr id="39" name="Text 37"/>
          <p:cNvSpPr/>
          <p:nvPr/>
        </p:nvSpPr>
        <p:spPr>
          <a:xfrm>
            <a:off x="873252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40" name="Text 38"/>
          <p:cNvSpPr/>
          <p:nvPr/>
        </p:nvSpPr>
        <p:spPr>
          <a:xfrm>
            <a:off x="9966960" y="2816352"/>
            <a:ext cx="914400" cy="530352"/>
          </a:xfrm>
          <a:prstGeom prst="rect">
            <a:avLst/>
          </a:prstGeom>
          <a:noFill/>
          <a:ln/>
        </p:spPr>
        <p:txBody>
          <a:bodyPr wrap="square" lIns="0" tIns="0" rIns="0" bIns="0" rtlCol="0" anchor="ctr"/>
          <a:lstStyle/>
          <a:p>
            <a:pPr algn="r" indent="0" marL="0">
              <a:buNone/>
            </a:pPr>
            <a:r>
              <a:rPr lang="en-US" sz="1500" b="1" dirty="0">
                <a:solidFill>
                  <a:srgbClr val="B7791F"/>
                </a:solidFill>
                <a:latin typeface="Cambria" pitchFamily="34" charset="0"/>
                <a:ea typeface="Cambria" pitchFamily="34" charset="-122"/>
                <a:cs typeface="Cambria" pitchFamily="34" charset="-120"/>
              </a:rPr>
              <a:t>£13.55</a:t>
            </a:r>
            <a:endParaRPr lang="en-US" sz="1500" dirty="0"/>
          </a:p>
        </p:txBody>
      </p:sp>
      <p:sp>
        <p:nvSpPr>
          <p:cNvPr id="41" name="Text 39"/>
          <p:cNvSpPr/>
          <p:nvPr/>
        </p:nvSpPr>
        <p:spPr>
          <a:xfrm>
            <a:off x="10927080" y="2816352"/>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141 s</a:t>
            </a:r>
            <a:endParaRPr lang="en-US" sz="950" dirty="0"/>
          </a:p>
        </p:txBody>
      </p:sp>
      <p:sp>
        <p:nvSpPr>
          <p:cNvPr id="42" name="Shape 40"/>
          <p:cNvSpPr/>
          <p:nvPr/>
        </p:nvSpPr>
        <p:spPr>
          <a:xfrm>
            <a:off x="457200" y="3419856"/>
            <a:ext cx="11274552" cy="530352"/>
          </a:xfrm>
          <a:prstGeom prst="roundRect">
            <a:avLst>
              <a:gd name="adj" fmla="val 10345"/>
            </a:avLst>
          </a:prstGeom>
          <a:solidFill>
            <a:srgbClr val="FFFFFF"/>
          </a:solidFill>
          <a:ln w="9525">
            <a:solidFill>
              <a:srgbClr val="DCE3EE"/>
            </a:solidFill>
            <a:prstDash val="solid"/>
          </a:ln>
        </p:spPr>
      </p:sp>
      <p:sp>
        <p:nvSpPr>
          <p:cNvPr id="43" name="Shape 41"/>
          <p:cNvSpPr/>
          <p:nvPr/>
        </p:nvSpPr>
        <p:spPr>
          <a:xfrm>
            <a:off x="457200" y="3419856"/>
            <a:ext cx="50292" cy="530352"/>
          </a:xfrm>
          <a:prstGeom prst="rect">
            <a:avLst/>
          </a:prstGeom>
          <a:solidFill>
            <a:srgbClr val="1D6FB8"/>
          </a:solidFill>
          <a:ln/>
        </p:spPr>
      </p:sp>
      <p:sp>
        <p:nvSpPr>
          <p:cNvPr id="44" name="Text 42"/>
          <p:cNvSpPr/>
          <p:nvPr/>
        </p:nvSpPr>
        <p:spPr>
          <a:xfrm>
            <a:off x="658368" y="3419856"/>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45" name="Shape 43"/>
          <p:cNvSpPr/>
          <p:nvPr/>
        </p:nvSpPr>
        <p:spPr>
          <a:xfrm>
            <a:off x="3611880" y="3502152"/>
            <a:ext cx="1078992" cy="365760"/>
          </a:xfrm>
          <a:prstGeom prst="roundRect">
            <a:avLst>
              <a:gd name="adj" fmla="val 12500"/>
            </a:avLst>
          </a:prstGeom>
          <a:solidFill>
            <a:srgbClr val="FFFFFF"/>
          </a:solidFill>
          <a:ln w="9525">
            <a:solidFill>
              <a:srgbClr val="6B7280"/>
            </a:solidFill>
            <a:prstDash val="solid"/>
          </a:ln>
        </p:spPr>
      </p:sp>
      <p:sp>
        <p:nvSpPr>
          <p:cNvPr id="46" name="Text 44"/>
          <p:cNvSpPr/>
          <p:nvPr/>
        </p:nvSpPr>
        <p:spPr>
          <a:xfrm>
            <a:off x="361188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Power skive</a:t>
            </a:r>
            <a:endParaRPr lang="en-US" sz="820" dirty="0"/>
          </a:p>
        </p:txBody>
      </p:sp>
      <p:sp>
        <p:nvSpPr>
          <p:cNvPr id="47" name="Shape 45"/>
          <p:cNvSpPr/>
          <p:nvPr/>
        </p:nvSpPr>
        <p:spPr>
          <a:xfrm>
            <a:off x="4732020" y="3685032"/>
            <a:ext cx="118872" cy="0"/>
          </a:xfrm>
          <a:prstGeom prst="line">
            <a:avLst/>
          </a:prstGeom>
          <a:noFill/>
          <a:ln w="19050">
            <a:solidFill>
              <a:srgbClr val="6B7280"/>
            </a:solidFill>
            <a:prstDash val="solid"/>
            <a:tailEnd type="triangle"/>
          </a:ln>
        </p:spPr>
      </p:sp>
      <p:sp>
        <p:nvSpPr>
          <p:cNvPr id="48" name="Shape 46"/>
          <p:cNvSpPr/>
          <p:nvPr/>
        </p:nvSpPr>
        <p:spPr>
          <a:xfrm>
            <a:off x="4892040" y="3502152"/>
            <a:ext cx="1078992" cy="365760"/>
          </a:xfrm>
          <a:prstGeom prst="roundRect">
            <a:avLst>
              <a:gd name="adj" fmla="val 12500"/>
            </a:avLst>
          </a:prstGeom>
          <a:solidFill>
            <a:srgbClr val="FFFFFF"/>
          </a:solidFill>
          <a:ln w="9525">
            <a:solidFill>
              <a:srgbClr val="6B7280"/>
            </a:solidFill>
            <a:prstDash val="solid"/>
          </a:ln>
        </p:spPr>
      </p:sp>
      <p:sp>
        <p:nvSpPr>
          <p:cNvPr id="49" name="Text 47"/>
          <p:cNvSpPr/>
          <p:nvPr/>
        </p:nvSpPr>
        <p:spPr>
          <a:xfrm>
            <a:off x="489204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50" name="Shape 48"/>
          <p:cNvSpPr/>
          <p:nvPr/>
        </p:nvSpPr>
        <p:spPr>
          <a:xfrm>
            <a:off x="6012180" y="3685032"/>
            <a:ext cx="118872" cy="0"/>
          </a:xfrm>
          <a:prstGeom prst="line">
            <a:avLst/>
          </a:prstGeom>
          <a:noFill/>
          <a:ln w="19050">
            <a:solidFill>
              <a:srgbClr val="6B7280"/>
            </a:solidFill>
            <a:prstDash val="solid"/>
            <a:tailEnd type="triangle"/>
          </a:ln>
        </p:spPr>
      </p:sp>
      <p:sp>
        <p:nvSpPr>
          <p:cNvPr id="51" name="Shape 49"/>
          <p:cNvSpPr/>
          <p:nvPr/>
        </p:nvSpPr>
        <p:spPr>
          <a:xfrm>
            <a:off x="6172200" y="3502152"/>
            <a:ext cx="1078992" cy="365760"/>
          </a:xfrm>
          <a:prstGeom prst="roundRect">
            <a:avLst>
              <a:gd name="adj" fmla="val 12500"/>
            </a:avLst>
          </a:prstGeom>
          <a:solidFill>
            <a:srgbClr val="1D6FB8"/>
          </a:solidFill>
          <a:ln w="15875">
            <a:solidFill>
              <a:srgbClr val="1D6FB8"/>
            </a:solidFill>
            <a:prstDash val="solid"/>
          </a:ln>
        </p:spPr>
      </p:sp>
      <p:sp>
        <p:nvSpPr>
          <p:cNvPr id="52" name="Text 50"/>
          <p:cNvSpPr/>
          <p:nvPr/>
        </p:nvSpPr>
        <p:spPr>
          <a:xfrm>
            <a:off x="617220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53" name="Shape 51"/>
          <p:cNvSpPr/>
          <p:nvPr/>
        </p:nvSpPr>
        <p:spPr>
          <a:xfrm>
            <a:off x="7292340" y="3685032"/>
            <a:ext cx="118872" cy="0"/>
          </a:xfrm>
          <a:prstGeom prst="line">
            <a:avLst/>
          </a:prstGeom>
          <a:noFill/>
          <a:ln w="19050">
            <a:solidFill>
              <a:srgbClr val="6B7280"/>
            </a:solidFill>
            <a:prstDash val="solid"/>
            <a:tailEnd type="triangle"/>
          </a:ln>
        </p:spPr>
      </p:sp>
      <p:sp>
        <p:nvSpPr>
          <p:cNvPr id="54" name="Shape 52"/>
          <p:cNvSpPr/>
          <p:nvPr/>
        </p:nvSpPr>
        <p:spPr>
          <a:xfrm>
            <a:off x="7452360" y="3502152"/>
            <a:ext cx="1078992" cy="365760"/>
          </a:xfrm>
          <a:prstGeom prst="roundRect">
            <a:avLst>
              <a:gd name="adj" fmla="val 12500"/>
            </a:avLst>
          </a:prstGeom>
          <a:solidFill>
            <a:srgbClr val="FFFFFF"/>
          </a:solidFill>
          <a:ln w="9525">
            <a:solidFill>
              <a:srgbClr val="6B7280"/>
            </a:solidFill>
            <a:prstDash val="solid"/>
          </a:ln>
        </p:spPr>
      </p:sp>
      <p:sp>
        <p:nvSpPr>
          <p:cNvPr id="55" name="Text 53"/>
          <p:cNvSpPr/>
          <p:nvPr/>
        </p:nvSpPr>
        <p:spPr>
          <a:xfrm>
            <a:off x="745236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56" name="Text 54"/>
          <p:cNvSpPr/>
          <p:nvPr/>
        </p:nvSpPr>
        <p:spPr>
          <a:xfrm>
            <a:off x="9966960" y="3419856"/>
            <a:ext cx="914400" cy="530352"/>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£11.19</a:t>
            </a:r>
            <a:endParaRPr lang="en-US" sz="1500" dirty="0"/>
          </a:p>
        </p:txBody>
      </p:sp>
      <p:sp>
        <p:nvSpPr>
          <p:cNvPr id="57" name="Text 55"/>
          <p:cNvSpPr/>
          <p:nvPr/>
        </p:nvSpPr>
        <p:spPr>
          <a:xfrm>
            <a:off x="10927080" y="3419856"/>
            <a:ext cx="777240" cy="530352"/>
          </a:xfrm>
          <a:prstGeom prst="rect">
            <a:avLst/>
          </a:prstGeom>
          <a:noFill/>
          <a:ln/>
        </p:spPr>
        <p:txBody>
          <a:bodyPr wrap="square" lIns="0" tIns="0" rIns="0" bIns="0" rtlCol="0" anchor="ctr"/>
          <a:lstStyle/>
          <a:p>
            <a:pPr algn="r" indent="0" marL="0">
              <a:buNone/>
            </a:pPr>
            <a:r>
              <a:rPr lang="en-US" sz="950" dirty="0">
                <a:solidFill>
                  <a:srgbClr val="6B7280"/>
                </a:solidFill>
                <a:latin typeface="Calibri" pitchFamily="34" charset="0"/>
                <a:ea typeface="Calibri" pitchFamily="34" charset="-122"/>
                <a:cs typeface="Calibri" pitchFamily="34" charset="-120"/>
              </a:rPr>
              <a:t>115 s</a:t>
            </a:r>
            <a:endParaRPr lang="en-US" sz="950" dirty="0"/>
          </a:p>
        </p:txBody>
      </p:sp>
      <p:sp>
        <p:nvSpPr>
          <p:cNvPr id="58" name="Shape 56"/>
          <p:cNvSpPr/>
          <p:nvPr/>
        </p:nvSpPr>
        <p:spPr>
          <a:xfrm>
            <a:off x="3611880" y="4059936"/>
            <a:ext cx="201168" cy="118872"/>
          </a:xfrm>
          <a:prstGeom prst="roundRect">
            <a:avLst>
              <a:gd name="adj" fmla="val 23077"/>
            </a:avLst>
          </a:prstGeom>
          <a:solidFill>
            <a:srgbClr val="B7791F"/>
          </a:solidFill>
          <a:ln/>
        </p:spPr>
      </p:sp>
      <p:sp>
        <p:nvSpPr>
          <p:cNvPr id="59" name="Text 57"/>
          <p:cNvSpPr/>
          <p:nvPr/>
        </p:nvSpPr>
        <p:spPr>
          <a:xfrm>
            <a:off x="3886200" y="4005072"/>
            <a:ext cx="73152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 the station the tighter class ADDED — not the same work costing more</a:t>
            </a:r>
            <a:endParaRPr lang="en-US" sz="900" dirty="0"/>
          </a:p>
        </p:txBody>
      </p:sp>
      <p:sp>
        <p:nvSpPr>
          <p:cNvPr id="60" name="Shape 58"/>
          <p:cNvSpPr/>
          <p:nvPr/>
        </p:nvSpPr>
        <p:spPr>
          <a:xfrm>
            <a:off x="457200" y="4315968"/>
            <a:ext cx="5532120" cy="1243584"/>
          </a:xfrm>
          <a:prstGeom prst="roundRect">
            <a:avLst>
              <a:gd name="adj" fmla="val 5882"/>
            </a:avLst>
          </a:prstGeom>
          <a:solidFill>
            <a:srgbClr val="E6F4F1"/>
          </a:solidFill>
          <a:ln w="12700">
            <a:solidFill>
              <a:srgbClr val="0E8074"/>
            </a:solidFill>
            <a:prstDash val="solid"/>
          </a:ln>
        </p:spPr>
      </p:sp>
      <p:sp>
        <p:nvSpPr>
          <p:cNvPr id="61" name="Text 59"/>
          <p:cNvSpPr/>
          <p:nvPr/>
        </p:nvSpPr>
        <p:spPr>
          <a:xfrm>
            <a:off x="640080" y="4389120"/>
            <a:ext cx="5212080" cy="201168"/>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THE CYCLE TIME IS ARITHMETIC, NOT A GUESS</a:t>
            </a:r>
            <a:endParaRPr lang="en-US" sz="900" dirty="0"/>
          </a:p>
        </p:txBody>
      </p:sp>
      <p:sp>
        <p:nvSpPr>
          <p:cNvPr id="62" name="Text 60"/>
          <p:cNvSpPr/>
          <p:nvPr/>
        </p:nvSpPr>
        <p:spPr>
          <a:xfrm>
            <a:off x="640080" y="4599432"/>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63" name="Text 61"/>
          <p:cNvSpPr/>
          <p:nvPr/>
        </p:nvSpPr>
        <p:spPr>
          <a:xfrm>
            <a:off x="640080" y="4992624"/>
            <a:ext cx="5212080" cy="50292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64" name="Shape 62"/>
          <p:cNvSpPr/>
          <p:nvPr/>
        </p:nvSpPr>
        <p:spPr>
          <a:xfrm>
            <a:off x="6199632" y="4315968"/>
            <a:ext cx="5532120" cy="1243584"/>
          </a:xfrm>
          <a:prstGeom prst="roundRect">
            <a:avLst>
              <a:gd name="adj" fmla="val 5882"/>
            </a:avLst>
          </a:prstGeom>
          <a:solidFill>
            <a:srgbClr val="E8F1FA"/>
          </a:solidFill>
          <a:ln w="12700">
            <a:solidFill>
              <a:srgbClr val="1D6FB8"/>
            </a:solidFill>
            <a:prstDash val="solid"/>
          </a:ln>
        </p:spPr>
      </p:sp>
      <p:sp>
        <p:nvSpPr>
          <p:cNvPr id="65" name="Text 63"/>
          <p:cNvSpPr/>
          <p:nvPr/>
        </p:nvSpPr>
        <p:spPr>
          <a:xfrm>
            <a:off x="6382512" y="4389120"/>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66" name="Shape 64"/>
          <p:cNvSpPr/>
          <p:nvPr/>
        </p:nvSpPr>
        <p:spPr>
          <a:xfrm>
            <a:off x="6419088" y="4709160"/>
            <a:ext cx="82296" cy="82296"/>
          </a:xfrm>
          <a:prstGeom prst="ellipse">
            <a:avLst/>
          </a:prstGeom>
          <a:solidFill>
            <a:srgbClr val="1D6FB8"/>
          </a:solidFill>
          <a:ln/>
        </p:spPr>
      </p:sp>
      <p:sp>
        <p:nvSpPr>
          <p:cNvPr id="67" name="Text 65"/>
          <p:cNvSpPr/>
          <p:nvPr/>
        </p:nvSpPr>
        <p:spPr>
          <a:xfrm>
            <a:off x="6601968" y="4626864"/>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14 gear machines in the rate library — hobbers, shapers, skivers, grinders, broach, honer, checker</a:t>
            </a:r>
            <a:endParaRPr lang="en-US" sz="900" dirty="0"/>
          </a:p>
        </p:txBody>
      </p:sp>
      <p:sp>
        <p:nvSpPr>
          <p:cNvPr id="68" name="Shape 66"/>
          <p:cNvSpPr/>
          <p:nvPr/>
        </p:nvSpPr>
        <p:spPr>
          <a:xfrm>
            <a:off x="6419088" y="5010912"/>
            <a:ext cx="82296" cy="82296"/>
          </a:xfrm>
          <a:prstGeom prst="ellipse">
            <a:avLst/>
          </a:prstGeom>
          <a:solidFill>
            <a:srgbClr val="1D6FB8"/>
          </a:solidFill>
          <a:ln/>
        </p:spPr>
      </p:sp>
      <p:sp>
        <p:nvSpPr>
          <p:cNvPr id="69" name="Text 67"/>
          <p:cNvSpPr/>
          <p:nvPr/>
        </p:nvSpPr>
        <p:spPr>
          <a:xfrm>
            <a:off x="6601968" y="492861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70" name="Shape 68"/>
          <p:cNvSpPr/>
          <p:nvPr/>
        </p:nvSpPr>
        <p:spPr>
          <a:xfrm>
            <a:off x="6419088" y="5312664"/>
            <a:ext cx="82296" cy="82296"/>
          </a:xfrm>
          <a:prstGeom prst="ellipse">
            <a:avLst/>
          </a:prstGeom>
          <a:solidFill>
            <a:srgbClr val="1D6FB8"/>
          </a:solidFill>
          <a:ln/>
        </p:spPr>
      </p:sp>
      <p:sp>
        <p:nvSpPr>
          <p:cNvPr id="71" name="Text 69"/>
          <p:cNvSpPr/>
          <p:nvPr/>
        </p:nvSpPr>
        <p:spPr>
          <a:xfrm>
            <a:off x="6601968" y="52303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72" name="Shape 70"/>
          <p:cNvSpPr/>
          <p:nvPr/>
        </p:nvSpPr>
        <p:spPr>
          <a:xfrm>
            <a:off x="457200" y="5504688"/>
            <a:ext cx="11274552" cy="457200"/>
          </a:xfrm>
          <a:prstGeom prst="roundRect">
            <a:avLst>
              <a:gd name="adj" fmla="val 14000"/>
            </a:avLst>
          </a:prstGeom>
          <a:solidFill>
            <a:srgbClr val="FDEEEC"/>
          </a:solidFill>
          <a:ln w="12700">
            <a:solidFill>
              <a:srgbClr val="B03A2E"/>
            </a:solidFill>
            <a:prstDash val="solid"/>
          </a:ln>
        </p:spPr>
      </p:sp>
      <p:sp>
        <p:nvSpPr>
          <p:cNvPr id="73" name="Text 71"/>
          <p:cNvSpPr/>
          <p:nvPr/>
        </p:nvSpPr>
        <p:spPr>
          <a:xfrm>
            <a:off x="658368" y="5504688"/>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80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74" name="Text 7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5" name="Text 7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£35.81 at 1k/yr → £13.46 at 1M/yr.</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16 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An internal gear was sent to the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Quality grade stopped mattering once grinding started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E8074"/>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All seven are now locked down by 38 automated tests, so they cannot come back. Total suite: 1,777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a:t>
            </a:r>
            <a:endParaRPr lang="en-US" sz="75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ACTION</a:t>
            </a:r>
            <a:endParaRPr lang="en-US" sz="75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WHY IT IS ON THE LIST</a:t>
            </a:r>
            <a:endParaRPr lang="en-US" sz="75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SAVE/PART</a:t>
            </a:r>
            <a:endParaRPr lang="en-US" sz="75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RISK</a:t>
            </a:r>
            <a:endParaRPr lang="en-US" sz="75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TIMEFRAME</a:t>
            </a:r>
            <a:endParaRPr lang="en-US" sz="75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A CAD file, a PCB photo, or a typed form</a:t>
            </a:r>
            <a:endParaRPr lang="en-US" sz="75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the file</a:t>
            </a:r>
            <a:endParaRPr lang="en-US" sz="75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STEP · IGES · STL · JPG</a:t>
            </a:r>
            <a:endParaRPr lang="en-US" sz="75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The Python kernel measures the solid</a:t>
            </a:r>
            <a:endParaRPr lang="en-US" sz="75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size, walls, holes, draft</a:t>
            </a:r>
            <a:endParaRPr lang="en-US" sz="75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162 rules turn measurements into cost inputs</a:t>
            </a:r>
            <a:endParaRPr lang="en-US" sz="75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material, operations, tooling</a:t>
            </a:r>
            <a:endParaRPr lang="en-US" sz="75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TypeScript · 27,181 lines · 1,777 tests · same code runs in the browser and on the server</a:t>
            </a:r>
            <a:endParaRPr lang="en-US" sz="75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core.ts works out the 8 cost buckets</a:t>
            </a:r>
            <a:endParaRPr lang="en-US" sz="7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19 commodity modules</a:t>
            </a:r>
            <a:endParaRPr lang="en-US" sz="7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Optimisers pick the cheapest capable machine</a:t>
            </a:r>
            <a:endParaRPr lang="en-US" sz="7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Guardrails check every number</a:t>
            </a:r>
            <a:endParaRPr lang="en-US" sz="7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HANDS ON  </a:t>
            </a:r>
            <a:pPr indent="0" marL="0">
              <a:buNone/>
            </a:pPr>
            <a:r>
              <a:rPr lang="en-US" sz="750" b="1" dirty="0">
                <a:solidFill>
                  <a:srgbClr val="16325C"/>
                </a:solidFill>
                <a:latin typeface="Consolas" pitchFamily="34" charset="0"/>
                <a:ea typeface="Consolas" pitchFamily="34" charset="-122"/>
                <a:cs typeface="Consolas" pitchFamily="34" charset="-120"/>
              </a:rPr>
              <a:t>PartCostResult</a:t>
            </a:r>
            <a:pPr indent="0" marL="0">
              <a:buNone/>
            </a:pPr>
            <a:r>
              <a:rPr lang="en-US" sz="750" dirty="0">
                <a:solidFill>
                  <a:srgbClr val="3A4356"/>
                </a:solidFill>
                <a:latin typeface="Calibri" pitchFamily="34" charset="0"/>
                <a:ea typeface="Calibri" pitchFamily="34" charset="-122"/>
                <a:cs typeface="Calibri" pitchFamily="34" charset="-120"/>
              </a:rPr>
              <a:t>  — the 8 buckets, plus where every number came from</a:t>
            </a:r>
            <a:endParaRPr lang="en-US" sz="75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75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Guardrails, self-audit and the confidence band</a:t>
            </a:r>
            <a:endParaRPr lang="en-US" sz="75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a checked cost</a:t>
            </a:r>
            <a:endParaRPr lang="en-US" sz="75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plus any warnings</a:t>
            </a:r>
            <a:endParaRPr lang="en-US" sz="75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Findings become savings, ranked by money</a:t>
            </a:r>
            <a:endParaRPr lang="en-US" sz="75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what to do, what it is worth</a:t>
            </a:r>
            <a:endParaRPr lang="en-US" sz="75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Saved on your server; reports made in the browser</a:t>
            </a:r>
            <a:endParaRPr lang="en-US" sz="75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B7280"/>
                </a:solidFill>
                <a:latin typeface="Calibri" pitchFamily="34" charset="0"/>
                <a:ea typeface="Calibri" pitchFamily="34" charset="-122"/>
                <a:cs typeface="Calibri" pitchFamily="34" charset="-120"/>
              </a:rPr>
              <a:t>HANDS ON</a:t>
            </a:r>
            <a:endParaRPr lang="en-US" sz="75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SQLite · 12 tables</a:t>
            </a:r>
            <a:endParaRPr lang="en-US" sz="75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PDF · Excel · PowerPoint</a:t>
            </a:r>
            <a:endParaRPr lang="en-US" sz="75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50" b="1" spc="40" kern="0" dirty="0">
                <a:solidFill>
                  <a:srgbClr val="6B7280"/>
                </a:solidFill>
                <a:latin typeface="Calibri" pitchFamily="34" charset="0"/>
                <a:ea typeface="Calibri" pitchFamily="34" charset="-122"/>
                <a:cs typeface="Calibri" pitchFamily="34" charset="-120"/>
              </a:rPr>
              <a:t>WHAT IS INSIDE EACH PARCEL</a:t>
            </a:r>
            <a:endParaRPr lang="en-US" sz="75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75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75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PartCostResult</a:t>
            </a:r>
            <a:endParaRPr lang="en-US" sz="75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75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75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Geometry kernel</a:t>
            </a:r>
            <a:endParaRPr lang="en-US" sz="75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Python 3 + Open CASCADE (via OCP)</a:t>
            </a:r>
            <a:endParaRPr lang="en-US" sz="75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1,587</a:t>
            </a:r>
            <a:endParaRPr lang="en-US" sz="75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LGPL-2.1 + exc. / Apache-2.0</a:t>
            </a:r>
            <a:endParaRPr lang="en-US" sz="75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3D viewer</a:t>
            </a:r>
            <a:endParaRPr lang="en-US" sz="75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three.js (WebGL)</a:t>
            </a:r>
            <a:endParaRPr lang="en-US" sz="75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2,334</a:t>
            </a:r>
            <a:endParaRPr lang="en-US" sz="75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 engine (core + 18 modules)</a:t>
            </a:r>
            <a:endParaRPr lang="en-US" sz="75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no framework</a:t>
            </a:r>
            <a:endParaRPr lang="en-US" sz="75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29,229</a:t>
            </a:r>
            <a:endParaRPr lang="en-US" sz="75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Cost-input rules (162 of them)</a:t>
            </a:r>
            <a:endParaRPr lang="en-US" sz="75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7,525</a:t>
            </a:r>
            <a:endParaRPr lang="en-US" sz="75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Optimisers + DFM / idea levers</a:t>
            </a:r>
            <a:endParaRPr lang="en-US" sz="75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1,973</a:t>
            </a:r>
            <a:endParaRPr lang="en-US" sz="75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Guardrails + self-audit</a:t>
            </a:r>
            <a:endParaRPr lang="en-US" sz="75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(engine + server)</a:t>
            </a:r>
            <a:endParaRPr lang="en-US" sz="75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780</a:t>
            </a:r>
            <a:endParaRPr lang="en-US" sz="75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Rate library — 20 regions</a:t>
            </a:r>
            <a:endParaRPr lang="en-US" sz="75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data files, in git</a:t>
            </a:r>
            <a:endParaRPr lang="en-US" sz="75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2,501</a:t>
            </a:r>
            <a:endParaRPr lang="en-US" sz="75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data</a:t>
            </a:r>
            <a:endParaRPr lang="en-US" sz="75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Server + database</a:t>
            </a:r>
            <a:endParaRPr lang="en-US" sz="75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Express + SQLite</a:t>
            </a:r>
            <a:endParaRPr lang="en-US" sz="75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14,215</a:t>
            </a:r>
            <a:endParaRPr lang="en-US" sz="75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Localhost only</a:t>
            </a:r>
            <a:endParaRPr lang="en-US" sz="75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AI classifier — OPTIONAL</a:t>
            </a:r>
            <a:endParaRPr lang="en-US" sz="75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Anthropic SDK</a:t>
            </a:r>
            <a:endParaRPr lang="en-US" sz="75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~900</a:t>
            </a:r>
            <a:endParaRPr lang="en-US" sz="75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SDK free · API paid per token</a:t>
            </a:r>
            <a:endParaRPr lang="en-US" sz="75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YES — the only one</a:t>
            </a:r>
            <a:endParaRPr lang="en-US" sz="75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Automated tests</a:t>
            </a:r>
            <a:endParaRPr lang="en-US" sz="75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Vitest</a:t>
            </a:r>
            <a:endParaRPr lang="en-US" sz="75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17,507</a:t>
            </a:r>
            <a:endParaRPr lang="en-US" sz="75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E8B57"/>
                </a:solidFill>
                <a:latin typeface="Calibri" pitchFamily="34" charset="0"/>
                <a:ea typeface="Calibri" pitchFamily="34" charset="-122"/>
                <a:cs typeface="Calibri" pitchFamily="34" charset="-120"/>
              </a:rPr>
              <a:t>No</a:t>
            </a:r>
            <a:endParaRPr lang="en-US" sz="75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75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75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50" b="1" dirty="0">
                <a:solidFill>
                  <a:srgbClr val="6B3FA0"/>
                </a:solidFill>
                <a:latin typeface="Calibri" pitchFamily="34" charset="0"/>
                <a:ea typeface="Calibri" pitchFamily="34" charset="-122"/>
                <a:cs typeface="Calibri" pitchFamily="34" charset="-120"/>
              </a:rPr>
              <a:t>API calls</a:t>
            </a:r>
            <a:endParaRPr lang="en-US" sz="75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One — and optional</a:t>
            </a:r>
            <a:endParaRPr lang="en-US" sz="75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7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50" b="1" dirty="0">
                <a:solidFill>
                  <a:srgbClr val="2E8B57"/>
                </a:solidFill>
                <a:latin typeface="Calibri" pitchFamily="34" charset="0"/>
                <a:ea typeface="Calibri" pitchFamily="34" charset="-122"/>
                <a:cs typeface="Calibri" pitchFamily="34" charset="-120"/>
              </a:rPr>
              <a:t>KPI calls</a:t>
            </a:r>
            <a:endParaRPr lang="en-US" sz="75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Not one.</a:t>
            </a:r>
            <a:endParaRPr lang="en-US" sz="75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50" b="1" dirty="0">
                <a:solidFill>
                  <a:srgbClr val="B7791F"/>
                </a:solidFill>
                <a:latin typeface="Calibri" pitchFamily="34" charset="0"/>
                <a:ea typeface="Calibri" pitchFamily="34" charset="-122"/>
                <a:cs typeface="Calibri" pitchFamily="34" charset="-120"/>
              </a:rPr>
              <a:t>Error telemetry</a:t>
            </a:r>
            <a:endParaRPr lang="en-US" sz="75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Yes — stays in-house</a:t>
            </a:r>
            <a:endParaRPr lang="en-US" sz="75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7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Optional feeds</a:t>
            </a:r>
            <a:endParaRPr lang="en-US" sz="75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Off by default</a:t>
            </a:r>
            <a:endParaRPr lang="en-US" sz="75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7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Python kernel → JSON on stdout</a:t>
            </a:r>
            <a:endParaRPr lang="en-US" sz="75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status: success|error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boundingBox: {xMm,yMm,zMm}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volume: {mm3, cm3}</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surfaceArea: {mm2, cm2}</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fillRatio: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topology: {solidCount,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shellCount, voidCount,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enclosesSealedVoid,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openShell}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wallThickness: {minMm,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maxMm, meanMm, p95Mm,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method, uniformity}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draftAnalysis: {undercut-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FaceCount, minPositive-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DraftDeg,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setupAnalysis: {estimated-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SetupCount, principal-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Directions[]}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cncCycleTimeEstimate: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weights: {aluminiumKg,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steelKg, plasticKg}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featureTable, detected-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Hardware, bendCount</a:t>
            </a:r>
            <a:endParaRPr lang="en-US" sz="75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750" i="1" dirty="0">
                <a:solidFill>
                  <a:srgbClr val="B7791F"/>
                </a:solidFill>
                <a:latin typeface="Calibri" pitchFamily="34" charset="0"/>
                <a:ea typeface="Calibri" pitchFamily="34" charset="-122"/>
                <a:cs typeface="Calibri" pitchFamily="34" charset="-120"/>
              </a:rPr>
              <a:t>Measured. Never guessed.</a:t>
            </a:r>
            <a:endParaRPr lang="en-US" sz="75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162 rules + engineer answers</a:t>
            </a:r>
            <a:endParaRPr lang="en-US" sz="75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rawMaterial: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netWeightKg: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materialUtilization: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directCost?: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consumablesCostPerPart?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partsPerCycle: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oee: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manning: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labourEfficiency: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 {totalToolingCost,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amortizationVolume, mode}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packagingPerPart: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logisticsPerPart: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overheadPct · marginPct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annualVolume?</a:t>
            </a:r>
            <a:endParaRPr lang="en-US" sz="75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750" i="1" dirty="0">
                <a:solidFill>
                  <a:srgbClr val="0E8074"/>
                </a:solidFill>
                <a:latin typeface="Calibri" pitchFamily="34" charset="0"/>
                <a:ea typeface="Calibri" pitchFamily="34" charset="-122"/>
                <a:cs typeface="Calibri" pitchFamily="34" charset="-120"/>
              </a:rPr>
              <a:t>Geometry wins; engineer fills gaps.</a:t>
            </a:r>
            <a:endParaRPr lang="en-US" sz="75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core.ts :: computeUniversalStack()</a:t>
            </a:r>
            <a:endParaRPr lang="en-US" sz="75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breakdown: Breakdown8Bucket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rawMaterial · process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 · tooling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packaging · logistics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overhead · margin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operationDetails: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machineId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processCost, labourCost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oee, manning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factoryCost · subtotal · total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toolingNRE?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traceability: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field, value, unit,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rateSource, rateId,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confidence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warnings?: string[]</a:t>
            </a:r>
            <a:endParaRPr lang="en-US" sz="75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traceability[] = the printed derivation.</a:t>
            </a:r>
            <a:endParaRPr lang="en-US" sz="75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dfm-dfa → opportunity-ranking</a:t>
            </a:r>
            <a:endParaRPr lang="en-US" sz="75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groups: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category: LeverCategory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label: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opportunities: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action: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basis: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detail?: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savingPct: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risk · timeframe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owner?: design|supplier|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sourcing|assumption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signal: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groupSavingPerPart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topSavingPerPart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all: RankedOpportunity[]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verificationChecks: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title, detail, action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partTotal</a:t>
            </a:r>
            <a:endParaRPr lang="en-US" sz="75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750" i="1" dirty="0">
                <a:solidFill>
                  <a:srgbClr val="2E8B57"/>
                </a:solidFill>
                <a:latin typeface="Calibri" pitchFamily="34" charset="0"/>
                <a:ea typeface="Calibri" pitchFamily="34" charset="-122"/>
                <a:cs typeface="Calibri" pitchFamily="34" charset="-120"/>
              </a:rPr>
              <a:t>Ranked by money, never scored.</a:t>
            </a:r>
            <a:endParaRPr lang="en-US" sz="75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better-sqlite3 — one file, your server</a:t>
            </a:r>
            <a:endParaRPr lang="en-US" sz="75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projects (id, user_id, kind,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name, data,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scenarios (id, 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description,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created_by,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supplier_quotes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scenario_id, supplier_name,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supplier_country, unit_price,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currency, moq,</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lead_time_weeks, tooling_cost)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bom_items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parent_scenario_id,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child_scenario_id, quantity,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unit_cost_override)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 (id,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 updated_by)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rate_overrides (id, tbl,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row_id, field, value)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users · shared_costings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material_price_overrides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price_fetch_log · app_settings</a:t>
            </a:r>
            <a:endParaRPr lang="en-US" sz="75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750" i="1" dirty="0">
                <a:solidFill>
                  <a:srgbClr val="6B3FA0"/>
                </a:solidFill>
                <a:latin typeface="Calibri" pitchFamily="34" charset="0"/>
                <a:ea typeface="Calibri" pitchFamily="34" charset="-122"/>
                <a:cs typeface="Calibri" pitchFamily="34" charset="-120"/>
              </a:rPr>
              <a:t>data columns hold the JSON above.</a:t>
            </a:r>
            <a:endParaRPr lang="en-US" sz="75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1,777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2026-08-12T10:39:38Z</dcterms:created>
  <dcterms:modified xsi:type="dcterms:W3CDTF">2026-08-12T10:39:38Z</dcterms:modified>
</cp:coreProperties>
</file>