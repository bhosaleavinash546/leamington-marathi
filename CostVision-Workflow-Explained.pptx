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lines</c:v>
                </c:pt>
              </c:strCache>
            </c:strRef>
          </c:tx>
          <c:spPr>
            <a:solidFill>
              <a:srgbClr val="0E8074"/>
            </a:solidFill>
            <a:effectLst/>
          </c:spPr>
          <c:invertIfNegative val="0"/>
          <c:dLbls>
            <c:numFmt formatCode="#,##0" sourceLinked="0"/>
            <c:txPr>
              <a:bodyPr/>
              <a:lstStyle/>
              <a:p>
                <a:pPr>
                  <a:defRPr b="0" i="0" strike="noStrike" sz="640" u="none">
                    <a:solidFill>
                      <a:srgbClr val="3A4356"/>
                    </a:solidFill>
                    <a:latin typeface="Arial"/>
                  </a:defRPr>
                </a:pPr>
              </a:p>
            </c:txPr>
            <c:showLegendKey val="0"/>
            <c:showVal val="1"/>
            <c:showCatName val="0"/>
            <c:showSerName val="0"/>
            <c:showPercent val="0"/>
            <c:showBubbleSize val="0"/>
            <c:showLeaderLines val="0"/>
          </c:dLbls>
          <c:cat>
            <c:multiLvlStrRef>
              <c:f>Sheet1!$A$2:$A$7</c:f>
              <c:multiLvlStrCache>
                <c:ptCount val="6"/>
                <c:lvl>
                  <c:pt idx="0">
                    <c:v>Cost engine (TS)</c:v>
                  </c:pt>
                  <c:pt idx="1">
                    <c:v>UI + 3D viewer (TS)</c:v>
                  </c:pt>
                  <c:pt idx="2">
                    <c:v>Tests (TS)</c:v>
                  </c:pt>
                  <c:pt idx="3">
                    <c:v>Server + API (TS)</c:v>
                  </c:pt>
                  <c:pt idx="4">
                    <c:v>Exports (TS)</c:v>
                  </c:pt>
                  <c:pt idx="5">
                    <c:v>Geometry kernel (Py)</c:v>
                  </c:pt>
                </c:lvl>
              </c:multiLvlStrCache>
            </c:multiLvlStrRef>
          </c:cat>
          <c:val>
            <c:numRef>
              <c:f>Sheet1!$B$2:$B$7</c:f>
              <c:numCache>
                <c:formatCode>General</c:formatCode>
                <c:ptCount val="6"/>
                <c:pt idx="0">
                  <c:v>29229</c:v>
                </c:pt>
                <c:pt idx="1">
                  <c:v>27231</c:v>
                </c:pt>
                <c:pt idx="2">
                  <c:v>17507</c:v>
                </c:pt>
                <c:pt idx="3">
                  <c:v>14215</c:v>
                </c:pt>
                <c:pt idx="4">
                  <c:v>2960</c:v>
                </c:pt>
                <c:pt idx="5">
                  <c:v>1587</c:v>
                </c:pt>
              </c:numCache>
            </c:numRef>
          </c:val>
        </c:ser>
        <c:dLbls>
          <c:numFmt formatCode="#,##0" sourceLinked="0"/>
          <c:txPr>
            <a:bodyPr/>
            <a:lstStyle/>
            <a:p>
              <a:pPr>
                <a:defRPr b="0" i="0" strike="noStrike" sz="640" u="none">
                  <a:solidFill>
                    <a:srgbClr val="3A4356"/>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4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business case was missing, and I want to be honest about why. The previous version led with engineer-hours — and hours are not money. Worse, we then said "capacity, not headcount", which to a budget holder reads as "nothing actually comes out". So this version leads with the money and puts the hours where they belong. Three streams. A, the negotiation floor: a defensible should-cost turns a quote into a conversation with a number underneath it, and because every line prints its own derivation the challenge survives the meeting rather than collapsing the first time a supplier pushes back. On our reference part the tool identified three pounds twenty-two of opportunity against a twenty-five pound piece cost. B, design-stage avoidance: at ten to fifteen minutes a part this can run at concept stage, while wall thickness and cavitation are still open — and the bumper is the proof, where tooling turned out to be forty-three percent of piece cost, more than the resin, the press and the labour added together. Nobody in this room predicted that in advance. C, capacity — and note that I have put it third. The hours are the enabler, not the prize. You cannot hold forty floor-price negotiations a year if every should-cost costs half a day to prepare. Then the calculation, laid out as a chain deliberately, so you can attack any single term instead of the whole idea. Addressed spend, times what the tool identifies, times what we actually capture. Twenty million of purchased value, eight percent identified, twenty percent captured: three hundred and twenty thousand a year, recurring, against a one-off pilot cost of about twenty-five thousand. The assumptions are printed on the slide because I would rather you argued with the model than with me — and they are deliberately pessimistic. Eight percent is below the twelve point eight the tool actually measured. A twenty percent capture assumes four out of every five ideas never get acted on. But the line to leave with is the navy strip. At this pilot cost the break-even capture rate is one point six percent. One pound in sixty. I am not asking you to believe twenty percent — I am asking whether one point six is plausible. If it is, the pilot is very nearly free, and the only remaining question is whether the tool works, which is precisely what a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links straight back to the money slide — this capacity is stream C, and stream C is what makes stream A reachable.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fifty-two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slide the old deck did not have at all — it ended on what the tool cannot do, which left you with nothing to decide. So here is one specific ask. Approve a ninety-day pilot on forty parts. One named owner, three tenths of an engineer, one virtual machine, about twenty-five thousand pounds one-off. No licence, no per-seat cost, no per-estimate cost — in the default mode there is no AI call to pay for. And nothing recurring is committed until we come back at day ninety. Scope is deliberately bounded. Forty live parts across four or five commodities we already buy, picked with purchasing, deliberately mixing parts already quoted with parts still in design so we can test both value streams. And explicitly out of scope: no supplier is ever told a number came from a tool, and every figure is reviewed and owned by an engineer before it leaves the building. Ninety days in three phases: set up and calibrate, run the basket, then measure and decide. The criteria on the right are the part I would most like you to hold me to, and I want them agreed today rather than at day ninety. Seventy percent of parts within twenty percent of an independent manual cost or the actual PO price. Median twenty minutes a part, read from the tool’s own logs rather than estimated by me. A hundred and fifty thousand of opportunity identified and at least three levers actually taken to a supplier with the outcome recorded — including when the answer is no. And two engineers running it unaided without the person who built it in the room. If we miss those, stopping is the correct decision and I will say so. The amber box is the four objections I expect, with what is already built for each. And the close is the arithmetic from the money slide: twenty-five thousand pounds and ninety days to find out whether something already built and already validated on six parts holds up on forty of ours. If it fails we stop, having committed nothing ongoing. If it works, it has already paid for itself at a one point six percent capture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fifty-two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a dozen cost-reduction ideas — where do those actually come from? The answer is a written rule book, and it is small enough to show you in full. Fifty-two threshold rules reading nineteen parameters and signals, ten geometry advisors reading the measured solid, and a thirty-six-lever idea catalogue spanning eight categories — material, design, process, tooling, logistics, commercial, quality and sustainability. That is the entire analysis. There is no hidden model behind it. And I want to be upfront: the first version of this layer was thinner — ten levers, mostly cost-structure ones. We took the challenge that it read like a basic checklist rather than what a good VAVE engineer would produce, went back to the engine, and rebuilt it as a full 360-degree catalogue. Everything you are about to see ships in the tool today. The flow is five steps and all of them are arithmetic. The costing is reduced to its parameters. Fifty-two written checks run, each one a plain threshold that fires or passes, while the geometry advisors do the same job on the measured shape. Findings knock points off two scores that start at ten. The three biggest savings combine root-sum-square so overlapping fixes are never double-counted. And the lever catalogue turns what fired into a ranked, categorised action list priced from the part’s own numbers. One thing to be precise about, because it is the theme of this whole pack: the AI is nowhere in this. Every rule is deterministic engine code — same part in, same findings out, with the network cable unplugged. The optional AI button writes commentary around the findings; it cannot add one, remove one, or change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 the ten core parameters from before, and nine extended signals we added with the 360-degree upgrade. Nothing else goes in. The ten core ones you know: the total, six bucket shares, the operation count, OEE and material utilisation — teal read straight from the costing, blue entered with the part, with stated assumptions when left blank. The nine extended signals are what let the new rules and levers behave like an experienced cost engineer instead of a checklist. Packaging and logistics shares — two buckets the old rules ignored entirely. Labour efficiency per operation. The per-operation cost split, so the tool knows WHICH operation carries the money, not just how many there are. Consumables — cores, patterns, shell. The tooling investment and, importantly, its amortisation basis against the stated annual volume — a mismatch there is a commercial finding on its own. Manning and parts-per-cycle. Labour time against machine cycle time. And the operation names themselves — welding, inspection, rework and heat-treat words in the routing are signals, and the rules read them. And the card on the right is the one that changed most recently, on direct feedback from this room. It used to be a scoring card — manufacturability out of ten, assembly out of ten. It is now a ranking card. Every finding is priced against this part: saving percentage times the part cost equals pounds per part, ranked biggest first inside its category. No score is published and no severity label appears anywhere an engineer sees. The engine still grades findings internally, because it needs an order — but that grading never leaves the engine. The reason is worth saying out loud: a previous exercise like this scored designs, and the engineering team quite reasonably read it as a report card on their work. Nothing gets implemented after that. A ranked list of actions with money against each one is the same arithmetic and a completely different conversation. The headline is unchanged: the three biggest combined root-sum-square, capped at forty percent. And the context gates at the bottom — if the volume was assumed rather than entered, if the part is already costed in the region a lever would recommend, or if pack rates are tool estimates, the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 twenty-seven checks that switch on for the specific process being costed. A casting is never judged by sheet-metal rules. Most of these you saw in the previous version. What changed with the upgrade: extrusion and rotational moulding now have their own rule blocks — conversion cost and offcut scrap for extrusion, oven cycle and secondary operations for rotomoulding — where before those commodities only got the universal checks. Painting gains the rule this deck itself argues for two sections earlier: paint material above forty percent of cost points straight at transfer efficiency, because at sixty percent transfer efficiency four litres in ten end up in the booth filters. And cast-and-machine parts now run BOTH the machining rules and the casting rules — the split-routing check on their machining content, the die-cost check on their casting content — where before they fell between the two. The machining rules are also smarter than a count: the split-routing rule is station-aware. It knows the difference between seven operations across five machines and seven operations on one five-axis — and when the routing is already consolidated it says so as a verified note instead of recommending what has already been done. And notice again the two biggest numbers sit with wiring harness and composites — labour past half the cost, hand layup past forty percent. Where the money is people, the rules say so bluntly.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 tooling, packaging and logistics, commercial, quality and sustainability. This is the "360 degrees" part of the claim: the old layer stopped at the factory gate; this one follows the part all the way to the loading dock and the contract. Tooling: the volume lever as before, plus soft tooling below twenty-five thousand parts, a tooling-ownership clause — who owns the tool, who maintains it, what happens at end of programme — and a tool-life programme on die processes. Packaging and logistics were completely dark before: returnable packaging above four percent, pack density above eight, freight mode above six, and my favourite of the new set — the near-shore check. If the part is already in China and logistics is past nine percent of its cost, the tool now asks the opposite question to the usual one: would a nearer supplier win on LANDED cost? The same arithmetic that used to only push parts offshore can now push back. Commercial: the three from before — regional sourcing, open-book overhead, competitive RFQ — plus make-vs-buy, a raw-material indexation clause, a learning-curve price-down where a real volume was confirmed, and payment terms. Quality reads the routing: standalone inspection and manual finishing both get challenged at source. And sustainability carries real money as well as carbon: recycled resin content and process energy. Two honest notes to close. Every lever is gated on what a person actually told the tool — assumed volumes, quoted regions and estimated pack rates downgrade the lever to a confirm-first note. And the two backstops still exist so no part ever leaves with an empty list — they are labelled as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a real part — the reference machined bracket, run through the shipped engine. Not a mock-up; these are the numbers the tool produced. Top line: three pounds twenty-two per part of combined opportunity, about thirteen percent of a twenty-five pound piece cost, ten ranked opportunities across four categories. Then the list, and this is the whole point of the change. Commercial and sourcing first, because it holds the single biggest action — a regional sourcing study worth four pounds fifty-three a part, and the tool flags it high risk and long term rather than pretending it is free. Material second: near-net-shape at two fifty-two, and a scrap-credit clause at eighty-two pence that costs nothing but a conversation. Process third, led by the bottleneck lever that names the operation — CNC milling carries sixty-four percent of the conversion cost on this part, so that is where cycle-time work pays. Design last on this part, at a pound twenty-six. Every row says what to do, why it is on the list, what it is worth in pounds, who can pull it and how long it takes. And now the thing I would ask you to notice, which is what is NOT on the slide. There is no score. There is no "critical". There is nothing that grades the part or the person who designed it. This is exactly the same deterministic arithmetic we had before — fifty-two rules, ten advisors, thirty-six levers — presented as a work list instead of a verdict. That was the feedback, and I think it is right: the last time an exercise like this scored designs, engineering read it as criticism and nothing got implemented. A ranked list with money against it is a conversation people want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for the engineers, and it is slide three again with the lid off — same picture, but every box now says what it is actually made of. Three things to notice before the detail. First, the cost engine is deliberately in the middle, because everything else exists to feed it or to render what it produced. It is TypeScript, twenty-nine thousand lines across a hundred and seven files, and — this is the design decision that matters most — it is written as pure functions. Inputs in, numbers out, no file access, no database, no network. That is precisely why fifteen hundred and thirty automated tests can cover it, and why the same code runs unchanged in the browser and on the server. Second, the languages. Only one component is Python: the geometry kernel, fifteen hundred lines driving Open CASCADE through the OCP bindings — the same B-rep kernel FreeCAD is built on. Node spawns it as a subprocess and it hands back JSON. Everything else in the stack is TypeScript. The 3D viewer is three.js and WebGL in the browser, with edge extraction pushed into a Web Worker so a half-million-triangle part does not freeze the tab. And an important distinction on the viewer, because it gets confused: the viewer is for looking and for measuring by hand. The numbers that reach the cost engine come from the kernel, not from the viewer. They are two different measurements for two different purposes. Third — is it free? Yes, with one exception. OCCT is LGPL with the usual linking exception, CadQuery and OCP are Apache-2.0, and three.js, Express, the SQLite driver, jsPDF, pptxgenjs, Chart.js, Vite, Vitest and zod are MIT; SheetJS is Apache-2.0. There is no licence fee and no per-seat cost anywhere in the stack. The single paid item in the whole system is the optional Anthropic API call, and that is metered per token only when somebody chooses to use it. I would still get the licence list formally reviewed before we distribute anything outside the company. The bar chart answers the "how big is it" question honestly: about ninety-one thousand lines of TypeScript plus sixteen hundred of Python, and notice that tests are the third-largest layer — seventeen and a half thousand lines. That ratio is the reason we can change a rate or a rule and know within twenty seconds whether we broke a costing. And the box on the bottom right is the question I was actually asked. The costing path makes no network calls at all — kernel, rules, engine, guardrails, report, all of it runs with the cable unplugged. Exactly one component can leave your network, the optional AI classifier, and it goes through a single choke-point in the code so it can be pointed at a private endpoint or switched off entirely with an environment variable. The optional feeds — PCB component pricing, the metal ticker, the news RSS — are off by default and display-only; none of them can price a part. Everything else is localhost and a SQLite file on your own server. No telemetry, no analytics, nothing calls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slideLayout" Target="../slideLayouts/slideLayout1.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3–7</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8–26</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27–37</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38</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5–9 (the business case) · slide 26 (the housing on one page) · slide 36 (the two findings) · slide 38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36776"/>
            <a:ext cx="397764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Routable to a private endpoint · AIR_GAPPED=1 refuses the call — CAD costing still works</a:t>
            </a:r>
            <a:endParaRPr lang="en-US" sz="76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AI vision reads it (↑)</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423160" y="3008376"/>
            <a:ext cx="182880" cy="0"/>
          </a:xfrm>
          <a:prstGeom prst="line">
            <a:avLst/>
          </a:prstGeom>
          <a:noFill/>
          <a:ln w="22225">
            <a:solidFill>
              <a:srgbClr val="1D6FB8"/>
            </a:solidFill>
            <a:prstDash val="solid"/>
            <a:tailEnd type="triangle"/>
          </a:ln>
        </p:spPr>
      </p:sp>
      <p:sp>
        <p:nvSpPr>
          <p:cNvPr id="61" name="Shape 53"/>
          <p:cNvSpPr/>
          <p:nvPr/>
        </p:nvSpPr>
        <p:spPr>
          <a:xfrm>
            <a:off x="3611880" y="3566160"/>
            <a:ext cx="0" cy="146304"/>
          </a:xfrm>
          <a:prstGeom prst="line">
            <a:avLst/>
          </a:prstGeom>
          <a:noFill/>
          <a:ln w="22225">
            <a:solidFill>
              <a:srgbClr val="4F46E5"/>
            </a:solidFill>
            <a:prstDash val="solid"/>
            <a:tailEnd type="triangle"/>
          </a:ln>
        </p:spPr>
      </p:sp>
      <p:sp>
        <p:nvSpPr>
          <p:cNvPr id="62" name="Shape 54"/>
          <p:cNvSpPr/>
          <p:nvPr/>
        </p:nvSpPr>
        <p:spPr>
          <a:xfrm>
            <a:off x="4754880" y="3008376"/>
            <a:ext cx="228600" cy="0"/>
          </a:xfrm>
          <a:prstGeom prst="line">
            <a:avLst/>
          </a:prstGeom>
          <a:noFill/>
          <a:ln w="22225">
            <a:solidFill>
              <a:srgbClr val="4F46E5"/>
            </a:solidFill>
            <a:prstDash val="solid"/>
            <a:tailEnd type="triangle"/>
          </a:ln>
        </p:spPr>
      </p:sp>
      <p:sp>
        <p:nvSpPr>
          <p:cNvPr id="63" name="Shape 55"/>
          <p:cNvSpPr/>
          <p:nvPr/>
        </p:nvSpPr>
        <p:spPr>
          <a:xfrm flipV="1">
            <a:off x="4754880" y="3520440"/>
            <a:ext cx="228600" cy="749808"/>
          </a:xfrm>
          <a:prstGeom prst="line">
            <a:avLst/>
          </a:prstGeom>
          <a:noFill/>
          <a:ln w="17780">
            <a:solidFill>
              <a:srgbClr val="4F46E5"/>
            </a:solidFill>
            <a:prstDash val="solid"/>
            <a:tailEnd type="triangle"/>
          </a:ln>
        </p:spPr>
      </p:sp>
      <p:sp>
        <p:nvSpPr>
          <p:cNvPr id="64" name="Shape 56"/>
          <p:cNvSpPr/>
          <p:nvPr/>
        </p:nvSpPr>
        <p:spPr>
          <a:xfrm>
            <a:off x="7086600" y="3063240"/>
            <a:ext cx="411480" cy="0"/>
          </a:xfrm>
          <a:prstGeom prst="line">
            <a:avLst/>
          </a:prstGeom>
          <a:noFill/>
          <a:ln w="22225">
            <a:solidFill>
              <a:srgbClr val="B7791F"/>
            </a:solidFill>
            <a:prstDash val="solid"/>
            <a:tailEnd type="triangle"/>
          </a:ln>
        </p:spPr>
      </p:sp>
      <p:sp>
        <p:nvSpPr>
          <p:cNvPr id="65" name="Shape 57"/>
          <p:cNvSpPr/>
          <p:nvPr/>
        </p:nvSpPr>
        <p:spPr>
          <a:xfrm flipH="1">
            <a:off x="7086600" y="4773168"/>
            <a:ext cx="411480" cy="347472"/>
          </a:xfrm>
          <a:prstGeom prst="line">
            <a:avLst/>
          </a:prstGeom>
          <a:noFill/>
          <a:ln w="17780">
            <a:solidFill>
              <a:srgbClr val="0E8074"/>
            </a:solidFill>
            <a:prstDash val="solid"/>
            <a:tailEnd type="triangle"/>
          </a:ln>
        </p:spPr>
      </p:sp>
      <p:sp>
        <p:nvSpPr>
          <p:cNvPr id="66" name="Shape 58"/>
          <p:cNvSpPr/>
          <p:nvPr/>
        </p:nvSpPr>
        <p:spPr>
          <a:xfrm flipV="1">
            <a:off x="6035040" y="3685032"/>
            <a:ext cx="0" cy="1161288"/>
          </a:xfrm>
          <a:prstGeom prst="line">
            <a:avLst/>
          </a:prstGeom>
          <a:noFill/>
          <a:ln w="17780">
            <a:solidFill>
              <a:srgbClr val="2E8B57"/>
            </a:solidFill>
            <a:prstDash val="solid"/>
            <a:tailEnd type="triangle"/>
          </a:ln>
        </p:spPr>
      </p:sp>
      <p:sp>
        <p:nvSpPr>
          <p:cNvPr id="67" name="Shape 59"/>
          <p:cNvSpPr/>
          <p:nvPr/>
        </p:nvSpPr>
        <p:spPr>
          <a:xfrm>
            <a:off x="9784080" y="3246120"/>
            <a:ext cx="320040" cy="0"/>
          </a:xfrm>
          <a:prstGeom prst="line">
            <a:avLst/>
          </a:prstGeom>
          <a:noFill/>
          <a:ln w="22225">
            <a:solidFill>
              <a:srgbClr val="2E8B57"/>
            </a:solidFill>
            <a:prstDash val="solid"/>
            <a:tailEnd type="triangle"/>
          </a:ln>
        </p:spPr>
      </p:sp>
      <p:sp>
        <p:nvSpPr>
          <p:cNvPr id="68" name="Shape 60"/>
          <p:cNvSpPr/>
          <p:nvPr/>
        </p:nvSpPr>
        <p:spPr>
          <a:xfrm>
            <a:off x="9784080" y="4754880"/>
            <a:ext cx="320040" cy="685800"/>
          </a:xfrm>
          <a:prstGeom prst="line">
            <a:avLst/>
          </a:prstGeom>
          <a:noFill/>
          <a:ln w="17780">
            <a:solidFill>
              <a:srgbClr val="2E8B57"/>
            </a:solidFill>
            <a:prstDash val="solid"/>
            <a:tailEnd type="triangle"/>
          </a:ln>
        </p:spPr>
      </p:sp>
      <p:sp>
        <p:nvSpPr>
          <p:cNvPr id="69" name="Shape 61"/>
          <p:cNvSpPr/>
          <p:nvPr/>
        </p:nvSpPr>
        <p:spPr>
          <a:xfrm>
            <a:off x="4197096" y="2368296"/>
            <a:ext cx="548640" cy="155448"/>
          </a:xfrm>
          <a:prstGeom prst="roundRect">
            <a:avLst>
              <a:gd name="adj" fmla="val 50000"/>
            </a:avLst>
          </a:prstGeom>
          <a:solidFill>
            <a:srgbClr val="4F46E5"/>
          </a:solidFill>
          <a:ln/>
        </p:spPr>
      </p:sp>
      <p:sp>
        <p:nvSpPr>
          <p:cNvPr id="70" name="Text 62"/>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1" name="Shape 63"/>
          <p:cNvSpPr/>
          <p:nvPr/>
        </p:nvSpPr>
        <p:spPr>
          <a:xfrm>
            <a:off x="4197096" y="3630168"/>
            <a:ext cx="548640" cy="155448"/>
          </a:xfrm>
          <a:prstGeom prst="roundRect">
            <a:avLst>
              <a:gd name="adj" fmla="val 50000"/>
            </a:avLst>
          </a:prstGeom>
          <a:solidFill>
            <a:srgbClr val="4F46E5"/>
          </a:solidFill>
          <a:ln/>
        </p:spPr>
      </p:sp>
      <p:sp>
        <p:nvSpPr>
          <p:cNvPr id="72" name="Text 64"/>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3" name="Shape 65"/>
          <p:cNvSpPr/>
          <p:nvPr/>
        </p:nvSpPr>
        <p:spPr>
          <a:xfrm>
            <a:off x="6528816" y="2368296"/>
            <a:ext cx="548640" cy="155448"/>
          </a:xfrm>
          <a:prstGeom prst="roundRect">
            <a:avLst>
              <a:gd name="adj" fmla="val 50000"/>
            </a:avLst>
          </a:prstGeom>
          <a:solidFill>
            <a:srgbClr val="B7791F"/>
          </a:solidFill>
          <a:ln/>
        </p:spPr>
      </p:sp>
      <p:sp>
        <p:nvSpPr>
          <p:cNvPr id="74" name="Text 66"/>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5" name="Shape 67"/>
          <p:cNvSpPr/>
          <p:nvPr/>
        </p:nvSpPr>
        <p:spPr>
          <a:xfrm>
            <a:off x="9226296" y="2368296"/>
            <a:ext cx="548640" cy="155448"/>
          </a:xfrm>
          <a:prstGeom prst="roundRect">
            <a:avLst>
              <a:gd name="adj" fmla="val 50000"/>
            </a:avLst>
          </a:prstGeom>
          <a:solidFill>
            <a:srgbClr val="0E8074"/>
          </a:solidFill>
          <a:ln/>
        </p:spPr>
      </p:sp>
      <p:sp>
        <p:nvSpPr>
          <p:cNvPr id="76" name="Text 68"/>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7" name="Shape 69"/>
          <p:cNvSpPr/>
          <p:nvPr/>
        </p:nvSpPr>
        <p:spPr>
          <a:xfrm>
            <a:off x="9226296" y="4270248"/>
            <a:ext cx="548640" cy="155448"/>
          </a:xfrm>
          <a:prstGeom prst="roundRect">
            <a:avLst>
              <a:gd name="adj" fmla="val 50000"/>
            </a:avLst>
          </a:prstGeom>
          <a:solidFill>
            <a:srgbClr val="0E8074"/>
          </a:solidFill>
          <a:ln/>
        </p:spPr>
      </p:sp>
      <p:sp>
        <p:nvSpPr>
          <p:cNvPr id="78" name="Text 70"/>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9" name="Shape 71"/>
          <p:cNvSpPr/>
          <p:nvPr/>
        </p:nvSpPr>
        <p:spPr>
          <a:xfrm>
            <a:off x="6528816" y="4764024"/>
            <a:ext cx="548640" cy="155448"/>
          </a:xfrm>
          <a:prstGeom prst="roundRect">
            <a:avLst>
              <a:gd name="adj" fmla="val 50000"/>
            </a:avLst>
          </a:prstGeom>
          <a:solidFill>
            <a:srgbClr val="2E8B57"/>
          </a:solidFill>
          <a:ln/>
        </p:spPr>
      </p:sp>
      <p:sp>
        <p:nvSpPr>
          <p:cNvPr id="80" name="Text 72"/>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81" name="Shape 73"/>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2" name="Text 74"/>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3"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4"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Where the Money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value streams, one transparent calculation — every assumption is on the slide and open to challenge</a:t>
            </a:r>
            <a:endParaRPr lang="en-US" sz="1200" dirty="0"/>
          </a:p>
        </p:txBody>
      </p:sp>
      <p:sp>
        <p:nvSpPr>
          <p:cNvPr id="5" name="Shape 3"/>
          <p:cNvSpPr/>
          <p:nvPr/>
        </p:nvSpPr>
        <p:spPr>
          <a:xfrm>
            <a:off x="457200" y="1042416"/>
            <a:ext cx="3602736" cy="1737360"/>
          </a:xfrm>
          <a:prstGeom prst="roundRect">
            <a:avLst>
              <a:gd name="adj" fmla="val 5263"/>
            </a:avLst>
          </a:prstGeom>
          <a:solidFill>
            <a:srgbClr val="FFFFFF"/>
          </a:solidFill>
          <a:ln w="19050">
            <a:solidFill>
              <a:srgbClr val="2E8B57"/>
            </a:solidFill>
            <a:prstDash val="solid"/>
          </a:ln>
        </p:spPr>
      </p:sp>
      <p:sp>
        <p:nvSpPr>
          <p:cNvPr id="6" name="Shape 4"/>
          <p:cNvSpPr/>
          <p:nvPr/>
        </p:nvSpPr>
        <p:spPr>
          <a:xfrm>
            <a:off x="603504" y="1152144"/>
            <a:ext cx="310896" cy="310896"/>
          </a:xfrm>
          <a:prstGeom prst="ellipse">
            <a:avLst/>
          </a:prstGeom>
          <a:solidFill>
            <a:srgbClr val="2E8B57"/>
          </a:solidFill>
          <a:ln/>
        </p:spPr>
      </p:sp>
      <p:pic>
        <p:nvPicPr>
          <p:cNvPr id="7" name="Image 0" descr="preencoded.png">    </p:cNvPr>
          <p:cNvPicPr>
            <a:picLocks noChangeAspect="1"/>
          </p:cNvPicPr>
          <p:nvPr/>
        </p:nvPicPr>
        <p:blipFill>
          <a:blip r:embed="rId1"/>
          <a:stretch>
            <a:fillRect/>
          </a:stretch>
        </p:blipFill>
        <p:spPr>
          <a:xfrm>
            <a:off x="676656" y="1225296"/>
            <a:ext cx="164592" cy="164592"/>
          </a:xfrm>
          <a:prstGeom prst="rect">
            <a:avLst/>
          </a:prstGeom>
        </p:spPr>
      </p:pic>
      <p:sp>
        <p:nvSpPr>
          <p:cNvPr id="8" name="Text 5"/>
          <p:cNvSpPr/>
          <p:nvPr/>
        </p:nvSpPr>
        <p:spPr>
          <a:xfrm>
            <a:off x="987552" y="1133856"/>
            <a:ext cx="2926080" cy="274320"/>
          </a:xfrm>
          <a:prstGeom prst="rect">
            <a:avLst/>
          </a:prstGeom>
          <a:noFill/>
          <a:ln/>
        </p:spPr>
        <p:txBody>
          <a:bodyPr wrap="square" lIns="0" tIns="0" rIns="0" bIns="0" rtlCol="0" anchor="ctr"/>
          <a:lstStyle/>
          <a:p>
            <a:pPr indent="0" marL="0">
              <a:buNone/>
            </a:pPr>
            <a:r>
              <a:rPr lang="en-US" sz="1100" b="1" dirty="0">
                <a:solidFill>
                  <a:srgbClr val="2E8B57"/>
                </a:solidFill>
                <a:latin typeface="Calibri" pitchFamily="34" charset="0"/>
                <a:ea typeface="Calibri" pitchFamily="34" charset="-122"/>
                <a:cs typeface="Calibri" pitchFamily="34" charset="-120"/>
              </a:rPr>
              <a:t>A · Negotiation floor</a:t>
            </a:r>
            <a:endParaRPr lang="en-US" sz="1100" dirty="0"/>
          </a:p>
        </p:txBody>
      </p:sp>
      <p:sp>
        <p:nvSpPr>
          <p:cNvPr id="9" name="Text 6"/>
          <p:cNvSpPr/>
          <p:nvPr/>
        </p:nvSpPr>
        <p:spPr>
          <a:xfrm>
            <a:off x="603504"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A defensible should-cost turns a quote into a conversation with a floor price under it. Supplier margin and overhead are priced as separate lines, and every line prints its own derivation — so the challenge survives the meeting.</a:t>
            </a:r>
            <a:endParaRPr lang="en-US" sz="830" dirty="0"/>
          </a:p>
        </p:txBody>
      </p:sp>
      <p:sp>
        <p:nvSpPr>
          <p:cNvPr id="10" name="Shape 7"/>
          <p:cNvSpPr/>
          <p:nvPr/>
        </p:nvSpPr>
        <p:spPr>
          <a:xfrm>
            <a:off x="603504" y="2267712"/>
            <a:ext cx="3310128" cy="420624"/>
          </a:xfrm>
          <a:prstGeom prst="roundRect">
            <a:avLst>
              <a:gd name="adj" fmla="val 10870"/>
            </a:avLst>
          </a:prstGeom>
          <a:solidFill>
            <a:srgbClr val="F0F4F9"/>
          </a:solidFill>
          <a:ln/>
        </p:spPr>
      </p:sp>
      <p:sp>
        <p:nvSpPr>
          <p:cNvPr id="11" name="Text 8"/>
          <p:cNvSpPr/>
          <p:nvPr/>
        </p:nvSpPr>
        <p:spPr>
          <a:xfrm>
            <a:off x="694944"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£3.22/part of ranked opportunity on the £25.14 reference part — 12.8%, of which the commercial levers alone are £5.28.</a:t>
            </a:r>
            <a:endParaRPr lang="en-US" sz="740" dirty="0"/>
          </a:p>
        </p:txBody>
      </p:sp>
      <p:sp>
        <p:nvSpPr>
          <p:cNvPr id="12" name="Shape 9"/>
          <p:cNvSpPr/>
          <p:nvPr/>
        </p:nvSpPr>
        <p:spPr>
          <a:xfrm>
            <a:off x="4288536" y="1042416"/>
            <a:ext cx="3602736" cy="1737360"/>
          </a:xfrm>
          <a:prstGeom prst="roundRect">
            <a:avLst>
              <a:gd name="adj" fmla="val 5263"/>
            </a:avLst>
          </a:prstGeom>
          <a:solidFill>
            <a:srgbClr val="FFFFFF"/>
          </a:solidFill>
          <a:ln w="19050">
            <a:solidFill>
              <a:srgbClr val="0E8074"/>
            </a:solidFill>
            <a:prstDash val="solid"/>
          </a:ln>
        </p:spPr>
      </p:sp>
      <p:sp>
        <p:nvSpPr>
          <p:cNvPr id="13" name="Shape 10"/>
          <p:cNvSpPr/>
          <p:nvPr/>
        </p:nvSpPr>
        <p:spPr>
          <a:xfrm>
            <a:off x="4434840" y="1152144"/>
            <a:ext cx="310896" cy="310896"/>
          </a:xfrm>
          <a:prstGeom prst="ellipse">
            <a:avLst/>
          </a:prstGeom>
          <a:solidFill>
            <a:srgbClr val="0E8074"/>
          </a:solidFill>
          <a:ln/>
        </p:spPr>
      </p:sp>
      <p:pic>
        <p:nvPicPr>
          <p:cNvPr id="14" name="Image 1" descr="preencoded.png">    </p:cNvPr>
          <p:cNvPicPr>
            <a:picLocks noChangeAspect="1"/>
          </p:cNvPicPr>
          <p:nvPr/>
        </p:nvPicPr>
        <p:blipFill>
          <a:blip r:embed="rId2"/>
          <a:stretch>
            <a:fillRect/>
          </a:stretch>
        </p:blipFill>
        <p:spPr>
          <a:xfrm>
            <a:off x="4507992" y="1225296"/>
            <a:ext cx="164592" cy="164592"/>
          </a:xfrm>
          <a:prstGeom prst="rect">
            <a:avLst/>
          </a:prstGeom>
        </p:spPr>
      </p:pic>
      <p:sp>
        <p:nvSpPr>
          <p:cNvPr id="15" name="Text 11"/>
          <p:cNvSpPr/>
          <p:nvPr/>
        </p:nvSpPr>
        <p:spPr>
          <a:xfrm>
            <a:off x="4818888" y="1133856"/>
            <a:ext cx="2926080" cy="274320"/>
          </a:xfrm>
          <a:prstGeom prst="rect">
            <a:avLst/>
          </a:prstGeom>
          <a:noFill/>
          <a:ln/>
        </p:spPr>
        <p:txBody>
          <a:bodyPr wrap="square" lIns="0" tIns="0" rIns="0" bIns="0" rtlCol="0" anchor="ctr"/>
          <a:lstStyle/>
          <a:p>
            <a:pPr indent="0" marL="0">
              <a:buNone/>
            </a:pPr>
            <a:r>
              <a:rPr lang="en-US" sz="1100" b="1" dirty="0">
                <a:solidFill>
                  <a:srgbClr val="0E8074"/>
                </a:solidFill>
                <a:latin typeface="Calibri" pitchFamily="34" charset="0"/>
                <a:ea typeface="Calibri" pitchFamily="34" charset="-122"/>
                <a:cs typeface="Calibri" pitchFamily="34" charset="-120"/>
              </a:rPr>
              <a:t>B · Design-stage avoidance</a:t>
            </a:r>
            <a:endParaRPr lang="en-US" sz="1100" dirty="0"/>
          </a:p>
        </p:txBody>
      </p:sp>
      <p:sp>
        <p:nvSpPr>
          <p:cNvPr id="16" name="Text 12"/>
          <p:cNvSpPr/>
          <p:nvPr/>
        </p:nvSpPr>
        <p:spPr>
          <a:xfrm>
            <a:off x="4434840"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Cost known while the design can still move. At 10–15 minutes a part this runs at concept stage rather than after the quote lands, while wall thickness, cavitation and routing are all still open.</a:t>
            </a:r>
            <a:endParaRPr lang="en-US" sz="830" dirty="0"/>
          </a:p>
        </p:txBody>
      </p:sp>
      <p:sp>
        <p:nvSpPr>
          <p:cNvPr id="17" name="Shape 13"/>
          <p:cNvSpPr/>
          <p:nvPr/>
        </p:nvSpPr>
        <p:spPr>
          <a:xfrm>
            <a:off x="4434840" y="2267712"/>
            <a:ext cx="3310128" cy="420624"/>
          </a:xfrm>
          <a:prstGeom prst="roundRect">
            <a:avLst>
              <a:gd name="adj" fmla="val 10870"/>
            </a:avLst>
          </a:prstGeom>
          <a:solidFill>
            <a:srgbClr val="F0F4F9"/>
          </a:solidFill>
          <a:ln/>
        </p:spPr>
      </p:sp>
      <p:sp>
        <p:nvSpPr>
          <p:cNvPr id="18" name="Text 14"/>
          <p:cNvSpPr/>
          <p:nvPr/>
        </p:nvSpPr>
        <p:spPr>
          <a:xfrm>
            <a:off x="4526280"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on the bumper, tooling was 43% of piece cost — more than resin, press and labour combined. Nobody predicted that before the run.</a:t>
            </a:r>
            <a:endParaRPr lang="en-US" sz="740" dirty="0"/>
          </a:p>
        </p:txBody>
      </p:sp>
      <p:sp>
        <p:nvSpPr>
          <p:cNvPr id="19" name="Shape 15"/>
          <p:cNvSpPr/>
          <p:nvPr/>
        </p:nvSpPr>
        <p:spPr>
          <a:xfrm>
            <a:off x="8119872" y="1042416"/>
            <a:ext cx="3602736" cy="1737360"/>
          </a:xfrm>
          <a:prstGeom prst="roundRect">
            <a:avLst>
              <a:gd name="adj" fmla="val 5263"/>
            </a:avLst>
          </a:prstGeom>
          <a:solidFill>
            <a:srgbClr val="FFFFFF"/>
          </a:solidFill>
          <a:ln w="19050">
            <a:solidFill>
              <a:srgbClr val="1D6FB8"/>
            </a:solidFill>
            <a:prstDash val="solid"/>
          </a:ln>
        </p:spPr>
      </p:sp>
      <p:sp>
        <p:nvSpPr>
          <p:cNvPr id="20" name="Shape 16"/>
          <p:cNvSpPr/>
          <p:nvPr/>
        </p:nvSpPr>
        <p:spPr>
          <a:xfrm>
            <a:off x="8266176" y="1152144"/>
            <a:ext cx="310896" cy="310896"/>
          </a:xfrm>
          <a:prstGeom prst="ellipse">
            <a:avLst/>
          </a:prstGeom>
          <a:solidFill>
            <a:srgbClr val="1D6FB8"/>
          </a:solidFill>
          <a:ln/>
        </p:spPr>
      </p:sp>
      <p:pic>
        <p:nvPicPr>
          <p:cNvPr id="21" name="Image 2" descr="preencoded.png">    </p:cNvPr>
          <p:cNvPicPr>
            <a:picLocks noChangeAspect="1"/>
          </p:cNvPicPr>
          <p:nvPr/>
        </p:nvPicPr>
        <p:blipFill>
          <a:blip r:embed="rId3"/>
          <a:stretch>
            <a:fillRect/>
          </a:stretch>
        </p:blipFill>
        <p:spPr>
          <a:xfrm>
            <a:off x="8339328" y="1225296"/>
            <a:ext cx="164592" cy="164592"/>
          </a:xfrm>
          <a:prstGeom prst="rect">
            <a:avLst/>
          </a:prstGeom>
        </p:spPr>
      </p:pic>
      <p:sp>
        <p:nvSpPr>
          <p:cNvPr id="22" name="Text 17"/>
          <p:cNvSpPr/>
          <p:nvPr/>
        </p:nvSpPr>
        <p:spPr>
          <a:xfrm>
            <a:off x="8650224" y="1133856"/>
            <a:ext cx="2926080" cy="274320"/>
          </a:xfrm>
          <a:prstGeom prst="rect">
            <a:avLst/>
          </a:prstGeom>
          <a:noFill/>
          <a:ln/>
        </p:spPr>
        <p:txBody>
          <a:bodyPr wrap="square" lIns="0" tIns="0" rIns="0" bIns="0" rtlCol="0" anchor="ctr"/>
          <a:lstStyle/>
          <a:p>
            <a:pPr indent="0" marL="0">
              <a:buNone/>
            </a:pPr>
            <a:r>
              <a:rPr lang="en-US" sz="1100" b="1" dirty="0">
                <a:solidFill>
                  <a:srgbClr val="1D6FB8"/>
                </a:solidFill>
                <a:latin typeface="Calibri" pitchFamily="34" charset="0"/>
                <a:ea typeface="Calibri" pitchFamily="34" charset="-122"/>
                <a:cs typeface="Calibri" pitchFamily="34" charset="-120"/>
              </a:rPr>
              <a:t>C · Engineering capacity</a:t>
            </a:r>
            <a:endParaRPr lang="en-US" sz="1100" dirty="0"/>
          </a:p>
        </p:txBody>
      </p:sp>
      <p:sp>
        <p:nvSpPr>
          <p:cNvPr id="23" name="Text 18"/>
          <p:cNvSpPr/>
          <p:nvPr/>
        </p:nvSpPr>
        <p:spPr>
          <a:xfrm>
            <a:off x="8266176"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The hours are the enabler, not the prize. You cannot hold 40 floor-price negotiations a year if each should-cost costs half a day to prepare — capacity is what makes stream A reachable at all.</a:t>
            </a:r>
            <a:endParaRPr lang="en-US" sz="830" dirty="0"/>
          </a:p>
        </p:txBody>
      </p:sp>
      <p:sp>
        <p:nvSpPr>
          <p:cNvPr id="24" name="Shape 19"/>
          <p:cNvSpPr/>
          <p:nvPr/>
        </p:nvSpPr>
        <p:spPr>
          <a:xfrm>
            <a:off x="8266176" y="2267712"/>
            <a:ext cx="3310128" cy="420624"/>
          </a:xfrm>
          <a:prstGeom prst="roundRect">
            <a:avLst>
              <a:gd name="adj" fmla="val 10870"/>
            </a:avLst>
          </a:prstGeom>
          <a:solidFill>
            <a:srgbClr val="F0F4F9"/>
          </a:solidFill>
          <a:ln/>
        </p:spPr>
      </p:sp>
      <p:sp>
        <p:nvSpPr>
          <p:cNvPr id="25" name="Text 20"/>
          <p:cNvSpPr/>
          <p:nvPr/>
        </p:nvSpPr>
        <p:spPr>
          <a:xfrm>
            <a:off x="8357616"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16–30× faster than the confirmed CAPEE baseline · ≈1,650 h/yr on an illustrative 500-part mix.</a:t>
            </a:r>
            <a:endParaRPr lang="en-US" sz="740" dirty="0"/>
          </a:p>
        </p:txBody>
      </p:sp>
      <p:sp>
        <p:nvSpPr>
          <p:cNvPr id="26" name="Text 21"/>
          <p:cNvSpPr/>
          <p:nvPr/>
        </p:nvSpPr>
        <p:spPr>
          <a:xfrm>
            <a:off x="457200" y="2871216"/>
            <a:ext cx="73152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CALCULATION — ATTACK ANY OF THE THREE TERMS</a:t>
            </a:r>
            <a:endParaRPr lang="en-US" sz="850" dirty="0"/>
          </a:p>
        </p:txBody>
      </p:sp>
      <p:sp>
        <p:nvSpPr>
          <p:cNvPr id="27" name="Shape 22"/>
          <p:cNvSpPr/>
          <p:nvPr/>
        </p:nvSpPr>
        <p:spPr>
          <a:xfrm>
            <a:off x="457200" y="3108960"/>
            <a:ext cx="2542032" cy="1170432"/>
          </a:xfrm>
          <a:prstGeom prst="roundRect">
            <a:avLst>
              <a:gd name="adj" fmla="val 7031"/>
            </a:avLst>
          </a:prstGeom>
          <a:solidFill>
            <a:srgbClr val="FFFFFF"/>
          </a:solidFill>
          <a:ln w="12700">
            <a:solidFill>
              <a:srgbClr val="DCE3EE"/>
            </a:solidFill>
            <a:prstDash val="solid"/>
          </a:ln>
        </p:spPr>
      </p:sp>
      <p:sp>
        <p:nvSpPr>
          <p:cNvPr id="28" name="Text 23"/>
          <p:cNvSpPr/>
          <p:nvPr/>
        </p:nvSpPr>
        <p:spPr>
          <a:xfrm>
            <a:off x="585216"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Addressed spend</a:t>
            </a:r>
            <a:endParaRPr lang="en-US" sz="860" dirty="0"/>
          </a:p>
        </p:txBody>
      </p:sp>
      <p:sp>
        <p:nvSpPr>
          <p:cNvPr id="29" name="Text 24"/>
          <p:cNvSpPr/>
          <p:nvPr/>
        </p:nvSpPr>
        <p:spPr>
          <a:xfrm>
            <a:off x="585216"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 m</a:t>
            </a:r>
            <a:endParaRPr lang="en-US" sz="2100" dirty="0"/>
          </a:p>
        </p:txBody>
      </p:sp>
      <p:sp>
        <p:nvSpPr>
          <p:cNvPr id="30" name="Text 25"/>
          <p:cNvSpPr/>
          <p:nvPr/>
        </p:nvSpPr>
        <p:spPr>
          <a:xfrm>
            <a:off x="585216"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annual purchased value of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parts we put through it</a:t>
            </a:r>
            <a:endParaRPr lang="en-US" sz="740" dirty="0"/>
          </a:p>
        </p:txBody>
      </p:sp>
      <p:sp>
        <p:nvSpPr>
          <p:cNvPr id="31" name="Text 26"/>
          <p:cNvSpPr/>
          <p:nvPr/>
        </p:nvSpPr>
        <p:spPr>
          <a:xfrm>
            <a:off x="3017520"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2" name="Shape 27"/>
          <p:cNvSpPr/>
          <p:nvPr/>
        </p:nvSpPr>
        <p:spPr>
          <a:xfrm>
            <a:off x="3319272" y="3108960"/>
            <a:ext cx="2542032" cy="1170432"/>
          </a:xfrm>
          <a:prstGeom prst="roundRect">
            <a:avLst>
              <a:gd name="adj" fmla="val 7031"/>
            </a:avLst>
          </a:prstGeom>
          <a:solidFill>
            <a:srgbClr val="FFFFFF"/>
          </a:solidFill>
          <a:ln w="12700">
            <a:solidFill>
              <a:srgbClr val="DCE3EE"/>
            </a:solidFill>
            <a:prstDash val="solid"/>
          </a:ln>
        </p:spPr>
      </p:sp>
      <p:sp>
        <p:nvSpPr>
          <p:cNvPr id="33" name="Text 28"/>
          <p:cNvSpPr/>
          <p:nvPr/>
        </p:nvSpPr>
        <p:spPr>
          <a:xfrm>
            <a:off x="3447288"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Identified</a:t>
            </a:r>
            <a:endParaRPr lang="en-US" sz="860" dirty="0"/>
          </a:p>
        </p:txBody>
      </p:sp>
      <p:sp>
        <p:nvSpPr>
          <p:cNvPr id="34" name="Text 29"/>
          <p:cNvSpPr/>
          <p:nvPr/>
        </p:nvSpPr>
        <p:spPr>
          <a:xfrm>
            <a:off x="3447288"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8%</a:t>
            </a:r>
            <a:endParaRPr lang="en-US" sz="2100" dirty="0"/>
          </a:p>
        </p:txBody>
      </p:sp>
      <p:sp>
        <p:nvSpPr>
          <p:cNvPr id="35" name="Text 30"/>
          <p:cNvSpPr/>
          <p:nvPr/>
        </p:nvSpPr>
        <p:spPr>
          <a:xfrm>
            <a:off x="3447288"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planning figure — the tool</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measured 12.8% on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reference part</a:t>
            </a:r>
            <a:endParaRPr lang="en-US" sz="740" dirty="0"/>
          </a:p>
        </p:txBody>
      </p:sp>
      <p:sp>
        <p:nvSpPr>
          <p:cNvPr id="36" name="Text 31"/>
          <p:cNvSpPr/>
          <p:nvPr/>
        </p:nvSpPr>
        <p:spPr>
          <a:xfrm>
            <a:off x="5879592"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7" name="Shape 32"/>
          <p:cNvSpPr/>
          <p:nvPr/>
        </p:nvSpPr>
        <p:spPr>
          <a:xfrm>
            <a:off x="6181344" y="3108960"/>
            <a:ext cx="2542032" cy="1170432"/>
          </a:xfrm>
          <a:prstGeom prst="roundRect">
            <a:avLst>
              <a:gd name="adj" fmla="val 7031"/>
            </a:avLst>
          </a:prstGeom>
          <a:solidFill>
            <a:srgbClr val="FFFFFF"/>
          </a:solidFill>
          <a:ln w="12700">
            <a:solidFill>
              <a:srgbClr val="DCE3EE"/>
            </a:solidFill>
            <a:prstDash val="solid"/>
          </a:ln>
        </p:spPr>
      </p:sp>
      <p:sp>
        <p:nvSpPr>
          <p:cNvPr id="38" name="Text 33"/>
          <p:cNvSpPr/>
          <p:nvPr/>
        </p:nvSpPr>
        <p:spPr>
          <a:xfrm>
            <a:off x="6309360"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Captured</a:t>
            </a:r>
            <a:endParaRPr lang="en-US" sz="860" dirty="0"/>
          </a:p>
        </p:txBody>
      </p:sp>
      <p:sp>
        <p:nvSpPr>
          <p:cNvPr id="39" name="Text 34"/>
          <p:cNvSpPr/>
          <p:nvPr/>
        </p:nvSpPr>
        <p:spPr>
          <a:xfrm>
            <a:off x="6309360"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a:t>
            </a:r>
            <a:endParaRPr lang="en-US" sz="2100" dirty="0"/>
          </a:p>
        </p:txBody>
      </p:sp>
      <p:sp>
        <p:nvSpPr>
          <p:cNvPr id="40" name="Text 35"/>
          <p:cNvSpPr/>
          <p:nvPr/>
        </p:nvSpPr>
        <p:spPr>
          <a:xfrm>
            <a:off x="6309360" y="3785616"/>
            <a:ext cx="2286000" cy="457200"/>
          </a:xfrm>
          <a:prstGeom prst="rect">
            <a:avLst/>
          </a:prstGeom>
          <a:noFill/>
          <a:ln/>
        </p:spPr>
        <p:txBody>
          <a:bodyPr wrap="square" lIns="0" tIns="0" rIns="0" bIns="0" rtlCol="0" anchor="t"/>
          <a:lstStyle/>
          <a:p>
            <a:pPr indent="0" marL="0">
              <a:buNone/>
            </a:pPr>
            <a:r>
              <a:rPr lang="en-US" sz="740" dirty="0">
                <a:solidFill>
                  <a:srgbClr val="B7791F"/>
                </a:solidFill>
                <a:latin typeface="Calibri" pitchFamily="34" charset="0"/>
                <a:ea typeface="Calibri" pitchFamily="34" charset="-122"/>
                <a:cs typeface="Calibri" pitchFamily="34" charset="-120"/>
              </a:rPr>
              <a:t>the share we actually</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implement — the honest</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unknown</a:t>
            </a:r>
            <a:endParaRPr lang="en-US" sz="740" dirty="0"/>
          </a:p>
        </p:txBody>
      </p:sp>
      <p:sp>
        <p:nvSpPr>
          <p:cNvPr id="41" name="Text 36"/>
          <p:cNvSpPr/>
          <p:nvPr/>
        </p:nvSpPr>
        <p:spPr>
          <a:xfrm>
            <a:off x="8741664"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42" name="Shape 37"/>
          <p:cNvSpPr/>
          <p:nvPr/>
        </p:nvSpPr>
        <p:spPr>
          <a:xfrm>
            <a:off x="9043416" y="3108960"/>
            <a:ext cx="2542032" cy="1170432"/>
          </a:xfrm>
          <a:prstGeom prst="roundRect">
            <a:avLst>
              <a:gd name="adj" fmla="val 7031"/>
            </a:avLst>
          </a:prstGeom>
          <a:solidFill>
            <a:srgbClr val="EAF6EF"/>
          </a:solidFill>
          <a:ln w="19050">
            <a:solidFill>
              <a:srgbClr val="2E8B57"/>
            </a:solidFill>
            <a:prstDash val="solid"/>
          </a:ln>
        </p:spPr>
      </p:sp>
      <p:sp>
        <p:nvSpPr>
          <p:cNvPr id="43" name="Text 38"/>
          <p:cNvSpPr/>
          <p:nvPr/>
        </p:nvSpPr>
        <p:spPr>
          <a:xfrm>
            <a:off x="9171432" y="3182112"/>
            <a:ext cx="2286000" cy="219456"/>
          </a:xfrm>
          <a:prstGeom prst="rect">
            <a:avLst/>
          </a:prstGeom>
          <a:noFill/>
          <a:ln/>
        </p:spPr>
        <p:txBody>
          <a:bodyPr wrap="square" lIns="0" tIns="0" rIns="0" bIns="0" rtlCol="0" anchor="ctr"/>
          <a:lstStyle/>
          <a:p>
            <a:pPr indent="0" marL="0">
              <a:buNone/>
            </a:pPr>
            <a:r>
              <a:rPr lang="en-US" sz="860" b="1" dirty="0">
                <a:solidFill>
                  <a:srgbClr val="2E8B57"/>
                </a:solidFill>
                <a:latin typeface="Calibri" pitchFamily="34" charset="0"/>
                <a:ea typeface="Calibri" pitchFamily="34" charset="-122"/>
                <a:cs typeface="Calibri" pitchFamily="34" charset="-120"/>
              </a:rPr>
              <a:t>= Saving</a:t>
            </a:r>
            <a:endParaRPr lang="en-US" sz="860" dirty="0"/>
          </a:p>
        </p:txBody>
      </p:sp>
      <p:sp>
        <p:nvSpPr>
          <p:cNvPr id="44" name="Text 39"/>
          <p:cNvSpPr/>
          <p:nvPr/>
        </p:nvSpPr>
        <p:spPr>
          <a:xfrm>
            <a:off x="9171432" y="3401568"/>
            <a:ext cx="2286000" cy="384048"/>
          </a:xfrm>
          <a:prstGeom prst="rect">
            <a:avLst/>
          </a:prstGeom>
          <a:noFill/>
          <a:ln/>
        </p:spPr>
        <p:txBody>
          <a:bodyPr wrap="square" lIns="0" tIns="0" rIns="0" bIns="0" rtlCol="0" anchor="ctr"/>
          <a:lstStyle/>
          <a:p>
            <a:pPr indent="0" marL="0">
              <a:buNone/>
            </a:pPr>
            <a:r>
              <a:rPr lang="en-US" sz="2100" b="1" dirty="0">
                <a:solidFill>
                  <a:srgbClr val="2E8B57"/>
                </a:solidFill>
                <a:latin typeface="Cambria" pitchFamily="34" charset="0"/>
                <a:ea typeface="Cambria" pitchFamily="34" charset="-122"/>
                <a:cs typeface="Cambria" pitchFamily="34" charset="-120"/>
              </a:rPr>
              <a:t>£320k/yr</a:t>
            </a:r>
            <a:endParaRPr lang="en-US" sz="2100" dirty="0"/>
          </a:p>
        </p:txBody>
      </p:sp>
      <p:sp>
        <p:nvSpPr>
          <p:cNvPr id="45" name="Text 40"/>
          <p:cNvSpPr/>
          <p:nvPr/>
        </p:nvSpPr>
        <p:spPr>
          <a:xfrm>
            <a:off x="9171432" y="3785616"/>
            <a:ext cx="2286000" cy="457200"/>
          </a:xfrm>
          <a:prstGeom prst="rect">
            <a:avLst/>
          </a:prstGeom>
          <a:noFill/>
          <a:ln/>
        </p:spPr>
        <p:txBody>
          <a:bodyPr wrap="square" lIns="0" tIns="0" rIns="0" bIns="0" rtlCol="0" anchor="t"/>
          <a:lstStyle/>
          <a:p>
            <a:pPr indent="0" marL="0">
              <a:buNone/>
            </a:pPr>
            <a:r>
              <a:rPr lang="en-US" sz="740" dirty="0">
                <a:solidFill>
                  <a:srgbClr val="2E8B57"/>
                </a:solidFill>
                <a:latin typeface="Calibri" pitchFamily="34" charset="0"/>
                <a:ea typeface="Calibri" pitchFamily="34" charset="-122"/>
                <a:cs typeface="Calibri" pitchFamily="34" charset="-120"/>
              </a:rPr>
              <a:t>recurring, against a one-off</a:t>
            </a:r>
            <a:endParaRPr lang="en-US" sz="740" dirty="0"/>
          </a:p>
          <a:p>
            <a:pPr indent="0" marL="0">
              <a:buNone/>
            </a:pPr>
            <a:r>
              <a:rPr lang="en-US" sz="740" dirty="0">
                <a:solidFill>
                  <a:srgbClr val="2E8B57"/>
                </a:solidFill>
                <a:latin typeface="Calibri" pitchFamily="34" charset="0"/>
                <a:ea typeface="Calibri" pitchFamily="34" charset="-122"/>
                <a:cs typeface="Calibri" pitchFamily="34" charset="-120"/>
              </a:rPr>
              <a:t>pilot cost of ≈ £25k</a:t>
            </a:r>
            <a:endParaRPr lang="en-US" sz="740" dirty="0"/>
          </a:p>
        </p:txBody>
      </p:sp>
      <p:sp>
        <p:nvSpPr>
          <p:cNvPr id="46" name="Shape 41"/>
          <p:cNvSpPr/>
          <p:nvPr/>
        </p:nvSpPr>
        <p:spPr>
          <a:xfrm>
            <a:off x="457200" y="4370832"/>
            <a:ext cx="6903720" cy="1097280"/>
          </a:xfrm>
          <a:prstGeom prst="roundRect">
            <a:avLst>
              <a:gd name="adj" fmla="val 7500"/>
            </a:avLst>
          </a:prstGeom>
          <a:solidFill>
            <a:srgbClr val="FFFFFF"/>
          </a:solidFill>
          <a:ln w="12700">
            <a:solidFill>
              <a:srgbClr val="DCE3EE"/>
            </a:solidFill>
            <a:prstDash val="solid"/>
          </a:ln>
        </p:spPr>
      </p:sp>
      <p:sp>
        <p:nvSpPr>
          <p:cNvPr id="47" name="Text 42"/>
          <p:cNvSpPr/>
          <p:nvPr/>
        </p:nvSpPr>
        <p:spPr>
          <a:xfrm>
            <a:off x="621792" y="4434840"/>
            <a:ext cx="65836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WHAT WE ASSUMED — SWAP ANY OF THESE FOR OUR REAL NUMBERS</a:t>
            </a:r>
            <a:endParaRPr lang="en-US" sz="800" dirty="0"/>
          </a:p>
        </p:txBody>
      </p:sp>
      <p:sp>
        <p:nvSpPr>
          <p:cNvPr id="48" name="Text 43"/>
          <p:cNvSpPr/>
          <p:nvPr/>
        </p:nvSpPr>
        <p:spPr>
          <a:xfrm>
            <a:off x="621792" y="4636008"/>
            <a:ext cx="6583680" cy="786384"/>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40 parts in the pilot basket · £500k average annual purchased value each · 8% identified · 20% captured.
</a:t>
            </a:r>
            <a:pPr indent="0" marL="0">
              <a:buNone/>
            </a:pPr>
            <a:r>
              <a:rPr lang="en-US" sz="840" b="1" dirty="0">
                <a:solidFill>
                  <a:srgbClr val="16325C"/>
                </a:solidFill>
                <a:latin typeface="Calibri" pitchFamily="34" charset="0"/>
                <a:ea typeface="Calibri" pitchFamily="34" charset="-122"/>
                <a:cs typeface="Calibri" pitchFamily="34" charset="-120"/>
              </a:rPr>
              <a:t>Deliberately conservative: </a:t>
            </a:r>
            <a:pPr indent="0" marL="0">
              <a:buNone/>
            </a:pPr>
            <a:r>
              <a:rPr lang="en-US" sz="840" dirty="0">
                <a:solidFill>
                  <a:srgbClr val="3A4356"/>
                </a:solidFill>
                <a:latin typeface="Calibri" pitchFamily="34" charset="0"/>
                <a:ea typeface="Calibri" pitchFamily="34" charset="-122"/>
                <a:cs typeface="Calibri" pitchFamily="34" charset="-120"/>
              </a:rPr>
              <a:t>the 8% sits below the 12.8% the tool actually measured, and a 20% capture assumes four of every five ideas are never acted on. Nothing here needs the tool to be right about one part — only roughly right across a basket.</a:t>
            </a:r>
            <a:endParaRPr lang="en-US" sz="840" dirty="0"/>
          </a:p>
        </p:txBody>
      </p:sp>
      <p:sp>
        <p:nvSpPr>
          <p:cNvPr id="49" name="Shape 44"/>
          <p:cNvSpPr/>
          <p:nvPr/>
        </p:nvSpPr>
        <p:spPr>
          <a:xfrm>
            <a:off x="7571232" y="4370832"/>
            <a:ext cx="4160520" cy="1097280"/>
          </a:xfrm>
          <a:prstGeom prst="roundRect">
            <a:avLst>
              <a:gd name="adj" fmla="val 7500"/>
            </a:avLst>
          </a:prstGeom>
          <a:solidFill>
            <a:srgbClr val="FBEAE8"/>
          </a:solidFill>
          <a:ln w="12700">
            <a:solidFill>
              <a:srgbClr val="B03A2E"/>
            </a:solidFill>
            <a:prstDash val="solid"/>
          </a:ln>
        </p:spPr>
      </p:sp>
      <p:sp>
        <p:nvSpPr>
          <p:cNvPr id="50" name="Text 45"/>
          <p:cNvSpPr/>
          <p:nvPr/>
        </p:nvSpPr>
        <p:spPr>
          <a:xfrm>
            <a:off x="7735824" y="4434840"/>
            <a:ext cx="3840480" cy="182880"/>
          </a:xfrm>
          <a:prstGeom prst="rect">
            <a:avLst/>
          </a:prstGeom>
          <a:noFill/>
          <a:ln/>
        </p:spPr>
        <p:txBody>
          <a:bodyPr wrap="square" lIns="0" tIns="0" rIns="0" bIns="0" rtlCol="0" anchor="ctr"/>
          <a:lstStyle/>
          <a:p>
            <a:pPr indent="0" marL="0">
              <a:buNone/>
            </a:pPr>
            <a:r>
              <a:rPr lang="en-US" sz="800" b="1" spc="40" kern="0" dirty="0">
                <a:solidFill>
                  <a:srgbClr val="B03A2E"/>
                </a:solidFill>
                <a:latin typeface="Calibri" pitchFamily="34" charset="0"/>
                <a:ea typeface="Calibri" pitchFamily="34" charset="-122"/>
                <a:cs typeface="Calibri" pitchFamily="34" charset="-120"/>
              </a:rPr>
              <a:t>IF WE DO NOTHING</a:t>
            </a:r>
            <a:endParaRPr lang="en-US" sz="800" dirty="0"/>
          </a:p>
        </p:txBody>
      </p:sp>
      <p:sp>
        <p:nvSpPr>
          <p:cNvPr id="51" name="Text 46"/>
          <p:cNvSpPr/>
          <p:nvPr/>
        </p:nvSpPr>
        <p:spPr>
          <a:xfrm>
            <a:off x="7735824" y="4636008"/>
            <a:ext cx="3840480" cy="786384"/>
          </a:xfrm>
          <a:prstGeom prst="rect">
            <a:avLst/>
          </a:prstGeom>
          <a:noFill/>
          <a:ln/>
        </p:spPr>
        <p:txBody>
          <a:bodyPr wrap="square" lIns="0" tIns="0" rIns="0" bIns="0" rtlCol="0" anchor="t"/>
          <a:lstStyle/>
          <a:p>
            <a:pPr indent="0" marL="0">
              <a:buNone/>
            </a:pPr>
            <a:r>
              <a:rPr lang="en-US" sz="810" dirty="0">
                <a:solidFill>
                  <a:srgbClr val="3A4356"/>
                </a:solidFill>
                <a:latin typeface="Calibri" pitchFamily="34" charset="0"/>
                <a:ea typeface="Calibri" pitchFamily="34" charset="-122"/>
                <a:cs typeface="Calibri" pitchFamily="34" charset="-120"/>
              </a:rPr>
              <a:t>Quotes keep being accepted without a floor price · cost keeps being discovered after the design is locked, when the cheap levers have closed · findings like 43%-tooling keep arriving too late to act on · a should-cost stays half a day of an engineer, so only the biggest parts ever get one.</a:t>
            </a:r>
            <a:endParaRPr lang="en-US" sz="810" dirty="0"/>
          </a:p>
        </p:txBody>
      </p:sp>
      <p:sp>
        <p:nvSpPr>
          <p:cNvPr id="52" name="Shape 47"/>
          <p:cNvSpPr/>
          <p:nvPr/>
        </p:nvSpPr>
        <p:spPr>
          <a:xfrm>
            <a:off x="457200" y="5577840"/>
            <a:ext cx="11274552" cy="786384"/>
          </a:xfrm>
          <a:prstGeom prst="roundRect">
            <a:avLst>
              <a:gd name="adj" fmla="val 11628"/>
            </a:avLst>
          </a:prstGeom>
          <a:solidFill>
            <a:srgbClr val="16325C"/>
          </a:solidFill>
          <a:ln/>
        </p:spPr>
      </p:sp>
      <p:sp>
        <p:nvSpPr>
          <p:cNvPr id="53" name="Text 48"/>
          <p:cNvSpPr/>
          <p:nvPr/>
        </p:nvSpPr>
        <p:spPr>
          <a:xfrm>
            <a:off x="777240" y="5632704"/>
            <a:ext cx="10652760" cy="676656"/>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Break-even: </a:t>
            </a:r>
            <a:pPr indent="0" marL="0">
              <a:buNone/>
            </a:pPr>
            <a:r>
              <a:rPr lang="en-US" sz="1200" dirty="0">
                <a:solidFill>
                  <a:srgbClr val="FFFFFF"/>
                </a:solidFill>
                <a:latin typeface="Calibri" pitchFamily="34" charset="0"/>
                <a:ea typeface="Calibri" pitchFamily="34" charset="-122"/>
                <a:cs typeface="Calibri" pitchFamily="34" charset="-120"/>
              </a:rPr>
              <a:t>the pilot pays for itself if we capture </a:t>
            </a:r>
            <a:pPr indent="0" marL="0">
              <a:buNone/>
            </a:pPr>
            <a:r>
              <a:rPr lang="en-US" sz="1500" b="1" dirty="0">
                <a:solidFill>
                  <a:srgbClr val="6EE7B7"/>
                </a:solidFill>
                <a:latin typeface="Calibri" pitchFamily="34" charset="0"/>
                <a:ea typeface="Calibri" pitchFamily="34" charset="-122"/>
                <a:cs typeface="Calibri" pitchFamily="34" charset="-120"/>
              </a:rPr>
              <a:t>1.6% </a:t>
            </a:r>
            <a:pPr indent="0" marL="0">
              <a:buNone/>
            </a:pPr>
            <a:r>
              <a:rPr lang="en-US" sz="1200" dirty="0">
                <a:solidFill>
                  <a:srgbClr val="FFFFFF"/>
                </a:solidFill>
                <a:latin typeface="Calibri" pitchFamily="34" charset="0"/>
                <a:ea typeface="Calibri" pitchFamily="34" charset="-122"/>
                <a:cs typeface="Calibri" pitchFamily="34" charset="-120"/>
              </a:rPr>
              <a:t>of what it identifies — one pound in sixty. Every point of capture above that is ≈£16k a year.   </a:t>
            </a:r>
            <a:pPr indent="0" marL="0">
              <a:buNone/>
            </a:pPr>
            <a:r>
              <a:rPr lang="en-US" sz="1200" b="1" dirty="0">
                <a:solidFill>
                  <a:srgbClr val="FFFFFF"/>
                </a:solidFill>
                <a:latin typeface="Calibri" pitchFamily="34" charset="0"/>
                <a:ea typeface="Calibri" pitchFamily="34" charset="-122"/>
                <a:cs typeface="Calibri" pitchFamily="34" charset="-120"/>
              </a:rPr>
              <a:t>We are not asking you to believe 20%. We are asking whether 1.6% is plausible.</a:t>
            </a:r>
            <a:endParaRPr lang="en-US" sz="120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the capacity in stream C exists — the same should-cost, by commodity,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IV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V — The Ask: a 90-Day Pilot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decision, a fixed scope, criteria agreed before we start, and a go/no-go date</a:t>
            </a:r>
            <a:endParaRPr lang="en-US" sz="1200" dirty="0"/>
          </a:p>
        </p:txBody>
      </p:sp>
      <p:sp>
        <p:nvSpPr>
          <p:cNvPr id="5" name="Shape 3"/>
          <p:cNvSpPr/>
          <p:nvPr/>
        </p:nvSpPr>
        <p:spPr>
          <a:xfrm>
            <a:off x="457200" y="1042416"/>
            <a:ext cx="5120640" cy="1371600"/>
          </a:xfrm>
          <a:prstGeom prst="roundRect">
            <a:avLst>
              <a:gd name="adj" fmla="val 6667"/>
            </a:avLst>
          </a:prstGeom>
          <a:solidFill>
            <a:srgbClr val="EAF6EF"/>
          </a:solidFill>
          <a:ln w="25400">
            <a:solidFill>
              <a:srgbClr val="2E8B57"/>
            </a:solidFill>
            <a:prstDash val="solid"/>
          </a:ln>
        </p:spPr>
      </p:sp>
      <p:sp>
        <p:nvSpPr>
          <p:cNvPr id="6" name="Text 4"/>
          <p:cNvSpPr/>
          <p:nvPr/>
        </p:nvSpPr>
        <p:spPr>
          <a:xfrm>
            <a:off x="658368" y="1115568"/>
            <a:ext cx="475488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WE ARE ASKING FOR</a:t>
            </a:r>
            <a:endParaRPr lang="en-US" sz="850" dirty="0"/>
          </a:p>
        </p:txBody>
      </p:sp>
      <p:sp>
        <p:nvSpPr>
          <p:cNvPr id="7" name="Text 5"/>
          <p:cNvSpPr/>
          <p:nvPr/>
        </p:nvSpPr>
        <p:spPr>
          <a:xfrm>
            <a:off x="658368" y="1353312"/>
            <a:ext cx="4754880" cy="987552"/>
          </a:xfrm>
          <a:prstGeom prst="rect">
            <a:avLst/>
          </a:prstGeom>
          <a:noFill/>
          <a:ln/>
        </p:spPr>
        <p:txBody>
          <a:bodyPr wrap="square" lIns="0" tIns="0" rIns="0" bIns="0" rtlCol="0" anchor="t"/>
          <a:lstStyle/>
          <a:p>
            <a:pPr indent="0" marL="0">
              <a:buNone/>
            </a:pPr>
            <a:r>
              <a:rPr lang="en-US" sz="1500" b="1" dirty="0">
                <a:solidFill>
                  <a:srgbClr val="16325C"/>
                </a:solidFill>
                <a:latin typeface="Calibri" pitchFamily="34" charset="0"/>
                <a:ea typeface="Calibri" pitchFamily="34" charset="-122"/>
                <a:cs typeface="Calibri" pitchFamily="34" charset="-120"/>
              </a:rPr>
              <a:t>Approve a 90-day pilot on 40 parts.
</a:t>
            </a:r>
            <a:pPr indent="0" marL="0">
              <a:buNone/>
            </a:pPr>
            <a:r>
              <a:rPr lang="en-US" sz="950" dirty="0">
                <a:solidFill>
                  <a:srgbClr val="3A4356"/>
                </a:solidFill>
                <a:latin typeface="Calibri" pitchFamily="34" charset="0"/>
                <a:ea typeface="Calibri" pitchFamily="34" charset="-122"/>
                <a:cs typeface="Calibri" pitchFamily="34" charset="-120"/>
              </a:rPr>
              <a:t>One named owner · 0.3 FTE · one VM · ≈£25k one-off · no licence, no per-seat and no per-estimate cost. Nothing recurring is committed until the day-90 review.</a:t>
            </a:r>
            <a:endParaRPr lang="en-US" sz="1500" dirty="0"/>
          </a:p>
        </p:txBody>
      </p:sp>
      <p:sp>
        <p:nvSpPr>
          <p:cNvPr id="8" name="Shape 6"/>
          <p:cNvSpPr/>
          <p:nvPr/>
        </p:nvSpPr>
        <p:spPr>
          <a:xfrm>
            <a:off x="457200" y="2523744"/>
            <a:ext cx="5120640" cy="1298448"/>
          </a:xfrm>
          <a:prstGeom prst="roundRect">
            <a:avLst>
              <a:gd name="adj" fmla="val 6338"/>
            </a:avLst>
          </a:prstGeom>
          <a:solidFill>
            <a:srgbClr val="FFFFFF"/>
          </a:solidFill>
          <a:ln w="12700">
            <a:solidFill>
              <a:srgbClr val="DCE3EE"/>
            </a:solidFill>
            <a:prstDash val="solid"/>
          </a:ln>
        </p:spPr>
      </p:sp>
      <p:sp>
        <p:nvSpPr>
          <p:cNvPr id="9" name="Text 7"/>
          <p:cNvSpPr/>
          <p:nvPr/>
        </p:nvSpPr>
        <p:spPr>
          <a:xfrm>
            <a:off x="658368" y="2596896"/>
            <a:ext cx="47548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PILOT SCOPE — AGREED UP FRONT</a:t>
            </a:r>
            <a:endParaRPr lang="en-US" sz="800" dirty="0"/>
          </a:p>
        </p:txBody>
      </p:sp>
      <p:sp>
        <p:nvSpPr>
          <p:cNvPr id="10" name="Text 8"/>
          <p:cNvSpPr/>
          <p:nvPr/>
        </p:nvSpPr>
        <p:spPr>
          <a:xfrm>
            <a:off x="658368" y="2798064"/>
            <a:ext cx="384048" cy="438912"/>
          </a:xfrm>
          <a:prstGeom prst="rect">
            <a:avLst/>
          </a:prstGeom>
          <a:noFill/>
          <a:ln/>
        </p:spPr>
        <p:txBody>
          <a:bodyPr wrap="square" lIns="0" tIns="0" rIns="0" bIns="0" rtlCol="0" anchor="t"/>
          <a:lstStyle/>
          <a:p>
            <a:pPr indent="0" marL="0">
              <a:buNone/>
            </a:pPr>
            <a:r>
              <a:rPr lang="en-US" sz="840" b="1" dirty="0">
                <a:solidFill>
                  <a:srgbClr val="2E8B57"/>
                </a:solidFill>
                <a:latin typeface="Calibri" pitchFamily="34" charset="0"/>
                <a:ea typeface="Calibri" pitchFamily="34" charset="-122"/>
                <a:cs typeface="Calibri" pitchFamily="34" charset="-120"/>
              </a:rPr>
              <a:t>In</a:t>
            </a:r>
            <a:endParaRPr lang="en-US" sz="840" dirty="0"/>
          </a:p>
        </p:txBody>
      </p:sp>
      <p:sp>
        <p:nvSpPr>
          <p:cNvPr id="11" name="Text 9"/>
          <p:cNvSpPr/>
          <p:nvPr/>
        </p:nvSpPr>
        <p:spPr>
          <a:xfrm>
            <a:off x="1060704" y="2798064"/>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40 live parts across 4–5 commodities we already buy, chosen with purchasing — a mix of quoted parts and parts still in design.</a:t>
            </a:r>
            <a:endParaRPr lang="en-US" sz="820" dirty="0"/>
          </a:p>
        </p:txBody>
      </p:sp>
      <p:sp>
        <p:nvSpPr>
          <p:cNvPr id="12" name="Text 10"/>
          <p:cNvSpPr/>
          <p:nvPr/>
        </p:nvSpPr>
        <p:spPr>
          <a:xfrm>
            <a:off x="658368" y="3273552"/>
            <a:ext cx="384048" cy="438912"/>
          </a:xfrm>
          <a:prstGeom prst="rect">
            <a:avLst/>
          </a:prstGeom>
          <a:noFill/>
          <a:ln/>
        </p:spPr>
        <p:txBody>
          <a:bodyPr wrap="square" lIns="0" tIns="0" rIns="0" bIns="0" rtlCol="0" anchor="t"/>
          <a:lstStyle/>
          <a:p>
            <a:pPr indent="0" marL="0">
              <a:buNone/>
            </a:pPr>
            <a:r>
              <a:rPr lang="en-US" sz="840" b="1" dirty="0">
                <a:solidFill>
                  <a:srgbClr val="B03A2E"/>
                </a:solidFill>
                <a:latin typeface="Calibri" pitchFamily="34" charset="0"/>
                <a:ea typeface="Calibri" pitchFamily="34" charset="-122"/>
                <a:cs typeface="Calibri" pitchFamily="34" charset="-120"/>
              </a:rPr>
              <a:t>Out</a:t>
            </a:r>
            <a:endParaRPr lang="en-US" sz="840" dirty="0"/>
          </a:p>
        </p:txBody>
      </p:sp>
      <p:sp>
        <p:nvSpPr>
          <p:cNvPr id="13" name="Text 11"/>
          <p:cNvSpPr/>
          <p:nvPr/>
        </p:nvSpPr>
        <p:spPr>
          <a:xfrm>
            <a:off x="1060704" y="3273552"/>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No supplier is told a price comes from a tool. Every number is reviewed and owned by an engineer before it leaves the building.</a:t>
            </a:r>
            <a:endParaRPr lang="en-US" sz="820" dirty="0"/>
          </a:p>
        </p:txBody>
      </p:sp>
      <p:sp>
        <p:nvSpPr>
          <p:cNvPr id="14" name="Text 12"/>
          <p:cNvSpPr/>
          <p:nvPr/>
        </p:nvSpPr>
        <p:spPr>
          <a:xfrm>
            <a:off x="457200" y="3950208"/>
            <a:ext cx="5120640" cy="182880"/>
          </a:xfrm>
          <a:prstGeom prst="rect">
            <a:avLst/>
          </a:prstGeom>
          <a:noFill/>
          <a:ln/>
        </p:spPr>
        <p:txBody>
          <a:bodyPr wrap="square" lIns="0" tIns="0" rIns="0" bIns="0" rtlCol="0" anchor="ctr"/>
          <a:lstStyle/>
          <a:p>
            <a:pPr indent="0" marL="0">
              <a:buNone/>
            </a:pPr>
            <a:r>
              <a:rPr lang="en-US" sz="800" b="1" spc="40" kern="0" dirty="0">
                <a:solidFill>
                  <a:srgbClr val="16325C"/>
                </a:solidFill>
                <a:latin typeface="Calibri" pitchFamily="34" charset="0"/>
                <a:ea typeface="Calibri" pitchFamily="34" charset="-122"/>
                <a:cs typeface="Calibri" pitchFamily="34" charset="-120"/>
              </a:rPr>
              <a:t>90 DAYS, THREE PHASES</a:t>
            </a:r>
            <a:endParaRPr lang="en-US" sz="800" dirty="0"/>
          </a:p>
        </p:txBody>
      </p:sp>
      <p:sp>
        <p:nvSpPr>
          <p:cNvPr id="15" name="Shape 13"/>
          <p:cNvSpPr/>
          <p:nvPr/>
        </p:nvSpPr>
        <p:spPr>
          <a:xfrm>
            <a:off x="457200" y="4151376"/>
            <a:ext cx="914400" cy="420624"/>
          </a:xfrm>
          <a:prstGeom prst="roundRect">
            <a:avLst>
              <a:gd name="adj" fmla="val 10870"/>
            </a:avLst>
          </a:prstGeom>
          <a:solidFill>
            <a:srgbClr val="0E8074"/>
          </a:solidFill>
          <a:ln/>
        </p:spPr>
      </p:sp>
      <p:sp>
        <p:nvSpPr>
          <p:cNvPr id="16" name="Text 14"/>
          <p:cNvSpPr/>
          <p:nvPr/>
        </p:nvSpPr>
        <p:spPr>
          <a:xfrm>
            <a:off x="457200" y="41513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1–30</a:t>
            </a:r>
            <a:endParaRPr lang="en-US" sz="780" dirty="0"/>
          </a:p>
        </p:txBody>
      </p:sp>
      <p:sp>
        <p:nvSpPr>
          <p:cNvPr id="17" name="Text 15"/>
          <p:cNvSpPr/>
          <p:nvPr/>
        </p:nvSpPr>
        <p:spPr>
          <a:xfrm>
            <a:off x="1463040" y="41696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Set up + calibrate</a:t>
            </a:r>
            <a:endParaRPr lang="en-US" sz="840" dirty="0"/>
          </a:p>
        </p:txBody>
      </p:sp>
      <p:sp>
        <p:nvSpPr>
          <p:cNvPr id="18" name="Text 16"/>
          <p:cNvSpPr/>
          <p:nvPr/>
        </p:nvSpPr>
        <p:spPr>
          <a:xfrm>
            <a:off x="1463040" y="43342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One VM, our own rates loaded, the 6 validated parts re-run to confirm the baseline, two engineers trained.</a:t>
            </a:r>
            <a:endParaRPr lang="en-US" sz="760" dirty="0"/>
          </a:p>
        </p:txBody>
      </p:sp>
      <p:sp>
        <p:nvSpPr>
          <p:cNvPr id="19" name="Shape 17"/>
          <p:cNvSpPr/>
          <p:nvPr/>
        </p:nvSpPr>
        <p:spPr>
          <a:xfrm>
            <a:off x="457200" y="4608576"/>
            <a:ext cx="914400" cy="420624"/>
          </a:xfrm>
          <a:prstGeom prst="roundRect">
            <a:avLst>
              <a:gd name="adj" fmla="val 10870"/>
            </a:avLst>
          </a:prstGeom>
          <a:solidFill>
            <a:srgbClr val="1D6FB8"/>
          </a:solidFill>
          <a:ln/>
        </p:spPr>
      </p:sp>
      <p:sp>
        <p:nvSpPr>
          <p:cNvPr id="20" name="Text 18"/>
          <p:cNvSpPr/>
          <p:nvPr/>
        </p:nvSpPr>
        <p:spPr>
          <a:xfrm>
            <a:off x="457200" y="46085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31–60</a:t>
            </a:r>
            <a:endParaRPr lang="en-US" sz="780" dirty="0"/>
          </a:p>
        </p:txBody>
      </p:sp>
      <p:sp>
        <p:nvSpPr>
          <p:cNvPr id="21" name="Text 19"/>
          <p:cNvSpPr/>
          <p:nvPr/>
        </p:nvSpPr>
        <p:spPr>
          <a:xfrm>
            <a:off x="1463040" y="46268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Run the basket</a:t>
            </a:r>
            <a:endParaRPr lang="en-US" sz="840" dirty="0"/>
          </a:p>
        </p:txBody>
      </p:sp>
      <p:sp>
        <p:nvSpPr>
          <p:cNvPr id="22" name="Text 20"/>
          <p:cNvSpPr/>
          <p:nvPr/>
        </p:nvSpPr>
        <p:spPr>
          <a:xfrm>
            <a:off x="1463040" y="47914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The 40 parts costed. Every estimate logged against the quote or the actual PO. Top levers taken to suppliers.</a:t>
            </a:r>
            <a:endParaRPr lang="en-US" sz="760" dirty="0"/>
          </a:p>
        </p:txBody>
      </p:sp>
      <p:sp>
        <p:nvSpPr>
          <p:cNvPr id="23" name="Shape 21"/>
          <p:cNvSpPr/>
          <p:nvPr/>
        </p:nvSpPr>
        <p:spPr>
          <a:xfrm>
            <a:off x="457200" y="5065776"/>
            <a:ext cx="914400" cy="420624"/>
          </a:xfrm>
          <a:prstGeom prst="roundRect">
            <a:avLst>
              <a:gd name="adj" fmla="val 10870"/>
            </a:avLst>
          </a:prstGeom>
          <a:solidFill>
            <a:srgbClr val="2E8B57"/>
          </a:solidFill>
          <a:ln/>
        </p:spPr>
      </p:sp>
      <p:sp>
        <p:nvSpPr>
          <p:cNvPr id="24" name="Text 22"/>
          <p:cNvSpPr/>
          <p:nvPr/>
        </p:nvSpPr>
        <p:spPr>
          <a:xfrm>
            <a:off x="457200" y="50657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61–90</a:t>
            </a:r>
            <a:endParaRPr lang="en-US" sz="780" dirty="0"/>
          </a:p>
        </p:txBody>
      </p:sp>
      <p:sp>
        <p:nvSpPr>
          <p:cNvPr id="25" name="Text 23"/>
          <p:cNvSpPr/>
          <p:nvPr/>
        </p:nvSpPr>
        <p:spPr>
          <a:xfrm>
            <a:off x="1463040" y="50840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Measure + decide</a:t>
            </a:r>
            <a:endParaRPr lang="en-US" sz="840" dirty="0"/>
          </a:p>
        </p:txBody>
      </p:sp>
      <p:sp>
        <p:nvSpPr>
          <p:cNvPr id="26" name="Text 24"/>
          <p:cNvSpPr/>
          <p:nvPr/>
        </p:nvSpPr>
        <p:spPr>
          <a:xfrm>
            <a:off x="1463040" y="52486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Scored against the four criteria opposite. Captured saving written up. Go / no-go presented here.</a:t>
            </a:r>
            <a:endParaRPr lang="en-US" sz="760" dirty="0"/>
          </a:p>
        </p:txBody>
      </p:sp>
      <p:sp>
        <p:nvSpPr>
          <p:cNvPr id="27" name="Shape 25"/>
          <p:cNvSpPr/>
          <p:nvPr/>
        </p:nvSpPr>
        <p:spPr>
          <a:xfrm>
            <a:off x="5760720" y="1042416"/>
            <a:ext cx="5971032" cy="2286000"/>
          </a:xfrm>
          <a:prstGeom prst="roundRect">
            <a:avLst>
              <a:gd name="adj" fmla="val 4000"/>
            </a:avLst>
          </a:prstGeom>
          <a:solidFill>
            <a:srgbClr val="FFFFFF"/>
          </a:solidFill>
          <a:ln w="19050">
            <a:solidFill>
              <a:srgbClr val="16325C"/>
            </a:solidFill>
            <a:prstDash val="solid"/>
          </a:ln>
        </p:spPr>
      </p:sp>
      <p:sp>
        <p:nvSpPr>
          <p:cNvPr id="28" name="Text 26"/>
          <p:cNvSpPr/>
          <p:nvPr/>
        </p:nvSpPr>
        <p:spPr>
          <a:xfrm>
            <a:off x="5943600" y="1115568"/>
            <a:ext cx="55778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SUCCESS CRITERIA — SET NOW, SCORED AT DAY 90</a:t>
            </a:r>
            <a:endParaRPr lang="en-US" sz="850" dirty="0"/>
          </a:p>
        </p:txBody>
      </p:sp>
      <p:sp>
        <p:nvSpPr>
          <p:cNvPr id="29" name="Text 27"/>
          <p:cNvSpPr/>
          <p:nvPr/>
        </p:nvSpPr>
        <p:spPr>
          <a:xfrm>
            <a:off x="5943600" y="1316736"/>
            <a:ext cx="5577840" cy="237744"/>
          </a:xfrm>
          <a:prstGeom prst="rect">
            <a:avLst/>
          </a:prstGeom>
          <a:noFill/>
          <a:ln/>
        </p:spPr>
        <p:txBody>
          <a:bodyPr wrap="square" lIns="0" tIns="0" rIns="0" bIns="0" rtlCol="0" anchor="ctr"/>
          <a:lstStyle/>
          <a:p>
            <a:pPr indent="0" marL="0">
              <a:buNone/>
            </a:pPr>
            <a:r>
              <a:rPr lang="en-US" sz="760" i="1" dirty="0">
                <a:solidFill>
                  <a:srgbClr val="6B7280"/>
                </a:solidFill>
                <a:latin typeface="Calibri" pitchFamily="34" charset="0"/>
                <a:ea typeface="Calibri" pitchFamily="34" charset="-122"/>
                <a:cs typeface="Calibri" pitchFamily="34" charset="-120"/>
              </a:rPr>
              <a:t>Agreeing these before we start is the point: at day 90 the decision is arithmetic, not opinion — and a miss is a legitimate stop.</a:t>
            </a:r>
            <a:endParaRPr lang="en-US" sz="760" dirty="0"/>
          </a:p>
        </p:txBody>
      </p:sp>
      <p:sp>
        <p:nvSpPr>
          <p:cNvPr id="30" name="Shape 28"/>
          <p:cNvSpPr/>
          <p:nvPr/>
        </p:nvSpPr>
        <p:spPr>
          <a:xfrm>
            <a:off x="5943600" y="1609344"/>
            <a:ext cx="868680" cy="365760"/>
          </a:xfrm>
          <a:prstGeom prst="roundRect">
            <a:avLst>
              <a:gd name="adj" fmla="val 12500"/>
            </a:avLst>
          </a:prstGeom>
          <a:solidFill>
            <a:srgbClr val="E8EDF6"/>
          </a:solidFill>
          <a:ln/>
        </p:spPr>
      </p:sp>
      <p:sp>
        <p:nvSpPr>
          <p:cNvPr id="31" name="Text 29"/>
          <p:cNvSpPr/>
          <p:nvPr/>
        </p:nvSpPr>
        <p:spPr>
          <a:xfrm>
            <a:off x="5943600" y="160934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Accuracy</a:t>
            </a:r>
            <a:endParaRPr lang="en-US" sz="800" dirty="0"/>
          </a:p>
        </p:txBody>
      </p:sp>
      <p:sp>
        <p:nvSpPr>
          <p:cNvPr id="32" name="Text 30"/>
          <p:cNvSpPr/>
          <p:nvPr/>
        </p:nvSpPr>
        <p:spPr>
          <a:xfrm>
            <a:off x="6903720" y="160934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70% of pilot parts within ±20% of an independent manual should-cost or the actual PO price</a:t>
            </a:r>
            <a:endParaRPr lang="en-US" sz="800" dirty="0"/>
          </a:p>
        </p:txBody>
      </p:sp>
      <p:sp>
        <p:nvSpPr>
          <p:cNvPr id="33" name="Shape 31"/>
          <p:cNvSpPr/>
          <p:nvPr/>
        </p:nvSpPr>
        <p:spPr>
          <a:xfrm>
            <a:off x="5943600" y="2020824"/>
            <a:ext cx="868680" cy="365760"/>
          </a:xfrm>
          <a:prstGeom prst="roundRect">
            <a:avLst>
              <a:gd name="adj" fmla="val 12500"/>
            </a:avLst>
          </a:prstGeom>
          <a:solidFill>
            <a:srgbClr val="E8EDF6"/>
          </a:solidFill>
          <a:ln/>
        </p:spPr>
      </p:sp>
      <p:sp>
        <p:nvSpPr>
          <p:cNvPr id="34" name="Text 32"/>
          <p:cNvSpPr/>
          <p:nvPr/>
        </p:nvSpPr>
        <p:spPr>
          <a:xfrm>
            <a:off x="5943600" y="202082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Speed</a:t>
            </a:r>
            <a:endParaRPr lang="en-US" sz="800" dirty="0"/>
          </a:p>
        </p:txBody>
      </p:sp>
      <p:sp>
        <p:nvSpPr>
          <p:cNvPr id="35" name="Text 33"/>
          <p:cNvSpPr/>
          <p:nvPr/>
        </p:nvSpPr>
        <p:spPr>
          <a:xfrm>
            <a:off x="6903720" y="202082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Median ≤ 20 min per CAD part, engineer-attended — read from the tool’s own run logs, not estimated</a:t>
            </a:r>
            <a:endParaRPr lang="en-US" sz="800" dirty="0"/>
          </a:p>
        </p:txBody>
      </p:sp>
      <p:sp>
        <p:nvSpPr>
          <p:cNvPr id="36" name="Shape 34"/>
          <p:cNvSpPr/>
          <p:nvPr/>
        </p:nvSpPr>
        <p:spPr>
          <a:xfrm>
            <a:off x="5943600" y="2432304"/>
            <a:ext cx="868680" cy="365760"/>
          </a:xfrm>
          <a:prstGeom prst="roundRect">
            <a:avLst>
              <a:gd name="adj" fmla="val 12500"/>
            </a:avLst>
          </a:prstGeom>
          <a:solidFill>
            <a:srgbClr val="E8EDF6"/>
          </a:solidFill>
          <a:ln/>
        </p:spPr>
      </p:sp>
      <p:sp>
        <p:nvSpPr>
          <p:cNvPr id="37" name="Text 35"/>
          <p:cNvSpPr/>
          <p:nvPr/>
        </p:nvSpPr>
        <p:spPr>
          <a:xfrm>
            <a:off x="5943600" y="243230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Value</a:t>
            </a:r>
            <a:endParaRPr lang="en-US" sz="800" dirty="0"/>
          </a:p>
        </p:txBody>
      </p:sp>
      <p:sp>
        <p:nvSpPr>
          <p:cNvPr id="38" name="Text 36"/>
          <p:cNvSpPr/>
          <p:nvPr/>
        </p:nvSpPr>
        <p:spPr>
          <a:xfrm>
            <a:off x="6903720" y="243230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£150k of opportunity identified across the basket, and ≥ 3 levers taken to a supplier with the outcome recorded either way</a:t>
            </a:r>
            <a:endParaRPr lang="en-US" sz="800" dirty="0"/>
          </a:p>
        </p:txBody>
      </p:sp>
      <p:sp>
        <p:nvSpPr>
          <p:cNvPr id="39" name="Shape 37"/>
          <p:cNvSpPr/>
          <p:nvPr/>
        </p:nvSpPr>
        <p:spPr>
          <a:xfrm>
            <a:off x="5943600" y="2843784"/>
            <a:ext cx="868680" cy="365760"/>
          </a:xfrm>
          <a:prstGeom prst="roundRect">
            <a:avLst>
              <a:gd name="adj" fmla="val 12500"/>
            </a:avLst>
          </a:prstGeom>
          <a:solidFill>
            <a:srgbClr val="E8EDF6"/>
          </a:solidFill>
          <a:ln/>
        </p:spPr>
      </p:sp>
      <p:sp>
        <p:nvSpPr>
          <p:cNvPr id="40" name="Text 38"/>
          <p:cNvSpPr/>
          <p:nvPr/>
        </p:nvSpPr>
        <p:spPr>
          <a:xfrm>
            <a:off x="5943600" y="284378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Adoption</a:t>
            </a:r>
            <a:endParaRPr lang="en-US" sz="800" dirty="0"/>
          </a:p>
        </p:txBody>
      </p:sp>
      <p:sp>
        <p:nvSpPr>
          <p:cNvPr id="41" name="Text 39"/>
          <p:cNvSpPr/>
          <p:nvPr/>
        </p:nvSpPr>
        <p:spPr>
          <a:xfrm>
            <a:off x="6903720" y="284378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2+ engineers running it unaided after one day of training, without the person who built it in the room</a:t>
            </a:r>
            <a:endParaRPr lang="en-US" sz="800" dirty="0"/>
          </a:p>
        </p:txBody>
      </p:sp>
      <p:sp>
        <p:nvSpPr>
          <p:cNvPr id="42" name="Shape 40"/>
          <p:cNvSpPr/>
          <p:nvPr/>
        </p:nvSpPr>
        <p:spPr>
          <a:xfrm>
            <a:off x="5760720" y="3438144"/>
            <a:ext cx="5971032" cy="2029968"/>
          </a:xfrm>
          <a:prstGeom prst="roundRect">
            <a:avLst>
              <a:gd name="adj" fmla="val 4054"/>
            </a:avLst>
          </a:prstGeom>
          <a:solidFill>
            <a:srgbClr val="FCF3E3"/>
          </a:solidFill>
          <a:ln w="12700">
            <a:solidFill>
              <a:srgbClr val="B7791F"/>
            </a:solidFill>
            <a:prstDash val="solid"/>
          </a:ln>
        </p:spPr>
      </p:sp>
      <p:pic>
        <p:nvPicPr>
          <p:cNvPr id="43" name="Image 0" descr="preencoded.png">    </p:cNvPr>
          <p:cNvPicPr>
            <a:picLocks noChangeAspect="1"/>
          </p:cNvPicPr>
          <p:nvPr/>
        </p:nvPicPr>
        <p:blipFill>
          <a:blip r:embed="rId1"/>
          <a:stretch>
            <a:fillRect/>
          </a:stretch>
        </p:blipFill>
        <p:spPr>
          <a:xfrm>
            <a:off x="5943600" y="3520440"/>
            <a:ext cx="182880" cy="182880"/>
          </a:xfrm>
          <a:prstGeom prst="rect">
            <a:avLst/>
          </a:prstGeom>
        </p:spPr>
      </p:pic>
      <p:sp>
        <p:nvSpPr>
          <p:cNvPr id="44" name="Text 41"/>
          <p:cNvSpPr/>
          <p:nvPr/>
        </p:nvSpPr>
        <p:spPr>
          <a:xfrm>
            <a:off x="6199632" y="3511296"/>
            <a:ext cx="5394960" cy="201168"/>
          </a:xfrm>
          <a:prstGeom prst="rect">
            <a:avLst/>
          </a:prstGeom>
          <a:noFill/>
          <a:ln/>
        </p:spPr>
        <p:txBody>
          <a:bodyPr wrap="square" lIns="0" tIns="0" rIns="0" bIns="0" rtlCol="0" anchor="ctr"/>
          <a:lstStyle/>
          <a:p>
            <a:pPr indent="0" marL="0">
              <a:buNone/>
            </a:pPr>
            <a:r>
              <a:rPr lang="en-US" sz="820" b="1" spc="40" kern="0" dirty="0">
                <a:solidFill>
                  <a:srgbClr val="B7791F"/>
                </a:solidFill>
                <a:latin typeface="Calibri" pitchFamily="34" charset="0"/>
                <a:ea typeface="Calibri" pitchFamily="34" charset="-122"/>
                <a:cs typeface="Calibri" pitchFamily="34" charset="-120"/>
              </a:rPr>
              <a:t>THE FOUR OBJECTIONS — AND WHAT IS ALREADY BUILT FOR THEM</a:t>
            </a:r>
            <a:endParaRPr lang="en-US" sz="820" dirty="0"/>
          </a:p>
        </p:txBody>
      </p:sp>
      <p:sp>
        <p:nvSpPr>
          <p:cNvPr id="45" name="Text 42"/>
          <p:cNvSpPr/>
          <p:nvPr/>
        </p:nvSpPr>
        <p:spPr>
          <a:xfrm>
            <a:off x="5943600" y="3749040"/>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“It will be wrong on parts it has not seen.”</a:t>
            </a:r>
            <a:endParaRPr lang="en-US" sz="760" dirty="0"/>
          </a:p>
        </p:txBody>
      </p:sp>
      <p:sp>
        <p:nvSpPr>
          <p:cNvPr id="46" name="Text 43"/>
          <p:cNvSpPr/>
          <p:nvPr/>
        </p:nvSpPr>
        <p:spPr>
          <a:xfrm>
            <a:off x="8366760" y="3749040"/>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band is agreed before we start, every actual is logged, and the calibration layer learns from them. 6 parts validated so far and the deck says so.</a:t>
            </a:r>
            <a:endParaRPr lang="en-US" sz="740" dirty="0"/>
          </a:p>
        </p:txBody>
      </p:sp>
      <p:sp>
        <p:nvSpPr>
          <p:cNvPr id="47" name="Text 44"/>
          <p:cNvSpPr/>
          <p:nvPr/>
        </p:nvSpPr>
        <p:spPr>
          <a:xfrm>
            <a:off x="5943600" y="4169664"/>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“The AI is inventing numbers.”</a:t>
            </a:r>
            <a:endParaRPr lang="en-US" sz="760" dirty="0"/>
          </a:p>
        </p:txBody>
      </p:sp>
      <p:sp>
        <p:nvSpPr>
          <p:cNvPr id="48" name="Text 45"/>
          <p:cNvSpPr/>
          <p:nvPr/>
        </p:nvSpPr>
        <p:spPr>
          <a:xfrm>
            <a:off x="8366760" y="4169664"/>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Deterministic by default — no outbound call at all. Every cost line prints its own derivation, and there is an air-gapped mode.</a:t>
            </a:r>
            <a:endParaRPr lang="en-US" sz="740" dirty="0"/>
          </a:p>
        </p:txBody>
      </p:sp>
      <p:sp>
        <p:nvSpPr>
          <p:cNvPr id="49" name="Text 46"/>
          <p:cNvSpPr/>
          <p:nvPr/>
        </p:nvSpPr>
        <p:spPr>
          <a:xfrm>
            <a:off x="5943600" y="4590288"/>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“Rates go stale and nobody notices.”</a:t>
            </a:r>
            <a:endParaRPr lang="en-US" sz="760" dirty="0"/>
          </a:p>
        </p:txBody>
      </p:sp>
      <p:sp>
        <p:nvSpPr>
          <p:cNvPr id="50" name="Text 47"/>
          <p:cNvSpPr/>
          <p:nvPr/>
        </p:nvSpPr>
        <p:spPr>
          <a:xfrm>
            <a:off x="8366760" y="4590288"/>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engine blocks a duty rate that is unverified or over 90 days old rather than quietly using it. The refresh gets a named owner in the pilot.</a:t>
            </a:r>
            <a:endParaRPr lang="en-US" sz="740" dirty="0"/>
          </a:p>
        </p:txBody>
      </p:sp>
      <p:sp>
        <p:nvSpPr>
          <p:cNvPr id="51" name="Text 48"/>
          <p:cNvSpPr/>
          <p:nvPr/>
        </p:nvSpPr>
        <p:spPr>
          <a:xfrm>
            <a:off x="5943600" y="5010912"/>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“Engineering will read it as criticism.”</a:t>
            </a:r>
            <a:endParaRPr lang="en-US" sz="760" dirty="0"/>
          </a:p>
        </p:txBody>
      </p:sp>
      <p:sp>
        <p:nvSpPr>
          <p:cNvPr id="52" name="Text 49"/>
          <p:cNvSpPr/>
          <p:nvPr/>
        </p:nvSpPr>
        <p:spPr>
          <a:xfrm>
            <a:off x="8366760" y="5010912"/>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Already changed: the output is savings ranked by category, with no score and no severity anywhere an engineer sees.</a:t>
            </a:r>
            <a:endParaRPr lang="en-US" sz="740" dirty="0"/>
          </a:p>
        </p:txBody>
      </p:sp>
      <p:sp>
        <p:nvSpPr>
          <p:cNvPr id="53" name="Shape 50"/>
          <p:cNvSpPr/>
          <p:nvPr/>
        </p:nvSpPr>
        <p:spPr>
          <a:xfrm>
            <a:off x="457200" y="5577840"/>
            <a:ext cx="11274552" cy="786384"/>
          </a:xfrm>
          <a:prstGeom prst="roundRect">
            <a:avLst>
              <a:gd name="adj" fmla="val 11628"/>
            </a:avLst>
          </a:prstGeom>
          <a:solidFill>
            <a:srgbClr val="16325C"/>
          </a:solidFill>
          <a:ln/>
        </p:spPr>
      </p:sp>
      <p:sp>
        <p:nvSpPr>
          <p:cNvPr id="54" name="Text 51"/>
          <p:cNvSpPr/>
          <p:nvPr/>
        </p:nvSpPr>
        <p:spPr>
          <a:xfrm>
            <a:off x="777240" y="5614416"/>
            <a:ext cx="10652760" cy="713232"/>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The decision on the table:  </a:t>
            </a:r>
            <a:pPr indent="0" marL="0">
              <a:buNone/>
            </a:pPr>
            <a:r>
              <a:rPr lang="en-US" sz="1150" dirty="0">
                <a:solidFill>
                  <a:srgbClr val="FFFFFF"/>
                </a:solidFill>
                <a:latin typeface="Calibri" pitchFamily="34" charset="0"/>
                <a:ea typeface="Calibri" pitchFamily="34" charset="-122"/>
                <a:cs typeface="Calibri" pitchFamily="34" charset="-120"/>
              </a:rPr>
              <a:t>≈£25k and 90 days to find out whether a tool that is already built and already validated on six parts holds up on forty of ours. If it misses the criteria we stop and nothing recurring has been committed. If it meets them, the same £25k has already bought its way out at a 1.6% capture rate.</a:t>
            </a:r>
            <a:endParaRPr lang="en-US" sz="1200" dirty="0"/>
          </a:p>
        </p:txBody>
      </p:sp>
      <p:sp>
        <p:nvSpPr>
          <p:cNvPr id="55" name="Text 5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6" name="Text 5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E8074"/>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E8074"/>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B7791F"/>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B7791F"/>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E8B57"/>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E8B57"/>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E8074"/>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seven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E8074"/>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E8074"/>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E8074"/>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E8074"/>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E8074"/>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E8074"/>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E8074"/>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E8B57"/>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E8B57"/>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E8B57"/>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E8B57"/>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slides 1–2: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75 geometry checks in total. They run alongside the 52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E8074"/>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B7791F"/>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E8B57"/>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48</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output for one real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E8B57"/>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Combined opportunity £3.22/part </a:t>
            </a:r>
            <a:pPr indent="0" marL="0">
              <a:buNone/>
            </a:pPr>
            <a:r>
              <a:rPr lang="en-US" sz="1100" dirty="0">
                <a:solidFill>
                  <a:srgbClr val="3A4356"/>
                </a:solidFill>
                <a:latin typeface="Calibri" pitchFamily="34" charset="0"/>
                <a:ea typeface="Calibri" pitchFamily="34" charset="-122"/>
                <a:cs typeface="Calibri" pitchFamily="34" charset="-120"/>
              </a:rPr>
              <a:t>(~12.8% of the £25.14 piece cost)  ·  10 ranked opportunities across 4 categories  ·  machining</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t>
            </a:r>
            <a:endParaRPr lang="en-US" sz="74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ACTION</a:t>
            </a:r>
            <a:endParaRPr lang="en-US" sz="74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WHY IT IS ON THE LIST</a:t>
            </a:r>
            <a:endParaRPr lang="en-US" sz="74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SAVE/PART</a:t>
            </a:r>
            <a:endParaRPr lang="en-US" sz="74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RISK</a:t>
            </a:r>
            <a:endParaRPr lang="en-US" sz="74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TIMEFRAME</a:t>
            </a:r>
            <a:endParaRPr lang="en-US" sz="74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2 opportunities</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£4.53/part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69.6%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£4.53</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Text 23"/>
          <p:cNvSpPr/>
          <p:nvPr/>
        </p:nvSpPr>
        <p:spPr>
          <a:xfrm>
            <a:off x="658368" y="24963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2</a:t>
            </a:r>
            <a:endParaRPr lang="en-US" sz="840" dirty="0"/>
          </a:p>
        </p:txBody>
      </p:sp>
      <p:sp>
        <p:nvSpPr>
          <p:cNvPr id="26" name="Text 24"/>
          <p:cNvSpPr/>
          <p:nvPr/>
        </p:nvSpPr>
        <p:spPr>
          <a:xfrm>
            <a:off x="1143000" y="24963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Learning-curve price-down</a:t>
            </a:r>
            <a:endParaRPr lang="en-US" sz="840" dirty="0"/>
          </a:p>
        </p:txBody>
      </p:sp>
      <p:sp>
        <p:nvSpPr>
          <p:cNvPr id="27" name="Text 25"/>
          <p:cNvSpPr/>
          <p:nvPr/>
        </p:nvSpPr>
        <p:spPr>
          <a:xfrm>
            <a:off x="4480560" y="24963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Labour 23.5% with a confirmed volume and no curve priced in</a:t>
            </a:r>
            <a:endParaRPr lang="en-US" sz="800" dirty="0"/>
          </a:p>
        </p:txBody>
      </p:sp>
      <p:sp>
        <p:nvSpPr>
          <p:cNvPr id="28" name="Text 26"/>
          <p:cNvSpPr/>
          <p:nvPr/>
        </p:nvSpPr>
        <p:spPr>
          <a:xfrm>
            <a:off x="9281160" y="24963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£0.75</a:t>
            </a:r>
            <a:endParaRPr lang="en-US" sz="900" dirty="0"/>
          </a:p>
        </p:txBody>
      </p:sp>
      <p:sp>
        <p:nvSpPr>
          <p:cNvPr id="29" name="Text 27"/>
          <p:cNvSpPr/>
          <p:nvPr/>
        </p:nvSpPr>
        <p:spPr>
          <a:xfrm>
            <a:off x="10287000" y="2496312"/>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30" name="Text 28"/>
          <p:cNvSpPr/>
          <p:nvPr/>
        </p:nvSpPr>
        <p:spPr>
          <a:xfrm>
            <a:off x="11109960" y="2496312"/>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31" name="Shape 29"/>
          <p:cNvSpPr/>
          <p:nvPr/>
        </p:nvSpPr>
        <p:spPr>
          <a:xfrm>
            <a:off x="457200" y="2779776"/>
            <a:ext cx="11274552" cy="201168"/>
          </a:xfrm>
          <a:prstGeom prst="roundRect">
            <a:avLst>
              <a:gd name="adj" fmla="val 22727"/>
            </a:avLst>
          </a:prstGeom>
          <a:solidFill>
            <a:srgbClr val="E6F4F1"/>
          </a:solidFill>
          <a:ln/>
        </p:spPr>
      </p:sp>
      <p:sp>
        <p:nvSpPr>
          <p:cNvPr id="32" name="Text 30"/>
          <p:cNvSpPr/>
          <p:nvPr/>
        </p:nvSpPr>
        <p:spPr>
          <a:xfrm>
            <a:off x="658368" y="2779776"/>
            <a:ext cx="7315200" cy="201168"/>
          </a:xfrm>
          <a:prstGeom prst="rect">
            <a:avLst/>
          </a:prstGeom>
          <a:noFill/>
          <a:ln/>
        </p:spPr>
        <p:txBody>
          <a:bodyPr wrap="square" lIns="0" tIns="0" rIns="0" bIns="0" rtlCol="0" anchor="ctr"/>
          <a:lstStyle/>
          <a:p>
            <a:pPr indent="0" marL="0">
              <a:buNone/>
            </a:pPr>
            <a:r>
              <a:rPr lang="en-US" sz="800" b="1" spc="50" kern="0" dirty="0">
                <a:solidFill>
                  <a:srgbClr val="0E8074"/>
                </a:solidFill>
                <a:latin typeface="Calibri" pitchFamily="34" charset="0"/>
                <a:ea typeface="Calibri" pitchFamily="34" charset="-122"/>
                <a:cs typeface="Calibri" pitchFamily="34" charset="-120"/>
              </a:rPr>
              <a:t>MATERIAL · 2 opportunities</a:t>
            </a:r>
            <a:endParaRPr lang="en-US" sz="800" dirty="0"/>
          </a:p>
        </p:txBody>
      </p:sp>
      <p:sp>
        <p:nvSpPr>
          <p:cNvPr id="33" name="Text 31"/>
          <p:cNvSpPr/>
          <p:nvPr/>
        </p:nvSpPr>
        <p:spPr>
          <a:xfrm>
            <a:off x="9144000" y="2779776"/>
            <a:ext cx="2377440" cy="201168"/>
          </a:xfrm>
          <a:prstGeom prst="rect">
            <a:avLst/>
          </a:prstGeom>
          <a:noFill/>
          <a:ln/>
        </p:spPr>
        <p:txBody>
          <a:bodyPr wrap="square" lIns="0" tIns="0" rIns="0" bIns="0" rtlCol="0" anchor="ctr"/>
          <a:lstStyle/>
          <a:p>
            <a:pPr algn="r" indent="0" marL="0">
              <a:buNone/>
            </a:pPr>
            <a:r>
              <a:rPr lang="en-US" sz="800" b="1" dirty="0">
                <a:solidFill>
                  <a:srgbClr val="0E8074"/>
                </a:solidFill>
                <a:latin typeface="Calibri" pitchFamily="34" charset="0"/>
                <a:ea typeface="Calibri" pitchFamily="34" charset="-122"/>
                <a:cs typeface="Calibri" pitchFamily="34" charset="-120"/>
              </a:rPr>
              <a:t>best £2.52/part</a:t>
            </a:r>
            <a:endParaRPr lang="en-US" sz="800" dirty="0"/>
          </a:p>
        </p:txBody>
      </p:sp>
      <p:sp>
        <p:nvSpPr>
          <p:cNvPr id="34" name="Shape 32"/>
          <p:cNvSpPr/>
          <p:nvPr/>
        </p:nvSpPr>
        <p:spPr>
          <a:xfrm>
            <a:off x="457200" y="3012948"/>
            <a:ext cx="11274552" cy="224028"/>
          </a:xfrm>
          <a:prstGeom prst="rect">
            <a:avLst/>
          </a:prstGeom>
          <a:solidFill>
            <a:srgbClr val="FFFFFF"/>
          </a:solidFill>
          <a:ln/>
        </p:spPr>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£2.52</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41" name="Text 39"/>
          <p:cNvSpPr/>
          <p:nvPr/>
        </p:nvSpPr>
        <p:spPr>
          <a:xfrm>
            <a:off x="658368" y="32461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4</a:t>
            </a:r>
            <a:endParaRPr lang="en-US" sz="840" dirty="0"/>
          </a:p>
        </p:txBody>
      </p:sp>
      <p:sp>
        <p:nvSpPr>
          <p:cNvPr id="42" name="Text 40"/>
          <p:cNvSpPr/>
          <p:nvPr/>
        </p:nvSpPr>
        <p:spPr>
          <a:xfrm>
            <a:off x="1143000" y="32461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43" name="Text 41"/>
          <p:cNvSpPr/>
          <p:nvPr/>
        </p:nvSpPr>
        <p:spPr>
          <a:xfrm>
            <a:off x="4480560" y="32461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44" name="Text 42"/>
          <p:cNvSpPr/>
          <p:nvPr/>
        </p:nvSpPr>
        <p:spPr>
          <a:xfrm>
            <a:off x="9281160" y="32461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£0.82</a:t>
            </a:r>
            <a:endParaRPr lang="en-US" sz="900" dirty="0"/>
          </a:p>
        </p:txBody>
      </p:sp>
      <p:sp>
        <p:nvSpPr>
          <p:cNvPr id="45" name="Text 43"/>
          <p:cNvSpPr/>
          <p:nvPr/>
        </p:nvSpPr>
        <p:spPr>
          <a:xfrm>
            <a:off x="10287000" y="3246120"/>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46" name="Text 44"/>
          <p:cNvSpPr/>
          <p:nvPr/>
        </p:nvSpPr>
        <p:spPr>
          <a:xfrm>
            <a:off x="11109960" y="3246120"/>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47" name="Shape 45"/>
          <p:cNvSpPr/>
          <p:nvPr/>
        </p:nvSpPr>
        <p:spPr>
          <a:xfrm>
            <a:off x="457200" y="3529584"/>
            <a:ext cx="11274552" cy="201168"/>
          </a:xfrm>
          <a:prstGeom prst="roundRect">
            <a:avLst>
              <a:gd name="adj" fmla="val 22727"/>
            </a:avLst>
          </a:prstGeom>
          <a:solidFill>
            <a:srgbClr val="E8F1FA"/>
          </a:solidFill>
          <a:ln/>
        </p:spPr>
      </p:sp>
      <p:sp>
        <p:nvSpPr>
          <p:cNvPr id="48" name="Text 46"/>
          <p:cNvSpPr/>
          <p:nvPr/>
        </p:nvSpPr>
        <p:spPr>
          <a:xfrm>
            <a:off x="658368" y="35295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9" name="Text 47"/>
          <p:cNvSpPr/>
          <p:nvPr/>
        </p:nvSpPr>
        <p:spPr>
          <a:xfrm>
            <a:off x="9144000" y="35295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£2.01/part</a:t>
            </a:r>
            <a:endParaRPr lang="en-US" sz="800" dirty="0"/>
          </a:p>
        </p:txBody>
      </p:sp>
      <p:sp>
        <p:nvSpPr>
          <p:cNvPr id="50" name="Shape 48"/>
          <p:cNvSpPr/>
          <p:nvPr/>
        </p:nvSpPr>
        <p:spPr>
          <a:xfrm>
            <a:off x="457200" y="3762756"/>
            <a:ext cx="11274552" cy="224028"/>
          </a:xfrm>
          <a:prstGeom prst="rect">
            <a:avLst/>
          </a:prstGeom>
          <a:solidFill>
            <a:srgbClr val="FFFFFF"/>
          </a:solidFill>
          <a:ln/>
        </p:spPr>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64% of the conversion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57" name="Text 55"/>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6</a:t>
            </a:r>
            <a:endParaRPr lang="en-US" sz="840" dirty="0"/>
          </a:p>
        </p:txBody>
      </p:sp>
      <p:sp>
        <p:nvSpPr>
          <p:cNvPr id="58" name="Text 56"/>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9" name="Text 57"/>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46.0% of the part cost</a:t>
            </a:r>
            <a:endParaRPr lang="en-US" sz="800" dirty="0"/>
          </a:p>
        </p:txBody>
      </p:sp>
      <p:sp>
        <p:nvSpPr>
          <p:cNvPr id="60" name="Text 58"/>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61" name="Text 59"/>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2" name="Text 60"/>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63" name="Shape 61"/>
          <p:cNvSpPr/>
          <p:nvPr/>
        </p:nvSpPr>
        <p:spPr>
          <a:xfrm>
            <a:off x="457200" y="4219956"/>
            <a:ext cx="11274552" cy="224028"/>
          </a:xfrm>
          <a:prstGeom prst="rect">
            <a:avLst/>
          </a:prstGeom>
          <a:solidFill>
            <a:srgbClr val="FFFFFF"/>
          </a:solidFill>
          <a:ln/>
        </p:spPr>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23.5%, OEE 89% — the classic profile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£1.51</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70" name="Text 68"/>
          <p:cNvSpPr/>
          <p:nvPr/>
        </p:nvSpPr>
        <p:spPr>
          <a:xfrm>
            <a:off x="658368" y="44531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8</a:t>
            </a:r>
            <a:endParaRPr lang="en-US" sz="840" dirty="0"/>
          </a:p>
        </p:txBody>
      </p:sp>
      <p:sp>
        <p:nvSpPr>
          <p:cNvPr id="71" name="Text 69"/>
          <p:cNvSpPr/>
          <p:nvPr/>
        </p:nvSpPr>
        <p:spPr>
          <a:xfrm>
            <a:off x="1143000" y="44531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72" name="Text 70"/>
          <p:cNvSpPr/>
          <p:nvPr/>
        </p:nvSpPr>
        <p:spPr>
          <a:xfrm>
            <a:off x="4480560" y="44531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73" name="Text 71"/>
          <p:cNvSpPr/>
          <p:nvPr/>
        </p:nvSpPr>
        <p:spPr>
          <a:xfrm>
            <a:off x="9281160" y="44531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74" name="Text 72"/>
          <p:cNvSpPr/>
          <p:nvPr/>
        </p:nvSpPr>
        <p:spPr>
          <a:xfrm>
            <a:off x="10287000" y="4453128"/>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75" name="Text 73"/>
          <p:cNvSpPr/>
          <p:nvPr/>
        </p:nvSpPr>
        <p:spPr>
          <a:xfrm>
            <a:off x="11109960" y="4453128"/>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76" name="Shape 74"/>
          <p:cNvSpPr/>
          <p:nvPr/>
        </p:nvSpPr>
        <p:spPr>
          <a:xfrm>
            <a:off x="457200" y="4736592"/>
            <a:ext cx="11274552" cy="201168"/>
          </a:xfrm>
          <a:prstGeom prst="roundRect">
            <a:avLst>
              <a:gd name="adj" fmla="val 22727"/>
            </a:avLst>
          </a:prstGeom>
          <a:solidFill>
            <a:srgbClr val="F1EBF8"/>
          </a:solidFill>
          <a:ln/>
        </p:spPr>
      </p:sp>
      <p:sp>
        <p:nvSpPr>
          <p:cNvPr id="77" name="Text 75"/>
          <p:cNvSpPr/>
          <p:nvPr/>
        </p:nvSpPr>
        <p:spPr>
          <a:xfrm>
            <a:off x="658368" y="47365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8" name="Text 76"/>
          <p:cNvSpPr/>
          <p:nvPr/>
        </p:nvSpPr>
        <p:spPr>
          <a:xfrm>
            <a:off x="9144000" y="47365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£1.26/part</a:t>
            </a:r>
            <a:endParaRPr lang="en-US" sz="800" dirty="0"/>
          </a:p>
        </p:txBody>
      </p:sp>
      <p:sp>
        <p:nvSpPr>
          <p:cNvPr id="79" name="Shape 77"/>
          <p:cNvSpPr/>
          <p:nvPr/>
        </p:nvSpPr>
        <p:spPr>
          <a:xfrm>
            <a:off x="457200" y="4969764"/>
            <a:ext cx="11274552" cy="224028"/>
          </a:xfrm>
          <a:prstGeom prst="rect">
            <a:avLst/>
          </a:prstGeom>
          <a:solidFill>
            <a:srgbClr val="FFFFFF"/>
          </a:solidFill>
          <a:ln/>
        </p:spPr>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86" name="Text 84"/>
          <p:cNvSpPr/>
          <p:nvPr/>
        </p:nvSpPr>
        <p:spPr>
          <a:xfrm>
            <a:off x="658368" y="52029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10</a:t>
            </a:r>
            <a:endParaRPr lang="en-US" sz="840" dirty="0"/>
          </a:p>
        </p:txBody>
      </p:sp>
      <p:sp>
        <p:nvSpPr>
          <p:cNvPr id="87" name="Text 85"/>
          <p:cNvSpPr/>
          <p:nvPr/>
        </p:nvSpPr>
        <p:spPr>
          <a:xfrm>
            <a:off x="1143000" y="52029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8" name="Text 86"/>
          <p:cNvSpPr/>
          <p:nvPr/>
        </p:nvSpPr>
        <p:spPr>
          <a:xfrm>
            <a:off x="4480560" y="52029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9" name="Text 87"/>
          <p:cNvSpPr/>
          <p:nvPr/>
        </p:nvSpPr>
        <p:spPr>
          <a:xfrm>
            <a:off x="9281160" y="52029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£1.01</a:t>
            </a:r>
            <a:endParaRPr lang="en-US" sz="900" dirty="0"/>
          </a:p>
        </p:txBody>
      </p:sp>
      <p:sp>
        <p:nvSpPr>
          <p:cNvPr id="90" name="Text 88"/>
          <p:cNvSpPr/>
          <p:nvPr/>
        </p:nvSpPr>
        <p:spPr>
          <a:xfrm>
            <a:off x="10287000" y="52029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91" name="Text 89"/>
          <p:cNvSpPr/>
          <p:nvPr/>
        </p:nvSpPr>
        <p:spPr>
          <a:xfrm>
            <a:off x="11109960" y="52029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92" name="Shape 90"/>
          <p:cNvSpPr/>
          <p:nvPr/>
        </p:nvSpPr>
        <p:spPr>
          <a:xfrm>
            <a:off x="457200" y="5614416"/>
            <a:ext cx="11274552" cy="694944"/>
          </a:xfrm>
          <a:prstGeom prst="roundRect">
            <a:avLst>
              <a:gd name="adj" fmla="val 13158"/>
            </a:avLst>
          </a:prstGeom>
          <a:solidFill>
            <a:srgbClr val="16325C"/>
          </a:solidFill>
          <a:ln/>
        </p:spPr>
      </p:sp>
      <p:sp>
        <p:nvSpPr>
          <p:cNvPr id="93" name="Text 91"/>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Ten things to do, what each is worth, who owns it and how long it takes — the identical deterministic findings, presented as work rather than as a verdict.</a:t>
            </a:r>
            <a:endParaRPr lang="en-US" sz="1150" dirty="0"/>
          </a:p>
        </p:txBody>
      </p:sp>
      <p:sp>
        <p:nvSpPr>
          <p:cNvPr id="94" name="Text 9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95" name="Text 9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49</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Technical Architecture — What Each Box Is Made Of</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Slide 3 in engineering terms — language, code size, licence and network behaviour of every box</a:t>
            </a:r>
            <a:endParaRPr lang="en-US" sz="1200" dirty="0"/>
          </a:p>
        </p:txBody>
      </p:sp>
      <p:sp>
        <p:nvSpPr>
          <p:cNvPr id="5" name="Text 3"/>
          <p:cNvSpPr/>
          <p:nvPr/>
        </p:nvSpPr>
        <p:spPr>
          <a:xfrm>
            <a:off x="457200" y="950976"/>
            <a:ext cx="3200400" cy="164592"/>
          </a:xfrm>
          <a:prstGeom prst="rect">
            <a:avLst/>
          </a:prstGeom>
          <a:noFill/>
          <a:ln/>
        </p:spPr>
        <p:txBody>
          <a:bodyPr wrap="square" lIns="0" tIns="0" rIns="0" bIns="0" rtlCol="0" anchor="ctr"/>
          <a:lstStyle/>
          <a:p>
            <a:pPr indent="0" marL="0">
              <a:buNone/>
            </a:pPr>
            <a:r>
              <a:rPr lang="en-US" sz="780" b="1" spc="60" kern="0" dirty="0">
                <a:solidFill>
                  <a:srgbClr val="6B7280"/>
                </a:solidFill>
                <a:latin typeface="Calibri" pitchFamily="34" charset="0"/>
                <a:ea typeface="Calibri" pitchFamily="34" charset="-122"/>
                <a:cs typeface="Calibri" pitchFamily="34" charset="-120"/>
              </a:rPr>
              <a:t>1 · READ THE PART</a:t>
            </a:r>
            <a:endParaRPr lang="en-US" sz="780" dirty="0"/>
          </a:p>
        </p:txBody>
      </p:sp>
      <p:sp>
        <p:nvSpPr>
          <p:cNvPr id="6" name="Shape 4"/>
          <p:cNvSpPr/>
          <p:nvPr/>
        </p:nvSpPr>
        <p:spPr>
          <a:xfrm>
            <a:off x="457200" y="1133856"/>
            <a:ext cx="3200400" cy="1280160"/>
          </a:xfrm>
          <a:prstGeom prst="roundRect">
            <a:avLst>
              <a:gd name="adj" fmla="val 5714"/>
            </a:avLst>
          </a:prstGeom>
          <a:solidFill>
            <a:srgbClr val="FFFFFF"/>
          </a:solidFill>
          <a:ln w="15875">
            <a:solidFill>
              <a:srgbClr val="B7791F"/>
            </a:solidFill>
            <a:prstDash val="solid"/>
          </a:ln>
        </p:spPr>
      </p:sp>
      <p:sp>
        <p:nvSpPr>
          <p:cNvPr id="7" name="Shape 5"/>
          <p:cNvSpPr/>
          <p:nvPr/>
        </p:nvSpPr>
        <p:spPr>
          <a:xfrm>
            <a:off x="457200" y="1133856"/>
            <a:ext cx="3200400" cy="237744"/>
          </a:xfrm>
          <a:prstGeom prst="roundRect">
            <a:avLst>
              <a:gd name="adj" fmla="val 30769"/>
            </a:avLst>
          </a:prstGeom>
          <a:solidFill>
            <a:srgbClr val="B7791F"/>
          </a:solidFill>
          <a:ln/>
        </p:spPr>
      </p:sp>
      <p:sp>
        <p:nvSpPr>
          <p:cNvPr id="8" name="Shape 6"/>
          <p:cNvSpPr/>
          <p:nvPr/>
        </p:nvSpPr>
        <p:spPr>
          <a:xfrm>
            <a:off x="457200" y="1280160"/>
            <a:ext cx="3200400" cy="91440"/>
          </a:xfrm>
          <a:prstGeom prst="rect">
            <a:avLst/>
          </a:prstGeom>
          <a:solidFill>
            <a:srgbClr val="B7791F"/>
          </a:solidFill>
          <a:ln/>
        </p:spPr>
      </p:sp>
      <p:sp>
        <p:nvSpPr>
          <p:cNvPr id="9" name="Text 7"/>
          <p:cNvSpPr/>
          <p:nvPr/>
        </p:nvSpPr>
        <p:spPr>
          <a:xfrm>
            <a:off x="566928" y="1133856"/>
            <a:ext cx="2980944" cy="237744"/>
          </a:xfrm>
          <a:prstGeom prst="rect">
            <a:avLst/>
          </a:prstGeom>
          <a:noFill/>
          <a:ln/>
        </p:spPr>
        <p:txBody>
          <a:bodyPr wrap="square" lIns="0" tIns="0" rIns="0" bIns="0" rtlCol="0" anchor="ctr"/>
          <a:lstStyle/>
          <a:p>
            <a:pPr indent="0" marL="0">
              <a:buNone/>
            </a:pPr>
            <a:r>
              <a:rPr lang="en-US" sz="860" b="1" dirty="0">
                <a:solidFill>
                  <a:srgbClr val="FFFFFF"/>
                </a:solidFill>
                <a:latin typeface="Calibri" pitchFamily="34" charset="0"/>
                <a:ea typeface="Calibri" pitchFamily="34" charset="-122"/>
                <a:cs typeface="Calibri" pitchFamily="34" charset="-120"/>
              </a:rPr>
              <a:t>Geometry kernel</a:t>
            </a:r>
            <a:endParaRPr lang="en-US" sz="860" dirty="0"/>
          </a:p>
        </p:txBody>
      </p:sp>
      <p:sp>
        <p:nvSpPr>
          <p:cNvPr id="10" name="Shape 8"/>
          <p:cNvSpPr/>
          <p:nvPr/>
        </p:nvSpPr>
        <p:spPr>
          <a:xfrm>
            <a:off x="566928" y="1417320"/>
            <a:ext cx="841248" cy="164592"/>
          </a:xfrm>
          <a:prstGeom prst="roundRect">
            <a:avLst>
              <a:gd name="adj" fmla="val 22222"/>
            </a:avLst>
          </a:prstGeom>
          <a:solidFill>
            <a:srgbClr val="B7791F"/>
          </a:solidFill>
          <a:ln/>
        </p:spPr>
      </p:sp>
      <p:sp>
        <p:nvSpPr>
          <p:cNvPr id="11" name="Text 9"/>
          <p:cNvSpPr/>
          <p:nvPr/>
        </p:nvSpPr>
        <p:spPr>
          <a:xfrm>
            <a:off x="566928" y="1417320"/>
            <a:ext cx="841248" cy="164592"/>
          </a:xfrm>
          <a:prstGeom prst="rect">
            <a:avLst/>
          </a:prstGeom>
          <a:noFill/>
          <a:ln/>
        </p:spPr>
        <p:txBody>
          <a:bodyPr wrap="square" lIns="0" tIns="0" rIns="0" bIns="0" rtlCol="0" anchor="ctr"/>
          <a:lstStyle/>
          <a:p>
            <a:pPr algn="ctr" indent="0" marL="0">
              <a:buNone/>
            </a:pPr>
            <a:r>
              <a:rPr lang="en-US" sz="660" b="1" dirty="0">
                <a:solidFill>
                  <a:srgbClr val="FFFFFF"/>
                </a:solidFill>
                <a:latin typeface="Calibri" pitchFamily="34" charset="0"/>
                <a:ea typeface="Calibri" pitchFamily="34" charset="-122"/>
                <a:cs typeface="Calibri" pitchFamily="34" charset="-120"/>
              </a:rPr>
              <a:t>Python 3</a:t>
            </a:r>
            <a:endParaRPr lang="en-US" sz="660" dirty="0"/>
          </a:p>
        </p:txBody>
      </p:sp>
      <p:sp>
        <p:nvSpPr>
          <p:cNvPr id="12" name="Shape 10"/>
          <p:cNvSpPr/>
          <p:nvPr/>
        </p:nvSpPr>
        <p:spPr>
          <a:xfrm>
            <a:off x="1453896" y="1417320"/>
            <a:ext cx="1170432" cy="164592"/>
          </a:xfrm>
          <a:prstGeom prst="roundRect">
            <a:avLst>
              <a:gd name="adj" fmla="val 22222"/>
            </a:avLst>
          </a:prstGeom>
          <a:solidFill>
            <a:srgbClr val="E8EDF6"/>
          </a:solidFill>
          <a:ln/>
        </p:spPr>
      </p:sp>
      <p:sp>
        <p:nvSpPr>
          <p:cNvPr id="13" name="Text 11"/>
          <p:cNvSpPr/>
          <p:nvPr/>
        </p:nvSpPr>
        <p:spPr>
          <a:xfrm>
            <a:off x="1453896" y="1417320"/>
            <a:ext cx="1170432" cy="164592"/>
          </a:xfrm>
          <a:prstGeom prst="rect">
            <a:avLst/>
          </a:prstGeom>
          <a:noFill/>
          <a:ln/>
        </p:spPr>
        <p:txBody>
          <a:bodyPr wrap="square" lIns="0" tIns="0" rIns="0" bIns="0" rtlCol="0" anchor="ctr"/>
          <a:lstStyle/>
          <a:p>
            <a:pPr algn="ctr" indent="0" marL="0">
              <a:buNone/>
            </a:pPr>
            <a:r>
              <a:rPr lang="en-US" sz="660" b="1" dirty="0">
                <a:solidFill>
                  <a:srgbClr val="16325C"/>
                </a:solidFill>
                <a:latin typeface="Calibri" pitchFamily="34" charset="0"/>
                <a:ea typeface="Calibri" pitchFamily="34" charset="-122"/>
                <a:cs typeface="Calibri" pitchFamily="34" charset="-120"/>
              </a:rPr>
              <a:t>1,587 lines</a:t>
            </a:r>
            <a:endParaRPr lang="en-US" sz="660" dirty="0"/>
          </a:p>
        </p:txBody>
      </p:sp>
      <p:sp>
        <p:nvSpPr>
          <p:cNvPr id="14" name="Text 12"/>
          <p:cNvSpPr/>
          <p:nvPr/>
        </p:nvSpPr>
        <p:spPr>
          <a:xfrm>
            <a:off x="566928" y="1618488"/>
            <a:ext cx="2980944" cy="557784"/>
          </a:xfrm>
          <a:prstGeom prst="rect">
            <a:avLst/>
          </a:prstGeom>
          <a:noFill/>
          <a:ln/>
        </p:spPr>
        <p:txBody>
          <a:bodyPr wrap="square" lIns="0" tIns="0" rIns="0" bIns="0" rtlCol="0" anchor="t"/>
          <a:lstStyle/>
          <a:p>
            <a:pPr indent="0" marL="0">
              <a:buNone/>
            </a:pPr>
            <a:r>
              <a:rPr lang="en-US" sz="730" dirty="0">
                <a:solidFill>
                  <a:srgbClr val="3A4356"/>
                </a:solidFill>
                <a:latin typeface="Calibri" pitchFamily="34" charset="0"/>
                <a:ea typeface="Calibri" pitchFamily="34" charset="-122"/>
                <a:cs typeface="Calibri" pitchFamily="34" charset="-120"/>
              </a:rPr>
              <a:t>Open CASCADE (OCCT) driven through the OCP bindings — the same B-rep kernel FreeCAD uses. Reads STEP/IGES: solid volume, bounding box, faces, walls, draft, hole/boss/pocket table. Spawned by Node as a subprocess (semaphore-capped), returns JSON on stdout.</a:t>
            </a:r>
            <a:endParaRPr lang="en-US" sz="730" dirty="0"/>
          </a:p>
        </p:txBody>
      </p:sp>
      <p:sp>
        <p:nvSpPr>
          <p:cNvPr id="15" name="Shape 13"/>
          <p:cNvSpPr/>
          <p:nvPr/>
        </p:nvSpPr>
        <p:spPr>
          <a:xfrm>
            <a:off x="530352" y="2189988"/>
            <a:ext cx="3054096" cy="182880"/>
          </a:xfrm>
          <a:prstGeom prst="roundRect">
            <a:avLst>
              <a:gd name="adj" fmla="val 20000"/>
            </a:avLst>
          </a:prstGeom>
          <a:solidFill>
            <a:srgbClr val="EAF6EF"/>
          </a:solidFill>
          <a:ln/>
        </p:spPr>
      </p:sp>
      <p:sp>
        <p:nvSpPr>
          <p:cNvPr id="16" name="Text 14"/>
          <p:cNvSpPr/>
          <p:nvPr/>
        </p:nvSpPr>
        <p:spPr>
          <a:xfrm>
            <a:off x="603504" y="2189988"/>
            <a:ext cx="2907792" cy="182880"/>
          </a:xfrm>
          <a:prstGeom prst="rect">
            <a:avLst/>
          </a:prstGeom>
          <a:noFill/>
          <a:ln/>
        </p:spPr>
        <p:txBody>
          <a:bodyPr wrap="square" lIns="0" tIns="0" rIns="0" bIns="0" rtlCol="0" anchor="ctr"/>
          <a:lstStyle/>
          <a:p>
            <a:pPr indent="0" marL="0">
              <a:buNone/>
            </a:pPr>
            <a:r>
              <a:rPr lang="en-US" sz="680" b="1" dirty="0">
                <a:solidFill>
                  <a:srgbClr val="2E8B57"/>
                </a:solidFill>
                <a:latin typeface="Calibri" pitchFamily="34" charset="0"/>
                <a:ea typeface="Calibri" pitchFamily="34" charset="-122"/>
                <a:cs typeface="Calibri" pitchFamily="34" charset="-120"/>
              </a:rPr>
              <a:t>OFFLINE · free (OCCT LGPL-2.1 + exc., OCP/CadQuery Apache-2.0)</a:t>
            </a:r>
            <a:endParaRPr lang="en-US" sz="680" dirty="0"/>
          </a:p>
        </p:txBody>
      </p:sp>
      <p:sp>
        <p:nvSpPr>
          <p:cNvPr id="17" name="Shape 15"/>
          <p:cNvSpPr/>
          <p:nvPr/>
        </p:nvSpPr>
        <p:spPr>
          <a:xfrm>
            <a:off x="457200" y="2487168"/>
            <a:ext cx="3200400" cy="1280160"/>
          </a:xfrm>
          <a:prstGeom prst="roundRect">
            <a:avLst>
              <a:gd name="adj" fmla="val 5714"/>
            </a:avLst>
          </a:prstGeom>
          <a:solidFill>
            <a:srgbClr val="FFFFFF"/>
          </a:solidFill>
          <a:ln w="15875">
            <a:solidFill>
              <a:srgbClr val="6B3FA0"/>
            </a:solidFill>
            <a:prstDash val="solid"/>
          </a:ln>
        </p:spPr>
      </p:sp>
      <p:sp>
        <p:nvSpPr>
          <p:cNvPr id="18" name="Shape 16"/>
          <p:cNvSpPr/>
          <p:nvPr/>
        </p:nvSpPr>
        <p:spPr>
          <a:xfrm>
            <a:off x="457200" y="2487168"/>
            <a:ext cx="3200400" cy="237744"/>
          </a:xfrm>
          <a:prstGeom prst="roundRect">
            <a:avLst>
              <a:gd name="adj" fmla="val 30769"/>
            </a:avLst>
          </a:prstGeom>
          <a:solidFill>
            <a:srgbClr val="6B3FA0"/>
          </a:solidFill>
          <a:ln/>
        </p:spPr>
      </p:sp>
      <p:sp>
        <p:nvSpPr>
          <p:cNvPr id="19" name="Shape 17"/>
          <p:cNvSpPr/>
          <p:nvPr/>
        </p:nvSpPr>
        <p:spPr>
          <a:xfrm>
            <a:off x="457200" y="2633472"/>
            <a:ext cx="3200400" cy="91440"/>
          </a:xfrm>
          <a:prstGeom prst="rect">
            <a:avLst/>
          </a:prstGeom>
          <a:solidFill>
            <a:srgbClr val="6B3FA0"/>
          </a:solidFill>
          <a:ln/>
        </p:spPr>
      </p:sp>
      <p:sp>
        <p:nvSpPr>
          <p:cNvPr id="20" name="Text 18"/>
          <p:cNvSpPr/>
          <p:nvPr/>
        </p:nvSpPr>
        <p:spPr>
          <a:xfrm>
            <a:off x="566928" y="2487168"/>
            <a:ext cx="2980944" cy="237744"/>
          </a:xfrm>
          <a:prstGeom prst="rect">
            <a:avLst/>
          </a:prstGeom>
          <a:noFill/>
          <a:ln/>
        </p:spPr>
        <p:txBody>
          <a:bodyPr wrap="square" lIns="0" tIns="0" rIns="0" bIns="0" rtlCol="0" anchor="ctr"/>
          <a:lstStyle/>
          <a:p>
            <a:pPr indent="0" marL="0">
              <a:buNone/>
            </a:pPr>
            <a:r>
              <a:rPr lang="en-US" sz="860" b="1" dirty="0">
                <a:solidFill>
                  <a:srgbClr val="FFFFFF"/>
                </a:solidFill>
                <a:latin typeface="Calibri" pitchFamily="34" charset="0"/>
                <a:ea typeface="Calibri" pitchFamily="34" charset="-122"/>
                <a:cs typeface="Calibri" pitchFamily="34" charset="-120"/>
              </a:rPr>
              <a:t>3D viewer + STL fast path</a:t>
            </a:r>
            <a:endParaRPr lang="en-US" sz="860" dirty="0"/>
          </a:p>
        </p:txBody>
      </p:sp>
      <p:sp>
        <p:nvSpPr>
          <p:cNvPr id="21" name="Shape 19"/>
          <p:cNvSpPr/>
          <p:nvPr/>
        </p:nvSpPr>
        <p:spPr>
          <a:xfrm>
            <a:off x="566928" y="2770632"/>
            <a:ext cx="841248" cy="164592"/>
          </a:xfrm>
          <a:prstGeom prst="roundRect">
            <a:avLst>
              <a:gd name="adj" fmla="val 22222"/>
            </a:avLst>
          </a:prstGeom>
          <a:solidFill>
            <a:srgbClr val="6B3FA0"/>
          </a:solidFill>
          <a:ln/>
        </p:spPr>
      </p:sp>
      <p:sp>
        <p:nvSpPr>
          <p:cNvPr id="22" name="Text 20"/>
          <p:cNvSpPr/>
          <p:nvPr/>
        </p:nvSpPr>
        <p:spPr>
          <a:xfrm>
            <a:off x="566928" y="2770632"/>
            <a:ext cx="841248" cy="164592"/>
          </a:xfrm>
          <a:prstGeom prst="rect">
            <a:avLst/>
          </a:prstGeom>
          <a:noFill/>
          <a:ln/>
        </p:spPr>
        <p:txBody>
          <a:bodyPr wrap="square" lIns="0" tIns="0" rIns="0" bIns="0" rtlCol="0" anchor="ctr"/>
          <a:lstStyle/>
          <a:p>
            <a:pPr algn="ctr" indent="0" marL="0">
              <a:buNone/>
            </a:pPr>
            <a:r>
              <a:rPr lang="en-US" sz="660" b="1" dirty="0">
                <a:solidFill>
                  <a:srgbClr val="FFFFFF"/>
                </a:solidFill>
                <a:latin typeface="Calibri" pitchFamily="34" charset="0"/>
                <a:ea typeface="Calibri" pitchFamily="34" charset="-122"/>
                <a:cs typeface="Calibri" pitchFamily="34" charset="-120"/>
              </a:rPr>
              <a:t>TS + WebGL</a:t>
            </a:r>
            <a:endParaRPr lang="en-US" sz="660" dirty="0"/>
          </a:p>
        </p:txBody>
      </p:sp>
      <p:sp>
        <p:nvSpPr>
          <p:cNvPr id="23" name="Shape 21"/>
          <p:cNvSpPr/>
          <p:nvPr/>
        </p:nvSpPr>
        <p:spPr>
          <a:xfrm>
            <a:off x="1453896" y="2770632"/>
            <a:ext cx="1170432" cy="164592"/>
          </a:xfrm>
          <a:prstGeom prst="roundRect">
            <a:avLst>
              <a:gd name="adj" fmla="val 22222"/>
            </a:avLst>
          </a:prstGeom>
          <a:solidFill>
            <a:srgbClr val="E8EDF6"/>
          </a:solidFill>
          <a:ln/>
        </p:spPr>
      </p:sp>
      <p:sp>
        <p:nvSpPr>
          <p:cNvPr id="24" name="Text 22"/>
          <p:cNvSpPr/>
          <p:nvPr/>
        </p:nvSpPr>
        <p:spPr>
          <a:xfrm>
            <a:off x="1453896" y="2770632"/>
            <a:ext cx="1170432" cy="164592"/>
          </a:xfrm>
          <a:prstGeom prst="rect">
            <a:avLst/>
          </a:prstGeom>
          <a:noFill/>
          <a:ln/>
        </p:spPr>
        <p:txBody>
          <a:bodyPr wrap="square" lIns="0" tIns="0" rIns="0" bIns="0" rtlCol="0" anchor="ctr"/>
          <a:lstStyle/>
          <a:p>
            <a:pPr algn="ctr" indent="0" marL="0">
              <a:buNone/>
            </a:pPr>
            <a:r>
              <a:rPr lang="en-US" sz="660" b="1" dirty="0">
                <a:solidFill>
                  <a:srgbClr val="16325C"/>
                </a:solidFill>
                <a:latin typeface="Calibri" pitchFamily="34" charset="0"/>
                <a:ea typeface="Calibri" pitchFamily="34" charset="-122"/>
                <a:cs typeface="Calibri" pitchFamily="34" charset="-120"/>
              </a:rPr>
              <a:t>2,334 lines</a:t>
            </a:r>
            <a:endParaRPr lang="en-US" sz="660" dirty="0"/>
          </a:p>
        </p:txBody>
      </p:sp>
      <p:sp>
        <p:nvSpPr>
          <p:cNvPr id="25" name="Text 23"/>
          <p:cNvSpPr/>
          <p:nvPr/>
        </p:nvSpPr>
        <p:spPr>
          <a:xfrm>
            <a:off x="566928" y="2971800"/>
            <a:ext cx="2980944" cy="557784"/>
          </a:xfrm>
          <a:prstGeom prst="rect">
            <a:avLst/>
          </a:prstGeom>
          <a:noFill/>
          <a:ln/>
        </p:spPr>
        <p:txBody>
          <a:bodyPr wrap="square" lIns="0" tIns="0" rIns="0" bIns="0" rtlCol="0" anchor="t"/>
          <a:lstStyle/>
          <a:p>
            <a:pPr indent="0" marL="0">
              <a:buNone/>
            </a:pPr>
            <a:r>
              <a:rPr lang="en-US" sz="730" dirty="0">
                <a:solidFill>
                  <a:srgbClr val="3A4356"/>
                </a:solidFill>
                <a:latin typeface="Calibri" pitchFamily="34" charset="0"/>
                <a:ea typeface="Calibri" pitchFamily="34" charset="-122"/>
                <a:cs typeface="Calibri" pitchFamily="34" charset="-120"/>
              </a:rPr>
              <a:t>three.js in the browser: section planes, exploded view, wall-thickness heatmap, hand measurement. Edge extraction runs in a Web Worker with transferable buffers so a 500k-triangle part never freezes the tab. STL files skip Python entirely and parse in TypeScript.</a:t>
            </a:r>
            <a:endParaRPr lang="en-US" sz="730" dirty="0"/>
          </a:p>
        </p:txBody>
      </p:sp>
      <p:sp>
        <p:nvSpPr>
          <p:cNvPr id="26" name="Shape 24"/>
          <p:cNvSpPr/>
          <p:nvPr/>
        </p:nvSpPr>
        <p:spPr>
          <a:xfrm>
            <a:off x="530352" y="3543300"/>
            <a:ext cx="3054096" cy="182880"/>
          </a:xfrm>
          <a:prstGeom prst="roundRect">
            <a:avLst>
              <a:gd name="adj" fmla="val 20000"/>
            </a:avLst>
          </a:prstGeom>
          <a:solidFill>
            <a:srgbClr val="EAF6EF"/>
          </a:solidFill>
          <a:ln/>
        </p:spPr>
      </p:sp>
      <p:sp>
        <p:nvSpPr>
          <p:cNvPr id="27" name="Text 25"/>
          <p:cNvSpPr/>
          <p:nvPr/>
        </p:nvSpPr>
        <p:spPr>
          <a:xfrm>
            <a:off x="603504" y="3543300"/>
            <a:ext cx="2907792" cy="182880"/>
          </a:xfrm>
          <a:prstGeom prst="rect">
            <a:avLst/>
          </a:prstGeom>
          <a:noFill/>
          <a:ln/>
        </p:spPr>
        <p:txBody>
          <a:bodyPr wrap="square" lIns="0" tIns="0" rIns="0" bIns="0" rtlCol="0" anchor="ctr"/>
          <a:lstStyle/>
          <a:p>
            <a:pPr indent="0" marL="0">
              <a:buNone/>
            </a:pPr>
            <a:r>
              <a:rPr lang="en-US" sz="680" b="1" dirty="0">
                <a:solidFill>
                  <a:srgbClr val="2E8B57"/>
                </a:solidFill>
                <a:latin typeface="Calibri" pitchFamily="34" charset="0"/>
                <a:ea typeface="Calibri" pitchFamily="34" charset="-122"/>
                <a:cs typeface="Calibri" pitchFamily="34" charset="-120"/>
              </a:rPr>
              <a:t>OFFLINE · free (three.js, MIT)</a:t>
            </a:r>
            <a:endParaRPr lang="en-US" sz="680" dirty="0"/>
          </a:p>
        </p:txBody>
      </p:sp>
      <p:sp>
        <p:nvSpPr>
          <p:cNvPr id="28" name="Shape 26"/>
          <p:cNvSpPr/>
          <p:nvPr/>
        </p:nvSpPr>
        <p:spPr>
          <a:xfrm>
            <a:off x="457200" y="3840480"/>
            <a:ext cx="3200400" cy="1280160"/>
          </a:xfrm>
          <a:prstGeom prst="roundRect">
            <a:avLst>
              <a:gd name="adj" fmla="val 5714"/>
            </a:avLst>
          </a:prstGeom>
          <a:solidFill>
            <a:srgbClr val="FFFFFF"/>
          </a:solidFill>
          <a:ln w="15875">
            <a:solidFill>
              <a:srgbClr val="6B3FA0"/>
            </a:solidFill>
            <a:prstDash val="solid"/>
          </a:ln>
        </p:spPr>
      </p:sp>
      <p:sp>
        <p:nvSpPr>
          <p:cNvPr id="29" name="Shape 27"/>
          <p:cNvSpPr/>
          <p:nvPr/>
        </p:nvSpPr>
        <p:spPr>
          <a:xfrm>
            <a:off x="457200" y="3840480"/>
            <a:ext cx="3200400" cy="237744"/>
          </a:xfrm>
          <a:prstGeom prst="roundRect">
            <a:avLst>
              <a:gd name="adj" fmla="val 30769"/>
            </a:avLst>
          </a:prstGeom>
          <a:solidFill>
            <a:srgbClr val="6B3FA0"/>
          </a:solidFill>
          <a:ln/>
        </p:spPr>
      </p:sp>
      <p:sp>
        <p:nvSpPr>
          <p:cNvPr id="30" name="Shape 28"/>
          <p:cNvSpPr/>
          <p:nvPr/>
        </p:nvSpPr>
        <p:spPr>
          <a:xfrm>
            <a:off x="457200" y="3986784"/>
            <a:ext cx="3200400" cy="91440"/>
          </a:xfrm>
          <a:prstGeom prst="rect">
            <a:avLst/>
          </a:prstGeom>
          <a:solidFill>
            <a:srgbClr val="6B3FA0"/>
          </a:solidFill>
          <a:ln/>
        </p:spPr>
      </p:sp>
      <p:sp>
        <p:nvSpPr>
          <p:cNvPr id="31" name="Text 29"/>
          <p:cNvSpPr/>
          <p:nvPr/>
        </p:nvSpPr>
        <p:spPr>
          <a:xfrm>
            <a:off x="566928" y="3840480"/>
            <a:ext cx="2980944" cy="237744"/>
          </a:xfrm>
          <a:prstGeom prst="rect">
            <a:avLst/>
          </a:prstGeom>
          <a:noFill/>
          <a:ln/>
        </p:spPr>
        <p:txBody>
          <a:bodyPr wrap="square" lIns="0" tIns="0" rIns="0" bIns="0" rtlCol="0" anchor="ctr"/>
          <a:lstStyle/>
          <a:p>
            <a:pPr indent="0" marL="0">
              <a:buNone/>
            </a:pPr>
            <a:r>
              <a:rPr lang="en-US" sz="860" b="1" dirty="0">
                <a:solidFill>
                  <a:srgbClr val="FFFFFF"/>
                </a:solidFill>
                <a:latin typeface="Calibri" pitchFamily="34" charset="0"/>
                <a:ea typeface="Calibri" pitchFamily="34" charset="-122"/>
                <a:cs typeface="Calibri" pitchFamily="34" charset="-120"/>
              </a:rPr>
              <a:t>AI classifier — OPTIONAL</a:t>
            </a:r>
            <a:endParaRPr lang="en-US" sz="860" dirty="0"/>
          </a:p>
        </p:txBody>
      </p:sp>
      <p:sp>
        <p:nvSpPr>
          <p:cNvPr id="32" name="Shape 30"/>
          <p:cNvSpPr/>
          <p:nvPr/>
        </p:nvSpPr>
        <p:spPr>
          <a:xfrm>
            <a:off x="566928" y="4123944"/>
            <a:ext cx="841248" cy="164592"/>
          </a:xfrm>
          <a:prstGeom prst="roundRect">
            <a:avLst>
              <a:gd name="adj" fmla="val 22222"/>
            </a:avLst>
          </a:prstGeom>
          <a:solidFill>
            <a:srgbClr val="1D6FB8"/>
          </a:solidFill>
          <a:ln/>
        </p:spPr>
      </p:sp>
      <p:sp>
        <p:nvSpPr>
          <p:cNvPr id="33" name="Text 31"/>
          <p:cNvSpPr/>
          <p:nvPr/>
        </p:nvSpPr>
        <p:spPr>
          <a:xfrm>
            <a:off x="566928" y="4123944"/>
            <a:ext cx="841248" cy="164592"/>
          </a:xfrm>
          <a:prstGeom prst="rect">
            <a:avLst/>
          </a:prstGeom>
          <a:noFill/>
          <a:ln/>
        </p:spPr>
        <p:txBody>
          <a:bodyPr wrap="square" lIns="0" tIns="0" rIns="0" bIns="0" rtlCol="0" anchor="ctr"/>
          <a:lstStyle/>
          <a:p>
            <a:pPr algn="ctr" indent="0" marL="0">
              <a:buNone/>
            </a:pPr>
            <a:r>
              <a:rPr lang="en-US" sz="660" b="1" dirty="0">
                <a:solidFill>
                  <a:srgbClr val="FFFFFF"/>
                </a:solidFill>
                <a:latin typeface="Calibri" pitchFamily="34" charset="0"/>
                <a:ea typeface="Calibri" pitchFamily="34" charset="-122"/>
                <a:cs typeface="Calibri" pitchFamily="34" charset="-120"/>
              </a:rPr>
              <a:t>TypeScript</a:t>
            </a:r>
            <a:endParaRPr lang="en-US" sz="660" dirty="0"/>
          </a:p>
        </p:txBody>
      </p:sp>
      <p:sp>
        <p:nvSpPr>
          <p:cNvPr id="34" name="Shape 32"/>
          <p:cNvSpPr/>
          <p:nvPr/>
        </p:nvSpPr>
        <p:spPr>
          <a:xfrm>
            <a:off x="1453896" y="4123944"/>
            <a:ext cx="1170432" cy="164592"/>
          </a:xfrm>
          <a:prstGeom prst="roundRect">
            <a:avLst>
              <a:gd name="adj" fmla="val 22222"/>
            </a:avLst>
          </a:prstGeom>
          <a:solidFill>
            <a:srgbClr val="E8EDF6"/>
          </a:solidFill>
          <a:ln/>
        </p:spPr>
      </p:sp>
      <p:sp>
        <p:nvSpPr>
          <p:cNvPr id="35" name="Text 33"/>
          <p:cNvSpPr/>
          <p:nvPr/>
        </p:nvSpPr>
        <p:spPr>
          <a:xfrm>
            <a:off x="1453896" y="4123944"/>
            <a:ext cx="1170432" cy="164592"/>
          </a:xfrm>
          <a:prstGeom prst="rect">
            <a:avLst/>
          </a:prstGeom>
          <a:noFill/>
          <a:ln/>
        </p:spPr>
        <p:txBody>
          <a:bodyPr wrap="square" lIns="0" tIns="0" rIns="0" bIns="0" rtlCol="0" anchor="ctr"/>
          <a:lstStyle/>
          <a:p>
            <a:pPr algn="ctr" indent="0" marL="0">
              <a:buNone/>
            </a:pPr>
            <a:r>
              <a:rPr lang="en-US" sz="660" b="1" dirty="0">
                <a:solidFill>
                  <a:srgbClr val="16325C"/>
                </a:solidFill>
                <a:latin typeface="Calibri" pitchFamily="34" charset="0"/>
                <a:ea typeface="Calibri" pitchFamily="34" charset="-122"/>
                <a:cs typeface="Calibri" pitchFamily="34" charset="-120"/>
              </a:rPr>
              <a:t>~900 lines</a:t>
            </a:r>
            <a:endParaRPr lang="en-US" sz="660" dirty="0"/>
          </a:p>
        </p:txBody>
      </p:sp>
      <p:sp>
        <p:nvSpPr>
          <p:cNvPr id="36" name="Text 34"/>
          <p:cNvSpPr/>
          <p:nvPr/>
        </p:nvSpPr>
        <p:spPr>
          <a:xfrm>
            <a:off x="566928" y="4325112"/>
            <a:ext cx="2980944" cy="557784"/>
          </a:xfrm>
          <a:prstGeom prst="rect">
            <a:avLst/>
          </a:prstGeom>
          <a:noFill/>
          <a:ln/>
        </p:spPr>
        <p:txBody>
          <a:bodyPr wrap="square" lIns="0" tIns="0" rIns="0" bIns="0" rtlCol="0" anchor="t"/>
          <a:lstStyle/>
          <a:p>
            <a:pPr indent="0" marL="0">
              <a:buNone/>
            </a:pPr>
            <a:r>
              <a:rPr lang="en-US" sz="730" dirty="0">
                <a:solidFill>
                  <a:srgbClr val="3A4356"/>
                </a:solidFill>
                <a:latin typeface="Calibri" pitchFamily="34" charset="0"/>
                <a:ea typeface="Calibri" pitchFamily="34" charset="-122"/>
                <a:cs typeface="Calibri" pitchFamily="34" charset="-120"/>
              </a:rPr>
              <a:t>The ONLY component that leaves your network. Anthropic SDK via one choke-point (ai-client.ts) — Haiku 4.5 for commentary, Sonnet/Opus for vision. Sends geometry + part name; receives words. Never sees a price list or the rate library.</a:t>
            </a:r>
            <a:endParaRPr lang="en-US" sz="730" dirty="0"/>
          </a:p>
        </p:txBody>
      </p:sp>
      <p:sp>
        <p:nvSpPr>
          <p:cNvPr id="37" name="Shape 35"/>
          <p:cNvSpPr/>
          <p:nvPr/>
        </p:nvSpPr>
        <p:spPr>
          <a:xfrm>
            <a:off x="530352" y="4896612"/>
            <a:ext cx="3054096" cy="182880"/>
          </a:xfrm>
          <a:prstGeom prst="roundRect">
            <a:avLst>
              <a:gd name="adj" fmla="val 20000"/>
            </a:avLst>
          </a:prstGeom>
          <a:solidFill>
            <a:srgbClr val="F1EBF8"/>
          </a:solidFill>
          <a:ln/>
        </p:spPr>
      </p:sp>
      <p:sp>
        <p:nvSpPr>
          <p:cNvPr id="38" name="Text 36"/>
          <p:cNvSpPr/>
          <p:nvPr/>
        </p:nvSpPr>
        <p:spPr>
          <a:xfrm>
            <a:off x="603504" y="4896612"/>
            <a:ext cx="2907792" cy="182880"/>
          </a:xfrm>
          <a:prstGeom prst="rect">
            <a:avLst/>
          </a:prstGeom>
          <a:noFill/>
          <a:ln/>
        </p:spPr>
        <p:txBody>
          <a:bodyPr wrap="square" lIns="0" tIns="0" rIns="0" bIns="0" rtlCol="0" anchor="ctr"/>
          <a:lstStyle/>
          <a:p>
            <a:pPr indent="0" marL="0">
              <a:buNone/>
            </a:pPr>
            <a:r>
              <a:rPr lang="en-US" sz="680" b="1" dirty="0">
                <a:solidFill>
                  <a:srgbClr val="6B3FA0"/>
                </a:solidFill>
                <a:latin typeface="Calibri" pitchFamily="34" charset="0"/>
                <a:ea typeface="Calibri" pitchFamily="34" charset="-122"/>
                <a:cs typeface="Calibri" pitchFamily="34" charset="-120"/>
              </a:rPr>
              <a:t>OUTBOUND HTTPS · AIR_GAPPED=1 disables it</a:t>
            </a:r>
            <a:endParaRPr lang="en-US" sz="680" dirty="0"/>
          </a:p>
        </p:txBody>
      </p:sp>
      <p:sp>
        <p:nvSpPr>
          <p:cNvPr id="39" name="Text 37"/>
          <p:cNvSpPr/>
          <p:nvPr/>
        </p:nvSpPr>
        <p:spPr>
          <a:xfrm>
            <a:off x="3931920" y="950976"/>
            <a:ext cx="4160520" cy="164592"/>
          </a:xfrm>
          <a:prstGeom prst="rect">
            <a:avLst/>
          </a:prstGeom>
          <a:noFill/>
          <a:ln/>
        </p:spPr>
        <p:txBody>
          <a:bodyPr wrap="square" lIns="0" tIns="0" rIns="0" bIns="0" rtlCol="0" anchor="ctr"/>
          <a:lstStyle/>
          <a:p>
            <a:pPr indent="0" marL="0">
              <a:buNone/>
            </a:pPr>
            <a:r>
              <a:rPr lang="en-US" sz="780" b="1" spc="50" kern="0" dirty="0">
                <a:solidFill>
                  <a:srgbClr val="0E8074"/>
                </a:solidFill>
                <a:latin typeface="Calibri" pitchFamily="34" charset="0"/>
                <a:ea typeface="Calibri" pitchFamily="34" charset="-122"/>
                <a:cs typeface="Calibri" pitchFamily="34" charset="-120"/>
              </a:rPr>
              <a:t>2 · CALCULATE — THE COST ENGINE IS THE CENTRE OF EVERYTHING</a:t>
            </a:r>
            <a:endParaRPr lang="en-US" sz="780" dirty="0"/>
          </a:p>
        </p:txBody>
      </p:sp>
      <p:sp>
        <p:nvSpPr>
          <p:cNvPr id="40" name="Shape 38"/>
          <p:cNvSpPr/>
          <p:nvPr/>
        </p:nvSpPr>
        <p:spPr>
          <a:xfrm>
            <a:off x="3931920" y="1133856"/>
            <a:ext cx="4160520" cy="3986784"/>
          </a:xfrm>
          <a:prstGeom prst="roundRect">
            <a:avLst>
              <a:gd name="adj" fmla="val 2294"/>
            </a:avLst>
          </a:prstGeom>
          <a:solidFill>
            <a:srgbClr val="E6F4F1"/>
          </a:solidFill>
          <a:ln w="25400">
            <a:solidFill>
              <a:srgbClr val="0E8074"/>
            </a:solidFill>
            <a:prstDash val="solid"/>
          </a:ln>
        </p:spPr>
      </p:sp>
      <p:sp>
        <p:nvSpPr>
          <p:cNvPr id="41" name="Shape 39"/>
          <p:cNvSpPr/>
          <p:nvPr/>
        </p:nvSpPr>
        <p:spPr>
          <a:xfrm>
            <a:off x="3931920" y="1133856"/>
            <a:ext cx="4160520" cy="274320"/>
          </a:xfrm>
          <a:prstGeom prst="roundRect">
            <a:avLst>
              <a:gd name="adj" fmla="val 33333"/>
            </a:avLst>
          </a:prstGeom>
          <a:solidFill>
            <a:srgbClr val="0E8074"/>
          </a:solidFill>
          <a:ln/>
        </p:spPr>
      </p:sp>
      <p:sp>
        <p:nvSpPr>
          <p:cNvPr id="42" name="Shape 40"/>
          <p:cNvSpPr/>
          <p:nvPr/>
        </p:nvSpPr>
        <p:spPr>
          <a:xfrm>
            <a:off x="3931920" y="1298448"/>
            <a:ext cx="4160520" cy="109728"/>
          </a:xfrm>
          <a:prstGeom prst="rect">
            <a:avLst/>
          </a:prstGeom>
          <a:solidFill>
            <a:srgbClr val="0E8074"/>
          </a:solidFill>
          <a:ln/>
        </p:spPr>
      </p:sp>
      <p:sp>
        <p:nvSpPr>
          <p:cNvPr id="43" name="Text 41"/>
          <p:cNvSpPr/>
          <p:nvPr/>
        </p:nvSpPr>
        <p:spPr>
          <a:xfrm>
            <a:off x="4041648" y="1133856"/>
            <a:ext cx="3931920" cy="274320"/>
          </a:xfrm>
          <a:prstGeom prst="rect">
            <a:avLst/>
          </a:prstGeom>
          <a:noFill/>
          <a:ln/>
        </p:spPr>
        <p:txBody>
          <a:bodyPr wrap="square" lIns="0" tIns="0" rIns="0" bIns="0" rtlCol="0" anchor="ctr"/>
          <a:lstStyle/>
          <a:p>
            <a:pPr indent="0" marL="0">
              <a:buNone/>
            </a:pPr>
            <a:r>
              <a:rPr lang="en-US" sz="920" b="1" dirty="0">
                <a:solidFill>
                  <a:srgbClr val="FFFFFF"/>
                </a:solidFill>
                <a:latin typeface="Calibri" pitchFamily="34" charset="0"/>
                <a:ea typeface="Calibri" pitchFamily="34" charset="-122"/>
                <a:cs typeface="Calibri" pitchFamily="34" charset="-120"/>
              </a:rPr>
              <a:t>THE COST ENGINE   ·   src/engine/</a:t>
            </a:r>
            <a:endParaRPr lang="en-US" sz="920" dirty="0"/>
          </a:p>
        </p:txBody>
      </p:sp>
      <p:sp>
        <p:nvSpPr>
          <p:cNvPr id="44" name="Text 42"/>
          <p:cNvSpPr/>
          <p:nvPr/>
        </p:nvSpPr>
        <p:spPr>
          <a:xfrm>
            <a:off x="4041648" y="1444752"/>
            <a:ext cx="3931920" cy="274320"/>
          </a:xfrm>
          <a:prstGeom prst="rect">
            <a:avLst/>
          </a:prstGeom>
          <a:noFill/>
          <a:ln/>
        </p:spPr>
        <p:txBody>
          <a:bodyPr wrap="square" lIns="0" tIns="0" rIns="0" bIns="0" rtlCol="0" anchor="t"/>
          <a:lstStyle/>
          <a:p>
            <a:pPr indent="0" marL="0">
              <a:buNone/>
            </a:pPr>
            <a:r>
              <a:rPr lang="en-US" sz="740" i="1" dirty="0">
                <a:solidFill>
                  <a:srgbClr val="16325C"/>
                </a:solidFill>
                <a:latin typeface="Calibri" pitchFamily="34" charset="0"/>
                <a:ea typeface="Calibri" pitchFamily="34" charset="-122"/>
                <a:cs typeface="Calibri" pitchFamily="34" charset="-120"/>
              </a:rPr>
              <a:t>TypeScript (no framework) · 107 files · 29,229 lines · compiled by tsc, runs unchanged in the browser AND in Node · 1,530 automated tests</a:t>
            </a:r>
            <a:endParaRPr lang="en-US" sz="740" dirty="0"/>
          </a:p>
        </p:txBody>
      </p:sp>
      <p:sp>
        <p:nvSpPr>
          <p:cNvPr id="45" name="Shape 43"/>
          <p:cNvSpPr/>
          <p:nvPr/>
        </p:nvSpPr>
        <p:spPr>
          <a:xfrm>
            <a:off x="4059936" y="1755648"/>
            <a:ext cx="3904488" cy="694944"/>
          </a:xfrm>
          <a:prstGeom prst="roundRect">
            <a:avLst>
              <a:gd name="adj" fmla="val 7895"/>
            </a:avLst>
          </a:prstGeom>
          <a:solidFill>
            <a:srgbClr val="FFFFFF"/>
          </a:solidFill>
          <a:ln w="12700">
            <a:solidFill>
              <a:srgbClr val="DCE3EE"/>
            </a:solidFill>
            <a:prstDash val="solid"/>
          </a:ln>
        </p:spPr>
      </p:sp>
      <p:sp>
        <p:nvSpPr>
          <p:cNvPr id="46" name="Shape 44"/>
          <p:cNvSpPr/>
          <p:nvPr/>
        </p:nvSpPr>
        <p:spPr>
          <a:xfrm>
            <a:off x="4059936" y="1755648"/>
            <a:ext cx="54864" cy="694944"/>
          </a:xfrm>
          <a:prstGeom prst="rect">
            <a:avLst/>
          </a:prstGeom>
          <a:solidFill>
            <a:srgbClr val="0E8074"/>
          </a:solidFill>
          <a:ln/>
        </p:spPr>
      </p:sp>
      <p:sp>
        <p:nvSpPr>
          <p:cNvPr id="47" name="Text 45"/>
          <p:cNvSpPr/>
          <p:nvPr/>
        </p:nvSpPr>
        <p:spPr>
          <a:xfrm>
            <a:off x="4169664" y="1792224"/>
            <a:ext cx="182880" cy="182880"/>
          </a:xfrm>
          <a:prstGeom prst="rect">
            <a:avLst/>
          </a:prstGeom>
          <a:noFill/>
          <a:ln/>
        </p:spPr>
        <p:txBody>
          <a:bodyPr wrap="square" lIns="0" tIns="0" rIns="0" bIns="0" rtlCol="0" anchor="ctr"/>
          <a:lstStyle/>
          <a:p>
            <a:pPr indent="0" marL="0">
              <a:buNone/>
            </a:pPr>
            <a:r>
              <a:rPr lang="en-US" sz="740" b="1" dirty="0">
                <a:solidFill>
                  <a:srgbClr val="0E8074"/>
                </a:solidFill>
                <a:latin typeface="Calibri" pitchFamily="34" charset="0"/>
                <a:ea typeface="Calibri" pitchFamily="34" charset="-122"/>
                <a:cs typeface="Calibri" pitchFamily="34" charset="-120"/>
              </a:rPr>
              <a:t>1</a:t>
            </a:r>
            <a:endParaRPr lang="en-US" sz="740" dirty="0"/>
          </a:p>
        </p:txBody>
      </p:sp>
      <p:sp>
        <p:nvSpPr>
          <p:cNvPr id="48" name="Text 46"/>
          <p:cNvSpPr/>
          <p:nvPr/>
        </p:nvSpPr>
        <p:spPr>
          <a:xfrm>
            <a:off x="4352544" y="1783080"/>
            <a:ext cx="3520440" cy="201168"/>
          </a:xfrm>
          <a:prstGeom prst="rect">
            <a:avLst/>
          </a:prstGeom>
          <a:noFill/>
          <a:ln/>
        </p:spPr>
        <p:txBody>
          <a:bodyPr wrap="square" lIns="0" tIns="0" rIns="0" bIns="0" rtlCol="0" anchor="ctr"/>
          <a:lstStyle/>
          <a:p>
            <a:pPr indent="0" marL="0">
              <a:buNone/>
            </a:pPr>
            <a:r>
              <a:rPr lang="en-US" sz="820" b="1" dirty="0">
                <a:solidFill>
                  <a:srgbClr val="16325C"/>
                </a:solidFill>
                <a:latin typeface="Calibri" pitchFamily="34" charset="0"/>
                <a:ea typeface="Calibri" pitchFamily="34" charset="-122"/>
                <a:cs typeface="Calibri" pitchFamily="34" charset="-120"/>
              </a:rPr>
              <a:t>core.ts — computeUniversalStack()</a:t>
            </a:r>
            <a:endParaRPr lang="en-US" sz="820" dirty="0"/>
          </a:p>
        </p:txBody>
      </p:sp>
      <p:sp>
        <p:nvSpPr>
          <p:cNvPr id="49" name="Text 47"/>
          <p:cNvSpPr/>
          <p:nvPr/>
        </p:nvSpPr>
        <p:spPr>
          <a:xfrm>
            <a:off x="4206240" y="1984248"/>
            <a:ext cx="3657600" cy="438912"/>
          </a:xfrm>
          <a:prstGeom prst="rect">
            <a:avLst/>
          </a:prstGeom>
          <a:noFill/>
          <a:ln/>
        </p:spPr>
        <p:txBody>
          <a:bodyPr wrap="square" lIns="0" tIns="0" rIns="0" bIns="0" rtlCol="0" anchor="t"/>
          <a:lstStyle/>
          <a:p>
            <a:pPr indent="0" marL="0">
              <a:buNone/>
            </a:pPr>
            <a:r>
              <a:rPr lang="en-US" sz="710" dirty="0">
                <a:solidFill>
                  <a:srgbClr val="3A4356"/>
                </a:solidFill>
                <a:latin typeface="Calibri" pitchFamily="34" charset="0"/>
                <a:ea typeface="Calibri" pitchFamily="34" charset="-122"/>
                <a:cs typeface="Calibri" pitchFamily="34" charset="-120"/>
              </a:rPr>
              <a:t>drivers × rate library → the 8 buckets. Overhead is a % of factory base, margin a % of subtotal, applied once. Every other module feeds this one function.</a:t>
            </a:r>
            <a:endParaRPr lang="en-US" sz="710" dirty="0"/>
          </a:p>
        </p:txBody>
      </p:sp>
      <p:sp>
        <p:nvSpPr>
          <p:cNvPr id="50" name="Shape 48"/>
          <p:cNvSpPr/>
          <p:nvPr/>
        </p:nvSpPr>
        <p:spPr>
          <a:xfrm>
            <a:off x="4059936" y="2523744"/>
            <a:ext cx="3904488" cy="694944"/>
          </a:xfrm>
          <a:prstGeom prst="roundRect">
            <a:avLst>
              <a:gd name="adj" fmla="val 7895"/>
            </a:avLst>
          </a:prstGeom>
          <a:solidFill>
            <a:srgbClr val="FFFFFF"/>
          </a:solidFill>
          <a:ln w="12700">
            <a:solidFill>
              <a:srgbClr val="DCE3EE"/>
            </a:solidFill>
            <a:prstDash val="solid"/>
          </a:ln>
        </p:spPr>
      </p:sp>
      <p:sp>
        <p:nvSpPr>
          <p:cNvPr id="51" name="Shape 49"/>
          <p:cNvSpPr/>
          <p:nvPr/>
        </p:nvSpPr>
        <p:spPr>
          <a:xfrm>
            <a:off x="4059936" y="2523744"/>
            <a:ext cx="54864" cy="694944"/>
          </a:xfrm>
          <a:prstGeom prst="rect">
            <a:avLst/>
          </a:prstGeom>
          <a:solidFill>
            <a:srgbClr val="0E8074"/>
          </a:solidFill>
          <a:ln/>
        </p:spPr>
      </p:sp>
      <p:sp>
        <p:nvSpPr>
          <p:cNvPr id="52" name="Text 50"/>
          <p:cNvSpPr/>
          <p:nvPr/>
        </p:nvSpPr>
        <p:spPr>
          <a:xfrm>
            <a:off x="4169664" y="2560320"/>
            <a:ext cx="182880" cy="182880"/>
          </a:xfrm>
          <a:prstGeom prst="rect">
            <a:avLst/>
          </a:prstGeom>
          <a:noFill/>
          <a:ln/>
        </p:spPr>
        <p:txBody>
          <a:bodyPr wrap="square" lIns="0" tIns="0" rIns="0" bIns="0" rtlCol="0" anchor="ctr"/>
          <a:lstStyle/>
          <a:p>
            <a:pPr indent="0" marL="0">
              <a:buNone/>
            </a:pPr>
            <a:r>
              <a:rPr lang="en-US" sz="740" b="1" dirty="0">
                <a:solidFill>
                  <a:srgbClr val="0E8074"/>
                </a:solidFill>
                <a:latin typeface="Calibri" pitchFamily="34" charset="0"/>
                <a:ea typeface="Calibri" pitchFamily="34" charset="-122"/>
                <a:cs typeface="Calibri" pitchFamily="34" charset="-120"/>
              </a:rPr>
              <a:t>2</a:t>
            </a:r>
            <a:endParaRPr lang="en-US" sz="740" dirty="0"/>
          </a:p>
        </p:txBody>
      </p:sp>
      <p:sp>
        <p:nvSpPr>
          <p:cNvPr id="53" name="Text 51"/>
          <p:cNvSpPr/>
          <p:nvPr/>
        </p:nvSpPr>
        <p:spPr>
          <a:xfrm>
            <a:off x="4352544" y="2551176"/>
            <a:ext cx="3520440" cy="201168"/>
          </a:xfrm>
          <a:prstGeom prst="rect">
            <a:avLst/>
          </a:prstGeom>
          <a:noFill/>
          <a:ln/>
        </p:spPr>
        <p:txBody>
          <a:bodyPr wrap="square" lIns="0" tIns="0" rIns="0" bIns="0" rtlCol="0" anchor="ctr"/>
          <a:lstStyle/>
          <a:p>
            <a:pPr indent="0" marL="0">
              <a:buNone/>
            </a:pPr>
            <a:r>
              <a:rPr lang="en-US" sz="820" b="1" dirty="0">
                <a:solidFill>
                  <a:srgbClr val="16325C"/>
                </a:solidFill>
                <a:latin typeface="Calibri" pitchFamily="34" charset="0"/>
                <a:ea typeface="Calibri" pitchFamily="34" charset="-122"/>
                <a:cs typeface="Calibri" pitchFamily="34" charset="-120"/>
              </a:rPr>
              <a:t>18 commodity modules</a:t>
            </a:r>
            <a:endParaRPr lang="en-US" sz="820" dirty="0"/>
          </a:p>
        </p:txBody>
      </p:sp>
      <p:sp>
        <p:nvSpPr>
          <p:cNvPr id="54" name="Text 52"/>
          <p:cNvSpPr/>
          <p:nvPr/>
        </p:nvSpPr>
        <p:spPr>
          <a:xfrm>
            <a:off x="4206240" y="2752344"/>
            <a:ext cx="3657600" cy="438912"/>
          </a:xfrm>
          <a:prstGeom prst="rect">
            <a:avLst/>
          </a:prstGeom>
          <a:noFill/>
          <a:ln/>
        </p:spPr>
        <p:txBody>
          <a:bodyPr wrap="square" lIns="0" tIns="0" rIns="0" bIns="0" rtlCol="0" anchor="t"/>
          <a:lstStyle/>
          <a:p>
            <a:pPr indent="0" marL="0">
              <a:buNone/>
            </a:pPr>
            <a:r>
              <a:rPr lang="en-US" sz="710" dirty="0">
                <a:solidFill>
                  <a:srgbClr val="3A4356"/>
                </a:solidFill>
                <a:latin typeface="Calibri" pitchFamily="34" charset="0"/>
                <a:ea typeface="Calibri" pitchFamily="34" charset="-122"/>
                <a:cs typeface="Calibri" pitchFamily="34" charset="-120"/>
              </a:rPr>
              <a:t>casting · machining · forging · sheet metal · the moulding family · extrusion · rubber · composites · harness · PCB fab &amp; assembly · painting · BIW. Each returns CommodityDrivers.</a:t>
            </a:r>
            <a:endParaRPr lang="en-US" sz="710" dirty="0"/>
          </a:p>
        </p:txBody>
      </p:sp>
      <p:sp>
        <p:nvSpPr>
          <p:cNvPr id="55" name="Shape 53"/>
          <p:cNvSpPr/>
          <p:nvPr/>
        </p:nvSpPr>
        <p:spPr>
          <a:xfrm>
            <a:off x="4059936" y="3291840"/>
            <a:ext cx="3904488" cy="694944"/>
          </a:xfrm>
          <a:prstGeom prst="roundRect">
            <a:avLst>
              <a:gd name="adj" fmla="val 7895"/>
            </a:avLst>
          </a:prstGeom>
          <a:solidFill>
            <a:srgbClr val="FFFFFF"/>
          </a:solidFill>
          <a:ln w="12700">
            <a:solidFill>
              <a:srgbClr val="DCE3EE"/>
            </a:solidFill>
            <a:prstDash val="solid"/>
          </a:ln>
        </p:spPr>
      </p:sp>
      <p:sp>
        <p:nvSpPr>
          <p:cNvPr id="56" name="Shape 54"/>
          <p:cNvSpPr/>
          <p:nvPr/>
        </p:nvSpPr>
        <p:spPr>
          <a:xfrm>
            <a:off x="4059936" y="3291840"/>
            <a:ext cx="54864" cy="694944"/>
          </a:xfrm>
          <a:prstGeom prst="rect">
            <a:avLst/>
          </a:prstGeom>
          <a:solidFill>
            <a:srgbClr val="0E8074"/>
          </a:solidFill>
          <a:ln/>
        </p:spPr>
      </p:sp>
      <p:sp>
        <p:nvSpPr>
          <p:cNvPr id="57" name="Text 55"/>
          <p:cNvSpPr/>
          <p:nvPr/>
        </p:nvSpPr>
        <p:spPr>
          <a:xfrm>
            <a:off x="4169664" y="3328416"/>
            <a:ext cx="182880" cy="182880"/>
          </a:xfrm>
          <a:prstGeom prst="rect">
            <a:avLst/>
          </a:prstGeom>
          <a:noFill/>
          <a:ln/>
        </p:spPr>
        <p:txBody>
          <a:bodyPr wrap="square" lIns="0" tIns="0" rIns="0" bIns="0" rtlCol="0" anchor="ctr"/>
          <a:lstStyle/>
          <a:p>
            <a:pPr indent="0" marL="0">
              <a:buNone/>
            </a:pPr>
            <a:r>
              <a:rPr lang="en-US" sz="740" b="1" dirty="0">
                <a:solidFill>
                  <a:srgbClr val="0E8074"/>
                </a:solidFill>
                <a:latin typeface="Calibri" pitchFamily="34" charset="0"/>
                <a:ea typeface="Calibri" pitchFamily="34" charset="-122"/>
                <a:cs typeface="Calibri" pitchFamily="34" charset="-120"/>
              </a:rPr>
              <a:t>3</a:t>
            </a:r>
            <a:endParaRPr lang="en-US" sz="740" dirty="0"/>
          </a:p>
        </p:txBody>
      </p:sp>
      <p:sp>
        <p:nvSpPr>
          <p:cNvPr id="58" name="Text 56"/>
          <p:cNvSpPr/>
          <p:nvPr/>
        </p:nvSpPr>
        <p:spPr>
          <a:xfrm>
            <a:off x="4352544" y="3319272"/>
            <a:ext cx="3520440" cy="201168"/>
          </a:xfrm>
          <a:prstGeom prst="rect">
            <a:avLst/>
          </a:prstGeom>
          <a:noFill/>
          <a:ln/>
        </p:spPr>
        <p:txBody>
          <a:bodyPr wrap="square" lIns="0" tIns="0" rIns="0" bIns="0" rtlCol="0" anchor="ctr"/>
          <a:lstStyle/>
          <a:p>
            <a:pPr indent="0" marL="0">
              <a:buNone/>
            </a:pPr>
            <a:r>
              <a:rPr lang="en-US" sz="820" b="1" dirty="0">
                <a:solidFill>
                  <a:srgbClr val="16325C"/>
                </a:solidFill>
                <a:latin typeface="Calibri" pitchFamily="34" charset="0"/>
                <a:ea typeface="Calibri" pitchFamily="34" charset="-122"/>
                <a:cs typeface="Calibri" pitchFamily="34" charset="-120"/>
              </a:rPr>
              <a:t>Rules &amp; optimisers</a:t>
            </a:r>
            <a:endParaRPr lang="en-US" sz="820" dirty="0"/>
          </a:p>
        </p:txBody>
      </p:sp>
      <p:sp>
        <p:nvSpPr>
          <p:cNvPr id="59" name="Text 57"/>
          <p:cNvSpPr/>
          <p:nvPr/>
        </p:nvSpPr>
        <p:spPr>
          <a:xfrm>
            <a:off x="4206240" y="3520440"/>
            <a:ext cx="3657600" cy="438912"/>
          </a:xfrm>
          <a:prstGeom prst="rect">
            <a:avLst/>
          </a:prstGeom>
          <a:noFill/>
          <a:ln/>
        </p:spPr>
        <p:txBody>
          <a:bodyPr wrap="square" lIns="0" tIns="0" rIns="0" bIns="0" rtlCol="0" anchor="t"/>
          <a:lstStyle/>
          <a:p>
            <a:pPr indent="0" marL="0">
              <a:buNone/>
            </a:pPr>
            <a:r>
              <a:rPr lang="en-US" sz="710" dirty="0">
                <a:solidFill>
                  <a:srgbClr val="3A4356"/>
                </a:solidFill>
                <a:latin typeface="Calibri" pitchFamily="34" charset="0"/>
                <a:ea typeface="Calibri" pitchFamily="34" charset="-122"/>
                <a:cs typeface="Calibri" pitchFamily="34" charset="-120"/>
              </a:rPr>
              <a:t>162 declarative CAD→input rules (7,525 lines, 11 files) · routing optimiser picks the cheapest capable machine · cavitation and press-tonnage sized by physics, then cost-ranked.</a:t>
            </a:r>
            <a:endParaRPr lang="en-US" sz="710" dirty="0"/>
          </a:p>
        </p:txBody>
      </p:sp>
      <p:sp>
        <p:nvSpPr>
          <p:cNvPr id="60" name="Shape 58"/>
          <p:cNvSpPr/>
          <p:nvPr/>
        </p:nvSpPr>
        <p:spPr>
          <a:xfrm>
            <a:off x="4059936" y="4059936"/>
            <a:ext cx="3904488" cy="694944"/>
          </a:xfrm>
          <a:prstGeom prst="roundRect">
            <a:avLst>
              <a:gd name="adj" fmla="val 7895"/>
            </a:avLst>
          </a:prstGeom>
          <a:solidFill>
            <a:srgbClr val="FFFFFF"/>
          </a:solidFill>
          <a:ln w="12700">
            <a:solidFill>
              <a:srgbClr val="DCE3EE"/>
            </a:solidFill>
            <a:prstDash val="solid"/>
          </a:ln>
        </p:spPr>
      </p:sp>
      <p:sp>
        <p:nvSpPr>
          <p:cNvPr id="61" name="Shape 59"/>
          <p:cNvSpPr/>
          <p:nvPr/>
        </p:nvSpPr>
        <p:spPr>
          <a:xfrm>
            <a:off x="4059936" y="4059936"/>
            <a:ext cx="54864" cy="694944"/>
          </a:xfrm>
          <a:prstGeom prst="rect">
            <a:avLst/>
          </a:prstGeom>
          <a:solidFill>
            <a:srgbClr val="0E8074"/>
          </a:solidFill>
          <a:ln/>
        </p:spPr>
      </p:sp>
      <p:sp>
        <p:nvSpPr>
          <p:cNvPr id="62" name="Text 60"/>
          <p:cNvSpPr/>
          <p:nvPr/>
        </p:nvSpPr>
        <p:spPr>
          <a:xfrm>
            <a:off x="4169664" y="4096512"/>
            <a:ext cx="182880" cy="182880"/>
          </a:xfrm>
          <a:prstGeom prst="rect">
            <a:avLst/>
          </a:prstGeom>
          <a:noFill/>
          <a:ln/>
        </p:spPr>
        <p:txBody>
          <a:bodyPr wrap="square" lIns="0" tIns="0" rIns="0" bIns="0" rtlCol="0" anchor="ctr"/>
          <a:lstStyle/>
          <a:p>
            <a:pPr indent="0" marL="0">
              <a:buNone/>
            </a:pPr>
            <a:r>
              <a:rPr lang="en-US" sz="740" b="1" dirty="0">
                <a:solidFill>
                  <a:srgbClr val="0E8074"/>
                </a:solidFill>
                <a:latin typeface="Calibri" pitchFamily="34" charset="0"/>
                <a:ea typeface="Calibri" pitchFamily="34" charset="-122"/>
                <a:cs typeface="Calibri" pitchFamily="34" charset="-120"/>
              </a:rPr>
              <a:t>4</a:t>
            </a:r>
            <a:endParaRPr lang="en-US" sz="740" dirty="0"/>
          </a:p>
        </p:txBody>
      </p:sp>
      <p:sp>
        <p:nvSpPr>
          <p:cNvPr id="63" name="Text 61"/>
          <p:cNvSpPr/>
          <p:nvPr/>
        </p:nvSpPr>
        <p:spPr>
          <a:xfrm>
            <a:off x="4352544" y="4087368"/>
            <a:ext cx="3520440" cy="201168"/>
          </a:xfrm>
          <a:prstGeom prst="rect">
            <a:avLst/>
          </a:prstGeom>
          <a:noFill/>
          <a:ln/>
        </p:spPr>
        <p:txBody>
          <a:bodyPr wrap="square" lIns="0" tIns="0" rIns="0" bIns="0" rtlCol="0" anchor="ctr"/>
          <a:lstStyle/>
          <a:p>
            <a:pPr indent="0" marL="0">
              <a:buNone/>
            </a:pPr>
            <a:r>
              <a:rPr lang="en-US" sz="820" b="1" dirty="0">
                <a:solidFill>
                  <a:srgbClr val="16325C"/>
                </a:solidFill>
                <a:latin typeface="Calibri" pitchFamily="34" charset="0"/>
                <a:ea typeface="Calibri" pitchFamily="34" charset="-122"/>
                <a:cs typeface="Calibri" pitchFamily="34" charset="-120"/>
              </a:rPr>
              <a:t>Guardrails</a:t>
            </a:r>
            <a:endParaRPr lang="en-US" sz="820" dirty="0"/>
          </a:p>
        </p:txBody>
      </p:sp>
      <p:sp>
        <p:nvSpPr>
          <p:cNvPr id="64" name="Text 62"/>
          <p:cNvSpPr/>
          <p:nvPr/>
        </p:nvSpPr>
        <p:spPr>
          <a:xfrm>
            <a:off x="4206240" y="4288536"/>
            <a:ext cx="3657600" cy="438912"/>
          </a:xfrm>
          <a:prstGeom prst="rect">
            <a:avLst/>
          </a:prstGeom>
          <a:noFill/>
          <a:ln/>
        </p:spPr>
        <p:txBody>
          <a:bodyPr wrap="square" lIns="0" tIns="0" rIns="0" bIns="0" rtlCol="0" anchor="t"/>
          <a:lstStyle/>
          <a:p>
            <a:pPr indent="0" marL="0">
              <a:buNone/>
            </a:pPr>
            <a:r>
              <a:rPr lang="en-US" sz="710" dirty="0">
                <a:solidFill>
                  <a:srgbClr val="3A4356"/>
                </a:solidFill>
                <a:latin typeface="Calibri" pitchFamily="34" charset="0"/>
                <a:ea typeface="Calibri" pitchFamily="34" charset="-122"/>
                <a:cs typeface="Calibri" pitchFamily="34" charset="-120"/>
              </a:rPr>
              <a:t>cad-sanity (AI numbers vs measured volume) · machining guard (caps near-net cutting) · self-audit on every estimate · rate freshness blocks duty rates older than 90 days.</a:t>
            </a:r>
            <a:endParaRPr lang="en-US" sz="710" dirty="0"/>
          </a:p>
        </p:txBody>
      </p:sp>
      <p:sp>
        <p:nvSpPr>
          <p:cNvPr id="65" name="Shape 63"/>
          <p:cNvSpPr/>
          <p:nvPr/>
        </p:nvSpPr>
        <p:spPr>
          <a:xfrm>
            <a:off x="4059936" y="4828032"/>
            <a:ext cx="3904488" cy="219456"/>
          </a:xfrm>
          <a:prstGeom prst="roundRect">
            <a:avLst>
              <a:gd name="adj" fmla="val 20833"/>
            </a:avLst>
          </a:prstGeom>
          <a:solidFill>
            <a:srgbClr val="16325C"/>
          </a:solidFill>
          <a:ln/>
        </p:spPr>
      </p:sp>
      <p:sp>
        <p:nvSpPr>
          <p:cNvPr id="66" name="Text 64"/>
          <p:cNvSpPr/>
          <p:nvPr/>
        </p:nvSpPr>
        <p:spPr>
          <a:xfrm>
            <a:off x="4151376" y="4828032"/>
            <a:ext cx="3721608" cy="219456"/>
          </a:xfrm>
          <a:prstGeom prst="rect">
            <a:avLst/>
          </a:prstGeom>
          <a:noFill/>
          <a:ln/>
        </p:spPr>
        <p:txBody>
          <a:bodyPr wrap="square" lIns="0" tIns="0" rIns="0" bIns="0" rtlCol="0" anchor="ctr"/>
          <a:lstStyle/>
          <a:p>
            <a:pPr indent="0" marL="0">
              <a:buNone/>
            </a:pPr>
            <a:r>
              <a:rPr lang="en-US" sz="690" b="1" dirty="0">
                <a:solidFill>
                  <a:srgbClr val="FFFFFF"/>
                </a:solidFill>
                <a:latin typeface="Calibri" pitchFamily="34" charset="0"/>
                <a:ea typeface="Calibri" pitchFamily="34" charset="-122"/>
                <a:cs typeface="Calibri" pitchFamily="34" charset="-120"/>
              </a:rPr>
              <a:t>Pure functions in · numbers out. No I/O, no database, no network — which is why it can be tested this hard.</a:t>
            </a:r>
            <a:endParaRPr lang="en-US" sz="690" dirty="0"/>
          </a:p>
        </p:txBody>
      </p:sp>
      <p:sp>
        <p:nvSpPr>
          <p:cNvPr id="67" name="Shape 65"/>
          <p:cNvSpPr/>
          <p:nvPr/>
        </p:nvSpPr>
        <p:spPr>
          <a:xfrm>
            <a:off x="3675888" y="3108960"/>
            <a:ext cx="237744" cy="0"/>
          </a:xfrm>
          <a:prstGeom prst="line">
            <a:avLst/>
          </a:prstGeom>
          <a:noFill/>
          <a:ln w="31750">
            <a:solidFill>
              <a:srgbClr val="0E8074"/>
            </a:solidFill>
            <a:prstDash val="solid"/>
            <a:tailEnd type="triangle"/>
          </a:ln>
        </p:spPr>
      </p:sp>
      <p:sp>
        <p:nvSpPr>
          <p:cNvPr id="68" name="Shape 66"/>
          <p:cNvSpPr/>
          <p:nvPr/>
        </p:nvSpPr>
        <p:spPr>
          <a:xfrm>
            <a:off x="8110728" y="3108960"/>
            <a:ext cx="237744" cy="0"/>
          </a:xfrm>
          <a:prstGeom prst="line">
            <a:avLst/>
          </a:prstGeom>
          <a:noFill/>
          <a:ln w="31750">
            <a:solidFill>
              <a:srgbClr val="0E8074"/>
            </a:solidFill>
            <a:prstDash val="solid"/>
            <a:tailEnd type="triangle"/>
          </a:ln>
        </p:spPr>
      </p:sp>
      <p:sp>
        <p:nvSpPr>
          <p:cNvPr id="69" name="Text 67"/>
          <p:cNvSpPr/>
          <p:nvPr/>
        </p:nvSpPr>
        <p:spPr>
          <a:xfrm>
            <a:off x="8366760" y="950976"/>
            <a:ext cx="3364992" cy="164592"/>
          </a:xfrm>
          <a:prstGeom prst="rect">
            <a:avLst/>
          </a:prstGeom>
          <a:noFill/>
          <a:ln/>
        </p:spPr>
        <p:txBody>
          <a:bodyPr wrap="square" lIns="0" tIns="0" rIns="0" bIns="0" rtlCol="0" anchor="ctr"/>
          <a:lstStyle/>
          <a:p>
            <a:pPr indent="0" marL="0">
              <a:buNone/>
            </a:pPr>
            <a:r>
              <a:rPr lang="en-US" sz="780" b="1" spc="50" kern="0" dirty="0">
                <a:solidFill>
                  <a:srgbClr val="6B7280"/>
                </a:solidFill>
                <a:latin typeface="Calibri" pitchFamily="34" charset="0"/>
                <a:ea typeface="Calibri" pitchFamily="34" charset="-122"/>
                <a:cs typeface="Calibri" pitchFamily="34" charset="-120"/>
              </a:rPr>
              <a:t>3 · DATA IT READS   ·   4 · WHAT COMES OUT</a:t>
            </a:r>
            <a:endParaRPr lang="en-US" sz="780" dirty="0"/>
          </a:p>
        </p:txBody>
      </p:sp>
      <p:sp>
        <p:nvSpPr>
          <p:cNvPr id="70" name="Shape 68"/>
          <p:cNvSpPr/>
          <p:nvPr/>
        </p:nvSpPr>
        <p:spPr>
          <a:xfrm>
            <a:off x="8366760" y="1133856"/>
            <a:ext cx="3364992" cy="1280160"/>
          </a:xfrm>
          <a:prstGeom prst="roundRect">
            <a:avLst>
              <a:gd name="adj" fmla="val 5714"/>
            </a:avLst>
          </a:prstGeom>
          <a:solidFill>
            <a:srgbClr val="FFFFFF"/>
          </a:solidFill>
          <a:ln w="15875">
            <a:solidFill>
              <a:srgbClr val="0E8074"/>
            </a:solidFill>
            <a:prstDash val="solid"/>
          </a:ln>
        </p:spPr>
      </p:sp>
      <p:sp>
        <p:nvSpPr>
          <p:cNvPr id="71" name="Shape 69"/>
          <p:cNvSpPr/>
          <p:nvPr/>
        </p:nvSpPr>
        <p:spPr>
          <a:xfrm>
            <a:off x="8366760" y="1133856"/>
            <a:ext cx="3364992" cy="237744"/>
          </a:xfrm>
          <a:prstGeom prst="roundRect">
            <a:avLst>
              <a:gd name="adj" fmla="val 30769"/>
            </a:avLst>
          </a:prstGeom>
          <a:solidFill>
            <a:srgbClr val="0E8074"/>
          </a:solidFill>
          <a:ln/>
        </p:spPr>
      </p:sp>
      <p:sp>
        <p:nvSpPr>
          <p:cNvPr id="72" name="Shape 70"/>
          <p:cNvSpPr/>
          <p:nvPr/>
        </p:nvSpPr>
        <p:spPr>
          <a:xfrm>
            <a:off x="8366760" y="1280160"/>
            <a:ext cx="3364992" cy="91440"/>
          </a:xfrm>
          <a:prstGeom prst="rect">
            <a:avLst/>
          </a:prstGeom>
          <a:solidFill>
            <a:srgbClr val="0E8074"/>
          </a:solidFill>
          <a:ln/>
        </p:spPr>
      </p:sp>
      <p:sp>
        <p:nvSpPr>
          <p:cNvPr id="73" name="Text 71"/>
          <p:cNvSpPr/>
          <p:nvPr/>
        </p:nvSpPr>
        <p:spPr>
          <a:xfrm>
            <a:off x="8476488" y="1133856"/>
            <a:ext cx="3145536" cy="237744"/>
          </a:xfrm>
          <a:prstGeom prst="rect">
            <a:avLst/>
          </a:prstGeom>
          <a:noFill/>
          <a:ln/>
        </p:spPr>
        <p:txBody>
          <a:bodyPr wrap="square" lIns="0" tIns="0" rIns="0" bIns="0" rtlCol="0" anchor="ctr"/>
          <a:lstStyle/>
          <a:p>
            <a:pPr indent="0" marL="0">
              <a:buNone/>
            </a:pPr>
            <a:r>
              <a:rPr lang="en-US" sz="860" b="1" dirty="0">
                <a:solidFill>
                  <a:srgbClr val="FFFFFF"/>
                </a:solidFill>
                <a:latin typeface="Calibri" pitchFamily="34" charset="0"/>
                <a:ea typeface="Calibri" pitchFamily="34" charset="-122"/>
                <a:cs typeface="Calibri" pitchFamily="34" charset="-120"/>
              </a:rPr>
              <a:t>Rate library</a:t>
            </a:r>
            <a:endParaRPr lang="en-US" sz="860" dirty="0"/>
          </a:p>
        </p:txBody>
      </p:sp>
      <p:sp>
        <p:nvSpPr>
          <p:cNvPr id="74" name="Shape 72"/>
          <p:cNvSpPr/>
          <p:nvPr/>
        </p:nvSpPr>
        <p:spPr>
          <a:xfrm>
            <a:off x="8476488" y="1417320"/>
            <a:ext cx="841248" cy="164592"/>
          </a:xfrm>
          <a:prstGeom prst="roundRect">
            <a:avLst>
              <a:gd name="adj" fmla="val 22222"/>
            </a:avLst>
          </a:prstGeom>
          <a:solidFill>
            <a:srgbClr val="1D6FB8"/>
          </a:solidFill>
          <a:ln/>
        </p:spPr>
      </p:sp>
      <p:sp>
        <p:nvSpPr>
          <p:cNvPr id="75" name="Text 73"/>
          <p:cNvSpPr/>
          <p:nvPr/>
        </p:nvSpPr>
        <p:spPr>
          <a:xfrm>
            <a:off x="8476488" y="1417320"/>
            <a:ext cx="841248" cy="164592"/>
          </a:xfrm>
          <a:prstGeom prst="rect">
            <a:avLst/>
          </a:prstGeom>
          <a:noFill/>
          <a:ln/>
        </p:spPr>
        <p:txBody>
          <a:bodyPr wrap="square" lIns="0" tIns="0" rIns="0" bIns="0" rtlCol="0" anchor="ctr"/>
          <a:lstStyle/>
          <a:p>
            <a:pPr algn="ctr" indent="0" marL="0">
              <a:buNone/>
            </a:pPr>
            <a:r>
              <a:rPr lang="en-US" sz="660" b="1" dirty="0">
                <a:solidFill>
                  <a:srgbClr val="FFFFFF"/>
                </a:solidFill>
                <a:latin typeface="Calibri" pitchFamily="34" charset="0"/>
                <a:ea typeface="Calibri" pitchFamily="34" charset="-122"/>
                <a:cs typeface="Calibri" pitchFamily="34" charset="-120"/>
              </a:rPr>
              <a:t>TypeScript</a:t>
            </a:r>
            <a:endParaRPr lang="en-US" sz="660" dirty="0"/>
          </a:p>
        </p:txBody>
      </p:sp>
      <p:sp>
        <p:nvSpPr>
          <p:cNvPr id="76" name="Shape 74"/>
          <p:cNvSpPr/>
          <p:nvPr/>
        </p:nvSpPr>
        <p:spPr>
          <a:xfrm>
            <a:off x="9363456" y="1417320"/>
            <a:ext cx="1170432" cy="164592"/>
          </a:xfrm>
          <a:prstGeom prst="roundRect">
            <a:avLst>
              <a:gd name="adj" fmla="val 22222"/>
            </a:avLst>
          </a:prstGeom>
          <a:solidFill>
            <a:srgbClr val="E8EDF6"/>
          </a:solidFill>
          <a:ln/>
        </p:spPr>
      </p:sp>
      <p:sp>
        <p:nvSpPr>
          <p:cNvPr id="77" name="Text 75"/>
          <p:cNvSpPr/>
          <p:nvPr/>
        </p:nvSpPr>
        <p:spPr>
          <a:xfrm>
            <a:off x="9363456" y="1417320"/>
            <a:ext cx="1170432" cy="164592"/>
          </a:xfrm>
          <a:prstGeom prst="rect">
            <a:avLst/>
          </a:prstGeom>
          <a:noFill/>
          <a:ln/>
        </p:spPr>
        <p:txBody>
          <a:bodyPr wrap="square" lIns="0" tIns="0" rIns="0" bIns="0" rtlCol="0" anchor="ctr"/>
          <a:lstStyle/>
          <a:p>
            <a:pPr algn="ctr" indent="0" marL="0">
              <a:buNone/>
            </a:pPr>
            <a:r>
              <a:rPr lang="en-US" sz="660" b="1" dirty="0">
                <a:solidFill>
                  <a:srgbClr val="16325C"/>
                </a:solidFill>
                <a:latin typeface="Calibri" pitchFamily="34" charset="0"/>
                <a:ea typeface="Calibri" pitchFamily="34" charset="-122"/>
                <a:cs typeface="Calibri" pitchFamily="34" charset="-120"/>
              </a:rPr>
              <a:t>~6,800 lines</a:t>
            </a:r>
            <a:endParaRPr lang="en-US" sz="660" dirty="0"/>
          </a:p>
        </p:txBody>
      </p:sp>
      <p:sp>
        <p:nvSpPr>
          <p:cNvPr id="78" name="Text 76"/>
          <p:cNvSpPr/>
          <p:nvPr/>
        </p:nvSpPr>
        <p:spPr>
          <a:xfrm>
            <a:off x="8476488" y="1618488"/>
            <a:ext cx="3145536" cy="557784"/>
          </a:xfrm>
          <a:prstGeom prst="rect">
            <a:avLst/>
          </a:prstGeom>
          <a:noFill/>
          <a:ln/>
        </p:spPr>
        <p:txBody>
          <a:bodyPr wrap="square" lIns="0" tIns="0" rIns="0" bIns="0" rtlCol="0" anchor="t"/>
          <a:lstStyle/>
          <a:p>
            <a:pPr indent="0" marL="0">
              <a:buNone/>
            </a:pPr>
            <a:r>
              <a:rPr lang="en-US" sz="730" dirty="0">
                <a:solidFill>
                  <a:srgbClr val="3A4356"/>
                </a:solidFill>
                <a:latin typeface="Calibri" pitchFamily="34" charset="0"/>
                <a:ea typeface="Calibri" pitchFamily="34" charset="-122"/>
                <a:cs typeface="Calibri" pitchFamily="34" charset="-120"/>
              </a:rPr>
              <a:t>NOT a database — plain TypeScript data modules under version control, so every rate change is a reviewable diff. Materials, machines, labour, overhead and 20 manufacturing regions, each row carrying its source note and confidence.</a:t>
            </a:r>
            <a:endParaRPr lang="en-US" sz="730" dirty="0"/>
          </a:p>
        </p:txBody>
      </p:sp>
      <p:sp>
        <p:nvSpPr>
          <p:cNvPr id="79" name="Shape 77"/>
          <p:cNvSpPr/>
          <p:nvPr/>
        </p:nvSpPr>
        <p:spPr>
          <a:xfrm>
            <a:off x="8439912" y="2189988"/>
            <a:ext cx="3218688" cy="182880"/>
          </a:xfrm>
          <a:prstGeom prst="roundRect">
            <a:avLst>
              <a:gd name="adj" fmla="val 20000"/>
            </a:avLst>
          </a:prstGeom>
          <a:solidFill>
            <a:srgbClr val="EAF6EF"/>
          </a:solidFill>
          <a:ln/>
        </p:spPr>
      </p:sp>
      <p:sp>
        <p:nvSpPr>
          <p:cNvPr id="80" name="Text 78"/>
          <p:cNvSpPr/>
          <p:nvPr/>
        </p:nvSpPr>
        <p:spPr>
          <a:xfrm>
            <a:off x="8513064" y="2189988"/>
            <a:ext cx="3072384" cy="182880"/>
          </a:xfrm>
          <a:prstGeom prst="rect">
            <a:avLst/>
          </a:prstGeom>
          <a:noFill/>
          <a:ln/>
        </p:spPr>
        <p:txBody>
          <a:bodyPr wrap="square" lIns="0" tIns="0" rIns="0" bIns="0" rtlCol="0" anchor="ctr"/>
          <a:lstStyle/>
          <a:p>
            <a:pPr indent="0" marL="0">
              <a:buNone/>
            </a:pPr>
            <a:r>
              <a:rPr lang="en-US" sz="680" b="1" dirty="0">
                <a:solidFill>
                  <a:srgbClr val="2E8B57"/>
                </a:solidFill>
                <a:latin typeface="Calibri" pitchFamily="34" charset="0"/>
                <a:ea typeface="Calibri" pitchFamily="34" charset="-122"/>
                <a:cs typeface="Calibri" pitchFamily="34" charset="-120"/>
              </a:rPr>
              <a:t>OFFLINE · ships with the app</a:t>
            </a:r>
            <a:endParaRPr lang="en-US" sz="680" dirty="0"/>
          </a:p>
        </p:txBody>
      </p:sp>
      <p:sp>
        <p:nvSpPr>
          <p:cNvPr id="81" name="Shape 79"/>
          <p:cNvSpPr/>
          <p:nvPr/>
        </p:nvSpPr>
        <p:spPr>
          <a:xfrm>
            <a:off x="8366760" y="2487168"/>
            <a:ext cx="3364992" cy="1280160"/>
          </a:xfrm>
          <a:prstGeom prst="roundRect">
            <a:avLst>
              <a:gd name="adj" fmla="val 5714"/>
            </a:avLst>
          </a:prstGeom>
          <a:solidFill>
            <a:srgbClr val="FFFFFF"/>
          </a:solidFill>
          <a:ln w="15875">
            <a:solidFill>
              <a:srgbClr val="0E8074"/>
            </a:solidFill>
            <a:prstDash val="solid"/>
          </a:ln>
        </p:spPr>
      </p:sp>
      <p:sp>
        <p:nvSpPr>
          <p:cNvPr id="82" name="Shape 80"/>
          <p:cNvSpPr/>
          <p:nvPr/>
        </p:nvSpPr>
        <p:spPr>
          <a:xfrm>
            <a:off x="8366760" y="2487168"/>
            <a:ext cx="3364992" cy="237744"/>
          </a:xfrm>
          <a:prstGeom prst="roundRect">
            <a:avLst>
              <a:gd name="adj" fmla="val 30769"/>
            </a:avLst>
          </a:prstGeom>
          <a:solidFill>
            <a:srgbClr val="0E8074"/>
          </a:solidFill>
          <a:ln/>
        </p:spPr>
      </p:sp>
      <p:sp>
        <p:nvSpPr>
          <p:cNvPr id="83" name="Shape 81"/>
          <p:cNvSpPr/>
          <p:nvPr/>
        </p:nvSpPr>
        <p:spPr>
          <a:xfrm>
            <a:off x="8366760" y="2633472"/>
            <a:ext cx="3364992" cy="91440"/>
          </a:xfrm>
          <a:prstGeom prst="rect">
            <a:avLst/>
          </a:prstGeom>
          <a:solidFill>
            <a:srgbClr val="0E8074"/>
          </a:solidFill>
          <a:ln/>
        </p:spPr>
      </p:sp>
      <p:sp>
        <p:nvSpPr>
          <p:cNvPr id="84" name="Text 82"/>
          <p:cNvSpPr/>
          <p:nvPr/>
        </p:nvSpPr>
        <p:spPr>
          <a:xfrm>
            <a:off x="8476488" y="2487168"/>
            <a:ext cx="3145536" cy="237744"/>
          </a:xfrm>
          <a:prstGeom prst="rect">
            <a:avLst/>
          </a:prstGeom>
          <a:noFill/>
          <a:ln/>
        </p:spPr>
        <p:txBody>
          <a:bodyPr wrap="square" lIns="0" tIns="0" rIns="0" bIns="0" rtlCol="0" anchor="ctr"/>
          <a:lstStyle/>
          <a:p>
            <a:pPr indent="0" marL="0">
              <a:buNone/>
            </a:pPr>
            <a:r>
              <a:rPr lang="en-US" sz="860" b="1" dirty="0">
                <a:solidFill>
                  <a:srgbClr val="FFFFFF"/>
                </a:solidFill>
                <a:latin typeface="Calibri" pitchFamily="34" charset="0"/>
                <a:ea typeface="Calibri" pitchFamily="34" charset="-122"/>
                <a:cs typeface="Calibri" pitchFamily="34" charset="-120"/>
              </a:rPr>
              <a:t>Local database</a:t>
            </a:r>
            <a:endParaRPr lang="en-US" sz="860" dirty="0"/>
          </a:p>
        </p:txBody>
      </p:sp>
      <p:sp>
        <p:nvSpPr>
          <p:cNvPr id="85" name="Shape 83"/>
          <p:cNvSpPr/>
          <p:nvPr/>
        </p:nvSpPr>
        <p:spPr>
          <a:xfrm>
            <a:off x="8476488" y="2770632"/>
            <a:ext cx="841248" cy="164592"/>
          </a:xfrm>
          <a:prstGeom prst="roundRect">
            <a:avLst>
              <a:gd name="adj" fmla="val 22222"/>
            </a:avLst>
          </a:prstGeom>
          <a:solidFill>
            <a:srgbClr val="0E8074"/>
          </a:solidFill>
          <a:ln/>
        </p:spPr>
      </p:sp>
      <p:sp>
        <p:nvSpPr>
          <p:cNvPr id="86" name="Text 84"/>
          <p:cNvSpPr/>
          <p:nvPr/>
        </p:nvSpPr>
        <p:spPr>
          <a:xfrm>
            <a:off x="8476488" y="2770632"/>
            <a:ext cx="841248" cy="164592"/>
          </a:xfrm>
          <a:prstGeom prst="rect">
            <a:avLst/>
          </a:prstGeom>
          <a:noFill/>
          <a:ln/>
        </p:spPr>
        <p:txBody>
          <a:bodyPr wrap="square" lIns="0" tIns="0" rIns="0" bIns="0" rtlCol="0" anchor="ctr"/>
          <a:lstStyle/>
          <a:p>
            <a:pPr algn="ctr" indent="0" marL="0">
              <a:buNone/>
            </a:pPr>
            <a:r>
              <a:rPr lang="en-US" sz="660" b="1" dirty="0">
                <a:solidFill>
                  <a:srgbClr val="FFFFFF"/>
                </a:solidFill>
                <a:latin typeface="Calibri" pitchFamily="34" charset="0"/>
                <a:ea typeface="Calibri" pitchFamily="34" charset="-122"/>
                <a:cs typeface="Calibri" pitchFamily="34" charset="-120"/>
              </a:rPr>
              <a:t>TS + SQLite</a:t>
            </a:r>
            <a:endParaRPr lang="en-US" sz="660" dirty="0"/>
          </a:p>
        </p:txBody>
      </p:sp>
      <p:sp>
        <p:nvSpPr>
          <p:cNvPr id="87" name="Shape 85"/>
          <p:cNvSpPr/>
          <p:nvPr/>
        </p:nvSpPr>
        <p:spPr>
          <a:xfrm>
            <a:off x="9363456" y="2770632"/>
            <a:ext cx="1170432" cy="164592"/>
          </a:xfrm>
          <a:prstGeom prst="roundRect">
            <a:avLst>
              <a:gd name="adj" fmla="val 22222"/>
            </a:avLst>
          </a:prstGeom>
          <a:solidFill>
            <a:srgbClr val="E8EDF6"/>
          </a:solidFill>
          <a:ln/>
        </p:spPr>
      </p:sp>
      <p:sp>
        <p:nvSpPr>
          <p:cNvPr id="88" name="Text 86"/>
          <p:cNvSpPr/>
          <p:nvPr/>
        </p:nvSpPr>
        <p:spPr>
          <a:xfrm>
            <a:off x="9363456" y="2770632"/>
            <a:ext cx="1170432" cy="164592"/>
          </a:xfrm>
          <a:prstGeom prst="rect">
            <a:avLst/>
          </a:prstGeom>
          <a:noFill/>
          <a:ln/>
        </p:spPr>
        <p:txBody>
          <a:bodyPr wrap="square" lIns="0" tIns="0" rIns="0" bIns="0" rtlCol="0" anchor="ctr"/>
          <a:lstStyle/>
          <a:p>
            <a:pPr algn="ctr" indent="0" marL="0">
              <a:buNone/>
            </a:pPr>
            <a:r>
              <a:rPr lang="en-US" sz="660" b="1" dirty="0">
                <a:solidFill>
                  <a:srgbClr val="16325C"/>
                </a:solidFill>
                <a:latin typeface="Calibri" pitchFamily="34" charset="0"/>
                <a:ea typeface="Calibri" pitchFamily="34" charset="-122"/>
                <a:cs typeface="Calibri" pitchFamily="34" charset="-120"/>
              </a:rPr>
              <a:t>14,215 lines (server)</a:t>
            </a:r>
            <a:endParaRPr lang="en-US" sz="660" dirty="0"/>
          </a:p>
        </p:txBody>
      </p:sp>
      <p:sp>
        <p:nvSpPr>
          <p:cNvPr id="89" name="Text 87"/>
          <p:cNvSpPr/>
          <p:nvPr/>
        </p:nvSpPr>
        <p:spPr>
          <a:xfrm>
            <a:off x="8476488" y="2971800"/>
            <a:ext cx="3145536" cy="557784"/>
          </a:xfrm>
          <a:prstGeom prst="rect">
            <a:avLst/>
          </a:prstGeom>
          <a:noFill/>
          <a:ln/>
        </p:spPr>
        <p:txBody>
          <a:bodyPr wrap="square" lIns="0" tIns="0" rIns="0" bIns="0" rtlCol="0" anchor="t"/>
          <a:lstStyle/>
          <a:p>
            <a:pPr indent="0" marL="0">
              <a:buNone/>
            </a:pPr>
            <a:r>
              <a:rPr lang="en-US" sz="730" dirty="0">
                <a:solidFill>
                  <a:srgbClr val="3A4356"/>
                </a:solidFill>
                <a:latin typeface="Calibri" pitchFamily="34" charset="0"/>
                <a:ea typeface="Calibri" pitchFamily="34" charset="-122"/>
                <a:cs typeface="Calibri" pitchFamily="34" charset="-120"/>
              </a:rPr>
              <a:t>better-sqlite3 — one file on your own server, no cloud. Holds parts, saved costings, quotes and logged actuals; the actuals feed the calibration layer. Express + JWT auth, rate-limited, helmet-hardened.</a:t>
            </a:r>
            <a:endParaRPr lang="en-US" sz="730" dirty="0"/>
          </a:p>
        </p:txBody>
      </p:sp>
      <p:sp>
        <p:nvSpPr>
          <p:cNvPr id="90" name="Shape 88"/>
          <p:cNvSpPr/>
          <p:nvPr/>
        </p:nvSpPr>
        <p:spPr>
          <a:xfrm>
            <a:off x="8439912" y="3543300"/>
            <a:ext cx="3218688" cy="182880"/>
          </a:xfrm>
          <a:prstGeom prst="roundRect">
            <a:avLst>
              <a:gd name="adj" fmla="val 20000"/>
            </a:avLst>
          </a:prstGeom>
          <a:solidFill>
            <a:srgbClr val="EAF6EF"/>
          </a:solidFill>
          <a:ln/>
        </p:spPr>
      </p:sp>
      <p:sp>
        <p:nvSpPr>
          <p:cNvPr id="91" name="Text 89"/>
          <p:cNvSpPr/>
          <p:nvPr/>
        </p:nvSpPr>
        <p:spPr>
          <a:xfrm>
            <a:off x="8513064" y="3543300"/>
            <a:ext cx="3072384" cy="182880"/>
          </a:xfrm>
          <a:prstGeom prst="rect">
            <a:avLst/>
          </a:prstGeom>
          <a:noFill/>
          <a:ln/>
        </p:spPr>
        <p:txBody>
          <a:bodyPr wrap="square" lIns="0" tIns="0" rIns="0" bIns="0" rtlCol="0" anchor="ctr"/>
          <a:lstStyle/>
          <a:p>
            <a:pPr indent="0" marL="0">
              <a:buNone/>
            </a:pPr>
            <a:r>
              <a:rPr lang="en-US" sz="680" b="1" dirty="0">
                <a:solidFill>
                  <a:srgbClr val="2E8B57"/>
                </a:solidFill>
                <a:latin typeface="Calibri" pitchFamily="34" charset="0"/>
                <a:ea typeface="Calibri" pitchFamily="34" charset="-122"/>
                <a:cs typeface="Calibri" pitchFamily="34" charset="-120"/>
              </a:rPr>
              <a:t>LOCALHOST ONLY · free (MIT)</a:t>
            </a:r>
            <a:endParaRPr lang="en-US" sz="680" dirty="0"/>
          </a:p>
        </p:txBody>
      </p:sp>
      <p:sp>
        <p:nvSpPr>
          <p:cNvPr id="92" name="Shape 90"/>
          <p:cNvSpPr/>
          <p:nvPr/>
        </p:nvSpPr>
        <p:spPr>
          <a:xfrm>
            <a:off x="8366760" y="3840480"/>
            <a:ext cx="3364992" cy="1280160"/>
          </a:xfrm>
          <a:prstGeom prst="roundRect">
            <a:avLst>
              <a:gd name="adj" fmla="val 5714"/>
            </a:avLst>
          </a:prstGeom>
          <a:solidFill>
            <a:srgbClr val="FFFFFF"/>
          </a:solidFill>
          <a:ln w="15875">
            <a:solidFill>
              <a:srgbClr val="2E8B57"/>
            </a:solidFill>
            <a:prstDash val="solid"/>
          </a:ln>
        </p:spPr>
      </p:sp>
      <p:sp>
        <p:nvSpPr>
          <p:cNvPr id="93" name="Shape 91"/>
          <p:cNvSpPr/>
          <p:nvPr/>
        </p:nvSpPr>
        <p:spPr>
          <a:xfrm>
            <a:off x="8366760" y="3840480"/>
            <a:ext cx="3364992" cy="237744"/>
          </a:xfrm>
          <a:prstGeom prst="roundRect">
            <a:avLst>
              <a:gd name="adj" fmla="val 30769"/>
            </a:avLst>
          </a:prstGeom>
          <a:solidFill>
            <a:srgbClr val="2E8B57"/>
          </a:solidFill>
          <a:ln/>
        </p:spPr>
      </p:sp>
      <p:sp>
        <p:nvSpPr>
          <p:cNvPr id="94" name="Shape 92"/>
          <p:cNvSpPr/>
          <p:nvPr/>
        </p:nvSpPr>
        <p:spPr>
          <a:xfrm>
            <a:off x="8366760" y="3986784"/>
            <a:ext cx="3364992" cy="91440"/>
          </a:xfrm>
          <a:prstGeom prst="rect">
            <a:avLst/>
          </a:prstGeom>
          <a:solidFill>
            <a:srgbClr val="2E8B57"/>
          </a:solidFill>
          <a:ln/>
        </p:spPr>
      </p:sp>
      <p:sp>
        <p:nvSpPr>
          <p:cNvPr id="95" name="Text 93"/>
          <p:cNvSpPr/>
          <p:nvPr/>
        </p:nvSpPr>
        <p:spPr>
          <a:xfrm>
            <a:off x="8476488" y="3840480"/>
            <a:ext cx="3145536" cy="237744"/>
          </a:xfrm>
          <a:prstGeom prst="rect">
            <a:avLst/>
          </a:prstGeom>
          <a:noFill/>
          <a:ln/>
        </p:spPr>
        <p:txBody>
          <a:bodyPr wrap="square" lIns="0" tIns="0" rIns="0" bIns="0" rtlCol="0" anchor="ctr"/>
          <a:lstStyle/>
          <a:p>
            <a:pPr indent="0" marL="0">
              <a:buNone/>
            </a:pPr>
            <a:r>
              <a:rPr lang="en-US" sz="860" b="1" dirty="0">
                <a:solidFill>
                  <a:srgbClr val="FFFFFF"/>
                </a:solidFill>
                <a:latin typeface="Calibri" pitchFamily="34" charset="0"/>
                <a:ea typeface="Calibri" pitchFamily="34" charset="-122"/>
                <a:cs typeface="Calibri" pitchFamily="34" charset="-120"/>
              </a:rPr>
              <a:t>Outputs</a:t>
            </a:r>
            <a:endParaRPr lang="en-US" sz="860" dirty="0"/>
          </a:p>
        </p:txBody>
      </p:sp>
      <p:sp>
        <p:nvSpPr>
          <p:cNvPr id="96" name="Shape 94"/>
          <p:cNvSpPr/>
          <p:nvPr/>
        </p:nvSpPr>
        <p:spPr>
          <a:xfrm>
            <a:off x="8476488" y="4123944"/>
            <a:ext cx="841248" cy="164592"/>
          </a:xfrm>
          <a:prstGeom prst="roundRect">
            <a:avLst>
              <a:gd name="adj" fmla="val 22222"/>
            </a:avLst>
          </a:prstGeom>
          <a:solidFill>
            <a:srgbClr val="1D6FB8"/>
          </a:solidFill>
          <a:ln/>
        </p:spPr>
      </p:sp>
      <p:sp>
        <p:nvSpPr>
          <p:cNvPr id="97" name="Text 95"/>
          <p:cNvSpPr/>
          <p:nvPr/>
        </p:nvSpPr>
        <p:spPr>
          <a:xfrm>
            <a:off x="8476488" y="4123944"/>
            <a:ext cx="841248" cy="164592"/>
          </a:xfrm>
          <a:prstGeom prst="rect">
            <a:avLst/>
          </a:prstGeom>
          <a:noFill/>
          <a:ln/>
        </p:spPr>
        <p:txBody>
          <a:bodyPr wrap="square" lIns="0" tIns="0" rIns="0" bIns="0" rtlCol="0" anchor="ctr"/>
          <a:lstStyle/>
          <a:p>
            <a:pPr algn="ctr" indent="0" marL="0">
              <a:buNone/>
            </a:pPr>
            <a:r>
              <a:rPr lang="en-US" sz="660" b="1" dirty="0">
                <a:solidFill>
                  <a:srgbClr val="FFFFFF"/>
                </a:solidFill>
                <a:latin typeface="Calibri" pitchFamily="34" charset="0"/>
                <a:ea typeface="Calibri" pitchFamily="34" charset="-122"/>
                <a:cs typeface="Calibri" pitchFamily="34" charset="-120"/>
              </a:rPr>
              <a:t>TypeScript</a:t>
            </a:r>
            <a:endParaRPr lang="en-US" sz="660" dirty="0"/>
          </a:p>
        </p:txBody>
      </p:sp>
      <p:sp>
        <p:nvSpPr>
          <p:cNvPr id="98" name="Shape 96"/>
          <p:cNvSpPr/>
          <p:nvPr/>
        </p:nvSpPr>
        <p:spPr>
          <a:xfrm>
            <a:off x="9363456" y="4123944"/>
            <a:ext cx="1170432" cy="164592"/>
          </a:xfrm>
          <a:prstGeom prst="roundRect">
            <a:avLst>
              <a:gd name="adj" fmla="val 22222"/>
            </a:avLst>
          </a:prstGeom>
          <a:solidFill>
            <a:srgbClr val="E8EDF6"/>
          </a:solidFill>
          <a:ln/>
        </p:spPr>
      </p:sp>
      <p:sp>
        <p:nvSpPr>
          <p:cNvPr id="99" name="Text 97"/>
          <p:cNvSpPr/>
          <p:nvPr/>
        </p:nvSpPr>
        <p:spPr>
          <a:xfrm>
            <a:off x="9363456" y="4123944"/>
            <a:ext cx="1170432" cy="164592"/>
          </a:xfrm>
          <a:prstGeom prst="rect">
            <a:avLst/>
          </a:prstGeom>
          <a:noFill/>
          <a:ln/>
        </p:spPr>
        <p:txBody>
          <a:bodyPr wrap="square" lIns="0" tIns="0" rIns="0" bIns="0" rtlCol="0" anchor="ctr"/>
          <a:lstStyle/>
          <a:p>
            <a:pPr algn="ctr" indent="0" marL="0">
              <a:buNone/>
            </a:pPr>
            <a:r>
              <a:rPr lang="en-US" sz="660" b="1" dirty="0">
                <a:solidFill>
                  <a:srgbClr val="16325C"/>
                </a:solidFill>
                <a:latin typeface="Calibri" pitchFamily="34" charset="0"/>
                <a:ea typeface="Calibri" pitchFamily="34" charset="-122"/>
                <a:cs typeface="Calibri" pitchFamily="34" charset="-120"/>
              </a:rPr>
              <a:t>2,960 lines</a:t>
            </a:r>
            <a:endParaRPr lang="en-US" sz="660" dirty="0"/>
          </a:p>
        </p:txBody>
      </p:sp>
      <p:sp>
        <p:nvSpPr>
          <p:cNvPr id="100" name="Text 98"/>
          <p:cNvSpPr/>
          <p:nvPr/>
        </p:nvSpPr>
        <p:spPr>
          <a:xfrm>
            <a:off x="8476488" y="4325112"/>
            <a:ext cx="3145536" cy="557784"/>
          </a:xfrm>
          <a:prstGeom prst="rect">
            <a:avLst/>
          </a:prstGeom>
          <a:noFill/>
          <a:ln/>
        </p:spPr>
        <p:txBody>
          <a:bodyPr wrap="square" lIns="0" tIns="0" rIns="0" bIns="0" rtlCol="0" anchor="t"/>
          <a:lstStyle/>
          <a:p>
            <a:pPr indent="0" marL="0">
              <a:buNone/>
            </a:pPr>
            <a:r>
              <a:rPr lang="en-US" sz="730" dirty="0">
                <a:solidFill>
                  <a:srgbClr val="3A4356"/>
                </a:solidFill>
                <a:latin typeface="Calibri" pitchFamily="34" charset="0"/>
                <a:ea typeface="Calibri" pitchFamily="34" charset="-122"/>
                <a:cs typeface="Calibri" pitchFamily="34" charset="-120"/>
              </a:rPr>
              <a:t>The SPA is Vite + TypeScript with no UI framework. Reports are generated client-side: jsPDF + autoTable for the PDF, SheetJS for Excel, pptxgenjs for PowerPoint, Chart.js for charts. Exports reuse engine results — they never recompute cost.</a:t>
            </a:r>
            <a:endParaRPr lang="en-US" sz="730" dirty="0"/>
          </a:p>
        </p:txBody>
      </p:sp>
      <p:sp>
        <p:nvSpPr>
          <p:cNvPr id="101" name="Shape 99"/>
          <p:cNvSpPr/>
          <p:nvPr/>
        </p:nvSpPr>
        <p:spPr>
          <a:xfrm>
            <a:off x="8439912" y="4896612"/>
            <a:ext cx="3218688" cy="182880"/>
          </a:xfrm>
          <a:prstGeom prst="roundRect">
            <a:avLst>
              <a:gd name="adj" fmla="val 20000"/>
            </a:avLst>
          </a:prstGeom>
          <a:solidFill>
            <a:srgbClr val="EAF6EF"/>
          </a:solidFill>
          <a:ln/>
        </p:spPr>
      </p:sp>
      <p:sp>
        <p:nvSpPr>
          <p:cNvPr id="102" name="Text 100"/>
          <p:cNvSpPr/>
          <p:nvPr/>
        </p:nvSpPr>
        <p:spPr>
          <a:xfrm>
            <a:off x="8513064" y="4896612"/>
            <a:ext cx="3072384" cy="182880"/>
          </a:xfrm>
          <a:prstGeom prst="rect">
            <a:avLst/>
          </a:prstGeom>
          <a:noFill/>
          <a:ln/>
        </p:spPr>
        <p:txBody>
          <a:bodyPr wrap="square" lIns="0" tIns="0" rIns="0" bIns="0" rtlCol="0" anchor="ctr"/>
          <a:lstStyle/>
          <a:p>
            <a:pPr indent="0" marL="0">
              <a:buNone/>
            </a:pPr>
            <a:r>
              <a:rPr lang="en-US" sz="680" b="1" dirty="0">
                <a:solidFill>
                  <a:srgbClr val="2E8B57"/>
                </a:solidFill>
                <a:latin typeface="Calibri" pitchFamily="34" charset="0"/>
                <a:ea typeface="Calibri" pitchFamily="34" charset="-122"/>
                <a:cs typeface="Calibri" pitchFamily="34" charset="-120"/>
              </a:rPr>
              <a:t>OFFLINE · free (MIT / Apache-2.0)</a:t>
            </a:r>
            <a:endParaRPr lang="en-US" sz="680" dirty="0"/>
          </a:p>
        </p:txBody>
      </p:sp>
      <p:sp>
        <p:nvSpPr>
          <p:cNvPr id="103" name="Text 101"/>
          <p:cNvSpPr/>
          <p:nvPr/>
        </p:nvSpPr>
        <p:spPr>
          <a:xfrm>
            <a:off x="457200" y="5230368"/>
            <a:ext cx="3840480" cy="164592"/>
          </a:xfrm>
          <a:prstGeom prst="rect">
            <a:avLst/>
          </a:prstGeom>
          <a:noFill/>
          <a:ln/>
        </p:spPr>
        <p:txBody>
          <a:bodyPr wrap="square" lIns="0" tIns="0" rIns="0" bIns="0" rtlCol="0" anchor="ctr"/>
          <a:lstStyle/>
          <a:p>
            <a:pPr indent="0" marL="0">
              <a:buNone/>
            </a:pPr>
            <a:r>
              <a:rPr lang="en-US" sz="760" b="1" spc="50" kern="0" dirty="0">
                <a:solidFill>
                  <a:srgbClr val="16325C"/>
                </a:solidFill>
                <a:latin typeface="Calibri" pitchFamily="34" charset="0"/>
                <a:ea typeface="Calibri" pitchFamily="34" charset="-122"/>
                <a:cs typeface="Calibri" pitchFamily="34" charset="-120"/>
              </a:rPr>
              <a:t>CODE SIZE BY LAYER — LINES</a:t>
            </a:r>
            <a:endParaRPr lang="en-US" sz="760" dirty="0"/>
          </a:p>
        </p:txBody>
      </p:sp>
      <p:graphicFrame>
        <p:nvGraphicFramePr>
          <p:cNvPr id="104" name="Chart 0" descr=""/>
          <p:cNvGraphicFramePr/>
          <p:nvPr/>
        </p:nvGraphicFramePr>
        <p:xfrm>
          <a:off x="384048" y="5376672"/>
          <a:ext cx="3977640" cy="969264"/>
        </p:xfrm>
        <a:graphic xmlns:a="http://schemas.openxmlformats.org/drawingml/2006/main">
          <a:graphicData uri="http://schemas.openxmlformats.org/drawingml/2006/chart">
            <c:chart xmlns:c="http://schemas.openxmlformats.org/drawingml/2006/chart" r:id="rId1"/>
          </a:graphicData>
        </a:graphic>
      </p:graphicFrame>
      <p:sp>
        <p:nvSpPr>
          <p:cNvPr id="105" name="Shape 102"/>
          <p:cNvSpPr/>
          <p:nvPr/>
        </p:nvSpPr>
        <p:spPr>
          <a:xfrm>
            <a:off x="4526280" y="5230368"/>
            <a:ext cx="7205472" cy="1115568"/>
          </a:xfrm>
          <a:prstGeom prst="roundRect">
            <a:avLst>
              <a:gd name="adj" fmla="val 7377"/>
            </a:avLst>
          </a:prstGeom>
          <a:solidFill>
            <a:srgbClr val="FFFFFF"/>
          </a:solidFill>
          <a:ln w="19050">
            <a:solidFill>
              <a:srgbClr val="16325C"/>
            </a:solidFill>
            <a:prstDash val="solid"/>
          </a:ln>
        </p:spPr>
      </p:sp>
      <p:sp>
        <p:nvSpPr>
          <p:cNvPr id="106" name="Text 103"/>
          <p:cNvSpPr/>
          <p:nvPr/>
        </p:nvSpPr>
        <p:spPr>
          <a:xfrm>
            <a:off x="4681728" y="5285232"/>
            <a:ext cx="685800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“DOES IT CALL OUT ANYWHERE?” — THE COMPLETE ANSWER</a:t>
            </a:r>
            <a:endParaRPr lang="en-US" sz="780" dirty="0"/>
          </a:p>
        </p:txBody>
      </p:sp>
      <p:sp>
        <p:nvSpPr>
          <p:cNvPr id="107" name="Shape 104"/>
          <p:cNvSpPr/>
          <p:nvPr/>
        </p:nvSpPr>
        <p:spPr>
          <a:xfrm>
            <a:off x="4700016" y="5545836"/>
            <a:ext cx="82296" cy="82296"/>
          </a:xfrm>
          <a:prstGeom prst="ellipse">
            <a:avLst/>
          </a:prstGeom>
          <a:solidFill>
            <a:srgbClr val="2E8B57"/>
          </a:solidFill>
          <a:ln/>
        </p:spPr>
      </p:sp>
      <p:sp>
        <p:nvSpPr>
          <p:cNvPr id="108" name="Text 105"/>
          <p:cNvSpPr/>
          <p:nvPr/>
        </p:nvSpPr>
        <p:spPr>
          <a:xfrm>
            <a:off x="4864608" y="5486400"/>
            <a:ext cx="1371600" cy="201168"/>
          </a:xfrm>
          <a:prstGeom prst="rect">
            <a:avLst/>
          </a:prstGeom>
          <a:noFill/>
          <a:ln/>
        </p:spPr>
        <p:txBody>
          <a:bodyPr wrap="square" lIns="0" tIns="0" rIns="0" bIns="0" rtlCol="0" anchor="ctr"/>
          <a:lstStyle/>
          <a:p>
            <a:pPr indent="0" marL="0">
              <a:buNone/>
            </a:pPr>
            <a:r>
              <a:rPr lang="en-US" sz="730" b="1" dirty="0">
                <a:solidFill>
                  <a:srgbClr val="2E8B57"/>
                </a:solidFill>
                <a:latin typeface="Calibri" pitchFamily="34" charset="0"/>
                <a:ea typeface="Calibri" pitchFamily="34" charset="-122"/>
                <a:cs typeface="Calibri" pitchFamily="34" charset="-120"/>
              </a:rPr>
              <a:t>The costing path</a:t>
            </a:r>
            <a:endParaRPr lang="en-US" sz="730" dirty="0"/>
          </a:p>
        </p:txBody>
      </p:sp>
      <p:sp>
        <p:nvSpPr>
          <p:cNvPr id="109" name="Text 106"/>
          <p:cNvSpPr/>
          <p:nvPr/>
        </p:nvSpPr>
        <p:spPr>
          <a:xfrm>
            <a:off x="6272784" y="5486400"/>
            <a:ext cx="5303520" cy="201168"/>
          </a:xfrm>
          <a:prstGeom prst="rect">
            <a:avLst/>
          </a:prstGeom>
          <a:noFill/>
          <a:ln/>
        </p:spPr>
        <p:txBody>
          <a:bodyPr wrap="square" lIns="0" tIns="0" rIns="0" bIns="0" rtlCol="0" anchor="ctr"/>
          <a:lstStyle/>
          <a:p>
            <a:pPr indent="0" marL="0">
              <a:buNone/>
            </a:pPr>
            <a:r>
              <a:rPr lang="en-US" sz="720" dirty="0">
                <a:solidFill>
                  <a:srgbClr val="3A4356"/>
                </a:solidFill>
                <a:latin typeface="Calibri" pitchFamily="34" charset="0"/>
                <a:ea typeface="Calibri" pitchFamily="34" charset="-122"/>
                <a:cs typeface="Calibri" pitchFamily="34" charset="-120"/>
              </a:rPr>
              <a:t>Kernel → rules → engine → guardrails → report: ZERO network calls. Runs with the cable unplugged.</a:t>
            </a:r>
            <a:endParaRPr lang="en-US" sz="720" dirty="0"/>
          </a:p>
        </p:txBody>
      </p:sp>
      <p:sp>
        <p:nvSpPr>
          <p:cNvPr id="110" name="Shape 107"/>
          <p:cNvSpPr/>
          <p:nvPr/>
        </p:nvSpPr>
        <p:spPr>
          <a:xfrm>
            <a:off x="4700016" y="5751576"/>
            <a:ext cx="82296" cy="82296"/>
          </a:xfrm>
          <a:prstGeom prst="ellipse">
            <a:avLst/>
          </a:prstGeom>
          <a:solidFill>
            <a:srgbClr val="6B3FA0"/>
          </a:solidFill>
          <a:ln/>
        </p:spPr>
      </p:sp>
      <p:sp>
        <p:nvSpPr>
          <p:cNvPr id="111" name="Text 108"/>
          <p:cNvSpPr/>
          <p:nvPr/>
        </p:nvSpPr>
        <p:spPr>
          <a:xfrm>
            <a:off x="4864608" y="5692140"/>
            <a:ext cx="1371600" cy="201168"/>
          </a:xfrm>
          <a:prstGeom prst="rect">
            <a:avLst/>
          </a:prstGeom>
          <a:noFill/>
          <a:ln/>
        </p:spPr>
        <p:txBody>
          <a:bodyPr wrap="square" lIns="0" tIns="0" rIns="0" bIns="0" rtlCol="0" anchor="ctr"/>
          <a:lstStyle/>
          <a:p>
            <a:pPr indent="0" marL="0">
              <a:buNone/>
            </a:pPr>
            <a:r>
              <a:rPr lang="en-US" sz="730" b="1" dirty="0">
                <a:solidFill>
                  <a:srgbClr val="6B3FA0"/>
                </a:solidFill>
                <a:latin typeface="Calibri" pitchFamily="34" charset="0"/>
                <a:ea typeface="Calibri" pitchFamily="34" charset="-122"/>
                <a:cs typeface="Calibri" pitchFamily="34" charset="-120"/>
              </a:rPr>
              <a:t>AI classify (optional)</a:t>
            </a:r>
            <a:endParaRPr lang="en-US" sz="730" dirty="0"/>
          </a:p>
        </p:txBody>
      </p:sp>
      <p:sp>
        <p:nvSpPr>
          <p:cNvPr id="112" name="Text 109"/>
          <p:cNvSpPr/>
          <p:nvPr/>
        </p:nvSpPr>
        <p:spPr>
          <a:xfrm>
            <a:off x="6272784" y="5692140"/>
            <a:ext cx="5303520" cy="201168"/>
          </a:xfrm>
          <a:prstGeom prst="rect">
            <a:avLst/>
          </a:prstGeom>
          <a:noFill/>
          <a:ln/>
        </p:spPr>
        <p:txBody>
          <a:bodyPr wrap="square" lIns="0" tIns="0" rIns="0" bIns="0" rtlCol="0" anchor="ctr"/>
          <a:lstStyle/>
          <a:p>
            <a:pPr indent="0" marL="0">
              <a:buNone/>
            </a:pPr>
            <a:r>
              <a:rPr lang="en-US" sz="720" dirty="0">
                <a:solidFill>
                  <a:srgbClr val="3A4356"/>
                </a:solidFill>
                <a:latin typeface="Calibri" pitchFamily="34" charset="0"/>
                <a:ea typeface="Calibri" pitchFamily="34" charset="-122"/>
                <a:cs typeface="Calibri" pitchFamily="34" charset="-120"/>
              </a:rPr>
              <a:t>One HTTPS call to api.anthropic.com — or your own endpoint via ANTHROPIC_BASE_URL. AIR_GAPPED=1 disables it.</a:t>
            </a:r>
            <a:endParaRPr lang="en-US" sz="720" dirty="0"/>
          </a:p>
        </p:txBody>
      </p:sp>
      <p:sp>
        <p:nvSpPr>
          <p:cNvPr id="113" name="Shape 110"/>
          <p:cNvSpPr/>
          <p:nvPr/>
        </p:nvSpPr>
        <p:spPr>
          <a:xfrm>
            <a:off x="4700016" y="5957316"/>
            <a:ext cx="82296" cy="82296"/>
          </a:xfrm>
          <a:prstGeom prst="ellipse">
            <a:avLst/>
          </a:prstGeom>
          <a:solidFill>
            <a:srgbClr val="B7791F"/>
          </a:solidFill>
          <a:ln/>
        </p:spPr>
      </p:sp>
      <p:sp>
        <p:nvSpPr>
          <p:cNvPr id="114" name="Text 111"/>
          <p:cNvSpPr/>
          <p:nvPr/>
        </p:nvSpPr>
        <p:spPr>
          <a:xfrm>
            <a:off x="4864608" y="5897880"/>
            <a:ext cx="1371600" cy="201168"/>
          </a:xfrm>
          <a:prstGeom prst="rect">
            <a:avLst/>
          </a:prstGeom>
          <a:noFill/>
          <a:ln/>
        </p:spPr>
        <p:txBody>
          <a:bodyPr wrap="square" lIns="0" tIns="0" rIns="0" bIns="0" rtlCol="0" anchor="ctr"/>
          <a:lstStyle/>
          <a:p>
            <a:pPr indent="0" marL="0">
              <a:buNone/>
            </a:pPr>
            <a:r>
              <a:rPr lang="en-US" sz="730" b="1" dirty="0">
                <a:solidFill>
                  <a:srgbClr val="B7791F"/>
                </a:solidFill>
                <a:latin typeface="Calibri" pitchFamily="34" charset="0"/>
                <a:ea typeface="Calibri" pitchFamily="34" charset="-122"/>
                <a:cs typeface="Calibri" pitchFamily="34" charset="-120"/>
              </a:rPr>
              <a:t>Optional feeds</a:t>
            </a:r>
            <a:endParaRPr lang="en-US" sz="730" dirty="0"/>
          </a:p>
        </p:txBody>
      </p:sp>
      <p:sp>
        <p:nvSpPr>
          <p:cNvPr id="115" name="Text 112"/>
          <p:cNvSpPr/>
          <p:nvPr/>
        </p:nvSpPr>
        <p:spPr>
          <a:xfrm>
            <a:off x="6272784" y="5897880"/>
            <a:ext cx="5303520" cy="201168"/>
          </a:xfrm>
          <a:prstGeom prst="rect">
            <a:avLst/>
          </a:prstGeom>
          <a:noFill/>
          <a:ln/>
        </p:spPr>
        <p:txBody>
          <a:bodyPr wrap="square" lIns="0" tIns="0" rIns="0" bIns="0" rtlCol="0" anchor="ctr"/>
          <a:lstStyle/>
          <a:p>
            <a:pPr indent="0" marL="0">
              <a:buNone/>
            </a:pPr>
            <a:r>
              <a:rPr lang="en-US" sz="720" dirty="0">
                <a:solidFill>
                  <a:srgbClr val="3A4356"/>
                </a:solidFill>
                <a:latin typeface="Calibri" pitchFamily="34" charset="0"/>
                <a:ea typeface="Calibri" pitchFamily="34" charset="-122"/>
                <a:cs typeface="Calibri" pitchFamily="34" charset="-120"/>
              </a:rPr>
              <a:t>PCB component pricing, a metal-price ticker, industry news. Off by default, display-only — none can price a part.</a:t>
            </a:r>
            <a:endParaRPr lang="en-US" sz="720" dirty="0"/>
          </a:p>
        </p:txBody>
      </p:sp>
      <p:sp>
        <p:nvSpPr>
          <p:cNvPr id="116" name="Shape 113"/>
          <p:cNvSpPr/>
          <p:nvPr/>
        </p:nvSpPr>
        <p:spPr>
          <a:xfrm>
            <a:off x="4700016" y="6163056"/>
            <a:ext cx="82296" cy="82296"/>
          </a:xfrm>
          <a:prstGeom prst="ellipse">
            <a:avLst/>
          </a:prstGeom>
          <a:solidFill>
            <a:srgbClr val="2E8B57"/>
          </a:solidFill>
          <a:ln/>
        </p:spPr>
      </p:sp>
      <p:sp>
        <p:nvSpPr>
          <p:cNvPr id="117" name="Text 114"/>
          <p:cNvSpPr/>
          <p:nvPr/>
        </p:nvSpPr>
        <p:spPr>
          <a:xfrm>
            <a:off x="4864608" y="6103620"/>
            <a:ext cx="1371600" cy="201168"/>
          </a:xfrm>
          <a:prstGeom prst="rect">
            <a:avLst/>
          </a:prstGeom>
          <a:noFill/>
          <a:ln/>
        </p:spPr>
        <p:txBody>
          <a:bodyPr wrap="square" lIns="0" tIns="0" rIns="0" bIns="0" rtlCol="0" anchor="ctr"/>
          <a:lstStyle/>
          <a:p>
            <a:pPr indent="0" marL="0">
              <a:buNone/>
            </a:pPr>
            <a:r>
              <a:rPr lang="en-US" sz="730" b="1" dirty="0">
                <a:solidFill>
                  <a:srgbClr val="2E8B57"/>
                </a:solidFill>
                <a:latin typeface="Calibri" pitchFamily="34" charset="0"/>
                <a:ea typeface="Calibri" pitchFamily="34" charset="-122"/>
                <a:cs typeface="Calibri" pitchFamily="34" charset="-120"/>
              </a:rPr>
              <a:t>Everything else</a:t>
            </a:r>
            <a:endParaRPr lang="en-US" sz="730" dirty="0"/>
          </a:p>
        </p:txBody>
      </p:sp>
      <p:sp>
        <p:nvSpPr>
          <p:cNvPr id="118" name="Text 115"/>
          <p:cNvSpPr/>
          <p:nvPr/>
        </p:nvSpPr>
        <p:spPr>
          <a:xfrm>
            <a:off x="6272784" y="6103620"/>
            <a:ext cx="5303520" cy="201168"/>
          </a:xfrm>
          <a:prstGeom prst="rect">
            <a:avLst/>
          </a:prstGeom>
          <a:noFill/>
          <a:ln/>
        </p:spPr>
        <p:txBody>
          <a:bodyPr wrap="square" lIns="0" tIns="0" rIns="0" bIns="0" rtlCol="0" anchor="ctr"/>
          <a:lstStyle/>
          <a:p>
            <a:pPr indent="0" marL="0">
              <a:buNone/>
            </a:pPr>
            <a:r>
              <a:rPr lang="en-US" sz="720" dirty="0">
                <a:solidFill>
                  <a:srgbClr val="3A4356"/>
                </a:solidFill>
                <a:latin typeface="Calibri" pitchFamily="34" charset="0"/>
                <a:ea typeface="Calibri" pitchFamily="34" charset="-122"/>
                <a:cs typeface="Calibri" pitchFamily="34" charset="-120"/>
              </a:rPr>
              <a:t>localhost: Express on :3002 and one SQLite file. No telemetry, no analytics, no per-seat call-home.</a:t>
            </a:r>
            <a:endParaRPr lang="en-US" sz="720" dirty="0"/>
          </a:p>
        </p:txBody>
      </p:sp>
      <p:sp>
        <p:nvSpPr>
          <p:cNvPr id="119"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languages, licences, code size and network behaviour</a:t>
            </a:r>
            <a:endParaRPr lang="en-US" sz="850" dirty="0"/>
          </a:p>
        </p:txBody>
      </p:sp>
      <p:sp>
        <p:nvSpPr>
          <p:cNvPr id="120"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2026-08-06T11:45:28Z</dcterms:created>
  <dcterms:modified xsi:type="dcterms:W3CDTF">2026-08-06T11:45:28Z</dcterms:modified>
</cp:coreProperties>
</file>