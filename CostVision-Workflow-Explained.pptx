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5.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(expected midpoint)</c:v>
                </c:pt>
              </c:strCache>
            </c:strRef>
          </c:tx>
          <c:spPr>
            <a:solidFill>
              <a:srgbClr val="0D7D71"/>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Cast+mach</c:v>
                  </c:pt>
                  <c:pt idx="1">
                    <c:v>Machining</c:v>
                  </c:pt>
                  <c:pt idx="2">
                    <c:v>Inj. mould</c:v>
                  </c:pt>
                  <c:pt idx="3">
                    <c:v>Forging</c:v>
                  </c:pt>
                  <c:pt idx="4">
                    <c:v>Sheet metal</c:v>
                  </c:pt>
                  <c:pt idx="5">
                    <c:v>Blow mould</c:v>
                  </c:pt>
                </c:lvl>
              </c:multiLvlStrCache>
            </c:multiLvlStrRef>
          </c:cat>
          <c:val>
            <c:numRef>
              <c:f>Sheet1!$B$2:$B$7</c:f>
              <c:numCache>
                <c:formatCode>General</c:formatCode>
                <c:ptCount val="6"/>
                <c:pt idx="0">
                  <c:v>12.5</c:v>
                </c:pt>
                <c:pt idx="1">
                  <c:v>12.5</c:v>
                </c:pt>
                <c:pt idx="2">
                  <c:v>12.5</c:v>
                </c:pt>
                <c:pt idx="3">
                  <c:v>12.5</c:v>
                </c:pt>
                <c:pt idx="4">
                  <c:v>12.5</c:v>
                </c:pt>
                <c:pt idx="5">
                  <c:v>12.5</c:v>
                </c:pt>
              </c:numCache>
            </c:numRef>
          </c:val>
        </c:ser>
        <c:ser>
          <c:idx val="1"/>
          <c:order val="1"/>
          <c:tx>
            <c:strRef>
              <c:f>Sheet1!$C$1</c:f>
              <c:strCache>
                <c:ptCount val="1"/>
                <c:pt idx="0">
                  <c:v>CAPEE by hand (midpoint)</c:v>
                </c:pt>
              </c:strCache>
            </c:strRef>
          </c:tx>
          <c:spPr>
            <a:solidFill>
              <a:srgbClr val="99651A"/>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Sheet1!$A$2:$A$7</c:f>
              <c:multiLvlStrCache>
                <c:ptCount val="6"/>
                <c:lvl>
                  <c:pt idx="0">
                    <c:v>Cast+mach</c:v>
                  </c:pt>
                  <c:pt idx="1">
                    <c:v>Machining</c:v>
                  </c:pt>
                  <c:pt idx="2">
                    <c:v>Inj. mould</c:v>
                  </c:pt>
                  <c:pt idx="3">
                    <c:v>Forging</c:v>
                  </c:pt>
                  <c:pt idx="4">
                    <c:v>Sheet metal</c:v>
                  </c:pt>
                  <c:pt idx="5">
                    <c:v>Blow mould</c:v>
                  </c:pt>
                </c:lvl>
              </c:multiLvlStrCache>
            </c:multiLvlStrRef>
          </c:cat>
          <c:val>
            <c:numRef>
              <c:f>Sheet1!$C$2:$C$7</c:f>
              <c:numCache>
                <c:formatCode>General</c:formatCode>
                <c:ptCount val="6"/>
                <c:pt idx="0">
                  <c:v>270</c:v>
                </c:pt>
                <c:pt idx="1">
                  <c:v>210</c:v>
                </c:pt>
                <c:pt idx="2">
                  <c:v>210</c:v>
                </c:pt>
                <c:pt idx="3">
                  <c:v>210</c:v>
                </c:pt>
                <c:pt idx="4">
                  <c:v>150</c:v>
                </c:pt>
                <c:pt idx="5">
                  <c:v>210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86F7D"/>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19 manufacturing processes</a:t>
            </a:r>
          </a:p>
        </c:rich>
      </c:tx>
      <c:layout/>
      <c:overlay val="0"/>
    </c:title>
    <c:autoTitleDeleted val="0"/>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0D7D71"/>
              </a:solidFill>
              <a:effectLst/>
            </c:spPr>
          </c:dPt>
          <c:dPt>
            <c:idx val="1"/>
            <c:bubble3D val="0"/>
            <c:spPr>
              <a:solidFill>
                <a:srgbClr val="99651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Costed from CAD on rules (13)</c:v>
                </c:pt>
                <c:pt idx="1">
                  <c:v>Form inputs only (6)</c:v>
                </c:pt>
              </c:strCache>
            </c:strRef>
          </c:cat>
          <c:val>
            <c:numRef>
              <c:f>Sheet1!$B$2:$B$3</c:f>
              <c:numCache>
                <c:ptCount val="2"/>
                <c:pt idx="0">
                  <c:v>13</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D7D71"/>
              </a:solidFill>
              <a:effectLst/>
            </c:spPr>
          </c:dPt>
          <c:dPt>
            <c:idx val="1"/>
            <c:invertIfNegative val="0"/>
            <c:bubble3D val="0"/>
            <c:spPr>
              <a:solidFill>
                <a:srgbClr val="686F7D"/>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D7D71"/>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coming back. Last time I showed you what CostVision produces. The fair feedback was that the workflow was still a black box. People could not see who does what, or where the AI sits. So today I want to open the box. I will take one worked example, a die-cast aluminium housing, and walk it through the tool step by step: from the CAD file to a number a buyer can take into a supplier meeting. Then I will do the same on a very different part, a moulded bumper, to show the method holds. I will colour-code who owns each step, because that was the confusing bit. Blue is measuring. Purple is the optional AI. Amber is the safety checks. Teal is the cost engine doing the arithmetic. Green is the engineer. One thing to say up front. In the build we ship to JLR, the AI is switched off. JLR has no AI approval yet. The AI code is still in the product, turned off by a setting, so it could be switched on later without a rebuild. Even when it is on, it never sets a price. So the line on the screen is the one to remember. The tool measures, the engineer answers what geometry cannot decide, the engine does the sums, and a person signs it off. Everything else today is detail behind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map, because there is more here than an hour needs, and I would rather you chose than sat through all of it. Section one sets the scene. How the pieces connect, the PCB photo flow, who else sells this kind of tool, and the business case. That section ends with one decision I am asking for. The PCB photo flow uses AI, so it is switched off in the JLR build. I show it so you know what exists, not because you can use it today. Section two is the heart of the pack. One worked example, a die-cast aluminium housing, taken through all twelve stages. I show the calculation in full so you can check it with a calculator. Section three runs the same method on a bumper fascia. It is a very different part, and the money turns out to sit somewhere else. I finish that section with the new gear model. Section four is five minutes on what the tool cannot do. I would rather you heard that from me. The appendix is reference only: the full DFM and DFA rule book and the technical architecture. If we only get ten minutes, take the network picture on slide three, the business case, the one-page summary on slide thirty-two, the two findings on slide forty-two and the limits on slide forty-six. Everything else is the evidence behind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here is the whole thing on one picture. Start in the middle left. The blue box is the geometry kernel. It measures the CAD file: volume, weight, walls, holes and features. Nothing is guessed. Under it, the indigo box is the rules. They turn those measurements into cost inputs: cycle times, tooling, press size, yield. Thirteen commodities can be costed from CAD this way. Where geometry cannot decide something, such as the material family or the process route, the tool does not guess. It asks the engineer, the green box, and it will not cost the part until someone answers. The purple box at the top is the AI. In the JLR build it is switched off. The code is still there, and a setting could turn it on later without a rebuild. When it is on, it hands back words, never money, and every AI route is rate-limited per user. The PCB photo flow needs it, so at JLR that screen is hidden. On the right, the rate library is the only source of money. The engine does fixed eight-bucket arithmetic, and the uncertainty layer turns the number into a range. The dashed arrow is learning from actuals: after three real prices for a commodity, the band is corrected. The green card top left is why you can trust the picture. Same file and same answers give the same price. There are 2,438 automated tests, and six real parts are pinned in a regression baseline. What I cannot claim yet is accuracy against a price JLR actually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PCB photo flow as it stands on 1 October. It needs an API key; without one the screen is hidden and a board is costed through the PCB fabrication and PCBA forms from typed inputs. The engineer uploads photos, types the annual quantity and country, and can attach two files: the BOM, and the drill and Gerber files. The model does three things. It classifies the board, it reads the markings printed on the chips, and it writes the parts list with its guess at the board build. It is not asked for a cost, and its reply has to match a fixed form. Everything after that is plain code on your own machine. If a BOM file was attached, that is the parts list; the photo reading only fills gaps. If drill and Gerber files were attached, the size, layer count and via count are measured from them. Chip markings the model read are matched to the lines they belong to. Then every line is priced from the tool’s own tables: first the catalogue of 458 parts, each with a source and date, 77 of them read from distributor pages; then the price range for a part the tool can name; then the class table for the rest. The model’s own figure only picks a point inside the range. Every line shows where its price came from. The cost engine prices the bare board from area, layers, finish, vias, impedance and copper, and the assembly from the placements it counted in the list plus inspection and test, at the country’s rates. On an automotive board the IATF, class 3 and burn-in costs are in the headline, not in a side panel. The engineer checks the lines marked to verify: anything worth a pound or more with no quote behind it. An edit or a real quote wins over the catalogue. The screen, the PDF, the master report and the parts library all show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who else does this, so I looked properly rather than answering from memory. The first finding is that three different markets all get called automated PCBA costing. They answer different questions for different people. Camp A is EMS quoting: Luminovo and CalcuQuote. A contract manufacturer gets a BOM from a customer and needs a quick, competitive quote. It is the most automated part of the market. But they already have the BOM. They answer what shall I charge, not what should this cost. Camp B is enterprise should-cost: aPriori, Siemens, FACTON, Tset, Boothroyd Dewhurst. Buyer-side, used by cost engineering and purchasing. aPriori ships a full PCBA costing module, so treat it as a mature, direct competitor. Camp C is reverse costing: Yole SystemPlus and TechInsights. They take a real board apart by hand and sell a report. Underneath all three, everyone rents their component prices from someone like SiliconExpert or Octopart. And the amber strip: JLCPCB will give you an instant price, but it is their selling price. You cannot negotiate with another supplier’s quotation. Where do we sit? Camp B by purpose, reached from the physical board like camp C. One honest caveat for JLR: the photo route needs AI, and AI is switched off in the JLR build. So at JLR today, a board is costed from typed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and I want to be clear how much weight it carries before anyone quotes it. The scale across the top makes automation a definition, not an opinion. L0 is a manual service. L1 is software where a person keys the BOM. L2 is a BOM file in and a cost out. L3 is a photo in and a BOM and cost out. The price column is what I was asked for, and the honest answer is that almost nobody publishes. Luminovo, CalcuQuote, aPriori, Siemens, Tset and Boothroyd all sell on quotation. So the amber box is the finding, not a gap in my research. If someone shows you a typical licence cost for these tools, it is a guess. I have left those cells saying not published, and I would like to keep it that way. Two rows have real figures. Yole sells reports at list price, but the only prices I could verify are from 2017 and 2018, so treat them as order of magnitude. JLCPCB publishes everything, but it is a prototype and consumer selling price. PCB Tracer is the row that changed my view. It reads board photos into a BOM, free or nearly free. It does not cost the board, but photo to BOM is not uncontested. One caveat: vendor sites were read through a search index, not opened directly. Good enough to cite, not to quote word for word.
───────────── SOURCES (accessed 7 August 2026, via search index — direct fetch blocked by network policy) ─────────────
Luminovo — luminovo.com/pricing · luminovo.com/platform/quoting-intelligence · luminovo.com/platform/pcb-pricing · luminovo.com/faq/how-does-luminovo-pricing-work-are-prices-listed-online · luminovo.com/faq/how-much-does-luminovo-cost
CalcuQuote / Elisa IndustrIQ — calcuquote.com/quotecq · calcuquote.com/request-pricing-quote · elisaindustriq.com/calcuquote/pricing · elisaindustriq.com/resources/blog/6-bom-management-and-quoting-software-platforms-for-ems-providers-in-2026
aPriori — apriori.com/wp-content/uploads/2023/03/Manufacturing-Process-Models-for-Electronics.pdf · apriori.com/resources/video/demo-pcb-pcba/ · resources.apriori.com/vidyard-all-players/introducing-aprioris-printed-circuit-board-assembly-costing-module · g2.com/products/apriori-manufacturing-intelligence-platform/pricing · trustradius.com/products/apriori-technologies/pricing
Siemens — siemens.com/en-us/products/teamcenter/solutions/product-cost-management/ · resources.sw.siemens.com/en-US/fact-sheet-reduce-costs-and-carbon-footprint-with-teamcenter-x-product-cost-management/
Tset — tset.com/industries/electronics-and-high-tech-manufacturing · tset.com/blog/how-to-calculate-pcba-and-pcb-costs-in-product-costing-software · tset.com/videos/pcba-pcb
FACTON / costdata — costdata.de/en/blog/best-cost-engineering-software
Boothroyd Dewhurst — dfma.com/software/cost.asp · dfma.com/software/cost-modeling-software-for-manufacturing.html · dfma.com/resources/pcb-cost-estimating.asp
Yole SystemPlus — systemplus.fr/services/reverse-costing/ · yolegroup.com/about-us/reverse-costing/ · reverse-costing.com  (EUR figures: 2017–18 Yole flyers via slideshare.net/Yole_Developpement — STALE, order-of-magnitude only)
TechInsights — techinsights.com/technical-capabilities/overview/scope-of-analysis/teardown-costing · techinsights.com/reverse-engineering-subscriptions · .../component-pricing-landscape-and-analysis-subscriptions · .../automotive-teardown-subscriptions
JLCPCB — jlcpcb.com/help/article/pcb-assembly-price · jlcpcb.com/pcb-assembly · jlcpcb.com/parts/bom-tool/
PCB Tracer — pcbtracer.com · pcbtracer.com/PCB_Tracer.html · github.com/rpelorosso/pcb-tracer · hackaday.com/2026/02/23/x-ray-a-pcb-virtually/
Academic (photo→BOM is a researched problem, not only a product): arxiv.org/pdf/2307.13105 (PCB marking detection for hardware assurance) · arxiv.org/pdf/2202.08452 · arxiv.org/pdf/2301.09268 (PCBDet)
CostVision figures on the following two slides are read from our own source, not from memory: server/routes/pcb.ts (grounding block ~L1408–1432), server/utils/pcb-live-pricing.ts, server/utils/pcb-bom-grounding.ts (groundingCandidates cap = 20), server/utils/pcb-price-catalogue.ts, src/engine/modules/pcba.ts.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axes as the last slide, with us in the indigo column. I have coloured our cell green only where I can defend it, and red where I cannot. The green rows first. We start from a photo rather than a BOM. We return an answer in minutes rather than weeks. We can run air-gapped. And every BOM line carries an evidence tag: legible, partly legible or inferred. I have not seen anyone else print that. But notice the caveat I have added. The photo read needs AI, and AI is off in the JLR build. So at JLR today, the photo route is not available. The board is costed from typed inputs on the PCB forms. The component price row. Live distributor pricing is built and wired in, but it needs an API key and internet, and we do not have one. So in practice every price comes from the offline catalogue. It exists, and it is switched off. Now the red rows, which I would read first. We have never checked a PCBA estimate against a real invoice. More broadly, no estimate of any commodity has yet been compared with a price JLR paid. We measure accuracy as actuals are logged; we do not claim it up front. And maturity. Others have hundreds of customers or teardowns. We have done one board, internally. That is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one on the market, and it is the decision slide for the PCB side. Top left is what is genuinely ours, and I have kept the claim narrow. Photo to BOM exists elsewhere. Costing a PCBA from a BOM exists elsewhere. What I could not find is the two joined in one pass. That join lets a buyer cost a board when nobody will hand over the BOM. It depends on AI, which is off at JLR. Top right, four things we should say before anyone else does. PCBA accuracy is not validated against a single invoice. Distributor pricing is built and waits for a key; the catalogue prices the board meanwhile. About twenty pounds of the brake ECU is Bosch captive silicon with no market price, and no data feed fixes that. And the placement rate: the process cost on that board rests on our library’s placements per hour, and if a real line runs two or three times faster the number falls a lot. The three cards are what to do, in order of value for effort. Turn the price feed on where the network allows it. Cost one board where we already know the purchase price, and log it as an actual. And ask one EMS supplier for a real placement rate. Until then the headline stays what it is: a defensible, traceable estimate, not a priced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money comes from. Hours are not money, so I lead with the money and put the hours where they belong. Three streams. A, the negotiation floor. A should-cost turns a quote into a conversation with a number under it. Every line shows how it was worked out, so the challenge survives the meeting. As an example, on a machined bracket the tool lists about five pounds forty a part of ideas to test. Those are ideas, not savings anyone has banked. B, design-stage avoidance. The tool is quick enough to use while the design can still change. On the bumper, tooling turns out to be forty-three percent of the piece cost. You want to know that before the tool is ordered. C, capacity. I have put it third on purpose. We have not timed the tool against the manual method yet. The pilot will do that. Then the calculation, laid out as a chain so you can attack any one term. Twenty million of spend, eight percent identified, twenty percent captured, gives three hundred and twenty thousand a year. Every one of those is a planning assumption, not a tool result. Swap in our real numbers. The line to leave with is the navy strip. At a pilot cost of about twenty-five thousand, break-even is capturing one point six percent of what is identified. I am not asking you to believe twenty percent. I am asking whether one point six is plausible.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time, and I want to be careful with it, because we have not timed the tool properly yet. On the left is what a CAD should-cost would involve. Upload the file. The tool measures the part and derives the inputs. The engineer answers the handful of questions geometry cannot settle, such as the material or the process route. Then they review the range and approve it. We expect ten to fifteen minutes for a CAD part, with an engineer at the screen the whole time. That is an expectation, not a measurement. The table compares those expected times with doing the job by hand in CAPEE. One CAPEE row, casting plus machining at four to five hours, is a baseline we confirmed. The other CAPEE rows are working figures from the team, and the slide says so. The main difference is input feeding. In CAPEE every measurement is read off the CAD and typed in. Here the kernel measures the file. The green box shows how you would total the hours: the difference per part, times parts a year, summed by commodity. On an illustrative mix that comes to about sixteen hundred and fifty hours. Treat that as planning arithmetic. The pilot replaces every figure on this slide with timed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internal review with the manager, made presentable. Seven categories, taken in order. One, input feeding. In CAPEE a person reads every measurement off the CAD and types it in. Here the kernel measures the file, and the engineer only answers what geometry cannot decide. Two, machine and tonnage. CAPEE partly automates this. Here the press is sized by physics, and the machining routing and mould cavitation are chosen by cost, with the losing options printed so the choice defends itself. Three, coverage. If a should-cost takes minutes rather than hours, we can cost more parts, earlier. How many more is for the pilot to measure. Four, total hours. The formula is on the slide. Until the pilot times real runs, the answer is a planning estimate. Five, DFM and DFA. I checked this in the code: the findings come from the deterministic engine, fifty-two threshold rules and the geometry advisors. Not from AI. Six, cost-saving ideas. Same answer. The engine’s rules and optimisers produce them, each priced in pounds per part with an owner. Seven, the extras: twenty regions on every run, the confidence band, the negotiation pack, the self-audit, learning from actuals, landed cost with duty, carbon, and a Windows package that runs with no install. The honest one-liner is at the bottom. The arithmetic at the core is the same kind CAPEE does. The difference is that this tool measures, asks and explains.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what is proven, what is covered, and what it costs to run. The four figures across the top. 2,438 automated tests, plus browser tests that cost every commodity, export Excel and PDF, upload an STL and check accessibility on every run. Zero marginal cost per estimate, because with AI off there is no call to pay for; it is arithmetic on your own machine. Twenty regions priced on every run. And every cost line shows how it was worked out. The table is the honest part. The engine matches a hand calculation to under 0.01 percent on a reference machined bracket. Six real production parts, a steering knuckle, two castings, a pressed seat bracket, a machined part and a gear, are pinned in a regression baseline, so a change that moves any of them fails the build. But pinned is not the same as right. No estimate has yet been compared with a price JLR actually paid. So I quote no accuracy percentage. We measure accuracy as actuals are logged, and after three for a commodity the band is corrected by real data. The donut shows coverage: nineteen manufacturing processes, thirteen of them costed straight from CAD on rules, the rest from the form. The card shows the rate library behind it: version 2.1.0, dated sixteenth of June 2026. The amber strip is what we are not claiming. I would rather say it now than have it found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One specific, small, time-boxed decision. Approve a ninety-day pilot on forty parts. One named owner, about a third of an engineer, one laptop or virtual machine, roughly twenty-five thousand pounds one-off. No licence, no per-seat cost, and no per-estimate cost, because with AI off there is nothing to pay for per run. Nothing recurring is committed until day ninety. Scope. Forty live parts across four or five commodities we already buy, chosen with purchasing. A mix of parts already quoted and parts still in design, so we test both value streams. Out of scope: no supplier is told a number came from a tool, and an engineer owns every figure before it leaves the building. Three phases. Set up: install the Windows package, load our own rates through the Rate Converter workbook, re-run the six baseline parts, train two engineers. Run the basket, logging every quote or PO price as an actual. Then measure and decide. The criteria on the right are the part I would most like you to hold me to, and I want them agreed today. If we miss them, stopping is the right answer. The amber box lists the objections I expect, with what is already built for each. The honest one: six real parts are pinned, but none has yet been checked against a price JLR paid. The pilot is how we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part through all twelve stages. The only fair way to judge a costing tool is to watch it work on something concrete. This is a die-cast aluminium housing. It is a worked example: the inputs are the kind the kernel measures from a STEP file, and every pound you will see is real engine output from those inputs. I re-ran it against today’s engine and rate library before this session, and the figures still match. Over the next slides you will see what the kernel measures, and what the tool asks the engineer because geometry cannot decide it. Then the four automatic guards, and what happens when an input disagrees with the geometry. Then how the press is chosen by physics, where every cutting minute comes from, and the eight buckets, the country comparison, the confidence band and the sign-off. In the JLR build the AI is switched off, so wherever I mention it, I am describing an optional mode, not what you will see on your laptop. If you take one slide from this section, take the calculation slide. You can check it with a calculator while I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the sort of thing that sits on an engine or a gearbox, and that we buy in tens of thousands a year. Two point eight kilos finished. Walls about three millimetres. Two precision bores that need reaming. Sixteen holes to drill and tap. Two faces machined flat, because something bolts to them. And a projected shadow of sixteen hundred and fifty square centimetres, which will decide the press size. I want to be precise about where these numbers come from. This is a worked example. On a real STEP file, the size, the walls, the holes and the faces are what the kernel measures. The annual volume and the country are typed by the engineer, because no drawing can tell you those. The poured weight is derived from the finished weight and a casting yield. Every cost on the following slides is what the engine produces from these inputs today. We keep a script that re-runs this example and fails loudly if a rate or a module moves, so the deck cannot quietly drift away from the tool. The picture is an illustration of the part, not a photograph or a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the map of where we are going. Two point eight kilos finished, walls about three millimetres, two precision bores, sixteen holes to drill and tap, two faces to machine flat. Sixty thousand a year, and we are looking at making it in China. Underneath are the five phases. Blue, the tool measures the part. Purple, it asks the engineer what geometry cannot decide: the material family, the process route where there is a real choice, the volume and the region. In the JLR build this is always the engineer, because AI is switched off. Amber, four automatic safety checks. Teal, the engine calculates. Green, a person checks the range and signs it off. Look at the box at the bottom, because it answers the question I was asked most last time: how much of this is AI? At most one stage of twelve could ever involve it, and at JLR it is off. Three stages measure, one asks, two check, four calculate and two are review. That is deliberate. We did not build an AI tool and bolt costing onto it. We built a costing engine. The AI, when it is switched on, is a small, bounded helper that can read and classify. It never sets a price. Everything else is engineering you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engineer uploads the CAD file: STEP, IGES or STL. They also type two things no drawing can tell us: how many a year, and where we plan to make it. Those matter a lot. Volume decides how thinly the tooling is spread. Location decides which labour and machine rates apply. Stage two is measuring. The geometry kernel opens the model and measures it like a very precise digital ruler. On this part, the solid volume is about a thousand and thirty-seven cubic centimetres. It does not give one weight, because weight needs a density. So it gives a weight for each candidate material. On aluminium, that is two point eight kilos. It finds the walls, the bores, the holes and the faces to machine. One limit to know. An STL file is only a mesh of triangles. It has no feature table, so a machined STL arrives with no cycle time. The tool will not cost it until the engineer types one in. Stage three is a small check with a big effect: is the part hollow or solid? Thin walls around an enclosed space mean a casting, so the machines only finish surfaces. If the tool thought it was a solid block, it would price carving the whole shape from metal, and the answer would be roughly double. And the AI? It is not involved. At JLR it is off. The facts exist first, from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here is a proper answer. A geometry kernel is the maths engine that understands solid shapes. It is the same kind of software that sits under CATIA, SolidWorks and NX. Ours is Open CASCADE, usually called OCCT. We drive it from Python through its bindings, called OCP. The key point is that it reads real geometry, not a picture of it. A STEP file describes a cylinder as a true cylinder with a radius and an axis. A mesh file only has triangles that look round. That is why an STL gets a simpler path, with no feature table. Is it open source? Yes. OCCT is LGPL 2.1 with an exception that allows commercial use. OCP is Apache 2.0. The 3D viewer is three.js, which is MIT. In practice that means no per-seat CAD licence and no vendor who can change the terms. And no third party sees the model, because the kernel runs on the laptop or your own server. In the Windows package it ships inside the folder, with its own embedded Python. How does it measure? It integrates the solid for an exact volume. It walks every cylindrical face to build the hole table. It casts rays inside the solid to find true wall thickness. And it classifies every face, so the flats to be milled are counted. The limit: it is exact about what is in the model and silent about what is not. It cannot read a tolerance, a surface finish or a material callout unless the file carries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This used to be the AI slide. At JLR it is the engineer’s slide, because the AI is switched off. Here is what happens. The kernel has measured the part and the rules have derived what they can. Some things geometry cannot settle. What material family is it? Where more than one process could make it, which route? How many a year, and where? The tool asks those questions instead of guessing, and it will not cost the part until each one is answered. There is one routing rule worth knowing. A part with thick, sparse walls, over about six millimetres, is only offered casting, forging, cast plus machine or machining. Never sheet metal or moulding. So the question itself is already sensible. For this housing, the engineer answers: aluminium die-casting alloy, high-pressure die cast, then machined, sixty thousand a year, China. On the right is what the AI cannot do, even if it is switched on one day. It cannot set a price, change a measurement, choose the machine or cycle time, touch the rate library, override a safety check, or overrule the engineer. These are enforced in code. If it were on, it could offer a first answer to the questions, with a confidence score, as an editable pre-fill. The engineer’s entry always wins. That is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what if an input is wrong? The tool assumes it might be, and checks. Four checks ran on this part before a single pound was calculated. Check one. To sell us a two point eight kilo casting, the supplier pours four point eight three kilos. The rest runs down the feed channels and is recycled at scrap value. If you cost only the part weight, you understate the metal badly. It is the most common casting cost error, and the tool cannot make it. Check two. On a casting, the bores and holes are already cast in. The cutter takes a thin skim. So the guard caps machining time to a finishing envelope: a tenth of an hour plus nought point nought seven hours per kilo. For this part that ceiling is about eighteen minutes. Check three. A machined face can tempt a quick read towards machined from solid. The guard keeps casting as the main process, with a real die-casting alloy, because alloys have different prices per kilo. Check four is machine sizing, which gets its own slide next. The amber box is the autocorrect. When an input disagrees with the measurements, the measurements win. The tool corrects it, records what changed and why, and shows the engineer. It never carries on silently. Each guard exists because of a specific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Two questions get answered here: which process, and which machine. Hold on to one idea: every answer on this slide is a default, and the engineer can override it. First, the process. The rules test the measured shape against what each process can physically do. Three millimetre walls, a hollow shape, sixty thousand a year: that points firmly at high-pressure die casting. Sand casting cannot hold three millimetre walls at that speed. Machining from solid would cut away about eighty percent of the metal. Gravity die casting struggles to fill walls that thin. The engineer confirmed the route when asked. Second, the press. Molten aluminium under pressure tries to push the die halves apart. So the engine takes the measured shadow area, multiplies by the cavity pressure, adds a safety margin, and picks the smallest press in the library that can clamp it: sixteen hundred tonnes. The smallest press that works is also the cheapest per hour, so sizing it correctly is the cost optimisation. Third, the engineer outranks the tool wherever they have entered something. Pin the process and it stays pinned. Pick a different machine and the tool keeps it, prices its own choice alongside as a negotiation lever, and the self-audit flags a machine that is too big or too small, with the pounds per part. Enter a toolmaker quote and it overrides every tooling estimate. No AI was involved in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is the arithmetic behind the two numbers that matter most on a casting: which press, and how many minutes of cutting. Left side, the press. The projected shadow is sixteen hundred and fifty square centimetres. Aluminium high-pressure die casting runs at about seventy megapascals in the cavity. Multiply them and you get about eleven hundred and seventy-eight tonnes trying to open the die. The engine adds a twenty percent safety factor, so we need about fourteen hundred tonnes. It walks the ladder and takes the smallest press that covers it: sixteen hundred tonnes, at a hundred and thirty-seven pounds fifty-five an hour. One honest detail. That is how the form sizes the press. On the CAD rules path, where no shadow area is passed in yet, the rules size the press from part mass, which can pick a smaller machine. The self-audit flags a machine that is the wrong size, so check the press the trace shows. Right side, the cutting minutes. Each feature gets its own time from a shop formula: the two faces, the two bores, the sixteen blind holes. Add a thirty percent uplift for the reamed bores, and the geometry proposes about twenty-eight minutes. Then the guard. A two point eight kilo casting should not need more than about seventeen point eight minutes of finishing, so the guard caps it. The routing we costed is fifteen point nine minutes, inside both. Three numbers bounding each other. When they agree, the number stands. When they disagree badly, you find out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I laid the table out so you can check any row with a calculator. Take the milling row. The five-axis machine costs eighty-five pounds an hour. The cut takes nought point one one of an hour. A machine is never available a hundred percent of the time, so the engine divides by the equipment effectiveness, eighty-five percent. That gives nought point one two nine four of an hour. Eighty-five pounds times that is eleven pounds. Labour is half an operator at twenty-six pounds an hour, allowing for ninety percent labour efficiency: one pound fifty-nine. Twelve fifty-nine for the operation. The casting shot is fifty-five seconds on the sixteen hundred tonne press, with a two percent reject allowance: two pounds sixty-eight. Boring and reaming, nine seventy-three. Drilling and tapping on a cheaper machine, three twenty-four. Leak test, deburr and wash, four pounds. Plus a small amortised setup. In total, thirty-two pounds fifty-seven at UK rates. Now the chart, which for me is the most useful output on this part. The casting shot, the thing everyone pictures, is two pounds sixty-eight, about eight percent of the making cost. Everything after it is ninety-two percent. So if you argue about the aluminium price, you are arguing about the wrong thing. The money is in cycle time. The productive conversation with this supplier is about fixturing, tool paths and seconds per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the tool costs is built into the same eight buckets: material, process, labour, tooling, packaging, logistics, overhead and margin. For this housing made in China. Metal, costed at the poured weight and net of the scrap credit: twelve pounds eighteen. Process, the casting shot plus all the machining: fourteen thirty-four. Labour: one thirty-six. The die, spread over the volume: two seventeen. Packaging and transport: one pound seventy between them. Then overhead at twelve percent. It is a percentage of material, process, labour and tooling only, not of packaging and logistics. That gives three sixty-one. Margin at nine percent of the subtotal gives three eighteen. Total, thirty-eight pounds fifty-five. The tool shows the overhead base on screen, in the PDF and in the workbook, so nobody has to guess. Bottom right, the same part priced elsewhere. Each is a recalculation on that country’s own rates. India thirty-seven seventeen, China thirty-eight fifty-five, Mexico forty forty-four, UK fifty-nine sixty. The tool prices twenty regions on every run; I have shown four. Notice the metal barely moves between countries. Aluminium is a world commodity. What changes is labour, machine and overhead rates, and on a machining-heavy part that is the whole gap. Every figure traces back to a driver and a rate. Change an input and you can point at exactly why the answer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make this usable in a real negotiation. Stage eleven. The tool does not give one number pretending to be exact. It runs the calculation four thousand times, varying the inputs it is least sure of, and by different amounts. Tooling varies most, because tooling estimates are the least certain. Overhead and margin are policy percentages, so they are recalculated, not varied. The result is a range. On this part, ten percent of runs came in below thirty-two thirty-one, ten percent above forty-five thirty-eight, and the middle is our thirty-eight fifty-five. About plus or minus seventeen percent. The width is information: a machining-heavy casting carries more cycle-time risk than a simple pressing. Stage twelve is the one I care most about. Every derived input arrives as an editable pre-fill, highlighted, never silently applied. The engineer can change the material, the process, the machine, the cycle time or the rates, and the cost recalculates. The self-audit sits alongside, flagging things like a wrong machine size, tooling spread over the wrong volume, a material-only costing, or an implausible cycle time. Then the exports: an Excel workbook with six sheets including a traceability sheet, a PDF report, and the negotiation pack. All carry the on-screen total to the penny. And here is what it is for. If a supplier quotes fifty-two pounds, that is above our P90. The buyer can open the operation list and ask about the machining time, line by line. That is a different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 or minus comes from. Here is the mechanism, as the code does it. Step one. Every cost line already carries a confidence grade from where it came from. Measured geometry and library rates grade high. Derived values grade medium. Assumptions grade low. Step two. Those grades become spreads: five, twelve and twenty-two percent. Tooling gets one point eight times the spread, because it is the least certain thing we estimate. Packaging and logistics get less, because they are usually contracted. Overhead and margin are never varied; they are percentages, recalculated inside each trial. Step three, four thousand trials. Where the tool knows the source of each input, as on the CAD path, it varies every driver, including flat material prices, and re-runs the real engine. Otherwise it scales each bucket. Step four. Sort the totals and read the tenth, fiftieth and ninetieth percentiles. That is the band on the result card. Three properties. It is seeded, so the same part gives the same band every time, and that is tested. It learns: log real quotes or PO prices, and after three for a commodity the band is corrected by real data. And it is honest by construction: assumptions widen the band, so a part costed on guesses cannot look precise. In one line: the same arithmetic, run four thousand times, with each input as uncertain as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the DFM, DFA, cost optimisation and roadmap, come from one deterministic rule engine. The honest answer to is this AI opinion is no. Step one. The engine runs after the costing and reads the finished result: the eight buckets and the same inputs the estimate used. So it critiques the numbers that were actually costed. Step two. Fifty-two fixed thresholds fire. For example, material utilisation below sixty percent, or equipment effectiveness below seventy, or a bucket far outside its commodity benchmark. Each one carries a saving percentage and a recommendation, written as constants in code. Step three. Ten process advisors add findings from the measured solid: heavy sections that will draw porosity, sharp corners, missing draft, too much machining stock. Step four. Every finding is turned into pounds per part and ranked, biggest first. The engine grades findings internally to put them in order, but no score and no severity is ever shown. Engineers see what to do and what it is worth, not a mark against their design. Two properties to underline. The headline saving is the root-sum-square of the top three, capped at forty percent, so overlapping ideas are not double-counted. And the AI cannot touch any of it. At JLR it is off anyway. One function feeds both the screen and the PDF, so the two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asked exactly the right question. The tool costed a five-machine routing and then recommended consolidating it on a multi-axis machine. Why not pick the right machine in the first place? So now it does. Step one. Before any pound is booked, the routing optimiser prices the options: split across cheap three-axis stations, one five-axis setup, or a turning-led route for round parts. It includes batch setup and the handling every extra fixturing costs. The cheapest capable routing wins. Step two. The losing options are printed next to the chosen machine, so the process line comes with its own defence. Step three. The suggestions read the same arithmetic. They no longer criticise the tool’s own choice. If the lever is already taken, the report says routing verified optimal. Every finding is tagged with who owns the lever. Step four is the honest case. On the stub-axle report that prompted the question, the old advice said consolidate. The optimiser ranked it, and consolidation loses on that part. The new advice was a quick-win re-quote on the cheapest capable machines. Those figures are from that report at the time; they move with rates. Three rules. The AI never picks the machine. An engineer’s choice is respected, with the cheaper option shown beside it. And if there is no verifiable difference,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how does the tool price a die or a mould? Not as a percentage of the part price, and not from a lookup table. It writes the toolmaker’s quotation itself. One toolmaking shop model prices every commodity. Design at fifty-eight pounds an hour, CNC at fifty-two, EDM at fifty-eight, bench fitting at forty-eight, polishing at forty-five, press tryout at eighty-five. Tool steel by the kilogram. Hot-runner drops and core-pull cylinders at catalogue prices. And the shop’s twenty-two percent overhead and profit as its own visible line. The hours come from one law: twelve plus three point four times the area to the power nought point seven two, per cavity, corrected for depth. EDM, polishing and fitting follow as fractions driven by complexity and finish. Then tool life. The steel class follows the programme volume and sets the life, which decides how many tools you need and the tooling per part. The right side is the check we calibrated against: the bumper mould, the one tool we hold a real quotation for. The engine came to about four hundred and twenty-four thousand against a quotation of four hundred and twenty. That is one tool and one quotation. It is not a general accuracy claim, and the line values move with the inputs and rates. The rule that beats everything: a real toolmaker quotation overrides every estimate. That is what the bumper example later in the deck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Each card reads like the quotation a die shop would send. The forging die. Die blocks sized from the impression, in real die steels priced by the kilogram. Sinking hours per impression, scaled by complexity and by how hard the steel is to cut. Then EDM, hardening, polishing and tryout. Die life depends on the metal being forged. Aluminium is gentle on a die; a superalloy wears one out very quickly. The stamping die. A die set, strip-design engineering, and per-station steel and hours split across wire EDM, CNC and bench fitting. Die life falls as the sheet gets harder and thicker, and the law says by how much. The shop model is cross-checked against the kernel’s independent estimate from the solid. The blow mould. The cavity is the container’s whole inner surface, so the hours scale with the litres it holds, not with a shadow area. Life follows the mould material. The last card: for castings, the kernel’s estimate from the solid leads on the CAD path, and the same shop model prices STL and manual entries. Investment casting tooling is priced as the wax-injection mould it really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fairly, whether this thing makes numbers up. Let me answer precisely rather than reassuringly. On the left is what each bucket is made of. Material is measured volume times density times a price per kilo. Process is cycle time divided by machine availability, times a machine rate from the library. Labour is the same time times the manning and a wage rate. Tooling is the tool cost spread over annual volume times programme life. Packaging and logistics are typed in. Overhead is a percentage of material, process, labour and tooling. Margin is a percentage of the subtotal. Each applied once. Not one of those lines contains an AI number. At JLR the AI is off, and even when on it never sees the rate library or touches the arithmetic. On the right are checks that run automatically. A stated volume far from the measured one is flagged. Weight must match volume times density. Cycle times outside one point eight seconds to twenty-four hours are rejected. Near-net machining is capped. The self-audit flags a machine of the wrong size, tooling spread over the wrong volume, or a costing with material only. These are code, not prompts. The honest half: we do not claim every input is right. An answer can be mistyped, or a rate can go stale. That is why the checks run and a person signs. Run the same file with the same answers a hundred times, and you get thirty-eight fifty-five a hundred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thing on one page. It is the answer to the question you asked after the last session: who does what? Five players, left to right, in the order they act. The ruler, the geometry kernel, measures the CAD file and gives the same answer every time. The AI is switched off at JLR. If it were ever switched on, it could suggest the alloy and the route, as words, never money. The guards check every input against the measurements and correct it where they disagree. The engine does every calculation: it sizes the machine, builds the cycle times, fills the eight buckets and reprices across twenty countries, with fixed formulas you can trace. And the engineer sets the volume and region, answers what geometry cannot decide, can override any choice, and signs off the number. The line in the middle is the tool in one sentence. The tool measures. The engineer answers. The engine calculates. A person approves. The result on this housing is thirty-eight pounds fifty-five, with a band of roughly thirty-two to forty-five pounds. Every penny traces back to a measurement, an answer or a library rate. That is the workflow. If it would help, I can run it live on a part you choose, so you can watch each stage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It is here to answer a fair question: is this a tool, or a demo that only works on one part? So we do it all again on something as different as I could find: an injection-moulded bumper fascia. Same kernel, same questions, same rate library, same eight buckets, same person signing it off. What changes is which bucket holds the money, and the answer surprised me. Along the way you will see cooling time calculated from wall thickness, and what half a millimetre of wall is worth. You will see the paint line costed from film thickness, not as a percentage uplift. And the section ends with two findings I would not have predicted before we ran it. As with the housing, the costs are real engine output from the worked-example inputs, re-checked against today’s engine and rates. I finish the section with the new gear model, because it came straight from a request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I chose a part that could hardly be more different from the casting: a front bumper fascia. Talc-filled polypropylene, four point two kilos, three millimetre walls, about one point eight metres by half a metre. It has six undercut features that need sliding sections in the tool, for the lamp and sensor openings. And it is painted to a Class-A finish. Sixty thousand a year, made in China: deliberately the same volume and country as the casting, so we compare like with like. Look at the five phases and compare them with the casting. They are identical. Same twelve stages, same owners, same colours. The kernel is the same kernel. The questions to the engineer are the same kind. The rate library is the same library. The engine builds the same eight buckets. That is the point of a second example. We have not built nineteen different tools. We have built one method that covers nineteen manufacturing processes. When someone brings a part we have never costed, nothing new has to be invented. What does change is where the money ends up. On the casting it was machining. On this part it is somewhere else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second part. It is a worked example again: the inputs are the kind the kernel measures, and the costs are engine output. A front bumper fascia. Four point two kilos of talc-filled polypropylene, three millimetre walls, one point eight metres across. The grille opening, the fog-lamp openings and the parking-sensor holes all face back against the direction the mould opens. So the tool needs six sliding sections to release the part, and each slide is real money in the mould. The projected shadow is nine thousand nine hundred square centimetres, six times the casting. That one number drives the biggest process decision on this part: the size of the press. The painted area is one point six square metres, which we need later for the paint line. And note the last two rows: sixty thousand a year, made in China. The same volume and country as the casting, so when we compare the two at the end, we compare like with like rather than two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I will go quickly, because you have seen the method. The kernel measures. Volume, which on polypropylene is four point two kilos. Wall thickness, three millimetres: hold on to that, it matters more than you would think. The projected shadow in the direction the mould opens, nine thousand nine hundred square centimetres. And the painted area, one point six square metres. Then a clever measurement. The kernel classifies every face by its angle to the mould-opening direction, and counts the faces that point back against it. Six of them. Each needs a sliding section in the tool, and each slide costs real money. Nobody counted those by eye. Stage four is the engineer answering what geometry cannot decide: the material family, the process, the finish, the volume and the region. Here: talc-filled polypropylene, injection moulded in one shot, painted to Class-A, sixty thousand a year in China. At JLR it is always the engineer, because the AI is off. The box at the bottom is the one I would underline. The shadow area decides the biggest process number on this part. Molten plastic pushing out across that area tries to force the mould open, so it sets the press size, and the press rate sets the moulding cost. A part this size cannot be moulded on a small machine, however cheap that machine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from the casting guards, because a moulded part goes wrong in different ways. Guard one, the runner. A cold-runner tool makes a sprue and runner with every shot, six to nine hundred grams of plastic that is not the part. This tool has a hot runner, so the shot weight is the part weight. The guard makes sure we neither charge for plastic that does not exist nor forget it on a cold-runner tool. Guard two, cooling. This is the number people guess and should not. Cooling time is three point one six times the wall thickness squared. At three millimetres that is twenty-eight point four seconds, more than half the cycle. The wall is squared, so it is the strongest lever in moulding, and it is a design decision. Guard three, the press. Same physics as the casting. Nine thousand nine hundred square centimetres, times twenty-five megapascals, times a fifteen percent safety factor, is about two thousand nine hundred tonnes. The smallest press that covers it is thirty-five hundred tonnes, at three hundred and six pounds an hour. Guard four, the tool cost. A four hundred and twenty thousand pound mould is a toolmaker’s quotation. The tool takes it as an input and applies the Class-A finish uplift. The red box is why the press guard matters. A default two thousand tonne press would cost the moulding about forty-two percent too cheap, and the part could not even be made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Cooling is the biggest single number in a moulding cycle, and the one people used to guess. Here is how the tool calculates it, from first principles. Step one, the law. A plastic wall cooling between two mould faces is textbook heat conduction. The exact solution says cooling time equals wall squared, divided by pi squared times the thermal diffusivity, times the log of a temperature ratio. The wall is squared because heat has to travel out through half the thickness. Step two. Each of twenty resin families carries its typical temperatures. Polypropylene, this bumper, goes in at two hundred and thirty degrees, the mould runs at forty, and the part ejects at eighty-five. Step three is the honest part. The diffusivity is calibrated once, so that at those standard temperatures the formula gives exactly the industry factor we used before: three point one six seconds per millimetre squared. So adopting the physics did not move a single estimate. It changed the source from a constant we assert to a law you can check. Step four. It uses the thickest sections, the ninety-fifth percentile wall, because the part ejects when its thickest section is stiff. And the result is clamped, so a bad temperature input cannot run away with the cost. The payoff is on the right. Chill the mould to twenty degrees and about four and a half seconds come off each shot. Thin the wall by half a millimetre and nearly nine seconds come off, one pound eleven a part at UK rates. Those are the two conversations this slide should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show the calculation, do not assert it. Left side, the press. It is the same slide as the casting with different numbers. Shadow area, nine thousand nine hundred square centimetres. Cavity pressure for a large thin-wall polypropylene part, twenty-five megapascals. That is about two thousand five hundred tonnes trying to open the mould. Add fifteen percent and you need about two thousand nine hundred. Walk the ladder and take the smallest press that covers it: thirty-five hundred tonnes, at three hundred and six pounds twelve an hour. Right side, the cycle. I want to be clear which numbers are calculated and which are entered. Fill, pack and eject are process inputs: four and a half, twelve and nine seconds. They come from the moulder or our process engineer. Cooling is calculated: three point one six times three squared, twenty-eight point four four seconds. The engine then allows for two percent rejects and you get about fifty-five seconds. The box at the bottom is the useful part. Take half a millimetre out of the wall. Cooling drops to about nineteen point eight seconds. The cycle falls by nearly nine seconds. The press cost per part drops eighty-nine pence, and the UK part cost drops one pound eleven. I re-ran that on today’s engine. That is a design conversation, not a purchasing one, and it has to happen before the design is frozen. The tool lets you put a number on it while there is still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On the left, how the fifty-five second cycle is built. Fill, four and a half seconds. Pack and hold, twelve. Cooling, twenty-eight point four. Open and eject, nine. Plus a two percent reject allowance. On the right, the arithmetic you can check. Fifty-five seconds is nought point nought one five three of an hour. Divide by eighty-five percent availability and the press is busy for nought point nought one eight of an hour. Times three hundred and six pounds twelve gives five pounds fifty-one of machine. Half an operator gives seventeen pence of labour. Five pounds sixty-seven in total. If you add the two rounded figures you get sixty-eight; the engine keeps full precision. Stop and look at that. Five pounds sixty-seven is the whole making cost of a car bumper. On the casting, making the part was thirty-two fifty-seven. So where did the money go? Look at the chart. Tooling, eleven pounds twenty, is the biggest bucket by far, bigger than resin, press and labour together. On this part, the tool is the cost. Twenty-six pounds oh eight in China, unpainted and ex-works. Paint is next. And the country row. China twenty-six oh eight, UK thirty-one oh six, only about nineteen percent apart. On the casting it was fifty-five percent. The tool, packaging and logistics do not get cheaper when the factory moves, and resin is a world price. Offshoring saves a lot on a labour-heavy part and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bumper is not finished when it comes off the press. It gets painted, and paint is not a rounding error. The formula at the top is the standard paint-shop calculation. Wet litres equals the area, times the dry film thickness you need, divided by the paint’s solids content times the booth’s transfer efficiency. Take the basecoat, because that is where the money is. One point six square metres at twenty microns is thirty-two millilitres of dry paint on the part. But basecoat is only twenty-five percent solids, and only sixty percent of what the gun sprays lands on the part. So you buy about two hundred and thirteen millilitres of wet paint. At twenty-six pounds a litre, five pounds fifty-five. Add primer, clearcoat and six percent for rework, and paint material alone is eleven pounds. Then the line time, two operators and the masking fixtures. At China rates the paint line comes to thirteen fourteen. That is before the painter’s own overhead and margin, and the honest note at the bottom says so. Add it to the moulded part and the painted bumper is thirty-nine pounds twenty-two. Paint is about a third of it. Now the box for purchasing. At sixty percent transfer efficiency, four pounds in every ten of basecoat ends up in the booth filters. Move to seventy percent and the basecoat drops to four seventy-five a part. On sixty thousand parts that is about forty-seven thousand pounds a year. A percentage uplift would have hidden that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doing any of this. Finding one. Tooling is eleven pounds twenty of a twenty-six pound part. Forty-three percent, the biggest single bucket, and larger than the resin, the press and the labour added together, which come to six ninety-six. On the casting, tooling was two seventeen, about six percent. Same method, same engine, and the money has moved to a different place. Finding two. China twenty-six oh eight against the UK at thirty-one oh six, a gap of about nineteen percent. On the casting it was fifty-five. The tool, the packaging and the logistics do not get cheaper when the factory moves, and polypropylene is a world price. Only press hours and labour move, and this part has almost no labour. Now, what each finding changes on Monday morning. Finding one says: stop haggling over the piece price and negotiate the tooling deal. Who owns the tool, how many parts it is spread over, and what happens at the end of the programme. Spread over five years instead of one, this part is fifteen fourteen rather than twenty-six oh eight. Finding two says: do not move a tooling-heavy part offshore expecting casting-sized savings. Nineteen percent, set against freight, lead time, quality risk and moving the tool, may not clear the bar. Before we ran this, would anyone have said the tool was forty-three percent of a bumper? I would not have. That is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range. Nineteen eighty-three to thirty-three sixteen, about plus or minus twenty-six percent. That is wider than the casting, because so much of this answer rides on one tooling number, and tooling is the input the tool trusts least. The band shows you where the risk sits. Stage twelve, and here the engineer has a lever the casting did not offer: how long is the tool spread over? The tool spreads tooling over annual volume times programme life. Over one year, tooling is eleven twenty and the part is twenty-six oh eight. Over three years, three seventy-three and just under seventeen pounds. Over five, two twenty-four and fifteen fourteen. Same part, same supplier, same tool, nearly eleven pounds apart. If a supplier quotes twenty-six pounds on a one-year spread, they are carrying tooling risk, and now you can talk about it properly. Remember this is unpainted. At UK rates the paint line adds about fifteen pounds before the painter’s overhead and margin. The table in the middle is, for me, the most valuable slide in the pack. Making the casting cost thirty-two fifty-seven; moulding the bumper, five sixty-seven. Tooling flips from two seventeen to eleven twenty. The biggest bucket flips from process to tooling. The China to UK gap drops from fifty-five percent to nineteen. And the lever to push changes completely. Nobody could have told you that in advance with numbers you could defend. The method finds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new, and it came straight from you. Cost engineering and the plant asked why gears went through the tool as if they were milled parts. Fair question: that is what was happening, and the machining model cannot see a tooth. So gear cutting now has its own model, and it is one of the thirteen commodities that can be costed from CAD. Look at the three rows. The first two are the same gear, same size, same programme. Only the accuracy we ask for changes. Top row, ISO class nine, as cut: hob it, deburr it, inspect it. Eight pounds twenty-six. Middle row, class six. Now it must be carburised, and because hardening distorts it, it must then be ground. Two extra operations. Thirteen forty-seven. That is the key idea. A tighter gear does not make the same operations cost more. It adds operations. A tool that just multiplies by one point four is wrong, in the direction that loses you money. Bottom row, an internal ring gear. A hob cannot get inside a bore, so the tool uses power skiving. Skiving holds class six as cut, but hardening distorts it, so class seven after heat treat needs grinding too. Seventeen pounds oh two. Geometry decides the route, not preference. The cycle time is gear-train arithmetic, printed so your plant can argue with it. The red bar is me being straight. The structure is right, but all eighty-eight shop numbers are representative, not yours. The tool prints that warning on every gear estimate. Give us your feeds and speeds and it becomes a real should-cost.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 list of our own mistakes, and I think it should give you more confidence, not less. After building the gear model, we did not just test that it worked. We attacked it. We fed it nonsense on purpose and looked for answers that were wrong but looked right. That is the dangerous kind of wrong. You can argue with a number that looks silly. You cannot argue with one that looks fine. We found seven faults. Four are on the slide. First, volume did nothing. The same gear cost the same to the penny at a thousand a year and at a million. We had not modelled the one-off costs: the fixture, the programming, the first-article approval, the broach. Now they are in, and a low-volume gear correctly costs more. Second, a gear with zero teeth got a price. It should have been refused. Now impossible definitions are refused, and the tool says which field is wrong. Third, internal ring gears were sent to a grinder that cannot reach inside a bore. Your plant would have spotted that in a second. Fourth, once a gear was being ground, asking for tighter accuracy changed nothing. Now tighter classes buy extra finishing passes, shown in the sum. All seven are fixed and locked down by tests. The whole suite today is 2,438 tests. I would rather show you this than have your plant find it in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yourselves in three months. Six of them. One. It cannot cost an assembly from a single CAD file. It rolls up an assembly from parts you have already costed. It cannot open one assembly model and work out the parts, the joins and the assembly labour. A person defines the structure. Two. It cannot read a tolerance or a surface finish unless the CAD file carries it, and most do not. Those come from the drawing or the engineer. And an STL is only a mesh, with no feature table, so a machined STL is blocked until the engineer types a cycle time. Three, and the most important. It cannot prove its accuracy yet. No estimate has been compared with a price JLR actually paid. The six pinned parts prove the answer is stable, not that it is right. We will measure accuracy as actuals are logged. Four. It does not replace a quotation. It is a should-cost: what the part ought to cost on stated assumptions. A negotiating tool and a design-feedback loop, not a price. Five. It cannot keep duty and tariff data fresh by itself. It blocks a rate that is unverified or over ninety days old, but someone has to run the refresh. Six. It cannot cost a process it has never met. Nineteen are modelled. A new one needs a new module and a process engineer. A tool that claims no limits should not be trusted in a supplier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I do not plan to present it. It is here so that when someone asks how the DFM rules work, what the tool is built from, or whether anything calls out to the internet, the answer is in the pack and not only in my head. There are two groups. First, the complete DFM and DFA rule library: every threshold rule, every geometry advisor and every idea lever, with the exact numbers they fire on. It was transcribed from the engine’s source code, so if the engine changes, these slides must change too. Second, the technical architecture for engineers: what each box is built from, what data passes between them, the licences, and a straight answer on what talks to the outside world. In the JLR build, with AI off, the answer is nothing on the costing path.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lists a dozen cost-reduction ideas, where do they actually come from? The answer is a written rule book, small enough to show in full. Fifty-two threshold rules reading nineteen parameters and signals. Ten geometry advisors reading the measured solid. And a thirty-six lever idea catalogue across eight categories: material, design, process, tooling, logistics, commercial, quality and sustainability. That is the whole analysis. There is no hidden model behind it. The first version of this layer was thinner, about ten levers, mostly on cost structure. We took the challenge that it read like a checklist rather than what a good value engineer would produce, and rebuilt it. The flow is five steps, all arithmetic. Reduce the costing to its parameters. Run the fifty-two checks, while the advisors check the shape. Price each finding in pounds per part and rank it. Combine the top three by root-sum-square, capped at forty percent, so overlapping ideas are not double-counted. Then turn what fired into a ranked, categorised action list. And the AI is nowhere in this. Same part in, same findings out, with the network cable unplugged. At JLR the AI is off anyway. If it were on, it could comment on findings, but not add, remove or re-rank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and nothing else goes in. Ten core parameters, and nine extended signals. The ten core ones are the total, the six bucket shares, the operation count, equipment effectiveness and material utilisation. The teal ones are read straight from the costing. The blue ones are entered with the part, and a stated assumption is used when they are left blank. The nine extended signals are what let the rules behave like an experienced cost engineer rather than a checklist. Packaging and logistics shares. Labour efficiency. Which single operation carries the money. Consumables like cores and patterns. The tooling investment and whether it is spread over the stated annual volume. Manning and parts per cycle. Labour time against machine time. And the operation names themselves, because words like rework or inspection in a routing are signals. The card on the right changed after feedback from this room. It used to be a score out of ten. Now it is a ranking. Every finding is priced against this part and ranked biggest first. No score and no severity label is shown to an engineer. A previous exercise that scored designs was read as a report card, and nothing got implemented. Finally, the context gates. If the volume was assumed, or pack rates were estimated, a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twenty-seven checks that switch on for the specific process being costed. A casting is never judged by sheet-metal rules. What changed in the upgrade. Extrusion and rotational moulding now have their own rules: conversion cost and offcut scrap for extrusion, oven cycle and secondary operations for rotomoulding. Painting gains a rule this deck argued for earlier: paint material above forty percent of cost points straight at transfer efficiency. And cast-and-machine parts now run both the machining rules and the casting rules, where before they fell between the two. The machining rules are smarter than a count. The split-routing rule knows the difference between seven operations across five machines and seven operations on one five-axis machine. When the routing is already consolidated, it says so as a verified note instead of recommending what has already been done. Note where the biggest savings sit: wiring harness and composites, where labour passes half the cost or hand lay-up dominates. Where the money is people, the rules say so plainly. One reminder for the whole appendix. The severity column orders the rules inside the engine. It is never shown to an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is deterministic, all of it from the measured geometry. At JLR the AI is off; even when on, it could comment on these findings but never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tooling, packaging and logistics, commercial, quality and sustainability. This is the 360 degree part. The old layer stopped at the factory gate. This one follows the part to the loading dock and into the contract. Tooling: spread the tool over more volume, soft tooling below twenty-five thousand parts, a tooling-ownership clause, and a tool-life programme on die processes. Packaging and logistics were not looked at before. Now there are returnable packaging, pack density, freight mode, and a near-shore check. If a part is already in a low-cost country and logistics is past nine percent of its cost, the tool asks the opposite of the usual question: would a nearer supplier win on landed cost? Commercial: regional sourcing, open-book overhead, a competitive RFQ with the should-cost as the floor, make versus buy, a raw-material index clause, a learning-curve price-down where a real volume was confirmed, and payment terms. Quality reads the routing and challenges standalone inspection and manual finishing at the source. Sustainability covers recycled resin and process energy. Two honest notes. Every lever is gated on what a person actually told the tool. And the two backstop levers exist so no part leaves with an empty list; they are labelled as backstops.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one part: a machined aluminium bracket, the same inputs as our reference part, run through today’s engine and rate library. Not a mock-up. The part costs twenty-four thirty-four at UK rates. The tool lists nine ideas across four categories. The top three combined, by root-sum-square, come to about five pounds thirty-eight a part. Please read that as a list of ideas to test, not savings anyone has achieved. Commercial and sourcing comes first because it holds the biggest single idea: a regional sourcing study worth about four pounds thirty-eight a part. The tool marks it high risk and long term, rather than pretending it is free. Material second: near-net shape or better nesting, and a scrap-credit clause that costs nothing but a conversation. Process third, led by the bottleneck lever that names the operation. CNC milling carries sixty-six percent of the conversion cost here, so that is where cycle-time work pays. Design last on this part: pallet fixturing and relaxing tolerances. Now notice what is missing. No score, no critical, nothing that grades the part or the person who designed it. The same deterministic arithmetic, shown as a work list instead of a verdict. That was the feedback, and I think it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It shows what each box is built from and what it hands to the next. Left to right. Upload a CAD file, STEP, IGES or STL, with an optional DXF flat pattern for sheet metal; or fill in a commodity form. The Python kernel measures the solid and hands on the geometry: size, walls, holes, draft. The rules turn that into cost inputs, and the engineer answers what a shape cannot tell you. The cost engine sits in the middle. It works out the eight buckets, with one module per commodity, optimisers that pick the cheapest capable machine, and guardrails that check every number. It hands on the result: the eight buckets plus where every number came from. The key design choice is at the bottom of that box: numbers in, numbers out, no database, no network, no file access. That is why it can be tested so heavily, 2,438 tests today, and why the same code runs in the browser and on the server. Then checks and the confidence band, the findings ranked by money, and storage in a local SQLite file with fourteen tables. Reports are built in the browser. The table answers language, size and licence. Line counts are approximate and measured today. Every library is MIT, Apache or LGPL. The bottom box: in the JLR build, nothing on the costing path calls out. The AI is off. There is no usage tracking. Errors go to your own server’s log, not to a third 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pitched at someone who thinks in schemas rather than castings. Five typed hand-offs from CAD file to database. Every type name and field is copied from the source. One. The kernel writes a geometry document as JSON: bounding box, volume, surface area, fill ratio, a topology block that tells a sealed tank from an open shell, wall thickness including a ninety-fifth percentile, draft, setup count, a CNC cycle estimate, and weights in three candidate materials. All measured. Two. The rules plus the engineer’s answers produce the input the engine eats: a material with its utilisation, a list of operations with cycle time, equipment effectiveness, manning and labour efficiency, a tooling block, and the per-part costs. Where geometry can decide a field, geometry wins. Where it cannot, the engineer answers, and the tool waits until they do. Three. The engine turns that into the result: eight buckets, per-operation detail, and a traceability array. Every cost line records its value, unit, rate source and confidence. That is what prints under every number in the report. Four. The DFM layer produces the ranked opportunities, in pounds per part, with no score shown. Five. SQLite, fourteen tables in one file. The JSON is stored whole, so a costing round-trips exactly, and rate overrides keep an audit trail. The teal strip is the one idea to leave with: one pure transform, input and rate library in, result out. Same input, same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Should-Cost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tool measures the part, the engineer answers what geometry cannot, the engine does the arithmetic, and a person signs it off. AI is switched off at JLR.</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it connects, the PCB flow (an AI feature, off at JLR), who else does this, and the business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3–13</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24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A7F50"/>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D7D71"/>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ask, check, calculate, approve — with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14–32</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plus paint, two findings — and the new gear model</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Slides 33–45</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86F7D"/>
                </a:solidFill>
                <a:latin typeface="Calibri" pitchFamily="34" charset="0"/>
                <a:ea typeface="Calibri" pitchFamily="34" charset="-122"/>
                <a:cs typeface="Calibri" pitchFamily="34" charset="-120"/>
              </a:rPr>
              <a:t>Slide 46</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A7F50"/>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A7F50"/>
                </a:solidFill>
                <a:latin typeface="Calibri" pitchFamily="34" charset="0"/>
                <a:ea typeface="Calibri" pitchFamily="34" charset="-122"/>
                <a:cs typeface="Calibri" pitchFamily="34" charset="-120"/>
              </a:rPr>
              <a:t>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47–58):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9–13 (the business case) · slide 32 (the housing on one page) · slide 42 (the two findings) · slide 46 (the limits).</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86F7D"/>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99651A"/>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D7D71"/>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A7F50"/>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A7F50"/>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750" b="1" spc="40" kern="0" dirty="0">
                <a:solidFill>
                  <a:srgbClr val="2A7F50"/>
                </a:solidFill>
                <a:latin typeface="Calibri" pitchFamily="34" charset="0"/>
                <a:ea typeface="Calibri" pitchFamily="34" charset="-122"/>
                <a:cs typeface="Calibri" pitchFamily="34" charset="-120"/>
              </a:rPr>
              <a:t>WHY TRUST THIS PICTURE</a:t>
            </a:r>
            <a:endParaRPr lang="en-US" sz="75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750" dirty="0">
                <a:solidFill>
                  <a:srgbClr val="3A4356"/>
                </a:solidFill>
                <a:latin typeface="Calibri" pitchFamily="34" charset="0"/>
                <a:ea typeface="Calibri" pitchFamily="34" charset="-122"/>
                <a:cs typeface="Calibri" pitchFamily="34" charset="-120"/>
              </a:rPr>
              <a:t>Same file + answers = same price</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13 of 19 processes from CAD</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2,438 automated tests</a:t>
            </a:r>
            <a:endParaRPr lang="en-US" sz="750" dirty="0"/>
          </a:p>
          <a:p>
            <a:pPr indent="0" marL="0">
              <a:buNone/>
            </a:pPr>
            <a:r>
              <a:rPr lang="en-US" sz="750" dirty="0">
                <a:solidFill>
                  <a:srgbClr val="3A4356"/>
                </a:solidFill>
                <a:latin typeface="Calibri" pitchFamily="34" charset="0"/>
                <a:ea typeface="Calibri" pitchFamily="34" charset="-122"/>
                <a:cs typeface="Calibri" pitchFamily="34" charset="-120"/>
              </a:rPr>
              <a:t>6 real parts pinned in a baseline</a:t>
            </a:r>
            <a:endParaRPr lang="en-US" sz="75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SWITCHED OFF AT JLR (AIR_GAPPED=1)</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When on: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Rate-limited per user. </a:t>
            </a:r>
            <a:pPr indent="0" marL="0">
              <a:buNone/>
            </a:pPr>
            <a:r>
              <a:rPr lang="en-US" sz="780" b="1" dirty="0">
                <a:solidFill>
                  <a:srgbClr val="6B3FA0"/>
                </a:solidFill>
                <a:latin typeface="Calibri" pitchFamily="34" charset="0"/>
                <a:ea typeface="Calibri" pitchFamily="34" charset="-122"/>
                <a:cs typeface="Calibri" pitchFamily="34" charset="-120"/>
              </a:rPr>
              <a:t>The PCB PHOTO flow needs it </a:t>
            </a:r>
            <a:pPr indent="0" marL="0">
              <a:buNone/>
            </a:pPr>
            <a:r>
              <a:rPr lang="en-US" sz="780" dirty="0">
                <a:solidFill>
                  <a:srgbClr val="3A4356"/>
                </a:solidFill>
                <a:latin typeface="Calibri" pitchFamily="34" charset="0"/>
                <a:ea typeface="Calibri" pitchFamily="34" charset="-122"/>
                <a:cs typeface="Calibri" pitchFamily="34" charset="-120"/>
              </a:rPr>
              <a:t>— so at JLR that screen is hidden.</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50" i="1" dirty="0">
                <a:solidFill>
                  <a:srgbClr val="6B3FA0"/>
                </a:solidFill>
                <a:latin typeface="Calibri" pitchFamily="34" charset="0"/>
                <a:ea typeface="Calibri" pitchFamily="34" charset="-122"/>
                <a:cs typeface="Calibri" pitchFamily="34" charset="-120"/>
              </a:rPr>
              <a:t>The code is kept and can be switched on by a setting, no rebuild. With it off, CAD and manual costing work in full.</a:t>
            </a:r>
            <a:endParaRPr lang="en-US" sz="75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OPTIONAL FEEDS —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off) · news (needs internet) · price ticker (indicative, simulated,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31" name="Shape 28"/>
          <p:cNvSpPr/>
          <p:nvPr/>
        </p:nvSpPr>
        <p:spPr>
          <a:xfrm>
            <a:off x="685800" y="1874520"/>
            <a:ext cx="3200400" cy="256032"/>
          </a:xfrm>
          <a:prstGeom prst="roundRect">
            <a:avLst>
              <a:gd name="adj" fmla="val 50000"/>
            </a:avLst>
          </a:prstGeom>
          <a:solidFill>
            <a:srgbClr val="0D7D71"/>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MACHINE</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Typed inputs on the</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commodity form</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750" b="1" spc="40" kern="0" dirty="0">
                <a:solidFill>
                  <a:srgbClr val="FFFFFF"/>
                </a:solidFill>
                <a:latin typeface="Calibri" pitchFamily="34" charset="0"/>
                <a:ea typeface="Calibri" pitchFamily="34" charset="-122"/>
                <a:cs typeface="Calibri" pitchFamily="34" charset="-120"/>
              </a:rPr>
              <a:t>AI · OFF AT JLR</a:t>
            </a:r>
            <a:endParaRPr lang="en-US" sz="75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A7F50"/>
            </a:solidFill>
            <a:prstDash val="solid"/>
          </a:ln>
        </p:spPr>
      </p:sp>
      <p:sp>
        <p:nvSpPr>
          <p:cNvPr id="71" name="Shape 66"/>
          <p:cNvSpPr/>
          <p:nvPr/>
        </p:nvSpPr>
        <p:spPr>
          <a:xfrm>
            <a:off x="2734056" y="5084064"/>
            <a:ext cx="310896" cy="310896"/>
          </a:xfrm>
          <a:prstGeom prst="ellipse">
            <a:avLst/>
          </a:prstGeom>
          <a:solidFill>
            <a:srgbClr val="2A7F50"/>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99651A"/>
            </a:solidFill>
            <a:prstDash val="solid"/>
          </a:ln>
        </p:spPr>
      </p:sp>
      <p:sp>
        <p:nvSpPr>
          <p:cNvPr id="76" name="Shape 70"/>
          <p:cNvSpPr/>
          <p:nvPr/>
        </p:nvSpPr>
        <p:spPr>
          <a:xfrm>
            <a:off x="5020056" y="2560320"/>
            <a:ext cx="310896" cy="310896"/>
          </a:xfrm>
          <a:prstGeom prst="ellipse">
            <a:avLst/>
          </a:prstGeom>
          <a:solidFill>
            <a:srgbClr val="99651A"/>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99651A"/>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always win.</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D7D71"/>
            </a:solidFill>
            <a:prstDash val="solid"/>
          </a:ln>
        </p:spPr>
      </p:sp>
      <p:sp>
        <p:nvSpPr>
          <p:cNvPr id="81" name="Shape 74"/>
          <p:cNvSpPr/>
          <p:nvPr/>
        </p:nvSpPr>
        <p:spPr>
          <a:xfrm>
            <a:off x="7900416" y="2560320"/>
            <a:ext cx="310896" cy="310896"/>
          </a:xfrm>
          <a:prstGeom prst="ellipse">
            <a:avLst/>
          </a:prstGeom>
          <a:solidFill>
            <a:srgbClr val="0D7D71"/>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D7D71"/>
            </a:solidFill>
            <a:prstDash val="solid"/>
          </a:ln>
        </p:spPr>
      </p:sp>
      <p:sp>
        <p:nvSpPr>
          <p:cNvPr id="86" name="Shape 78"/>
          <p:cNvSpPr/>
          <p:nvPr/>
        </p:nvSpPr>
        <p:spPr>
          <a:xfrm>
            <a:off x="7900416" y="3822192"/>
            <a:ext cx="310896" cy="310896"/>
          </a:xfrm>
          <a:prstGeom prst="ellipse">
            <a:avLst/>
          </a:prstGeom>
          <a:solidFill>
            <a:srgbClr val="0D7D71"/>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A7F50"/>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corrected by real actuals once 3 are logged.</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2" name="Shape 92"/>
          <p:cNvSpPr/>
          <p:nvPr/>
        </p:nvSpPr>
        <p:spPr>
          <a:xfrm>
            <a:off x="6236208" y="2368296"/>
            <a:ext cx="548640" cy="155448"/>
          </a:xfrm>
          <a:prstGeom prst="roundRect">
            <a:avLst>
              <a:gd name="adj" fmla="val 50000"/>
            </a:avLst>
          </a:prstGeom>
          <a:solidFill>
            <a:srgbClr val="99651A"/>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4" name="Shape 94"/>
          <p:cNvSpPr/>
          <p:nvPr/>
        </p:nvSpPr>
        <p:spPr>
          <a:xfrm>
            <a:off x="9070848" y="2368296"/>
            <a:ext cx="548640" cy="155448"/>
          </a:xfrm>
          <a:prstGeom prst="roundRect">
            <a:avLst>
              <a:gd name="adj" fmla="val 50000"/>
            </a:avLst>
          </a:prstGeom>
          <a:solidFill>
            <a:srgbClr val="0D7D71"/>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6" name="Shape 96"/>
          <p:cNvSpPr/>
          <p:nvPr/>
        </p:nvSpPr>
        <p:spPr>
          <a:xfrm>
            <a:off x="9070848" y="3630168"/>
            <a:ext cx="548640" cy="155448"/>
          </a:xfrm>
          <a:prstGeom prst="roundRect">
            <a:avLst>
              <a:gd name="adj" fmla="val 50000"/>
            </a:avLst>
          </a:prstGeom>
          <a:solidFill>
            <a:srgbClr val="0D7D71"/>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08" name="Shape 98"/>
          <p:cNvSpPr/>
          <p:nvPr/>
        </p:nvSpPr>
        <p:spPr>
          <a:xfrm>
            <a:off x="9070848" y="4892040"/>
            <a:ext cx="548640" cy="155448"/>
          </a:xfrm>
          <a:prstGeom prst="roundRect">
            <a:avLst>
              <a:gd name="adj" fmla="val 50000"/>
            </a:avLst>
          </a:prstGeom>
          <a:solidFill>
            <a:srgbClr val="2A7F50"/>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0" name="Shape 100"/>
          <p:cNvSpPr/>
          <p:nvPr/>
        </p:nvSpPr>
        <p:spPr>
          <a:xfrm>
            <a:off x="6236208" y="3630168"/>
            <a:ext cx="548640" cy="155448"/>
          </a:xfrm>
          <a:prstGeom prst="roundRect">
            <a:avLst>
              <a:gd name="adj" fmla="val 50000"/>
            </a:avLst>
          </a:prstGeom>
          <a:solidFill>
            <a:srgbClr val="0D7D71"/>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112" name="Shape 102"/>
          <p:cNvSpPr/>
          <p:nvPr/>
        </p:nvSpPr>
        <p:spPr>
          <a:xfrm>
            <a:off x="3904488" y="4892040"/>
            <a:ext cx="548640" cy="155448"/>
          </a:xfrm>
          <a:prstGeom prst="roundRect">
            <a:avLst>
              <a:gd name="adj" fmla="val 50000"/>
            </a:avLst>
          </a:prstGeom>
          <a:solidFill>
            <a:srgbClr val="2A7F50"/>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A7F50"/>
            </a:solidFill>
            <a:prstDash val="solid"/>
            <a:tailEnd type="triangle"/>
          </a:ln>
        </p:spPr>
      </p:sp>
      <p:sp>
        <p:nvSpPr>
          <p:cNvPr id="118" name="Shape 108"/>
          <p:cNvSpPr/>
          <p:nvPr/>
        </p:nvSpPr>
        <p:spPr>
          <a:xfrm flipH="1">
            <a:off x="4526280" y="3008376"/>
            <a:ext cx="365760" cy="283464"/>
          </a:xfrm>
          <a:prstGeom prst="line">
            <a:avLst/>
          </a:prstGeom>
          <a:noFill/>
          <a:ln w="17780">
            <a:solidFill>
              <a:srgbClr val="99651A"/>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D7D71"/>
            </a:solidFill>
            <a:prstDash val="solid"/>
            <a:tailEnd type="triangle"/>
          </a:ln>
        </p:spPr>
      </p:sp>
      <p:sp>
        <p:nvSpPr>
          <p:cNvPr id="121" name="Shape 111"/>
          <p:cNvSpPr/>
          <p:nvPr/>
        </p:nvSpPr>
        <p:spPr>
          <a:xfrm flipH="1">
            <a:off x="6858000" y="3008376"/>
            <a:ext cx="365760" cy="923544"/>
          </a:xfrm>
          <a:prstGeom prst="line">
            <a:avLst/>
          </a:prstGeom>
          <a:noFill/>
          <a:ln w="22225">
            <a:solidFill>
              <a:srgbClr val="0D7D71"/>
            </a:solidFill>
            <a:prstDash val="solid"/>
            <a:tailEnd type="triangle"/>
          </a:ln>
        </p:spPr>
      </p:sp>
      <p:sp>
        <p:nvSpPr>
          <p:cNvPr id="122" name="Shape 112"/>
          <p:cNvSpPr/>
          <p:nvPr/>
        </p:nvSpPr>
        <p:spPr>
          <a:xfrm flipH="1">
            <a:off x="6858000" y="4270248"/>
            <a:ext cx="914400" cy="0"/>
          </a:xfrm>
          <a:prstGeom prst="line">
            <a:avLst/>
          </a:prstGeom>
          <a:noFill/>
          <a:ln w="22225">
            <a:solidFill>
              <a:srgbClr val="0D7D71"/>
            </a:solidFill>
            <a:prstDash val="solid"/>
            <a:tailEnd type="triangle"/>
          </a:ln>
        </p:spPr>
      </p:sp>
      <p:sp>
        <p:nvSpPr>
          <p:cNvPr id="123" name="Shape 113"/>
          <p:cNvSpPr/>
          <p:nvPr/>
        </p:nvSpPr>
        <p:spPr>
          <a:xfrm>
            <a:off x="6858000" y="4846320"/>
            <a:ext cx="914400" cy="502920"/>
          </a:xfrm>
          <a:prstGeom prst="line">
            <a:avLst/>
          </a:prstGeom>
          <a:noFill/>
          <a:ln w="22225">
            <a:solidFill>
              <a:srgbClr val="2A7F50"/>
            </a:solidFill>
            <a:prstDash val="solid"/>
            <a:tailEnd type="triangle"/>
          </a:ln>
        </p:spPr>
      </p:sp>
      <p:sp>
        <p:nvSpPr>
          <p:cNvPr id="124" name="Shape 114"/>
          <p:cNvSpPr/>
          <p:nvPr/>
        </p:nvSpPr>
        <p:spPr>
          <a:xfrm>
            <a:off x="9692640" y="5440680"/>
            <a:ext cx="411480" cy="0"/>
          </a:xfrm>
          <a:prstGeom prst="line">
            <a:avLst/>
          </a:prstGeom>
          <a:noFill/>
          <a:ln w="22225">
            <a:solidFill>
              <a:srgbClr val="2A7F50"/>
            </a:solidFill>
            <a:prstDash val="solid"/>
            <a:tailEnd type="triangle"/>
          </a:ln>
        </p:spPr>
      </p:sp>
      <p:sp>
        <p:nvSpPr>
          <p:cNvPr id="125" name="Shape 115"/>
          <p:cNvSpPr/>
          <p:nvPr/>
        </p:nvSpPr>
        <p:spPr>
          <a:xfrm flipH="1">
            <a:off x="9692640" y="4498848"/>
            <a:ext cx="411480" cy="0"/>
          </a:xfrm>
          <a:prstGeom prst="line">
            <a:avLst/>
          </a:prstGeom>
          <a:noFill/>
          <a:ln w="17780">
            <a:solidFill>
              <a:srgbClr val="2A7F50"/>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750" i="1" dirty="0">
                <a:solidFill>
                  <a:srgbClr val="2A7F50"/>
                </a:solidFill>
                <a:latin typeface="Calibri" pitchFamily="34" charset="0"/>
                <a:ea typeface="Calibri" pitchFamily="34" charset="-122"/>
                <a:cs typeface="Calibri" pitchFamily="34" charset="-120"/>
              </a:rPr>
              <a:t>actuals</a:t>
            </a:r>
            <a:endParaRPr lang="en-US" sz="750" dirty="0"/>
          </a:p>
          <a:p>
            <a:pPr algn="ctr" indent="0" marL="0">
              <a:buNone/>
            </a:pPr>
            <a:r>
              <a:rPr lang="en-US" sz="750" i="1" dirty="0">
                <a:solidFill>
                  <a:srgbClr val="2A7F50"/>
                </a:solidFill>
                <a:latin typeface="Calibri" pitchFamily="34" charset="0"/>
                <a:ea typeface="Calibri" pitchFamily="34" charset="-122"/>
                <a:cs typeface="Calibri" pitchFamily="34" charset="-120"/>
              </a:rPr>
              <a:t>feed back</a:t>
            </a:r>
            <a:endParaRPr lang="en-US" sz="750" dirty="0"/>
          </a:p>
        </p:txBody>
      </p:sp>
      <p:sp>
        <p:nvSpPr>
          <p:cNvPr id="127" name="Shape 117"/>
          <p:cNvSpPr/>
          <p:nvPr/>
        </p:nvSpPr>
        <p:spPr>
          <a:xfrm>
            <a:off x="9692640" y="3008376"/>
            <a:ext cx="411480" cy="0"/>
          </a:xfrm>
          <a:prstGeom prst="line">
            <a:avLst/>
          </a:prstGeom>
          <a:noFill/>
          <a:ln w="22225">
            <a:solidFill>
              <a:srgbClr val="2A7F50"/>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A7F50"/>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off at JLR, and even when on it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424160" cy="256032"/>
          </a:xfrm>
          <a:prstGeom prst="rect">
            <a:avLst/>
          </a:prstGeom>
          <a:noFill/>
          <a:ln/>
        </p:spPr>
        <p:txBody>
          <a:bodyPr wrap="square" lIns="0" tIns="0" rIns="0" bIns="0" rtlCol="0" anchor="ctr"/>
          <a:lstStyle/>
          <a:p>
            <a:pPr indent="0" marL="0">
              <a:buNone/>
            </a:pPr>
            <a:r>
              <a:rPr lang="en-US" sz="1050" i="1" dirty="0">
                <a:solidFill>
                  <a:srgbClr val="686F7D"/>
                </a:solidFill>
                <a:latin typeface="Calibri" pitchFamily="34" charset="0"/>
                <a:ea typeface="Calibri" pitchFamily="34" charset="-122"/>
                <a:cs typeface="Calibri" pitchFamily="34" charset="-120"/>
              </a:rPr>
              <a:t>Photos and files go in. The model reads the board. The tool prices every line from its own tables and costs the board from its rate tables. The engineer checks the lines marked "to verify".</a:t>
            </a:r>
            <a:endParaRPr lang="en-US" sz="105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THE MODEL READS THE PHOTOS — needs an API key; without one this screen is hidden</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20" b="1" dirty="0">
                <a:solidFill>
                  <a:srgbClr val="16325C"/>
                </a:solidFill>
                <a:latin typeface="Calibri" pitchFamily="34" charset="0"/>
                <a:ea typeface="Calibri" pitchFamily="34" charset="-122"/>
                <a:cs typeface="Calibri" pitchFamily="34" charset="-120"/>
              </a:rPr>
              <a:t>1 </a:t>
            </a:r>
            <a:pPr indent="0" marL="0">
              <a:buNone/>
            </a:pPr>
            <a:r>
              <a:rPr lang="en-US" sz="820" dirty="0">
                <a:solidFill>
                  <a:srgbClr val="3A4356"/>
                </a:solidFill>
                <a:latin typeface="Calibri" pitchFamily="34" charset="0"/>
                <a:ea typeface="Calibri" pitchFamily="34" charset="-122"/>
                <a:cs typeface="Calibri" pitchFamily="34" charset="-120"/>
              </a:rPr>
              <a:t>Classifies the board (automotive, consumer, industrial) and its safety level. </a:t>
            </a:r>
            <a:pPr indent="0" marL="0">
              <a:buNone/>
            </a:pPr>
            <a:r>
              <a:rPr lang="en-US" sz="820" b="1" dirty="0">
                <a:solidFill>
                  <a:srgbClr val="16325C"/>
                </a:solidFill>
                <a:latin typeface="Calibri" pitchFamily="34" charset="0"/>
                <a:ea typeface="Calibri" pitchFamily="34" charset="-122"/>
                <a:cs typeface="Calibri" pitchFamily="34" charset="-120"/>
              </a:rPr>
              <a:t>2 </a:t>
            </a:r>
            <a:pPr indent="0" marL="0">
              <a:buNone/>
            </a:pPr>
            <a:r>
              <a:rPr lang="en-US" sz="820" dirty="0">
                <a:solidFill>
                  <a:srgbClr val="3A4356"/>
                </a:solidFill>
                <a:latin typeface="Calibri" pitchFamily="34" charset="0"/>
                <a:ea typeface="Calibri" pitchFamily="34" charset="-122"/>
                <a:cs typeface="Calibri" pitchFamily="34" charset="-120"/>
              </a:rPr>
              <a:t>Reads the markings printed on the chips. </a:t>
            </a:r>
            <a:pPr indent="0" marL="0">
              <a:buNone/>
            </a:pPr>
            <a:r>
              <a:rPr lang="en-US" sz="820" b="1" dirty="0">
                <a:solidFill>
                  <a:srgbClr val="16325C"/>
                </a:solidFill>
                <a:latin typeface="Calibri" pitchFamily="34" charset="0"/>
                <a:ea typeface="Calibri" pitchFamily="34" charset="-122"/>
                <a:cs typeface="Calibri" pitchFamily="34" charset="-120"/>
              </a:rPr>
              <a:t>3 </a:t>
            </a:r>
            <a:pPr indent="0" marL="0">
              <a:buNone/>
            </a:pPr>
            <a:r>
              <a:rPr lang="en-US" sz="820" dirty="0">
                <a:solidFill>
                  <a:srgbClr val="3A4356"/>
                </a:solidFill>
                <a:latin typeface="Calibri" pitchFamily="34" charset="0"/>
                <a:ea typeface="Calibri" pitchFamily="34" charset="-122"/>
                <a:cs typeface="Calibri" pitchFamily="34" charset="-120"/>
              </a:rPr>
              <a:t>Writes the parts list — reference, package, quantity, part number — and its guess at size, layers and finish. </a:t>
            </a:r>
            <a:pPr indent="0" marL="0">
              <a:buNone/>
            </a:pPr>
            <a:r>
              <a:rPr lang="en-US" sz="820" b="1" dirty="0">
                <a:solidFill>
                  <a:srgbClr val="6B3FA0"/>
                </a:solidFill>
                <a:latin typeface="Calibri" pitchFamily="34" charset="0"/>
                <a:ea typeface="Calibri" pitchFamily="34" charset="-122"/>
                <a:cs typeface="Calibri" pitchFamily="34" charset="-120"/>
              </a:rPr>
              <a:t>It is not asked for a cost. The reply must match a fixed form.</a:t>
            </a:r>
            <a:endParaRPr lang="en-US" sz="82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Sonnet 5.5 reads the chips and writes the list · Opus 5.5 for "deep analysis" · rate-limited per user</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D7D71"/>
            </a:solidFill>
            <a:prstDash val="dash"/>
          </a:ln>
        </p:spPr>
      </p:sp>
      <p:sp>
        <p:nvSpPr>
          <p:cNvPr id="13" name="Shape 10"/>
          <p:cNvSpPr/>
          <p:nvPr/>
        </p:nvSpPr>
        <p:spPr>
          <a:xfrm>
            <a:off x="685800" y="1874520"/>
            <a:ext cx="3200400" cy="256032"/>
          </a:xfrm>
          <a:prstGeom prst="roundRect">
            <a:avLst>
              <a:gd name="adj" fmla="val 50000"/>
            </a:avLst>
          </a:prstGeom>
          <a:solidFill>
            <a:srgbClr val="0D7D71"/>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MACHINE</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731520"/>
          </a:xfrm>
          <a:prstGeom prst="roundRect">
            <a:avLst>
              <a:gd name="adj" fmla="val 8750"/>
            </a:avLst>
          </a:prstGeom>
          <a:solidFill>
            <a:srgbClr val="FFFFFF"/>
          </a:solidFill>
          <a:ln w="12700">
            <a:solidFill>
              <a:srgbClr val="DCE3EE"/>
            </a:solidFill>
            <a:prstDash val="solid"/>
          </a:ln>
        </p:spPr>
      </p:sp>
      <p:sp>
        <p:nvSpPr>
          <p:cNvPr id="18" name="Text 15"/>
          <p:cNvSpPr/>
          <p:nvPr/>
        </p:nvSpPr>
        <p:spPr>
          <a:xfrm>
            <a:off x="704088" y="2505456"/>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Photos of the board</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(top, bottom, close-ups)</a:t>
            </a:r>
            <a:endParaRPr lang="en-US" sz="800" dirty="0"/>
          </a:p>
        </p:txBody>
      </p:sp>
      <p:sp>
        <p:nvSpPr>
          <p:cNvPr id="19" name="Shape 16"/>
          <p:cNvSpPr/>
          <p:nvPr/>
        </p:nvSpPr>
        <p:spPr>
          <a:xfrm>
            <a:off x="594360" y="3346704"/>
            <a:ext cx="1828800" cy="731520"/>
          </a:xfrm>
          <a:prstGeom prst="roundRect">
            <a:avLst>
              <a:gd name="adj" fmla="val 8750"/>
            </a:avLst>
          </a:prstGeom>
          <a:solidFill>
            <a:srgbClr val="FFFFFF"/>
          </a:solidFill>
          <a:ln w="12700">
            <a:solidFill>
              <a:srgbClr val="DCE3EE"/>
            </a:solidFill>
            <a:prstDash val="solid"/>
          </a:ln>
        </p:spPr>
      </p:sp>
      <p:sp>
        <p:nvSpPr>
          <p:cNvPr id="20" name="Text 17"/>
          <p:cNvSpPr/>
          <p:nvPr/>
        </p:nvSpPr>
        <p:spPr>
          <a:xfrm>
            <a:off x="704088" y="3346704"/>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Annual quantity + country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(the engineer types)</a:t>
            </a:r>
            <a:endParaRPr lang="en-US" sz="800" dirty="0"/>
          </a:p>
        </p:txBody>
      </p:sp>
      <p:sp>
        <p:nvSpPr>
          <p:cNvPr id="21" name="Shape 18"/>
          <p:cNvSpPr/>
          <p:nvPr/>
        </p:nvSpPr>
        <p:spPr>
          <a:xfrm>
            <a:off x="594360" y="4187952"/>
            <a:ext cx="1828800" cy="731520"/>
          </a:xfrm>
          <a:prstGeom prst="roundRect">
            <a:avLst>
              <a:gd name="adj" fmla="val 8750"/>
            </a:avLst>
          </a:prstGeom>
          <a:solidFill>
            <a:srgbClr val="FFFFFF"/>
          </a:solidFill>
          <a:ln w="12700">
            <a:solidFill>
              <a:srgbClr val="DCE3EE"/>
            </a:solidFill>
            <a:prstDash val="solid"/>
          </a:ln>
        </p:spPr>
      </p:sp>
      <p:sp>
        <p:nvSpPr>
          <p:cNvPr id="22" name="Text 19"/>
          <p:cNvSpPr/>
          <p:nvPr/>
        </p:nvSpPr>
        <p:spPr>
          <a:xfrm>
            <a:off x="704088" y="4187952"/>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BOM file — optional</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becomes the parts list</a:t>
            </a:r>
            <a:endParaRPr lang="en-US" sz="800" dirty="0"/>
          </a:p>
        </p:txBody>
      </p:sp>
      <p:sp>
        <p:nvSpPr>
          <p:cNvPr id="23" name="Shape 20"/>
          <p:cNvSpPr/>
          <p:nvPr/>
        </p:nvSpPr>
        <p:spPr>
          <a:xfrm>
            <a:off x="594360" y="5029200"/>
            <a:ext cx="1828800" cy="731520"/>
          </a:xfrm>
          <a:prstGeom prst="roundRect">
            <a:avLst>
              <a:gd name="adj" fmla="val 8750"/>
            </a:avLst>
          </a:prstGeom>
          <a:solidFill>
            <a:srgbClr val="FFFFFF"/>
          </a:solidFill>
          <a:ln w="12700">
            <a:solidFill>
              <a:srgbClr val="DCE3EE"/>
            </a:solidFill>
            <a:prstDash val="solid"/>
          </a:ln>
        </p:spPr>
      </p:sp>
      <p:sp>
        <p:nvSpPr>
          <p:cNvPr id="24" name="Text 21"/>
          <p:cNvSpPr/>
          <p:nvPr/>
        </p:nvSpPr>
        <p:spPr>
          <a:xfrm>
            <a:off x="704088" y="5029200"/>
            <a:ext cx="160934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Drill + Gerber files — optional</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size, layers, vias measured</a:t>
            </a:r>
            <a:endParaRPr lang="en-US" sz="800" dirty="0"/>
          </a:p>
        </p:txBody>
      </p:sp>
      <p:sp>
        <p:nvSpPr>
          <p:cNvPr id="25" name="Text 22"/>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COMES OUT</a:t>
            </a:r>
            <a:endParaRPr lang="en-US" sz="850" dirty="0"/>
          </a:p>
        </p:txBody>
      </p:sp>
      <p:sp>
        <p:nvSpPr>
          <p:cNvPr id="26" name="Shape 23"/>
          <p:cNvSpPr/>
          <p:nvPr/>
        </p:nvSpPr>
        <p:spPr>
          <a:xfrm>
            <a:off x="10104120" y="2505456"/>
            <a:ext cx="1645920" cy="731520"/>
          </a:xfrm>
          <a:prstGeom prst="roundRect">
            <a:avLst>
              <a:gd name="adj" fmla="val 8750"/>
            </a:avLst>
          </a:prstGeom>
          <a:solidFill>
            <a:srgbClr val="FFFFFF"/>
          </a:solidFill>
          <a:ln w="12700">
            <a:solidFill>
              <a:srgbClr val="DCE3EE"/>
            </a:solidFill>
            <a:prstDash val="solid"/>
          </a:ln>
        </p:spPr>
      </p:sp>
      <p:sp>
        <p:nvSpPr>
          <p:cNvPr id="27" name="Text 24"/>
          <p:cNvSpPr/>
          <p:nvPr/>
        </p:nvSpPr>
        <p:spPr>
          <a:xfrm>
            <a:off x="10213848" y="2505456"/>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Priced parts list —</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 source on every line</a:t>
            </a:r>
            <a:endParaRPr lang="en-US" sz="800" dirty="0"/>
          </a:p>
        </p:txBody>
      </p:sp>
      <p:sp>
        <p:nvSpPr>
          <p:cNvPr id="28" name="Shape 25"/>
          <p:cNvSpPr/>
          <p:nvPr/>
        </p:nvSpPr>
        <p:spPr>
          <a:xfrm>
            <a:off x="10104120" y="3346704"/>
            <a:ext cx="1645920" cy="731520"/>
          </a:xfrm>
          <a:prstGeom prst="roundRect">
            <a:avLst>
              <a:gd name="adj" fmla="val 8750"/>
            </a:avLst>
          </a:prstGeom>
          <a:solidFill>
            <a:srgbClr val="FFFFFF"/>
          </a:solidFill>
          <a:ln w="12700">
            <a:solidFill>
              <a:srgbClr val="DCE3EE"/>
            </a:solidFill>
            <a:prstDash val="solid"/>
          </a:ln>
        </p:spPr>
      </p:sp>
      <p:sp>
        <p:nvSpPr>
          <p:cNvPr id="29" name="Text 26"/>
          <p:cNvSpPr/>
          <p:nvPr/>
        </p:nvSpPr>
        <p:spPr>
          <a:xfrm>
            <a:off x="10213848" y="3346704"/>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Board cost by country,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automotive grade included</a:t>
            </a:r>
            <a:endParaRPr lang="en-US" sz="800" dirty="0"/>
          </a:p>
        </p:txBody>
      </p:sp>
      <p:sp>
        <p:nvSpPr>
          <p:cNvPr id="30" name="Shape 27"/>
          <p:cNvSpPr/>
          <p:nvPr/>
        </p:nvSpPr>
        <p:spPr>
          <a:xfrm>
            <a:off x="10104120" y="4187952"/>
            <a:ext cx="1645920" cy="731520"/>
          </a:xfrm>
          <a:prstGeom prst="roundRect">
            <a:avLst>
              <a:gd name="adj" fmla="val 8750"/>
            </a:avLst>
          </a:prstGeom>
          <a:solidFill>
            <a:srgbClr val="FFFFFF"/>
          </a:solidFill>
          <a:ln w="12700">
            <a:solidFill>
              <a:srgbClr val="DCE3EE"/>
            </a:solidFill>
            <a:prstDash val="solid"/>
          </a:ln>
        </p:spPr>
      </p:sp>
      <p:sp>
        <p:nvSpPr>
          <p:cNvPr id="31" name="Text 28"/>
          <p:cNvSpPr/>
          <p:nvPr/>
        </p:nvSpPr>
        <p:spPr>
          <a:xfrm>
            <a:off x="10213848" y="4187952"/>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"Priced" and "to verify"</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totals</a:t>
            </a:r>
            <a:endParaRPr lang="en-US" sz="800" dirty="0"/>
          </a:p>
        </p:txBody>
      </p:sp>
      <p:sp>
        <p:nvSpPr>
          <p:cNvPr id="32" name="Shape 29"/>
          <p:cNvSpPr/>
          <p:nvPr/>
        </p:nvSpPr>
        <p:spPr>
          <a:xfrm>
            <a:off x="10104120" y="5029200"/>
            <a:ext cx="1645920" cy="731520"/>
          </a:xfrm>
          <a:prstGeom prst="roundRect">
            <a:avLst>
              <a:gd name="adj" fmla="val 8750"/>
            </a:avLst>
          </a:prstGeom>
          <a:solidFill>
            <a:srgbClr val="FFFFFF"/>
          </a:solidFill>
          <a:ln w="12700">
            <a:solidFill>
              <a:srgbClr val="DCE3EE"/>
            </a:solidFill>
            <a:prstDash val="solid"/>
          </a:ln>
        </p:spPr>
      </p:sp>
      <p:sp>
        <p:nvSpPr>
          <p:cNvPr id="33" name="Text 30"/>
          <p:cNvSpPr/>
          <p:nvPr/>
        </p:nvSpPr>
        <p:spPr>
          <a:xfrm>
            <a:off x="10213848" y="5029200"/>
            <a:ext cx="1426464" cy="73152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PDF, master report, library —</a:t>
            </a:r>
            <a:endParaRPr lang="en-US" sz="800" dirty="0"/>
          </a:p>
          <a:p>
            <a:pPr indent="0" marL="0">
              <a:buNone/>
            </a:pPr>
            <a:r>
              <a:rPr lang="en-US" sz="800" dirty="0">
                <a:solidFill>
                  <a:srgbClr val="3A4356"/>
                </a:solidFill>
                <a:latin typeface="Calibri" pitchFamily="34" charset="0"/>
                <a:ea typeface="Calibri" pitchFamily="34" charset="-122"/>
                <a:cs typeface="Calibri" pitchFamily="34" charset="-120"/>
              </a:rPr>
              <a:t>all the same number</a:t>
            </a:r>
            <a:endParaRPr lang="en-US" sz="800" dirty="0"/>
          </a:p>
        </p:txBody>
      </p:sp>
      <p:sp>
        <p:nvSpPr>
          <p:cNvPr id="34" name="Shape 31"/>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5" name="Shape 32"/>
          <p:cNvSpPr/>
          <p:nvPr/>
        </p:nvSpPr>
        <p:spPr>
          <a:xfrm>
            <a:off x="2734056" y="2560320"/>
            <a:ext cx="310896" cy="310896"/>
          </a:xfrm>
          <a:prstGeom prst="ellipse">
            <a:avLst/>
          </a:prstGeom>
          <a:solidFill>
            <a:srgbClr val="4F46E5"/>
          </a:solidFill>
          <a:ln/>
        </p:spPr>
      </p:sp>
      <p:pic>
        <p:nvPicPr>
          <p:cNvPr id="3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7" name="Text 33"/>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Files beat photos</a:t>
            </a:r>
            <a:endParaRPr lang="en-US" sz="960" dirty="0"/>
          </a:p>
        </p:txBody>
      </p:sp>
      <p:sp>
        <p:nvSpPr>
          <p:cNvPr id="38" name="Text 34"/>
          <p:cNvSpPr/>
          <p:nvPr/>
        </p:nvSpPr>
        <p:spPr>
          <a:xfrm>
            <a:off x="2752344" y="2862072"/>
            <a:ext cx="1856232" cy="58521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BOM file replaces the read list. Drill and Gerber files replace the guessed size, layer and via counts. Chip markings read are matched to the list.</a:t>
            </a:r>
            <a:endParaRPr lang="en-US" sz="780" dirty="0"/>
          </a:p>
        </p:txBody>
      </p:sp>
      <p:sp>
        <p:nvSpPr>
          <p:cNvPr id="39" name="Shape 35"/>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40" name="Shape 36"/>
          <p:cNvSpPr/>
          <p:nvPr/>
        </p:nvSpPr>
        <p:spPr>
          <a:xfrm>
            <a:off x="2734056" y="3822192"/>
            <a:ext cx="310896" cy="310896"/>
          </a:xfrm>
          <a:prstGeom prst="ellipse">
            <a:avLst/>
          </a:prstGeom>
          <a:solidFill>
            <a:srgbClr val="4F46E5"/>
          </a:solidFill>
          <a:ln/>
        </p:spPr>
      </p:sp>
      <p:pic>
        <p:nvPicPr>
          <p:cNvPr id="4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2" name="Text 37"/>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 spec held steady</a:t>
            </a:r>
            <a:endParaRPr lang="en-US" sz="960" dirty="0"/>
          </a:p>
        </p:txBody>
      </p:sp>
      <p:sp>
        <p:nvSpPr>
          <p:cNvPr id="43" name="Text 38"/>
          <p:cNvSpPr/>
          <p:nvPr/>
        </p:nvSpPr>
        <p:spPr>
          <a:xfrm>
            <a:off x="2752344" y="4123944"/>
            <a:ext cx="1856232" cy="58521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Guessed size, layers and vias held to plausible values; measured values kept exactly. Parts are counted from the list. Same photos, same board.</a:t>
            </a:r>
            <a:endParaRPr lang="en-US" sz="780" dirty="0"/>
          </a:p>
        </p:txBody>
      </p:sp>
      <p:sp>
        <p:nvSpPr>
          <p:cNvPr id="44" name="Shape 39"/>
          <p:cNvSpPr/>
          <p:nvPr/>
        </p:nvSpPr>
        <p:spPr>
          <a:xfrm>
            <a:off x="4983480" y="2450592"/>
            <a:ext cx="2103120" cy="1234440"/>
          </a:xfrm>
          <a:prstGeom prst="roundRect">
            <a:avLst>
              <a:gd name="adj" fmla="val 6667"/>
            </a:avLst>
          </a:prstGeom>
          <a:solidFill>
            <a:srgbClr val="FCF3E3"/>
          </a:solidFill>
          <a:ln w="17780">
            <a:solidFill>
              <a:srgbClr val="99651A"/>
            </a:solidFill>
            <a:prstDash val="solid"/>
          </a:ln>
        </p:spPr>
      </p:sp>
      <p:sp>
        <p:nvSpPr>
          <p:cNvPr id="45" name="Shape 40"/>
          <p:cNvSpPr/>
          <p:nvPr/>
        </p:nvSpPr>
        <p:spPr>
          <a:xfrm>
            <a:off x="5111496" y="2560320"/>
            <a:ext cx="310896" cy="310896"/>
          </a:xfrm>
          <a:prstGeom prst="ellipse">
            <a:avLst/>
          </a:prstGeom>
          <a:solidFill>
            <a:srgbClr val="99651A"/>
          </a:solidFill>
          <a:ln/>
        </p:spPr>
      </p:sp>
      <p:pic>
        <p:nvPicPr>
          <p:cNvPr id="46"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7" name="Text 41"/>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99651A"/>
                </a:solidFill>
                <a:latin typeface="Calibri" pitchFamily="34" charset="0"/>
                <a:ea typeface="Calibri" pitchFamily="34" charset="-122"/>
                <a:cs typeface="Calibri" pitchFamily="34" charset="-120"/>
              </a:rPr>
              <a:t>Price every line</a:t>
            </a:r>
            <a:endParaRPr lang="en-US" sz="960" dirty="0"/>
          </a:p>
        </p:txBody>
      </p:sp>
      <p:sp>
        <p:nvSpPr>
          <p:cNvPr id="48" name="Text 42"/>
          <p:cNvSpPr/>
          <p:nvPr/>
        </p:nvSpPr>
        <p:spPr>
          <a:xfrm>
            <a:off x="5129784" y="2862072"/>
            <a:ext cx="1810512" cy="704088"/>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Catalogue (458 parts, source and date on each) → range for a named part → class table. The model’s figure only picks a point inside the range. Each line shows its basis.</a:t>
            </a:r>
            <a:endParaRPr lang="en-US" sz="780" dirty="0"/>
          </a:p>
        </p:txBody>
      </p:sp>
      <p:sp>
        <p:nvSpPr>
          <p:cNvPr id="49" name="Shape 43"/>
          <p:cNvSpPr/>
          <p:nvPr/>
        </p:nvSpPr>
        <p:spPr>
          <a:xfrm>
            <a:off x="4983480" y="4846320"/>
            <a:ext cx="2103120" cy="1060704"/>
          </a:xfrm>
          <a:prstGeom prst="roundRect">
            <a:avLst>
              <a:gd name="adj" fmla="val 7759"/>
            </a:avLst>
          </a:prstGeom>
          <a:solidFill>
            <a:srgbClr val="EAF6EF"/>
          </a:solidFill>
          <a:ln w="17780">
            <a:solidFill>
              <a:srgbClr val="2A7F50"/>
            </a:solidFill>
            <a:prstDash val="solid"/>
          </a:ln>
        </p:spPr>
      </p:sp>
      <p:sp>
        <p:nvSpPr>
          <p:cNvPr id="50" name="Shape 44"/>
          <p:cNvSpPr/>
          <p:nvPr/>
        </p:nvSpPr>
        <p:spPr>
          <a:xfrm>
            <a:off x="5111496" y="4956048"/>
            <a:ext cx="310896" cy="310896"/>
          </a:xfrm>
          <a:prstGeom prst="ellipse">
            <a:avLst/>
          </a:prstGeom>
          <a:solidFill>
            <a:srgbClr val="2A7F50"/>
          </a:solidFill>
          <a:ln/>
        </p:spPr>
      </p:sp>
      <p:pic>
        <p:nvPicPr>
          <p:cNvPr id="51"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2" name="Text 45"/>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A7F50"/>
                </a:solidFill>
                <a:latin typeface="Calibri" pitchFamily="34" charset="0"/>
                <a:ea typeface="Calibri" pitchFamily="34" charset="-122"/>
                <a:cs typeface="Calibri" pitchFamily="34" charset="-120"/>
              </a:rPr>
              <a:t>The engineer</a:t>
            </a:r>
            <a:endParaRPr lang="en-US" sz="960" dirty="0"/>
          </a:p>
        </p:txBody>
      </p:sp>
      <p:sp>
        <p:nvSpPr>
          <p:cNvPr id="53" name="Text 46"/>
          <p:cNvSpPr/>
          <p:nvPr/>
        </p:nvSpPr>
        <p:spPr>
          <a:xfrm>
            <a:off x="5129784" y="5257800"/>
            <a:ext cx="1810512" cy="5303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Checks the lines marked "to verify" (£1+ with no quote behind them). Can edit any line; an edit or a real quote wins.</a:t>
            </a:r>
            <a:endParaRPr lang="en-US" sz="780" dirty="0"/>
          </a:p>
        </p:txBody>
      </p:sp>
      <p:sp>
        <p:nvSpPr>
          <p:cNvPr id="54" name="Shape 47"/>
          <p:cNvSpPr/>
          <p:nvPr/>
        </p:nvSpPr>
        <p:spPr>
          <a:xfrm>
            <a:off x="7498080" y="2450592"/>
            <a:ext cx="2286000" cy="1700784"/>
          </a:xfrm>
          <a:prstGeom prst="roundRect">
            <a:avLst>
              <a:gd name="adj" fmla="val 5376"/>
            </a:avLst>
          </a:prstGeom>
          <a:solidFill>
            <a:srgbClr val="0E5A5A"/>
          </a:solidFill>
          <a:ln/>
        </p:spPr>
      </p:sp>
      <p:sp>
        <p:nvSpPr>
          <p:cNvPr id="55" name="Shape 48"/>
          <p:cNvSpPr/>
          <p:nvPr/>
        </p:nvSpPr>
        <p:spPr>
          <a:xfrm>
            <a:off x="8412480" y="2596896"/>
            <a:ext cx="457200" cy="457200"/>
          </a:xfrm>
          <a:prstGeom prst="ellipse">
            <a:avLst/>
          </a:prstGeom>
          <a:solidFill>
            <a:srgbClr val="17A398"/>
          </a:solidFill>
          <a:ln/>
        </p:spPr>
      </p:sp>
      <p:pic>
        <p:nvPicPr>
          <p:cNvPr id="56"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7" name="Text 49"/>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8" name="Text 50"/>
          <p:cNvSpPr/>
          <p:nvPr/>
        </p:nvSpPr>
        <p:spPr>
          <a:xfrm>
            <a:off x="7589520" y="3419856"/>
            <a:ext cx="2103120" cy="713232"/>
          </a:xfrm>
          <a:prstGeom prst="rect">
            <a:avLst/>
          </a:prstGeom>
          <a:noFill/>
          <a:ln/>
        </p:spPr>
        <p:txBody>
          <a:bodyPr wrap="square" lIns="0" tIns="0" rIns="0" bIns="0" rtlCol="0" anchor="t"/>
          <a:lstStyle/>
          <a:p>
            <a:pPr algn="ctr" indent="0" marL="0">
              <a:buNone/>
            </a:pPr>
            <a:r>
              <a:rPr lang="en-US" sz="740" dirty="0">
                <a:solidFill>
                  <a:srgbClr val="9FD9CF"/>
                </a:solidFill>
                <a:latin typeface="Calibri" pitchFamily="34" charset="0"/>
                <a:ea typeface="Calibri" pitchFamily="34" charset="-122"/>
                <a:cs typeface="Calibri" pitchFamily="34" charset="-120"/>
              </a:rPr>
              <a:t>Bare board: area, layers, finish, vias, impedance, copper.</a:t>
            </a:r>
            <a:endParaRPr lang="en-US" sz="740" dirty="0"/>
          </a:p>
          <a:p>
            <a:pPr algn="ctr" indent="0" marL="0">
              <a:buNone/>
            </a:pPr>
            <a:r>
              <a:rPr lang="en-US" sz="740" dirty="0">
                <a:solidFill>
                  <a:srgbClr val="9FD9CF"/>
                </a:solidFill>
                <a:latin typeface="Calibri" pitchFamily="34" charset="0"/>
                <a:ea typeface="Calibri" pitchFamily="34" charset="-122"/>
                <a:cs typeface="Calibri" pitchFamily="34" charset="-120"/>
              </a:rPr>
              <a:t>Assembly: placements, AOI, X-ray, ICT.</a:t>
            </a:r>
            <a:endParaRPr lang="en-US" sz="740" dirty="0"/>
          </a:p>
          <a:p>
            <a:pPr algn="ctr" indent="0" marL="0">
              <a:buNone/>
            </a:pPr>
            <a:r>
              <a:rPr lang="en-US" sz="740" dirty="0">
                <a:solidFill>
                  <a:srgbClr val="9FD9CF"/>
                </a:solidFill>
                <a:latin typeface="Calibri" pitchFamily="34" charset="0"/>
                <a:ea typeface="Calibri" pitchFamily="34" charset="-122"/>
                <a:cs typeface="Calibri" pitchFamily="34" charset="-120"/>
              </a:rPr>
              <a:t>Automotive grade (IATF, class 3, burn-in) in the headline.</a:t>
            </a:r>
            <a:endParaRPr lang="en-US" sz="740" dirty="0"/>
          </a:p>
        </p:txBody>
      </p:sp>
      <p:sp>
        <p:nvSpPr>
          <p:cNvPr id="59" name="Shape 51"/>
          <p:cNvSpPr/>
          <p:nvPr/>
        </p:nvSpPr>
        <p:spPr>
          <a:xfrm>
            <a:off x="7498080" y="4352544"/>
            <a:ext cx="2286000" cy="841248"/>
          </a:xfrm>
          <a:prstGeom prst="roundRect">
            <a:avLst>
              <a:gd name="adj" fmla="val 9783"/>
            </a:avLst>
          </a:prstGeom>
          <a:solidFill>
            <a:srgbClr val="E6F4F1"/>
          </a:solidFill>
          <a:ln w="17780">
            <a:solidFill>
              <a:srgbClr val="0D7D71"/>
            </a:solidFill>
            <a:prstDash val="solid"/>
          </a:ln>
        </p:spPr>
      </p:sp>
      <p:sp>
        <p:nvSpPr>
          <p:cNvPr id="60" name="Text 52"/>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Country rate tables</a:t>
            </a:r>
            <a:endParaRPr lang="en-US" sz="960" dirty="0"/>
          </a:p>
        </p:txBody>
      </p:sp>
      <p:sp>
        <p:nvSpPr>
          <p:cNvPr id="61" name="Text 53"/>
          <p:cNvSpPr/>
          <p:nvPr/>
        </p:nvSpPr>
        <p:spPr>
          <a:xfrm>
            <a:off x="7644384" y="4764024"/>
            <a:ext cx="1993392" cy="310896"/>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14 countries; FX and wages re-based 29 Sep 2026; checked against 2026 published fab and assembly figures.</a:t>
            </a:r>
            <a:endParaRPr lang="en-US" sz="780" dirty="0"/>
          </a:p>
        </p:txBody>
      </p:sp>
      <p:sp>
        <p:nvSpPr>
          <p:cNvPr id="62" name="Shape 54"/>
          <p:cNvSpPr/>
          <p:nvPr/>
        </p:nvSpPr>
        <p:spPr>
          <a:xfrm>
            <a:off x="2606040" y="4956048"/>
            <a:ext cx="2148840" cy="950976"/>
          </a:xfrm>
          <a:prstGeom prst="roundRect">
            <a:avLst>
              <a:gd name="adj" fmla="val 8654"/>
            </a:avLst>
          </a:prstGeom>
          <a:solidFill>
            <a:srgbClr val="FCF3E3"/>
          </a:solidFill>
          <a:ln w="15875">
            <a:solidFill>
              <a:srgbClr val="99651A"/>
            </a:solidFill>
            <a:prstDash val="solid"/>
          </a:ln>
        </p:spPr>
      </p:sp>
      <p:sp>
        <p:nvSpPr>
          <p:cNvPr id="63" name="Text 55"/>
          <p:cNvSpPr/>
          <p:nvPr/>
        </p:nvSpPr>
        <p:spPr>
          <a:xfrm>
            <a:off x="2743200" y="5010912"/>
            <a:ext cx="1874520" cy="164592"/>
          </a:xfrm>
          <a:prstGeom prst="rect">
            <a:avLst/>
          </a:prstGeom>
          <a:noFill/>
          <a:ln/>
        </p:spPr>
        <p:txBody>
          <a:bodyPr wrap="square" lIns="0" tIns="0" rIns="0" bIns="0" rtlCol="0" anchor="ctr"/>
          <a:lstStyle/>
          <a:p>
            <a:pPr indent="0" marL="0">
              <a:buNone/>
            </a:pPr>
            <a:r>
              <a:rPr lang="en-US" sz="750" b="1" spc="40" kern="0" dirty="0">
                <a:solidFill>
                  <a:srgbClr val="99651A"/>
                </a:solidFill>
                <a:latin typeface="Calibri" pitchFamily="34" charset="0"/>
                <a:ea typeface="Calibri" pitchFamily="34" charset="-122"/>
                <a:cs typeface="Calibri" pitchFamily="34" charset="-120"/>
              </a:rPr>
              <a:t>WITHOUT AN API KEY</a:t>
            </a:r>
            <a:endParaRPr lang="en-US" sz="750" dirty="0"/>
          </a:p>
        </p:txBody>
      </p:sp>
      <p:sp>
        <p:nvSpPr>
          <p:cNvPr id="64" name="Text 56"/>
          <p:cNvSpPr/>
          <p:nvPr/>
        </p:nvSpPr>
        <p:spPr>
          <a:xfrm>
            <a:off x="2743200" y="5175504"/>
            <a:ext cx="1874520" cy="676656"/>
          </a:xfrm>
          <a:prstGeom prst="rect">
            <a:avLst/>
          </a:prstGeom>
          <a:noFill/>
          <a:ln/>
        </p:spPr>
        <p:txBody>
          <a:bodyPr wrap="square" lIns="0" tIns="0" rIns="0" bIns="0" rtlCol="0" anchor="t"/>
          <a:lstStyle/>
          <a:p>
            <a:pPr indent="0" marL="0">
              <a:buNone/>
            </a:pPr>
            <a:r>
              <a:rPr lang="en-US" sz="730" dirty="0">
                <a:solidFill>
                  <a:srgbClr val="3A4356"/>
                </a:solidFill>
                <a:latin typeface="Calibri" pitchFamily="34" charset="0"/>
                <a:ea typeface="Calibri" pitchFamily="34" charset="-122"/>
                <a:cs typeface="Calibri" pitchFamily="34" charset="-120"/>
              </a:rPr>
              <a:t>This screen is hidden; the PCB fab and PCBA forms still cost a board from typed inputs.</a:t>
            </a:r>
            <a:endParaRPr lang="en-US" sz="730" dirty="0"/>
          </a:p>
          <a:p>
            <a:pPr indent="0" marL="0">
              <a:buNone/>
            </a:pPr>
            <a:r>
              <a:rPr lang="en-US" sz="730" dirty="0">
                <a:solidFill>
                  <a:srgbClr val="3A4356"/>
                </a:solidFill>
                <a:latin typeface="Calibri" pitchFamily="34" charset="0"/>
                <a:ea typeface="Calibri" pitchFamily="34" charset="-122"/>
                <a:cs typeface="Calibri" pitchFamily="34" charset="-120"/>
              </a:rPr>
              <a:t>Distributor API pricing is built but needs its own key; the offline catalogue prices every line meanwhile.</a:t>
            </a:r>
            <a:endParaRPr lang="en-US" sz="730" dirty="0"/>
          </a:p>
        </p:txBody>
      </p:sp>
      <p:sp>
        <p:nvSpPr>
          <p:cNvPr id="65" name="Shape 57"/>
          <p:cNvSpPr/>
          <p:nvPr/>
        </p:nvSpPr>
        <p:spPr>
          <a:xfrm>
            <a:off x="2423160" y="3008376"/>
            <a:ext cx="182880" cy="0"/>
          </a:xfrm>
          <a:prstGeom prst="line">
            <a:avLst/>
          </a:prstGeom>
          <a:noFill/>
          <a:ln w="22225">
            <a:solidFill>
              <a:srgbClr val="1D6FB8"/>
            </a:solidFill>
            <a:prstDash val="solid"/>
            <a:tailEnd type="triangle"/>
          </a:ln>
        </p:spPr>
      </p:sp>
      <p:sp>
        <p:nvSpPr>
          <p:cNvPr id="66" name="Shape 58"/>
          <p:cNvSpPr/>
          <p:nvPr/>
        </p:nvSpPr>
        <p:spPr>
          <a:xfrm>
            <a:off x="3611880" y="3566160"/>
            <a:ext cx="0" cy="146304"/>
          </a:xfrm>
          <a:prstGeom prst="line">
            <a:avLst/>
          </a:prstGeom>
          <a:noFill/>
          <a:ln w="22225">
            <a:solidFill>
              <a:srgbClr val="4F46E5"/>
            </a:solidFill>
            <a:prstDash val="solid"/>
            <a:tailEnd type="triangle"/>
          </a:ln>
        </p:spPr>
      </p:sp>
      <p:sp>
        <p:nvSpPr>
          <p:cNvPr id="67" name="Shape 59"/>
          <p:cNvSpPr/>
          <p:nvPr/>
        </p:nvSpPr>
        <p:spPr>
          <a:xfrm>
            <a:off x="4754880" y="3008376"/>
            <a:ext cx="228600" cy="0"/>
          </a:xfrm>
          <a:prstGeom prst="line">
            <a:avLst/>
          </a:prstGeom>
          <a:noFill/>
          <a:ln w="22225">
            <a:solidFill>
              <a:srgbClr val="4F46E5"/>
            </a:solidFill>
            <a:prstDash val="solid"/>
            <a:tailEnd type="triangle"/>
          </a:ln>
        </p:spPr>
      </p:sp>
      <p:sp>
        <p:nvSpPr>
          <p:cNvPr id="68" name="Shape 60"/>
          <p:cNvSpPr/>
          <p:nvPr/>
        </p:nvSpPr>
        <p:spPr>
          <a:xfrm flipV="1">
            <a:off x="4754880" y="3520440"/>
            <a:ext cx="228600" cy="749808"/>
          </a:xfrm>
          <a:prstGeom prst="line">
            <a:avLst/>
          </a:prstGeom>
          <a:noFill/>
          <a:ln w="17780">
            <a:solidFill>
              <a:srgbClr val="4F46E5"/>
            </a:solidFill>
            <a:prstDash val="solid"/>
            <a:tailEnd type="triangle"/>
          </a:ln>
        </p:spPr>
      </p:sp>
      <p:sp>
        <p:nvSpPr>
          <p:cNvPr id="69" name="Shape 61"/>
          <p:cNvSpPr/>
          <p:nvPr/>
        </p:nvSpPr>
        <p:spPr>
          <a:xfrm>
            <a:off x="7086600" y="3063240"/>
            <a:ext cx="411480" cy="0"/>
          </a:xfrm>
          <a:prstGeom prst="line">
            <a:avLst/>
          </a:prstGeom>
          <a:noFill/>
          <a:ln w="22225">
            <a:solidFill>
              <a:srgbClr val="99651A"/>
            </a:solidFill>
            <a:prstDash val="solid"/>
            <a:tailEnd type="triangle"/>
          </a:ln>
        </p:spPr>
      </p:sp>
      <p:sp>
        <p:nvSpPr>
          <p:cNvPr id="70" name="Shape 62"/>
          <p:cNvSpPr/>
          <p:nvPr/>
        </p:nvSpPr>
        <p:spPr>
          <a:xfrm flipH="1">
            <a:off x="7086600" y="4773168"/>
            <a:ext cx="411480" cy="347472"/>
          </a:xfrm>
          <a:prstGeom prst="line">
            <a:avLst/>
          </a:prstGeom>
          <a:noFill/>
          <a:ln w="17780">
            <a:solidFill>
              <a:srgbClr val="0D7D71"/>
            </a:solidFill>
            <a:prstDash val="solid"/>
            <a:tailEnd type="triangle"/>
          </a:ln>
        </p:spPr>
      </p:sp>
      <p:sp>
        <p:nvSpPr>
          <p:cNvPr id="71" name="Shape 63"/>
          <p:cNvSpPr/>
          <p:nvPr/>
        </p:nvSpPr>
        <p:spPr>
          <a:xfrm flipV="1">
            <a:off x="6035040" y="3685032"/>
            <a:ext cx="0" cy="1161288"/>
          </a:xfrm>
          <a:prstGeom prst="line">
            <a:avLst/>
          </a:prstGeom>
          <a:noFill/>
          <a:ln w="17780">
            <a:solidFill>
              <a:srgbClr val="2A7F50"/>
            </a:solidFill>
            <a:prstDash val="solid"/>
            <a:tailEnd type="triangle"/>
          </a:ln>
        </p:spPr>
      </p:sp>
      <p:sp>
        <p:nvSpPr>
          <p:cNvPr id="72" name="Shape 64"/>
          <p:cNvSpPr/>
          <p:nvPr/>
        </p:nvSpPr>
        <p:spPr>
          <a:xfrm>
            <a:off x="9784080" y="3246120"/>
            <a:ext cx="320040" cy="0"/>
          </a:xfrm>
          <a:prstGeom prst="line">
            <a:avLst/>
          </a:prstGeom>
          <a:noFill/>
          <a:ln w="22225">
            <a:solidFill>
              <a:srgbClr val="2A7F50"/>
            </a:solidFill>
            <a:prstDash val="solid"/>
            <a:tailEnd type="triangle"/>
          </a:ln>
        </p:spPr>
      </p:sp>
      <p:sp>
        <p:nvSpPr>
          <p:cNvPr id="73" name="Shape 65"/>
          <p:cNvSpPr/>
          <p:nvPr/>
        </p:nvSpPr>
        <p:spPr>
          <a:xfrm>
            <a:off x="9784080" y="4754880"/>
            <a:ext cx="320040" cy="685800"/>
          </a:xfrm>
          <a:prstGeom prst="line">
            <a:avLst/>
          </a:prstGeom>
          <a:noFill/>
          <a:ln w="17780">
            <a:solidFill>
              <a:srgbClr val="2A7F50"/>
            </a:solidFill>
            <a:prstDash val="solid"/>
            <a:tailEnd type="triangle"/>
          </a:ln>
        </p:spPr>
      </p:sp>
      <p:sp>
        <p:nvSpPr>
          <p:cNvPr id="74" name="Shape 66"/>
          <p:cNvSpPr/>
          <p:nvPr/>
        </p:nvSpPr>
        <p:spPr>
          <a:xfrm>
            <a:off x="4197096" y="2368296"/>
            <a:ext cx="548640" cy="155448"/>
          </a:xfrm>
          <a:prstGeom prst="roundRect">
            <a:avLst>
              <a:gd name="adj" fmla="val 50000"/>
            </a:avLst>
          </a:prstGeom>
          <a:solidFill>
            <a:srgbClr val="4F46E5"/>
          </a:solidFill>
          <a:ln/>
        </p:spPr>
      </p:sp>
      <p:sp>
        <p:nvSpPr>
          <p:cNvPr id="75" name="Text 67"/>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6" name="Shape 68"/>
          <p:cNvSpPr/>
          <p:nvPr/>
        </p:nvSpPr>
        <p:spPr>
          <a:xfrm>
            <a:off x="4197096" y="3630168"/>
            <a:ext cx="548640" cy="155448"/>
          </a:xfrm>
          <a:prstGeom prst="roundRect">
            <a:avLst>
              <a:gd name="adj" fmla="val 50000"/>
            </a:avLst>
          </a:prstGeom>
          <a:solidFill>
            <a:srgbClr val="4F46E5"/>
          </a:solidFill>
          <a:ln/>
        </p:spPr>
      </p:sp>
      <p:sp>
        <p:nvSpPr>
          <p:cNvPr id="77" name="Text 69"/>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78" name="Shape 70"/>
          <p:cNvSpPr/>
          <p:nvPr/>
        </p:nvSpPr>
        <p:spPr>
          <a:xfrm>
            <a:off x="6528816" y="2368296"/>
            <a:ext cx="548640" cy="155448"/>
          </a:xfrm>
          <a:prstGeom prst="roundRect">
            <a:avLst>
              <a:gd name="adj" fmla="val 50000"/>
            </a:avLst>
          </a:prstGeom>
          <a:solidFill>
            <a:srgbClr val="99651A"/>
          </a:solidFill>
          <a:ln/>
        </p:spPr>
      </p:sp>
      <p:sp>
        <p:nvSpPr>
          <p:cNvPr id="79" name="Text 71"/>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0" name="Shape 72"/>
          <p:cNvSpPr/>
          <p:nvPr/>
        </p:nvSpPr>
        <p:spPr>
          <a:xfrm>
            <a:off x="9226296" y="2368296"/>
            <a:ext cx="548640" cy="155448"/>
          </a:xfrm>
          <a:prstGeom prst="roundRect">
            <a:avLst>
              <a:gd name="adj" fmla="val 50000"/>
            </a:avLst>
          </a:prstGeom>
          <a:solidFill>
            <a:srgbClr val="0D7D71"/>
          </a:solidFill>
          <a:ln/>
        </p:spPr>
      </p:sp>
      <p:sp>
        <p:nvSpPr>
          <p:cNvPr id="81" name="Text 73"/>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2" name="Shape 74"/>
          <p:cNvSpPr/>
          <p:nvPr/>
        </p:nvSpPr>
        <p:spPr>
          <a:xfrm>
            <a:off x="9226296" y="4270248"/>
            <a:ext cx="548640" cy="155448"/>
          </a:xfrm>
          <a:prstGeom prst="roundRect">
            <a:avLst>
              <a:gd name="adj" fmla="val 50000"/>
            </a:avLst>
          </a:prstGeom>
          <a:solidFill>
            <a:srgbClr val="0D7D71"/>
          </a:solidFill>
          <a:ln/>
        </p:spPr>
      </p:sp>
      <p:sp>
        <p:nvSpPr>
          <p:cNvPr id="83" name="Text 75"/>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AUTO</a:t>
            </a:r>
            <a:endParaRPr lang="en-US" sz="750" dirty="0"/>
          </a:p>
        </p:txBody>
      </p:sp>
      <p:sp>
        <p:nvSpPr>
          <p:cNvPr id="84" name="Shape 76"/>
          <p:cNvSpPr/>
          <p:nvPr/>
        </p:nvSpPr>
        <p:spPr>
          <a:xfrm>
            <a:off x="6528816" y="4764024"/>
            <a:ext cx="548640" cy="155448"/>
          </a:xfrm>
          <a:prstGeom prst="roundRect">
            <a:avLst>
              <a:gd name="adj" fmla="val 50000"/>
            </a:avLst>
          </a:prstGeom>
          <a:solidFill>
            <a:srgbClr val="2A7F50"/>
          </a:solidFill>
          <a:ln/>
        </p:spPr>
      </p:sp>
      <p:sp>
        <p:nvSpPr>
          <p:cNvPr id="85" name="Text 77"/>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750" b="1" spc="50" kern="0" dirty="0">
                <a:solidFill>
                  <a:srgbClr val="FFFFFF"/>
                </a:solidFill>
                <a:latin typeface="Calibri" pitchFamily="34" charset="0"/>
                <a:ea typeface="Calibri" pitchFamily="34" charset="-122"/>
                <a:cs typeface="Calibri" pitchFamily="34" charset="-120"/>
              </a:rPr>
              <a:t>HUMAN</a:t>
            </a:r>
            <a:endParaRPr lang="en-US" sz="750" dirty="0"/>
          </a:p>
        </p:txBody>
      </p:sp>
      <p:sp>
        <p:nvSpPr>
          <p:cNvPr id="86" name="Shape 78"/>
          <p:cNvSpPr/>
          <p:nvPr/>
        </p:nvSpPr>
        <p:spPr>
          <a:xfrm>
            <a:off x="411480" y="6126480"/>
            <a:ext cx="11338560" cy="384048"/>
          </a:xfrm>
          <a:prstGeom prst="roundRect">
            <a:avLst>
              <a:gd name="adj" fmla="val 19048"/>
            </a:avLst>
          </a:prstGeom>
          <a:solidFill>
            <a:srgbClr val="EAF6EF"/>
          </a:solidFill>
          <a:ln w="12700">
            <a:solidFill>
              <a:srgbClr val="2A7F50"/>
            </a:solidFill>
            <a:prstDash val="solid"/>
          </a:ln>
        </p:spPr>
      </p:sp>
      <p:sp>
        <p:nvSpPr>
          <p:cNvPr id="87" name="Text 79"/>
          <p:cNvSpPr/>
          <p:nvPr/>
        </p:nvSpPr>
        <p:spPr>
          <a:xfrm>
            <a:off x="594360" y="6126480"/>
            <a:ext cx="10972800" cy="384048"/>
          </a:xfrm>
          <a:prstGeom prst="rect">
            <a:avLst/>
          </a:prstGeom>
          <a:noFill/>
          <a:ln/>
        </p:spPr>
        <p:txBody>
          <a:bodyPr wrap="square" lIns="0" tIns="0" rIns="0" bIns="0" rtlCol="0" anchor="ctr"/>
          <a:lstStyle/>
          <a:p>
            <a:pPr indent="0" marL="0">
              <a:buNone/>
            </a:pPr>
            <a:r>
              <a:rPr lang="en-US" sz="960" b="1" dirty="0">
                <a:solidFill>
                  <a:srgbClr val="2A7F5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the model reads the board and names the parts; files beat photos; the catalogue and class table price every line with a source; the rate tables cost the board; the engineer owns the lines marked to verify.</a:t>
            </a:r>
            <a:endParaRPr lang="en-US" sz="960" dirty="0"/>
          </a:p>
        </p:txBody>
      </p:sp>
      <p:sp>
        <p:nvSpPr>
          <p:cNvPr id="88" name="Text 8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9" name="Text 8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Else Automates PCBA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different markets get the same name — and only one of them is what we built</a:t>
            </a:r>
            <a:endParaRPr lang="en-US" sz="1200" dirty="0"/>
          </a:p>
        </p:txBody>
      </p:sp>
      <p:sp>
        <p:nvSpPr>
          <p:cNvPr id="5" name="Shape 3"/>
          <p:cNvSpPr/>
          <p:nvPr/>
        </p:nvSpPr>
        <p:spPr>
          <a:xfrm>
            <a:off x="457200" y="1170432"/>
            <a:ext cx="3602736" cy="3127248"/>
          </a:xfrm>
          <a:prstGeom prst="roundRect">
            <a:avLst>
              <a:gd name="adj" fmla="val 2632"/>
            </a:avLst>
          </a:prstGeom>
          <a:solidFill>
            <a:srgbClr val="FFFFFF"/>
          </a:solidFill>
          <a:ln w="17780">
            <a:solidFill>
              <a:srgbClr val="1D6FB8"/>
            </a:solidFill>
            <a:prstDash val="solid"/>
          </a:ln>
        </p:spPr>
      </p:sp>
      <p:sp>
        <p:nvSpPr>
          <p:cNvPr id="6" name="Shape 4"/>
          <p:cNvSpPr/>
          <p:nvPr/>
        </p:nvSpPr>
        <p:spPr>
          <a:xfrm>
            <a:off x="457200" y="1170432"/>
            <a:ext cx="3602736" cy="310896"/>
          </a:xfrm>
          <a:prstGeom prst="rect">
            <a:avLst/>
          </a:prstGeom>
          <a:solidFill>
            <a:srgbClr val="1D6FB8"/>
          </a:solidFill>
          <a:ln/>
        </p:spPr>
      </p:sp>
      <p:sp>
        <p:nvSpPr>
          <p:cNvPr id="7" name="Text 5"/>
          <p:cNvSpPr/>
          <p:nvPr/>
        </p:nvSpPr>
        <p:spPr>
          <a:xfrm>
            <a:off x="585216"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A · EMS QUOTING</a:t>
            </a:r>
            <a:endParaRPr lang="en-US" sz="920" dirty="0"/>
          </a:p>
        </p:txBody>
      </p:sp>
      <p:sp>
        <p:nvSpPr>
          <p:cNvPr id="8" name="Text 6"/>
          <p:cNvSpPr/>
          <p:nvPr/>
        </p:nvSpPr>
        <p:spPr>
          <a:xfrm>
            <a:off x="585216" y="1554480"/>
            <a:ext cx="3346704" cy="237744"/>
          </a:xfrm>
          <a:prstGeom prst="rect">
            <a:avLst/>
          </a:prstGeom>
          <a:noFill/>
          <a:ln/>
        </p:spPr>
        <p:txBody>
          <a:bodyPr wrap="square" lIns="0" tIns="0" rIns="0" bIns="0" rtlCol="0" anchor="ctr"/>
          <a:lstStyle/>
          <a:p>
            <a:pPr indent="0" marL="0">
              <a:buNone/>
            </a:pPr>
            <a:r>
              <a:rPr lang="en-US" sz="900" b="1" i="1" dirty="0">
                <a:solidFill>
                  <a:srgbClr val="1D6FB8"/>
                </a:solidFill>
                <a:latin typeface="Calibri" pitchFamily="34" charset="0"/>
                <a:ea typeface="Calibri" pitchFamily="34" charset="-122"/>
                <a:cs typeface="Calibri" pitchFamily="34" charset="-120"/>
              </a:rPr>
              <a:t>Supplier-side. Cost-to-quote.</a:t>
            </a:r>
            <a:endParaRPr lang="en-US" sz="900" dirty="0"/>
          </a:p>
        </p:txBody>
      </p:sp>
      <p:sp>
        <p:nvSpPr>
          <p:cNvPr id="9" name="Text 7"/>
          <p:cNvSpPr/>
          <p:nvPr/>
        </p:nvSpPr>
        <p:spPr>
          <a:xfrm>
            <a:off x="585216"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Luminovo · CalcuQuote</a:t>
            </a:r>
            <a:endParaRPr lang="en-US" sz="940" dirty="0"/>
          </a:p>
        </p:txBody>
      </p:sp>
      <p:sp>
        <p:nvSpPr>
          <p:cNvPr id="10" name="Text 8"/>
          <p:cNvSpPr/>
          <p:nvPr/>
        </p:nvSpPr>
        <p:spPr>
          <a:xfrm>
            <a:off x="585216"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You already HAVE the BOM — the customer sent it. The job is a fast, competitive quote back.</a:t>
            </a:r>
            <a:endParaRPr lang="en-US" sz="860" dirty="0"/>
          </a:p>
        </p:txBody>
      </p:sp>
      <p:sp>
        <p:nvSpPr>
          <p:cNvPr id="11" name="Shape 9"/>
          <p:cNvSpPr/>
          <p:nvPr/>
        </p:nvSpPr>
        <p:spPr>
          <a:xfrm>
            <a:off x="585216" y="3602736"/>
            <a:ext cx="3346704" cy="566928"/>
          </a:xfrm>
          <a:prstGeom prst="roundRect">
            <a:avLst>
              <a:gd name="adj" fmla="val 11290"/>
            </a:avLst>
          </a:prstGeom>
          <a:solidFill>
            <a:srgbClr val="E8F1FA"/>
          </a:solidFill>
          <a:ln w="9525">
            <a:solidFill>
              <a:srgbClr val="1D6FB8"/>
            </a:solidFill>
            <a:prstDash val="solid"/>
          </a:ln>
        </p:spPr>
      </p:sp>
      <p:sp>
        <p:nvSpPr>
          <p:cNvPr id="12" name="Text 10"/>
          <p:cNvSpPr/>
          <p:nvPr/>
        </p:nvSpPr>
        <p:spPr>
          <a:xfrm>
            <a:off x="640080" y="3602736"/>
            <a:ext cx="3236976" cy="566928"/>
          </a:xfrm>
          <a:prstGeom prst="rect">
            <a:avLst/>
          </a:prstGeom>
          <a:noFill/>
          <a:ln/>
        </p:spPr>
        <p:txBody>
          <a:bodyPr wrap="square" lIns="0" tIns="0" rIns="0" bIns="0" rtlCol="0" anchor="ctr"/>
          <a:lstStyle/>
          <a:p>
            <a:pPr algn="ctr" indent="0" marL="0">
              <a:buNone/>
            </a:pPr>
            <a:r>
              <a:rPr lang="en-US" sz="840" b="1" dirty="0">
                <a:solidFill>
                  <a:srgbClr val="1D6FB8"/>
                </a:solidFill>
                <a:latin typeface="Consolas" pitchFamily="34" charset="0"/>
                <a:ea typeface="Consolas" pitchFamily="34" charset="-122"/>
                <a:cs typeface="Consolas" pitchFamily="34" charset="-120"/>
              </a:rPr>
              <a:t>BOM file in  →  price out</a:t>
            </a:r>
            <a:endParaRPr lang="en-US" sz="840" dirty="0"/>
          </a:p>
        </p:txBody>
      </p:sp>
      <p:sp>
        <p:nvSpPr>
          <p:cNvPr id="13" name="Shape 11"/>
          <p:cNvSpPr/>
          <p:nvPr/>
        </p:nvSpPr>
        <p:spPr>
          <a:xfrm>
            <a:off x="4288536" y="1170432"/>
            <a:ext cx="3602736" cy="3127248"/>
          </a:xfrm>
          <a:prstGeom prst="roundRect">
            <a:avLst>
              <a:gd name="adj" fmla="val 2632"/>
            </a:avLst>
          </a:prstGeom>
          <a:solidFill>
            <a:srgbClr val="FFFFFF"/>
          </a:solidFill>
          <a:ln w="17780">
            <a:solidFill>
              <a:srgbClr val="0D7D71"/>
            </a:solidFill>
            <a:prstDash val="solid"/>
          </a:ln>
        </p:spPr>
      </p:sp>
      <p:sp>
        <p:nvSpPr>
          <p:cNvPr id="14" name="Shape 12"/>
          <p:cNvSpPr/>
          <p:nvPr/>
        </p:nvSpPr>
        <p:spPr>
          <a:xfrm>
            <a:off x="4288536" y="1170432"/>
            <a:ext cx="3602736" cy="310896"/>
          </a:xfrm>
          <a:prstGeom prst="rect">
            <a:avLst/>
          </a:prstGeom>
          <a:solidFill>
            <a:srgbClr val="0D7D71"/>
          </a:solidFill>
          <a:ln/>
        </p:spPr>
      </p:sp>
      <p:sp>
        <p:nvSpPr>
          <p:cNvPr id="15" name="Text 13"/>
          <p:cNvSpPr/>
          <p:nvPr/>
        </p:nvSpPr>
        <p:spPr>
          <a:xfrm>
            <a:off x="4416552"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B · ENTERPRISE SHOULD-COST</a:t>
            </a:r>
            <a:endParaRPr lang="en-US" sz="920" dirty="0"/>
          </a:p>
        </p:txBody>
      </p:sp>
      <p:sp>
        <p:nvSpPr>
          <p:cNvPr id="16" name="Text 14"/>
          <p:cNvSpPr/>
          <p:nvPr/>
        </p:nvSpPr>
        <p:spPr>
          <a:xfrm>
            <a:off x="4416552" y="1554480"/>
            <a:ext cx="3346704" cy="237744"/>
          </a:xfrm>
          <a:prstGeom prst="rect">
            <a:avLst/>
          </a:prstGeom>
          <a:noFill/>
          <a:ln/>
        </p:spPr>
        <p:txBody>
          <a:bodyPr wrap="square" lIns="0" tIns="0" rIns="0" bIns="0" rtlCol="0" anchor="ctr"/>
          <a:lstStyle/>
          <a:p>
            <a:pPr indent="0" marL="0">
              <a:buNone/>
            </a:pPr>
            <a:r>
              <a:rPr lang="en-US" sz="900" b="1" i="1" dirty="0">
                <a:solidFill>
                  <a:srgbClr val="0D7D71"/>
                </a:solidFill>
                <a:latin typeface="Calibri" pitchFamily="34" charset="0"/>
                <a:ea typeface="Calibri" pitchFamily="34" charset="-122"/>
                <a:cs typeface="Calibri" pitchFamily="34" charset="-120"/>
              </a:rPr>
              <a:t>Buyer-side. What SHOULD it cost.</a:t>
            </a:r>
            <a:endParaRPr lang="en-US" sz="900" dirty="0"/>
          </a:p>
        </p:txBody>
      </p:sp>
      <p:sp>
        <p:nvSpPr>
          <p:cNvPr id="17" name="Text 15"/>
          <p:cNvSpPr/>
          <p:nvPr/>
        </p:nvSpPr>
        <p:spPr>
          <a:xfrm>
            <a:off x="4416552"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aPriori · Siemens · FACTON · Tset · Boothroyd Dewhurst</a:t>
            </a:r>
            <a:endParaRPr lang="en-US" sz="940" dirty="0"/>
          </a:p>
        </p:txBody>
      </p:sp>
      <p:sp>
        <p:nvSpPr>
          <p:cNvPr id="18" name="Text 16"/>
          <p:cNvSpPr/>
          <p:nvPr/>
        </p:nvSpPr>
        <p:spPr>
          <a:xfrm>
            <a:off x="4416552"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OEM cost engineering and purchasing. aPriori ships a full PCBA module — this is a mature, direct competitor.</a:t>
            </a:r>
            <a:endParaRPr lang="en-US" sz="860" dirty="0"/>
          </a:p>
        </p:txBody>
      </p:sp>
      <p:sp>
        <p:nvSpPr>
          <p:cNvPr id="19" name="Shape 17"/>
          <p:cNvSpPr/>
          <p:nvPr/>
        </p:nvSpPr>
        <p:spPr>
          <a:xfrm>
            <a:off x="4416552" y="3602736"/>
            <a:ext cx="3346704" cy="566928"/>
          </a:xfrm>
          <a:prstGeom prst="roundRect">
            <a:avLst>
              <a:gd name="adj" fmla="val 11290"/>
            </a:avLst>
          </a:prstGeom>
          <a:solidFill>
            <a:srgbClr val="E6F4F1"/>
          </a:solidFill>
          <a:ln w="9525">
            <a:solidFill>
              <a:srgbClr val="0D7D71"/>
            </a:solidFill>
            <a:prstDash val="solid"/>
          </a:ln>
        </p:spPr>
      </p:sp>
      <p:sp>
        <p:nvSpPr>
          <p:cNvPr id="20" name="Text 18"/>
          <p:cNvSpPr/>
          <p:nvPr/>
        </p:nvSpPr>
        <p:spPr>
          <a:xfrm>
            <a:off x="4471416" y="3602736"/>
            <a:ext cx="3236976" cy="566928"/>
          </a:xfrm>
          <a:prstGeom prst="rect">
            <a:avLst/>
          </a:prstGeom>
          <a:noFill/>
          <a:ln/>
        </p:spPr>
        <p:txBody>
          <a:bodyPr wrap="square" lIns="0" tIns="0" rIns="0" bIns="0" rtlCol="0" anchor="ctr"/>
          <a:lstStyle/>
          <a:p>
            <a:pPr algn="ctr" indent="0" marL="0">
              <a:buNone/>
            </a:pPr>
            <a:r>
              <a:rPr lang="en-US" sz="840" b="1" dirty="0">
                <a:solidFill>
                  <a:srgbClr val="0D7D71"/>
                </a:solidFill>
                <a:latin typeface="Consolas" pitchFamily="34" charset="0"/>
                <a:ea typeface="Consolas" pitchFamily="34" charset="-122"/>
                <a:cs typeface="Consolas" pitchFamily="34" charset="-120"/>
              </a:rPr>
              <a:t>BOM + board spec in  →  should-cost out</a:t>
            </a:r>
            <a:endParaRPr lang="en-US" sz="840" dirty="0"/>
          </a:p>
        </p:txBody>
      </p:sp>
      <p:sp>
        <p:nvSpPr>
          <p:cNvPr id="21" name="Shape 19"/>
          <p:cNvSpPr/>
          <p:nvPr/>
        </p:nvSpPr>
        <p:spPr>
          <a:xfrm>
            <a:off x="8119872" y="1170432"/>
            <a:ext cx="3602736" cy="3127248"/>
          </a:xfrm>
          <a:prstGeom prst="roundRect">
            <a:avLst>
              <a:gd name="adj" fmla="val 2632"/>
            </a:avLst>
          </a:prstGeom>
          <a:solidFill>
            <a:srgbClr val="FFFFFF"/>
          </a:solidFill>
          <a:ln w="17780">
            <a:solidFill>
              <a:srgbClr val="6B3FA0"/>
            </a:solidFill>
            <a:prstDash val="solid"/>
          </a:ln>
        </p:spPr>
      </p:sp>
      <p:sp>
        <p:nvSpPr>
          <p:cNvPr id="22" name="Shape 20"/>
          <p:cNvSpPr/>
          <p:nvPr/>
        </p:nvSpPr>
        <p:spPr>
          <a:xfrm>
            <a:off x="8119872" y="1170432"/>
            <a:ext cx="3602736" cy="310896"/>
          </a:xfrm>
          <a:prstGeom prst="rect">
            <a:avLst/>
          </a:prstGeom>
          <a:solidFill>
            <a:srgbClr val="6B3FA0"/>
          </a:solidFill>
          <a:ln/>
        </p:spPr>
      </p:sp>
      <p:sp>
        <p:nvSpPr>
          <p:cNvPr id="23" name="Text 21"/>
          <p:cNvSpPr/>
          <p:nvPr/>
        </p:nvSpPr>
        <p:spPr>
          <a:xfrm>
            <a:off x="8247888" y="1170432"/>
            <a:ext cx="3346704"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C · REVERSE COSTING</a:t>
            </a:r>
            <a:endParaRPr lang="en-US" sz="920" dirty="0"/>
          </a:p>
        </p:txBody>
      </p:sp>
      <p:sp>
        <p:nvSpPr>
          <p:cNvPr id="24" name="Text 22"/>
          <p:cNvSpPr/>
          <p:nvPr/>
        </p:nvSpPr>
        <p:spPr>
          <a:xfrm>
            <a:off x="8247888" y="1554480"/>
            <a:ext cx="3346704" cy="237744"/>
          </a:xfrm>
          <a:prstGeom prst="rect">
            <a:avLst/>
          </a:prstGeom>
          <a:noFill/>
          <a:ln/>
        </p:spPr>
        <p:txBody>
          <a:bodyPr wrap="square" lIns="0" tIns="0" rIns="0" bIns="0" rtlCol="0" anchor="ctr"/>
          <a:lstStyle/>
          <a:p>
            <a:pPr indent="0" marL="0">
              <a:buNone/>
            </a:pPr>
            <a:r>
              <a:rPr lang="en-US" sz="900" b="1" i="1" dirty="0">
                <a:solidFill>
                  <a:srgbClr val="6B3FA0"/>
                </a:solidFill>
                <a:latin typeface="Calibri" pitchFamily="34" charset="0"/>
                <a:ea typeface="Calibri" pitchFamily="34" charset="-122"/>
                <a:cs typeface="Calibri" pitchFamily="34" charset="-120"/>
              </a:rPr>
              <a:t>Physical board in. A service, not software.</a:t>
            </a:r>
            <a:endParaRPr lang="en-US" sz="900" dirty="0"/>
          </a:p>
        </p:txBody>
      </p:sp>
      <p:sp>
        <p:nvSpPr>
          <p:cNvPr id="25" name="Text 23"/>
          <p:cNvSpPr/>
          <p:nvPr/>
        </p:nvSpPr>
        <p:spPr>
          <a:xfrm>
            <a:off x="8247888" y="1828800"/>
            <a:ext cx="3346704" cy="475488"/>
          </a:xfrm>
          <a:prstGeom prst="rect">
            <a:avLst/>
          </a:prstGeom>
          <a:noFill/>
          <a:ln/>
        </p:spPr>
        <p:txBody>
          <a:bodyPr wrap="square" lIns="0" tIns="0" rIns="0" bIns="0" rtlCol="0" anchor="t"/>
          <a:lstStyle/>
          <a:p>
            <a:pPr indent="0" marL="0">
              <a:buNone/>
            </a:pPr>
            <a:r>
              <a:rPr lang="en-US" sz="940" b="1" dirty="0">
                <a:solidFill>
                  <a:srgbClr val="16325C"/>
                </a:solidFill>
                <a:latin typeface="Calibri" pitchFamily="34" charset="0"/>
                <a:ea typeface="Calibri" pitchFamily="34" charset="-122"/>
                <a:cs typeface="Calibri" pitchFamily="34" charset="-120"/>
              </a:rPr>
              <a:t>Yole SystemPlus · TechInsights</a:t>
            </a:r>
            <a:endParaRPr lang="en-US" sz="940" dirty="0"/>
          </a:p>
        </p:txBody>
      </p:sp>
      <p:sp>
        <p:nvSpPr>
          <p:cNvPr id="26" name="Text 24"/>
          <p:cNvSpPr/>
          <p:nvPr/>
        </p:nvSpPr>
        <p:spPr>
          <a:xfrm>
            <a:off x="8247888" y="2359152"/>
            <a:ext cx="3346704" cy="11338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Engineers decap, X-ray and cross-section a real board. Closest to what we do — done by hand, at consultancy price and pace.</a:t>
            </a:r>
            <a:endParaRPr lang="en-US" sz="860" dirty="0"/>
          </a:p>
        </p:txBody>
      </p:sp>
      <p:sp>
        <p:nvSpPr>
          <p:cNvPr id="27" name="Shape 25"/>
          <p:cNvSpPr/>
          <p:nvPr/>
        </p:nvSpPr>
        <p:spPr>
          <a:xfrm>
            <a:off x="8247888" y="3602736"/>
            <a:ext cx="3346704" cy="566928"/>
          </a:xfrm>
          <a:prstGeom prst="roundRect">
            <a:avLst>
              <a:gd name="adj" fmla="val 11290"/>
            </a:avLst>
          </a:prstGeom>
          <a:solidFill>
            <a:srgbClr val="F1EBF8"/>
          </a:solidFill>
          <a:ln w="9525">
            <a:solidFill>
              <a:srgbClr val="6B3FA0"/>
            </a:solidFill>
            <a:prstDash val="solid"/>
          </a:ln>
        </p:spPr>
      </p:sp>
      <p:sp>
        <p:nvSpPr>
          <p:cNvPr id="28" name="Text 26"/>
          <p:cNvSpPr/>
          <p:nvPr/>
        </p:nvSpPr>
        <p:spPr>
          <a:xfrm>
            <a:off x="8302752" y="3602736"/>
            <a:ext cx="3236976" cy="566928"/>
          </a:xfrm>
          <a:prstGeom prst="rect">
            <a:avLst/>
          </a:prstGeom>
          <a:noFill/>
          <a:ln/>
        </p:spPr>
        <p:txBody>
          <a:bodyPr wrap="square" lIns="0" tIns="0" rIns="0" bIns="0" rtlCol="0" anchor="ctr"/>
          <a:lstStyle/>
          <a:p>
            <a:pPr algn="ctr" indent="0" marL="0">
              <a:buNone/>
            </a:pPr>
            <a:r>
              <a:rPr lang="en-US" sz="840" b="1" dirty="0">
                <a:solidFill>
                  <a:srgbClr val="6B3FA0"/>
                </a:solidFill>
                <a:latin typeface="Consolas" pitchFamily="34" charset="0"/>
                <a:ea typeface="Consolas" pitchFamily="34" charset="-122"/>
                <a:cs typeface="Consolas" pitchFamily="34" charset="-120"/>
              </a:rPr>
              <a:t>The board itself  →  BOM + cost</a:t>
            </a:r>
            <a:endParaRPr lang="en-US" sz="840" dirty="0"/>
          </a:p>
        </p:txBody>
      </p:sp>
      <p:sp>
        <p:nvSpPr>
          <p:cNvPr id="29" name="Shape 27"/>
          <p:cNvSpPr/>
          <p:nvPr/>
        </p:nvSpPr>
        <p:spPr>
          <a:xfrm>
            <a:off x="457200" y="4443984"/>
            <a:ext cx="11274552" cy="603504"/>
          </a:xfrm>
          <a:prstGeom prst="roundRect">
            <a:avLst>
              <a:gd name="adj" fmla="val 12121"/>
            </a:avLst>
          </a:prstGeom>
          <a:solidFill>
            <a:srgbClr val="EEF1F6"/>
          </a:solidFill>
          <a:ln w="12700">
            <a:solidFill>
              <a:srgbClr val="686F7D"/>
            </a:solidFill>
            <a:prstDash val="solid"/>
          </a:ln>
        </p:spPr>
      </p:sp>
      <p:sp>
        <p:nvSpPr>
          <p:cNvPr id="30" name="Text 28"/>
          <p:cNvSpPr/>
          <p:nvPr/>
        </p:nvSpPr>
        <p:spPr>
          <a:xfrm>
            <a:off x="621792" y="4443984"/>
            <a:ext cx="10972800" cy="603504"/>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Underneath all three — the component price layer they rent:  </a:t>
            </a:r>
            <a:pPr indent="0" marL="0">
              <a:buNone/>
            </a:pPr>
            <a:r>
              <a:rPr lang="en-US" sz="940" dirty="0">
                <a:solidFill>
                  <a:srgbClr val="3A4356"/>
                </a:solidFill>
                <a:latin typeface="Calibri" pitchFamily="34" charset="0"/>
                <a:ea typeface="Calibri" pitchFamily="34" charset="-122"/>
                <a:cs typeface="Calibri" pitchFamily="34" charset="-120"/>
              </a:rPr>
              <a:t>SiliconExpert · Z2Data · Octopart / Nexar (Altium) · Supplyframe (Siemens).  Nobody in this market builds their own component price book — they subscribe to one.</a:t>
            </a:r>
            <a:endParaRPr lang="en-US" sz="940" dirty="0"/>
          </a:p>
        </p:txBody>
      </p:sp>
      <p:sp>
        <p:nvSpPr>
          <p:cNvPr id="31" name="Shape 29"/>
          <p:cNvSpPr/>
          <p:nvPr/>
        </p:nvSpPr>
        <p:spPr>
          <a:xfrm>
            <a:off x="457200" y="5157216"/>
            <a:ext cx="11274552" cy="548640"/>
          </a:xfrm>
          <a:prstGeom prst="roundRect">
            <a:avLst>
              <a:gd name="adj" fmla="val 13333"/>
            </a:avLst>
          </a:prstGeom>
          <a:solidFill>
            <a:srgbClr val="FCF3E3"/>
          </a:solidFill>
          <a:ln w="12700">
            <a:solidFill>
              <a:srgbClr val="99651A"/>
            </a:solidFill>
            <a:prstDash val="solid"/>
          </a:ln>
        </p:spPr>
      </p:sp>
      <p:sp>
        <p:nvSpPr>
          <p:cNvPr id="32" name="Text 30"/>
          <p:cNvSpPr/>
          <p:nvPr/>
        </p:nvSpPr>
        <p:spPr>
          <a:xfrm>
            <a:off x="621792" y="5157216"/>
            <a:ext cx="10972800" cy="54864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Not the same thing:  </a:t>
            </a:r>
            <a:pPr indent="0" marL="0">
              <a:buNone/>
            </a:pPr>
            <a:r>
              <a:rPr lang="en-US" sz="940" dirty="0">
                <a:solidFill>
                  <a:srgbClr val="3A4356"/>
                </a:solidFill>
                <a:latin typeface="Calibri" pitchFamily="34" charset="0"/>
                <a:ea typeface="Calibri" pitchFamily="34" charset="-122"/>
                <a:cs typeface="Calibri" pitchFamily="34" charset="-120"/>
              </a:rPr>
              <a:t>JLCPCB / PCBWay / Eurocircuits instant quoting is fully automated and fully public — but it returns THEIR price, which is a quotation, not a should-cost. Useful as a floor reference; useless as a negotiation position.</a:t>
            </a:r>
            <a:endParaRPr lang="en-US" sz="940" dirty="0"/>
          </a:p>
        </p:txBody>
      </p:sp>
      <p:sp>
        <p:nvSpPr>
          <p:cNvPr id="33" name="Shape 31"/>
          <p:cNvSpPr/>
          <p:nvPr/>
        </p:nvSpPr>
        <p:spPr>
          <a:xfrm>
            <a:off x="457200" y="5815584"/>
            <a:ext cx="11274552" cy="548640"/>
          </a:xfrm>
          <a:prstGeom prst="roundRect">
            <a:avLst>
              <a:gd name="adj" fmla="val 13333"/>
            </a:avLst>
          </a:prstGeom>
          <a:solidFill>
            <a:srgbClr val="E8F1FA"/>
          </a:solidFill>
          <a:ln w="12700">
            <a:solidFill>
              <a:srgbClr val="1D6FB8"/>
            </a:solidFill>
            <a:prstDash val="solid"/>
          </a:ln>
        </p:spPr>
      </p:sp>
      <p:sp>
        <p:nvSpPr>
          <p:cNvPr id="34" name="Text 32"/>
          <p:cNvSpPr/>
          <p:nvPr/>
        </p:nvSpPr>
        <p:spPr>
          <a:xfrm>
            <a:off x="621792" y="5815584"/>
            <a:ext cx="10972800" cy="548640"/>
          </a:xfrm>
          <a:prstGeom prst="rect">
            <a:avLst/>
          </a:prstGeom>
          <a:noFill/>
          <a:ln/>
        </p:spPr>
        <p:txBody>
          <a:bodyPr wrap="square" lIns="0" tIns="0" rIns="0" bIns="0" rtlCol="0" anchor="ctr"/>
          <a:lstStyle/>
          <a:p>
            <a:pPr indent="0" marL="0">
              <a:buNone/>
            </a:pPr>
            <a:r>
              <a:rPr lang="en-US" sz="980" b="1" dirty="0">
                <a:solidFill>
                  <a:srgbClr val="1D6FB8"/>
                </a:solidFill>
                <a:latin typeface="Calibri" pitchFamily="34" charset="0"/>
                <a:ea typeface="Calibri" pitchFamily="34" charset="-122"/>
                <a:cs typeface="Calibri" pitchFamily="34" charset="-120"/>
              </a:rPr>
              <a:t>Where we sit:  </a:t>
            </a:r>
            <a:pPr indent="0" marL="0">
              <a:buNone/>
            </a:pPr>
            <a:r>
              <a:rPr lang="en-US" sz="980" dirty="0">
                <a:solidFill>
                  <a:srgbClr val="3A4356"/>
                </a:solidFill>
                <a:latin typeface="Calibri" pitchFamily="34" charset="0"/>
                <a:ea typeface="Calibri" pitchFamily="34" charset="-122"/>
                <a:cs typeface="Calibri" pitchFamily="34" charset="-120"/>
              </a:rPr>
              <a:t>camp B by purpose — a buyer-side should-cost — reached by camp C’s route, from the physical board, automatically. The photo route needs AI, so it is off at JLR.</a:t>
            </a:r>
            <a:endParaRPr lang="en-US" sz="980" dirty="0"/>
          </a:p>
        </p:txBody>
      </p:sp>
      <p:sp>
        <p:nvSpPr>
          <p:cNvPr id="35"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6"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Who Does What — Automation, Delivery Model and Price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row from a named public source. Where a vendor does not publish a price, the cell says so — nothing here is estimated</a:t>
            </a:r>
            <a:endParaRPr lang="en-US" sz="1200" dirty="0"/>
          </a:p>
        </p:txBody>
      </p:sp>
      <p:sp>
        <p:nvSpPr>
          <p:cNvPr id="5" name="Shape 3"/>
          <p:cNvSpPr/>
          <p:nvPr/>
        </p:nvSpPr>
        <p:spPr>
          <a:xfrm>
            <a:off x="457200" y="1078992"/>
            <a:ext cx="11274552" cy="402336"/>
          </a:xfrm>
          <a:prstGeom prst="roundRect">
            <a:avLst>
              <a:gd name="adj" fmla="val 15909"/>
            </a:avLst>
          </a:prstGeom>
          <a:solidFill>
            <a:srgbClr val="EEF1F6"/>
          </a:solidFill>
          <a:ln w="11430">
            <a:solidFill>
              <a:srgbClr val="686F7D"/>
            </a:solidFill>
            <a:prstDash val="solid"/>
          </a:ln>
        </p:spPr>
      </p:sp>
      <p:sp>
        <p:nvSpPr>
          <p:cNvPr id="6" name="Text 4"/>
          <p:cNvSpPr/>
          <p:nvPr/>
        </p:nvSpPr>
        <p:spPr>
          <a:xfrm>
            <a:off x="621792" y="1078992"/>
            <a:ext cx="10972800" cy="402336"/>
          </a:xfrm>
          <a:prstGeom prst="rect">
            <a:avLst/>
          </a:prstGeom>
          <a:noFill/>
          <a:ln/>
        </p:spPr>
        <p:txBody>
          <a:bodyPr wrap="square" lIns="0" tIns="0" rIns="0" bIns="0" rtlCol="0" anchor="ctr"/>
          <a:lstStyle/>
          <a:p>
            <a:pPr indent="0" marL="0">
              <a:buNone/>
            </a:pPr>
            <a:r>
              <a:rPr lang="en-US" sz="900" b="1" dirty="0">
                <a:solidFill>
                  <a:srgbClr val="16325C"/>
                </a:solidFill>
                <a:latin typeface="Calibri" pitchFamily="34" charset="0"/>
                <a:ea typeface="Calibri" pitchFamily="34" charset="-122"/>
                <a:cs typeface="Calibri" pitchFamily="34" charset="-120"/>
              </a:rPr>
              <a:t>Automation scale:   </a:t>
            </a:r>
            <a:pPr indent="0" marL="0">
              <a:buNone/>
            </a:pPr>
            <a:r>
              <a:rPr lang="en-US" sz="900" b="1" dirty="0">
                <a:solidFill>
                  <a:srgbClr val="6B3FA0"/>
                </a:solidFill>
                <a:latin typeface="Calibri" pitchFamily="34" charset="0"/>
                <a:ea typeface="Calibri" pitchFamily="34" charset="-122"/>
                <a:cs typeface="Calibri" pitchFamily="34" charset="-120"/>
              </a:rPr>
              <a:t>L0 </a:t>
            </a:r>
            <a:pPr indent="0" marL="0">
              <a:buNone/>
            </a:pPr>
            <a:r>
              <a:rPr lang="en-US" sz="900" dirty="0">
                <a:solidFill>
                  <a:srgbClr val="3A4356"/>
                </a:solidFill>
                <a:latin typeface="Calibri" pitchFamily="34" charset="0"/>
                <a:ea typeface="Calibri" pitchFamily="34" charset="-122"/>
                <a:cs typeface="Calibri" pitchFamily="34" charset="-120"/>
              </a:rPr>
              <a:t>manual service (people take the board apart)   </a:t>
            </a:r>
            <a:pPr indent="0" marL="0">
              <a:buNone/>
            </a:pPr>
            <a:r>
              <a:rPr lang="en-US" sz="900" b="1" dirty="0">
                <a:solidFill>
                  <a:srgbClr val="99651A"/>
                </a:solidFill>
                <a:latin typeface="Calibri" pitchFamily="34" charset="0"/>
                <a:ea typeface="Calibri" pitchFamily="34" charset="-122"/>
                <a:cs typeface="Calibri" pitchFamily="34" charset="-120"/>
              </a:rPr>
              <a:t>L1 </a:t>
            </a:r>
            <a:pPr indent="0" marL="0">
              <a:buNone/>
            </a:pPr>
            <a:r>
              <a:rPr lang="en-US" sz="900" dirty="0">
                <a:solidFill>
                  <a:srgbClr val="3A4356"/>
                </a:solidFill>
                <a:latin typeface="Calibri" pitchFamily="34" charset="0"/>
                <a:ea typeface="Calibri" pitchFamily="34" charset="-122"/>
                <a:cs typeface="Calibri" pitchFamily="34" charset="-120"/>
              </a:rPr>
              <a:t>software, human keys the BOM   </a:t>
            </a:r>
            <a:pPr indent="0" marL="0">
              <a:buNone/>
            </a:pPr>
            <a:r>
              <a:rPr lang="en-US" sz="900" b="1" dirty="0">
                <a:solidFill>
                  <a:srgbClr val="1D6FB8"/>
                </a:solidFill>
                <a:latin typeface="Calibri" pitchFamily="34" charset="0"/>
                <a:ea typeface="Calibri" pitchFamily="34" charset="-122"/>
                <a:cs typeface="Calibri" pitchFamily="34" charset="-120"/>
              </a:rPr>
              <a:t>L2 </a:t>
            </a:r>
            <a:pPr indent="0" marL="0">
              <a:buNone/>
            </a:pPr>
            <a:r>
              <a:rPr lang="en-US" sz="900" dirty="0">
                <a:solidFill>
                  <a:srgbClr val="3A4356"/>
                </a:solidFill>
                <a:latin typeface="Calibri" pitchFamily="34" charset="0"/>
                <a:ea typeface="Calibri" pitchFamily="34" charset="-122"/>
                <a:cs typeface="Calibri" pitchFamily="34" charset="-120"/>
              </a:rPr>
              <a:t>BOM file in → cost out   </a:t>
            </a:r>
            <a:pPr indent="0" marL="0">
              <a:buNone/>
            </a:pPr>
            <a:r>
              <a:rPr lang="en-US" sz="900" b="1" dirty="0">
                <a:solidFill>
                  <a:srgbClr val="2A7F50"/>
                </a:solidFill>
                <a:latin typeface="Calibri" pitchFamily="34" charset="0"/>
                <a:ea typeface="Calibri" pitchFamily="34" charset="-122"/>
                <a:cs typeface="Calibri" pitchFamily="34" charset="-120"/>
              </a:rPr>
              <a:t>L3 </a:t>
            </a:r>
            <a:pPr indent="0" marL="0">
              <a:buNone/>
            </a:pPr>
            <a:r>
              <a:rPr lang="en-US" sz="900" dirty="0">
                <a:solidFill>
                  <a:srgbClr val="3A4356"/>
                </a:solidFill>
                <a:latin typeface="Calibri" pitchFamily="34" charset="0"/>
                <a:ea typeface="Calibri" pitchFamily="34" charset="-122"/>
                <a:cs typeface="Calibri" pitchFamily="34" charset="-120"/>
              </a:rPr>
              <a:t>photo / unstructured in → BOM + cost out</a:t>
            </a:r>
            <a:endParaRPr lang="en-US" sz="900" dirty="0"/>
          </a:p>
        </p:txBody>
      </p:sp>
      <p:sp>
        <p:nvSpPr>
          <p:cNvPr id="7" name="Text 5"/>
          <p:cNvSpPr/>
          <p:nvPr/>
        </p:nvSpPr>
        <p:spPr>
          <a:xfrm>
            <a:off x="457200" y="1554480"/>
            <a:ext cx="182880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Who</a:t>
            </a:r>
            <a:endParaRPr lang="en-US" sz="900" dirty="0"/>
          </a:p>
        </p:txBody>
      </p:sp>
      <p:sp>
        <p:nvSpPr>
          <p:cNvPr id="8" name="Text 6"/>
          <p:cNvSpPr/>
          <p:nvPr/>
        </p:nvSpPr>
        <p:spPr>
          <a:xfrm>
            <a:off x="2286000" y="1554480"/>
            <a:ext cx="91440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9" name="Text 7"/>
          <p:cNvSpPr/>
          <p:nvPr/>
        </p:nvSpPr>
        <p:spPr>
          <a:xfrm>
            <a:off x="3200400" y="1554480"/>
            <a:ext cx="187452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goes in</a:t>
            </a:r>
            <a:endParaRPr lang="en-US" sz="900" dirty="0"/>
          </a:p>
        </p:txBody>
      </p:sp>
      <p:sp>
        <p:nvSpPr>
          <p:cNvPr id="10" name="Text 8"/>
          <p:cNvSpPr/>
          <p:nvPr/>
        </p:nvSpPr>
        <p:spPr>
          <a:xfrm>
            <a:off x="5074920" y="1554480"/>
            <a:ext cx="475488" cy="274320"/>
          </a:xfrm>
          <a:prstGeom prst="rect">
            <a:avLst/>
          </a:prstGeom>
          <a:solidFill>
            <a:srgbClr val="16325C"/>
          </a:solidFill>
          <a:ln/>
        </p:spPr>
        <p:txBody>
          <a:bodyPr wrap="square" lIns="635" tIns="635" rIns="635" bIns="635"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Auto</a:t>
            </a:r>
            <a:endParaRPr lang="en-US" sz="900" dirty="0"/>
          </a:p>
        </p:txBody>
      </p:sp>
      <p:sp>
        <p:nvSpPr>
          <p:cNvPr id="11" name="Text 9"/>
          <p:cNvSpPr/>
          <p:nvPr/>
        </p:nvSpPr>
        <p:spPr>
          <a:xfrm>
            <a:off x="5550408" y="1554480"/>
            <a:ext cx="3291840"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Price (published only)</a:t>
            </a:r>
            <a:endParaRPr lang="en-US" sz="900" dirty="0"/>
          </a:p>
        </p:txBody>
      </p:sp>
      <p:sp>
        <p:nvSpPr>
          <p:cNvPr id="12" name="Text 10"/>
          <p:cNvSpPr/>
          <p:nvPr/>
        </p:nvSpPr>
        <p:spPr>
          <a:xfrm>
            <a:off x="8842248" y="1554480"/>
            <a:ext cx="2889504" cy="274320"/>
          </a:xfrm>
          <a:prstGeom prst="rect">
            <a:avLst/>
          </a:prstGeom>
          <a:solidFill>
            <a:srgbClr val="16325C"/>
          </a:solidFill>
          <a:ln/>
        </p:spPr>
        <p:txBody>
          <a:bodyPr wrap="square" lIns="635" tIns="635" rIns="635" bIns="635"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3" name="Text 11"/>
          <p:cNvSpPr/>
          <p:nvPr/>
        </p:nvSpPr>
        <p:spPr>
          <a:xfrm>
            <a:off x="457200" y="1883664"/>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Luminovo</a:t>
            </a:r>
            <a:endParaRPr lang="en-US" sz="810" dirty="0"/>
          </a:p>
        </p:txBody>
      </p:sp>
      <p:sp>
        <p:nvSpPr>
          <p:cNvPr id="14" name="Text 12"/>
          <p:cNvSpPr/>
          <p:nvPr/>
        </p:nvSpPr>
        <p:spPr>
          <a:xfrm>
            <a:off x="2286000" y="1883664"/>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15" name="Text 13"/>
          <p:cNvSpPr/>
          <p:nvPr/>
        </p:nvSpPr>
        <p:spPr>
          <a:xfrm>
            <a:off x="3200400" y="1883664"/>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PCB spec</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(LLM BOM importer, auto MPN match)</a:t>
            </a:r>
            <a:endParaRPr lang="en-US" sz="750" dirty="0"/>
          </a:p>
        </p:txBody>
      </p:sp>
      <p:sp>
        <p:nvSpPr>
          <p:cNvPr id="16" name="Text 14"/>
          <p:cNvSpPr/>
          <p:nvPr/>
        </p:nvSpPr>
        <p:spPr>
          <a:xfrm>
            <a:off x="5074920" y="188366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17" name="Text 15"/>
          <p:cNvSpPr/>
          <p:nvPr/>
        </p:nvSpPr>
        <p:spPr>
          <a:xfrm>
            <a:off x="5550408" y="1883664"/>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Pricing page names 4 tiers (Starter / Advanced / Professional / Enterprise), scaled by spend or assemblies per year — no figures.</a:t>
            </a:r>
            <a:endParaRPr lang="en-US" sz="750" dirty="0"/>
          </a:p>
        </p:txBody>
      </p:sp>
      <p:sp>
        <p:nvSpPr>
          <p:cNvPr id="18" name="Text 16"/>
          <p:cNvSpPr/>
          <p:nvPr/>
        </p:nvSpPr>
        <p:spPr>
          <a:xfrm>
            <a:off x="8842248" y="1883664"/>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luminovo.com/pricing · /platform/quoting-intelligence · own FAQ "Are prices listed online?"</a:t>
            </a:r>
            <a:endParaRPr lang="en-US" sz="750" dirty="0"/>
          </a:p>
        </p:txBody>
      </p:sp>
      <p:sp>
        <p:nvSpPr>
          <p:cNvPr id="19" name="Text 17"/>
          <p:cNvSpPr/>
          <p:nvPr/>
        </p:nvSpPr>
        <p:spPr>
          <a:xfrm>
            <a:off x="457200" y="2296973"/>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CalcuQuote (Elisa IndustrIQ)</a:t>
            </a:r>
            <a:endParaRPr lang="en-US" sz="810" dirty="0"/>
          </a:p>
        </p:txBody>
      </p:sp>
      <p:sp>
        <p:nvSpPr>
          <p:cNvPr id="20" name="Text 18"/>
          <p:cNvSpPr/>
          <p:nvPr/>
        </p:nvSpPr>
        <p:spPr>
          <a:xfrm>
            <a:off x="2286000" y="2296973"/>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SaaS</a:t>
            </a:r>
            <a:endParaRPr lang="en-US" sz="750" dirty="0"/>
          </a:p>
        </p:txBody>
      </p:sp>
      <p:sp>
        <p:nvSpPr>
          <p:cNvPr id="21" name="Text 19"/>
          <p:cNvSpPr/>
          <p:nvPr/>
        </p:nvSpPr>
        <p:spPr>
          <a:xfrm>
            <a:off x="3200400" y="2296973"/>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file + sourcing rules</a:t>
            </a:r>
            <a:endParaRPr lang="en-US" sz="750" dirty="0"/>
          </a:p>
        </p:txBody>
      </p:sp>
      <p:sp>
        <p:nvSpPr>
          <p:cNvPr id="22" name="Text 20"/>
          <p:cNvSpPr/>
          <p:nvPr/>
        </p:nvSpPr>
        <p:spPr>
          <a:xfrm>
            <a:off x="5074920" y="229697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23" name="Text 21"/>
          <p:cNvSpPr/>
          <p:nvPr/>
        </p:nvSpPr>
        <p:spPr>
          <a:xfrm>
            <a:off x="5550408" y="2296973"/>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Monthly, 3 tiers, unlimited users, scaled by annual quoting volume. "Request Pricing" pages.</a:t>
            </a:r>
            <a:endParaRPr lang="en-US" sz="750" dirty="0"/>
          </a:p>
        </p:txBody>
      </p:sp>
      <p:sp>
        <p:nvSpPr>
          <p:cNvPr id="24" name="Text 22"/>
          <p:cNvSpPr/>
          <p:nvPr/>
        </p:nvSpPr>
        <p:spPr>
          <a:xfrm>
            <a:off x="8842248" y="2296973"/>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calcuquote.com/quotecq · /request-pricing-quote · elisaindustriq.com/calcuquote/pricing</a:t>
            </a:r>
            <a:endParaRPr lang="en-US" sz="750" dirty="0"/>
          </a:p>
        </p:txBody>
      </p:sp>
      <p:sp>
        <p:nvSpPr>
          <p:cNvPr id="25" name="Text 23"/>
          <p:cNvSpPr/>
          <p:nvPr/>
        </p:nvSpPr>
        <p:spPr>
          <a:xfrm>
            <a:off x="457200" y="2710282"/>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aPriori</a:t>
            </a:r>
            <a:endParaRPr lang="en-US" sz="810" dirty="0"/>
          </a:p>
        </p:txBody>
      </p:sp>
      <p:sp>
        <p:nvSpPr>
          <p:cNvPr id="26" name="Text 24"/>
          <p:cNvSpPr/>
          <p:nvPr/>
        </p:nvSpPr>
        <p:spPr>
          <a:xfrm>
            <a:off x="2286000" y="2710282"/>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on-prem or SaaS</a:t>
            </a:r>
            <a:endParaRPr lang="en-US" sz="750" dirty="0"/>
          </a:p>
        </p:txBody>
      </p:sp>
      <p:sp>
        <p:nvSpPr>
          <p:cNvPr id="27" name="Text 25"/>
          <p:cNvSpPr/>
          <p:nvPr/>
        </p:nvSpPr>
        <p:spPr>
          <a:xfrm>
            <a:off x="3200400" y="2710282"/>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 (CAD for mechanical)</a:t>
            </a:r>
            <a:endParaRPr lang="en-US" sz="750" dirty="0"/>
          </a:p>
        </p:txBody>
      </p:sp>
      <p:sp>
        <p:nvSpPr>
          <p:cNvPr id="28" name="Text 26"/>
          <p:cNvSpPr/>
          <p:nvPr/>
        </p:nvSpPr>
        <p:spPr>
          <a:xfrm>
            <a:off x="5074920" y="2710282"/>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29" name="Text 27"/>
          <p:cNvSpPr/>
          <p:nvPr/>
        </p:nvSpPr>
        <p:spPr>
          <a:xfrm>
            <a:off x="5550408" y="2710282"/>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Named-user annual subscription; Foundation module sized by deployment, cost models priced separately.</a:t>
            </a:r>
            <a:endParaRPr lang="en-US" sz="750" dirty="0"/>
          </a:p>
        </p:txBody>
      </p:sp>
      <p:sp>
        <p:nvSpPr>
          <p:cNvPr id="30" name="Text 28"/>
          <p:cNvSpPr/>
          <p:nvPr/>
        </p:nvSpPr>
        <p:spPr>
          <a:xfrm>
            <a:off x="8842248" y="2710282"/>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apriori.com PCBA module + Electronics process-model PDF · G2 / TrustRadius pricing pages</a:t>
            </a:r>
            <a:endParaRPr lang="en-US" sz="750" dirty="0"/>
          </a:p>
        </p:txBody>
      </p:sp>
      <p:sp>
        <p:nvSpPr>
          <p:cNvPr id="31" name="Text 29"/>
          <p:cNvSpPr/>
          <p:nvPr/>
        </p:nvSpPr>
        <p:spPr>
          <a:xfrm>
            <a:off x="457200" y="3123590"/>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Siemens Teamcenter X PCM</a:t>
            </a:r>
            <a:endParaRPr lang="en-US" sz="810" dirty="0"/>
          </a:p>
        </p:txBody>
      </p:sp>
      <p:sp>
        <p:nvSpPr>
          <p:cNvPr id="32" name="Text 30"/>
          <p:cNvSpPr/>
          <p:nvPr/>
        </p:nvSpPr>
        <p:spPr>
          <a:xfrm>
            <a:off x="2286000" y="3123590"/>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hybrid cloud</a:t>
            </a:r>
            <a:endParaRPr lang="en-US" sz="750" dirty="0"/>
          </a:p>
        </p:txBody>
      </p:sp>
      <p:sp>
        <p:nvSpPr>
          <p:cNvPr id="33" name="Text 31"/>
          <p:cNvSpPr/>
          <p:nvPr/>
        </p:nvSpPr>
        <p:spPr>
          <a:xfrm>
            <a:off x="3200400" y="3123590"/>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board spec</a:t>
            </a:r>
            <a:endParaRPr lang="en-US" sz="750" dirty="0"/>
          </a:p>
        </p:txBody>
      </p:sp>
      <p:sp>
        <p:nvSpPr>
          <p:cNvPr id="34" name="Text 32"/>
          <p:cNvSpPr/>
          <p:nvPr/>
        </p:nvSpPr>
        <p:spPr>
          <a:xfrm>
            <a:off x="5074920" y="3123590"/>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35" name="Text 33"/>
          <p:cNvSpPr/>
          <p:nvPr/>
        </p:nvSpPr>
        <p:spPr>
          <a:xfrm>
            <a:off x="5550408" y="3123590"/>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Named end-user licences plus modules; custom quotation.</a:t>
            </a:r>
            <a:endParaRPr lang="en-US" sz="750" dirty="0"/>
          </a:p>
        </p:txBody>
      </p:sp>
      <p:sp>
        <p:nvSpPr>
          <p:cNvPr id="36" name="Text 34"/>
          <p:cNvSpPr/>
          <p:nvPr/>
        </p:nvSpPr>
        <p:spPr>
          <a:xfrm>
            <a:off x="8842248" y="3123590"/>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siemens.com/.../teamcenter/solutions/product-cost-management</a:t>
            </a:r>
            <a:endParaRPr lang="en-US" sz="750" dirty="0"/>
          </a:p>
        </p:txBody>
      </p:sp>
      <p:sp>
        <p:nvSpPr>
          <p:cNvPr id="37" name="Text 35"/>
          <p:cNvSpPr/>
          <p:nvPr/>
        </p:nvSpPr>
        <p:spPr>
          <a:xfrm>
            <a:off x="457200" y="3536899"/>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Tset</a:t>
            </a:r>
            <a:endParaRPr lang="en-US" sz="810" dirty="0"/>
          </a:p>
        </p:txBody>
      </p:sp>
      <p:sp>
        <p:nvSpPr>
          <p:cNvPr id="38" name="Text 36"/>
          <p:cNvSpPr/>
          <p:nvPr/>
        </p:nvSpPr>
        <p:spPr>
          <a:xfrm>
            <a:off x="2286000" y="3536899"/>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cloud</a:t>
            </a:r>
            <a:endParaRPr lang="en-US" sz="750" dirty="0"/>
          </a:p>
        </p:txBody>
      </p:sp>
      <p:sp>
        <p:nvSpPr>
          <p:cNvPr id="39" name="Text 37"/>
          <p:cNvSpPr/>
          <p:nvPr/>
        </p:nvSpPr>
        <p:spPr>
          <a:xfrm>
            <a:off x="3200400" y="3536899"/>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Board layout, part count, process parameters</a:t>
            </a:r>
            <a:endParaRPr lang="en-US" sz="750" dirty="0"/>
          </a:p>
        </p:txBody>
      </p:sp>
      <p:sp>
        <p:nvSpPr>
          <p:cNvPr id="40" name="Text 38"/>
          <p:cNvSpPr/>
          <p:nvPr/>
        </p:nvSpPr>
        <p:spPr>
          <a:xfrm>
            <a:off x="5074920" y="3536899"/>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L1–L2</a:t>
            </a:r>
            <a:endParaRPr lang="en-US" sz="900" dirty="0"/>
          </a:p>
        </p:txBody>
      </p:sp>
      <p:sp>
        <p:nvSpPr>
          <p:cNvPr id="41" name="Text 39"/>
          <p:cNvSpPr/>
          <p:nvPr/>
        </p:nvSpPr>
        <p:spPr>
          <a:xfrm>
            <a:off x="5550408" y="3536899"/>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a:t>
            </a:r>
            <a:endParaRPr lang="en-US" sz="750" dirty="0"/>
          </a:p>
        </p:txBody>
      </p:sp>
      <p:sp>
        <p:nvSpPr>
          <p:cNvPr id="42" name="Text 40"/>
          <p:cNvSpPr/>
          <p:nvPr/>
        </p:nvSpPr>
        <p:spPr>
          <a:xfrm>
            <a:off x="8842248" y="3536899"/>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tset.com/industries/electronics-and-high-tech-manufacturing · /videos/pcba-pcb</a:t>
            </a:r>
            <a:endParaRPr lang="en-US" sz="750" dirty="0"/>
          </a:p>
        </p:txBody>
      </p:sp>
      <p:sp>
        <p:nvSpPr>
          <p:cNvPr id="43" name="Text 41"/>
          <p:cNvSpPr/>
          <p:nvPr/>
        </p:nvSpPr>
        <p:spPr>
          <a:xfrm>
            <a:off x="457200" y="3950208"/>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Boothroyd Dewhurst DFMA</a:t>
            </a:r>
            <a:endParaRPr lang="en-US" sz="810" dirty="0"/>
          </a:p>
        </p:txBody>
      </p:sp>
      <p:sp>
        <p:nvSpPr>
          <p:cNvPr id="44" name="Text 42"/>
          <p:cNvSpPr/>
          <p:nvPr/>
        </p:nvSpPr>
        <p:spPr>
          <a:xfrm>
            <a:off x="2286000" y="3950208"/>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licence</a:t>
            </a:r>
            <a:endParaRPr lang="en-US" sz="750" dirty="0"/>
          </a:p>
        </p:txBody>
      </p:sp>
      <p:sp>
        <p:nvSpPr>
          <p:cNvPr id="45" name="Text 43"/>
          <p:cNvSpPr/>
          <p:nvPr/>
        </p:nvSpPr>
        <p:spPr>
          <a:xfrm>
            <a:off x="3200400" y="3950208"/>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Part / assembly definition keyed in</a:t>
            </a:r>
            <a:endParaRPr lang="en-US" sz="750" dirty="0"/>
          </a:p>
        </p:txBody>
      </p:sp>
      <p:sp>
        <p:nvSpPr>
          <p:cNvPr id="46" name="Text 44"/>
          <p:cNvSpPr/>
          <p:nvPr/>
        </p:nvSpPr>
        <p:spPr>
          <a:xfrm>
            <a:off x="5074920" y="3950208"/>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99651A"/>
                </a:solidFill>
                <a:latin typeface="Calibri" pitchFamily="34" charset="0"/>
                <a:ea typeface="Calibri" pitchFamily="34" charset="-122"/>
                <a:cs typeface="Calibri" pitchFamily="34" charset="-120"/>
              </a:rPr>
              <a:t>L1</a:t>
            </a:r>
            <a:endParaRPr lang="en-US" sz="900" dirty="0"/>
          </a:p>
        </p:txBody>
      </p:sp>
      <p:sp>
        <p:nvSpPr>
          <p:cNvPr id="47" name="Text 45"/>
          <p:cNvSpPr/>
          <p:nvPr/>
        </p:nvSpPr>
        <p:spPr>
          <a:xfrm>
            <a:off x="5550408" y="3950208"/>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Contact sales.</a:t>
            </a:r>
            <a:endParaRPr lang="en-US" sz="750" dirty="0"/>
          </a:p>
        </p:txBody>
      </p:sp>
      <p:sp>
        <p:nvSpPr>
          <p:cNvPr id="48" name="Text 46"/>
          <p:cNvSpPr/>
          <p:nvPr/>
        </p:nvSpPr>
        <p:spPr>
          <a:xfrm>
            <a:off x="8842248" y="3950208"/>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dfma.com/software/cost.asp · /resources/pcb-cost-estimating.asp</a:t>
            </a:r>
            <a:endParaRPr lang="en-US" sz="750" dirty="0"/>
          </a:p>
        </p:txBody>
      </p:sp>
      <p:sp>
        <p:nvSpPr>
          <p:cNvPr id="49" name="Text 47"/>
          <p:cNvSpPr/>
          <p:nvPr/>
        </p:nvSpPr>
        <p:spPr>
          <a:xfrm>
            <a:off x="457200" y="4363517"/>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Yole SystemPlus</a:t>
            </a:r>
            <a:endParaRPr lang="en-US" sz="810" dirty="0"/>
          </a:p>
        </p:txBody>
      </p:sp>
      <p:sp>
        <p:nvSpPr>
          <p:cNvPr id="50" name="Text 48"/>
          <p:cNvSpPr/>
          <p:nvPr/>
        </p:nvSpPr>
        <p:spPr>
          <a:xfrm>
            <a:off x="2286000" y="4363517"/>
            <a:ext cx="914400" cy="413309"/>
          </a:xfrm>
          <a:prstGeom prst="rect">
            <a:avLst/>
          </a:prstGeom>
          <a:solidFill>
            <a:srgbClr val="FFFFFF"/>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per report</a:t>
            </a:r>
            <a:endParaRPr lang="en-US" sz="750" dirty="0"/>
          </a:p>
        </p:txBody>
      </p:sp>
      <p:sp>
        <p:nvSpPr>
          <p:cNvPr id="51" name="Text 49"/>
          <p:cNvSpPr/>
          <p:nvPr/>
        </p:nvSpPr>
        <p:spPr>
          <a:xfrm>
            <a:off x="3200400" y="4363517"/>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2" name="Text 50"/>
          <p:cNvSpPr/>
          <p:nvPr/>
        </p:nvSpPr>
        <p:spPr>
          <a:xfrm>
            <a:off x="5074920" y="4363517"/>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3" name="Text 51"/>
          <p:cNvSpPr/>
          <p:nvPr/>
        </p:nvSpPr>
        <p:spPr>
          <a:xfrm>
            <a:off x="5550408" y="4363517"/>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PER-REPORT LIST PRICE — the only figures I could verify are 2017–18 flyers (EUR 2,490 / 3,490 / 4,990). Order of magnitude only.</a:t>
            </a:r>
            <a:endParaRPr lang="en-US" sz="750" dirty="0"/>
          </a:p>
        </p:txBody>
      </p:sp>
      <p:sp>
        <p:nvSpPr>
          <p:cNvPr id="54" name="Text 52"/>
          <p:cNvSpPr/>
          <p:nvPr/>
        </p:nvSpPr>
        <p:spPr>
          <a:xfrm>
            <a:off x="8842248" y="4363517"/>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systemplus.fr/services/reverse-costing · reverse-costing.com · yolegroup.com</a:t>
            </a:r>
            <a:endParaRPr lang="en-US" sz="750" dirty="0"/>
          </a:p>
        </p:txBody>
      </p:sp>
      <p:sp>
        <p:nvSpPr>
          <p:cNvPr id="55" name="Text 53"/>
          <p:cNvSpPr/>
          <p:nvPr/>
        </p:nvSpPr>
        <p:spPr>
          <a:xfrm>
            <a:off x="457200" y="4776826"/>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TechInsights</a:t>
            </a:r>
            <a:endParaRPr lang="en-US" sz="810" dirty="0"/>
          </a:p>
        </p:txBody>
      </p:sp>
      <p:sp>
        <p:nvSpPr>
          <p:cNvPr id="56" name="Text 54"/>
          <p:cNvSpPr/>
          <p:nvPr/>
        </p:nvSpPr>
        <p:spPr>
          <a:xfrm>
            <a:off x="2286000" y="4776826"/>
            <a:ext cx="914400" cy="413309"/>
          </a:xfrm>
          <a:prstGeom prst="rect">
            <a:avLst/>
          </a:prstGeom>
          <a:solidFill>
            <a:srgbClr val="F0F4F9"/>
          </a:solidFill>
          <a:ln/>
        </p:spPr>
        <p:txBody>
          <a:bodyPr wrap="square" lIns="635" tIns="635" rIns="635" bIns="635"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SERVICE</a:t>
            </a:r>
            <a:endParaRPr lang="en-US" sz="750" dirty="0"/>
          </a:p>
          <a:p>
            <a:pPr algn="l" indent="0" marL="0">
              <a:buNone/>
            </a:pPr>
            <a:r>
              <a:rPr lang="en-US" sz="750" b="1" dirty="0">
                <a:solidFill>
                  <a:srgbClr val="6B3FA0"/>
                </a:solidFill>
                <a:latin typeface="Calibri" pitchFamily="34" charset="0"/>
                <a:ea typeface="Calibri" pitchFamily="34" charset="-122"/>
                <a:cs typeface="Calibri" pitchFamily="34" charset="-120"/>
              </a:rPr>
              <a:t>+ subscription</a:t>
            </a:r>
            <a:endParaRPr lang="en-US" sz="750" dirty="0"/>
          </a:p>
        </p:txBody>
      </p:sp>
      <p:sp>
        <p:nvSpPr>
          <p:cNvPr id="57" name="Text 55"/>
          <p:cNvSpPr/>
          <p:nvPr/>
        </p:nvSpPr>
        <p:spPr>
          <a:xfrm>
            <a:off x="3200400" y="4776826"/>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58" name="Text 56"/>
          <p:cNvSpPr/>
          <p:nvPr/>
        </p:nvSpPr>
        <p:spPr>
          <a:xfrm>
            <a:off x="5074920" y="4776826"/>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6B3FA0"/>
                </a:solidFill>
                <a:latin typeface="Calibri" pitchFamily="34" charset="0"/>
                <a:ea typeface="Calibri" pitchFamily="34" charset="-122"/>
                <a:cs typeface="Calibri" pitchFamily="34" charset="-120"/>
              </a:rPr>
              <a:t>L0</a:t>
            </a:r>
            <a:endParaRPr lang="en-US" sz="900" dirty="0"/>
          </a:p>
        </p:txBody>
      </p:sp>
      <p:sp>
        <p:nvSpPr>
          <p:cNvPr id="59" name="Text 57"/>
          <p:cNvSpPr/>
          <p:nvPr/>
        </p:nvSpPr>
        <p:spPr>
          <a:xfrm>
            <a:off x="5550408" y="4776826"/>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NOT PUBLISHED. Channel subscriptions incl. a Component Price Landscape feed.</a:t>
            </a:r>
            <a:endParaRPr lang="en-US" sz="750" dirty="0"/>
          </a:p>
        </p:txBody>
      </p:sp>
      <p:sp>
        <p:nvSpPr>
          <p:cNvPr id="60" name="Text 58"/>
          <p:cNvSpPr/>
          <p:nvPr/>
        </p:nvSpPr>
        <p:spPr>
          <a:xfrm>
            <a:off x="8842248" y="4776826"/>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techinsights.com/.../teardown-costing · /reverse-engineering-subscriptions</a:t>
            </a:r>
            <a:endParaRPr lang="en-US" sz="750" dirty="0"/>
          </a:p>
        </p:txBody>
      </p:sp>
      <p:sp>
        <p:nvSpPr>
          <p:cNvPr id="61" name="Text 59"/>
          <p:cNvSpPr/>
          <p:nvPr/>
        </p:nvSpPr>
        <p:spPr>
          <a:xfrm>
            <a:off x="457200" y="5190134"/>
            <a:ext cx="1828800" cy="413309"/>
          </a:xfrm>
          <a:prstGeom prst="rect">
            <a:avLst/>
          </a:prstGeom>
          <a:solidFill>
            <a:srgbClr val="FFFFFF"/>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JLCPCB (instant quote)</a:t>
            </a:r>
            <a:endParaRPr lang="en-US" sz="810" dirty="0"/>
          </a:p>
        </p:txBody>
      </p:sp>
      <p:sp>
        <p:nvSpPr>
          <p:cNvPr id="62" name="Text 60"/>
          <p:cNvSpPr/>
          <p:nvPr/>
        </p:nvSpPr>
        <p:spPr>
          <a:xfrm>
            <a:off x="2286000" y="5190134"/>
            <a:ext cx="91440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Supplier</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self-serve</a:t>
            </a:r>
            <a:endParaRPr lang="en-US" sz="750" dirty="0"/>
          </a:p>
        </p:txBody>
      </p:sp>
      <p:sp>
        <p:nvSpPr>
          <p:cNvPr id="63" name="Text 61"/>
          <p:cNvSpPr/>
          <p:nvPr/>
        </p:nvSpPr>
        <p:spPr>
          <a:xfrm>
            <a:off x="3200400" y="5190134"/>
            <a:ext cx="187452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BOM + Gerber upload</a:t>
            </a:r>
            <a:endParaRPr lang="en-US" sz="750" dirty="0"/>
          </a:p>
        </p:txBody>
      </p:sp>
      <p:sp>
        <p:nvSpPr>
          <p:cNvPr id="64" name="Text 62"/>
          <p:cNvSpPr/>
          <p:nvPr/>
        </p:nvSpPr>
        <p:spPr>
          <a:xfrm>
            <a:off x="5074920" y="5190134"/>
            <a:ext cx="475488" cy="413309"/>
          </a:xfrm>
          <a:prstGeom prst="rect">
            <a:avLst/>
          </a:prstGeom>
          <a:solidFill>
            <a:srgbClr val="FFFFFF"/>
          </a:solidFill>
          <a:ln/>
        </p:spPr>
        <p:txBody>
          <a:bodyPr wrap="square" lIns="635" tIns="635" rIns="635" bIns="635" rtlCol="0" anchor="ctr"/>
          <a:lstStyle/>
          <a:p>
            <a:pPr algn="ctr" indent="0" marL="0">
              <a:buNone/>
            </a:pPr>
            <a:r>
              <a:rPr lang="en-US" sz="900" b="1" dirty="0">
                <a:solidFill>
                  <a:srgbClr val="1D6FB8"/>
                </a:solidFill>
                <a:latin typeface="Calibri" pitchFamily="34" charset="0"/>
                <a:ea typeface="Calibri" pitchFamily="34" charset="-122"/>
                <a:cs typeface="Calibri" pitchFamily="34" charset="-120"/>
              </a:rPr>
              <a:t>L2</a:t>
            </a:r>
            <a:endParaRPr lang="en-US" sz="900" dirty="0"/>
          </a:p>
        </p:txBody>
      </p:sp>
      <p:sp>
        <p:nvSpPr>
          <p:cNvPr id="65" name="Text 63"/>
          <p:cNvSpPr/>
          <p:nvPr/>
        </p:nvSpPr>
        <p:spPr>
          <a:xfrm>
            <a:off x="5550408" y="5190134"/>
            <a:ext cx="3291840" cy="413309"/>
          </a:xfrm>
          <a:prstGeom prst="rect">
            <a:avLst/>
          </a:prstGeom>
          <a:solidFill>
            <a:srgbClr val="FFFFFF"/>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FULLY PUBLISHED: SMT USD 0.0017/joint; setup USD 25 one side / 50 two; hand solder USD 3.50 + 0.0173/joint. Their SELLING price, prototype scope.</a:t>
            </a:r>
            <a:endParaRPr lang="en-US" sz="750" dirty="0"/>
          </a:p>
        </p:txBody>
      </p:sp>
      <p:sp>
        <p:nvSpPr>
          <p:cNvPr id="66" name="Text 64"/>
          <p:cNvSpPr/>
          <p:nvPr/>
        </p:nvSpPr>
        <p:spPr>
          <a:xfrm>
            <a:off x="8842248" y="5190134"/>
            <a:ext cx="2889504" cy="413309"/>
          </a:xfrm>
          <a:prstGeom prst="rect">
            <a:avLst/>
          </a:prstGeom>
          <a:solidFill>
            <a:srgbClr val="FFFFFF"/>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jlcpcb.com/help/article/pcb-assembly-price · jlcpcb.com/parts/bom-tool</a:t>
            </a:r>
            <a:endParaRPr lang="en-US" sz="750" dirty="0"/>
          </a:p>
        </p:txBody>
      </p:sp>
      <p:sp>
        <p:nvSpPr>
          <p:cNvPr id="67" name="Text 65"/>
          <p:cNvSpPr/>
          <p:nvPr/>
        </p:nvSpPr>
        <p:spPr>
          <a:xfrm>
            <a:off x="457200" y="5603443"/>
            <a:ext cx="1828800" cy="413309"/>
          </a:xfrm>
          <a:prstGeom prst="rect">
            <a:avLst/>
          </a:prstGeom>
          <a:solidFill>
            <a:srgbClr val="F0F4F9"/>
          </a:solidFill>
          <a:ln/>
        </p:spPr>
        <p:txBody>
          <a:bodyPr wrap="square" lIns="635" tIns="635" rIns="635" bIns="635" rtlCol="0" anchor="ctr"/>
          <a:lstStyle/>
          <a:p>
            <a:pPr algn="l" indent="0" marL="0">
              <a:buNone/>
            </a:pPr>
            <a:r>
              <a:rPr lang="en-US" sz="810" b="1" dirty="0">
                <a:solidFill>
                  <a:srgbClr val="16325C"/>
                </a:solidFill>
                <a:latin typeface="Calibri" pitchFamily="34" charset="0"/>
                <a:ea typeface="Calibri" pitchFamily="34" charset="-122"/>
                <a:cs typeface="Calibri" pitchFamily="34" charset="-120"/>
              </a:rPr>
              <a:t>PCB Tracer</a:t>
            </a:r>
            <a:endParaRPr lang="en-US" sz="810" dirty="0"/>
          </a:p>
        </p:txBody>
      </p:sp>
      <p:sp>
        <p:nvSpPr>
          <p:cNvPr id="68" name="Text 66"/>
          <p:cNvSpPr/>
          <p:nvPr/>
        </p:nvSpPr>
        <p:spPr>
          <a:xfrm>
            <a:off x="2286000" y="5603443"/>
            <a:ext cx="91440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Software</a:t>
            </a:r>
            <a:endParaRPr lang="en-US" sz="750" dirty="0"/>
          </a:p>
          <a:p>
            <a:pPr algn="l" indent="0" marL="0">
              <a:buNone/>
            </a:pPr>
            <a:r>
              <a:rPr lang="en-US" sz="750" dirty="0">
                <a:solidFill>
                  <a:srgbClr val="3A4356"/>
                </a:solidFill>
                <a:latin typeface="Calibri" pitchFamily="34" charset="0"/>
                <a:ea typeface="Calibri" pitchFamily="34" charset="-122"/>
                <a:cs typeface="Calibri" pitchFamily="34" charset="-120"/>
              </a:rPr>
              <a:t>browser</a:t>
            </a:r>
            <a:endParaRPr lang="en-US" sz="750" dirty="0"/>
          </a:p>
        </p:txBody>
      </p:sp>
      <p:sp>
        <p:nvSpPr>
          <p:cNvPr id="69" name="Text 67"/>
          <p:cNvSpPr/>
          <p:nvPr/>
        </p:nvSpPr>
        <p:spPr>
          <a:xfrm>
            <a:off x="3200400" y="5603443"/>
            <a:ext cx="187452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Photos of the board (top + bottom)</a:t>
            </a:r>
            <a:endParaRPr lang="en-US" sz="750" dirty="0"/>
          </a:p>
        </p:txBody>
      </p:sp>
      <p:sp>
        <p:nvSpPr>
          <p:cNvPr id="70" name="Text 68"/>
          <p:cNvSpPr/>
          <p:nvPr/>
        </p:nvSpPr>
        <p:spPr>
          <a:xfrm>
            <a:off x="5074920" y="5603443"/>
            <a:ext cx="475488" cy="413309"/>
          </a:xfrm>
          <a:prstGeom prst="rect">
            <a:avLst/>
          </a:prstGeom>
          <a:solidFill>
            <a:srgbClr val="F0F4F9"/>
          </a:solidFill>
          <a:ln/>
        </p:spPr>
        <p:txBody>
          <a:bodyPr wrap="square" lIns="635" tIns="635" rIns="635" bIns="635" rtlCol="0" anchor="ctr"/>
          <a:lstStyle/>
          <a:p>
            <a:pPr algn="ctr" indent="0" marL="0">
              <a:buNone/>
            </a:pPr>
            <a:r>
              <a:rPr lang="en-US" sz="900" b="1" dirty="0">
                <a:solidFill>
                  <a:srgbClr val="2A7F50"/>
                </a:solidFill>
                <a:latin typeface="Calibri" pitchFamily="34" charset="0"/>
                <a:ea typeface="Calibri" pitchFamily="34" charset="-122"/>
                <a:cs typeface="Calibri" pitchFamily="34" charset="-120"/>
              </a:rPr>
              <a:t>L3</a:t>
            </a:r>
            <a:endParaRPr lang="en-US" sz="900" dirty="0"/>
          </a:p>
        </p:txBody>
      </p:sp>
      <p:sp>
        <p:nvSpPr>
          <p:cNvPr id="71" name="Text 69"/>
          <p:cNvSpPr/>
          <p:nvPr/>
        </p:nvSpPr>
        <p:spPr>
          <a:xfrm>
            <a:off x="5550408" y="5603443"/>
            <a:ext cx="3291840" cy="413309"/>
          </a:xfrm>
          <a:prstGeom prst="rect">
            <a:avLst/>
          </a:prstGeom>
          <a:solidFill>
            <a:srgbClr val="F0F4F9"/>
          </a:solidFill>
          <a:ln/>
        </p:spPr>
        <p:txBody>
          <a:bodyPr wrap="square" lIns="635" tIns="635" rIns="635" bIns="635"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PUBLISHED: built-in features free; AI features ≈ USD 0.50 per schematic. Extracts BOM and netlist — does NOT cost the board.</a:t>
            </a:r>
            <a:endParaRPr lang="en-US" sz="750" dirty="0"/>
          </a:p>
        </p:txBody>
      </p:sp>
      <p:sp>
        <p:nvSpPr>
          <p:cNvPr id="72" name="Text 70"/>
          <p:cNvSpPr/>
          <p:nvPr/>
        </p:nvSpPr>
        <p:spPr>
          <a:xfrm>
            <a:off x="8842248" y="5603443"/>
            <a:ext cx="2889504" cy="413309"/>
          </a:xfrm>
          <a:prstGeom prst="rect">
            <a:avLst/>
          </a:prstGeom>
          <a:solidFill>
            <a:srgbClr val="F0F4F9"/>
          </a:solidFill>
          <a:ln/>
        </p:spPr>
        <p:txBody>
          <a:bodyPr wrap="square" lIns="635" tIns="635" rIns="635" bIns="635" rtlCol="0" anchor="ctr"/>
          <a:lstStyle/>
          <a:p>
            <a:pPr algn="l" indent="0" marL="0">
              <a:buNone/>
            </a:pPr>
            <a:r>
              <a:rPr lang="en-US" sz="750" i="1" dirty="0">
                <a:solidFill>
                  <a:srgbClr val="686F7D"/>
                </a:solidFill>
                <a:latin typeface="Calibri" pitchFamily="34" charset="0"/>
                <a:ea typeface="Calibri" pitchFamily="34" charset="-122"/>
                <a:cs typeface="Calibri" pitchFamily="34" charset="-120"/>
              </a:rPr>
              <a:t>pcbtracer.com · github.com/rpelorosso/pcb-tracer</a:t>
            </a:r>
            <a:endParaRPr lang="en-US" sz="750" dirty="0"/>
          </a:p>
        </p:txBody>
      </p:sp>
      <p:sp>
        <p:nvSpPr>
          <p:cNvPr id="73" name="Shape 71"/>
          <p:cNvSpPr/>
          <p:nvPr/>
        </p:nvSpPr>
        <p:spPr>
          <a:xfrm>
            <a:off x="457200" y="6053328"/>
            <a:ext cx="11274552" cy="457200"/>
          </a:xfrm>
          <a:prstGeom prst="roundRect">
            <a:avLst>
              <a:gd name="adj" fmla="val 16000"/>
            </a:avLst>
          </a:prstGeom>
          <a:solidFill>
            <a:srgbClr val="FCF3E3"/>
          </a:solidFill>
          <a:ln w="12700">
            <a:solidFill>
              <a:srgbClr val="99651A"/>
            </a:solidFill>
            <a:prstDash val="solid"/>
          </a:ln>
        </p:spPr>
      </p:sp>
      <p:sp>
        <p:nvSpPr>
          <p:cNvPr id="74" name="Text 72"/>
          <p:cNvSpPr/>
          <p:nvPr/>
        </p:nvSpPr>
        <p:spPr>
          <a:xfrm>
            <a:off x="621792" y="6053328"/>
            <a:ext cx="10972800" cy="457200"/>
          </a:xfrm>
          <a:prstGeom prst="rect">
            <a:avLst/>
          </a:prstGeom>
          <a:noFill/>
          <a:ln/>
        </p:spPr>
        <p:txBody>
          <a:bodyPr wrap="square" lIns="0" tIns="0" rIns="0" bIns="0" rtlCol="0" anchor="ctr"/>
          <a:lstStyle/>
          <a:p>
            <a:pPr indent="0" marL="0">
              <a:buNone/>
            </a:pPr>
            <a:r>
              <a:rPr lang="en-US" sz="940" b="1" dirty="0">
                <a:solidFill>
                  <a:srgbClr val="99651A"/>
                </a:solidFill>
                <a:latin typeface="Calibri" pitchFamily="34" charset="0"/>
                <a:ea typeface="Calibri" pitchFamily="34" charset="-122"/>
                <a:cs typeface="Calibri" pitchFamily="34" charset="-120"/>
              </a:rPr>
              <a:t>The pricing finding:  </a:t>
            </a:r>
            <a:pPr indent="0" marL="0">
              <a:buNone/>
            </a:pPr>
            <a:r>
              <a:rPr lang="en-US" sz="940" dirty="0">
                <a:solidFill>
                  <a:srgbClr val="3A4356"/>
                </a:solidFill>
                <a:latin typeface="Calibri" pitchFamily="34" charset="0"/>
                <a:ea typeface="Calibri" pitchFamily="34" charset="-122"/>
                <a:cs typeface="Calibri" pitchFamily="34" charset="-120"/>
              </a:rPr>
              <a:t>every should-cost and quoting platform in this market sells on quotation — not one publishes a figure. Only the per-report services and the instant-quote suppliers put a number in public. Any "typical licence cost" you are offered for these tools is somebody’s guess.</a:t>
            </a:r>
            <a:endParaRPr lang="en-US" sz="94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CostVision Measured on the Same Axes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Green only where we genuinely lead. Red where we do not — including one thing we cannot yet claim at all</a:t>
            </a:r>
            <a:endParaRPr lang="en-US" sz="1200" dirty="0"/>
          </a:p>
        </p:txBody>
      </p:sp>
      <p:sp>
        <p:nvSpPr>
          <p:cNvPr id="5" name="Text 3"/>
          <p:cNvSpPr/>
          <p:nvPr/>
        </p:nvSpPr>
        <p:spPr>
          <a:xfrm>
            <a:off x="457200" y="1115568"/>
            <a:ext cx="2212848" cy="310896"/>
          </a:xfrm>
          <a:prstGeom prst="rect">
            <a:avLst/>
          </a:prstGeom>
          <a:solidFill>
            <a:srgbClr val="16325C"/>
          </a:solidFill>
          <a:ln/>
        </p:spPr>
        <p:txBody>
          <a:bodyPr wrap="square" lIns="635" tIns="635" rIns="635" bIns="635" rtlCol="0" anchor="ctr"/>
          <a:lstStyle/>
          <a:p>
            <a:pPr algn="l" indent="0" marL="0">
              <a:buNone/>
            </a:pPr>
            <a:endParaRPr lang="en-US" sz="880" dirty="0"/>
          </a:p>
        </p:txBody>
      </p:sp>
      <p:sp>
        <p:nvSpPr>
          <p:cNvPr id="6" name="Text 4"/>
          <p:cNvSpPr/>
          <p:nvPr/>
        </p:nvSpPr>
        <p:spPr>
          <a:xfrm>
            <a:off x="2670048"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A · EMS quoting</a:t>
            </a:r>
            <a:endParaRPr lang="en-US" sz="880" dirty="0"/>
          </a:p>
        </p:txBody>
      </p:sp>
      <p:sp>
        <p:nvSpPr>
          <p:cNvPr id="7" name="Text 5"/>
          <p:cNvSpPr/>
          <p:nvPr/>
        </p:nvSpPr>
        <p:spPr>
          <a:xfrm>
            <a:off x="5065776"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B · Enterprise should-cost</a:t>
            </a:r>
            <a:endParaRPr lang="en-US" sz="880" dirty="0"/>
          </a:p>
        </p:txBody>
      </p:sp>
      <p:sp>
        <p:nvSpPr>
          <p:cNvPr id="8" name="Text 6"/>
          <p:cNvSpPr/>
          <p:nvPr/>
        </p:nvSpPr>
        <p:spPr>
          <a:xfrm>
            <a:off x="7461504" y="1115568"/>
            <a:ext cx="2395728" cy="310896"/>
          </a:xfrm>
          <a:prstGeom prst="rect">
            <a:avLst/>
          </a:prstGeom>
          <a:solidFill>
            <a:srgbClr val="16325C"/>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Camp C · Reverse costing</a:t>
            </a:r>
            <a:endParaRPr lang="en-US" sz="880" dirty="0"/>
          </a:p>
        </p:txBody>
      </p:sp>
      <p:sp>
        <p:nvSpPr>
          <p:cNvPr id="9" name="Text 7"/>
          <p:cNvSpPr/>
          <p:nvPr/>
        </p:nvSpPr>
        <p:spPr>
          <a:xfrm>
            <a:off x="9857232" y="1115568"/>
            <a:ext cx="1874520" cy="310896"/>
          </a:xfrm>
          <a:prstGeom prst="rect">
            <a:avLst/>
          </a:prstGeom>
          <a:solidFill>
            <a:srgbClr val="4F46E5"/>
          </a:solidFill>
          <a:ln/>
        </p:spPr>
        <p:txBody>
          <a:bodyPr wrap="square" lIns="635" tIns="635" rIns="635" bIns="635" rtlCol="0" anchor="ctr"/>
          <a:lstStyle/>
          <a:p>
            <a:pPr algn="ctr" indent="0" marL="0">
              <a:buNone/>
            </a:pPr>
            <a:r>
              <a:rPr lang="en-US" sz="880" b="1" dirty="0">
                <a:solidFill>
                  <a:srgbClr val="FFFFFF"/>
                </a:solidFill>
                <a:latin typeface="Calibri" pitchFamily="34" charset="0"/>
                <a:ea typeface="Calibri" pitchFamily="34" charset="-122"/>
                <a:cs typeface="Calibri" pitchFamily="34" charset="-120"/>
              </a:rPr>
              <a:t>CostVision</a:t>
            </a:r>
            <a:endParaRPr lang="en-US" sz="880" dirty="0"/>
          </a:p>
        </p:txBody>
      </p:sp>
      <p:sp>
        <p:nvSpPr>
          <p:cNvPr id="10" name="Text 8"/>
          <p:cNvSpPr/>
          <p:nvPr/>
        </p:nvSpPr>
        <p:spPr>
          <a:xfrm>
            <a:off x="457200" y="1481328"/>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Starts from</a:t>
            </a:r>
            <a:endParaRPr lang="en-US" sz="820" dirty="0"/>
          </a:p>
        </p:txBody>
      </p:sp>
      <p:sp>
        <p:nvSpPr>
          <p:cNvPr id="11" name="Text 9"/>
          <p:cNvSpPr/>
          <p:nvPr/>
        </p:nvSpPr>
        <p:spPr>
          <a:xfrm>
            <a:off x="2670048"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file</a:t>
            </a:r>
            <a:endParaRPr lang="en-US" sz="750" dirty="0"/>
          </a:p>
        </p:txBody>
      </p:sp>
      <p:sp>
        <p:nvSpPr>
          <p:cNvPr id="12" name="Text 10"/>
          <p:cNvSpPr/>
          <p:nvPr/>
        </p:nvSpPr>
        <p:spPr>
          <a:xfrm>
            <a:off x="5065776"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A BOM + board spec</a:t>
            </a:r>
            <a:endParaRPr lang="en-US" sz="750" dirty="0"/>
          </a:p>
        </p:txBody>
      </p:sp>
      <p:sp>
        <p:nvSpPr>
          <p:cNvPr id="13" name="Text 11"/>
          <p:cNvSpPr/>
          <p:nvPr/>
        </p:nvSpPr>
        <p:spPr>
          <a:xfrm>
            <a:off x="7461504" y="1481328"/>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physical board</a:t>
            </a:r>
            <a:endParaRPr lang="en-US" sz="750" dirty="0"/>
          </a:p>
        </p:txBody>
      </p:sp>
      <p:sp>
        <p:nvSpPr>
          <p:cNvPr id="14" name="Text 12"/>
          <p:cNvSpPr/>
          <p:nvPr/>
        </p:nvSpPr>
        <p:spPr>
          <a:xfrm>
            <a:off x="9857232" y="148132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A photograph</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(AI — off at JLR)</a:t>
            </a:r>
            <a:endParaRPr lang="en-US" sz="750" dirty="0"/>
          </a:p>
        </p:txBody>
      </p:sp>
      <p:sp>
        <p:nvSpPr>
          <p:cNvPr id="15" name="Text 13"/>
          <p:cNvSpPr/>
          <p:nvPr/>
        </p:nvSpPr>
        <p:spPr>
          <a:xfrm>
            <a:off x="457200" y="1965960"/>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Automation</a:t>
            </a:r>
            <a:endParaRPr lang="en-US" sz="820" dirty="0"/>
          </a:p>
        </p:txBody>
      </p:sp>
      <p:sp>
        <p:nvSpPr>
          <p:cNvPr id="16" name="Text 14"/>
          <p:cNvSpPr/>
          <p:nvPr/>
        </p:nvSpPr>
        <p:spPr>
          <a:xfrm>
            <a:off x="2670048"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L2</a:t>
            </a:r>
            <a:endParaRPr lang="en-US" sz="750" dirty="0"/>
          </a:p>
        </p:txBody>
      </p:sp>
      <p:sp>
        <p:nvSpPr>
          <p:cNvPr id="17" name="Text 15"/>
          <p:cNvSpPr/>
          <p:nvPr/>
        </p:nvSpPr>
        <p:spPr>
          <a:xfrm>
            <a:off x="5065776"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L1–L2</a:t>
            </a:r>
            <a:endParaRPr lang="en-US" sz="750" dirty="0"/>
          </a:p>
        </p:txBody>
      </p:sp>
      <p:sp>
        <p:nvSpPr>
          <p:cNvPr id="18" name="Text 16"/>
          <p:cNvSpPr/>
          <p:nvPr/>
        </p:nvSpPr>
        <p:spPr>
          <a:xfrm>
            <a:off x="7461504" y="1965960"/>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L0 — people</a:t>
            </a:r>
            <a:endParaRPr lang="en-US" sz="750" dirty="0"/>
          </a:p>
        </p:txBody>
      </p:sp>
      <p:sp>
        <p:nvSpPr>
          <p:cNvPr id="19" name="Text 17"/>
          <p:cNvSpPr/>
          <p:nvPr/>
        </p:nvSpPr>
        <p:spPr>
          <a:xfrm>
            <a:off x="9857232" y="196596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L3</a:t>
            </a:r>
            <a:endParaRPr lang="en-US" sz="750" dirty="0"/>
          </a:p>
        </p:txBody>
      </p:sp>
      <p:sp>
        <p:nvSpPr>
          <p:cNvPr id="20" name="Text 18"/>
          <p:cNvSpPr/>
          <p:nvPr/>
        </p:nvSpPr>
        <p:spPr>
          <a:xfrm>
            <a:off x="457200" y="2450592"/>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Turnaround</a:t>
            </a:r>
            <a:endParaRPr lang="en-US" sz="820" dirty="0"/>
          </a:p>
        </p:txBody>
      </p:sp>
      <p:sp>
        <p:nvSpPr>
          <p:cNvPr id="21" name="Text 19"/>
          <p:cNvSpPr/>
          <p:nvPr/>
        </p:nvSpPr>
        <p:spPr>
          <a:xfrm>
            <a:off x="2670048"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Minutes</a:t>
            </a:r>
            <a:endParaRPr lang="en-US" sz="750" dirty="0"/>
          </a:p>
        </p:txBody>
      </p:sp>
      <p:sp>
        <p:nvSpPr>
          <p:cNvPr id="22" name="Text 20"/>
          <p:cNvSpPr/>
          <p:nvPr/>
        </p:nvSpPr>
        <p:spPr>
          <a:xfrm>
            <a:off x="5065776"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Hours (after data entry)</a:t>
            </a:r>
            <a:endParaRPr lang="en-US" sz="750" dirty="0"/>
          </a:p>
        </p:txBody>
      </p:sp>
      <p:sp>
        <p:nvSpPr>
          <p:cNvPr id="23" name="Text 21"/>
          <p:cNvSpPr/>
          <p:nvPr/>
        </p:nvSpPr>
        <p:spPr>
          <a:xfrm>
            <a:off x="7461504" y="2450592"/>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Weeks</a:t>
            </a:r>
            <a:endParaRPr lang="en-US" sz="750" dirty="0"/>
          </a:p>
        </p:txBody>
      </p:sp>
      <p:sp>
        <p:nvSpPr>
          <p:cNvPr id="24" name="Text 22"/>
          <p:cNvSpPr/>
          <p:nvPr/>
        </p:nvSpPr>
        <p:spPr>
          <a:xfrm>
            <a:off x="9857232" y="2450592"/>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Minutes</a:t>
            </a:r>
            <a:endParaRPr lang="en-US" sz="750" dirty="0"/>
          </a:p>
        </p:txBody>
      </p:sp>
      <p:sp>
        <p:nvSpPr>
          <p:cNvPr id="25" name="Text 23"/>
          <p:cNvSpPr/>
          <p:nvPr/>
        </p:nvSpPr>
        <p:spPr>
          <a:xfrm>
            <a:off x="457200" y="2935224"/>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Cost engine</a:t>
            </a:r>
            <a:endParaRPr lang="en-US" sz="820" dirty="0"/>
          </a:p>
        </p:txBody>
      </p:sp>
      <p:sp>
        <p:nvSpPr>
          <p:cNvPr id="26" name="Text 24"/>
          <p:cNvSpPr/>
          <p:nvPr/>
        </p:nvSpPr>
        <p:spPr>
          <a:xfrm>
            <a:off x="2670048"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Supplier price build-up</a:t>
            </a:r>
            <a:endParaRPr lang="en-US" sz="750" dirty="0"/>
          </a:p>
        </p:txBody>
      </p:sp>
      <p:sp>
        <p:nvSpPr>
          <p:cNvPr id="27" name="Text 25"/>
          <p:cNvSpPr/>
          <p:nvPr/>
        </p:nvSpPr>
        <p:spPr>
          <a:xfrm>
            <a:off x="5065776"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Deterministic should-cost</a:t>
            </a:r>
            <a:endParaRPr lang="en-US" sz="750" dirty="0"/>
          </a:p>
        </p:txBody>
      </p:sp>
      <p:sp>
        <p:nvSpPr>
          <p:cNvPr id="28" name="Text 26"/>
          <p:cNvSpPr/>
          <p:nvPr/>
        </p:nvSpPr>
        <p:spPr>
          <a:xfrm>
            <a:off x="7461504" y="2935224"/>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Bottom-up from teardown</a:t>
            </a:r>
            <a:endParaRPr lang="en-US" sz="750" dirty="0"/>
          </a:p>
        </p:txBody>
      </p:sp>
      <p:sp>
        <p:nvSpPr>
          <p:cNvPr id="29" name="Text 27"/>
          <p:cNvSpPr/>
          <p:nvPr/>
        </p:nvSpPr>
        <p:spPr>
          <a:xfrm>
            <a:off x="9857232" y="2935224"/>
            <a:ext cx="1874520" cy="484632"/>
          </a:xfrm>
          <a:prstGeom prst="rect">
            <a:avLst/>
          </a:prstGeom>
          <a:solidFill>
            <a:srgbClr val="EEF1F6"/>
          </a:solidFill>
          <a:ln/>
        </p:spPr>
        <p:txBody>
          <a:bodyPr wrap="square" lIns="635" tIns="635" rIns="635" bIns="635" rtlCol="0" anchor="ctr"/>
          <a:lstStyle/>
          <a:p>
            <a:pPr algn="ctr" indent="0" marL="0">
              <a:buNone/>
            </a:pPr>
            <a:r>
              <a:rPr lang="en-US" sz="750" b="1" dirty="0">
                <a:solidFill>
                  <a:srgbClr val="3A4356"/>
                </a:solidFill>
                <a:latin typeface="Calibri" pitchFamily="34" charset="0"/>
                <a:ea typeface="Calibri" pitchFamily="34" charset="-122"/>
                <a:cs typeface="Calibri" pitchFamily="34" charset="-120"/>
              </a:rPr>
              <a:t>Deterministic, 8-bucket,</a:t>
            </a:r>
            <a:endParaRPr lang="en-US" sz="750" dirty="0"/>
          </a:p>
          <a:p>
            <a:pPr algn="ctr" indent="0" marL="0">
              <a:buNone/>
            </a:pPr>
            <a:r>
              <a:rPr lang="en-US" sz="750" b="1" dirty="0">
                <a:solidFill>
                  <a:srgbClr val="3A4356"/>
                </a:solidFill>
                <a:latin typeface="Calibri" pitchFamily="34" charset="0"/>
                <a:ea typeface="Calibri" pitchFamily="34" charset="-122"/>
                <a:cs typeface="Calibri" pitchFamily="34" charset="-120"/>
              </a:rPr>
              <a:t>2,438 automated tests</a:t>
            </a:r>
            <a:endParaRPr lang="en-US" sz="750" dirty="0"/>
          </a:p>
        </p:txBody>
      </p:sp>
      <p:sp>
        <p:nvSpPr>
          <p:cNvPr id="30" name="Text 28"/>
          <p:cNvSpPr/>
          <p:nvPr/>
        </p:nvSpPr>
        <p:spPr>
          <a:xfrm>
            <a:off x="457200" y="3419856"/>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Component prices</a:t>
            </a:r>
            <a:endParaRPr lang="en-US" sz="820" dirty="0"/>
          </a:p>
        </p:txBody>
      </p:sp>
      <p:sp>
        <p:nvSpPr>
          <p:cNvPr id="31" name="Text 29"/>
          <p:cNvSpPr/>
          <p:nvPr/>
        </p:nvSpPr>
        <p:spPr>
          <a:xfrm>
            <a:off x="2670048"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Live distributor APIs</a:t>
            </a:r>
            <a:endParaRPr lang="en-US" sz="750" dirty="0"/>
          </a:p>
        </p:txBody>
      </p:sp>
      <p:sp>
        <p:nvSpPr>
          <p:cNvPr id="32" name="Text 30"/>
          <p:cNvSpPr/>
          <p:nvPr/>
        </p:nvSpPr>
        <p:spPr>
          <a:xfrm>
            <a:off x="5065776"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Licensed price libraries</a:t>
            </a:r>
            <a:endParaRPr lang="en-US" sz="750" dirty="0"/>
          </a:p>
        </p:txBody>
      </p:sp>
      <p:sp>
        <p:nvSpPr>
          <p:cNvPr id="33" name="Text 31"/>
          <p:cNvSpPr/>
          <p:nvPr/>
        </p:nvSpPr>
        <p:spPr>
          <a:xfrm>
            <a:off x="7461504" y="3419856"/>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Own price database</a:t>
            </a:r>
            <a:endParaRPr lang="en-US" sz="750" dirty="0"/>
          </a:p>
        </p:txBody>
      </p:sp>
      <p:sp>
        <p:nvSpPr>
          <p:cNvPr id="34" name="Text 32"/>
          <p:cNvSpPr/>
          <p:nvPr/>
        </p:nvSpPr>
        <p:spPr>
          <a:xfrm>
            <a:off x="9857232" y="3419856"/>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Live API built + wired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 but UNCONFIGURED,</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so offline catalogue in practice</a:t>
            </a:r>
            <a:endParaRPr lang="en-US" sz="750" dirty="0"/>
          </a:p>
        </p:txBody>
      </p:sp>
      <p:sp>
        <p:nvSpPr>
          <p:cNvPr id="35" name="Text 33"/>
          <p:cNvSpPr/>
          <p:nvPr/>
        </p:nvSpPr>
        <p:spPr>
          <a:xfrm>
            <a:off x="457200" y="3904488"/>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Runs air-gapped</a:t>
            </a:r>
            <a:endParaRPr lang="en-US" sz="820" dirty="0"/>
          </a:p>
        </p:txBody>
      </p:sp>
      <p:sp>
        <p:nvSpPr>
          <p:cNvPr id="36" name="Text 34"/>
          <p:cNvSpPr/>
          <p:nvPr/>
        </p:nvSpPr>
        <p:spPr>
          <a:xfrm>
            <a:off x="2670048"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No — cloud SaaS</a:t>
            </a:r>
            <a:endParaRPr lang="en-US" sz="750" dirty="0"/>
          </a:p>
        </p:txBody>
      </p:sp>
      <p:sp>
        <p:nvSpPr>
          <p:cNvPr id="37" name="Text 35"/>
          <p:cNvSpPr/>
          <p:nvPr/>
        </p:nvSpPr>
        <p:spPr>
          <a:xfrm>
            <a:off x="5065776"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On-prem possible</a:t>
            </a:r>
            <a:endParaRPr lang="en-US" sz="750" dirty="0"/>
          </a:p>
        </p:txBody>
      </p:sp>
      <p:sp>
        <p:nvSpPr>
          <p:cNvPr id="38" name="Text 36"/>
          <p:cNvSpPr/>
          <p:nvPr/>
        </p:nvSpPr>
        <p:spPr>
          <a:xfrm>
            <a:off x="7461504" y="3904488"/>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n/a — a service</a:t>
            </a:r>
            <a:endParaRPr lang="en-US" sz="750" dirty="0"/>
          </a:p>
        </p:txBody>
      </p:sp>
      <p:sp>
        <p:nvSpPr>
          <p:cNvPr id="39" name="Text 37"/>
          <p:cNvSpPr/>
          <p:nvPr/>
        </p:nvSpPr>
        <p:spPr>
          <a:xfrm>
            <a:off x="9857232" y="3904488"/>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Yes, AIR_GAPPED=1 —</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but the photo read</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needs AI</a:t>
            </a:r>
            <a:endParaRPr lang="en-US" sz="750" dirty="0"/>
          </a:p>
        </p:txBody>
      </p:sp>
      <p:sp>
        <p:nvSpPr>
          <p:cNvPr id="40" name="Text 38"/>
          <p:cNvSpPr/>
          <p:nvPr/>
        </p:nvSpPr>
        <p:spPr>
          <a:xfrm>
            <a:off x="457200" y="4389120"/>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Per-line evidence</a:t>
            </a:r>
            <a:endParaRPr lang="en-US" sz="820" dirty="0"/>
          </a:p>
        </p:txBody>
      </p:sp>
      <p:sp>
        <p:nvSpPr>
          <p:cNvPr id="41" name="Text 39"/>
          <p:cNvSpPr/>
          <p:nvPr/>
        </p:nvSpPr>
        <p:spPr>
          <a:xfrm>
            <a:off x="2670048"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Distributor quote ref</a:t>
            </a:r>
            <a:endParaRPr lang="en-US" sz="750" dirty="0"/>
          </a:p>
        </p:txBody>
      </p:sp>
      <p:sp>
        <p:nvSpPr>
          <p:cNvPr id="42" name="Text 40"/>
          <p:cNvSpPr/>
          <p:nvPr/>
        </p:nvSpPr>
        <p:spPr>
          <a:xfrm>
            <a:off x="5065776"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Model + library ref</a:t>
            </a:r>
            <a:endParaRPr lang="en-US" sz="750" dirty="0"/>
          </a:p>
        </p:txBody>
      </p:sp>
      <p:sp>
        <p:nvSpPr>
          <p:cNvPr id="43" name="Text 41"/>
          <p:cNvSpPr/>
          <p:nvPr/>
        </p:nvSpPr>
        <p:spPr>
          <a:xfrm>
            <a:off x="7461504" y="4389120"/>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Physical inspection</a:t>
            </a:r>
            <a:endParaRPr lang="en-US" sz="750" dirty="0"/>
          </a:p>
        </p:txBody>
      </p:sp>
      <p:sp>
        <p:nvSpPr>
          <p:cNvPr id="44" name="Text 42"/>
          <p:cNvSpPr/>
          <p:nvPr/>
        </p:nvSpPr>
        <p:spPr>
          <a:xfrm>
            <a:off x="9857232" y="4389120"/>
            <a:ext cx="1874520" cy="484632"/>
          </a:xfrm>
          <a:prstGeom prst="rect">
            <a:avLst/>
          </a:prstGeom>
          <a:solidFill>
            <a:srgbClr val="EAF6EF"/>
          </a:solidFill>
          <a:ln/>
        </p:spPr>
        <p:txBody>
          <a:bodyPr wrap="square" lIns="635" tIns="635" rIns="635" bIns="635"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Evidence tag per line</a:t>
            </a:r>
            <a:endParaRPr lang="en-US" sz="750" dirty="0"/>
          </a:p>
          <a:p>
            <a:pPr algn="ctr" indent="0" marL="0">
              <a:buNone/>
            </a:pPr>
            <a:r>
              <a:rPr lang="en-US" sz="750" b="1" dirty="0">
                <a:solidFill>
                  <a:srgbClr val="2A7F50"/>
                </a:solidFill>
                <a:latin typeface="Calibri" pitchFamily="34" charset="0"/>
                <a:ea typeface="Calibri" pitchFamily="34" charset="-122"/>
                <a:cs typeface="Calibri" pitchFamily="34" charset="-120"/>
              </a:rPr>
              <a:t>(legible / partial / inferred)</a:t>
            </a:r>
            <a:endParaRPr lang="en-US" sz="750" dirty="0"/>
          </a:p>
        </p:txBody>
      </p:sp>
      <p:sp>
        <p:nvSpPr>
          <p:cNvPr id="45" name="Text 43"/>
          <p:cNvSpPr/>
          <p:nvPr/>
        </p:nvSpPr>
        <p:spPr>
          <a:xfrm>
            <a:off x="457200" y="4873752"/>
            <a:ext cx="2212848" cy="484632"/>
          </a:xfrm>
          <a:prstGeom prst="rect">
            <a:avLst/>
          </a:prstGeom>
          <a:solidFill>
            <a:srgbClr val="F0F4F9"/>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PCBA accuracy</a:t>
            </a:r>
            <a:endParaRPr lang="en-US" sz="820" dirty="0"/>
          </a:p>
          <a:p>
            <a:pPr algn="l" indent="0" marL="0">
              <a:buNone/>
            </a:pPr>
            <a:r>
              <a:rPr lang="en-US" sz="820" b="1" dirty="0">
                <a:solidFill>
                  <a:srgbClr val="16325C"/>
                </a:solidFill>
                <a:latin typeface="Calibri" pitchFamily="34" charset="0"/>
                <a:ea typeface="Calibri" pitchFamily="34" charset="-122"/>
                <a:cs typeface="Calibri" pitchFamily="34" charset="-120"/>
              </a:rPr>
              <a:t>vs actuals</a:t>
            </a:r>
            <a:endParaRPr lang="en-US" sz="820" dirty="0"/>
          </a:p>
        </p:txBody>
      </p:sp>
      <p:sp>
        <p:nvSpPr>
          <p:cNvPr id="46" name="Text 44"/>
          <p:cNvSpPr/>
          <p:nvPr/>
        </p:nvSpPr>
        <p:spPr>
          <a:xfrm>
            <a:off x="2670048"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Won/lost quote feedback</a:t>
            </a:r>
            <a:endParaRPr lang="en-US" sz="750" dirty="0"/>
          </a:p>
        </p:txBody>
      </p:sp>
      <p:sp>
        <p:nvSpPr>
          <p:cNvPr id="47" name="Text 45"/>
          <p:cNvSpPr/>
          <p:nvPr/>
        </p:nvSpPr>
        <p:spPr>
          <a:xfrm>
            <a:off x="5065776"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Vendor-claimed ROI cases</a:t>
            </a:r>
            <a:endParaRPr lang="en-US" sz="750" dirty="0"/>
          </a:p>
        </p:txBody>
      </p:sp>
      <p:sp>
        <p:nvSpPr>
          <p:cNvPr id="48" name="Text 46"/>
          <p:cNvSpPr/>
          <p:nvPr/>
        </p:nvSpPr>
        <p:spPr>
          <a:xfrm>
            <a:off x="7461504" y="4873752"/>
            <a:ext cx="2395728" cy="484632"/>
          </a:xfrm>
          <a:prstGeom prst="rect">
            <a:avLst/>
          </a:prstGeom>
          <a:solidFill>
            <a:srgbClr val="F0F4F9"/>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The reference standard</a:t>
            </a:r>
            <a:endParaRPr lang="en-US" sz="750" dirty="0"/>
          </a:p>
        </p:txBody>
      </p:sp>
      <p:sp>
        <p:nvSpPr>
          <p:cNvPr id="49" name="Text 47"/>
          <p:cNvSpPr/>
          <p:nvPr/>
        </p:nvSpPr>
        <p:spPr>
          <a:xfrm>
            <a:off x="9857232" y="4873752"/>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NOT VALIDATED — no PCBA</a:t>
            </a:r>
            <a:endParaRPr lang="en-US" sz="750" dirty="0"/>
          </a:p>
          <a:p>
            <a:pPr algn="ctr" indent="0" marL="0">
              <a:buNone/>
            </a:pPr>
            <a:r>
              <a:rPr lang="en-US" sz="750" b="1" dirty="0">
                <a:solidFill>
                  <a:srgbClr val="B03A2E"/>
                </a:solidFill>
                <a:latin typeface="Calibri" pitchFamily="34" charset="0"/>
                <a:ea typeface="Calibri" pitchFamily="34" charset="-122"/>
                <a:cs typeface="Calibri" pitchFamily="34" charset="-120"/>
              </a:rPr>
              <a:t>actuals recorded yet</a:t>
            </a:r>
            <a:endParaRPr lang="en-US" sz="750" dirty="0"/>
          </a:p>
        </p:txBody>
      </p:sp>
      <p:sp>
        <p:nvSpPr>
          <p:cNvPr id="50" name="Text 48"/>
          <p:cNvSpPr/>
          <p:nvPr/>
        </p:nvSpPr>
        <p:spPr>
          <a:xfrm>
            <a:off x="457200" y="5358384"/>
            <a:ext cx="2212848" cy="484632"/>
          </a:xfrm>
          <a:prstGeom prst="rect">
            <a:avLst/>
          </a:prstGeom>
          <a:solidFill>
            <a:srgbClr val="FFFFFF"/>
          </a:solidFill>
          <a:ln/>
        </p:spPr>
        <p:txBody>
          <a:bodyPr wrap="square" lIns="635" tIns="635" rIns="635" bIns="635" rtlCol="0" anchor="ctr"/>
          <a:lstStyle/>
          <a:p>
            <a:pPr algn="l" indent="0" marL="0">
              <a:buNone/>
            </a:pPr>
            <a:r>
              <a:rPr lang="en-US" sz="820" b="1" dirty="0">
                <a:solidFill>
                  <a:srgbClr val="16325C"/>
                </a:solidFill>
                <a:latin typeface="Calibri" pitchFamily="34" charset="0"/>
                <a:ea typeface="Calibri" pitchFamily="34" charset="-122"/>
                <a:cs typeface="Calibri" pitchFamily="34" charset="-120"/>
              </a:rPr>
              <a:t>Maturity</a:t>
            </a:r>
            <a:endParaRPr lang="en-US" sz="820" dirty="0"/>
          </a:p>
        </p:txBody>
      </p:sp>
      <p:sp>
        <p:nvSpPr>
          <p:cNvPr id="51" name="Text 49"/>
          <p:cNvSpPr/>
          <p:nvPr/>
        </p:nvSpPr>
        <p:spPr>
          <a:xfrm>
            <a:off x="2670048"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300+ EMS customers claimed</a:t>
            </a:r>
            <a:endParaRPr lang="en-US" sz="750" dirty="0"/>
          </a:p>
        </p:txBody>
      </p:sp>
      <p:sp>
        <p:nvSpPr>
          <p:cNvPr id="52" name="Text 50"/>
          <p:cNvSpPr/>
          <p:nvPr/>
        </p:nvSpPr>
        <p:spPr>
          <a:xfrm>
            <a:off x="5065776"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Decades, thousands of seats</a:t>
            </a:r>
            <a:endParaRPr lang="en-US" sz="750" dirty="0"/>
          </a:p>
        </p:txBody>
      </p:sp>
      <p:sp>
        <p:nvSpPr>
          <p:cNvPr id="53" name="Text 51"/>
          <p:cNvSpPr/>
          <p:nvPr/>
        </p:nvSpPr>
        <p:spPr>
          <a:xfrm>
            <a:off x="7461504" y="5358384"/>
            <a:ext cx="2395728" cy="484632"/>
          </a:xfrm>
          <a:prstGeom prst="rect">
            <a:avLst/>
          </a:prstGeom>
          <a:solidFill>
            <a:srgbClr val="FFFFFF"/>
          </a:solidFill>
          <a:ln/>
        </p:spPr>
        <p:txBody>
          <a:bodyPr wrap="square" lIns="635" tIns="635" rIns="635" bIns="635" rtlCol="0" anchor="ctr"/>
          <a:lstStyle/>
          <a:p>
            <a:pPr algn="ctr" indent="0" marL="0">
              <a:buNone/>
            </a:pPr>
            <a:r>
              <a:rPr lang="en-US" sz="750" dirty="0">
                <a:solidFill>
                  <a:srgbClr val="3A4356"/>
                </a:solidFill>
                <a:latin typeface="Calibri" pitchFamily="34" charset="0"/>
                <a:ea typeface="Calibri" pitchFamily="34" charset="-122"/>
                <a:cs typeface="Calibri" pitchFamily="34" charset="-120"/>
              </a:rPr>
              <a:t>250+ automotive teardowns</a:t>
            </a:r>
            <a:endParaRPr lang="en-US" sz="750" dirty="0"/>
          </a:p>
        </p:txBody>
      </p:sp>
      <p:sp>
        <p:nvSpPr>
          <p:cNvPr id="54" name="Text 52"/>
          <p:cNvSpPr/>
          <p:nvPr/>
        </p:nvSpPr>
        <p:spPr>
          <a:xfrm>
            <a:off x="9857232" y="5358384"/>
            <a:ext cx="1874520" cy="484632"/>
          </a:xfrm>
          <a:prstGeom prst="rect">
            <a:avLst/>
          </a:prstGeom>
          <a:solidFill>
            <a:srgbClr val="F9E8E5"/>
          </a:solidFill>
          <a:ln/>
        </p:spPr>
        <p:txBody>
          <a:bodyPr wrap="square" lIns="635" tIns="635" rIns="635" bIns="635" rtlCol="0" anchor="ctr"/>
          <a:lstStyle/>
          <a:p>
            <a:pPr algn="ctr" indent="0" marL="0">
              <a:buNone/>
            </a:pPr>
            <a:r>
              <a:rPr lang="en-US" sz="750" b="1" dirty="0">
                <a:solidFill>
                  <a:srgbClr val="B03A2E"/>
                </a:solidFill>
                <a:latin typeface="Calibri" pitchFamily="34" charset="0"/>
                <a:ea typeface="Calibri" pitchFamily="34" charset="-122"/>
                <a:cs typeface="Calibri" pitchFamily="34" charset="-120"/>
              </a:rPr>
              <a:t>One board, internally</a:t>
            </a:r>
            <a:endParaRPr lang="en-US" sz="750" dirty="0"/>
          </a:p>
        </p:txBody>
      </p:sp>
      <p:sp>
        <p:nvSpPr>
          <p:cNvPr id="55" name="Shape 53"/>
          <p:cNvSpPr/>
          <p:nvPr/>
        </p:nvSpPr>
        <p:spPr>
          <a:xfrm>
            <a:off x="457200" y="5888736"/>
            <a:ext cx="11274552" cy="603504"/>
          </a:xfrm>
          <a:prstGeom prst="roundRect">
            <a:avLst>
              <a:gd name="adj" fmla="val 12121"/>
            </a:avLst>
          </a:prstGeom>
          <a:solidFill>
            <a:srgbClr val="F9E8E5"/>
          </a:solidFill>
          <a:ln w="15240">
            <a:solidFill>
              <a:srgbClr val="B03A2E"/>
            </a:solidFill>
            <a:prstDash val="solid"/>
          </a:ln>
        </p:spPr>
      </p:sp>
      <p:sp>
        <p:nvSpPr>
          <p:cNvPr id="56" name="Text 54"/>
          <p:cNvSpPr/>
          <p:nvPr/>
        </p:nvSpPr>
        <p:spPr>
          <a:xfrm>
            <a:off x="621792" y="5888736"/>
            <a:ext cx="10972800" cy="603504"/>
          </a:xfrm>
          <a:prstGeom prst="rect">
            <a:avLst/>
          </a:prstGeom>
          <a:noFill/>
          <a:ln/>
        </p:spPr>
        <p:txBody>
          <a:bodyPr wrap="square" lIns="0" tIns="0" rIns="0" bIns="0" rtlCol="0" anchor="ctr"/>
          <a:lstStyle/>
          <a:p>
            <a:pPr indent="0" marL="0">
              <a:buNone/>
            </a:pPr>
            <a:r>
              <a:rPr lang="en-US" sz="940" b="1" dirty="0">
                <a:solidFill>
                  <a:srgbClr val="B03A2E"/>
                </a:solidFill>
                <a:latin typeface="Calibri" pitchFamily="34" charset="0"/>
                <a:ea typeface="Calibri" pitchFamily="34" charset="-122"/>
                <a:cs typeface="Calibri" pitchFamily="34" charset="-120"/>
              </a:rPr>
              <a:t>Read the two red rows first.  </a:t>
            </a:r>
            <a:pPr indent="0" marL="0">
              <a:buNone/>
            </a:pPr>
            <a:r>
              <a:rPr lang="en-US" sz="940" dirty="0">
                <a:solidFill>
                  <a:srgbClr val="3A4356"/>
                </a:solidFill>
                <a:latin typeface="Calibri" pitchFamily="34" charset="0"/>
                <a:ea typeface="Calibri" pitchFamily="34" charset="-122"/>
                <a:cs typeface="Calibri" pitchFamily="34" charset="-120"/>
              </a:rPr>
              <a:t>We have never checked a PCBA estimate against a real invoice — and no estimate of any kind has yet been compared with a price JLR paid. The brake-ECU study rested on a fitted price curve with 18% of the BOM inferred and roughly £20 of Bosch captive silicon that has no market price. Both are fixable. Neither is fixed.</a:t>
            </a:r>
            <a:endParaRPr lang="en-US" sz="940" dirty="0"/>
          </a:p>
        </p:txBody>
      </p:sp>
      <p:sp>
        <p:nvSpPr>
          <p:cNvPr id="57"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58"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Gap — and the One Thing That Closes It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we can defend today, what we cannot, and the smallest change that moves us from “defensible estimate” to “priced”</a:t>
            </a:r>
            <a:endParaRPr lang="en-US" sz="1200" dirty="0"/>
          </a:p>
        </p:txBody>
      </p:sp>
      <p:sp>
        <p:nvSpPr>
          <p:cNvPr id="5" name="Shape 3"/>
          <p:cNvSpPr/>
          <p:nvPr/>
        </p:nvSpPr>
        <p:spPr>
          <a:xfrm>
            <a:off x="457200" y="1133856"/>
            <a:ext cx="5532120" cy="2084832"/>
          </a:xfrm>
          <a:prstGeom prst="roundRect">
            <a:avLst>
              <a:gd name="adj" fmla="val 3947"/>
            </a:avLst>
          </a:prstGeom>
          <a:solidFill>
            <a:srgbClr val="FFFFFF"/>
          </a:solidFill>
          <a:ln w="17780">
            <a:solidFill>
              <a:srgbClr val="2A7F50"/>
            </a:solidFill>
            <a:prstDash val="solid"/>
          </a:ln>
        </p:spPr>
      </p:sp>
      <p:sp>
        <p:nvSpPr>
          <p:cNvPr id="6" name="Shape 4"/>
          <p:cNvSpPr/>
          <p:nvPr/>
        </p:nvSpPr>
        <p:spPr>
          <a:xfrm>
            <a:off x="457200" y="1133856"/>
            <a:ext cx="5532120" cy="310896"/>
          </a:xfrm>
          <a:prstGeom prst="rect">
            <a:avLst/>
          </a:prstGeom>
          <a:solidFill>
            <a:srgbClr val="2A7F50"/>
          </a:solidFill>
          <a:ln/>
        </p:spPr>
      </p:sp>
      <p:sp>
        <p:nvSpPr>
          <p:cNvPr id="7" name="Text 5"/>
          <p:cNvSpPr/>
          <p:nvPr/>
        </p:nvSpPr>
        <p:spPr>
          <a:xfrm>
            <a:off x="585216"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ACTUALLY OURS</a:t>
            </a:r>
            <a:endParaRPr lang="en-US" sz="920" dirty="0"/>
          </a:p>
        </p:txBody>
      </p:sp>
      <p:sp>
        <p:nvSpPr>
          <p:cNvPr id="8" name="Text 6"/>
          <p:cNvSpPr/>
          <p:nvPr/>
        </p:nvSpPr>
        <p:spPr>
          <a:xfrm>
            <a:off x="621792" y="1517904"/>
            <a:ext cx="5202936" cy="1627632"/>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Photograph → BOM → deterministic should-cost, in one pass (AI mode).
</a:t>
            </a:r>
            <a:pPr indent="0" marL="0">
              <a:buNone/>
            </a:pPr>
            <a:r>
              <a:rPr lang="en-US" sz="900" dirty="0">
                <a:solidFill>
                  <a:srgbClr val="3A4356"/>
                </a:solidFill>
                <a:latin typeface="Calibri" pitchFamily="34" charset="0"/>
                <a:ea typeface="Calibri" pitchFamily="34" charset="-122"/>
                <a:cs typeface="Calibri" pitchFamily="34" charset="-120"/>
              </a:rPr>
              <a:t>Each half exists elsewhere. PCB Tracer reads a board photo into a BOM for free. aPriori costs a PCBA properly from a BOM. </a:t>
            </a:r>
            <a:pPr indent="0" marL="0">
              <a:buNone/>
            </a:pPr>
            <a:r>
              <a:rPr lang="en-US" sz="900" b="1" dirty="0">
                <a:solidFill>
                  <a:srgbClr val="2A7F50"/>
                </a:solidFill>
                <a:latin typeface="Calibri" pitchFamily="34" charset="0"/>
                <a:ea typeface="Calibri" pitchFamily="34" charset="-122"/>
                <a:cs typeface="Calibri" pitchFamily="34" charset="-120"/>
              </a:rPr>
              <a:t>Nobody joins them</a:t>
            </a:r>
            <a:pPr indent="0" marL="0">
              <a:buNone/>
            </a:pPr>
            <a:r>
              <a:rPr lang="en-US" sz="900" dirty="0">
                <a:solidFill>
                  <a:srgbClr val="3A4356"/>
                </a:solidFill>
                <a:latin typeface="Calibri" pitchFamily="34" charset="0"/>
                <a:ea typeface="Calibri" pitchFamily="34" charset="-122"/>
                <a:cs typeface="Calibri" pitchFamily="34" charset="-120"/>
              </a:rPr>
              <a:t> — and the join is what lets a buyer cost a competitor’s board, or their own board when the supplier will not open the BOM.
</a:t>
            </a:r>
            <a:pPr indent="0" marL="0">
              <a:buNone/>
            </a:pPr>
            <a:r>
              <a:rPr lang="en-US" sz="900" dirty="0">
                <a:solidFill>
                  <a:srgbClr val="3A4356"/>
                </a:solidFill>
                <a:latin typeface="Calibri" pitchFamily="34" charset="0"/>
                <a:ea typeface="Calibri" pitchFamily="34" charset="-122"/>
                <a:cs typeface="Calibri" pitchFamily="34" charset="-120"/>
              </a:rPr>
              <a:t>Plus: works with or without an API key, a price basis on every line, and the same eight-bucket engine as every other commodity — so a PCBA sits in the same portfolio as a casting.</a:t>
            </a:r>
            <a:endParaRPr lang="en-US" sz="900" dirty="0"/>
          </a:p>
        </p:txBody>
      </p:sp>
      <p:sp>
        <p:nvSpPr>
          <p:cNvPr id="9" name="Shape 7"/>
          <p:cNvSpPr/>
          <p:nvPr/>
        </p:nvSpPr>
        <p:spPr>
          <a:xfrm>
            <a:off x="6199632" y="1133856"/>
            <a:ext cx="5532120" cy="2084832"/>
          </a:xfrm>
          <a:prstGeom prst="roundRect">
            <a:avLst>
              <a:gd name="adj" fmla="val 3947"/>
            </a:avLst>
          </a:prstGeom>
          <a:solidFill>
            <a:srgbClr val="FFFFFF"/>
          </a:solidFill>
          <a:ln w="17780">
            <a:solidFill>
              <a:srgbClr val="B03A2E"/>
            </a:solidFill>
            <a:prstDash val="solid"/>
          </a:ln>
        </p:spPr>
      </p:sp>
      <p:sp>
        <p:nvSpPr>
          <p:cNvPr id="10" name="Shape 8"/>
          <p:cNvSpPr/>
          <p:nvPr/>
        </p:nvSpPr>
        <p:spPr>
          <a:xfrm>
            <a:off x="6199632" y="1133856"/>
            <a:ext cx="5532120" cy="310896"/>
          </a:xfrm>
          <a:prstGeom prst="rect">
            <a:avLst/>
          </a:prstGeom>
          <a:solidFill>
            <a:srgbClr val="B03A2E"/>
          </a:solidFill>
          <a:ln/>
        </p:spPr>
      </p:sp>
      <p:sp>
        <p:nvSpPr>
          <p:cNvPr id="11" name="Text 9"/>
          <p:cNvSpPr/>
          <p:nvPr/>
        </p:nvSpPr>
        <p:spPr>
          <a:xfrm>
            <a:off x="6327648" y="1133856"/>
            <a:ext cx="5276088" cy="310896"/>
          </a:xfrm>
          <a:prstGeom prst="rect">
            <a:avLst/>
          </a:prstGeom>
          <a:noFill/>
          <a:ln/>
        </p:spPr>
        <p:txBody>
          <a:bodyPr wrap="square" lIns="0" tIns="0" rIns="0" bIns="0" rtlCol="0" anchor="ctr"/>
          <a:lstStyle/>
          <a:p>
            <a:pPr indent="0" marL="0">
              <a:buNone/>
            </a:pPr>
            <a:r>
              <a:rPr lang="en-US" sz="920" b="1" spc="50" kern="0" dirty="0">
                <a:solidFill>
                  <a:srgbClr val="FFFFFF"/>
                </a:solidFill>
                <a:latin typeface="Calibri" pitchFamily="34" charset="0"/>
                <a:ea typeface="Calibri" pitchFamily="34" charset="-122"/>
                <a:cs typeface="Calibri" pitchFamily="34" charset="-120"/>
              </a:rPr>
              <a:t>WHAT IS NOT — SAY IT FIRST</a:t>
            </a:r>
            <a:endParaRPr lang="en-US" sz="920" dirty="0"/>
          </a:p>
        </p:txBody>
      </p:sp>
      <p:sp>
        <p:nvSpPr>
          <p:cNvPr id="12" name="Text 10"/>
          <p:cNvSpPr/>
          <p:nvPr/>
        </p:nvSpPr>
        <p:spPr>
          <a:xfrm>
            <a:off x="6364224" y="1517904"/>
            <a:ext cx="5202936" cy="1627632"/>
          </a:xfrm>
          <a:prstGeom prst="rect">
            <a:avLst/>
          </a:prstGeom>
          <a:noFill/>
          <a:ln/>
        </p:spPr>
        <p:txBody>
          <a:bodyPr wrap="square" lIns="0" tIns="0" rIns="0" bIns="0" rtlCol="0" anchor="t"/>
          <a:lstStyle/>
          <a:p>
            <a:pPr indent="0" marL="0">
              <a:buNone/>
            </a:pPr>
            <a:r>
              <a:rPr lang="en-US" sz="900" b="1" dirty="0">
                <a:solidFill>
                  <a:srgbClr val="B03A2E"/>
                </a:solidFill>
                <a:latin typeface="Calibri" pitchFamily="34" charset="0"/>
                <a:ea typeface="Calibri" pitchFamily="34" charset="-122"/>
                <a:cs typeface="Calibri" pitchFamily="34" charset="-120"/>
              </a:rPr>
              <a:t>1 · No validated PCBA accuracy. </a:t>
            </a:r>
            <a:pPr indent="0" marL="0">
              <a:buNone/>
            </a:pPr>
            <a:r>
              <a:rPr lang="en-US" sz="900" dirty="0">
                <a:solidFill>
                  <a:srgbClr val="3A4356"/>
                </a:solidFill>
                <a:latin typeface="Calibri" pitchFamily="34" charset="0"/>
                <a:ea typeface="Calibri" pitchFamily="34" charset="-122"/>
                <a:cs typeface="Calibri" pitchFamily="34" charset="-120"/>
              </a:rPr>
              <a:t>Zero boards checked against an invoice.
</a:t>
            </a:r>
            <a:pPr indent="0" marL="0">
              <a:buNone/>
            </a:pPr>
            <a:r>
              <a:rPr lang="en-US" sz="900" b="1" dirty="0">
                <a:solidFill>
                  <a:srgbClr val="B03A2E"/>
                </a:solidFill>
                <a:latin typeface="Calibri" pitchFamily="34" charset="0"/>
                <a:ea typeface="Calibri" pitchFamily="34" charset="-122"/>
                <a:cs typeface="Calibri" pitchFamily="34" charset="-120"/>
              </a:rPr>
              <a:t>2 · Distributor pricing needs a key. </a:t>
            </a:r>
            <a:pPr indent="0" marL="0">
              <a:buNone/>
            </a:pPr>
            <a:r>
              <a:rPr lang="en-US" sz="900" dirty="0">
                <a:solidFill>
                  <a:srgbClr val="3A4356"/>
                </a:solidFill>
                <a:latin typeface="Calibri" pitchFamily="34" charset="0"/>
                <a:ea typeface="Calibri" pitchFamily="34" charset="-122"/>
                <a:cs typeface="Calibri" pitchFamily="34" charset="-120"/>
              </a:rPr>
              <a:t>Built and wired; meanwhile a 458-part catalogue prices every line — 77 from distributor pages, the rest labelled estimates.
</a:t>
            </a:r>
            <a:pPr indent="0" marL="0">
              <a:buNone/>
            </a:pPr>
            <a:r>
              <a:rPr lang="en-US" sz="900" b="1" dirty="0">
                <a:solidFill>
                  <a:srgbClr val="B03A2E"/>
                </a:solidFill>
                <a:latin typeface="Calibri" pitchFamily="34" charset="0"/>
                <a:ea typeface="Calibri" pitchFamily="34" charset="-122"/>
                <a:cs typeface="Calibri" pitchFamily="34" charset="-120"/>
              </a:rPr>
              <a:t>3 · Captive silicon is unpriceable. </a:t>
            </a:r>
            <a:pPr indent="0" marL="0">
              <a:buNone/>
            </a:pPr>
            <a:r>
              <a:rPr lang="en-US" sz="900" dirty="0">
                <a:solidFill>
                  <a:srgbClr val="3A4356"/>
                </a:solidFill>
                <a:latin typeface="Calibri" pitchFamily="34" charset="0"/>
                <a:ea typeface="Calibri" pitchFamily="34" charset="-122"/>
                <a:cs typeface="Calibri" pitchFamily="34" charset="-120"/>
              </a:rPr>
              <a:t>On the brake ECU, ~£20 of Bosch in-house parts have no market price — no feed fixes that.
</a:t>
            </a:r>
            <a:pPr indent="0" marL="0">
              <a:buNone/>
            </a:pPr>
            <a:r>
              <a:rPr lang="en-US" sz="900" b="1" dirty="0">
                <a:solidFill>
                  <a:srgbClr val="B03A2E"/>
                </a:solidFill>
                <a:latin typeface="Calibri" pitchFamily="34" charset="0"/>
                <a:ea typeface="Calibri" pitchFamily="34" charset="-122"/>
                <a:cs typeface="Calibri" pitchFamily="34" charset="-120"/>
              </a:rPr>
              <a:t>4 · Placement rate unvalidated. </a:t>
            </a:r>
            <a:pPr indent="0" marL="0">
              <a:buNone/>
            </a:pPr>
            <a:r>
              <a:rPr lang="en-US" sz="900" dirty="0">
                <a:solidFill>
                  <a:srgbClr val="3A4356"/>
                </a:solidFill>
                <a:latin typeface="Calibri" pitchFamily="34" charset="0"/>
                <a:ea typeface="Calibri" pitchFamily="34" charset="-122"/>
                <a:cs typeface="Calibri" pitchFamily="34" charset="-120"/>
              </a:rPr>
              <a:t>The library CPH drives £14.21 of process cost; at 2–3× it becomes £4.74–£7.10. Worth more than the whole 200k→350k volume step.</a:t>
            </a:r>
            <a:endParaRPr lang="en-US" sz="900" dirty="0"/>
          </a:p>
        </p:txBody>
      </p:sp>
      <p:sp>
        <p:nvSpPr>
          <p:cNvPr id="13" name="Shape 11"/>
          <p:cNvSpPr/>
          <p:nvPr/>
        </p:nvSpPr>
        <p:spPr>
          <a:xfrm>
            <a:off x="457200" y="3364992"/>
            <a:ext cx="3602736" cy="2048256"/>
          </a:xfrm>
          <a:prstGeom prst="roundRect">
            <a:avLst>
              <a:gd name="adj" fmla="val 4018"/>
            </a:avLst>
          </a:prstGeom>
          <a:solidFill>
            <a:srgbClr val="FFFFFF"/>
          </a:solidFill>
          <a:ln w="15875">
            <a:solidFill>
              <a:srgbClr val="1D6FB8"/>
            </a:solidFill>
            <a:prstDash val="solid"/>
          </a:ln>
        </p:spPr>
      </p:sp>
      <p:sp>
        <p:nvSpPr>
          <p:cNvPr id="14" name="Shape 12"/>
          <p:cNvSpPr/>
          <p:nvPr/>
        </p:nvSpPr>
        <p:spPr>
          <a:xfrm>
            <a:off x="457200" y="3364992"/>
            <a:ext cx="54864" cy="2048256"/>
          </a:xfrm>
          <a:prstGeom prst="rect">
            <a:avLst/>
          </a:prstGeom>
          <a:solidFill>
            <a:srgbClr val="1D6FB8"/>
          </a:solidFill>
          <a:ln/>
        </p:spPr>
      </p:sp>
      <p:sp>
        <p:nvSpPr>
          <p:cNvPr id="15" name="Text 13"/>
          <p:cNvSpPr/>
          <p:nvPr/>
        </p:nvSpPr>
        <p:spPr>
          <a:xfrm>
            <a:off x="621792" y="3438144"/>
            <a:ext cx="3310128" cy="237744"/>
          </a:xfrm>
          <a:prstGeom prst="rect">
            <a:avLst/>
          </a:prstGeom>
          <a:noFill/>
          <a:ln/>
        </p:spPr>
        <p:txBody>
          <a:bodyPr wrap="square" lIns="0" tIns="0" rIns="0" bIns="0" rtlCol="0" anchor="ctr"/>
          <a:lstStyle/>
          <a:p>
            <a:pPr indent="0" marL="0">
              <a:buNone/>
            </a:pPr>
            <a:r>
              <a:rPr lang="en-US" sz="840" b="1" spc="40" kern="0" dirty="0">
                <a:solidFill>
                  <a:srgbClr val="1D6FB8"/>
                </a:solidFill>
                <a:latin typeface="Calibri" pitchFamily="34" charset="0"/>
                <a:ea typeface="Calibri" pitchFamily="34" charset="-122"/>
                <a:cs typeface="Calibri" pitchFamily="34" charset="-120"/>
              </a:rPr>
              <a:t>1 · TURN THE PRICE FEED ON</a:t>
            </a:r>
            <a:endParaRPr lang="en-US" sz="840" dirty="0"/>
          </a:p>
        </p:txBody>
      </p:sp>
      <p:sp>
        <p:nvSpPr>
          <p:cNvPr id="16" name="Text 14"/>
          <p:cNvSpPr/>
          <p:nvPr/>
        </p:nvSpPr>
        <p:spPr>
          <a:xfrm>
            <a:off x="621792"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 Nexar (Octopart) or RS API key. The integration already exists in server/utils/pcb-live-pricing.ts and already grounds the BOM before totals — it is key-gated and unset.</a:t>
            </a:r>
            <a:endParaRPr lang="en-US" sz="820" dirty="0"/>
          </a:p>
        </p:txBody>
      </p:sp>
      <p:sp>
        <p:nvSpPr>
          <p:cNvPr id="17" name="Shape 15"/>
          <p:cNvSpPr/>
          <p:nvPr/>
        </p:nvSpPr>
        <p:spPr>
          <a:xfrm>
            <a:off x="621792" y="4791456"/>
            <a:ext cx="3310128" cy="548640"/>
          </a:xfrm>
          <a:prstGeom prst="roundRect">
            <a:avLst>
              <a:gd name="adj" fmla="val 10000"/>
            </a:avLst>
          </a:prstGeom>
          <a:solidFill>
            <a:srgbClr val="E8F1FA"/>
          </a:solidFill>
          <a:ln/>
        </p:spPr>
      </p:sp>
      <p:sp>
        <p:nvSpPr>
          <p:cNvPr id="18" name="Text 16"/>
          <p:cNvSpPr/>
          <p:nvPr/>
        </p:nvSpPr>
        <p:spPr>
          <a:xfrm>
            <a:off x="713232" y="4791456"/>
            <a:ext cx="3127248" cy="54864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Also lift the 20-part grounding cap: the ECU BOM has 20 lines, so it is already at the limit.</a:t>
            </a:r>
            <a:endParaRPr lang="en-US" sz="750" dirty="0"/>
          </a:p>
        </p:txBody>
      </p:sp>
      <p:sp>
        <p:nvSpPr>
          <p:cNvPr id="19" name="Shape 17"/>
          <p:cNvSpPr/>
          <p:nvPr/>
        </p:nvSpPr>
        <p:spPr>
          <a:xfrm>
            <a:off x="4288536" y="3364992"/>
            <a:ext cx="3602736" cy="2048256"/>
          </a:xfrm>
          <a:prstGeom prst="roundRect">
            <a:avLst>
              <a:gd name="adj" fmla="val 4018"/>
            </a:avLst>
          </a:prstGeom>
          <a:solidFill>
            <a:srgbClr val="FFFFFF"/>
          </a:solidFill>
          <a:ln w="15875">
            <a:solidFill>
              <a:srgbClr val="2A7F50"/>
            </a:solidFill>
            <a:prstDash val="solid"/>
          </a:ln>
        </p:spPr>
      </p:sp>
      <p:sp>
        <p:nvSpPr>
          <p:cNvPr id="20" name="Shape 18"/>
          <p:cNvSpPr/>
          <p:nvPr/>
        </p:nvSpPr>
        <p:spPr>
          <a:xfrm>
            <a:off x="4288536" y="3364992"/>
            <a:ext cx="54864" cy="2048256"/>
          </a:xfrm>
          <a:prstGeom prst="rect">
            <a:avLst/>
          </a:prstGeom>
          <a:solidFill>
            <a:srgbClr val="2A7F50"/>
          </a:solidFill>
          <a:ln/>
        </p:spPr>
      </p:sp>
      <p:sp>
        <p:nvSpPr>
          <p:cNvPr id="21" name="Text 19"/>
          <p:cNvSpPr/>
          <p:nvPr/>
        </p:nvSpPr>
        <p:spPr>
          <a:xfrm>
            <a:off x="4453128" y="3438144"/>
            <a:ext cx="3310128" cy="237744"/>
          </a:xfrm>
          <a:prstGeom prst="rect">
            <a:avLst/>
          </a:prstGeom>
          <a:noFill/>
          <a:ln/>
        </p:spPr>
        <p:txBody>
          <a:bodyPr wrap="square" lIns="0" tIns="0" rIns="0" bIns="0" rtlCol="0" anchor="ctr"/>
          <a:lstStyle/>
          <a:p>
            <a:pPr indent="0" marL="0">
              <a:buNone/>
            </a:pPr>
            <a:r>
              <a:rPr lang="en-US" sz="840" b="1" spc="40" kern="0" dirty="0">
                <a:solidFill>
                  <a:srgbClr val="2A7F50"/>
                </a:solidFill>
                <a:latin typeface="Calibri" pitchFamily="34" charset="0"/>
                <a:ea typeface="Calibri" pitchFamily="34" charset="-122"/>
                <a:cs typeface="Calibri" pitchFamily="34" charset="-120"/>
              </a:rPr>
              <a:t>2 · VALIDATE ON A KNOWN BOARD</a:t>
            </a:r>
            <a:endParaRPr lang="en-US" sz="840" dirty="0"/>
          </a:p>
        </p:txBody>
      </p:sp>
      <p:sp>
        <p:nvSpPr>
          <p:cNvPr id="22" name="Text 20"/>
          <p:cNvSpPr/>
          <p:nvPr/>
        </p:nvSpPr>
        <p:spPr>
          <a:xfrm>
            <a:off x="4453128"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Cost one board we already hold a purchase-order price for, and record the actual. That converts the red "not validated" row into a number.</a:t>
            </a:r>
            <a:endParaRPr lang="en-US" sz="820" dirty="0"/>
          </a:p>
        </p:txBody>
      </p:sp>
      <p:sp>
        <p:nvSpPr>
          <p:cNvPr id="23" name="Shape 21"/>
          <p:cNvSpPr/>
          <p:nvPr/>
        </p:nvSpPr>
        <p:spPr>
          <a:xfrm>
            <a:off x="4453128" y="4791456"/>
            <a:ext cx="3310128" cy="548640"/>
          </a:xfrm>
          <a:prstGeom prst="roundRect">
            <a:avLst>
              <a:gd name="adj" fmla="val 10000"/>
            </a:avLst>
          </a:prstGeom>
          <a:solidFill>
            <a:srgbClr val="EAF6EF"/>
          </a:solidFill>
          <a:ln/>
        </p:spPr>
      </p:sp>
      <p:sp>
        <p:nvSpPr>
          <p:cNvPr id="24" name="Text 22"/>
          <p:cNvSpPr/>
          <p:nvPr/>
        </p:nvSpPr>
        <p:spPr>
          <a:xfrm>
            <a:off x="4544568" y="4791456"/>
            <a:ext cx="3127248" cy="54864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The calibration and drift machinery to learn from it is already built — it has never been fed a PCBA.</a:t>
            </a:r>
            <a:endParaRPr lang="en-US" sz="750" dirty="0"/>
          </a:p>
        </p:txBody>
      </p:sp>
      <p:sp>
        <p:nvSpPr>
          <p:cNvPr id="25" name="Shape 23"/>
          <p:cNvSpPr/>
          <p:nvPr/>
        </p:nvSpPr>
        <p:spPr>
          <a:xfrm>
            <a:off x="8119872" y="3364992"/>
            <a:ext cx="3602736" cy="2048256"/>
          </a:xfrm>
          <a:prstGeom prst="roundRect">
            <a:avLst>
              <a:gd name="adj" fmla="val 4018"/>
            </a:avLst>
          </a:prstGeom>
          <a:solidFill>
            <a:srgbClr val="FFFFFF"/>
          </a:solidFill>
          <a:ln w="15875">
            <a:solidFill>
              <a:srgbClr val="99651A"/>
            </a:solidFill>
            <a:prstDash val="solid"/>
          </a:ln>
        </p:spPr>
      </p:sp>
      <p:sp>
        <p:nvSpPr>
          <p:cNvPr id="26" name="Shape 24"/>
          <p:cNvSpPr/>
          <p:nvPr/>
        </p:nvSpPr>
        <p:spPr>
          <a:xfrm>
            <a:off x="8119872" y="3364992"/>
            <a:ext cx="54864" cy="2048256"/>
          </a:xfrm>
          <a:prstGeom prst="rect">
            <a:avLst/>
          </a:prstGeom>
          <a:solidFill>
            <a:srgbClr val="99651A"/>
          </a:solidFill>
          <a:ln/>
        </p:spPr>
      </p:sp>
      <p:sp>
        <p:nvSpPr>
          <p:cNvPr id="27" name="Text 25"/>
          <p:cNvSpPr/>
          <p:nvPr/>
        </p:nvSpPr>
        <p:spPr>
          <a:xfrm>
            <a:off x="8284464" y="3438144"/>
            <a:ext cx="3310128" cy="237744"/>
          </a:xfrm>
          <a:prstGeom prst="rect">
            <a:avLst/>
          </a:prstGeom>
          <a:noFill/>
          <a:ln/>
        </p:spPr>
        <p:txBody>
          <a:bodyPr wrap="square" lIns="0" tIns="0" rIns="0" bIns="0" rtlCol="0" anchor="ctr"/>
          <a:lstStyle/>
          <a:p>
            <a:pPr indent="0" marL="0">
              <a:buNone/>
            </a:pPr>
            <a:r>
              <a:rPr lang="en-US" sz="840" b="1" spc="40" kern="0" dirty="0">
                <a:solidFill>
                  <a:srgbClr val="99651A"/>
                </a:solidFill>
                <a:latin typeface="Calibri" pitchFamily="34" charset="0"/>
                <a:ea typeface="Calibri" pitchFamily="34" charset="-122"/>
                <a:cs typeface="Calibri" pitchFamily="34" charset="-120"/>
              </a:rPr>
              <a:t>3 · CHALLENGE THE PLACEMENT RATE</a:t>
            </a:r>
            <a:endParaRPr lang="en-US" sz="840" dirty="0"/>
          </a:p>
        </p:txBody>
      </p:sp>
      <p:sp>
        <p:nvSpPr>
          <p:cNvPr id="28" name="Text 26"/>
          <p:cNvSpPr/>
          <p:nvPr/>
        </p:nvSpPr>
        <p:spPr>
          <a:xfrm>
            <a:off x="8284464" y="3712464"/>
            <a:ext cx="3310128" cy="1042416"/>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Ask one EMS supplier for a real CPH on a comparable board and reconcile it against CPH_BY_TYPE.</a:t>
            </a:r>
            <a:endParaRPr lang="en-US" sz="820" dirty="0"/>
          </a:p>
        </p:txBody>
      </p:sp>
      <p:sp>
        <p:nvSpPr>
          <p:cNvPr id="29" name="Shape 27"/>
          <p:cNvSpPr/>
          <p:nvPr/>
        </p:nvSpPr>
        <p:spPr>
          <a:xfrm>
            <a:off x="8284464" y="4791456"/>
            <a:ext cx="3310128" cy="548640"/>
          </a:xfrm>
          <a:prstGeom prst="roundRect">
            <a:avLst>
              <a:gd name="adj" fmla="val 10000"/>
            </a:avLst>
          </a:prstGeom>
          <a:solidFill>
            <a:srgbClr val="FCF3E3"/>
          </a:solidFill>
          <a:ln/>
        </p:spPr>
      </p:sp>
      <p:sp>
        <p:nvSpPr>
          <p:cNvPr id="30" name="Text 28"/>
          <p:cNvSpPr/>
          <p:nvPr/>
        </p:nvSpPr>
        <p:spPr>
          <a:xfrm>
            <a:off x="8375904" y="4791456"/>
            <a:ext cx="3127248" cy="54864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One conversation. Larger effect on the answer than any volume or region change we have modelled.</a:t>
            </a:r>
            <a:endParaRPr lang="en-US" sz="750" dirty="0"/>
          </a:p>
        </p:txBody>
      </p:sp>
      <p:sp>
        <p:nvSpPr>
          <p:cNvPr id="31" name="Shape 29"/>
          <p:cNvSpPr/>
          <p:nvPr/>
        </p:nvSpPr>
        <p:spPr>
          <a:xfrm>
            <a:off x="457200" y="5541264"/>
            <a:ext cx="11274552" cy="822960"/>
          </a:xfrm>
          <a:prstGeom prst="roundRect">
            <a:avLst>
              <a:gd name="adj" fmla="val 8889"/>
            </a:avLst>
          </a:prstGeom>
          <a:solidFill>
            <a:srgbClr val="EAF6EF"/>
          </a:solidFill>
          <a:ln w="15240">
            <a:solidFill>
              <a:srgbClr val="2A7F50"/>
            </a:solidFill>
            <a:prstDash val="solid"/>
          </a:ln>
        </p:spPr>
      </p:sp>
      <p:sp>
        <p:nvSpPr>
          <p:cNvPr id="32" name="Text 30"/>
          <p:cNvSpPr/>
          <p:nvPr/>
        </p:nvSpPr>
        <p:spPr>
          <a:xfrm>
            <a:off x="621792" y="5541264"/>
            <a:ext cx="10972800" cy="82296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The ask:  </a:t>
            </a:r>
            <a:pPr indent="0" marL="0">
              <a:buNone/>
            </a:pPr>
            <a:r>
              <a:rPr lang="en-US" sz="1000" dirty="0">
                <a:solidFill>
                  <a:srgbClr val="3A4356"/>
                </a:solidFill>
                <a:latin typeface="Calibri" pitchFamily="34" charset="0"/>
                <a:ea typeface="Calibri" pitchFamily="34" charset="-122"/>
                <a:cs typeface="Calibri" pitchFamily="34" charset="-120"/>
              </a:rPr>
              <a:t>one distributor API key and one board with a known purchase price. The integration and the learning-from-actuals machinery are already built. The key needs internet; without it the catalogue prices the board. Until then the honest headline stays: </a:t>
            </a:r>
            <a:pPr indent="0" marL="0">
              <a:buNone/>
            </a:pPr>
            <a:r>
              <a:rPr lang="en-US" sz="1000" b="1" dirty="0">
                <a:solidFill>
                  <a:srgbClr val="16325C"/>
                </a:solidFill>
                <a:latin typeface="Calibri" pitchFamily="34" charset="0"/>
                <a:ea typeface="Calibri" pitchFamily="34" charset="-122"/>
                <a:cs typeface="Calibri" pitchFamily="34" charset="-120"/>
              </a:rPr>
              <a:t>a defensible, fully traceable estimate — not a priced quotation.</a:t>
            </a:r>
            <a:endParaRPr lang="en-US" sz="100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who else automates PCBA costing · market landscape, sourced August 2026</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A7F50"/>
            </a:solidFill>
            <a:prstDash val="solid"/>
          </a:ln>
        </p:spPr>
      </p:sp>
      <p:sp>
        <p:nvSpPr>
          <p:cNvPr id="6" name="Shape 4"/>
          <p:cNvSpPr/>
          <p:nvPr/>
        </p:nvSpPr>
        <p:spPr>
          <a:xfrm>
            <a:off x="603504" y="1152144"/>
            <a:ext cx="310896" cy="310896"/>
          </a:xfrm>
          <a:prstGeom prst="ellipse">
            <a:avLst/>
          </a:prstGeom>
          <a:solidFill>
            <a:srgbClr val="2A7F50"/>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A7F50"/>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Example: on a machined bracket the tool lists £5.38/part of ideas to test; the biggest is a £4.38 sourcing study. Ideas, not savings achieved.</a:t>
            </a:r>
            <a:endParaRPr lang="en-US" sz="75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D7D71"/>
            </a:solidFill>
            <a:prstDash val="solid"/>
          </a:ln>
        </p:spPr>
      </p:sp>
      <p:sp>
        <p:nvSpPr>
          <p:cNvPr id="13" name="Shape 10"/>
          <p:cNvSpPr/>
          <p:nvPr/>
        </p:nvSpPr>
        <p:spPr>
          <a:xfrm>
            <a:off x="4434840" y="1152144"/>
            <a:ext cx="310896" cy="310896"/>
          </a:xfrm>
          <a:prstGeom prst="ellipse">
            <a:avLst/>
          </a:prstGeom>
          <a:solidFill>
            <a:srgbClr val="0D7D71"/>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D7D71"/>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Quick enough to run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Worked example: on the bumper, tooling is 43% of piece cost — more than resin, press and labour combined.</a:t>
            </a:r>
            <a:endParaRPr lang="en-US" sz="75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Not yet measured. The pilot times real runs; until then the hours are a planning estimate.</a:t>
            </a:r>
            <a:endParaRPr lang="en-US" sz="75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annual purchased value of the</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parts we put through it</a:t>
            </a:r>
            <a:endParaRPr lang="en-US" sz="75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50" dirty="0">
                <a:solidFill>
                  <a:srgbClr val="686F7D"/>
                </a:solidFill>
                <a:latin typeface="Calibri" pitchFamily="34" charset="0"/>
                <a:ea typeface="Calibri" pitchFamily="34" charset="-122"/>
                <a:cs typeface="Calibri" pitchFamily="34" charset="-120"/>
              </a:rPr>
              <a:t>planning assumption —</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the pilot measures</a:t>
            </a:r>
            <a:endParaRPr lang="en-US" sz="750" dirty="0"/>
          </a:p>
          <a:p>
            <a:pPr indent="0" marL="0">
              <a:buNone/>
            </a:pPr>
            <a:r>
              <a:rPr lang="en-US" sz="750" dirty="0">
                <a:solidFill>
                  <a:srgbClr val="686F7D"/>
                </a:solidFill>
                <a:latin typeface="Calibri" pitchFamily="34" charset="0"/>
                <a:ea typeface="Calibri" pitchFamily="34" charset="-122"/>
                <a:cs typeface="Calibri" pitchFamily="34" charset="-120"/>
              </a:rPr>
              <a:t>the real figure</a:t>
            </a:r>
            <a:endParaRPr lang="en-US" sz="75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50" dirty="0">
                <a:solidFill>
                  <a:srgbClr val="99651A"/>
                </a:solidFill>
                <a:latin typeface="Calibri" pitchFamily="34" charset="0"/>
                <a:ea typeface="Calibri" pitchFamily="34" charset="-122"/>
                <a:cs typeface="Calibri" pitchFamily="34" charset="-120"/>
              </a:rPr>
              <a:t>the share we actually</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implement — the honest</a:t>
            </a:r>
            <a:endParaRPr lang="en-US" sz="750" dirty="0"/>
          </a:p>
          <a:p>
            <a:pPr indent="0" marL="0">
              <a:buNone/>
            </a:pPr>
            <a:r>
              <a:rPr lang="en-US" sz="750" dirty="0">
                <a:solidFill>
                  <a:srgbClr val="99651A"/>
                </a:solidFill>
                <a:latin typeface="Calibri" pitchFamily="34" charset="0"/>
                <a:ea typeface="Calibri" pitchFamily="34" charset="-122"/>
                <a:cs typeface="Calibri" pitchFamily="34" charset="-120"/>
              </a:rPr>
              <a:t>unknown</a:t>
            </a:r>
            <a:endParaRPr lang="en-US" sz="75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86F7D"/>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A7F50"/>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A7F50"/>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A7F50"/>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50" dirty="0">
                <a:solidFill>
                  <a:srgbClr val="2A7F50"/>
                </a:solidFill>
                <a:latin typeface="Calibri" pitchFamily="34" charset="0"/>
                <a:ea typeface="Calibri" pitchFamily="34" charset="-122"/>
                <a:cs typeface="Calibri" pitchFamily="34" charset="-120"/>
              </a:rPr>
              <a:t>recurring, against a one-off</a:t>
            </a:r>
            <a:endParaRPr lang="en-US" sz="750" dirty="0"/>
          </a:p>
          <a:p>
            <a:pPr indent="0" marL="0">
              <a:buNone/>
            </a:pPr>
            <a:r>
              <a:rPr lang="en-US" sz="750" dirty="0">
                <a:solidFill>
                  <a:srgbClr val="2A7F50"/>
                </a:solidFill>
                <a:latin typeface="Calibri" pitchFamily="34" charset="0"/>
                <a:ea typeface="Calibri" pitchFamily="34" charset="-122"/>
                <a:cs typeface="Calibri" pitchFamily="34" charset="-120"/>
              </a:rPr>
              <a:t>pilot cost of ≈ £25k</a:t>
            </a:r>
            <a:endParaRPr lang="en-US" sz="75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All four are planning assumptions, not tool results. </a:t>
            </a:r>
            <a:pPr indent="0" marL="0">
              <a:buNone/>
            </a:pPr>
            <a:r>
              <a:rPr lang="en-US" sz="840" dirty="0">
                <a:solidFill>
                  <a:srgbClr val="3A4356"/>
                </a:solidFill>
                <a:latin typeface="Calibri" pitchFamily="34" charset="0"/>
                <a:ea typeface="Calibri" pitchFamily="34" charset="-122"/>
                <a:cs typeface="Calibri" pitchFamily="34" charset="-120"/>
              </a:rPr>
              <a:t>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Where the Time Goes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Expected time per should-cost, by commodity, against the CAPEE-by-hand baseline — planning figures until the pilot times them</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WHAT THE COSTVISION MINUTES WOULD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D7D71"/>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D7D71"/>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D7D71"/>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86F7D"/>
                </a:solidFill>
                <a:latin typeface="Calibri" pitchFamily="34" charset="0"/>
                <a:ea typeface="Calibri" pitchFamily="34" charset="-122"/>
                <a:cs typeface="Calibri" pitchFamily="34" charset="-120"/>
              </a:rPr>
              <a:t>material · route</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D7D71"/>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86F7D"/>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D7D71"/>
                </a:solidFill>
                <a:latin typeface="Calibri" pitchFamily="34" charset="0"/>
                <a:ea typeface="Calibri" pitchFamily="34" charset="-122"/>
                <a:cs typeface="Calibri" pitchFamily="34" charset="-120"/>
              </a:rPr>
              <a:t>Expected: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Not yet timed.</a:t>
            </a:r>
            <a:pPr indent="0" marL="0">
              <a:buNone/>
            </a:pPr>
            <a:r>
              <a:rPr lang="en-US" sz="820" b="1" dirty="0">
                <a:solidFill>
                  <a:srgbClr val="16325C"/>
                </a:solidFill>
                <a:latin typeface="Calibri" pitchFamily="34" charset="0"/>
                <a:ea typeface="Calibri" pitchFamily="34" charset="-122"/>
                <a:cs typeface="Calibri" pitchFamily="34" charset="-120"/>
              </a:rPr>
              <a:t> CAPEE keys these inputs by hand; here the tool measures them.</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A7F50"/>
                </a:solidFill>
                <a:latin typeface="Calibri" pitchFamily="34" charset="0"/>
                <a:ea typeface="Calibri" pitchFamily="34" charset="-122"/>
                <a:cs typeface="Calibri" pitchFamily="34" charset="-120"/>
              </a:rPr>
              <a:t>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19)</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D7D71"/>
                </a:solidFill>
                <a:latin typeface="Calibri" pitchFamily="34" charset="0"/>
                <a:ea typeface="Calibri" pitchFamily="34" charset="-122"/>
                <a:cs typeface="Calibri" pitchFamily="34" charset="-120"/>
              </a:rPr>
              <a:t>15–30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PLANNING MINUTES</a:t>
            </a:r>
            <a:endParaRPr lang="en-US" sz="850" dirty="0"/>
          </a:p>
        </p:txBody>
      </p:sp>
      <p:graphicFrame>
        <p:nvGraphicFramePr>
          <p:cNvPr id="64"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5" name="Text 55"/>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86F7D"/>
                </a:solidFill>
                <a:latin typeface="Calibri" pitchFamily="34" charset="0"/>
                <a:ea typeface="Calibri" pitchFamily="34" charset="-122"/>
                <a:cs typeface="Calibri" pitchFamily="34" charset="-120"/>
              </a:rPr>
              <a:t>* Expected, not yet measured. CAPEE rows marked "team-reported" are working figures. The pilot replaces both with timed runs — confirm before circulating.</a:t>
            </a:r>
            <a:endParaRPr lang="en-US" sz="860" dirty="0"/>
          </a:p>
        </p:txBody>
      </p:sp>
      <p:sp>
        <p:nvSpPr>
          <p:cNvPr id="66" name="Shape 56"/>
          <p:cNvSpPr/>
          <p:nvPr/>
        </p:nvSpPr>
        <p:spPr>
          <a:xfrm>
            <a:off x="457200" y="5779008"/>
            <a:ext cx="5394960" cy="658368"/>
          </a:xfrm>
          <a:prstGeom prst="roundRect">
            <a:avLst>
              <a:gd name="adj" fmla="val 11111"/>
            </a:avLst>
          </a:prstGeom>
          <a:solidFill>
            <a:srgbClr val="EAF6EF"/>
          </a:solidFill>
          <a:ln w="12700">
            <a:solidFill>
              <a:srgbClr val="2A7F50"/>
            </a:solidFill>
            <a:prstDash val="solid"/>
          </a:ln>
        </p:spPr>
      </p:sp>
      <p:sp>
        <p:nvSpPr>
          <p:cNvPr id="67" name="Text 57"/>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A7F50"/>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these planning midpoints: </a:t>
            </a:r>
            <a:pPr indent="0" marL="0">
              <a:buNone/>
            </a:pPr>
            <a:r>
              <a:rPr lang="en-US" sz="900" b="1" dirty="0">
                <a:solidFill>
                  <a:srgbClr val="16325C"/>
                </a:solidFill>
                <a:latin typeface="Calibri" pitchFamily="34" charset="0"/>
                <a:ea typeface="Calibri" pitchFamily="34" charset="-122"/>
                <a:cs typeface="Calibri" pitchFamily="34" charset="-120"/>
              </a:rPr>
              <a:t>≈ 1,650 h/yr</a:t>
            </a:r>
            <a:pPr indent="0" marL="0">
              <a:buNone/>
            </a:pPr>
            <a:r>
              <a:rPr lang="en-US" sz="830" dirty="0">
                <a:solidFill>
                  <a:srgbClr val="3A4356"/>
                </a:solidFill>
                <a:latin typeface="Calibri" pitchFamily="34" charset="0"/>
                <a:ea typeface="Calibri" pitchFamily="34" charset="-122"/>
                <a:cs typeface="Calibri" pitchFamily="34" charset="-120"/>
              </a:rPr>
              <a:t> — an estimate, not a result. Replace with our real volumes and the pilot’s timed runs.</a:t>
            </a:r>
            <a:endParaRPr lang="en-US" sz="860" dirty="0"/>
          </a:p>
        </p:txBody>
      </p:sp>
      <p:sp>
        <p:nvSpPr>
          <p:cNvPr id="68"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9"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the inputs; the engineer answers only what geometry cannot decide</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More parts costed per engineer (the pilot measures how many) — directional cost early,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 a planning estimate until the pilot times real runs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Windows package, no install</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86F7D"/>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A7F50"/>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A7F50"/>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measures, asks and explains, with the same deterministic arithmetic at its core. At JLR the AI is off; when on, it may classify and comment, and never touches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is proven, what is covered, what it costs to run — and what is not proven yet</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D7D71"/>
                </a:solidFill>
                <a:latin typeface="Cambria" pitchFamily="34" charset="0"/>
                <a:ea typeface="Cambria" pitchFamily="34" charset="-122"/>
                <a:cs typeface="Cambria" pitchFamily="34" charset="-120"/>
              </a:rPr>
              <a:t>2,438</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automated tests, plus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browser tests on every run</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A7F50"/>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 AI off, no call to pay for</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Every</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cost line carries its</a:t>
            </a:r>
            <a:endParaRPr lang="en-US" sz="860" dirty="0"/>
          </a:p>
          <a:p>
            <a:pPr indent="0" marL="0">
              <a:buNone/>
            </a:pPr>
            <a:r>
              <a:rPr lang="en-US" sz="860" dirty="0">
                <a:solidFill>
                  <a:srgbClr val="686F7D"/>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WHAT IS PROVEN — AND WHAT IS NOT</a:t>
            </a:r>
            <a:endParaRPr lang="en-US" sz="850" dirty="0"/>
          </a:p>
        </p:txBody>
      </p:sp>
      <p:sp>
        <p:nvSpPr>
          <p:cNvPr id="18" name="Text 16"/>
          <p:cNvSpPr/>
          <p:nvPr/>
        </p:nvSpPr>
        <p:spPr>
          <a:xfrm>
            <a:off x="457200" y="2578608"/>
            <a:ext cx="224028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Check</a:t>
            </a:r>
            <a:endParaRPr lang="en-US" sz="820" dirty="0"/>
          </a:p>
        </p:txBody>
      </p:sp>
      <p:sp>
        <p:nvSpPr>
          <p:cNvPr id="19" name="Text 17"/>
          <p:cNvSpPr/>
          <p:nvPr/>
        </p:nvSpPr>
        <p:spPr>
          <a:xfrm>
            <a:off x="2697480" y="2578608"/>
            <a:ext cx="297180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Status today</a:t>
            </a:r>
            <a:endParaRPr lang="en-US" sz="820" dirty="0"/>
          </a:p>
        </p:txBody>
      </p:sp>
      <p:sp>
        <p:nvSpPr>
          <p:cNvPr id="20" name="Text 18"/>
          <p:cNvSpPr/>
          <p:nvPr/>
        </p:nvSpPr>
        <p:spPr>
          <a:xfrm>
            <a:off x="457200" y="2798064"/>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Arithmetic vs a hand calculation</a:t>
            </a:r>
            <a:endParaRPr lang="en-US" sz="830" dirty="0"/>
          </a:p>
        </p:txBody>
      </p:sp>
      <p:sp>
        <p:nvSpPr>
          <p:cNvPr id="21" name="Text 19"/>
          <p:cNvSpPr/>
          <p:nvPr/>
        </p:nvSpPr>
        <p:spPr>
          <a:xfrm>
            <a:off x="2697480" y="2798064"/>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Matches to under 0.01%</a:t>
            </a:r>
            <a:endParaRPr lang="en-US" sz="830" dirty="0"/>
          </a:p>
        </p:txBody>
      </p:sp>
      <p:sp>
        <p:nvSpPr>
          <p:cNvPr id="22" name="Text 20"/>
          <p:cNvSpPr/>
          <p:nvPr/>
        </p:nvSpPr>
        <p:spPr>
          <a:xfrm>
            <a:off x="457200" y="3086100"/>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6 real production parts</a:t>
            </a:r>
            <a:endParaRPr lang="en-US" sz="830" dirty="0"/>
          </a:p>
        </p:txBody>
      </p:sp>
      <p:sp>
        <p:nvSpPr>
          <p:cNvPr id="23" name="Text 21"/>
          <p:cNvSpPr/>
          <p:nvPr/>
        </p:nvSpPr>
        <p:spPr>
          <a:xfrm>
            <a:off x="2697480" y="3086100"/>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Pinned; a change fails the build</a:t>
            </a:r>
            <a:endParaRPr lang="en-US" sz="830" dirty="0"/>
          </a:p>
        </p:txBody>
      </p:sp>
      <p:sp>
        <p:nvSpPr>
          <p:cNvPr id="24" name="Text 22"/>
          <p:cNvSpPr/>
          <p:nvPr/>
        </p:nvSpPr>
        <p:spPr>
          <a:xfrm>
            <a:off x="457200" y="3374136"/>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Automated tests</a:t>
            </a:r>
            <a:endParaRPr lang="en-US" sz="830" dirty="0"/>
          </a:p>
        </p:txBody>
      </p:sp>
      <p:sp>
        <p:nvSpPr>
          <p:cNvPr id="25" name="Text 23"/>
          <p:cNvSpPr/>
          <p:nvPr/>
        </p:nvSpPr>
        <p:spPr>
          <a:xfrm>
            <a:off x="2697480" y="3374136"/>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2,438 + browser tests every run</a:t>
            </a:r>
            <a:endParaRPr lang="en-US" sz="830" dirty="0"/>
          </a:p>
        </p:txBody>
      </p:sp>
      <p:sp>
        <p:nvSpPr>
          <p:cNvPr id="26" name="Text 24"/>
          <p:cNvSpPr/>
          <p:nvPr/>
        </p:nvSpPr>
        <p:spPr>
          <a:xfrm>
            <a:off x="457200" y="3662172"/>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Same file, same answers</a:t>
            </a:r>
            <a:endParaRPr lang="en-US" sz="830" dirty="0"/>
          </a:p>
        </p:txBody>
      </p:sp>
      <p:sp>
        <p:nvSpPr>
          <p:cNvPr id="27" name="Text 25"/>
          <p:cNvSpPr/>
          <p:nvPr/>
        </p:nvSpPr>
        <p:spPr>
          <a:xfrm>
            <a:off x="2697480" y="3662172"/>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2A7F50"/>
                </a:solidFill>
                <a:latin typeface="Calibri" pitchFamily="34" charset="0"/>
                <a:ea typeface="Calibri" pitchFamily="34" charset="-122"/>
                <a:cs typeface="Calibri" pitchFamily="34" charset="-120"/>
              </a:rPr>
              <a:t>Same price, every time</a:t>
            </a:r>
            <a:endParaRPr lang="en-US" sz="830" dirty="0"/>
          </a:p>
        </p:txBody>
      </p:sp>
      <p:sp>
        <p:nvSpPr>
          <p:cNvPr id="28" name="Text 26"/>
          <p:cNvSpPr/>
          <p:nvPr/>
        </p:nvSpPr>
        <p:spPr>
          <a:xfrm>
            <a:off x="457200" y="3950208"/>
            <a:ext cx="224028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Estimate vs a price JLR paid</a:t>
            </a:r>
            <a:endParaRPr lang="en-US" sz="830" dirty="0"/>
          </a:p>
        </p:txBody>
      </p:sp>
      <p:sp>
        <p:nvSpPr>
          <p:cNvPr id="29" name="Text 27"/>
          <p:cNvSpPr/>
          <p:nvPr/>
        </p:nvSpPr>
        <p:spPr>
          <a:xfrm>
            <a:off x="2697480" y="3950208"/>
            <a:ext cx="2971800" cy="288036"/>
          </a:xfrm>
          <a:prstGeom prst="rect">
            <a:avLst/>
          </a:prstGeom>
          <a:solidFill>
            <a:srgbClr val="FFFFFF"/>
          </a:solidFill>
          <a:ln/>
        </p:spPr>
        <p:txBody>
          <a:bodyPr wrap="square" lIns="508" tIns="508" rIns="508" bIns="508" rtlCol="0" anchor="ctr"/>
          <a:lstStyle/>
          <a:p>
            <a:pPr algn="l" indent="0" marL="0">
              <a:buNone/>
            </a:pPr>
            <a:r>
              <a:rPr lang="en-US" sz="830" b="1" dirty="0">
                <a:solidFill>
                  <a:srgbClr val="99651A"/>
                </a:solidFill>
                <a:latin typeface="Calibri" pitchFamily="34" charset="0"/>
                <a:ea typeface="Calibri" pitchFamily="34" charset="-122"/>
                <a:cs typeface="Calibri" pitchFamily="34" charset="-120"/>
              </a:rPr>
              <a:t>Not yet compared</a:t>
            </a:r>
            <a:endParaRPr lang="en-US" sz="830" dirty="0"/>
          </a:p>
        </p:txBody>
      </p:sp>
      <p:sp>
        <p:nvSpPr>
          <p:cNvPr id="30" name="Text 28"/>
          <p:cNvSpPr/>
          <p:nvPr/>
        </p:nvSpPr>
        <p:spPr>
          <a:xfrm>
            <a:off x="457200" y="4238244"/>
            <a:ext cx="224028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An accuracy percentage</a:t>
            </a:r>
            <a:endParaRPr lang="en-US" sz="830" dirty="0"/>
          </a:p>
        </p:txBody>
      </p:sp>
      <p:sp>
        <p:nvSpPr>
          <p:cNvPr id="31" name="Text 29"/>
          <p:cNvSpPr/>
          <p:nvPr/>
        </p:nvSpPr>
        <p:spPr>
          <a:xfrm>
            <a:off x="2697480" y="4238244"/>
            <a:ext cx="2971800" cy="288036"/>
          </a:xfrm>
          <a:prstGeom prst="rect">
            <a:avLst/>
          </a:prstGeom>
          <a:solidFill>
            <a:srgbClr val="F0F4F9"/>
          </a:solidFill>
          <a:ln/>
        </p:spPr>
        <p:txBody>
          <a:bodyPr wrap="square" lIns="508" tIns="508" rIns="508" bIns="508" rtlCol="0" anchor="ctr"/>
          <a:lstStyle/>
          <a:p>
            <a:pPr algn="l" indent="0" marL="0">
              <a:buNone/>
            </a:pPr>
            <a:r>
              <a:rPr lang="en-US" sz="830" b="1" dirty="0">
                <a:solidFill>
                  <a:srgbClr val="99651A"/>
                </a:solidFill>
                <a:latin typeface="Calibri" pitchFamily="34" charset="0"/>
                <a:ea typeface="Calibri" pitchFamily="34" charset="-122"/>
                <a:cs typeface="Calibri" pitchFamily="34" charset="-120"/>
              </a:rPr>
              <a:t>Not claimed — measured as actuals are logged</a:t>
            </a:r>
            <a:endParaRPr lang="en-US" sz="830" dirty="0"/>
          </a:p>
        </p:txBody>
      </p:sp>
      <p:sp>
        <p:nvSpPr>
          <p:cNvPr id="32" name="Text 30"/>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Pinned means the answer cannot move without us noticing — not that it is proven right. </a:t>
            </a:r>
            <a:pPr indent="0" marL="0">
              <a:buNone/>
            </a:pPr>
            <a:r>
              <a:rPr lang="en-US" sz="900" dirty="0">
                <a:solidFill>
                  <a:srgbClr val="3A4356"/>
                </a:solidFill>
                <a:latin typeface="Calibri" pitchFamily="34" charset="0"/>
                <a:ea typeface="Calibri" pitchFamily="34" charset="-122"/>
                <a:cs typeface="Calibri" pitchFamily="34" charset="-120"/>
              </a:rPr>
              <a:t>Accuracy is measured as real quotes and PO prices are logged; after 3 for a commodity the band is corrected by real data.</a:t>
            </a:r>
            <a:endParaRPr lang="en-US" sz="900" dirty="0"/>
          </a:p>
        </p:txBody>
      </p:sp>
      <p:graphicFrame>
        <p:nvGraphicFramePr>
          <p:cNvPr id="33"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sp>
        <p:nvSpPr>
          <p:cNvPr id="34" name="Shape 31"/>
          <p:cNvSpPr/>
          <p:nvPr/>
        </p:nvSpPr>
        <p:spPr>
          <a:xfrm>
            <a:off x="9098280" y="2487168"/>
            <a:ext cx="2633472" cy="2176272"/>
          </a:xfrm>
          <a:prstGeom prst="roundRect">
            <a:avLst>
              <a:gd name="adj" fmla="val 3782"/>
            </a:avLst>
          </a:prstGeom>
          <a:solidFill>
            <a:srgbClr val="FFFFFF"/>
          </a:solidFill>
          <a:ln w="12700">
            <a:solidFill>
              <a:srgbClr val="DCE3EE"/>
            </a:solidFill>
            <a:prstDash val="solid"/>
          </a:ln>
        </p:spPr>
      </p:sp>
      <p:sp>
        <p:nvSpPr>
          <p:cNvPr id="35" name="Text 32"/>
          <p:cNvSpPr/>
          <p:nvPr/>
        </p:nvSpPr>
        <p:spPr>
          <a:xfrm>
            <a:off x="9235440" y="2560320"/>
            <a:ext cx="2377440" cy="201168"/>
          </a:xfrm>
          <a:prstGeom prst="rect">
            <a:avLst/>
          </a:prstGeom>
          <a:noFill/>
          <a:ln/>
        </p:spPr>
        <p:txBody>
          <a:bodyPr wrap="square" lIns="0" tIns="0" rIns="0" bIns="0" rtlCol="0" anchor="ctr"/>
          <a:lstStyle/>
          <a:p>
            <a:pPr indent="0" marL="0">
              <a:buNone/>
            </a:pPr>
            <a:r>
              <a:rPr lang="en-US" sz="850" b="1" spc="30" kern="0" dirty="0">
                <a:solidFill>
                  <a:srgbClr val="16325C"/>
                </a:solidFill>
                <a:latin typeface="Calibri" pitchFamily="34" charset="0"/>
                <a:ea typeface="Calibri" pitchFamily="34" charset="-122"/>
                <a:cs typeface="Calibri" pitchFamily="34" charset="-120"/>
              </a:rPr>
              <a:t>RATE LIBRARY 2.1.0 · 16 JUNE 2026</a:t>
            </a:r>
            <a:endParaRPr lang="en-US" sz="850" dirty="0"/>
          </a:p>
        </p:txBody>
      </p:sp>
      <p:sp>
        <p:nvSpPr>
          <p:cNvPr id="36" name="Text 33"/>
          <p:cNvSpPr/>
          <p:nvPr/>
        </p:nvSpPr>
        <p:spPr>
          <a:xfrm>
            <a:off x="9235440" y="2834640"/>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328</a:t>
            </a:r>
            <a:endParaRPr lang="en-US" sz="1800" dirty="0"/>
          </a:p>
        </p:txBody>
      </p:sp>
      <p:sp>
        <p:nvSpPr>
          <p:cNvPr id="37" name="Text 34"/>
          <p:cNvSpPr/>
          <p:nvPr/>
        </p:nvSpPr>
        <p:spPr>
          <a:xfrm>
            <a:off x="10104120" y="2834640"/>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materials</a:t>
            </a:r>
            <a:endParaRPr lang="en-US" sz="1000" dirty="0"/>
          </a:p>
        </p:txBody>
      </p:sp>
      <p:sp>
        <p:nvSpPr>
          <p:cNvPr id="38" name="Text 35"/>
          <p:cNvSpPr/>
          <p:nvPr/>
        </p:nvSpPr>
        <p:spPr>
          <a:xfrm>
            <a:off x="9235440" y="3264408"/>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178</a:t>
            </a:r>
            <a:endParaRPr lang="en-US" sz="1800" dirty="0"/>
          </a:p>
        </p:txBody>
      </p:sp>
      <p:sp>
        <p:nvSpPr>
          <p:cNvPr id="39" name="Text 36"/>
          <p:cNvSpPr/>
          <p:nvPr/>
        </p:nvSpPr>
        <p:spPr>
          <a:xfrm>
            <a:off x="10104120" y="3264408"/>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machines</a:t>
            </a:r>
            <a:endParaRPr lang="en-US" sz="1000" dirty="0"/>
          </a:p>
        </p:txBody>
      </p:sp>
      <p:sp>
        <p:nvSpPr>
          <p:cNvPr id="40" name="Text 37"/>
          <p:cNvSpPr/>
          <p:nvPr/>
        </p:nvSpPr>
        <p:spPr>
          <a:xfrm>
            <a:off x="9235440" y="3694176"/>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42</a:t>
            </a:r>
            <a:endParaRPr lang="en-US" sz="1800" dirty="0"/>
          </a:p>
        </p:txBody>
      </p:sp>
      <p:sp>
        <p:nvSpPr>
          <p:cNvPr id="41" name="Text 38"/>
          <p:cNvSpPr/>
          <p:nvPr/>
        </p:nvSpPr>
        <p:spPr>
          <a:xfrm>
            <a:off x="10104120" y="3694176"/>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labour grades</a:t>
            </a:r>
            <a:endParaRPr lang="en-US" sz="1000" dirty="0"/>
          </a:p>
        </p:txBody>
      </p:sp>
      <p:sp>
        <p:nvSpPr>
          <p:cNvPr id="42" name="Text 39"/>
          <p:cNvSpPr/>
          <p:nvPr/>
        </p:nvSpPr>
        <p:spPr>
          <a:xfrm>
            <a:off x="9235440" y="4123944"/>
            <a:ext cx="822960" cy="384048"/>
          </a:xfrm>
          <a:prstGeom prst="rect">
            <a:avLst/>
          </a:prstGeom>
          <a:noFill/>
          <a:ln/>
        </p:spPr>
        <p:txBody>
          <a:bodyPr wrap="square" lIns="0" tIns="0" rIns="0" bIns="0" rtlCol="0" anchor="ctr"/>
          <a:lstStyle/>
          <a:p>
            <a:pPr indent="0" marL="0">
              <a:buNone/>
            </a:pPr>
            <a:r>
              <a:rPr lang="en-US" sz="1800" b="1" dirty="0">
                <a:solidFill>
                  <a:srgbClr val="0D7D71"/>
                </a:solidFill>
                <a:latin typeface="Cambria" pitchFamily="34" charset="0"/>
                <a:ea typeface="Cambria" pitchFamily="34" charset="-122"/>
                <a:cs typeface="Cambria" pitchFamily="34" charset="-120"/>
              </a:rPr>
              <a:t>20</a:t>
            </a:r>
            <a:endParaRPr lang="en-US" sz="1800" dirty="0"/>
          </a:p>
        </p:txBody>
      </p:sp>
      <p:sp>
        <p:nvSpPr>
          <p:cNvPr id="43" name="Text 40"/>
          <p:cNvSpPr/>
          <p:nvPr/>
        </p:nvSpPr>
        <p:spPr>
          <a:xfrm>
            <a:off x="10104120" y="4123944"/>
            <a:ext cx="1554480" cy="384048"/>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regions</a:t>
            </a:r>
            <a:endParaRPr lang="en-US" sz="1000" dirty="0"/>
          </a:p>
        </p:txBody>
      </p:sp>
      <p:sp>
        <p:nvSpPr>
          <p:cNvPr id="44" name="Shape 41"/>
          <p:cNvSpPr/>
          <p:nvPr/>
        </p:nvSpPr>
        <p:spPr>
          <a:xfrm>
            <a:off x="457200" y="5440680"/>
            <a:ext cx="11274552" cy="932688"/>
          </a:xfrm>
          <a:prstGeom prst="roundRect">
            <a:avLst>
              <a:gd name="adj" fmla="val 8824"/>
            </a:avLst>
          </a:prstGeom>
          <a:solidFill>
            <a:srgbClr val="FCF3E3"/>
          </a:solidFill>
          <a:ln w="12700">
            <a:solidFill>
              <a:srgbClr val="99651A"/>
            </a:solidFill>
            <a:prstDash val="solid"/>
          </a:ln>
        </p:spPr>
      </p:sp>
      <p:pic>
        <p:nvPicPr>
          <p:cNvPr id="45" name="Image 0" descr="preencoded.png">    </p:cNvPr>
          <p:cNvPicPr>
            <a:picLocks noChangeAspect="1"/>
          </p:cNvPicPr>
          <p:nvPr/>
        </p:nvPicPr>
        <p:blipFill>
          <a:blip r:embed="rId2"/>
          <a:stretch>
            <a:fillRect/>
          </a:stretch>
        </p:blipFill>
        <p:spPr>
          <a:xfrm>
            <a:off x="621792" y="5596128"/>
            <a:ext cx="237744" cy="237744"/>
          </a:xfrm>
          <a:prstGeom prst="rect">
            <a:avLst/>
          </a:prstGeom>
        </p:spPr>
      </p:pic>
      <p:sp>
        <p:nvSpPr>
          <p:cNvPr id="46" name="Text 42"/>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it asks the engineer rather than guessing; and no estimate has yet been compared with a price JLR paid, so we quote no accuracy figure. Every number above can be reproduced from the tool and the code today.</a:t>
            </a:r>
            <a:endParaRPr lang="en-US" sz="900" dirty="0"/>
          </a:p>
        </p:txBody>
      </p:sp>
      <p:sp>
        <p:nvSpPr>
          <p:cNvPr id="47"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8"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A7F50"/>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laptop or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86F7D"/>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A7F50"/>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D7D71"/>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Package installed, our rates loaded (Rate Converter), the 6 baseline parts re-run,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A7F50"/>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86F7D"/>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timed during the pilot,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99651A"/>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99651A"/>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Every actual is logged; after 3 per commodity the band is corrected. 6 real parts pinned so far — none yet checked against a JLR price.</a:t>
            </a:r>
            <a:endParaRPr lang="en-US" sz="75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AI is switched off at JLR, and even when on it never sets a price. Every cost line prints its own derivation.</a:t>
            </a:r>
            <a:endParaRPr lang="en-US" sz="75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5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5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with six real parts pinned, holds up on forty of ours. If it misses the criteria we stop and nothing recurring has been committed. If it meets them, the £25k is covered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D7D71"/>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worked example, followed through all twelve stages</a:t>
            </a:r>
            <a:endParaRPr lang="en-US" sz="1500" dirty="0"/>
          </a:p>
        </p:txBody>
      </p:sp>
      <p:sp>
        <p:nvSpPr>
          <p:cNvPr id="8" name="Shape 6"/>
          <p:cNvSpPr/>
          <p:nvPr/>
        </p:nvSpPr>
        <p:spPr>
          <a:xfrm>
            <a:off x="786384" y="3730752"/>
            <a:ext cx="100584" cy="100584"/>
          </a:xfrm>
          <a:prstGeom prst="ellipse">
            <a:avLst/>
          </a:prstGeom>
          <a:solidFill>
            <a:srgbClr val="0D7D71"/>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it asks the engineer</a:t>
            </a:r>
            <a:endParaRPr lang="en-US" sz="1200" dirty="0"/>
          </a:p>
        </p:txBody>
      </p:sp>
      <p:sp>
        <p:nvSpPr>
          <p:cNvPr id="10" name="Shape 8"/>
          <p:cNvSpPr/>
          <p:nvPr/>
        </p:nvSpPr>
        <p:spPr>
          <a:xfrm>
            <a:off x="786384" y="4059936"/>
            <a:ext cx="100584" cy="100584"/>
          </a:xfrm>
          <a:prstGeom prst="ellipse">
            <a:avLst/>
          </a:prstGeom>
          <a:solidFill>
            <a:srgbClr val="0D7D71"/>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when an input disagrees with geometry</a:t>
            </a:r>
            <a:endParaRPr lang="en-US" sz="1200" dirty="0"/>
          </a:p>
        </p:txBody>
      </p:sp>
      <p:sp>
        <p:nvSpPr>
          <p:cNvPr id="12" name="Shape 10"/>
          <p:cNvSpPr/>
          <p:nvPr/>
        </p:nvSpPr>
        <p:spPr>
          <a:xfrm>
            <a:off x="786384" y="4389120"/>
            <a:ext cx="100584" cy="100584"/>
          </a:xfrm>
          <a:prstGeom prst="ellipse">
            <a:avLst/>
          </a:prstGeom>
          <a:solidFill>
            <a:srgbClr val="0D7D71"/>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D7D71"/>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worked-example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THE WORKED-EXAMPLE INPUTS</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Size, walls and features are what the kernel measures on a STEP file. Volume and region are typed.</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of the worked-example part. The costs that follow are engine output from these inputs.</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One housing, twelve stages, five owners</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ASK</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Engineer · AI off at JLR</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The tool asks what</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geometry cannot decide</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material · route · volume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Asked, never guessed</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99651A"/>
            </a:solidFill>
            <a:prstDash val="solid"/>
          </a:ln>
        </p:spPr>
      </p:sp>
      <p:sp>
        <p:nvSpPr>
          <p:cNvPr id="39" name="Shape 36"/>
          <p:cNvSpPr/>
          <p:nvPr/>
        </p:nvSpPr>
        <p:spPr>
          <a:xfrm>
            <a:off x="4974336" y="2395728"/>
            <a:ext cx="2157984" cy="384048"/>
          </a:xfrm>
          <a:prstGeom prst="rect">
            <a:avLst/>
          </a:prstGeom>
          <a:solidFill>
            <a:srgbClr val="99651A"/>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99651A"/>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D7D71"/>
            </a:solidFill>
            <a:prstDash val="solid"/>
          </a:ln>
        </p:spPr>
      </p:sp>
      <p:sp>
        <p:nvSpPr>
          <p:cNvPr id="47" name="Shape 44"/>
          <p:cNvSpPr/>
          <p:nvPr/>
        </p:nvSpPr>
        <p:spPr>
          <a:xfrm>
            <a:off x="7232904" y="2395728"/>
            <a:ext cx="2157984" cy="384048"/>
          </a:xfrm>
          <a:prstGeom prst="rect">
            <a:avLst/>
          </a:prstGeom>
          <a:solidFill>
            <a:srgbClr val="0D7D71"/>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D7D71"/>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A7F50"/>
            </a:solidFill>
            <a:prstDash val="solid"/>
          </a:ln>
        </p:spPr>
      </p:sp>
      <p:sp>
        <p:nvSpPr>
          <p:cNvPr id="55" name="Shape 52"/>
          <p:cNvSpPr/>
          <p:nvPr/>
        </p:nvSpPr>
        <p:spPr>
          <a:xfrm>
            <a:off x="9491472" y="2395728"/>
            <a:ext cx="2157984" cy="384048"/>
          </a:xfrm>
          <a:prstGeom prst="rect">
            <a:avLst/>
          </a:prstGeom>
          <a:solidFill>
            <a:srgbClr val="2A7F50"/>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A7F50"/>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Only one of the twelve stages could ever involve AI — and at JLR it is off. </a:t>
            </a:r>
            <a:pPr indent="0" marL="0">
              <a:buNone/>
            </a:pPr>
            <a:r>
              <a:rPr lang="en-US" sz="1200" dirty="0">
                <a:solidFill>
                  <a:srgbClr val="3A4356"/>
                </a:solidFill>
                <a:latin typeface="Calibri" pitchFamily="34" charset="0"/>
                <a:ea typeface="Calibri" pitchFamily="34" charset="-122"/>
                <a:cs typeface="Calibri" pitchFamily="34" charset="-120"/>
              </a:rPr>
              <a:t>Three stages measure, one asks the engineer, two are automatic checks, four are arithmetic, two are review and sign-off. Even when AI is on, it is the smallest part of the tool.</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86F7D"/>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On a STEP file nobody types these numbers, and nobody estimates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The kernel measures VOLUME. It cannot know the weight until the material is named — so it gives a weight for each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Nowhere. </a:t>
            </a:r>
            <a:pPr indent="0" marL="0">
              <a:buNone/>
            </a:pPr>
            <a:r>
              <a:rPr lang="en-US" sz="1200" dirty="0">
                <a:solidFill>
                  <a:srgbClr val="3A4356"/>
                </a:solidFill>
                <a:latin typeface="Calibri" pitchFamily="34" charset="0"/>
                <a:ea typeface="Calibri" pitchFamily="34" charset="-122"/>
                <a:cs typeface="Calibri" pitchFamily="34" charset="-120"/>
              </a:rPr>
              <a:t>At JLR it is switched off. Even when it is on, the measurements come first, so anything it says can be checked against an independent set of facts.</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86F7D"/>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the laptop or your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Tool Asks, the Engineer Answers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Where geometry cannot decide, the tool asks rather than guesses — AI is switched off at JLR</a:t>
            </a:r>
            <a:endParaRPr lang="en-US" sz="1200" dirty="0"/>
          </a:p>
        </p:txBody>
      </p:sp>
      <p:sp>
        <p:nvSpPr>
          <p:cNvPr id="5" name="Shape 3"/>
          <p:cNvSpPr/>
          <p:nvPr/>
        </p:nvSpPr>
        <p:spPr>
          <a:xfrm>
            <a:off x="94183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ENGINEER IS ASKED</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Only what the geometry cannot settle. The tool will not cost the part until each question is answered — no silent guess. Typical questions on a part like this, with the engineer’s answers:</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THE ANSWERS</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Process route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Volume · region</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60,000 a year · China</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IF AI IS EVER SWITCHED ON, IT CANNOT</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If AI is switched on later, it reads — it never prices</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It could offer a first answer to these questions, with a confidence score. Below 50% a flag stays on the result until a person clears it. Every AI route is rate-limited per user. </a:t>
            </a:r>
            <a:pPr indent="0" marL="0">
              <a:buNone/>
            </a:pPr>
            <a:r>
              <a:rPr lang="en-US" sz="1150" b="1" dirty="0">
                <a:solidFill>
                  <a:srgbClr val="16325C"/>
                </a:solidFill>
                <a:latin typeface="Calibri" pitchFamily="34" charset="0"/>
                <a:ea typeface="Calibri" pitchFamily="34" charset="-122"/>
                <a:cs typeface="Calibri" pitchFamily="34" charset="-120"/>
              </a:rPr>
              <a:t>Its answers arrive as editable pre-fills, and an engineer’s entry always wins.</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A7F50"/>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at JLR this stage is the engineer answering a few questions. It takes a minute, and it means nothing is guessed. If AI is ever switched on, it would only offer a first answer for the engineer to accept or change.</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a quick read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99651A"/>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86F7D"/>
                </a:solidFill>
                <a:latin typeface="Calibri" pitchFamily="34" charset="0"/>
                <a:ea typeface="Calibri" pitchFamily="34" charset="-122"/>
                <a:cs typeface="Calibri" pitchFamily="34" charset="-120"/>
              </a:rPr>
              <a:t>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A7F50"/>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99651A"/>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99651A"/>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an input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Why die casting, why a 1,600-tonne press — and what happens if the engineer disagrees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86F7D"/>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A7F50"/>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750" b="1" dirty="0">
                <a:solidFill>
                  <a:srgbClr val="2A7F50"/>
                </a:solidFill>
                <a:latin typeface="Calibri" pitchFamily="34" charset="0"/>
                <a:ea typeface="Calibri" pitchFamily="34" charset="-122"/>
                <a:cs typeface="Calibri" pitchFamily="34" charset="-120"/>
              </a:rPr>
              <a:t>CHOSEN</a:t>
            </a:r>
            <a:endParaRPr lang="en-US" sz="75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750" b="1" dirty="0">
                <a:solidFill>
                  <a:srgbClr val="686F7D"/>
                </a:solidFill>
                <a:latin typeface="Calibri" pitchFamily="34" charset="0"/>
                <a:ea typeface="Calibri" pitchFamily="34" charset="-122"/>
                <a:cs typeface="Calibri" pitchFamily="34" charset="-120"/>
              </a:rPr>
              <a:t>rejected</a:t>
            </a:r>
            <a:endParaRPr lang="en-US" sz="75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86F7D"/>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D7D71"/>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D7D71"/>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86F7D"/>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rather than accepting a default. Enter a process or machine yourself and it is respected: the engine prices its own choice alongside as a lever, and the self-audit flags a wrong-sized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D7D71"/>
                </a:solidFill>
                <a:latin typeface="Calibri" pitchFamily="34" charset="0"/>
                <a:ea typeface="Calibri" pitchFamily="34" charset="-122"/>
                <a:cs typeface="Calibri" pitchFamily="34" charset="-120"/>
              </a:rPr>
              <a:t>The rules engine,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engineer confirmed the route.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always wins. </a:t>
            </a:r>
            <a:pPr indent="0" marL="0">
              <a:buNone/>
            </a:pPr>
            <a:r>
              <a:rPr lang="en-US" sz="1100" dirty="0">
                <a:solidFill>
                  <a:srgbClr val="3A4356"/>
                </a:solidFill>
                <a:latin typeface="Calibri" pitchFamily="34" charset="0"/>
                <a:ea typeface="Calibri" pitchFamily="34" charset="-122"/>
                <a:cs typeface="Calibri" pitchFamily="34" charset="-120"/>
              </a:rPr>
              <a:t>And if anyone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The CAD rules path sizes by mass instead; the self-audit flags a wrong size.</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86F7D"/>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99651A"/>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99651A"/>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86F7D"/>
                </a:solidFill>
                <a:latin typeface="Calibri" pitchFamily="34" charset="0"/>
                <a:ea typeface="Calibri" pitchFamily="34" charset="-122"/>
                <a:cs typeface="Calibri" pitchFamily="34" charset="-120"/>
              </a:rPr>
              <a:t>Machine £ = £/hr x charged time.  Labour £ = cycle ÷ 0.9 labour efficiency x 0.5 operators x grade rate.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D7D71"/>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D7D71"/>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A7F50"/>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D7D71"/>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compare honestly. Overhead is a % of material + process + labour + tooling. Margin is a % of the subtotal. Each once.
</a:t>
            </a:r>
            <a:pPr indent="0" marL="0">
              <a:buNone/>
            </a:pPr>
            <a:r>
              <a:rPr lang="en-US" sz="1150" b="1" dirty="0">
                <a:solidFill>
                  <a:srgbClr val="0D7D71"/>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A7F50"/>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A7F50"/>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D7D71"/>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86F7D"/>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A7F50"/>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question asked, and the answer given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and self-audit flag, with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20-country table · Excel and PDF exports</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A7F50"/>
            </a:solidFill>
            <a:prstDash val="solid"/>
          </a:ln>
        </p:spPr>
      </p:sp>
      <p:sp>
        <p:nvSpPr>
          <p:cNvPr id="30" name="Shape 23"/>
          <p:cNvSpPr/>
          <p:nvPr/>
        </p:nvSpPr>
        <p:spPr>
          <a:xfrm>
            <a:off x="713232" y="3858768"/>
            <a:ext cx="548640" cy="548640"/>
          </a:xfrm>
          <a:prstGeom prst="ellipse">
            <a:avLst/>
          </a:prstGeom>
          <a:solidFill>
            <a:srgbClr val="2A7F50"/>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derived input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A7F5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A7F5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A7F5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Where the tool knows each input’s source, a trial varies every driver — weight, cycle times, rates, even flat material prices — and re-runs the real engine. Otherwise it scales each base bucket by a lognormal factor (always positive, mean 1). Overhead and margin are recomposed exactly as the engine does.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A7F5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A7F50"/>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D7D71"/>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D7D71"/>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86F7D"/>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D7D71"/>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A7F50"/>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Corrected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Log a real quote or PO price ("Log Actual £"). After 3 actuals for a commodity, the band is corrected by real data. Until then the Monte-Carlo band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99651A"/>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A7F50"/>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A7F50"/>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“£38.55 ± 17%”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D7D71"/>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D7D71"/>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D7D71"/>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D7D71"/>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D7D71"/>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A7F50"/>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99651A"/>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99651A"/>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AI is off at JLR. If switched on, it may add display-only commentary to the CAD panel. It writes no score, severity, saving or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£6.95/part" (figures from that report at the time)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A7F50"/>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A7F50"/>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D7D71"/>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A7F50"/>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D7D71"/>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D7D71"/>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D7D71"/>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D7D71"/>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D7D71"/>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D7D71"/>
                </a:solidFill>
                <a:latin typeface="Calibri" pitchFamily="34" charset="0"/>
                <a:ea typeface="Calibri" pitchFamily="34" charset="-122"/>
                <a:cs typeface="Calibri" pitchFamily="34" charset="-120"/>
              </a:rPr>
              <a:t>THE CHECK — THE BUMPER MOULD, AS FIRST CALIBRATED</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D7D71"/>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568 h × £58</a:t>
            </a:r>
            <a:endParaRPr lang="en-US" sz="75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footprint-scaled</a:t>
            </a:r>
            <a:endParaRPr lang="en-US" sz="75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8,469 kg × £8.2</a:t>
            </a:r>
            <a:endParaRPr lang="en-US" sz="75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2,691 h × £52</a:t>
            </a:r>
            <a:endParaRPr lang="en-US" sz="75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336 h × £58</a:t>
            </a:r>
            <a:endParaRPr lang="en-US" sz="75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269 h × £45</a:t>
            </a:r>
            <a:endParaRPr lang="en-US" sz="75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673 h × £48</a:t>
            </a:r>
            <a:endParaRPr lang="en-US" sz="75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40 h × £85</a:t>
            </a:r>
            <a:endParaRPr lang="en-US" sz="75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bought-out + bench</a:t>
            </a:r>
            <a:endParaRPr lang="en-US" sz="75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50" dirty="0">
                <a:solidFill>
                  <a:srgbClr val="686F7D"/>
                </a:solidFill>
                <a:latin typeface="Courier New" pitchFamily="34" charset="0"/>
                <a:ea typeface="Courier New" pitchFamily="34" charset="-122"/>
                <a:cs typeface="Courier New" pitchFamily="34" charset="-120"/>
              </a:rPr>
              <a:t>22%</a:t>
            </a:r>
            <a:endParaRPr lang="en-US" sz="75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D7D71"/>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D7D71"/>
                </a:solidFill>
                <a:latin typeface="Calibri" pitchFamily="34" charset="0"/>
                <a:ea typeface="Calibri" pitchFamily="34" charset="-122"/>
                <a:cs typeface="Calibri" pitchFamily="34" charset="-120"/>
              </a:rPr>
              <a:t>Engine total ≈£424k</a:t>
            </a:r>
            <a:pPr indent="0" marL="0">
              <a:buNone/>
            </a:pPr>
            <a:r>
              <a:rPr lang="en-US" sz="900" dirty="0">
                <a:solidFill>
                  <a:srgbClr val="3A4356"/>
                </a:solidFill>
                <a:latin typeface="Calibri" pitchFamily="34" charset="0"/>
                <a:ea typeface="Calibri" pitchFamily="34" charset="-122"/>
                <a:cs typeface="Calibri" pitchFamily="34" charset="-120"/>
              </a:rPr>
              <a:t>  vs a real toolmaker quotation of </a:t>
            </a:r>
            <a:pPr indent="0" marL="0">
              <a:buNone/>
            </a:pPr>
            <a:r>
              <a:rPr lang="en-US" sz="1050" b="1" dirty="0">
                <a:solidFill>
                  <a:srgbClr val="16325C"/>
                </a:solidFill>
                <a:latin typeface="Calibri" pitchFamily="34" charset="0"/>
                <a:ea typeface="Calibri" pitchFamily="34" charset="-122"/>
                <a:cs typeface="Calibri" pitchFamily="34" charset="-120"/>
              </a:rPr>
              <a:t>£420k</a:t>
            </a:r>
            <a:pPr indent="0" marL="0">
              <a:buNone/>
            </a:pPr>
            <a:r>
              <a:rPr lang="en-US" sz="840" dirty="0">
                <a:solidFill>
                  <a:srgbClr val="3A4356"/>
                </a:solidFill>
                <a:latin typeface="Calibri" pitchFamily="34" charset="0"/>
                <a:ea typeface="Calibri" pitchFamily="34" charset="-122"/>
                <a:cs typeface="Calibri" pitchFamily="34" charset="-120"/>
              </a:rPr>
              <a:t>. One tool, one quotation — not a general accuracy claim. Line values move with inputs and rates; every line is one a toolmaker can argue with.</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D7D71"/>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checked against one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D7D71"/>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(hammer 1.2714 £5.8 · H13 £9.5 · PM £14)</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75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D7D71"/>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die-set machining + 4 tryout strip runs</a:t>
            </a:r>
            <a:endParaRPr lang="en-US" sz="75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The shop model is cross-checked against the kernel’s independent B-rep estimate.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D7D71"/>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75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D7D71"/>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75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750" dirty="0"/>
          </a:p>
          <a:p>
            <a:pPr indent="0" marL="0">
              <a:buNone/>
            </a:pPr>
            <a:r>
              <a:rPr lang="en-US" sz="75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75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D7D71"/>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checked against a real quotation and cross-checked by the kernel’s independent B-rep estimates.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99651A"/>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die cost ÷ (annual volume × programme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D7D71"/>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of material+process+labour+tooling; % of subtotal</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99651A"/>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99651A"/>
                </a:solidFill>
                <a:latin typeface="Calibri" pitchFamily="34" charset="0"/>
                <a:ea typeface="Calibri" pitchFamily="34" charset="-122"/>
                <a:cs typeface="Calibri" pitchFamily="34" charset="-120"/>
              </a:rPr>
              <a:t>THE CHECKS THAT RUN AUTOMATICALLY</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 stated volume vs the measured one — &gt;25% apart warns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Self-audit: tooling over the wrong volume, material-only costing</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A7F50"/>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 number ever becomes money — and at JLR the AI is off. </a:t>
            </a:r>
            <a:pPr indent="0" marL="0">
              <a:buNone/>
            </a:pPr>
            <a:r>
              <a:rPr lang="en-US" sz="1150" dirty="0">
                <a:solidFill>
                  <a:srgbClr val="3A4356"/>
                </a:solidFill>
                <a:latin typeface="Calibri" pitchFamily="34" charset="0"/>
                <a:ea typeface="Calibri" pitchFamily="34" charset="-122"/>
                <a:cs typeface="Calibri" pitchFamily="34" charset="-120"/>
              </a:rPr>
              <a:t>Every figure comes from a measurement, a rule, an engineer’s answer or a library rate.  </a:t>
            </a:r>
            <a:pPr indent="0" marL="0">
              <a:buNone/>
            </a:pPr>
            <a:r>
              <a:rPr lang="en-US" sz="1150" b="1" dirty="0">
                <a:solidFill>
                  <a:srgbClr val="B03A2E"/>
                </a:solidFill>
                <a:latin typeface="Calibri" pitchFamily="34" charset="0"/>
                <a:ea typeface="Calibri" pitchFamily="34" charset="-122"/>
                <a:cs typeface="Calibri" pitchFamily="34" charset="-120"/>
              </a:rPr>
              <a:t>We do not say every input is right. </a:t>
            </a:r>
            <a:pPr indent="0" marL="0">
              <a:buNone/>
            </a:pPr>
            <a:r>
              <a:rPr lang="en-US" sz="1150" dirty="0">
                <a:solidFill>
                  <a:srgbClr val="3A4356"/>
                </a:solidFill>
                <a:latin typeface="Calibri" pitchFamily="34" charset="0"/>
                <a:ea typeface="Calibri" pitchFamily="34" charset="-122"/>
                <a:cs typeface="Calibri" pitchFamily="34" charset="-120"/>
              </a:rPr>
              <a:t>An answer can be mistyped or a rate can be out of date. That is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D7D71"/>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D7D71"/>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Off at JLR · optional</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Could suggest the alloy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Could suggest the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Never sets a price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99651A"/>
            </a:solidFill>
            <a:prstDash val="solid"/>
          </a:ln>
        </p:spPr>
      </p:sp>
      <p:sp>
        <p:nvSpPr>
          <p:cNvPr id="23" name="Shape 21"/>
          <p:cNvSpPr/>
          <p:nvPr/>
        </p:nvSpPr>
        <p:spPr>
          <a:xfrm>
            <a:off x="4974336" y="1207008"/>
            <a:ext cx="2157984" cy="402336"/>
          </a:xfrm>
          <a:prstGeom prst="rect">
            <a:avLst/>
          </a:prstGeom>
          <a:solidFill>
            <a:srgbClr val="99651A"/>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99651A"/>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99651A"/>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D7D71"/>
            </a:solidFill>
            <a:prstDash val="solid"/>
          </a:ln>
        </p:spPr>
      </p:sp>
      <p:sp>
        <p:nvSpPr>
          <p:cNvPr id="32" name="Shape 30"/>
          <p:cNvSpPr/>
          <p:nvPr/>
        </p:nvSpPr>
        <p:spPr>
          <a:xfrm>
            <a:off x="7232904" y="1207008"/>
            <a:ext cx="2157984" cy="402336"/>
          </a:xfrm>
          <a:prstGeom prst="rect">
            <a:avLst/>
          </a:prstGeom>
          <a:solidFill>
            <a:srgbClr val="0D7D71"/>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D7D71"/>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D7D71"/>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A7F50"/>
            </a:solidFill>
            <a:prstDash val="solid"/>
          </a:ln>
        </p:spPr>
      </p:sp>
      <p:sp>
        <p:nvSpPr>
          <p:cNvPr id="41" name="Shape 39"/>
          <p:cNvSpPr/>
          <p:nvPr/>
        </p:nvSpPr>
        <p:spPr>
          <a:xfrm>
            <a:off x="9491472" y="1207008"/>
            <a:ext cx="2157984" cy="402336"/>
          </a:xfrm>
          <a:prstGeom prst="rect">
            <a:avLst/>
          </a:prstGeom>
          <a:solidFill>
            <a:srgbClr val="2A7F50"/>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A7F50"/>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A7F50"/>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The tool measures.  The engineer answers.  The engine calculates.  A person approves.</a:t>
            </a:r>
            <a:endParaRPr lang="en-US" sz="17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 and every penny of it traceable to a measurement, an answer or a library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questions,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ASK</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Engineer · AI off at JLR</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The tool asks what</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geometry cannot decide</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route · finish</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Asked, never guessed</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99651A"/>
            </a:solidFill>
            <a:prstDash val="solid"/>
          </a:ln>
        </p:spPr>
      </p:sp>
      <p:sp>
        <p:nvSpPr>
          <p:cNvPr id="40" name="Shape 37"/>
          <p:cNvSpPr/>
          <p:nvPr/>
        </p:nvSpPr>
        <p:spPr>
          <a:xfrm>
            <a:off x="5010912" y="2487168"/>
            <a:ext cx="2130552" cy="365760"/>
          </a:xfrm>
          <a:prstGeom prst="rect">
            <a:avLst/>
          </a:prstGeom>
          <a:solidFill>
            <a:srgbClr val="99651A"/>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99651A"/>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99651A"/>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D7D71"/>
            </a:solidFill>
            <a:prstDash val="solid"/>
          </a:ln>
        </p:spPr>
      </p:sp>
      <p:sp>
        <p:nvSpPr>
          <p:cNvPr id="48" name="Shape 45"/>
          <p:cNvSpPr/>
          <p:nvPr/>
        </p:nvSpPr>
        <p:spPr>
          <a:xfrm>
            <a:off x="7287768" y="2487168"/>
            <a:ext cx="2130552" cy="365760"/>
          </a:xfrm>
          <a:prstGeom prst="rect">
            <a:avLst/>
          </a:prstGeom>
          <a:solidFill>
            <a:srgbClr val="0D7D71"/>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D7D71"/>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D7D71"/>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A7F50"/>
            </a:solidFill>
            <a:prstDash val="solid"/>
          </a:ln>
        </p:spPr>
      </p:sp>
      <p:sp>
        <p:nvSpPr>
          <p:cNvPr id="56" name="Shape 53"/>
          <p:cNvSpPr/>
          <p:nvPr/>
        </p:nvSpPr>
        <p:spPr>
          <a:xfrm>
            <a:off x="9564624" y="2487168"/>
            <a:ext cx="2130552" cy="365760"/>
          </a:xfrm>
          <a:prstGeom prst="rect">
            <a:avLst/>
          </a:prstGeom>
          <a:solidFill>
            <a:srgbClr val="2A7F50"/>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A7F50"/>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A7F50"/>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86F7D"/>
                </a:solidFill>
                <a:latin typeface="Calibri" pitchFamily="34" charset="0"/>
                <a:ea typeface="Calibri" pitchFamily="34" charset="-122"/>
                <a:cs typeface="Calibri" pitchFamily="34" charset="-120"/>
              </a:rPr>
              <a:t>THE WORKED-EXAMPLE INPUTS</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Illustration of the worked-example part. The costs that follow are engine output from these inputs.</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Asked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kernel, same order — the facts exist before anyone answers a question</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ENGINEER IS ASKED</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86F7D"/>
                </a:solidFill>
                <a:latin typeface="Calibri" pitchFamily="34" charset="0"/>
                <a:ea typeface="Calibri" pitchFamily="34" charset="-122"/>
                <a:cs typeface="Calibri" pitchFamily="34" charset="-120"/>
              </a:rPr>
              <a:t>Volume · region</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60,000 a year · China</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Answered, not guessed.</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measure first; stage 4 is the engineer answering what geometry cannot decide. AI is off at JLR — and even when on, it never sees a price, a rate or a machine.</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99651A"/>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D7D71"/>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D7D71"/>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86F7D"/>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D7D71"/>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D7D71"/>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20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A7F50"/>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A7F50"/>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D7D71"/>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D7D71"/>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D7D71"/>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D7D71"/>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86F7D"/>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86F7D"/>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D7D71"/>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D7D71"/>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86F7D"/>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D7D71"/>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D7D71"/>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0.98 (2% reject allowance)</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86F7D"/>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55.04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A7F50"/>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55.04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−8.87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A7F50"/>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D7D71"/>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allowance</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D7D71"/>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D7D71"/>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D7D71"/>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86F7D"/>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D7D71"/>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86F7D"/>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86F7D"/>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D7D71"/>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86F7D"/>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86F7D"/>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(UK rate),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about 40% of that is the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A7F50"/>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A7F50"/>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£4.75 — on 60,000 parts a year that is about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99651A"/>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not a bucket inside the moulding one — in the real world it is usually a separate supplier. The £13.14 is the line’s cost before the painter’s own overhead and margin; the £39.22 simply adds it to the moulded ex-works cost.</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D7D71"/>
            </a:solidFill>
            <a:prstDash val="solid"/>
          </a:ln>
        </p:spPr>
      </p:sp>
      <p:sp>
        <p:nvSpPr>
          <p:cNvPr id="6" name="Shape 4"/>
          <p:cNvSpPr/>
          <p:nvPr/>
        </p:nvSpPr>
        <p:spPr>
          <a:xfrm>
            <a:off x="685800" y="1371600"/>
            <a:ext cx="457200" cy="457200"/>
          </a:xfrm>
          <a:prstGeom prst="ellipse">
            <a:avLst/>
          </a:prstGeom>
          <a:solidFill>
            <a:srgbClr val="0D7D71"/>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D7D71"/>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A7F50"/>
            </a:solidFill>
            <a:prstDash val="solid"/>
          </a:ln>
        </p:spPr>
      </p:sp>
      <p:sp>
        <p:nvSpPr>
          <p:cNvPr id="11" name="Shape 9"/>
          <p:cNvSpPr/>
          <p:nvPr/>
        </p:nvSpPr>
        <p:spPr>
          <a:xfrm>
            <a:off x="6428232" y="1371600"/>
            <a:ext cx="457200" cy="457200"/>
          </a:xfrm>
          <a:prstGeom prst="ellipse">
            <a:avLst/>
          </a:prstGeom>
          <a:solidFill>
            <a:srgbClr val="2A7F50"/>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A7F50"/>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D7D71"/>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A7F50"/>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D7D71"/>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86F7D"/>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86F7D"/>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A7F50"/>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A7F50"/>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86F7D"/>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86F7D"/>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A7F50"/>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A7F50"/>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D7D71"/>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New: Gear Cutting Has Its Own Cost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Asked for by cost engineering and the plant — a gear is not a milled part with teeth drawn on</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15568"/>
            <a:ext cx="11274552" cy="566928"/>
          </a:xfrm>
          <a:prstGeom prst="roundRect">
            <a:avLst>
              <a:gd name="adj" fmla="val 12903"/>
            </a:avLst>
          </a:prstGeom>
          <a:solidFill>
            <a:srgbClr val="FCF3E3"/>
          </a:solidFill>
          <a:ln w="15875">
            <a:solidFill>
              <a:srgbClr val="99651A"/>
            </a:solidFill>
            <a:prstDash val="solid"/>
          </a:ln>
        </p:spPr>
      </p:sp>
      <p:sp>
        <p:nvSpPr>
          <p:cNvPr id="8" name="Text 6"/>
          <p:cNvSpPr/>
          <p:nvPr/>
        </p:nvSpPr>
        <p:spPr>
          <a:xfrm>
            <a:off x="658368" y="1115568"/>
            <a:ext cx="10881360" cy="566928"/>
          </a:xfrm>
          <a:prstGeom prst="rect">
            <a:avLst/>
          </a:prstGeom>
          <a:noFill/>
          <a:ln/>
        </p:spPr>
        <p:txBody>
          <a:bodyPr wrap="square" lIns="0" tIns="0" rIns="0" bIns="0" rtlCol="0" anchor="ctr"/>
          <a:lstStyle/>
          <a:p>
            <a:pPr indent="0" marL="0">
              <a:buNone/>
            </a:pPr>
            <a:r>
              <a:rPr lang="en-US" sz="1100" b="1" dirty="0">
                <a:solidFill>
                  <a:srgbClr val="99651A"/>
                </a:solidFill>
                <a:latin typeface="Calibri" pitchFamily="34" charset="0"/>
                <a:ea typeface="Calibri" pitchFamily="34" charset="-122"/>
                <a:cs typeface="Calibri" pitchFamily="34" charset="-120"/>
              </a:rPr>
              <a:t>Before: </a:t>
            </a:r>
            <a:pPr indent="0" marL="0">
              <a:buNone/>
            </a:pPr>
            <a:r>
              <a:rPr lang="en-US" sz="1050" dirty="0">
                <a:solidFill>
                  <a:srgbClr val="3A4356"/>
                </a:solidFill>
                <a:latin typeface="Calibri" pitchFamily="34" charset="0"/>
                <a:ea typeface="Calibri" pitchFamily="34" charset="-122"/>
                <a:cs typeface="Calibri" pitchFamily="34" charset="-120"/>
              </a:rPr>
              <a:t>a transmission gear went through the machining model as a generic milled part. That model cannot see teeth, module or quality grade — and those three things are what a gear actually costs.</a:t>
            </a:r>
            <a:endParaRPr lang="en-US" sz="1100" dirty="0"/>
          </a:p>
        </p:txBody>
      </p:sp>
      <p:sp>
        <p:nvSpPr>
          <p:cNvPr id="9" name="Text 7"/>
          <p:cNvSpPr/>
          <p:nvPr/>
        </p:nvSpPr>
        <p:spPr>
          <a:xfrm>
            <a:off x="457200" y="1847088"/>
            <a:ext cx="11274552"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idea that makes it work: a tighter quality grade adds OPERATIONS, it is not a multiplier</a:t>
            </a:r>
            <a:endParaRPr lang="en-US" sz="1250" dirty="0"/>
          </a:p>
        </p:txBody>
      </p:sp>
      <p:sp>
        <p:nvSpPr>
          <p:cNvPr id="10" name="Shape 8"/>
          <p:cNvSpPr/>
          <p:nvPr/>
        </p:nvSpPr>
        <p:spPr>
          <a:xfrm>
            <a:off x="457200" y="2212848"/>
            <a:ext cx="11274552" cy="530352"/>
          </a:xfrm>
          <a:prstGeom prst="roundRect">
            <a:avLst>
              <a:gd name="adj" fmla="val 10345"/>
            </a:avLst>
          </a:prstGeom>
          <a:solidFill>
            <a:srgbClr val="FFFFFF"/>
          </a:solidFill>
          <a:ln w="9525">
            <a:solidFill>
              <a:srgbClr val="DCE3EE"/>
            </a:solidFill>
            <a:prstDash val="solid"/>
          </a:ln>
        </p:spPr>
      </p:sp>
      <p:sp>
        <p:nvSpPr>
          <p:cNvPr id="11" name="Shape 9"/>
          <p:cNvSpPr/>
          <p:nvPr/>
        </p:nvSpPr>
        <p:spPr>
          <a:xfrm>
            <a:off x="457200" y="2212848"/>
            <a:ext cx="50292" cy="530352"/>
          </a:xfrm>
          <a:prstGeom prst="rect">
            <a:avLst/>
          </a:prstGeom>
          <a:solidFill>
            <a:srgbClr val="2A7F50"/>
          </a:solidFill>
          <a:ln/>
        </p:spPr>
      </p:sp>
      <p:sp>
        <p:nvSpPr>
          <p:cNvPr id="12" name="Text 10"/>
          <p:cNvSpPr/>
          <p:nvPr/>
        </p:nvSpPr>
        <p:spPr>
          <a:xfrm>
            <a:off x="658368" y="2212848"/>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9 — as cut</a:t>
            </a:r>
            <a:endParaRPr lang="en-US" sz="1050" dirty="0"/>
          </a:p>
        </p:txBody>
      </p:sp>
      <p:sp>
        <p:nvSpPr>
          <p:cNvPr id="13" name="Shape 11"/>
          <p:cNvSpPr/>
          <p:nvPr/>
        </p:nvSpPr>
        <p:spPr>
          <a:xfrm>
            <a:off x="3611880" y="2295144"/>
            <a:ext cx="1078992" cy="365760"/>
          </a:xfrm>
          <a:prstGeom prst="roundRect">
            <a:avLst>
              <a:gd name="adj" fmla="val 12500"/>
            </a:avLst>
          </a:prstGeom>
          <a:solidFill>
            <a:srgbClr val="FFFFFF"/>
          </a:solidFill>
          <a:ln w="9525">
            <a:solidFill>
              <a:srgbClr val="686F7D"/>
            </a:solidFill>
            <a:prstDash val="solid"/>
          </a:ln>
        </p:spPr>
      </p:sp>
      <p:sp>
        <p:nvSpPr>
          <p:cNvPr id="14" name="Text 12"/>
          <p:cNvSpPr/>
          <p:nvPr/>
        </p:nvSpPr>
        <p:spPr>
          <a:xfrm>
            <a:off x="361188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15" name="Shape 13"/>
          <p:cNvSpPr/>
          <p:nvPr/>
        </p:nvSpPr>
        <p:spPr>
          <a:xfrm>
            <a:off x="4732020" y="2478024"/>
            <a:ext cx="118872" cy="0"/>
          </a:xfrm>
          <a:prstGeom prst="line">
            <a:avLst/>
          </a:prstGeom>
          <a:noFill/>
          <a:ln w="19050">
            <a:solidFill>
              <a:srgbClr val="686F7D"/>
            </a:solidFill>
            <a:prstDash val="solid"/>
            <a:tailEnd type="triangle"/>
          </a:ln>
        </p:spPr>
      </p:sp>
      <p:sp>
        <p:nvSpPr>
          <p:cNvPr id="16" name="Shape 14"/>
          <p:cNvSpPr/>
          <p:nvPr/>
        </p:nvSpPr>
        <p:spPr>
          <a:xfrm>
            <a:off x="4892040" y="2295144"/>
            <a:ext cx="1078992" cy="365760"/>
          </a:xfrm>
          <a:prstGeom prst="roundRect">
            <a:avLst>
              <a:gd name="adj" fmla="val 12500"/>
            </a:avLst>
          </a:prstGeom>
          <a:solidFill>
            <a:srgbClr val="FFFFFF"/>
          </a:solidFill>
          <a:ln w="9525">
            <a:solidFill>
              <a:srgbClr val="686F7D"/>
            </a:solidFill>
            <a:prstDash val="solid"/>
          </a:ln>
        </p:spPr>
      </p:sp>
      <p:sp>
        <p:nvSpPr>
          <p:cNvPr id="17" name="Text 15"/>
          <p:cNvSpPr/>
          <p:nvPr/>
        </p:nvSpPr>
        <p:spPr>
          <a:xfrm>
            <a:off x="489204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18" name="Shape 16"/>
          <p:cNvSpPr/>
          <p:nvPr/>
        </p:nvSpPr>
        <p:spPr>
          <a:xfrm>
            <a:off x="6012180" y="2478024"/>
            <a:ext cx="118872" cy="0"/>
          </a:xfrm>
          <a:prstGeom prst="line">
            <a:avLst/>
          </a:prstGeom>
          <a:noFill/>
          <a:ln w="19050">
            <a:solidFill>
              <a:srgbClr val="686F7D"/>
            </a:solidFill>
            <a:prstDash val="solid"/>
            <a:tailEnd type="triangle"/>
          </a:ln>
        </p:spPr>
      </p:sp>
      <p:sp>
        <p:nvSpPr>
          <p:cNvPr id="19" name="Shape 17"/>
          <p:cNvSpPr/>
          <p:nvPr/>
        </p:nvSpPr>
        <p:spPr>
          <a:xfrm>
            <a:off x="6172200" y="2295144"/>
            <a:ext cx="1078992" cy="365760"/>
          </a:xfrm>
          <a:prstGeom prst="roundRect">
            <a:avLst>
              <a:gd name="adj" fmla="val 12500"/>
            </a:avLst>
          </a:prstGeom>
          <a:solidFill>
            <a:srgbClr val="FFFFFF"/>
          </a:solidFill>
          <a:ln w="9525">
            <a:solidFill>
              <a:srgbClr val="686F7D"/>
            </a:solidFill>
            <a:prstDash val="solid"/>
          </a:ln>
        </p:spPr>
      </p:sp>
      <p:sp>
        <p:nvSpPr>
          <p:cNvPr id="20" name="Text 18"/>
          <p:cNvSpPr/>
          <p:nvPr/>
        </p:nvSpPr>
        <p:spPr>
          <a:xfrm>
            <a:off x="6172200" y="2295144"/>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21" name="Text 19"/>
          <p:cNvSpPr/>
          <p:nvPr/>
        </p:nvSpPr>
        <p:spPr>
          <a:xfrm>
            <a:off x="9966960" y="2212848"/>
            <a:ext cx="914400" cy="530352"/>
          </a:xfrm>
          <a:prstGeom prst="rect">
            <a:avLst/>
          </a:prstGeom>
          <a:noFill/>
          <a:ln/>
        </p:spPr>
        <p:txBody>
          <a:bodyPr wrap="square" lIns="0" tIns="0" rIns="0" bIns="0" rtlCol="0" anchor="ctr"/>
          <a:lstStyle/>
          <a:p>
            <a:pPr algn="r" indent="0" marL="0">
              <a:buNone/>
            </a:pPr>
            <a:r>
              <a:rPr lang="en-US" sz="1500" b="1" dirty="0">
                <a:solidFill>
                  <a:srgbClr val="2A7F50"/>
                </a:solidFill>
                <a:latin typeface="Cambria" pitchFamily="34" charset="0"/>
                <a:ea typeface="Cambria" pitchFamily="34" charset="-122"/>
                <a:cs typeface="Cambria" pitchFamily="34" charset="-120"/>
              </a:rPr>
              <a:t>£8.26</a:t>
            </a:r>
            <a:endParaRPr lang="en-US" sz="1500" dirty="0"/>
          </a:p>
        </p:txBody>
      </p:sp>
      <p:sp>
        <p:nvSpPr>
          <p:cNvPr id="22" name="Text 20"/>
          <p:cNvSpPr/>
          <p:nvPr/>
        </p:nvSpPr>
        <p:spPr>
          <a:xfrm>
            <a:off x="10927080" y="2212848"/>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95 s</a:t>
            </a:r>
            <a:endParaRPr lang="en-US" sz="950" dirty="0"/>
          </a:p>
        </p:txBody>
      </p:sp>
      <p:sp>
        <p:nvSpPr>
          <p:cNvPr id="23" name="Shape 21"/>
          <p:cNvSpPr/>
          <p:nvPr/>
        </p:nvSpPr>
        <p:spPr>
          <a:xfrm>
            <a:off x="457200" y="2816352"/>
            <a:ext cx="11274552" cy="530352"/>
          </a:xfrm>
          <a:prstGeom prst="roundRect">
            <a:avLst>
              <a:gd name="adj" fmla="val 10345"/>
            </a:avLst>
          </a:prstGeom>
          <a:solidFill>
            <a:srgbClr val="FFFFFF"/>
          </a:solidFill>
          <a:ln w="9525">
            <a:solidFill>
              <a:srgbClr val="DCE3EE"/>
            </a:solidFill>
            <a:prstDash val="solid"/>
          </a:ln>
        </p:spPr>
      </p:sp>
      <p:sp>
        <p:nvSpPr>
          <p:cNvPr id="24" name="Shape 22"/>
          <p:cNvSpPr/>
          <p:nvPr/>
        </p:nvSpPr>
        <p:spPr>
          <a:xfrm>
            <a:off x="457200" y="2816352"/>
            <a:ext cx="50292" cy="530352"/>
          </a:xfrm>
          <a:prstGeom prst="rect">
            <a:avLst/>
          </a:prstGeom>
          <a:solidFill>
            <a:srgbClr val="99651A"/>
          </a:solidFill>
          <a:ln/>
        </p:spPr>
      </p:sp>
      <p:sp>
        <p:nvSpPr>
          <p:cNvPr id="25" name="Text 23"/>
          <p:cNvSpPr/>
          <p:nvPr/>
        </p:nvSpPr>
        <p:spPr>
          <a:xfrm>
            <a:off x="658368" y="2816352"/>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ISO class 6 — hardened + ground</a:t>
            </a:r>
            <a:endParaRPr lang="en-US" sz="1050" dirty="0"/>
          </a:p>
        </p:txBody>
      </p:sp>
      <p:sp>
        <p:nvSpPr>
          <p:cNvPr id="26" name="Shape 24"/>
          <p:cNvSpPr/>
          <p:nvPr/>
        </p:nvSpPr>
        <p:spPr>
          <a:xfrm>
            <a:off x="3611880" y="2898648"/>
            <a:ext cx="1078992" cy="365760"/>
          </a:xfrm>
          <a:prstGeom prst="roundRect">
            <a:avLst>
              <a:gd name="adj" fmla="val 12500"/>
            </a:avLst>
          </a:prstGeom>
          <a:solidFill>
            <a:srgbClr val="FFFFFF"/>
          </a:solidFill>
          <a:ln w="9525">
            <a:solidFill>
              <a:srgbClr val="686F7D"/>
            </a:solidFill>
            <a:prstDash val="solid"/>
          </a:ln>
        </p:spPr>
      </p:sp>
      <p:sp>
        <p:nvSpPr>
          <p:cNvPr id="27" name="Text 25"/>
          <p:cNvSpPr/>
          <p:nvPr/>
        </p:nvSpPr>
        <p:spPr>
          <a:xfrm>
            <a:off x="361188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Hob</a:t>
            </a:r>
            <a:endParaRPr lang="en-US" sz="820" dirty="0"/>
          </a:p>
        </p:txBody>
      </p:sp>
      <p:sp>
        <p:nvSpPr>
          <p:cNvPr id="28" name="Shape 26"/>
          <p:cNvSpPr/>
          <p:nvPr/>
        </p:nvSpPr>
        <p:spPr>
          <a:xfrm>
            <a:off x="4732020" y="3081528"/>
            <a:ext cx="118872" cy="0"/>
          </a:xfrm>
          <a:prstGeom prst="line">
            <a:avLst/>
          </a:prstGeom>
          <a:noFill/>
          <a:ln w="19050">
            <a:solidFill>
              <a:srgbClr val="686F7D"/>
            </a:solidFill>
            <a:prstDash val="solid"/>
            <a:tailEnd type="triangle"/>
          </a:ln>
        </p:spPr>
      </p:sp>
      <p:sp>
        <p:nvSpPr>
          <p:cNvPr id="29" name="Shape 27"/>
          <p:cNvSpPr/>
          <p:nvPr/>
        </p:nvSpPr>
        <p:spPr>
          <a:xfrm>
            <a:off x="4892040" y="2898648"/>
            <a:ext cx="1078992" cy="365760"/>
          </a:xfrm>
          <a:prstGeom prst="roundRect">
            <a:avLst>
              <a:gd name="adj" fmla="val 12500"/>
            </a:avLst>
          </a:prstGeom>
          <a:solidFill>
            <a:srgbClr val="FFFFFF"/>
          </a:solidFill>
          <a:ln w="9525">
            <a:solidFill>
              <a:srgbClr val="686F7D"/>
            </a:solidFill>
            <a:prstDash val="solid"/>
          </a:ln>
        </p:spPr>
      </p:sp>
      <p:sp>
        <p:nvSpPr>
          <p:cNvPr id="30" name="Text 28"/>
          <p:cNvSpPr/>
          <p:nvPr/>
        </p:nvSpPr>
        <p:spPr>
          <a:xfrm>
            <a:off x="489204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31" name="Shape 29"/>
          <p:cNvSpPr/>
          <p:nvPr/>
        </p:nvSpPr>
        <p:spPr>
          <a:xfrm>
            <a:off x="6012180" y="3081528"/>
            <a:ext cx="118872" cy="0"/>
          </a:xfrm>
          <a:prstGeom prst="line">
            <a:avLst/>
          </a:prstGeom>
          <a:noFill/>
          <a:ln w="19050">
            <a:solidFill>
              <a:srgbClr val="686F7D"/>
            </a:solidFill>
            <a:prstDash val="solid"/>
            <a:tailEnd type="triangle"/>
          </a:ln>
        </p:spPr>
      </p:sp>
      <p:sp>
        <p:nvSpPr>
          <p:cNvPr id="32" name="Shape 30"/>
          <p:cNvSpPr/>
          <p:nvPr/>
        </p:nvSpPr>
        <p:spPr>
          <a:xfrm>
            <a:off x="6172200" y="2898648"/>
            <a:ext cx="1078992" cy="365760"/>
          </a:xfrm>
          <a:prstGeom prst="roundRect">
            <a:avLst>
              <a:gd name="adj" fmla="val 12500"/>
            </a:avLst>
          </a:prstGeom>
          <a:solidFill>
            <a:srgbClr val="99651A"/>
          </a:solidFill>
          <a:ln w="15875">
            <a:solidFill>
              <a:srgbClr val="99651A"/>
            </a:solidFill>
            <a:prstDash val="solid"/>
          </a:ln>
        </p:spPr>
      </p:sp>
      <p:sp>
        <p:nvSpPr>
          <p:cNvPr id="33" name="Text 31"/>
          <p:cNvSpPr/>
          <p:nvPr/>
        </p:nvSpPr>
        <p:spPr>
          <a:xfrm>
            <a:off x="617220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34" name="Shape 32"/>
          <p:cNvSpPr/>
          <p:nvPr/>
        </p:nvSpPr>
        <p:spPr>
          <a:xfrm>
            <a:off x="7292340" y="3081528"/>
            <a:ext cx="118872" cy="0"/>
          </a:xfrm>
          <a:prstGeom prst="line">
            <a:avLst/>
          </a:prstGeom>
          <a:noFill/>
          <a:ln w="19050">
            <a:solidFill>
              <a:srgbClr val="686F7D"/>
            </a:solidFill>
            <a:prstDash val="solid"/>
            <a:tailEnd type="triangle"/>
          </a:ln>
        </p:spPr>
      </p:sp>
      <p:sp>
        <p:nvSpPr>
          <p:cNvPr id="35" name="Shape 33"/>
          <p:cNvSpPr/>
          <p:nvPr/>
        </p:nvSpPr>
        <p:spPr>
          <a:xfrm>
            <a:off x="7452360" y="2898648"/>
            <a:ext cx="1078992" cy="365760"/>
          </a:xfrm>
          <a:prstGeom prst="roundRect">
            <a:avLst>
              <a:gd name="adj" fmla="val 12500"/>
            </a:avLst>
          </a:prstGeom>
          <a:solidFill>
            <a:srgbClr val="99651A"/>
          </a:solidFill>
          <a:ln w="15875">
            <a:solidFill>
              <a:srgbClr val="99651A"/>
            </a:solidFill>
            <a:prstDash val="solid"/>
          </a:ln>
        </p:spPr>
      </p:sp>
      <p:sp>
        <p:nvSpPr>
          <p:cNvPr id="36" name="Text 34"/>
          <p:cNvSpPr/>
          <p:nvPr/>
        </p:nvSpPr>
        <p:spPr>
          <a:xfrm>
            <a:off x="7452360" y="2898648"/>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37" name="Shape 35"/>
          <p:cNvSpPr/>
          <p:nvPr/>
        </p:nvSpPr>
        <p:spPr>
          <a:xfrm>
            <a:off x="8572500" y="3081528"/>
            <a:ext cx="118872" cy="0"/>
          </a:xfrm>
          <a:prstGeom prst="line">
            <a:avLst/>
          </a:prstGeom>
          <a:noFill/>
          <a:ln w="19050">
            <a:solidFill>
              <a:srgbClr val="686F7D"/>
            </a:solidFill>
            <a:prstDash val="solid"/>
            <a:tailEnd type="triangle"/>
          </a:ln>
        </p:spPr>
      </p:sp>
      <p:sp>
        <p:nvSpPr>
          <p:cNvPr id="38" name="Shape 36"/>
          <p:cNvSpPr/>
          <p:nvPr/>
        </p:nvSpPr>
        <p:spPr>
          <a:xfrm>
            <a:off x="8732520" y="2898648"/>
            <a:ext cx="1078992" cy="365760"/>
          </a:xfrm>
          <a:prstGeom prst="roundRect">
            <a:avLst>
              <a:gd name="adj" fmla="val 12500"/>
            </a:avLst>
          </a:prstGeom>
          <a:solidFill>
            <a:srgbClr val="FFFFFF"/>
          </a:solidFill>
          <a:ln w="9525">
            <a:solidFill>
              <a:srgbClr val="686F7D"/>
            </a:solidFill>
            <a:prstDash val="solid"/>
          </a:ln>
        </p:spPr>
      </p:sp>
      <p:sp>
        <p:nvSpPr>
          <p:cNvPr id="39" name="Text 37"/>
          <p:cNvSpPr/>
          <p:nvPr/>
        </p:nvSpPr>
        <p:spPr>
          <a:xfrm>
            <a:off x="8732520" y="2898648"/>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40" name="Text 38"/>
          <p:cNvSpPr/>
          <p:nvPr/>
        </p:nvSpPr>
        <p:spPr>
          <a:xfrm>
            <a:off x="9966960" y="2816352"/>
            <a:ext cx="914400" cy="530352"/>
          </a:xfrm>
          <a:prstGeom prst="rect">
            <a:avLst/>
          </a:prstGeom>
          <a:noFill/>
          <a:ln/>
        </p:spPr>
        <p:txBody>
          <a:bodyPr wrap="square" lIns="0" tIns="0" rIns="0" bIns="0" rtlCol="0" anchor="ctr"/>
          <a:lstStyle/>
          <a:p>
            <a:pPr algn="r" indent="0" marL="0">
              <a:buNone/>
            </a:pPr>
            <a:r>
              <a:rPr lang="en-US" sz="1500" b="1" dirty="0">
                <a:solidFill>
                  <a:srgbClr val="99651A"/>
                </a:solidFill>
                <a:latin typeface="Cambria" pitchFamily="34" charset="0"/>
                <a:ea typeface="Cambria" pitchFamily="34" charset="-122"/>
                <a:cs typeface="Cambria" pitchFamily="34" charset="-120"/>
              </a:rPr>
              <a:t>£13.47</a:t>
            </a:r>
            <a:endParaRPr lang="en-US" sz="1500" dirty="0"/>
          </a:p>
        </p:txBody>
      </p:sp>
      <p:sp>
        <p:nvSpPr>
          <p:cNvPr id="41" name="Text 39"/>
          <p:cNvSpPr/>
          <p:nvPr/>
        </p:nvSpPr>
        <p:spPr>
          <a:xfrm>
            <a:off x="10927080" y="2816352"/>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141 s</a:t>
            </a:r>
            <a:endParaRPr lang="en-US" sz="950" dirty="0"/>
          </a:p>
        </p:txBody>
      </p:sp>
      <p:sp>
        <p:nvSpPr>
          <p:cNvPr id="42" name="Shape 40"/>
          <p:cNvSpPr/>
          <p:nvPr/>
        </p:nvSpPr>
        <p:spPr>
          <a:xfrm>
            <a:off x="457200" y="3419856"/>
            <a:ext cx="11274552" cy="530352"/>
          </a:xfrm>
          <a:prstGeom prst="roundRect">
            <a:avLst>
              <a:gd name="adj" fmla="val 10345"/>
            </a:avLst>
          </a:prstGeom>
          <a:solidFill>
            <a:srgbClr val="FFFFFF"/>
          </a:solidFill>
          <a:ln w="9525">
            <a:solidFill>
              <a:srgbClr val="DCE3EE"/>
            </a:solidFill>
            <a:prstDash val="solid"/>
          </a:ln>
        </p:spPr>
      </p:sp>
      <p:sp>
        <p:nvSpPr>
          <p:cNvPr id="43" name="Shape 41"/>
          <p:cNvSpPr/>
          <p:nvPr/>
        </p:nvSpPr>
        <p:spPr>
          <a:xfrm>
            <a:off x="457200" y="3419856"/>
            <a:ext cx="50292" cy="530352"/>
          </a:xfrm>
          <a:prstGeom prst="rect">
            <a:avLst/>
          </a:prstGeom>
          <a:solidFill>
            <a:srgbClr val="1D6FB8"/>
          </a:solidFill>
          <a:ln/>
        </p:spPr>
      </p:sp>
      <p:sp>
        <p:nvSpPr>
          <p:cNvPr id="44" name="Text 42"/>
          <p:cNvSpPr/>
          <p:nvPr/>
        </p:nvSpPr>
        <p:spPr>
          <a:xfrm>
            <a:off x="658368" y="3419856"/>
            <a:ext cx="2834640" cy="53035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Internal ring gear, class 7</a:t>
            </a:r>
            <a:endParaRPr lang="en-US" sz="1050" dirty="0"/>
          </a:p>
        </p:txBody>
      </p:sp>
      <p:sp>
        <p:nvSpPr>
          <p:cNvPr id="45" name="Shape 43"/>
          <p:cNvSpPr/>
          <p:nvPr/>
        </p:nvSpPr>
        <p:spPr>
          <a:xfrm>
            <a:off x="3611880" y="3502152"/>
            <a:ext cx="1078992" cy="365760"/>
          </a:xfrm>
          <a:prstGeom prst="roundRect">
            <a:avLst>
              <a:gd name="adj" fmla="val 12500"/>
            </a:avLst>
          </a:prstGeom>
          <a:solidFill>
            <a:srgbClr val="FFFFFF"/>
          </a:solidFill>
          <a:ln w="9525">
            <a:solidFill>
              <a:srgbClr val="686F7D"/>
            </a:solidFill>
            <a:prstDash val="solid"/>
          </a:ln>
        </p:spPr>
      </p:sp>
      <p:sp>
        <p:nvSpPr>
          <p:cNvPr id="46" name="Text 44"/>
          <p:cNvSpPr/>
          <p:nvPr/>
        </p:nvSpPr>
        <p:spPr>
          <a:xfrm>
            <a:off x="361188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Power skive</a:t>
            </a:r>
            <a:endParaRPr lang="en-US" sz="820" dirty="0"/>
          </a:p>
        </p:txBody>
      </p:sp>
      <p:sp>
        <p:nvSpPr>
          <p:cNvPr id="47" name="Shape 45"/>
          <p:cNvSpPr/>
          <p:nvPr/>
        </p:nvSpPr>
        <p:spPr>
          <a:xfrm>
            <a:off x="4732020" y="3685032"/>
            <a:ext cx="118872" cy="0"/>
          </a:xfrm>
          <a:prstGeom prst="line">
            <a:avLst/>
          </a:prstGeom>
          <a:noFill/>
          <a:ln w="19050">
            <a:solidFill>
              <a:srgbClr val="686F7D"/>
            </a:solidFill>
            <a:prstDash val="solid"/>
            <a:tailEnd type="triangle"/>
          </a:ln>
        </p:spPr>
      </p:sp>
      <p:sp>
        <p:nvSpPr>
          <p:cNvPr id="48" name="Shape 46"/>
          <p:cNvSpPr/>
          <p:nvPr/>
        </p:nvSpPr>
        <p:spPr>
          <a:xfrm>
            <a:off x="4892040" y="3502152"/>
            <a:ext cx="1078992" cy="365760"/>
          </a:xfrm>
          <a:prstGeom prst="roundRect">
            <a:avLst>
              <a:gd name="adj" fmla="val 12500"/>
            </a:avLst>
          </a:prstGeom>
          <a:solidFill>
            <a:srgbClr val="FFFFFF"/>
          </a:solidFill>
          <a:ln w="9525">
            <a:solidFill>
              <a:srgbClr val="686F7D"/>
            </a:solidFill>
            <a:prstDash val="solid"/>
          </a:ln>
        </p:spPr>
      </p:sp>
      <p:sp>
        <p:nvSpPr>
          <p:cNvPr id="49" name="Text 47"/>
          <p:cNvSpPr/>
          <p:nvPr/>
        </p:nvSpPr>
        <p:spPr>
          <a:xfrm>
            <a:off x="489204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Deburr</a:t>
            </a:r>
            <a:endParaRPr lang="en-US" sz="820" dirty="0"/>
          </a:p>
        </p:txBody>
      </p:sp>
      <p:sp>
        <p:nvSpPr>
          <p:cNvPr id="50" name="Shape 48"/>
          <p:cNvSpPr/>
          <p:nvPr/>
        </p:nvSpPr>
        <p:spPr>
          <a:xfrm>
            <a:off x="6012180" y="3685032"/>
            <a:ext cx="118872" cy="0"/>
          </a:xfrm>
          <a:prstGeom prst="line">
            <a:avLst/>
          </a:prstGeom>
          <a:noFill/>
          <a:ln w="19050">
            <a:solidFill>
              <a:srgbClr val="686F7D"/>
            </a:solidFill>
            <a:prstDash val="solid"/>
            <a:tailEnd type="triangle"/>
          </a:ln>
        </p:spPr>
      </p:sp>
      <p:sp>
        <p:nvSpPr>
          <p:cNvPr id="51" name="Shape 49"/>
          <p:cNvSpPr/>
          <p:nvPr/>
        </p:nvSpPr>
        <p:spPr>
          <a:xfrm>
            <a:off x="6172200" y="3502152"/>
            <a:ext cx="1078992" cy="365760"/>
          </a:xfrm>
          <a:prstGeom prst="roundRect">
            <a:avLst>
              <a:gd name="adj" fmla="val 12500"/>
            </a:avLst>
          </a:prstGeom>
          <a:solidFill>
            <a:srgbClr val="1D6FB8"/>
          </a:solidFill>
          <a:ln w="15875">
            <a:solidFill>
              <a:srgbClr val="1D6FB8"/>
            </a:solidFill>
            <a:prstDash val="solid"/>
          </a:ln>
        </p:spPr>
      </p:sp>
      <p:sp>
        <p:nvSpPr>
          <p:cNvPr id="52" name="Text 50"/>
          <p:cNvSpPr/>
          <p:nvPr/>
        </p:nvSpPr>
        <p:spPr>
          <a:xfrm>
            <a:off x="617220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Carburise</a:t>
            </a:r>
            <a:endParaRPr lang="en-US" sz="820" dirty="0"/>
          </a:p>
        </p:txBody>
      </p:sp>
      <p:sp>
        <p:nvSpPr>
          <p:cNvPr id="53" name="Shape 51"/>
          <p:cNvSpPr/>
          <p:nvPr/>
        </p:nvSpPr>
        <p:spPr>
          <a:xfrm>
            <a:off x="7292340" y="3685032"/>
            <a:ext cx="118872" cy="0"/>
          </a:xfrm>
          <a:prstGeom prst="line">
            <a:avLst/>
          </a:prstGeom>
          <a:noFill/>
          <a:ln w="19050">
            <a:solidFill>
              <a:srgbClr val="686F7D"/>
            </a:solidFill>
            <a:prstDash val="solid"/>
            <a:tailEnd type="triangle"/>
          </a:ln>
        </p:spPr>
      </p:sp>
      <p:sp>
        <p:nvSpPr>
          <p:cNvPr id="54" name="Shape 52"/>
          <p:cNvSpPr/>
          <p:nvPr/>
        </p:nvSpPr>
        <p:spPr>
          <a:xfrm>
            <a:off x="7452360" y="3502152"/>
            <a:ext cx="1078992" cy="365760"/>
          </a:xfrm>
          <a:prstGeom prst="roundRect">
            <a:avLst>
              <a:gd name="adj" fmla="val 12500"/>
            </a:avLst>
          </a:prstGeom>
          <a:solidFill>
            <a:srgbClr val="1D6FB8"/>
          </a:solidFill>
          <a:ln w="15875">
            <a:solidFill>
              <a:srgbClr val="1D6FB8"/>
            </a:solidFill>
            <a:prstDash val="solid"/>
          </a:ln>
        </p:spPr>
      </p:sp>
      <p:sp>
        <p:nvSpPr>
          <p:cNvPr id="55" name="Text 53"/>
          <p:cNvSpPr/>
          <p:nvPr/>
        </p:nvSpPr>
        <p:spPr>
          <a:xfrm>
            <a:off x="7452360" y="3502152"/>
            <a:ext cx="1078992" cy="365760"/>
          </a:xfrm>
          <a:prstGeom prst="rect">
            <a:avLst/>
          </a:prstGeom>
          <a:noFill/>
          <a:ln/>
        </p:spPr>
        <p:txBody>
          <a:bodyPr wrap="square" lIns="0" tIns="0" rIns="0" bIns="0"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Grind</a:t>
            </a:r>
            <a:endParaRPr lang="en-US" sz="820" dirty="0"/>
          </a:p>
        </p:txBody>
      </p:sp>
      <p:sp>
        <p:nvSpPr>
          <p:cNvPr id="56" name="Shape 54"/>
          <p:cNvSpPr/>
          <p:nvPr/>
        </p:nvSpPr>
        <p:spPr>
          <a:xfrm>
            <a:off x="8572500" y="3685032"/>
            <a:ext cx="118872" cy="0"/>
          </a:xfrm>
          <a:prstGeom prst="line">
            <a:avLst/>
          </a:prstGeom>
          <a:noFill/>
          <a:ln w="19050">
            <a:solidFill>
              <a:srgbClr val="686F7D"/>
            </a:solidFill>
            <a:prstDash val="solid"/>
            <a:tailEnd type="triangle"/>
          </a:ln>
        </p:spPr>
      </p:sp>
      <p:sp>
        <p:nvSpPr>
          <p:cNvPr id="57" name="Shape 55"/>
          <p:cNvSpPr/>
          <p:nvPr/>
        </p:nvSpPr>
        <p:spPr>
          <a:xfrm>
            <a:off x="8732520" y="3502152"/>
            <a:ext cx="1078992" cy="365760"/>
          </a:xfrm>
          <a:prstGeom prst="roundRect">
            <a:avLst>
              <a:gd name="adj" fmla="val 12500"/>
            </a:avLst>
          </a:prstGeom>
          <a:solidFill>
            <a:srgbClr val="FFFFFF"/>
          </a:solidFill>
          <a:ln w="9525">
            <a:solidFill>
              <a:srgbClr val="686F7D"/>
            </a:solidFill>
            <a:prstDash val="solid"/>
          </a:ln>
        </p:spPr>
      </p:sp>
      <p:sp>
        <p:nvSpPr>
          <p:cNvPr id="58" name="Text 56"/>
          <p:cNvSpPr/>
          <p:nvPr/>
        </p:nvSpPr>
        <p:spPr>
          <a:xfrm>
            <a:off x="8732520" y="3502152"/>
            <a:ext cx="1078992" cy="365760"/>
          </a:xfrm>
          <a:prstGeom prst="rect">
            <a:avLst/>
          </a:prstGeom>
          <a:noFill/>
          <a:ln/>
        </p:spPr>
        <p:txBody>
          <a:bodyPr wrap="square" lIns="0" tIns="0" rIns="0" bIns="0" rtlCol="0" anchor="ctr"/>
          <a:lstStyle/>
          <a:p>
            <a:pPr algn="ctr" indent="0" marL="0">
              <a:buNone/>
            </a:pPr>
            <a:r>
              <a:rPr lang="en-US" sz="820" dirty="0">
                <a:solidFill>
                  <a:srgbClr val="3A4356"/>
                </a:solidFill>
                <a:latin typeface="Calibri" pitchFamily="34" charset="0"/>
                <a:ea typeface="Calibri" pitchFamily="34" charset="-122"/>
                <a:cs typeface="Calibri" pitchFamily="34" charset="-120"/>
              </a:rPr>
              <a:t>Inspect</a:t>
            </a:r>
            <a:endParaRPr lang="en-US" sz="820" dirty="0"/>
          </a:p>
        </p:txBody>
      </p:sp>
      <p:sp>
        <p:nvSpPr>
          <p:cNvPr id="59" name="Text 57"/>
          <p:cNvSpPr/>
          <p:nvPr/>
        </p:nvSpPr>
        <p:spPr>
          <a:xfrm>
            <a:off x="9966960" y="3419856"/>
            <a:ext cx="914400" cy="530352"/>
          </a:xfrm>
          <a:prstGeom prst="rect">
            <a:avLst/>
          </a:prstGeom>
          <a:noFill/>
          <a:ln/>
        </p:spPr>
        <p:txBody>
          <a:bodyPr wrap="square" lIns="0" tIns="0" rIns="0" bIns="0" rtlCol="0" anchor="ctr"/>
          <a:lstStyle/>
          <a:p>
            <a:pPr algn="r" indent="0" marL="0">
              <a:buNone/>
            </a:pPr>
            <a:r>
              <a:rPr lang="en-US" sz="1500" b="1" dirty="0">
                <a:solidFill>
                  <a:srgbClr val="1D6FB8"/>
                </a:solidFill>
                <a:latin typeface="Cambria" pitchFamily="34" charset="0"/>
                <a:ea typeface="Cambria" pitchFamily="34" charset="-122"/>
                <a:cs typeface="Cambria" pitchFamily="34" charset="-120"/>
              </a:rPr>
              <a:t>£17.02</a:t>
            </a:r>
            <a:endParaRPr lang="en-US" sz="1500" dirty="0"/>
          </a:p>
        </p:txBody>
      </p:sp>
      <p:sp>
        <p:nvSpPr>
          <p:cNvPr id="60" name="Text 58"/>
          <p:cNvSpPr/>
          <p:nvPr/>
        </p:nvSpPr>
        <p:spPr>
          <a:xfrm>
            <a:off x="10927080" y="3419856"/>
            <a:ext cx="777240" cy="530352"/>
          </a:xfrm>
          <a:prstGeom prst="rect">
            <a:avLst/>
          </a:prstGeom>
          <a:noFill/>
          <a:ln/>
        </p:spPr>
        <p:txBody>
          <a:bodyPr wrap="square" lIns="0" tIns="0" rIns="0" bIns="0" rtlCol="0" anchor="ctr"/>
          <a:lstStyle/>
          <a:p>
            <a:pPr algn="r" indent="0" marL="0">
              <a:buNone/>
            </a:pPr>
            <a:r>
              <a:rPr lang="en-US" sz="950" dirty="0">
                <a:solidFill>
                  <a:srgbClr val="686F7D"/>
                </a:solidFill>
                <a:latin typeface="Calibri" pitchFamily="34" charset="0"/>
                <a:ea typeface="Calibri" pitchFamily="34" charset="-122"/>
                <a:cs typeface="Calibri" pitchFamily="34" charset="-120"/>
              </a:rPr>
              <a:t>172 s</a:t>
            </a:r>
            <a:endParaRPr lang="en-US" sz="950" dirty="0"/>
          </a:p>
        </p:txBody>
      </p:sp>
      <p:sp>
        <p:nvSpPr>
          <p:cNvPr id="61" name="Shape 59"/>
          <p:cNvSpPr/>
          <p:nvPr/>
        </p:nvSpPr>
        <p:spPr>
          <a:xfrm>
            <a:off x="3611880" y="4059936"/>
            <a:ext cx="201168" cy="118872"/>
          </a:xfrm>
          <a:prstGeom prst="roundRect">
            <a:avLst>
              <a:gd name="adj" fmla="val 23077"/>
            </a:avLst>
          </a:prstGeom>
          <a:solidFill>
            <a:srgbClr val="99651A"/>
          </a:solidFill>
          <a:ln/>
        </p:spPr>
      </p:sp>
      <p:sp>
        <p:nvSpPr>
          <p:cNvPr id="62" name="Text 60"/>
          <p:cNvSpPr/>
          <p:nvPr/>
        </p:nvSpPr>
        <p:spPr>
          <a:xfrm>
            <a:off x="3886200" y="4005072"/>
            <a:ext cx="7315200" cy="219456"/>
          </a:xfrm>
          <a:prstGeom prst="rect">
            <a:avLst/>
          </a:prstGeom>
          <a:noFill/>
          <a:ln/>
        </p:spPr>
        <p:txBody>
          <a:bodyPr wrap="square" lIns="0" tIns="0" rIns="0" bIns="0" rtlCol="0" anchor="ctr"/>
          <a:lstStyle/>
          <a:p>
            <a:pPr indent="0" marL="0">
              <a:buNone/>
            </a:pPr>
            <a:r>
              <a:rPr lang="en-US" sz="900" i="1" dirty="0">
                <a:solidFill>
                  <a:srgbClr val="686F7D"/>
                </a:solidFill>
                <a:latin typeface="Calibri" pitchFamily="34" charset="0"/>
                <a:ea typeface="Calibri" pitchFamily="34" charset="-122"/>
                <a:cs typeface="Calibri" pitchFamily="34" charset="-120"/>
              </a:rPr>
              <a:t>= the station the tighter class ADDED — not the same work costing more</a:t>
            </a:r>
            <a:endParaRPr lang="en-US" sz="900" dirty="0"/>
          </a:p>
        </p:txBody>
      </p:sp>
      <p:sp>
        <p:nvSpPr>
          <p:cNvPr id="63" name="Shape 61"/>
          <p:cNvSpPr/>
          <p:nvPr/>
        </p:nvSpPr>
        <p:spPr>
          <a:xfrm>
            <a:off x="457200" y="4315968"/>
            <a:ext cx="5532120" cy="1243584"/>
          </a:xfrm>
          <a:prstGeom prst="roundRect">
            <a:avLst>
              <a:gd name="adj" fmla="val 5882"/>
            </a:avLst>
          </a:prstGeom>
          <a:solidFill>
            <a:srgbClr val="E6F4F1"/>
          </a:solidFill>
          <a:ln w="12700">
            <a:solidFill>
              <a:srgbClr val="0D7D71"/>
            </a:solidFill>
            <a:prstDash val="solid"/>
          </a:ln>
        </p:spPr>
      </p:sp>
      <p:sp>
        <p:nvSpPr>
          <p:cNvPr id="64" name="Text 62"/>
          <p:cNvSpPr/>
          <p:nvPr/>
        </p:nvSpPr>
        <p:spPr>
          <a:xfrm>
            <a:off x="640080" y="4389120"/>
            <a:ext cx="5212080" cy="201168"/>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THE CYCLE TIME IS ARITHMETIC, NOT A GUESS</a:t>
            </a:r>
            <a:endParaRPr lang="en-US" sz="900" dirty="0"/>
          </a:p>
        </p:txBody>
      </p:sp>
      <p:sp>
        <p:nvSpPr>
          <p:cNvPr id="65" name="Text 63"/>
          <p:cNvSpPr/>
          <p:nvPr/>
        </p:nvSpPr>
        <p:spPr>
          <a:xfrm>
            <a:off x="640080" y="4599432"/>
            <a:ext cx="5212080" cy="384048"/>
          </a:xfrm>
          <a:prstGeom prst="rect">
            <a:avLst/>
          </a:prstGeom>
          <a:noFill/>
          <a:ln/>
        </p:spPr>
        <p:txBody>
          <a:bodyPr wrap="square" lIns="0" tIns="0" rIns="0" bIns="0" rtlCol="0" anchor="ctr"/>
          <a:lstStyle/>
          <a:p>
            <a:pPr indent="0" marL="0">
              <a:buNone/>
            </a:pPr>
            <a:r>
              <a:rPr lang="en-US" sz="950" dirty="0">
                <a:solidFill>
                  <a:srgbClr val="3A4356"/>
                </a:solidFill>
                <a:latin typeface="Calibri" pitchFamily="34" charset="0"/>
                <a:ea typeface="Calibri" pitchFamily="34" charset="-122"/>
                <a:cs typeface="Calibri" pitchFamily="34" charset="-120"/>
              </a:rPr>
              <a:t>A hob with Ns starts at n rpm drives a z-tooth gear at n×Ns/z. That is a gear train, not an estimate — so the tool prints the sum:</a:t>
            </a:r>
            <a:endParaRPr lang="en-US" sz="950" dirty="0"/>
          </a:p>
        </p:txBody>
      </p:sp>
      <p:sp>
        <p:nvSpPr>
          <p:cNvPr id="66" name="Text 64"/>
          <p:cNvSpPr/>
          <p:nvPr/>
        </p:nvSpPr>
        <p:spPr>
          <a:xfrm>
            <a:off x="640080" y="4992624"/>
            <a:ext cx="5212080" cy="502920"/>
          </a:xfrm>
          <a:prstGeom prst="rect">
            <a:avLst/>
          </a:prstGeom>
          <a:noFill/>
          <a:ln/>
        </p:spPr>
        <p:txBody>
          <a:bodyPr wrap="square" lIns="0" tIns="0" rIns="0" bIns="0" rtlCol="0" anchor="t"/>
          <a:lstStyle/>
          <a:p>
            <a:pPr indent="0" marL="0">
              <a:buNone/>
            </a:pPr>
            <a:r>
              <a:rPr lang="en-US" sz="860" dirty="0">
                <a:solidFill>
                  <a:srgbClr val="16325C"/>
                </a:solidFill>
                <a:latin typeface="Consolas" pitchFamily="34" charset="0"/>
                <a:ea typeface="Consolas" pitchFamily="34" charset="-122"/>
                <a:cs typeface="Consolas" pitchFamily="34" charset="-120"/>
              </a:rPr>
              <a:t>travel 45.3 mm at 2.2 mm/rev × 1 cut = 32 s cutting + 18 s handling</a:t>
            </a:r>
            <a:endParaRPr lang="en-US" sz="860" dirty="0"/>
          </a:p>
        </p:txBody>
      </p:sp>
      <p:sp>
        <p:nvSpPr>
          <p:cNvPr id="67" name="Shape 65"/>
          <p:cNvSpPr/>
          <p:nvPr/>
        </p:nvSpPr>
        <p:spPr>
          <a:xfrm>
            <a:off x="6199632" y="4315968"/>
            <a:ext cx="5532120" cy="1243584"/>
          </a:xfrm>
          <a:prstGeom prst="roundRect">
            <a:avLst>
              <a:gd name="adj" fmla="val 5882"/>
            </a:avLst>
          </a:prstGeom>
          <a:solidFill>
            <a:srgbClr val="E8F1FA"/>
          </a:solidFill>
          <a:ln w="12700">
            <a:solidFill>
              <a:srgbClr val="1D6FB8"/>
            </a:solidFill>
            <a:prstDash val="solid"/>
          </a:ln>
        </p:spPr>
      </p:sp>
      <p:sp>
        <p:nvSpPr>
          <p:cNvPr id="68" name="Text 66"/>
          <p:cNvSpPr/>
          <p:nvPr/>
        </p:nvSpPr>
        <p:spPr>
          <a:xfrm>
            <a:off x="6382512" y="4389120"/>
            <a:ext cx="5212080" cy="201168"/>
          </a:xfrm>
          <a:prstGeom prst="rect">
            <a:avLst/>
          </a:prstGeom>
          <a:noFill/>
          <a:ln/>
        </p:spPr>
        <p:txBody>
          <a:bodyPr wrap="square" lIns="0" tIns="0" rIns="0" bIns="0" rtlCol="0" anchor="ctr"/>
          <a:lstStyle/>
          <a:p>
            <a:pPr indent="0" marL="0">
              <a:buNone/>
            </a:pPr>
            <a:r>
              <a:rPr lang="en-US" sz="900" b="1" spc="50" kern="0" dirty="0">
                <a:solidFill>
                  <a:srgbClr val="1D6FB8"/>
                </a:solidFill>
                <a:latin typeface="Calibri" pitchFamily="34" charset="0"/>
                <a:ea typeface="Calibri" pitchFamily="34" charset="-122"/>
                <a:cs typeface="Calibri" pitchFamily="34" charset="-120"/>
              </a:rPr>
              <a:t>IT PICKS THE MACHINE, AND REFUSES WHEN IT CANNOT</a:t>
            </a:r>
            <a:endParaRPr lang="en-US" sz="900" dirty="0"/>
          </a:p>
        </p:txBody>
      </p:sp>
      <p:sp>
        <p:nvSpPr>
          <p:cNvPr id="69" name="Shape 67"/>
          <p:cNvSpPr/>
          <p:nvPr/>
        </p:nvSpPr>
        <p:spPr>
          <a:xfrm>
            <a:off x="6419088" y="4709160"/>
            <a:ext cx="82296" cy="82296"/>
          </a:xfrm>
          <a:prstGeom prst="ellipse">
            <a:avLst/>
          </a:prstGeom>
          <a:solidFill>
            <a:srgbClr val="1D6FB8"/>
          </a:solidFill>
          <a:ln/>
        </p:spPr>
      </p:sp>
      <p:sp>
        <p:nvSpPr>
          <p:cNvPr id="70" name="Text 68"/>
          <p:cNvSpPr/>
          <p:nvPr/>
        </p:nvSpPr>
        <p:spPr>
          <a:xfrm>
            <a:off x="6601968" y="4626864"/>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15 gear machines in the library — hob, shape, skive, grind, broach, hone</a:t>
            </a:r>
            <a:endParaRPr lang="en-US" sz="900" dirty="0"/>
          </a:p>
        </p:txBody>
      </p:sp>
      <p:sp>
        <p:nvSpPr>
          <p:cNvPr id="71" name="Shape 69"/>
          <p:cNvSpPr/>
          <p:nvPr/>
        </p:nvSpPr>
        <p:spPr>
          <a:xfrm>
            <a:off x="6419088" y="5010912"/>
            <a:ext cx="82296" cy="82296"/>
          </a:xfrm>
          <a:prstGeom prst="ellipse">
            <a:avLst/>
          </a:prstGeom>
          <a:solidFill>
            <a:srgbClr val="1D6FB8"/>
          </a:solidFill>
          <a:ln/>
        </p:spPr>
      </p:sp>
      <p:sp>
        <p:nvSpPr>
          <p:cNvPr id="72" name="Text 70"/>
          <p:cNvSpPr/>
          <p:nvPr/>
        </p:nvSpPr>
        <p:spPr>
          <a:xfrm>
            <a:off x="6601968" y="4928616"/>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Sized on module × diameter × face width, not diameter alone</a:t>
            </a:r>
            <a:endParaRPr lang="en-US" sz="900" dirty="0"/>
          </a:p>
        </p:txBody>
      </p:sp>
      <p:sp>
        <p:nvSpPr>
          <p:cNvPr id="73" name="Shape 71"/>
          <p:cNvSpPr/>
          <p:nvPr/>
        </p:nvSpPr>
        <p:spPr>
          <a:xfrm>
            <a:off x="6419088" y="5312664"/>
            <a:ext cx="82296" cy="82296"/>
          </a:xfrm>
          <a:prstGeom prst="ellipse">
            <a:avLst/>
          </a:prstGeom>
          <a:solidFill>
            <a:srgbClr val="1D6FB8"/>
          </a:solidFill>
          <a:ln/>
        </p:spPr>
      </p:sp>
      <p:sp>
        <p:nvSpPr>
          <p:cNvPr id="74" name="Text 72"/>
          <p:cNvSpPr/>
          <p:nvPr/>
        </p:nvSpPr>
        <p:spPr>
          <a:xfrm>
            <a:off x="6601968" y="5230368"/>
            <a:ext cx="4983480" cy="310896"/>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gear beyond every machine is BLOCKED, never costed on the biggest one</a:t>
            </a:r>
            <a:endParaRPr lang="en-US" sz="900" dirty="0"/>
          </a:p>
        </p:txBody>
      </p:sp>
      <p:sp>
        <p:nvSpPr>
          <p:cNvPr id="75" name="Shape 73"/>
          <p:cNvSpPr/>
          <p:nvPr/>
        </p:nvSpPr>
        <p:spPr>
          <a:xfrm>
            <a:off x="457200" y="5669280"/>
            <a:ext cx="11274552" cy="457200"/>
          </a:xfrm>
          <a:prstGeom prst="roundRect">
            <a:avLst>
              <a:gd name="adj" fmla="val 14000"/>
            </a:avLst>
          </a:prstGeom>
          <a:solidFill>
            <a:srgbClr val="FDEEEC"/>
          </a:solidFill>
          <a:ln w="12700">
            <a:solidFill>
              <a:srgbClr val="B03A2E"/>
            </a:solidFill>
            <a:prstDash val="solid"/>
          </a:ln>
        </p:spPr>
      </p:sp>
      <p:sp>
        <p:nvSpPr>
          <p:cNvPr id="76" name="Text 74"/>
          <p:cNvSpPr/>
          <p:nvPr/>
        </p:nvSpPr>
        <p:spPr>
          <a:xfrm>
            <a:off x="658368" y="5669280"/>
            <a:ext cx="10881360" cy="457200"/>
          </a:xfrm>
          <a:prstGeom prst="rect">
            <a:avLst/>
          </a:prstGeom>
          <a:noFill/>
          <a:ln/>
        </p:spPr>
        <p:txBody>
          <a:bodyPr wrap="square" lIns="0" tIns="0" rIns="0" bIns="0" rtlCol="0" anchor="ctr"/>
          <a:lstStyle/>
          <a:p>
            <a:pPr indent="0" marL="0">
              <a:buNone/>
            </a:pPr>
            <a:r>
              <a:rPr lang="en-US" sz="1000" b="1" dirty="0">
                <a:solidFill>
                  <a:srgbClr val="B03A2E"/>
                </a:solidFill>
                <a:latin typeface="Calibri" pitchFamily="34" charset="0"/>
                <a:ea typeface="Calibri" pitchFamily="34" charset="-122"/>
                <a:cs typeface="Calibri" pitchFamily="34" charset="-120"/>
              </a:rPr>
              <a:t>Said plainly: </a:t>
            </a:r>
            <a:pPr indent="0" marL="0">
              <a:buNone/>
            </a:pPr>
            <a:r>
              <a:rPr lang="en-US" sz="1000" dirty="0">
                <a:solidFill>
                  <a:srgbClr val="3A4356"/>
                </a:solidFill>
                <a:latin typeface="Calibri" pitchFamily="34" charset="0"/>
                <a:ea typeface="Calibri" pitchFamily="34" charset="-122"/>
                <a:cs typeface="Calibri" pitchFamily="34" charset="-120"/>
              </a:rPr>
              <a:t>all 88 shop numbers — feeds, speeds, tool life, heat-treat rates — are representative, not from your plant. The tool prints that warning on every gear estimate. It shows the right structure; it is not yet a quotable number.</a:t>
            </a:r>
            <a:endParaRPr lang="en-US" sz="100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We Then Attacked Our Own Gear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Seven faults found — every one of them returned a confident, sensible-looking number</a:t>
            </a:r>
            <a:endParaRPr lang="en-US" sz="1200" dirty="0"/>
          </a:p>
        </p:txBody>
      </p:sp>
      <p:sp>
        <p:nvSpPr>
          <p:cNvPr id="5" name="Shape 3"/>
          <p:cNvSpPr/>
          <p:nvPr/>
        </p:nvSpPr>
        <p:spPr>
          <a:xfrm>
            <a:off x="9445752" y="256032"/>
            <a:ext cx="2286000" cy="310896"/>
          </a:xfrm>
          <a:prstGeom prst="roundRect">
            <a:avLst>
              <a:gd name="adj" fmla="val 50000"/>
            </a:avLst>
          </a:prstGeom>
          <a:solidFill>
            <a:srgbClr val="FDEEEC"/>
          </a:solidFill>
          <a:ln w="12700">
            <a:solidFill>
              <a:srgbClr val="B03A2E"/>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B03A2E"/>
                </a:solidFill>
                <a:latin typeface="Calibri" pitchFamily="34" charset="0"/>
                <a:ea typeface="Calibri" pitchFamily="34" charset="-122"/>
                <a:cs typeface="Calibri" pitchFamily="34" charset="-120"/>
              </a:rPr>
              <a:t>OWNER: US</a:t>
            </a:r>
            <a:endParaRPr lang="en-US" sz="950" dirty="0"/>
          </a:p>
        </p:txBody>
      </p:sp>
      <p:sp>
        <p:nvSpPr>
          <p:cNvPr id="7" name="Shape 5"/>
          <p:cNvSpPr/>
          <p:nvPr/>
        </p:nvSpPr>
        <p:spPr>
          <a:xfrm>
            <a:off x="457200" y="1188720"/>
            <a:ext cx="11274552" cy="969264"/>
          </a:xfrm>
          <a:prstGeom prst="roundRect">
            <a:avLst>
              <a:gd name="adj" fmla="val 6604"/>
            </a:avLst>
          </a:prstGeom>
          <a:solidFill>
            <a:srgbClr val="FFFFFF"/>
          </a:solidFill>
          <a:ln w="9525">
            <a:solidFill>
              <a:srgbClr val="DCE3EE"/>
            </a:solidFill>
            <a:prstDash val="solid"/>
          </a:ln>
        </p:spPr>
      </p:sp>
      <p:sp>
        <p:nvSpPr>
          <p:cNvPr id="8" name="Shape 6"/>
          <p:cNvSpPr/>
          <p:nvPr/>
        </p:nvSpPr>
        <p:spPr>
          <a:xfrm>
            <a:off x="457200" y="1188720"/>
            <a:ext cx="50292" cy="969264"/>
          </a:xfrm>
          <a:prstGeom prst="rect">
            <a:avLst/>
          </a:prstGeom>
          <a:solidFill>
            <a:srgbClr val="B03A2E"/>
          </a:solidFill>
          <a:ln/>
        </p:spPr>
      </p:sp>
      <p:sp>
        <p:nvSpPr>
          <p:cNvPr id="9" name="Text 7"/>
          <p:cNvSpPr/>
          <p:nvPr/>
        </p:nvSpPr>
        <p:spPr>
          <a:xfrm>
            <a:off x="676656" y="1261872"/>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Volume did nothing</a:t>
            </a:r>
            <a:endParaRPr lang="en-US" sz="1100" dirty="0"/>
          </a:p>
        </p:txBody>
      </p:sp>
      <p:sp>
        <p:nvSpPr>
          <p:cNvPr id="10" name="Text 8"/>
          <p:cNvSpPr/>
          <p:nvPr/>
        </p:nvSpPr>
        <p:spPr>
          <a:xfrm>
            <a:off x="676656" y="1554480"/>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The same gear cost £13.05 at 1,000 a year and £13.05 at a million a year. Identical to the penny.</a:t>
            </a:r>
            <a:endParaRPr lang="en-US" sz="860" dirty="0"/>
          </a:p>
        </p:txBody>
      </p:sp>
      <p:sp>
        <p:nvSpPr>
          <p:cNvPr id="11" name="Shape 9"/>
          <p:cNvSpPr/>
          <p:nvPr/>
        </p:nvSpPr>
        <p:spPr>
          <a:xfrm>
            <a:off x="4023360" y="1316736"/>
            <a:ext cx="7571232" cy="713232"/>
          </a:xfrm>
          <a:prstGeom prst="roundRect">
            <a:avLst>
              <a:gd name="adj" fmla="val 7692"/>
            </a:avLst>
          </a:prstGeom>
          <a:solidFill>
            <a:srgbClr val="EAF6EF"/>
          </a:solidFill>
          <a:ln/>
        </p:spPr>
      </p:sp>
      <p:sp>
        <p:nvSpPr>
          <p:cNvPr id="12" name="Text 10"/>
          <p:cNvSpPr/>
          <p:nvPr/>
        </p:nvSpPr>
        <p:spPr>
          <a:xfrm>
            <a:off x="4206240" y="1316736"/>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Fixture, programming, first-article and broach capital now amortise, so a low-volume gear correctly costs more than a high-volume one.</a:t>
            </a:r>
            <a:endParaRPr lang="en-US" sz="980" dirty="0"/>
          </a:p>
        </p:txBody>
      </p:sp>
      <p:sp>
        <p:nvSpPr>
          <p:cNvPr id="13" name="Shape 11"/>
          <p:cNvSpPr/>
          <p:nvPr/>
        </p:nvSpPr>
        <p:spPr>
          <a:xfrm>
            <a:off x="457200" y="2249424"/>
            <a:ext cx="11274552" cy="969264"/>
          </a:xfrm>
          <a:prstGeom prst="roundRect">
            <a:avLst>
              <a:gd name="adj" fmla="val 6604"/>
            </a:avLst>
          </a:prstGeom>
          <a:solidFill>
            <a:srgbClr val="FFFFFF"/>
          </a:solidFill>
          <a:ln w="9525">
            <a:solidFill>
              <a:srgbClr val="DCE3EE"/>
            </a:solidFill>
            <a:prstDash val="solid"/>
          </a:ln>
        </p:spPr>
      </p:sp>
      <p:sp>
        <p:nvSpPr>
          <p:cNvPr id="14" name="Shape 12"/>
          <p:cNvSpPr/>
          <p:nvPr/>
        </p:nvSpPr>
        <p:spPr>
          <a:xfrm>
            <a:off x="457200" y="2249424"/>
            <a:ext cx="50292" cy="969264"/>
          </a:xfrm>
          <a:prstGeom prst="rect">
            <a:avLst/>
          </a:prstGeom>
          <a:solidFill>
            <a:srgbClr val="B03A2E"/>
          </a:solidFill>
          <a:ln/>
        </p:spPr>
      </p:sp>
      <p:sp>
        <p:nvSpPr>
          <p:cNvPr id="15" name="Text 13"/>
          <p:cNvSpPr/>
          <p:nvPr/>
        </p:nvSpPr>
        <p:spPr>
          <a:xfrm>
            <a:off x="676656" y="2322576"/>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A gear with zero teeth got a price</a:t>
            </a:r>
            <a:endParaRPr lang="en-US" sz="1100" dirty="0"/>
          </a:p>
        </p:txBody>
      </p:sp>
      <p:sp>
        <p:nvSpPr>
          <p:cNvPr id="16" name="Text 14"/>
          <p:cNvSpPr/>
          <p:nvPr/>
        </p:nvSpPr>
        <p:spPr>
          <a:xfrm>
            <a:off x="676656" y="2615184"/>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£11.12. So did negative teeth and zero face width. A zero amortisation volume returned "not a number".</a:t>
            </a:r>
            <a:endParaRPr lang="en-US" sz="860" dirty="0"/>
          </a:p>
        </p:txBody>
      </p:sp>
      <p:sp>
        <p:nvSpPr>
          <p:cNvPr id="17" name="Shape 15"/>
          <p:cNvSpPr/>
          <p:nvPr/>
        </p:nvSpPr>
        <p:spPr>
          <a:xfrm>
            <a:off x="4023360" y="2377440"/>
            <a:ext cx="7571232" cy="713232"/>
          </a:xfrm>
          <a:prstGeom prst="roundRect">
            <a:avLst>
              <a:gd name="adj" fmla="val 7692"/>
            </a:avLst>
          </a:prstGeom>
          <a:solidFill>
            <a:srgbClr val="EAF6EF"/>
          </a:solidFill>
          <a:ln/>
        </p:spPr>
      </p:sp>
      <p:sp>
        <p:nvSpPr>
          <p:cNvPr id="18" name="Text 16"/>
          <p:cNvSpPr/>
          <p:nvPr/>
        </p:nvSpPr>
        <p:spPr>
          <a:xfrm>
            <a:off x="4206240" y="2377440"/>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Impossible definitions are now refused, each naming the field that is wrong.</a:t>
            </a:r>
            <a:endParaRPr lang="en-US" sz="980" dirty="0"/>
          </a:p>
        </p:txBody>
      </p:sp>
      <p:sp>
        <p:nvSpPr>
          <p:cNvPr id="19" name="Shape 17"/>
          <p:cNvSpPr/>
          <p:nvPr/>
        </p:nvSpPr>
        <p:spPr>
          <a:xfrm>
            <a:off x="457200" y="3310128"/>
            <a:ext cx="11274552" cy="969264"/>
          </a:xfrm>
          <a:prstGeom prst="roundRect">
            <a:avLst>
              <a:gd name="adj" fmla="val 6604"/>
            </a:avLst>
          </a:prstGeom>
          <a:solidFill>
            <a:srgbClr val="FFFFFF"/>
          </a:solidFill>
          <a:ln w="9525">
            <a:solidFill>
              <a:srgbClr val="DCE3EE"/>
            </a:solidFill>
            <a:prstDash val="solid"/>
          </a:ln>
        </p:spPr>
      </p:sp>
      <p:sp>
        <p:nvSpPr>
          <p:cNvPr id="20" name="Shape 18"/>
          <p:cNvSpPr/>
          <p:nvPr/>
        </p:nvSpPr>
        <p:spPr>
          <a:xfrm>
            <a:off x="457200" y="3310128"/>
            <a:ext cx="50292" cy="969264"/>
          </a:xfrm>
          <a:prstGeom prst="rect">
            <a:avLst/>
          </a:prstGeom>
          <a:solidFill>
            <a:srgbClr val="B03A2E"/>
          </a:solidFill>
          <a:ln/>
        </p:spPr>
      </p:sp>
      <p:sp>
        <p:nvSpPr>
          <p:cNvPr id="21" name="Text 19"/>
          <p:cNvSpPr/>
          <p:nvPr/>
        </p:nvSpPr>
        <p:spPr>
          <a:xfrm>
            <a:off x="676656" y="3383280"/>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Internal gear, wrong grinder</a:t>
            </a:r>
            <a:endParaRPr lang="en-US" sz="1100" dirty="0"/>
          </a:p>
        </p:txBody>
      </p:sp>
      <p:sp>
        <p:nvSpPr>
          <p:cNvPr id="22" name="Text 20"/>
          <p:cNvSpPr/>
          <p:nvPr/>
        </p:nvSpPr>
        <p:spPr>
          <a:xfrm>
            <a:off x="676656" y="3675888"/>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A generating grinder works from outside and cannot enter a bore. Not a smaller machine — the wrong machine.</a:t>
            </a:r>
            <a:endParaRPr lang="en-US" sz="860" dirty="0"/>
          </a:p>
        </p:txBody>
      </p:sp>
      <p:sp>
        <p:nvSpPr>
          <p:cNvPr id="23" name="Shape 21"/>
          <p:cNvSpPr/>
          <p:nvPr/>
        </p:nvSpPr>
        <p:spPr>
          <a:xfrm>
            <a:off x="4023360" y="3438144"/>
            <a:ext cx="7571232" cy="713232"/>
          </a:xfrm>
          <a:prstGeom prst="roundRect">
            <a:avLst>
              <a:gd name="adj" fmla="val 7692"/>
            </a:avLst>
          </a:prstGeom>
          <a:solidFill>
            <a:srgbClr val="EAF6EF"/>
          </a:solidFill>
          <a:ln/>
        </p:spPr>
      </p:sp>
      <p:sp>
        <p:nvSpPr>
          <p:cNvPr id="24" name="Text 22"/>
          <p:cNvSpPr/>
          <p:nvPr/>
        </p:nvSpPr>
        <p:spPr>
          <a:xfrm>
            <a:off x="4206240" y="3438144"/>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Grinder choice is now internal-aware; honing and shaving are refused on internal gears.</a:t>
            </a:r>
            <a:endParaRPr lang="en-US" sz="980" dirty="0"/>
          </a:p>
        </p:txBody>
      </p:sp>
      <p:sp>
        <p:nvSpPr>
          <p:cNvPr id="25" name="Shape 23"/>
          <p:cNvSpPr/>
          <p:nvPr/>
        </p:nvSpPr>
        <p:spPr>
          <a:xfrm>
            <a:off x="457200" y="4370832"/>
            <a:ext cx="11274552" cy="969264"/>
          </a:xfrm>
          <a:prstGeom prst="roundRect">
            <a:avLst>
              <a:gd name="adj" fmla="val 6604"/>
            </a:avLst>
          </a:prstGeom>
          <a:solidFill>
            <a:srgbClr val="FFFFFF"/>
          </a:solidFill>
          <a:ln w="9525">
            <a:solidFill>
              <a:srgbClr val="DCE3EE"/>
            </a:solidFill>
            <a:prstDash val="solid"/>
          </a:ln>
        </p:spPr>
      </p:sp>
      <p:sp>
        <p:nvSpPr>
          <p:cNvPr id="26" name="Shape 24"/>
          <p:cNvSpPr/>
          <p:nvPr/>
        </p:nvSpPr>
        <p:spPr>
          <a:xfrm>
            <a:off x="457200" y="4370832"/>
            <a:ext cx="50292" cy="969264"/>
          </a:xfrm>
          <a:prstGeom prst="rect">
            <a:avLst/>
          </a:prstGeom>
          <a:solidFill>
            <a:srgbClr val="B03A2E"/>
          </a:solidFill>
          <a:ln/>
        </p:spPr>
      </p:sp>
      <p:sp>
        <p:nvSpPr>
          <p:cNvPr id="27" name="Text 25"/>
          <p:cNvSpPr/>
          <p:nvPr/>
        </p:nvSpPr>
        <p:spPr>
          <a:xfrm>
            <a:off x="676656" y="4443984"/>
            <a:ext cx="320040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Grade stopped mattering once ground</a:t>
            </a:r>
            <a:endParaRPr lang="en-US" sz="1100" dirty="0"/>
          </a:p>
        </p:txBody>
      </p:sp>
      <p:sp>
        <p:nvSpPr>
          <p:cNvPr id="28" name="Text 26"/>
          <p:cNvSpPr/>
          <p:nvPr/>
        </p:nvSpPr>
        <p:spPr>
          <a:xfrm>
            <a:off x="676656" y="4736592"/>
            <a:ext cx="3200400" cy="530352"/>
          </a:xfrm>
          <a:prstGeom prst="rect">
            <a:avLst/>
          </a:prstGeom>
          <a:noFill/>
          <a:ln/>
        </p:spPr>
        <p:txBody>
          <a:bodyPr wrap="square" lIns="0" tIns="0" rIns="0" bIns="0" rtlCol="0" anchor="t"/>
          <a:lstStyle/>
          <a:p>
            <a:pPr indent="0" marL="0">
              <a:buNone/>
            </a:pPr>
            <a:r>
              <a:rPr lang="en-US" sz="860" dirty="0">
                <a:solidFill>
                  <a:srgbClr val="686F7D"/>
                </a:solidFill>
                <a:latin typeface="Calibri" pitchFamily="34" charset="0"/>
                <a:ea typeface="Calibri" pitchFamily="34" charset="-122"/>
                <a:cs typeface="Calibri" pitchFamily="34" charset="-120"/>
              </a:rPr>
              <a:t>Class 6, 5 and 4 all ground for exactly 39.3 seconds — contradicting the whole point of the model.</a:t>
            </a:r>
            <a:endParaRPr lang="en-US" sz="860" dirty="0"/>
          </a:p>
        </p:txBody>
      </p:sp>
      <p:sp>
        <p:nvSpPr>
          <p:cNvPr id="29" name="Shape 27"/>
          <p:cNvSpPr/>
          <p:nvPr/>
        </p:nvSpPr>
        <p:spPr>
          <a:xfrm>
            <a:off x="4023360" y="4498848"/>
            <a:ext cx="7571232" cy="713232"/>
          </a:xfrm>
          <a:prstGeom prst="roundRect">
            <a:avLst>
              <a:gd name="adj" fmla="val 7692"/>
            </a:avLst>
          </a:prstGeom>
          <a:solidFill>
            <a:srgbClr val="EAF6EF"/>
          </a:solidFill>
          <a:ln/>
        </p:spPr>
      </p:sp>
      <p:sp>
        <p:nvSpPr>
          <p:cNvPr id="30" name="Text 28"/>
          <p:cNvSpPr/>
          <p:nvPr/>
        </p:nvSpPr>
        <p:spPr>
          <a:xfrm>
            <a:off x="4206240" y="4498848"/>
            <a:ext cx="7223760" cy="713232"/>
          </a:xfrm>
          <a:prstGeom prst="rect">
            <a:avLst/>
          </a:prstGeom>
          <a:noFill/>
          <a:ln/>
        </p:spPr>
        <p:txBody>
          <a:bodyPr wrap="square" lIns="0" tIns="0" rIns="0" bIns="0" rtlCol="0" anchor="ctr"/>
          <a:lstStyle/>
          <a:p>
            <a:pPr indent="0" marL="0">
              <a:buNone/>
            </a:pPr>
            <a:r>
              <a:rPr lang="en-US" sz="980" dirty="0">
                <a:solidFill>
                  <a:srgbClr val="3A4356"/>
                </a:solidFill>
                <a:latin typeface="Calibri" pitchFamily="34" charset="0"/>
                <a:ea typeface="Calibri" pitchFamily="34" charset="-122"/>
                <a:cs typeface="Calibri" pitchFamily="34" charset="-120"/>
              </a:rPr>
              <a:t>Tighter classes now buy spark-out passes, and the tool shows them in the sum.</a:t>
            </a:r>
            <a:endParaRPr lang="en-US" sz="980" dirty="0"/>
          </a:p>
        </p:txBody>
      </p:sp>
      <p:sp>
        <p:nvSpPr>
          <p:cNvPr id="31" name="Shape 29"/>
          <p:cNvSpPr/>
          <p:nvPr/>
        </p:nvSpPr>
        <p:spPr>
          <a:xfrm>
            <a:off x="457200" y="5504688"/>
            <a:ext cx="11274552" cy="457200"/>
          </a:xfrm>
          <a:prstGeom prst="roundRect">
            <a:avLst>
              <a:gd name="adj" fmla="val 14000"/>
            </a:avLst>
          </a:prstGeom>
          <a:solidFill>
            <a:srgbClr val="E6F4F1"/>
          </a:solidFill>
          <a:ln w="12700">
            <a:solidFill>
              <a:srgbClr val="0D7D71"/>
            </a:solidFill>
            <a:prstDash val="solid"/>
          </a:ln>
        </p:spPr>
      </p:sp>
      <p:sp>
        <p:nvSpPr>
          <p:cNvPr id="32" name="Text 30"/>
          <p:cNvSpPr/>
          <p:nvPr/>
        </p:nvSpPr>
        <p:spPr>
          <a:xfrm>
            <a:off x="658368" y="5504688"/>
            <a:ext cx="10881360" cy="457200"/>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All seven are now locked down by automated tests, so they cannot quietly come back. Total suite today: 2,438 tests.</a:t>
            </a:r>
            <a:endParaRPr lang="en-US" sz="1050" dirty="0"/>
          </a:p>
        </p:txBody>
      </p:sp>
      <p:sp>
        <p:nvSpPr>
          <p:cNvPr id="33"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4"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it — most do not. And an STL has no feature table, so a machined STL needs a typed cycle time.</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Prove its accuracy yet</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No estimate has yet been compared with a price JLR paid. Six pinned parts prove the answer is stable, not that it is right. Accuracy is measured as actuals are logged; after 3 for a commodity the band is corrected.</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19 manufacturing processes are modelled, plus an assembly roll-up and a software cost model. A genuinely new process needs a new module — days of work,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99651A"/>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99651A"/>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99651A"/>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99651A"/>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99651A"/>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99651A"/>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D7D71"/>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D7D71"/>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99651A"/>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99651A"/>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A7F50"/>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A7F50"/>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D7D71"/>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D7D71"/>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and saving on the next seven slides is deterministic engine code. The optional "AI deep analysis" (off at JLR) only writes commentary on findings the rules made — it cannot add, remove or re-rank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86F7D"/>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D7D71"/>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D7D71"/>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D7D71"/>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D7D71"/>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D7D71"/>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D7D71"/>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D7D71"/>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86F7D"/>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A7F50"/>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A7F50"/>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A7F50"/>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A7F50"/>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86F7D"/>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D7D71"/>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99651A"/>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D7D71"/>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86F7D"/>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A7F50"/>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99651A"/>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86F7D"/>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D7D71"/>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D7D71"/>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86F7D"/>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86F7D"/>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D7D71"/>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D7D71"/>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86F7D"/>
                </a:solidFill>
                <a:latin typeface="Calibri" pitchFamily="34" charset="0"/>
                <a:ea typeface="Calibri" pitchFamily="34" charset="-122"/>
                <a:cs typeface="Calibri" pitchFamily="34" charset="-120"/>
              </a:rPr>
              <a:t>75 geometry checks in total. They run alongside the 52 cost-structure rules and feed the same DFM/DFA sections of the report — deterministic, and never written by AI.</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53</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D7D71"/>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86F7D"/>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99651A"/>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D7D71"/>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A7F50"/>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86F7D"/>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54</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99651A"/>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A7F50"/>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D7D71"/>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A7F50"/>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99651A"/>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55</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A7F5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output for one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D7D71"/>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D7D71"/>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A7F50"/>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A7F50"/>
                </a:solidFill>
                <a:latin typeface="Calibri" pitchFamily="34" charset="0"/>
                <a:ea typeface="Calibri" pitchFamily="34" charset="-122"/>
                <a:cs typeface="Calibri" pitchFamily="34" charset="-120"/>
              </a:rPr>
              <a:t>Combined opportunity £5.38/part </a:t>
            </a:r>
            <a:pPr indent="0" marL="0">
              <a:buNone/>
            </a:pPr>
            <a:r>
              <a:rPr lang="en-US" sz="1000" dirty="0">
                <a:solidFill>
                  <a:srgbClr val="3A4356"/>
                </a:solidFill>
                <a:latin typeface="Calibri" pitchFamily="34" charset="0"/>
                <a:ea typeface="Calibri" pitchFamily="34" charset="-122"/>
                <a:cs typeface="Calibri" pitchFamily="34" charset="-120"/>
              </a:rPr>
              <a:t>(top three, root-sum-square)  ·  machined Al bracket, £24.34 at UK rates  ·  9 ideas in 4 categories — to test, not savings achieved</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t>
            </a:r>
            <a:endParaRPr lang="en-US" sz="75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ACTION</a:t>
            </a:r>
            <a:endParaRPr lang="en-US" sz="75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WHY IT IS ON THE LIST</a:t>
            </a:r>
            <a:endParaRPr lang="en-US" sz="75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SAVE/PART</a:t>
            </a:r>
            <a:endParaRPr lang="en-US" sz="75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RISK</a:t>
            </a:r>
            <a:endParaRPr lang="en-US" sz="75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TIMEFRAME</a:t>
            </a:r>
            <a:endParaRPr lang="en-US" sz="75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1 opportunity</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£4.38/part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69.1%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£4.38</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Shape 23"/>
          <p:cNvSpPr/>
          <p:nvPr/>
        </p:nvSpPr>
        <p:spPr>
          <a:xfrm>
            <a:off x="457200" y="2551176"/>
            <a:ext cx="11274552" cy="201168"/>
          </a:xfrm>
          <a:prstGeom prst="roundRect">
            <a:avLst>
              <a:gd name="adj" fmla="val 22727"/>
            </a:avLst>
          </a:prstGeom>
          <a:solidFill>
            <a:srgbClr val="E6F4F1"/>
          </a:solidFill>
          <a:ln/>
        </p:spPr>
      </p:sp>
      <p:sp>
        <p:nvSpPr>
          <p:cNvPr id="26" name="Text 24"/>
          <p:cNvSpPr/>
          <p:nvPr/>
        </p:nvSpPr>
        <p:spPr>
          <a:xfrm>
            <a:off x="658368" y="2551176"/>
            <a:ext cx="7315200" cy="201168"/>
          </a:xfrm>
          <a:prstGeom prst="rect">
            <a:avLst/>
          </a:prstGeom>
          <a:noFill/>
          <a:ln/>
        </p:spPr>
        <p:txBody>
          <a:bodyPr wrap="square" lIns="0" tIns="0" rIns="0" bIns="0" rtlCol="0" anchor="ctr"/>
          <a:lstStyle/>
          <a:p>
            <a:pPr indent="0" marL="0">
              <a:buNone/>
            </a:pPr>
            <a:r>
              <a:rPr lang="en-US" sz="800" b="1" spc="50" kern="0" dirty="0">
                <a:solidFill>
                  <a:srgbClr val="0D7D71"/>
                </a:solidFill>
                <a:latin typeface="Calibri" pitchFamily="34" charset="0"/>
                <a:ea typeface="Calibri" pitchFamily="34" charset="-122"/>
                <a:cs typeface="Calibri" pitchFamily="34" charset="-120"/>
              </a:rPr>
              <a:t>MATERIAL · 2 opportunities</a:t>
            </a:r>
            <a:endParaRPr lang="en-US" sz="800" dirty="0"/>
          </a:p>
        </p:txBody>
      </p:sp>
      <p:sp>
        <p:nvSpPr>
          <p:cNvPr id="27" name="Text 25"/>
          <p:cNvSpPr/>
          <p:nvPr/>
        </p:nvSpPr>
        <p:spPr>
          <a:xfrm>
            <a:off x="9144000" y="2551176"/>
            <a:ext cx="2377440" cy="201168"/>
          </a:xfrm>
          <a:prstGeom prst="rect">
            <a:avLst/>
          </a:prstGeom>
          <a:noFill/>
          <a:ln/>
        </p:spPr>
        <p:txBody>
          <a:bodyPr wrap="square" lIns="0" tIns="0" rIns="0" bIns="0" rtlCol="0" anchor="ctr"/>
          <a:lstStyle/>
          <a:p>
            <a:pPr algn="r" indent="0" marL="0">
              <a:buNone/>
            </a:pPr>
            <a:r>
              <a:rPr lang="en-US" sz="800" b="1" dirty="0">
                <a:solidFill>
                  <a:srgbClr val="0D7D71"/>
                </a:solidFill>
                <a:latin typeface="Calibri" pitchFamily="34" charset="0"/>
                <a:ea typeface="Calibri" pitchFamily="34" charset="-122"/>
                <a:cs typeface="Calibri" pitchFamily="34" charset="-120"/>
              </a:rPr>
              <a:t>best £2.43/part</a:t>
            </a:r>
            <a:endParaRPr lang="en-US" sz="800" dirty="0"/>
          </a:p>
        </p:txBody>
      </p:sp>
      <p:sp>
        <p:nvSpPr>
          <p:cNvPr id="28" name="Shape 26"/>
          <p:cNvSpPr/>
          <p:nvPr/>
        </p:nvSpPr>
        <p:spPr>
          <a:xfrm>
            <a:off x="457200" y="2784348"/>
            <a:ext cx="11274552" cy="224028"/>
          </a:xfrm>
          <a:prstGeom prst="rect">
            <a:avLst/>
          </a:prstGeom>
          <a:solidFill>
            <a:srgbClr val="FFFFFF"/>
          </a:solidFill>
          <a:ln/>
        </p:spPr>
      </p:sp>
      <p:sp>
        <p:nvSpPr>
          <p:cNvPr id="29" name="Text 27"/>
          <p:cNvSpPr/>
          <p:nvPr/>
        </p:nvSpPr>
        <p:spPr>
          <a:xfrm>
            <a:off x="658368" y="27889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2</a:t>
            </a:r>
            <a:endParaRPr lang="en-US" sz="840" dirty="0"/>
          </a:p>
        </p:txBody>
      </p:sp>
      <p:sp>
        <p:nvSpPr>
          <p:cNvPr id="30" name="Text 28"/>
          <p:cNvSpPr/>
          <p:nvPr/>
        </p:nvSpPr>
        <p:spPr>
          <a:xfrm>
            <a:off x="1143000" y="27889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1" name="Text 29"/>
          <p:cNvSpPr/>
          <p:nvPr/>
        </p:nvSpPr>
        <p:spPr>
          <a:xfrm>
            <a:off x="4480560" y="27889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2" name="Text 30"/>
          <p:cNvSpPr/>
          <p:nvPr/>
        </p:nvSpPr>
        <p:spPr>
          <a:xfrm>
            <a:off x="9281160" y="27889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£2.43</a:t>
            </a:r>
            <a:endParaRPr lang="en-US" sz="900" dirty="0"/>
          </a:p>
        </p:txBody>
      </p:sp>
      <p:sp>
        <p:nvSpPr>
          <p:cNvPr id="33" name="Text 31"/>
          <p:cNvSpPr/>
          <p:nvPr/>
        </p:nvSpPr>
        <p:spPr>
          <a:xfrm>
            <a:off x="10287000" y="2788920"/>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34" name="Text 32"/>
          <p:cNvSpPr/>
          <p:nvPr/>
        </p:nvSpPr>
        <p:spPr>
          <a:xfrm>
            <a:off x="11109960" y="2788920"/>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£0.79</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41" name="Shape 39"/>
          <p:cNvSpPr/>
          <p:nvPr/>
        </p:nvSpPr>
        <p:spPr>
          <a:xfrm>
            <a:off x="457200" y="3300984"/>
            <a:ext cx="11274552" cy="201168"/>
          </a:xfrm>
          <a:prstGeom prst="roundRect">
            <a:avLst>
              <a:gd name="adj" fmla="val 22727"/>
            </a:avLst>
          </a:prstGeom>
          <a:solidFill>
            <a:srgbClr val="E8F1FA"/>
          </a:solidFill>
          <a:ln/>
        </p:spPr>
      </p:sp>
      <p:sp>
        <p:nvSpPr>
          <p:cNvPr id="42" name="Text 40"/>
          <p:cNvSpPr/>
          <p:nvPr/>
        </p:nvSpPr>
        <p:spPr>
          <a:xfrm>
            <a:off x="658368" y="33009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3" name="Text 41"/>
          <p:cNvSpPr/>
          <p:nvPr/>
        </p:nvSpPr>
        <p:spPr>
          <a:xfrm>
            <a:off x="9144000" y="33009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£1.95/part</a:t>
            </a:r>
            <a:endParaRPr lang="en-US" sz="800" dirty="0"/>
          </a:p>
        </p:txBody>
      </p:sp>
      <p:sp>
        <p:nvSpPr>
          <p:cNvPr id="44" name="Shape 42"/>
          <p:cNvSpPr/>
          <p:nvPr/>
        </p:nvSpPr>
        <p:spPr>
          <a:xfrm>
            <a:off x="457200" y="3534156"/>
            <a:ext cx="11274552" cy="224028"/>
          </a:xfrm>
          <a:prstGeom prst="rect">
            <a:avLst/>
          </a:prstGeom>
          <a:solidFill>
            <a:srgbClr val="FFFFFF"/>
          </a:solidFill>
          <a:ln/>
        </p:spPr>
      </p:sp>
      <p:sp>
        <p:nvSpPr>
          <p:cNvPr id="45" name="Text 43"/>
          <p:cNvSpPr/>
          <p:nvPr/>
        </p:nvSpPr>
        <p:spPr>
          <a:xfrm>
            <a:off x="658368" y="35387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4</a:t>
            </a:r>
            <a:endParaRPr lang="en-US" sz="840" dirty="0"/>
          </a:p>
        </p:txBody>
      </p:sp>
      <p:sp>
        <p:nvSpPr>
          <p:cNvPr id="46" name="Text 44"/>
          <p:cNvSpPr/>
          <p:nvPr/>
        </p:nvSpPr>
        <p:spPr>
          <a:xfrm>
            <a:off x="1143000" y="35387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47" name="Text 45"/>
          <p:cNvSpPr/>
          <p:nvPr/>
        </p:nvSpPr>
        <p:spPr>
          <a:xfrm>
            <a:off x="4480560" y="35387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66% of the conversion cost</a:t>
            </a:r>
            <a:endParaRPr lang="en-US" sz="800" dirty="0"/>
          </a:p>
        </p:txBody>
      </p:sp>
      <p:sp>
        <p:nvSpPr>
          <p:cNvPr id="48" name="Text 46"/>
          <p:cNvSpPr/>
          <p:nvPr/>
        </p:nvSpPr>
        <p:spPr>
          <a:xfrm>
            <a:off x="9281160" y="35387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£1.95</a:t>
            </a:r>
            <a:endParaRPr lang="en-US" sz="900" dirty="0"/>
          </a:p>
        </p:txBody>
      </p:sp>
      <p:sp>
        <p:nvSpPr>
          <p:cNvPr id="49" name="Text 47"/>
          <p:cNvSpPr/>
          <p:nvPr/>
        </p:nvSpPr>
        <p:spPr>
          <a:xfrm>
            <a:off x="10287000" y="35387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50" name="Text 48"/>
          <p:cNvSpPr/>
          <p:nvPr/>
        </p:nvSpPr>
        <p:spPr>
          <a:xfrm>
            <a:off x="11109960" y="35387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45.9% of the part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£1.95</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57" name="Shape 55"/>
          <p:cNvSpPr/>
          <p:nvPr/>
        </p:nvSpPr>
        <p:spPr>
          <a:xfrm>
            <a:off x="457200" y="3991356"/>
            <a:ext cx="11274552" cy="224028"/>
          </a:xfrm>
          <a:prstGeom prst="rect">
            <a:avLst/>
          </a:prstGeom>
          <a:solidFill>
            <a:srgbClr val="FFFFFF"/>
          </a:solidFill>
          <a:ln/>
        </p:spPr>
      </p:sp>
      <p:sp>
        <p:nvSpPr>
          <p:cNvPr id="58" name="Text 56"/>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6</a:t>
            </a:r>
            <a:endParaRPr lang="en-US" sz="840" dirty="0"/>
          </a:p>
        </p:txBody>
      </p:sp>
      <p:sp>
        <p:nvSpPr>
          <p:cNvPr id="59" name="Text 57"/>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0" name="Text 58"/>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23.2%, OEE 85% — the classic profile</a:t>
            </a:r>
            <a:endParaRPr lang="en-US" sz="800" dirty="0"/>
          </a:p>
        </p:txBody>
      </p:sp>
      <p:sp>
        <p:nvSpPr>
          <p:cNvPr id="61" name="Text 59"/>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£1.46</a:t>
            </a:r>
            <a:endParaRPr lang="en-US" sz="900" dirty="0"/>
          </a:p>
        </p:txBody>
      </p:sp>
      <p:sp>
        <p:nvSpPr>
          <p:cNvPr id="62" name="Text 60"/>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a:t>
            </a:r>
            <a:endParaRPr lang="en-US" sz="800" dirty="0"/>
          </a:p>
        </p:txBody>
      </p:sp>
      <p:sp>
        <p:nvSpPr>
          <p:cNvPr id="63" name="Text 61"/>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99651A"/>
                </a:solidFill>
                <a:latin typeface="Calibri" pitchFamily="34" charset="0"/>
                <a:ea typeface="Calibri" pitchFamily="34" charset="-122"/>
                <a:cs typeface="Calibri" pitchFamily="34" charset="-120"/>
              </a:rPr>
              <a:t>Medium term</a:t>
            </a:r>
            <a:endParaRPr lang="en-US" sz="800" dirty="0"/>
          </a:p>
        </p:txBody>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£1.22</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70" name="Shape 68"/>
          <p:cNvSpPr/>
          <p:nvPr/>
        </p:nvSpPr>
        <p:spPr>
          <a:xfrm>
            <a:off x="457200" y="4507992"/>
            <a:ext cx="11274552" cy="201168"/>
          </a:xfrm>
          <a:prstGeom prst="roundRect">
            <a:avLst>
              <a:gd name="adj" fmla="val 22727"/>
            </a:avLst>
          </a:prstGeom>
          <a:solidFill>
            <a:srgbClr val="F1EBF8"/>
          </a:solidFill>
          <a:ln/>
        </p:spPr>
      </p:sp>
      <p:sp>
        <p:nvSpPr>
          <p:cNvPr id="71" name="Text 69"/>
          <p:cNvSpPr/>
          <p:nvPr/>
        </p:nvSpPr>
        <p:spPr>
          <a:xfrm>
            <a:off x="658368" y="45079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2" name="Text 70"/>
          <p:cNvSpPr/>
          <p:nvPr/>
        </p:nvSpPr>
        <p:spPr>
          <a:xfrm>
            <a:off x="9144000" y="45079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£1.22/part</a:t>
            </a:r>
            <a:endParaRPr lang="en-US" sz="800" dirty="0"/>
          </a:p>
        </p:txBody>
      </p:sp>
      <p:sp>
        <p:nvSpPr>
          <p:cNvPr id="73" name="Shape 71"/>
          <p:cNvSpPr/>
          <p:nvPr/>
        </p:nvSpPr>
        <p:spPr>
          <a:xfrm>
            <a:off x="457200" y="4741164"/>
            <a:ext cx="11274552" cy="224028"/>
          </a:xfrm>
          <a:prstGeom prst="rect">
            <a:avLst/>
          </a:prstGeom>
          <a:solidFill>
            <a:srgbClr val="FFFFFF"/>
          </a:solidFill>
          <a:ln/>
        </p:spPr>
      </p:sp>
      <p:sp>
        <p:nvSpPr>
          <p:cNvPr id="74" name="Text 72"/>
          <p:cNvSpPr/>
          <p:nvPr/>
        </p:nvSpPr>
        <p:spPr>
          <a:xfrm>
            <a:off x="658368" y="47457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8</a:t>
            </a:r>
            <a:endParaRPr lang="en-US" sz="840" dirty="0"/>
          </a:p>
        </p:txBody>
      </p:sp>
      <p:sp>
        <p:nvSpPr>
          <p:cNvPr id="75" name="Text 73"/>
          <p:cNvSpPr/>
          <p:nvPr/>
        </p:nvSpPr>
        <p:spPr>
          <a:xfrm>
            <a:off x="1143000" y="47457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76" name="Text 74"/>
          <p:cNvSpPr/>
          <p:nvPr/>
        </p:nvSpPr>
        <p:spPr>
          <a:xfrm>
            <a:off x="4480560" y="47457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77" name="Text 75"/>
          <p:cNvSpPr/>
          <p:nvPr/>
        </p:nvSpPr>
        <p:spPr>
          <a:xfrm>
            <a:off x="9281160" y="47457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£1.22</a:t>
            </a:r>
            <a:endParaRPr lang="en-US" sz="900" dirty="0"/>
          </a:p>
        </p:txBody>
      </p:sp>
      <p:sp>
        <p:nvSpPr>
          <p:cNvPr id="78" name="Text 76"/>
          <p:cNvSpPr/>
          <p:nvPr/>
        </p:nvSpPr>
        <p:spPr>
          <a:xfrm>
            <a:off x="10287000" y="47457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79" name="Text 77"/>
          <p:cNvSpPr/>
          <p:nvPr/>
        </p:nvSpPr>
        <p:spPr>
          <a:xfrm>
            <a:off x="11109960" y="47457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86F7D"/>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A7F50"/>
                </a:solidFill>
                <a:latin typeface="Calibri" pitchFamily="34" charset="0"/>
                <a:ea typeface="Calibri" pitchFamily="34" charset="-122"/>
                <a:cs typeface="Calibri" pitchFamily="34" charset="-120"/>
              </a:rPr>
              <a:t>£0.97</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A7F50"/>
                </a:solidFill>
                <a:latin typeface="Calibri" pitchFamily="34" charset="0"/>
                <a:ea typeface="Calibri" pitchFamily="34" charset="-122"/>
                <a:cs typeface="Calibri" pitchFamily="34" charset="-120"/>
              </a:rPr>
              <a:t>Quick win</a:t>
            </a:r>
            <a:endParaRPr lang="en-US" sz="800" dirty="0"/>
          </a:p>
        </p:txBody>
      </p:sp>
      <p:sp>
        <p:nvSpPr>
          <p:cNvPr id="86" name="Shape 84"/>
          <p:cNvSpPr/>
          <p:nvPr/>
        </p:nvSpPr>
        <p:spPr>
          <a:xfrm>
            <a:off x="457200" y="5614416"/>
            <a:ext cx="11274552" cy="694944"/>
          </a:xfrm>
          <a:prstGeom prst="roundRect">
            <a:avLst>
              <a:gd name="adj" fmla="val 13158"/>
            </a:avLst>
          </a:prstGeom>
          <a:solidFill>
            <a:srgbClr val="16325C"/>
          </a:solidFill>
          <a:ln/>
        </p:spPr>
      </p:sp>
      <p:sp>
        <p:nvSpPr>
          <p:cNvPr id="87" name="Text 85"/>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Nine things to do, what each is worth, the risk and how long it takes — deterministic findings, presented as work rather than as a verdict.</a:t>
            </a:r>
            <a:endParaRPr lang="en-US" sz="1150" dirty="0"/>
          </a:p>
        </p:txBody>
      </p:sp>
      <p:sp>
        <p:nvSpPr>
          <p:cNvPr id="88" name="Text 8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89" name="Text 8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56</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A CAD file, or a typed commodity form</a:t>
            </a:r>
            <a:endParaRPr lang="en-US" sz="75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the file</a:t>
            </a:r>
            <a:endParaRPr lang="en-US" sz="75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STEP · IGES · STL · DXF</a:t>
            </a:r>
            <a:endParaRPr lang="en-US" sz="75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99651A"/>
            </a:solidFill>
            <a:prstDash val="solid"/>
          </a:ln>
        </p:spPr>
      </p:sp>
      <p:sp>
        <p:nvSpPr>
          <p:cNvPr id="15" name="Shape 13"/>
          <p:cNvSpPr/>
          <p:nvPr/>
        </p:nvSpPr>
        <p:spPr>
          <a:xfrm>
            <a:off x="2039112" y="1033272"/>
            <a:ext cx="256032" cy="256032"/>
          </a:xfrm>
          <a:prstGeom prst="ellipse">
            <a:avLst/>
          </a:prstGeom>
          <a:solidFill>
            <a:srgbClr val="99651A"/>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The Python kernel measures the solid</a:t>
            </a:r>
            <a:endParaRPr lang="en-US" sz="75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OCCTGeometry</a:t>
            </a:r>
            <a:endParaRPr lang="en-US" sz="75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size, walls, holes, draft</a:t>
            </a:r>
            <a:endParaRPr lang="en-US" sz="75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D7D71"/>
            </a:solidFill>
            <a:prstDash val="solid"/>
          </a:ln>
        </p:spPr>
      </p:sp>
      <p:sp>
        <p:nvSpPr>
          <p:cNvPr id="24" name="Shape 22"/>
          <p:cNvSpPr/>
          <p:nvPr/>
        </p:nvSpPr>
        <p:spPr>
          <a:xfrm>
            <a:off x="3209544" y="1033272"/>
            <a:ext cx="256032" cy="256032"/>
          </a:xfrm>
          <a:prstGeom prst="ellipse">
            <a:avLst/>
          </a:prstGeom>
          <a:solidFill>
            <a:srgbClr val="0D7D71"/>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D7D71"/>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Rules turn measurements into cost inputs</a:t>
            </a:r>
            <a:endParaRPr lang="en-US" sz="75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cost inputs</a:t>
            </a:r>
            <a:endParaRPr lang="en-US" sz="75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material, operations, tooling</a:t>
            </a:r>
            <a:endParaRPr lang="en-US" sz="750" dirty="0"/>
          </a:p>
        </p:txBody>
      </p:sp>
      <p:sp>
        <p:nvSpPr>
          <p:cNvPr id="32" name="Shape 30"/>
          <p:cNvSpPr/>
          <p:nvPr/>
        </p:nvSpPr>
        <p:spPr>
          <a:xfrm>
            <a:off x="3913632" y="1709928"/>
            <a:ext cx="201168" cy="0"/>
          </a:xfrm>
          <a:prstGeom prst="line">
            <a:avLst/>
          </a:prstGeom>
          <a:noFill/>
          <a:ln w="31750">
            <a:solidFill>
              <a:srgbClr val="0D7D71"/>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D7D71"/>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750" i="1" dirty="0">
                <a:solidFill>
                  <a:srgbClr val="16325C"/>
                </a:solidFill>
                <a:latin typeface="Calibri" pitchFamily="34" charset="0"/>
                <a:ea typeface="Calibri" pitchFamily="34" charset="-122"/>
                <a:cs typeface="Calibri" pitchFamily="34" charset="-120"/>
              </a:rPr>
              <a:t>TypeScript · ~30,500 lines · 2,438 tests · runs in browser and server</a:t>
            </a:r>
            <a:endParaRPr lang="en-US" sz="750" dirty="0"/>
          </a:p>
        </p:txBody>
      </p:sp>
      <p:sp>
        <p:nvSpPr>
          <p:cNvPr id="36" name="Shape 34"/>
          <p:cNvSpPr/>
          <p:nvPr/>
        </p:nvSpPr>
        <p:spPr>
          <a:xfrm>
            <a:off x="4279392" y="1444752"/>
            <a:ext cx="64008" cy="64008"/>
          </a:xfrm>
          <a:prstGeom prst="ellipse">
            <a:avLst/>
          </a:prstGeom>
          <a:solidFill>
            <a:srgbClr val="0D7D71"/>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core.ts: the 8 cost buckets</a:t>
            </a:r>
            <a:endParaRPr lang="en-US" sz="750" dirty="0"/>
          </a:p>
        </p:txBody>
      </p:sp>
      <p:sp>
        <p:nvSpPr>
          <p:cNvPr id="38" name="Shape 36"/>
          <p:cNvSpPr/>
          <p:nvPr/>
        </p:nvSpPr>
        <p:spPr>
          <a:xfrm>
            <a:off x="6126480" y="1444752"/>
            <a:ext cx="64008" cy="64008"/>
          </a:xfrm>
          <a:prstGeom prst="ellipse">
            <a:avLst/>
          </a:prstGeom>
          <a:solidFill>
            <a:srgbClr val="0D7D71"/>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19 commodity modules</a:t>
            </a:r>
            <a:endParaRPr lang="en-US" sz="750" dirty="0"/>
          </a:p>
        </p:txBody>
      </p:sp>
      <p:sp>
        <p:nvSpPr>
          <p:cNvPr id="40" name="Shape 38"/>
          <p:cNvSpPr/>
          <p:nvPr/>
        </p:nvSpPr>
        <p:spPr>
          <a:xfrm>
            <a:off x="4279392" y="1613916"/>
            <a:ext cx="64008" cy="64008"/>
          </a:xfrm>
          <a:prstGeom prst="ellipse">
            <a:avLst/>
          </a:prstGeom>
          <a:solidFill>
            <a:srgbClr val="0D7D71"/>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Optimisers pick the machine</a:t>
            </a:r>
            <a:endParaRPr lang="en-US" sz="750" dirty="0"/>
          </a:p>
        </p:txBody>
      </p:sp>
      <p:sp>
        <p:nvSpPr>
          <p:cNvPr id="42" name="Shape 40"/>
          <p:cNvSpPr/>
          <p:nvPr/>
        </p:nvSpPr>
        <p:spPr>
          <a:xfrm>
            <a:off x="6126480" y="1613916"/>
            <a:ext cx="64008" cy="64008"/>
          </a:xfrm>
          <a:prstGeom prst="ellipse">
            <a:avLst/>
          </a:prstGeom>
          <a:solidFill>
            <a:srgbClr val="0D7D71"/>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Guardrails check every number</a:t>
            </a:r>
            <a:endParaRPr lang="en-US" sz="7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D7D71"/>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HANDS ON  </a:t>
            </a:r>
            <a:pPr indent="0" marL="0">
              <a:buNone/>
            </a:pPr>
            <a:r>
              <a:rPr lang="en-US" sz="750" b="1" dirty="0">
                <a:solidFill>
                  <a:srgbClr val="16325C"/>
                </a:solidFill>
                <a:latin typeface="Consolas" pitchFamily="34" charset="0"/>
                <a:ea typeface="Consolas" pitchFamily="34" charset="-122"/>
                <a:cs typeface="Consolas" pitchFamily="34" charset="-120"/>
              </a:rPr>
              <a:t>PartCostResult</a:t>
            </a:r>
            <a:pPr indent="0" marL="0">
              <a:buNone/>
            </a:pPr>
            <a:r>
              <a:rPr lang="en-US" sz="750" dirty="0">
                <a:solidFill>
                  <a:srgbClr val="3A4356"/>
                </a:solidFill>
                <a:latin typeface="Calibri" pitchFamily="34" charset="0"/>
                <a:ea typeface="Calibri" pitchFamily="34" charset="-122"/>
                <a:cs typeface="Calibri" pitchFamily="34" charset="-120"/>
              </a:rPr>
              <a:t>  — 8 buckets + where each number came from</a:t>
            </a:r>
            <a:endParaRPr lang="en-US" sz="75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750" dirty="0"/>
          </a:p>
        </p:txBody>
      </p:sp>
      <p:sp>
        <p:nvSpPr>
          <p:cNvPr id="48" name="Shape 46"/>
          <p:cNvSpPr/>
          <p:nvPr/>
        </p:nvSpPr>
        <p:spPr>
          <a:xfrm>
            <a:off x="8083296" y="1709928"/>
            <a:ext cx="201168" cy="0"/>
          </a:xfrm>
          <a:prstGeom prst="line">
            <a:avLst/>
          </a:prstGeom>
          <a:noFill/>
          <a:ln w="31750">
            <a:solidFill>
              <a:srgbClr val="0D7D71"/>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99651A"/>
            </a:solidFill>
            <a:prstDash val="solid"/>
          </a:ln>
        </p:spPr>
      </p:sp>
      <p:sp>
        <p:nvSpPr>
          <p:cNvPr id="50" name="Shape 48"/>
          <p:cNvSpPr/>
          <p:nvPr/>
        </p:nvSpPr>
        <p:spPr>
          <a:xfrm>
            <a:off x="8714232" y="1033272"/>
            <a:ext cx="256032" cy="256032"/>
          </a:xfrm>
          <a:prstGeom prst="ellipse">
            <a:avLst/>
          </a:prstGeom>
          <a:solidFill>
            <a:srgbClr val="99651A"/>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99651A"/>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Guardrails, self-audit and the confidence band</a:t>
            </a:r>
            <a:endParaRPr lang="en-US" sz="75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a checked cost</a:t>
            </a:r>
            <a:endParaRPr lang="en-US" sz="75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plus any warnings</a:t>
            </a:r>
            <a:endParaRPr lang="en-US" sz="75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A7F50"/>
            </a:solidFill>
            <a:prstDash val="solid"/>
          </a:ln>
        </p:spPr>
      </p:sp>
      <p:sp>
        <p:nvSpPr>
          <p:cNvPr id="59" name="Shape 57"/>
          <p:cNvSpPr/>
          <p:nvPr/>
        </p:nvSpPr>
        <p:spPr>
          <a:xfrm>
            <a:off x="9884664" y="1033272"/>
            <a:ext cx="256032" cy="256032"/>
          </a:xfrm>
          <a:prstGeom prst="ellipse">
            <a:avLst/>
          </a:prstGeom>
          <a:solidFill>
            <a:srgbClr val="2A7F50"/>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A7F50"/>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Findings become savings, ranked by money</a:t>
            </a:r>
            <a:endParaRPr lang="en-US" sz="75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ranked ideas</a:t>
            </a:r>
            <a:endParaRPr lang="en-US" sz="75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what to do, what it is worth</a:t>
            </a:r>
            <a:endParaRPr lang="en-US" sz="75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Saved locally; reports made in the browser</a:t>
            </a:r>
            <a:endParaRPr lang="en-US" sz="75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750" b="1" spc="30" kern="0" dirty="0">
                <a:solidFill>
                  <a:srgbClr val="686F7D"/>
                </a:solidFill>
                <a:latin typeface="Calibri" pitchFamily="34" charset="0"/>
                <a:ea typeface="Calibri" pitchFamily="34" charset="-122"/>
                <a:cs typeface="Calibri" pitchFamily="34" charset="-120"/>
              </a:rPr>
              <a:t>HANDS ON</a:t>
            </a:r>
            <a:endParaRPr lang="en-US" sz="75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750" b="1" dirty="0">
                <a:solidFill>
                  <a:srgbClr val="16325C"/>
                </a:solidFill>
                <a:latin typeface="Calibri" pitchFamily="34" charset="0"/>
                <a:ea typeface="Calibri" pitchFamily="34" charset="-122"/>
                <a:cs typeface="Calibri" pitchFamily="34" charset="-120"/>
              </a:rPr>
              <a:t>SQLite</a:t>
            </a:r>
            <a:endParaRPr lang="en-US" sz="75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750" dirty="0">
                <a:solidFill>
                  <a:srgbClr val="3A4356"/>
                </a:solidFill>
                <a:latin typeface="Calibri" pitchFamily="34" charset="0"/>
                <a:ea typeface="Calibri" pitchFamily="34" charset="-122"/>
                <a:cs typeface="Calibri" pitchFamily="34" charset="-120"/>
              </a:rPr>
              <a:t>14 tables · PDF · Excel</a:t>
            </a:r>
            <a:endParaRPr lang="en-US" sz="75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50" b="1" spc="40" kern="0" dirty="0">
                <a:solidFill>
                  <a:srgbClr val="686F7D"/>
                </a:solidFill>
                <a:latin typeface="Calibri" pitchFamily="34" charset="0"/>
                <a:ea typeface="Calibri" pitchFamily="34" charset="-122"/>
                <a:cs typeface="Calibri" pitchFamily="34" charset="-120"/>
              </a:rPr>
              <a:t>WHAT IS INSIDE EACH PARCEL</a:t>
            </a:r>
            <a:endParaRPr lang="en-US" sz="75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OCCTGeometry</a:t>
            </a:r>
            <a:endParaRPr lang="en-US" sz="75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75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UniversalStackInput</a:t>
            </a:r>
            <a:endParaRPr lang="en-US" sz="75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75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PartCostResult</a:t>
            </a:r>
            <a:endParaRPr lang="en-US" sz="75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75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750" b="1" dirty="0">
                <a:solidFill>
                  <a:srgbClr val="16325C"/>
                </a:solidFill>
                <a:latin typeface="Consolas" pitchFamily="34" charset="0"/>
                <a:ea typeface="Consolas" pitchFamily="34" charset="-122"/>
                <a:cs typeface="Consolas" pitchFamily="34" charset="-120"/>
              </a:rPr>
              <a:t>RankedOpportunities</a:t>
            </a:r>
            <a:endParaRPr lang="en-US" sz="75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75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Geometry kernel</a:t>
            </a:r>
            <a:endParaRPr lang="en-US" sz="75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Python 3 + Open CASCADE (via OCP)</a:t>
            </a:r>
            <a:endParaRPr lang="en-US" sz="75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~2,500</a:t>
            </a:r>
            <a:endParaRPr lang="en-US" sz="75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LGPL-2.1 + exc. / Apache-2.0</a:t>
            </a:r>
            <a:endParaRPr lang="en-US" sz="75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3D viewer</a:t>
            </a:r>
            <a:endParaRPr lang="en-US" sz="75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three.js (WebGL)</a:t>
            </a:r>
            <a:endParaRPr lang="en-US" sz="75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~2,200</a:t>
            </a:r>
            <a:endParaRPr lang="en-US" sz="75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 engine (core + 19 modules)</a:t>
            </a:r>
            <a:endParaRPr lang="en-US" sz="75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no framework</a:t>
            </a:r>
            <a:endParaRPr lang="en-US" sz="75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~30,500</a:t>
            </a:r>
            <a:endParaRPr lang="en-US" sz="75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Cost-input rules (13 commodities)</a:t>
            </a:r>
            <a:endParaRPr lang="en-US" sz="75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~8,900</a:t>
            </a:r>
            <a:endParaRPr lang="en-US" sz="75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Optimisers + DFM / idea levers</a:t>
            </a:r>
            <a:endParaRPr lang="en-US" sz="75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inside the engine</a:t>
            </a:r>
            <a:endParaRPr lang="en-US" sz="75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Guardrails + self-audit</a:t>
            </a:r>
            <a:endParaRPr lang="en-US" sz="75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(engine + server)</a:t>
            </a:r>
            <a:endParaRPr lang="en-US" sz="75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code</a:t>
            </a:r>
            <a:endParaRPr lang="en-US" sz="75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Rate library — 20 regions</a:t>
            </a:r>
            <a:endParaRPr lang="en-US" sz="75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data files, in git</a:t>
            </a:r>
            <a:endParaRPr lang="en-US" sz="75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in engine</a:t>
            </a:r>
            <a:endParaRPr lang="en-US" sz="75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our own data</a:t>
            </a:r>
            <a:endParaRPr lang="en-US" sz="75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Server + database</a:t>
            </a:r>
            <a:endParaRPr lang="en-US" sz="75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Express + SQLite</a:t>
            </a:r>
            <a:endParaRPr lang="en-US" sz="75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~17,300</a:t>
            </a:r>
            <a:endParaRPr lang="en-US" sz="75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Localhost only</a:t>
            </a:r>
            <a:endParaRPr lang="en-US" sz="75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AI — OFF AT JLR (optional)</a:t>
            </a:r>
            <a:endParaRPr lang="en-US" sz="75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Anthropic SDK</a:t>
            </a:r>
            <a:endParaRPr lang="en-US" sz="75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a:t>
            </a:r>
            <a:endParaRPr lang="en-US" sz="75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SDK free · API paid per token</a:t>
            </a:r>
            <a:endParaRPr lang="en-US" sz="75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50" b="1" dirty="0">
                <a:solidFill>
                  <a:srgbClr val="6B3FA0"/>
                </a:solidFill>
                <a:latin typeface="Calibri" pitchFamily="34" charset="0"/>
                <a:ea typeface="Calibri" pitchFamily="34" charset="-122"/>
                <a:cs typeface="Calibri" pitchFamily="34" charset="-120"/>
              </a:rPr>
              <a:t>Only if switched on</a:t>
            </a:r>
            <a:endParaRPr lang="en-US" sz="75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16325C"/>
                </a:solidFill>
                <a:latin typeface="Calibri" pitchFamily="34" charset="0"/>
                <a:ea typeface="Calibri" pitchFamily="34" charset="-122"/>
                <a:cs typeface="Calibri" pitchFamily="34" charset="-120"/>
              </a:rPr>
              <a:t>Automated tests</a:t>
            </a:r>
            <a:endParaRPr lang="en-US" sz="75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TypeScript · Vitest</a:t>
            </a:r>
            <a:endParaRPr lang="en-US" sz="75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50" i="1" dirty="0">
                <a:solidFill>
                  <a:srgbClr val="3A4356"/>
                </a:solidFill>
                <a:latin typeface="Calibri" pitchFamily="34" charset="0"/>
                <a:ea typeface="Calibri" pitchFamily="34" charset="-122"/>
                <a:cs typeface="Calibri" pitchFamily="34" charset="-120"/>
              </a:rPr>
              <a:t>~28,300</a:t>
            </a:r>
            <a:endParaRPr lang="en-US" sz="75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50" dirty="0">
                <a:solidFill>
                  <a:srgbClr val="3A4356"/>
                </a:solidFill>
                <a:latin typeface="Calibri" pitchFamily="34" charset="0"/>
                <a:ea typeface="Calibri" pitchFamily="34" charset="-122"/>
                <a:cs typeface="Calibri" pitchFamily="34" charset="-120"/>
              </a:rPr>
              <a:t>Yes — MIT</a:t>
            </a:r>
            <a:endParaRPr lang="en-US" sz="75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50" b="1" dirty="0">
                <a:solidFill>
                  <a:srgbClr val="2A7F50"/>
                </a:solidFill>
                <a:latin typeface="Calibri" pitchFamily="34" charset="0"/>
                <a:ea typeface="Calibri" pitchFamily="34" charset="-122"/>
                <a:cs typeface="Calibri" pitchFamily="34" charset="-120"/>
              </a:rPr>
              <a:t>No</a:t>
            </a:r>
            <a:endParaRPr lang="en-US" sz="75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750" i="1" dirty="0">
                <a:solidFill>
                  <a:srgbClr val="686F7D"/>
                </a:solidFill>
                <a:latin typeface="Calibri" pitchFamily="34" charset="0"/>
                <a:ea typeface="Calibri" pitchFamily="34" charset="-122"/>
                <a:cs typeface="Calibri" pitchFamily="34" charset="-120"/>
              </a:rPr>
              <a:t>Approximate line counts, measured from the repository on 28 Sep 2026. Licences as published by each project — worth a formal review before distribution outside the company.</a:t>
            </a:r>
            <a:endParaRPr lang="en-US" sz="75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50" b="1" dirty="0">
                <a:solidFill>
                  <a:srgbClr val="6B3FA0"/>
                </a:solidFill>
                <a:latin typeface="Calibri" pitchFamily="34" charset="0"/>
                <a:ea typeface="Calibri" pitchFamily="34" charset="-122"/>
                <a:cs typeface="Calibri" pitchFamily="34" charset="-120"/>
              </a:rPr>
              <a:t>API calls</a:t>
            </a:r>
            <a:endParaRPr lang="en-US" sz="75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at JLR</a:t>
            </a:r>
            <a:endParaRPr lang="en-US" sz="75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The optional AI is off (AIR_GAPPED=1). The costing path never calls out.</a:t>
            </a:r>
            <a:endParaRPr lang="en-US" sz="750" dirty="0"/>
          </a:p>
        </p:txBody>
      </p:sp>
      <p:sp>
        <p:nvSpPr>
          <p:cNvPr id="148" name="Shape 146"/>
          <p:cNvSpPr/>
          <p:nvPr/>
        </p:nvSpPr>
        <p:spPr>
          <a:xfrm>
            <a:off x="621792" y="6044184"/>
            <a:ext cx="73152" cy="73152"/>
          </a:xfrm>
          <a:prstGeom prst="ellipse">
            <a:avLst/>
          </a:prstGeom>
          <a:solidFill>
            <a:srgbClr val="2A7F50"/>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50" b="1" dirty="0">
                <a:solidFill>
                  <a:srgbClr val="2A7F50"/>
                </a:solidFill>
                <a:latin typeface="Calibri" pitchFamily="34" charset="0"/>
                <a:ea typeface="Calibri" pitchFamily="34" charset="-122"/>
                <a:cs typeface="Calibri" pitchFamily="34" charset="-120"/>
              </a:rPr>
              <a:t>KPI calls</a:t>
            </a:r>
            <a:endParaRPr lang="en-US" sz="75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Not one.</a:t>
            </a:r>
            <a:endParaRPr lang="en-US" sz="75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750" dirty="0"/>
          </a:p>
        </p:txBody>
      </p:sp>
      <p:sp>
        <p:nvSpPr>
          <p:cNvPr id="152" name="Shape 150"/>
          <p:cNvSpPr/>
          <p:nvPr/>
        </p:nvSpPr>
        <p:spPr>
          <a:xfrm>
            <a:off x="6245352" y="5751576"/>
            <a:ext cx="73152" cy="73152"/>
          </a:xfrm>
          <a:prstGeom prst="ellipse">
            <a:avLst/>
          </a:prstGeom>
          <a:solidFill>
            <a:srgbClr val="99651A"/>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50" b="1" dirty="0">
                <a:solidFill>
                  <a:srgbClr val="99651A"/>
                </a:solidFill>
                <a:latin typeface="Calibri" pitchFamily="34" charset="0"/>
                <a:ea typeface="Calibri" pitchFamily="34" charset="-122"/>
                <a:cs typeface="Calibri" pitchFamily="34" charset="-120"/>
              </a:rPr>
              <a:t>Error telemetry</a:t>
            </a:r>
            <a:endParaRPr lang="en-US" sz="75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Yes — stays in-house</a:t>
            </a:r>
            <a:endParaRPr lang="en-US" sz="75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Uncaught errors go to YOUR server’s log. No Sentry, no analytics, no third party.</a:t>
            </a:r>
            <a:endParaRPr lang="en-US" sz="750" dirty="0"/>
          </a:p>
        </p:txBody>
      </p:sp>
      <p:sp>
        <p:nvSpPr>
          <p:cNvPr id="156" name="Shape 154"/>
          <p:cNvSpPr/>
          <p:nvPr/>
        </p:nvSpPr>
        <p:spPr>
          <a:xfrm>
            <a:off x="6245352" y="6044184"/>
            <a:ext cx="73152" cy="73152"/>
          </a:xfrm>
          <a:prstGeom prst="ellipse">
            <a:avLst/>
          </a:prstGeom>
          <a:solidFill>
            <a:srgbClr val="686F7D"/>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50" b="1" dirty="0">
                <a:solidFill>
                  <a:srgbClr val="686F7D"/>
                </a:solidFill>
                <a:latin typeface="Calibri" pitchFamily="34" charset="0"/>
                <a:ea typeface="Calibri" pitchFamily="34" charset="-122"/>
                <a:cs typeface="Calibri" pitchFamily="34" charset="-120"/>
              </a:rPr>
              <a:t>Optional feeds</a:t>
            </a:r>
            <a:endParaRPr lang="en-US" sz="75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50" b="1" dirty="0">
                <a:solidFill>
                  <a:srgbClr val="16325C"/>
                </a:solidFill>
                <a:latin typeface="Calibri" pitchFamily="34" charset="0"/>
                <a:ea typeface="Calibri" pitchFamily="34" charset="-122"/>
                <a:cs typeface="Calibri" pitchFamily="34" charset="-120"/>
              </a:rPr>
              <a:t>None price a part</a:t>
            </a:r>
            <a:endParaRPr lang="en-US" sz="75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750" dirty="0">
                <a:solidFill>
                  <a:srgbClr val="3A4356"/>
                </a:solidFill>
                <a:latin typeface="Calibri" pitchFamily="34" charset="0"/>
                <a:ea typeface="Calibri" pitchFamily="34" charset="-122"/>
                <a:cs typeface="Calibri" pitchFamily="34" charset="-120"/>
              </a:rPr>
              <a:t>PCB live prices (off) · news (needs internet) · dashboard ticker (indicative, simulated).</a:t>
            </a:r>
            <a:endParaRPr lang="en-US" sz="7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57</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86F7D"/>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99651A"/>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99651A"/>
            </a:solidFill>
            <a:prstDash val="solid"/>
          </a:ln>
        </p:spPr>
      </p:sp>
      <p:sp>
        <p:nvSpPr>
          <p:cNvPr id="8" name="Shape 6"/>
          <p:cNvSpPr/>
          <p:nvPr/>
        </p:nvSpPr>
        <p:spPr>
          <a:xfrm>
            <a:off x="457200" y="1042416"/>
            <a:ext cx="2139696" cy="384048"/>
          </a:xfrm>
          <a:prstGeom prst="roundRect">
            <a:avLst>
              <a:gd name="adj" fmla="val 21429"/>
            </a:avLst>
          </a:prstGeom>
          <a:solidFill>
            <a:srgbClr val="99651A"/>
          </a:solidFill>
          <a:ln/>
        </p:spPr>
      </p:sp>
      <p:sp>
        <p:nvSpPr>
          <p:cNvPr id="9" name="Shape 7"/>
          <p:cNvSpPr/>
          <p:nvPr/>
        </p:nvSpPr>
        <p:spPr>
          <a:xfrm>
            <a:off x="457200" y="1280160"/>
            <a:ext cx="2139696" cy="146304"/>
          </a:xfrm>
          <a:prstGeom prst="rect">
            <a:avLst/>
          </a:prstGeom>
          <a:solidFill>
            <a:srgbClr val="99651A"/>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99651A"/>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Python kernel → JSON on stdout</a:t>
            </a:r>
            <a:endParaRPr lang="en-US" sz="75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status: success|error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boundingBox: {xMm,yMm,zMm}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volume: {mm3, cm3}</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surfaceArea: {mm2, cm2}</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fillRatio: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topology: {solidCount,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shellCount, voidCount,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enclosesSealedVoid,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openShell}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wallThickness: {minMm,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maxMm, meanMm, p95Mm,</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method, uniformity}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draftAnalysis: {undercut-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FaceCount, minPositive-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DraftDeg,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setupAnalysis: {estimated-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SetupCount, principal-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Directions[]}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cncCycleTimeEstimate: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weights: {aluminiumKg,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featureTable, bendCount, ...</a:t>
            </a:r>
            <a:endParaRPr lang="en-US" sz="75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750" i="1" dirty="0">
                <a:solidFill>
                  <a:srgbClr val="99651A"/>
                </a:solidFill>
                <a:latin typeface="Calibri" pitchFamily="34" charset="0"/>
                <a:ea typeface="Calibri" pitchFamily="34" charset="-122"/>
                <a:cs typeface="Calibri" pitchFamily="34" charset="-120"/>
              </a:rPr>
              <a:t>Measured. Never guessed.</a:t>
            </a:r>
            <a:endParaRPr lang="en-US" sz="75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D7D71"/>
            </a:solidFill>
            <a:prstDash val="solid"/>
          </a:ln>
        </p:spPr>
      </p:sp>
      <p:sp>
        <p:nvSpPr>
          <p:cNvPr id="17" name="Shape 15"/>
          <p:cNvSpPr/>
          <p:nvPr/>
        </p:nvSpPr>
        <p:spPr>
          <a:xfrm>
            <a:off x="2738628" y="1042416"/>
            <a:ext cx="2139696" cy="384048"/>
          </a:xfrm>
          <a:prstGeom prst="roundRect">
            <a:avLst>
              <a:gd name="adj" fmla="val 21429"/>
            </a:avLst>
          </a:prstGeom>
          <a:solidFill>
            <a:srgbClr val="0D7D71"/>
          </a:solidFill>
          <a:ln/>
        </p:spPr>
      </p:sp>
      <p:sp>
        <p:nvSpPr>
          <p:cNvPr id="18" name="Shape 16"/>
          <p:cNvSpPr/>
          <p:nvPr/>
        </p:nvSpPr>
        <p:spPr>
          <a:xfrm>
            <a:off x="2738628" y="1280160"/>
            <a:ext cx="2139696" cy="146304"/>
          </a:xfrm>
          <a:prstGeom prst="rect">
            <a:avLst/>
          </a:prstGeom>
          <a:solidFill>
            <a:srgbClr val="0D7D71"/>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D7D71"/>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rules + engineer answers</a:t>
            </a:r>
            <a:endParaRPr lang="en-US" sz="75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rawMaterial: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netWeightKg: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materialUtilization: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directCost?: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consumablesCostPerPart?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machineId · labourId: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partsPerCycle: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oee · manning: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labourTimeHr, labourEff...</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 {totalToolingCost,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amortizationVolume, mode}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packagingPerPart,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logisticsPerPart, overheadPct,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marginPct, annualVolume?</a:t>
            </a:r>
            <a:endParaRPr lang="en-US" sz="75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750" i="1" dirty="0">
                <a:solidFill>
                  <a:srgbClr val="0D7D71"/>
                </a:solidFill>
                <a:latin typeface="Calibri" pitchFamily="34" charset="0"/>
                <a:ea typeface="Calibri" pitchFamily="34" charset="-122"/>
                <a:cs typeface="Calibri" pitchFamily="34" charset="-120"/>
              </a:rPr>
              <a:t>Geometry wins; engineer fills gaps.</a:t>
            </a:r>
            <a:endParaRPr lang="en-US" sz="75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core.ts :: computeUniversalStack()</a:t>
            </a:r>
            <a:endParaRPr lang="en-US" sz="75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partName: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breakdown: Breakdown8Bucket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rawMaterial · process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 · tooling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packaging · logistics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overhead · margin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operationDetails: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operationName, machineId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processCost, labourCost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machineRateUsed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labourRateUsed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cycleTimeHr, oee, manning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factoryCost · subtotal · total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toolingNRE?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traceability: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field, value, unit,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rateSource, rateId,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confidence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warnings?: string[]</a:t>
            </a:r>
            <a:endParaRPr lang="en-US" sz="75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750" i="1" dirty="0">
                <a:solidFill>
                  <a:srgbClr val="1D6FB8"/>
                </a:solidFill>
                <a:latin typeface="Calibri" pitchFamily="34" charset="0"/>
                <a:ea typeface="Calibri" pitchFamily="34" charset="-122"/>
                <a:cs typeface="Calibri" pitchFamily="34" charset="-120"/>
              </a:rPr>
              <a:t>traceability[] = the printed derivation.</a:t>
            </a:r>
            <a:endParaRPr lang="en-US" sz="75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A7F50"/>
            </a:solidFill>
            <a:prstDash val="solid"/>
          </a:ln>
        </p:spPr>
      </p:sp>
      <p:sp>
        <p:nvSpPr>
          <p:cNvPr id="35" name="Shape 33"/>
          <p:cNvSpPr/>
          <p:nvPr/>
        </p:nvSpPr>
        <p:spPr>
          <a:xfrm>
            <a:off x="7301484" y="1042416"/>
            <a:ext cx="2139696" cy="384048"/>
          </a:xfrm>
          <a:prstGeom prst="roundRect">
            <a:avLst>
              <a:gd name="adj" fmla="val 21429"/>
            </a:avLst>
          </a:prstGeom>
          <a:solidFill>
            <a:srgbClr val="2A7F50"/>
          </a:solidFill>
          <a:ln/>
        </p:spPr>
      </p:sp>
      <p:sp>
        <p:nvSpPr>
          <p:cNvPr id="36" name="Shape 34"/>
          <p:cNvSpPr/>
          <p:nvPr/>
        </p:nvSpPr>
        <p:spPr>
          <a:xfrm>
            <a:off x="7301484" y="1280160"/>
            <a:ext cx="2139696" cy="146304"/>
          </a:xfrm>
          <a:prstGeom prst="rect">
            <a:avLst/>
          </a:prstGeom>
          <a:solidFill>
            <a:srgbClr val="2A7F50"/>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A7F50"/>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dfm-dfa → opportunity-ranking</a:t>
            </a:r>
            <a:endParaRPr lang="en-US" sz="75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groups: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category: LeverCategory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label: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opportunities: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action: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basis: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detail?: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savingPct: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savingPerPart: number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risk · timeframe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owner?: design|supplier|</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sourcing|assumption</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signal: string</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groupSavingPerPart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topSavingPerPart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all: RankedOpportunity[]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verificationChecks: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headlineSavingPct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headlineSavingPerPart · partTotal</a:t>
            </a:r>
            <a:endParaRPr lang="en-US" sz="75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750" i="1" dirty="0">
                <a:solidFill>
                  <a:srgbClr val="2A7F50"/>
                </a:solidFill>
                <a:latin typeface="Calibri" pitchFamily="34" charset="0"/>
                <a:ea typeface="Calibri" pitchFamily="34" charset="-122"/>
                <a:cs typeface="Calibri" pitchFamily="34" charset="-120"/>
              </a:rPr>
              <a:t>Ranked by money, never scored.</a:t>
            </a:r>
            <a:endParaRPr lang="en-US" sz="75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14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better-sqlite3 — one file, your server</a:t>
            </a:r>
            <a:endParaRPr lang="en-US" sz="75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projects (id, user_id, kind,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name, data,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scenarios (id, 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description,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created_by, created_at)</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supplier_quotes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scenario_id, supplier_name,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unit_price, currency,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bom_items (id,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parent_scenario_id,</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child_scenario_id, quantity,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unit_cost_override)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 (id, data,</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updated_at, updated_by)</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rate_overrides (id, tbl,</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row_id, field, value)</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users · shared_costings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material_price_overrides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price_fetch_log · app_settings</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 otp_tokens · dfm_jobs ·</a:t>
            </a:r>
            <a:endParaRPr lang="en-US" sz="750" dirty="0"/>
          </a:p>
          <a:p>
            <a:pPr indent="0" marL="0">
              <a:lnSpc>
                <a:spcPct val="98000"/>
              </a:lnSpc>
              <a:buNone/>
            </a:pPr>
            <a:r>
              <a:rPr lang="en-US" sz="750" dirty="0">
                <a:solidFill>
                  <a:srgbClr val="3A4356"/>
                </a:solidFill>
                <a:latin typeface="Consolas" pitchFamily="34" charset="0"/>
                <a:ea typeface="Consolas" pitchFamily="34" charset="-122"/>
                <a:cs typeface="Consolas" pitchFamily="34" charset="-120"/>
              </a:rPr>
              <a:t>rate_library_versions</a:t>
            </a:r>
            <a:endParaRPr lang="en-US" sz="75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750" i="1" dirty="0">
                <a:solidFill>
                  <a:srgbClr val="6B3FA0"/>
                </a:solidFill>
                <a:latin typeface="Calibri" pitchFamily="34" charset="0"/>
                <a:ea typeface="Calibri" pitchFamily="34" charset="-122"/>
                <a:cs typeface="Calibri" pitchFamily="34" charset="-120"/>
              </a:rPr>
              <a:t>data columns hold the JSON above.</a:t>
            </a:r>
            <a:endParaRPr lang="en-US" sz="750" dirty="0"/>
          </a:p>
        </p:txBody>
      </p:sp>
      <p:sp>
        <p:nvSpPr>
          <p:cNvPr id="52" name="Shape 50"/>
          <p:cNvSpPr/>
          <p:nvPr/>
        </p:nvSpPr>
        <p:spPr>
          <a:xfrm>
            <a:off x="2607869" y="2596896"/>
            <a:ext cx="119786" cy="0"/>
          </a:xfrm>
          <a:prstGeom prst="line">
            <a:avLst/>
          </a:prstGeom>
          <a:noFill/>
          <a:ln w="25400">
            <a:solidFill>
              <a:srgbClr val="686F7D"/>
            </a:solidFill>
            <a:prstDash val="solid"/>
            <a:tailEnd type="triangle"/>
          </a:ln>
        </p:spPr>
      </p:sp>
      <p:sp>
        <p:nvSpPr>
          <p:cNvPr id="53" name="Shape 51"/>
          <p:cNvSpPr/>
          <p:nvPr/>
        </p:nvSpPr>
        <p:spPr>
          <a:xfrm>
            <a:off x="4889297" y="2596896"/>
            <a:ext cx="119786" cy="0"/>
          </a:xfrm>
          <a:prstGeom prst="line">
            <a:avLst/>
          </a:prstGeom>
          <a:noFill/>
          <a:ln w="25400">
            <a:solidFill>
              <a:srgbClr val="686F7D"/>
            </a:solidFill>
            <a:prstDash val="solid"/>
            <a:tailEnd type="triangle"/>
          </a:ln>
        </p:spPr>
      </p:sp>
      <p:sp>
        <p:nvSpPr>
          <p:cNvPr id="54" name="Shape 52"/>
          <p:cNvSpPr/>
          <p:nvPr/>
        </p:nvSpPr>
        <p:spPr>
          <a:xfrm>
            <a:off x="7170725" y="2596896"/>
            <a:ext cx="119786" cy="0"/>
          </a:xfrm>
          <a:prstGeom prst="line">
            <a:avLst/>
          </a:prstGeom>
          <a:noFill/>
          <a:ln w="25400">
            <a:solidFill>
              <a:srgbClr val="686F7D"/>
            </a:solidFill>
            <a:prstDash val="solid"/>
            <a:tailEnd type="triangle"/>
          </a:ln>
        </p:spPr>
      </p:sp>
      <p:sp>
        <p:nvSpPr>
          <p:cNvPr id="55" name="Shape 53"/>
          <p:cNvSpPr/>
          <p:nvPr/>
        </p:nvSpPr>
        <p:spPr>
          <a:xfrm>
            <a:off x="9452153" y="2596896"/>
            <a:ext cx="119786" cy="0"/>
          </a:xfrm>
          <a:prstGeom prst="line">
            <a:avLst/>
          </a:prstGeom>
          <a:noFill/>
          <a:ln w="25400">
            <a:solidFill>
              <a:srgbClr val="686F7D"/>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D7D71"/>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D7D71"/>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2,438 tests practical,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D7D71"/>
            </a:solidFill>
            <a:prstDash val="solid"/>
          </a:ln>
        </p:spPr>
      </p:sp>
      <p:sp>
        <p:nvSpPr>
          <p:cNvPr id="59" name="Shape 57"/>
          <p:cNvSpPr/>
          <p:nvPr/>
        </p:nvSpPr>
        <p:spPr>
          <a:xfrm>
            <a:off x="457200" y="4974336"/>
            <a:ext cx="54864" cy="1371600"/>
          </a:xfrm>
          <a:prstGeom prst="rect">
            <a:avLst/>
          </a:prstGeom>
          <a:solidFill>
            <a:srgbClr val="0D7D71"/>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D7D71"/>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99651A"/>
            </a:solidFill>
            <a:prstDash val="solid"/>
          </a:ln>
        </p:spPr>
      </p:sp>
      <p:sp>
        <p:nvSpPr>
          <p:cNvPr id="63" name="Shape 61"/>
          <p:cNvSpPr/>
          <p:nvPr/>
        </p:nvSpPr>
        <p:spPr>
          <a:xfrm>
            <a:off x="4288536" y="4974336"/>
            <a:ext cx="54864" cy="1371600"/>
          </a:xfrm>
          <a:prstGeom prst="rect">
            <a:avLst/>
          </a:prstGeom>
          <a:solidFill>
            <a:srgbClr val="99651A"/>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99651A"/>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86F7D"/>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86F7D"/>
                </a:solidFill>
                <a:latin typeface="Calibri" pitchFamily="34" charset="0"/>
                <a:ea typeface="Calibri" pitchFamily="34" charset="-122"/>
                <a:cs typeface="Calibri" pitchFamily="34" charset="-120"/>
              </a:rPr>
              <a:t>58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2026-10-01T08:39:17Z</dcterms:created>
  <dcterms:modified xsi:type="dcterms:W3CDTF">2026-10-01T08:39:17Z</dcterms:modified>
</cp:coreProperties>
</file>